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029da0510e59f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abd56a2c14edeab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eacf1a10fc4c57e.png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第7章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对象的容纳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一组对象放在哪、怎么找、怎么排序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1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数组与 Arrays 工具类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342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Comparable 与 Comparator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枚举类型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985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List、Set、Map 与泛型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自学复习版｜据吉林大学《Java程序设计》第7章课件整理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628482"/>
            <a:chOff x="521970" y="1515428"/>
            <a:chExt cx="6287453" cy="4628482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15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 数组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149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创建与初始化、多维与不规则数组、数组变量存引用、Arrays 工具类、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Comparable 与 Comparator 两种比较方式、数组拷贝与扩容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915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枚举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092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enum 定义取值有限的类型，在 switch 中使用，values、ordinal、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valueOf 等自带方法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 容器（上）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426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容器类关系图、Collection 接口、List 与 ArrayList、LinkedList，泛型类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与泛型方法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43007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5348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571048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 容器（下）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887754"/>
              <a:ext cx="5393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Set 与迭代器、HashSet 的哈希原理与 hashCode/equals、TreeSet、Map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的三种遍历、Collections 工具类、容器怎么选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543687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5416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57784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两轮自测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894546"/>
              <a:ext cx="4562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道题，一页概念辨析、一页读程序写输出，答案紧跟题目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570095"/>
            <a:chOff x="7114222" y="1524000"/>
            <a:chExt cx="4544378" cy="457009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57009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3033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写出数组的静态、动态初始化，说出各类型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元素的默认值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解释方法里改数组元素和给参数重新赋值为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什么结果不同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分别用 Comparable 和 Comparator 给对象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数组排序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44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List、Set、Map 的区别，按需求选出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ArrayList、LinkedList、HashSet、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 或 HashMap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88061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给自定义类正确重写 equals 和 hashCode，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让它能放进 HashSet 和 HashMap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98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 数组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数量固定、类型相同的一排元素，按下标直接访问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数组是对象，数组变量里存的是引用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777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 提供排序、查找、拷贝等静态方法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对象数组排序要先规定怎么比较大小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数组：同一类型的一排元素，下标从 0 开始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912745"/>
            <a:chOff x="533400" y="1524000"/>
            <a:chExt cx="5410200" cy="2912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Array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数组是一种数据结构，用来存储相同类型值的集合。元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素可以是基本类型，也可以是对象（引用）。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访问元素写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数组名[索引值]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，如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a[10]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b[0]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c[c.length-1]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下标从 0 开始编号，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a[0]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是第一个元素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70713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除元素外，数组唯一可访问的属性是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length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，记录元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素个数；最后一个元素是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a[a.length-1]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627245"/>
            <a:ext cx="5410200" cy="1475422"/>
            <a:chOff x="533400" y="4627245"/>
            <a:chExt cx="5410200" cy="1475422"/>
          </a:xfrm>
        </p:grpSpPr>
        <p:sp>
          <p:nvSpPr>
            <p:cNvPr id="20" name="Rectangle 20"/>
            <p:cNvSpPr/>
            <p:nvPr/>
          </p:nvSpPr>
          <p:spPr>
            <a:xfrm>
              <a:off x="533400" y="4627245"/>
              <a:ext cx="5410200" cy="1475422"/>
            </a:xfrm>
            <a:prstGeom prst="roundRect">
              <a:avLst>
                <a:gd name="adj" fmla="val 774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260776"/>
              <a:ext cx="224134" cy="192560"/>
              <a:chOff x="726129" y="526077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3311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2607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4089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983480"/>
              <a:ext cx="4301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下标越界（小于 0 或不小于 length）在运行时抛出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ArrayIndexOutOfBoundsException，编译器不检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查。</a:t>
              </a:r>
            </a:p>
          </p:txBody>
        </p:sp>
      </p:grpSp>
      <p:grpSp>
        <p:nvGrpSpPr>
          <p:cNvPr id="47" name="c2-cells-1"/>
          <p:cNvGrpSpPr/>
          <p:nvPr/>
        </p:nvGrpSpPr>
        <p:grpSpPr>
          <a:xfrm>
            <a:off x="6241923" y="1572578"/>
            <a:ext cx="5061565" cy="932211"/>
            <a:chOff x="6241923" y="1572578"/>
            <a:chExt cx="5061565" cy="932211"/>
          </a:xfrm>
        </p:grpSpPr>
        <p:sp>
          <p:nvSpPr>
            <p:cNvPr id="27" name="TextBox 27"/>
            <p:cNvSpPr txBox="1"/>
            <p:nvPr/>
          </p:nvSpPr>
          <p:spPr>
            <a:xfrm>
              <a:off x="6241923" y="19683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6048" y="1838325"/>
              <a:ext cx="95821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8214" y="19683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33310" y="1838325"/>
              <a:ext cx="9582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06429" y="19683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91525" y="1838325"/>
              <a:ext cx="9582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14400" y="19683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49740" y="1838325"/>
              <a:ext cx="9582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71662" y="19683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307002" y="1838325"/>
              <a:ext cx="95821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680122" y="19683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12969" y="23140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71184" y="23140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9399" y="23140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86662" y="23140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44877" y="23140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85608" y="15725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a[0]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916102" y="17430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68732" y="1572578"/>
              <a:ext cx="103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a[a.length-1]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0748010" y="17430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1" name="c2-code-2"/>
          <p:cNvGrpSpPr/>
          <p:nvPr/>
        </p:nvGrpSpPr>
        <p:grpSpPr>
          <a:xfrm>
            <a:off x="6248400" y="2647950"/>
            <a:ext cx="5410200" cy="1561148"/>
            <a:chOff x="6248400" y="2647950"/>
            <a:chExt cx="5410200" cy="1561148"/>
          </a:xfrm>
        </p:grpSpPr>
        <p:sp>
          <p:nvSpPr>
            <p:cNvPr id="48" name="Rectangle 48"/>
            <p:cNvSpPr/>
            <p:nvPr/>
          </p:nvSpPr>
          <p:spPr>
            <a:xfrm>
              <a:off x="6248400" y="264795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76797" y="2799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访问与遍历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76797" y="3060859"/>
              <a:ext cx="2953385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 = {21, 34, 7, 8, 10};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System.out.println(a.length);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System.out.println(a[0]);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System.out.println(a[a.length - 1]);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10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a.length;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a[i] = a[i] * 2;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逐个改写</a:t>
              </a:r>
            </a:p>
          </p:txBody>
        </p:sp>
      </p:grpSp>
      <p:grpSp>
        <p:nvGrpSpPr>
          <p:cNvPr id="60" name="c2-kv-3"/>
          <p:cNvGrpSpPr/>
          <p:nvPr/>
        </p:nvGrpSpPr>
        <p:grpSpPr>
          <a:xfrm>
            <a:off x="6240780" y="4424362"/>
            <a:ext cx="5417820" cy="1737360"/>
            <a:chOff x="6240780" y="4424362"/>
            <a:chExt cx="5417820" cy="1737360"/>
          </a:xfrm>
        </p:grpSpPr>
        <p:sp>
          <p:nvSpPr>
            <p:cNvPr id="52" name="TextBox 52"/>
            <p:cNvSpPr txBox="1"/>
            <p:nvPr/>
          </p:nvSpPr>
          <p:spPr>
            <a:xfrm>
              <a:off x="6240780" y="4424362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length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72425" y="4424362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是属性不是方法，后面不加括号；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的 length() 才是方法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5026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0780" y="5146358"/>
              <a:ext cx="1564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a.length 可变吗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2425" y="514635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不可变。数组一旦创建，长度就固定了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54663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0780" y="558641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越界时的提示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72425" y="5586412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长度为 3 的数组访问 b[5]，JDK 21 报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5 out of bounds for length 3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声明只得到一个引用，初始化才分配空间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2258378"/>
            <a:chOff x="533400" y="1524000"/>
            <a:chExt cx="5626418" cy="22583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58378"/>
            </a:xfrm>
            <a:prstGeom prst="roundRect">
              <a:avLst>
                <a:gd name="adj" fmla="val 5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9167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声明数组变量的两种形式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类型[] 数组名;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类型 数组名[];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，两种写法等价，例：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a[];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String[] b;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[]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表示声明的变量是数组类型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类型可以是基本类型，也可以是引用类型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315896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数组在声明之后还不能使用。使用前必须为它分配足够的空间，这一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步称为初始化。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947160"/>
            <a:ext cx="5626418" cy="1556385"/>
            <a:chOff x="533400" y="3947160"/>
            <a:chExt cx="5626418" cy="1556385"/>
          </a:xfrm>
        </p:grpSpPr>
        <p:sp>
          <p:nvSpPr>
            <p:cNvPr id="19" name="Rectangle 19"/>
            <p:cNvSpPr/>
            <p:nvPr/>
          </p:nvSpPr>
          <p:spPr>
            <a:xfrm>
              <a:off x="533400" y="3947160"/>
              <a:ext cx="5626418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409908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两种初始化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988" y="4358164"/>
              <a:ext cx="3045206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静态初始化：直接给出全部元素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 = {21, 34, 7, 8, 10};  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a.length = 5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b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{1, 2, 3, 4};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动态初始化：只给长度，元素取默认值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c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[10];         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c.length = 10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 = 5;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d[]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[len];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长度可以是变量</a:t>
              </a:r>
            </a:p>
          </p:txBody>
        </p:sp>
      </p:grpSp>
      <p:grpSp>
        <p:nvGrpSpPr>
          <p:cNvPr id="43" name="c2-compare-1"/>
          <p:cNvGrpSpPr/>
          <p:nvPr/>
        </p:nvGrpSpPr>
        <p:grpSpPr>
          <a:xfrm>
            <a:off x="6464618" y="1524000"/>
            <a:ext cx="5193982" cy="2667952"/>
            <a:chOff x="6464618" y="1524000"/>
            <a:chExt cx="5193982" cy="266795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2386965" cy="2667952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77216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正确写法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93218" y="2079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48666" y="2027396"/>
              <a:ext cx="1779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int[] a = new int[5];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93218" y="236505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8666" y="2312194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a[] = {1, 2, 3};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93218" y="264985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48666" y="2596991"/>
              <a:ext cx="12727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int[] a; a = new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int[] {1, 2};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71635" y="1524000"/>
              <a:ext cx="2386965" cy="2667952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281160" y="165735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84233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编译报错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500235" y="2079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55683" y="2027396"/>
              <a:ext cx="1597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a[5];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声明时不能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写长度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500235" y="26079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55683" y="2555081"/>
              <a:ext cx="16873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int[] a = new int[3]</a:t>
              </a:r>
              <a:br/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{1, 2, 3};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给了元素就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不能再写长度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500235" y="337851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55683" y="3325654"/>
              <a:ext cx="16385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int[] a; a = {1, 2};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大括号简写只能用在声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明处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900160" y="26955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83393" y="28022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464618" y="4356735"/>
            <a:ext cx="5193982" cy="958215"/>
            <a:chOff x="6464618" y="4356735"/>
            <a:chExt cx="5193982" cy="958215"/>
          </a:xfrm>
        </p:grpSpPr>
        <p:sp>
          <p:nvSpPr>
            <p:cNvPr id="44" name="Rectangle 44"/>
            <p:cNvSpPr/>
            <p:nvPr/>
          </p:nvSpPr>
          <p:spPr>
            <a:xfrm>
              <a:off x="6464618" y="4356735"/>
              <a:ext cx="5193982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3015" y="4508659"/>
              <a:ext cx="1773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int a[5]; 的报错（JDK 21）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3205" y="4767739"/>
              <a:ext cx="1628902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DeclErr.java:3: 错误: 需要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']'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int a[5];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^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464618" y="5479732"/>
            <a:ext cx="5193982" cy="702945"/>
            <a:chOff x="6464618" y="5479732"/>
            <a:chExt cx="5193982" cy="702945"/>
          </a:xfrm>
        </p:grpSpPr>
        <p:sp>
          <p:nvSpPr>
            <p:cNvPr id="48" name="Rectangle 48"/>
            <p:cNvSpPr/>
            <p:nvPr/>
          </p:nvSpPr>
          <p:spPr>
            <a:xfrm>
              <a:off x="6464618" y="547973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731193"/>
              <a:ext cx="200026" cy="200025"/>
              <a:chOff x="6669405" y="573119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669405" y="57311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09144" y="57756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43859" y="58867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491" y="5624989"/>
              <a:ext cx="4272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推荐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int[] a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的写法：类型 int[] 写在一起，一眼看出 a 是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数组。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动态初始化后，元素自动取默认值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193982" cy="2470786"/>
            <a:chOff x="533400" y="1524000"/>
            <a:chExt cx="5193982" cy="247078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3294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1561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2476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数值型（int、long、double…）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41560" y="2108359"/>
              <a:ext cx="6677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0.0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670334"/>
              <a:ext cx="982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字符型 char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243262" y="2430780"/>
              <a:ext cx="247364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41560" y="2556986"/>
              <a:ext cx="1890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'\u0000'（编码为 0 的字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32309"/>
              <a:ext cx="1235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布尔型 boolean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41560" y="323230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680936"/>
              <a:ext cx="2125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对象（String、Object…）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41560" y="3680936"/>
              <a:ext cx="305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193982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2897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4185285"/>
            <a:ext cx="5193982" cy="1621155"/>
            <a:chOff x="533400" y="4185285"/>
            <a:chExt cx="5193982" cy="1621155"/>
          </a:xfrm>
        </p:grpSpPr>
        <p:sp>
          <p:nvSpPr>
            <p:cNvPr id="27" name="Rectangle 27"/>
            <p:cNvSpPr/>
            <p:nvPr/>
          </p:nvSpPr>
          <p:spPr>
            <a:xfrm>
              <a:off x="533400" y="4185285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1863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4394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1258" y="4430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2078" y="4430078"/>
              <a:ext cx="2584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数组的默认值不是 null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4791075"/>
              <a:ext cx="4368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9 页把字符型数据的默认值写成 null。null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只能赋给引用类型，char 是基本类型，默认值是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'\u0000'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，转成 int 是 0。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6032182" y="1524000"/>
            <a:ext cx="5626418" cy="1384935"/>
            <a:chOff x="6032182" y="1524000"/>
            <a:chExt cx="5626418" cy="1384935"/>
          </a:xfrm>
        </p:grpSpPr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0580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实测各类型的默认值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0580" y="1935956"/>
              <a:ext cx="4390898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i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[2];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d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[2];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c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[2];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b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String[] s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String[2];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System.out.println(i[0]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d[0]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b[0]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s[0]);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c[0]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(c[0] ==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'\u0000'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</a:p>
          </p:txBody>
        </p:sp>
      </p:grpSp>
      <p:grpSp>
        <p:nvGrpSpPr>
          <p:cNvPr id="41" name="c2-code-2"/>
          <p:cNvGrpSpPr/>
          <p:nvPr/>
        </p:nvGrpSpPr>
        <p:grpSpPr>
          <a:xfrm>
            <a:off x="6032182" y="3099435"/>
            <a:ext cx="5626418" cy="858202"/>
            <a:chOff x="6032182" y="3099435"/>
            <a:chExt cx="5626418" cy="858202"/>
          </a:xfrm>
        </p:grpSpPr>
        <p:sp>
          <p:nvSpPr>
            <p:cNvPr id="38" name="Rectangle 38"/>
            <p:cNvSpPr/>
            <p:nvPr/>
          </p:nvSpPr>
          <p:spPr>
            <a:xfrm>
              <a:off x="6032182" y="3099435"/>
              <a:ext cx="5626418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60580" y="32513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60580" y="3512344"/>
              <a:ext cx="1105154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 0.0 false null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 true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032182" y="4148138"/>
            <a:ext cx="5626418" cy="1658302"/>
            <a:chOff x="6032182" y="4148138"/>
            <a:chExt cx="5626418" cy="1658302"/>
          </a:xfrm>
        </p:grpSpPr>
        <p:sp>
          <p:nvSpPr>
            <p:cNvPr id="42" name="Rectangle 42"/>
            <p:cNvSpPr/>
            <p:nvPr/>
          </p:nvSpPr>
          <p:spPr>
            <a:xfrm>
              <a:off x="6032182" y="4148138"/>
              <a:ext cx="5626418" cy="1658302"/>
            </a:xfrm>
            <a:prstGeom prst="roundRect">
              <a:avLst>
                <a:gd name="adj" fmla="val 68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36970" y="4876800"/>
              <a:ext cx="200026" cy="200025"/>
              <a:chOff x="6236970" y="487680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236970" y="48768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76709" y="49212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11424" y="50323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538912" y="473392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局部变量没有默认值，不赋值就用会编译报错；数组元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素和成员变量一样，创建时就有默认值。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0080" cy="909257"/>
            <a:chOff x="520446" y="342900"/>
            <a:chExt cx="5950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0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对象数组：new 出来的只是一排空引用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951220" cy="3235642"/>
            <a:chOff x="533400" y="1524000"/>
            <a:chExt cx="5951220" cy="3235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235642"/>
            </a:xfrm>
            <a:prstGeom prst="roundRect">
              <a:avLst>
                <a:gd name="adj" fmla="val 29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47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对象数组的两种初始化（JDK 21 实测）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458652"/>
              <a:ext cx="591312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079" y="1936337"/>
              <a:ext cx="140919" cy="2742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42"/>
                </a:lnSpc>
              </a:pPr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7697" y="1936337"/>
              <a:ext cx="4349064" cy="2742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Apple(String n) { name = n;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1. 静态初始化：new 类型[] { new 构造方法(), …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Apple[] a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Apple[]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"红富士"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"国光"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};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System.out.println(a.length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a[1].name);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 国光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2. 大型数组：先建数组，再用循环逐个 new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Apple[] b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Apple[3];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3 个 null 引用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System.out.println(b[0]);     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null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b.length; i++)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b[i]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Apple[] c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Apple[3];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System.out.println(c[0].name);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空指针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4945380"/>
            <a:ext cx="5951220" cy="1290638"/>
            <a:chOff x="533400" y="4945380"/>
            <a:chExt cx="5951220" cy="1290638"/>
          </a:xfrm>
        </p:grpSpPr>
        <p:sp>
          <p:nvSpPr>
            <p:cNvPr id="13" name="Rectangle 13"/>
            <p:cNvSpPr/>
            <p:nvPr/>
          </p:nvSpPr>
          <p:spPr>
            <a:xfrm>
              <a:off x="533400" y="4945380"/>
              <a:ext cx="595122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8252" y="50768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7649" y="5076825"/>
              <a:ext cx="1184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 之后的元素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63109" y="50768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能直接用吗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5506402"/>
              <a:ext cx="8942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int[3]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23732" y="550640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6856" y="550640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能，就是数值 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8007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580548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5936932"/>
              <a:ext cx="10883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Apple[3]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23732" y="5936932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null, null, null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71035" y="5815012"/>
              <a:ext cx="200406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6856" y="5936932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不能，先逐个 new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45380"/>
              <a:ext cx="595122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13622" y="494538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56748" y="494538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ells-1"/>
          <p:cNvGrpSpPr/>
          <p:nvPr/>
        </p:nvGrpSpPr>
        <p:grpSpPr>
          <a:xfrm>
            <a:off x="6783324" y="1524000"/>
            <a:ext cx="4875276" cy="1401127"/>
            <a:chOff x="6783324" y="1524000"/>
            <a:chExt cx="4875276" cy="1401127"/>
          </a:xfrm>
        </p:grpSpPr>
        <p:sp>
          <p:nvSpPr>
            <p:cNvPr id="30" name="TextBox 30"/>
            <p:cNvSpPr txBox="1"/>
            <p:nvPr/>
          </p:nvSpPr>
          <p:spPr>
            <a:xfrm>
              <a:off x="6783324" y="1652588"/>
              <a:ext cx="10883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new Apple[3]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30515" y="1524000"/>
              <a:ext cx="124301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02223" y="1652588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73528" y="1524000"/>
              <a:ext cx="124301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44283" y="1652588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415588" y="1524000"/>
              <a:ext cx="124301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87296" y="1652588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1441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5647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99489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83324" y="2415540"/>
              <a:ext cx="1073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循环 new 之后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930515" y="2286952"/>
              <a:ext cx="124301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98543" y="24155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→A0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73528" y="2286952"/>
              <a:ext cx="124301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40603" y="24155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→A1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15588" y="2286952"/>
              <a:ext cx="124301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83616" y="24155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→A2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14417" y="2748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56477" y="2748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99489" y="2748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54" name="c2-code-2"/>
          <p:cNvGrpSpPr/>
          <p:nvPr/>
        </p:nvGrpSpPr>
        <p:grpSpPr>
          <a:xfrm>
            <a:off x="6789420" y="3069908"/>
            <a:ext cx="4869180" cy="1189672"/>
            <a:chOff x="6789420" y="3069908"/>
            <a:chExt cx="4869180" cy="1189672"/>
          </a:xfrm>
        </p:grpSpPr>
        <p:sp>
          <p:nvSpPr>
            <p:cNvPr id="51" name="Rectangle 51"/>
            <p:cNvSpPr/>
            <p:nvPr/>
          </p:nvSpPr>
          <p:spPr>
            <a:xfrm>
              <a:off x="6789420" y="3069908"/>
              <a:ext cx="4869180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17817" y="3221831"/>
              <a:ext cx="11688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16 行的运行结果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17969" y="3482245"/>
              <a:ext cx="2110689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Exception in thread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"main"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java.lang.NullPointerException: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Cannot read field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because</a:t>
              </a:r>
              <a:br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"&lt;local3&gt;[0]"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 null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6789420" y="4444365"/>
            <a:ext cx="4869180" cy="1791652"/>
            <a:chOff x="6789420" y="4444365"/>
            <a:chExt cx="4869180" cy="1791652"/>
          </a:xfrm>
        </p:grpSpPr>
        <p:sp>
          <p:nvSpPr>
            <p:cNvPr id="55" name="Rectangle 55"/>
            <p:cNvSpPr/>
            <p:nvPr/>
          </p:nvSpPr>
          <p:spPr>
            <a:xfrm>
              <a:off x="6789420" y="4444365"/>
              <a:ext cx="4869180" cy="1791652"/>
            </a:xfrm>
            <a:prstGeom prst="roundRect">
              <a:avLst>
                <a:gd name="adj" fmla="val 7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98945" y="4577715"/>
              <a:ext cx="47625" cy="15249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031355" y="46482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21563" y="46839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32764" y="468772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数组建好了，对象还没建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24116" y="5040154"/>
              <a:ext cx="411721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Apple[3]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只创建了能放 3 个引用的数组，每个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元素都是 null。必须再对每个元素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Apple(...)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，才能访问它的成员。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9065" cy="909257"/>
            <a:chOff x="520446" y="342900"/>
            <a:chExt cx="6979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9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多维数组：n 维数组里存放 n-1 维数组的引用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1530668"/>
            <a:chOff x="533400" y="1524000"/>
            <a:chExt cx="5193982" cy="15306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声明与初始化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155264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[][] a;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a[][];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两种声明方式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静态初始化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a[][] = { {1,2,3}, {4,5,6} };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[][] a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[][] { {1,2,3}, {4,5,6} };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动态初始化：2 行 3 列，元素都是 0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a[][]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[2][3];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161" y="3262789"/>
            <a:ext cx="5201221" cy="1390269"/>
            <a:chOff x="526161" y="3262789"/>
            <a:chExt cx="5201221" cy="1390269"/>
          </a:xfrm>
        </p:grpSpPr>
        <p:sp>
          <p:nvSpPr>
            <p:cNvPr id="11" name="TextBox 11"/>
            <p:cNvSpPr txBox="1"/>
            <p:nvPr/>
          </p:nvSpPr>
          <p:spPr>
            <a:xfrm>
              <a:off x="526161" y="3262789"/>
              <a:ext cx="847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a.length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17764" y="326278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第一维的长度，也就是「行数」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5690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161" y="3684746"/>
              <a:ext cx="1178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a[0].length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7764" y="3684746"/>
              <a:ext cx="27863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 引用的那个一维数组的长度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9909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41067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7764" y="4106704"/>
              <a:ext cx="349504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每一维都从 0 开始，a[1][2] 是第 2 行第 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</p:grpSp>
      <p:grpSp>
        <p:nvGrpSpPr>
          <p:cNvPr id="23" name="c1-code-3"/>
          <p:cNvGrpSpPr/>
          <p:nvPr/>
        </p:nvGrpSpPr>
        <p:grpSpPr>
          <a:xfrm>
            <a:off x="533400" y="4782502"/>
            <a:ext cx="5193982" cy="1530668"/>
            <a:chOff x="533400" y="4782502"/>
            <a:chExt cx="5193982" cy="1530668"/>
          </a:xfrm>
        </p:grpSpPr>
        <p:sp>
          <p:nvSpPr>
            <p:cNvPr id="20" name="Rectangle 20"/>
            <p:cNvSpPr/>
            <p:nvPr/>
          </p:nvSpPr>
          <p:spPr>
            <a:xfrm>
              <a:off x="533400" y="4782502"/>
              <a:ext cx="5193982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797" y="4934426"/>
              <a:ext cx="2215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读写元素与整体打印（JDK 21 实测）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949" y="5194840"/>
              <a:ext cx="3817823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[][] m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[2][3];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m[1][2] = 6;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System.out.println(m[1][2]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m[0][0]);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6 0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System.out.println(Arrays.toString(m[1]));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[0, 0, 6]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System.out.println(Arrays.deepToString(m));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[[0, 0, 0], [0, 0, 6]]</a:t>
              </a:r>
            </a:p>
          </p:txBody>
        </p:sp>
      </p:grpSp>
      <p:grpSp>
        <p:nvGrpSpPr>
          <p:cNvPr id="41" name="c2-graph-1"/>
          <p:cNvGrpSpPr/>
          <p:nvPr/>
        </p:nvGrpSpPr>
        <p:grpSpPr>
          <a:xfrm>
            <a:off x="6279832" y="1948815"/>
            <a:ext cx="4946334" cy="2417922"/>
            <a:chOff x="6279832" y="1948815"/>
            <a:chExt cx="4946334" cy="2417922"/>
          </a:xfrm>
        </p:grpSpPr>
        <p:sp>
          <p:nvSpPr>
            <p:cNvPr id="24" name="Freeform 24"/>
            <p:cNvSpPr/>
            <p:nvPr/>
          </p:nvSpPr>
          <p:spPr>
            <a:xfrm>
              <a:off x="6797040" y="2133600"/>
              <a:ext cx="1021080" cy="9525"/>
            </a:xfrm>
            <a:custGeom>
              <a:avLst/>
              <a:gdLst/>
              <a:ahLst/>
              <a:cxnLst/>
              <a:rect l="l" t="t" r="r" b="b"/>
              <a:pathLst>
                <a:path w="1021080" h="9525">
                  <a:moveTo>
                    <a:pt x="0" y="0"/>
                  </a:moveTo>
                  <a:lnTo>
                    <a:pt x="10210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818120" y="2085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652510" y="2133600"/>
              <a:ext cx="1277303" cy="9525"/>
            </a:xfrm>
            <a:custGeom>
              <a:avLst/>
              <a:gdLst/>
              <a:ahLst/>
              <a:cxnLst/>
              <a:rect l="l" t="t" r="r" b="b"/>
              <a:pathLst>
                <a:path w="1277303" h="9525">
                  <a:moveTo>
                    <a:pt x="0" y="0"/>
                  </a:moveTo>
                  <a:lnTo>
                    <a:pt x="12773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929812" y="2085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652510" y="2654618"/>
              <a:ext cx="1334453" cy="539115"/>
            </a:xfrm>
            <a:custGeom>
              <a:avLst/>
              <a:gdLst/>
              <a:ahLst/>
              <a:cxnLst/>
              <a:rect l="l" t="t" r="r" b="b"/>
              <a:pathLst>
                <a:path w="1334453" h="539115">
                  <a:moveTo>
                    <a:pt x="0" y="0"/>
                  </a:moveTo>
                  <a:lnTo>
                    <a:pt x="1334453" y="5391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969818" y="3149918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80010"/>
                  </a:moveTo>
                  <a:lnTo>
                    <a:pt x="0" y="88583"/>
                  </a:lnTo>
                  <a:lnTo>
                    <a:pt x="3524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79832" y="1948815"/>
              <a:ext cx="517208" cy="369570"/>
            </a:xfrm>
            <a:prstGeom prst="roundRect">
              <a:avLst>
                <a:gd name="adj" fmla="val 25773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13370" y="1948815"/>
              <a:ext cx="739140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13370" y="2321242"/>
              <a:ext cx="739140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025062" y="1948815"/>
              <a:ext cx="1016318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840278" y="3229928"/>
              <a:ext cx="1385888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88709" y="20635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3081" y="20635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3081" y="243601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49880" y="206359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│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15314" y="3344704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│ 5 │ 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85776" y="4146709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int a[][] = { {1,2}, {4,5,6} };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032182" y="4758690"/>
            <a:ext cx="5626418" cy="1554480"/>
            <a:chOff x="6032182" y="4758690"/>
            <a:chExt cx="5626418" cy="1554480"/>
          </a:xfrm>
        </p:grpSpPr>
        <p:sp>
          <p:nvSpPr>
            <p:cNvPr id="42" name="Rectangle 42"/>
            <p:cNvSpPr/>
            <p:nvPr/>
          </p:nvSpPr>
          <p:spPr>
            <a:xfrm>
              <a:off x="6032182" y="4758690"/>
              <a:ext cx="5626418" cy="1554480"/>
            </a:xfrm>
            <a:prstGeom prst="roundRect">
              <a:avLst>
                <a:gd name="adj" fmla="val 735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36970" y="5435918"/>
              <a:ext cx="200026" cy="200026"/>
              <a:chOff x="6236970" y="543591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236970" y="5435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36983" y="5502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5870" y="55359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539294" y="5173504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指向一个长度为 2 的「引用数组」，它的两个元素再分别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指向两个 int 数组。所以 a.length 是 2，a[0].length 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2，a[1].length 是 3（原课件第 13 页的图）。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不规则数组：每一行的长度可以不同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293495"/>
            <a:chOff x="533400" y="1524000"/>
            <a:chExt cx="5951220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不规则数组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多维数组里各元素引用的数组长度不等，称为不规则数组。创建时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只给第一维长度，第二维以后再逐行 new。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002280"/>
            <a:ext cx="5951220" cy="2042160"/>
            <a:chOff x="533400" y="3002280"/>
            <a:chExt cx="5951220" cy="2042160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5951220" cy="2042160"/>
            </a:xfrm>
            <a:prstGeom prst="roundRect">
              <a:avLst>
                <a:gd name="adj" fmla="val 46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154204"/>
              <a:ext cx="195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逐行分配并遍历（JDK 21 实测）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949" y="3414617"/>
              <a:ext cx="3137357" cy="15488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[][] r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[2][];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第二维先空着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System.out.println(r[0]); 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null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r[0]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[2];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r[1]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[3];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r.length; i++)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r[i].length; j++)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System.out.print(r[i][j]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"| 长度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r[i].length);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230178"/>
            <a:ext cx="5951220" cy="1018222"/>
            <a:chOff x="533400" y="5230178"/>
            <a:chExt cx="5951220" cy="1018222"/>
          </a:xfrm>
        </p:grpSpPr>
        <p:sp>
          <p:nvSpPr>
            <p:cNvPr id="18" name="Rectangle 18"/>
            <p:cNvSpPr/>
            <p:nvPr/>
          </p:nvSpPr>
          <p:spPr>
            <a:xfrm>
              <a:off x="533400" y="5230178"/>
              <a:ext cx="595122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639753"/>
              <a:ext cx="200026" cy="200026"/>
              <a:chOff x="738188" y="563975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6397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7064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7397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377339"/>
              <a:ext cx="497382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C 语言对比：C 的 int a[2][3] 是一整块连续内存，每行必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须一样长；Java 的二维数组是「数组的数组」，每一行是独立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的对象，所以长度可以不同。</a:t>
              </a:r>
            </a:p>
          </p:txBody>
        </p:sp>
      </p:grpSp>
      <p:grpSp>
        <p:nvGrpSpPr>
          <p:cNvPr id="42" name="c2-cells-1"/>
          <p:cNvGrpSpPr/>
          <p:nvPr/>
        </p:nvGrpSpPr>
        <p:grpSpPr>
          <a:xfrm>
            <a:off x="6783324" y="1524000"/>
            <a:ext cx="3257931" cy="1401127"/>
            <a:chOff x="6783324" y="1524000"/>
            <a:chExt cx="3257931" cy="1401127"/>
          </a:xfrm>
        </p:grpSpPr>
        <p:sp>
          <p:nvSpPr>
            <p:cNvPr id="25" name="TextBox 25"/>
            <p:cNvSpPr txBox="1"/>
            <p:nvPr/>
          </p:nvSpPr>
          <p:spPr>
            <a:xfrm>
              <a:off x="6783324" y="165258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r[0]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75195" y="152400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346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97215" y="152400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0548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8124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20144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3324" y="241554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r[1]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75195" y="228695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83463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97215" y="228695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05483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19235" y="228695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27503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98124" y="2748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0144" y="2748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42164" y="2748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46" name="c2-code-2"/>
          <p:cNvGrpSpPr/>
          <p:nvPr/>
        </p:nvGrpSpPr>
        <p:grpSpPr>
          <a:xfrm>
            <a:off x="6789420" y="3069908"/>
            <a:ext cx="4869180" cy="1018222"/>
            <a:chOff x="6789420" y="3069908"/>
            <a:chExt cx="4869180" cy="1018222"/>
          </a:xfrm>
        </p:grpSpPr>
        <p:sp>
          <p:nvSpPr>
            <p:cNvPr id="43" name="Rectangle 43"/>
            <p:cNvSpPr/>
            <p:nvPr/>
          </p:nvSpPr>
          <p:spPr>
            <a:xfrm>
              <a:off x="6789420" y="3069908"/>
              <a:ext cx="4869180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17817" y="32218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17969" y="3482245"/>
              <a:ext cx="904951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null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 0 | 长度 2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 0 0 | 长度 3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789420" y="4273868"/>
            <a:ext cx="4869180" cy="1974532"/>
            <a:chOff x="6789420" y="4273868"/>
            <a:chExt cx="4869180" cy="1974532"/>
          </a:xfrm>
        </p:grpSpPr>
        <p:sp>
          <p:nvSpPr>
            <p:cNvPr id="47" name="Rectangle 47"/>
            <p:cNvSpPr/>
            <p:nvPr/>
          </p:nvSpPr>
          <p:spPr>
            <a:xfrm>
              <a:off x="6789420" y="4273868"/>
              <a:ext cx="4869180" cy="1974532"/>
            </a:xfrm>
            <a:prstGeom prst="roundRect">
              <a:avLst>
                <a:gd name="adj" fmla="val 6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98945" y="4407218"/>
              <a:ext cx="47625" cy="17078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31355" y="447770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4812" y="45134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写循环的习惯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01406" y="4517231"/>
              <a:ext cx="2144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内层循环用 r[i].length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24116" y="4868704"/>
              <a:ext cx="418934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内层上界写成固定的列数，遇到不规则数组就会越界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或漏元素。用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r[i].length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对规则、不规则数组都成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数组变量存的是引用：改元素和改引用结果不同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228975"/>
            <a:chOff x="533400" y="1524000"/>
            <a:chExt cx="5842635" cy="3228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228975"/>
            </a:xfrm>
            <a:prstGeom prst="roundRect">
              <a:avLst>
                <a:gd name="adj" fmla="val 29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63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ArrayPara（原课件第 15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2879" y="1935194"/>
              <a:ext cx="132461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260"/>
                </a:lnSpc>
              </a:pPr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0115" y="1935194"/>
              <a:ext cx="3267329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ArrayPara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changeArrayValue(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para)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para[0] = 2;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changeArrayRef(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para)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temp[] = {2, 3, 4, 5};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para = temp;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{99, 100};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changeArrayValue(a);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System.out.println(a[0]);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{99, 100};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changeArrayRef(a);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System.out.println(a[0]);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99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928235"/>
            <a:ext cx="5842635" cy="1226820"/>
            <a:chOff x="533400" y="4928235"/>
            <a:chExt cx="5842635" cy="1226820"/>
          </a:xfrm>
        </p:grpSpPr>
        <p:sp>
          <p:nvSpPr>
            <p:cNvPr id="12" name="Rectangle 12"/>
            <p:cNvSpPr/>
            <p:nvPr/>
          </p:nvSpPr>
          <p:spPr>
            <a:xfrm>
              <a:off x="533400" y="4928235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506158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3905" y="512064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7344" y="51549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判断方法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4297" y="515969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看方法体改的是「数组里面」还是「参数本身」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5494020"/>
              <a:ext cx="496004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para[0] = 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改的是 para 指向的那个数组，调用者能看到；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para</a:t>
              </a:r>
              <a:br/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= 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只让局部变量改指别处，方法返回后这个局部变量就没了。</a:t>
              </a:r>
            </a:p>
          </p:txBody>
        </p:sp>
      </p:grpSp>
      <p:grpSp>
        <p:nvGrpSpPr>
          <p:cNvPr id="30" name="c2-graph-1"/>
          <p:cNvGrpSpPr/>
          <p:nvPr/>
        </p:nvGrpSpPr>
        <p:grpSpPr>
          <a:xfrm>
            <a:off x="7000875" y="1553051"/>
            <a:ext cx="3684270" cy="1272063"/>
            <a:chOff x="7000875" y="1553051"/>
            <a:chExt cx="3684270" cy="1272063"/>
          </a:xfrm>
        </p:grpSpPr>
        <p:sp>
          <p:nvSpPr>
            <p:cNvPr id="19" name="Freeform 19"/>
            <p:cNvSpPr/>
            <p:nvPr/>
          </p:nvSpPr>
          <p:spPr>
            <a:xfrm>
              <a:off x="7520940" y="2003108"/>
              <a:ext cx="2029778" cy="247650"/>
            </a:xfrm>
            <a:custGeom>
              <a:avLst/>
              <a:gdLst/>
              <a:ahLst/>
              <a:cxnLst/>
              <a:rect l="l" t="t" r="r" b="b"/>
              <a:pathLst>
                <a:path w="2029778" h="247650">
                  <a:moveTo>
                    <a:pt x="0" y="0"/>
                  </a:moveTo>
                  <a:lnTo>
                    <a:pt x="2029778" y="247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545002" y="2203132"/>
              <a:ext cx="100012" cy="95250"/>
            </a:xfrm>
            <a:custGeom>
              <a:avLst/>
              <a:gdLst/>
              <a:ahLst/>
              <a:cxnLst/>
              <a:rect l="l" t="t" r="r" b="b"/>
              <a:pathLst>
                <a:path w="100012" h="95250">
                  <a:moveTo>
                    <a:pt x="100012" y="59055"/>
                  </a:moveTo>
                  <a:lnTo>
                    <a:pt x="0" y="9525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556182" y="2401252"/>
              <a:ext cx="1994535" cy="243840"/>
            </a:xfrm>
            <a:custGeom>
              <a:avLst/>
              <a:gdLst/>
              <a:ahLst/>
              <a:cxnLst/>
              <a:rect l="l" t="t" r="r" b="b"/>
              <a:pathLst>
                <a:path w="1994535" h="243840">
                  <a:moveTo>
                    <a:pt x="0" y="243840"/>
                  </a:moveTo>
                  <a:lnTo>
                    <a:pt x="19945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545002" y="2353628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35243"/>
                  </a:moveTo>
                  <a:lnTo>
                    <a:pt x="1143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36118" y="1825942"/>
              <a:ext cx="485775" cy="294322"/>
            </a:xfrm>
            <a:prstGeom prst="roundRect">
              <a:avLst>
                <a:gd name="adj" fmla="val 32362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00875" y="2530792"/>
              <a:ext cx="554355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645015" y="2161222"/>
              <a:ext cx="1040130" cy="329565"/>
            </a:xfrm>
            <a:prstGeom prst="roundRect">
              <a:avLst>
                <a:gd name="adj" fmla="val 2890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35005" y="19121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20723" y="261794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28099" y="2265521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│ 100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30102" y="1553051"/>
              <a:ext cx="2279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changeArrayValue：同一个数组</a:t>
              </a:r>
            </a:p>
          </p:txBody>
        </p:sp>
      </p:grpSp>
      <p:grpSp>
        <p:nvGrpSpPr>
          <p:cNvPr id="44" name="c2-graph-2"/>
          <p:cNvGrpSpPr/>
          <p:nvPr/>
        </p:nvGrpSpPr>
        <p:grpSpPr>
          <a:xfrm>
            <a:off x="7000875" y="3331369"/>
            <a:ext cx="3814762" cy="1273015"/>
            <a:chOff x="7000875" y="3331369"/>
            <a:chExt cx="3814762" cy="1273015"/>
          </a:xfrm>
        </p:grpSpPr>
        <p:sp>
          <p:nvSpPr>
            <p:cNvPr id="31" name="Freeform 31"/>
            <p:cNvSpPr/>
            <p:nvPr/>
          </p:nvSpPr>
          <p:spPr>
            <a:xfrm>
              <a:off x="7520940" y="3751898"/>
              <a:ext cx="2028825" cy="9525"/>
            </a:xfrm>
            <a:custGeom>
              <a:avLst/>
              <a:gdLst/>
              <a:ahLst/>
              <a:cxnLst/>
              <a:rect l="l" t="t" r="r" b="b"/>
              <a:pathLst>
                <a:path w="2028825" h="9525">
                  <a:moveTo>
                    <a:pt x="0" y="0"/>
                  </a:moveTo>
                  <a:lnTo>
                    <a:pt x="20288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549765" y="37042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556182" y="4456748"/>
              <a:ext cx="1864043" cy="9525"/>
            </a:xfrm>
            <a:custGeom>
              <a:avLst/>
              <a:gdLst/>
              <a:ahLst/>
              <a:cxnLst/>
              <a:rect l="l" t="t" r="r" b="b"/>
              <a:pathLst>
                <a:path w="1864043" h="9525">
                  <a:moveTo>
                    <a:pt x="0" y="0"/>
                  </a:moveTo>
                  <a:lnTo>
                    <a:pt x="18640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420225" y="44091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36118" y="3604260"/>
              <a:ext cx="485775" cy="294322"/>
            </a:xfrm>
            <a:prstGeom prst="roundRect">
              <a:avLst>
                <a:gd name="adj" fmla="val 32362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00875" y="4310062"/>
              <a:ext cx="554355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45015" y="3604260"/>
              <a:ext cx="1040130" cy="294322"/>
            </a:xfrm>
            <a:prstGeom prst="roundRect">
              <a:avLst>
                <a:gd name="adj" fmla="val 323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15475" y="4310062"/>
              <a:ext cx="1300162" cy="294322"/>
            </a:xfrm>
            <a:prstGeom prst="roundRect">
              <a:avLst>
                <a:gd name="adj" fmla="val 323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35005" y="36904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20723" y="439626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90005" y="3690461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 │ 100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68797" y="4396264"/>
              <a:ext cx="7925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│ 3 │ 4 │ 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4741" y="3331369"/>
              <a:ext cx="2389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changeArrayRef：para 改指别处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680835" y="5081588"/>
            <a:ext cx="4977765" cy="1073468"/>
            <a:chOff x="6680835" y="5081588"/>
            <a:chExt cx="4977765" cy="1073468"/>
          </a:xfrm>
        </p:grpSpPr>
        <p:sp>
          <p:nvSpPr>
            <p:cNvPr id="45" name="Rectangle 45"/>
            <p:cNvSpPr/>
            <p:nvPr/>
          </p:nvSpPr>
          <p:spPr>
            <a:xfrm>
              <a:off x="6680835" y="5081588"/>
              <a:ext cx="4977765" cy="1073468"/>
            </a:xfrm>
            <a:prstGeom prst="roundRect">
              <a:avLst>
                <a:gd name="adj" fmla="val 10648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885623" y="5517835"/>
              <a:ext cx="200023" cy="200023"/>
              <a:chOff x="6885623" y="5517835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885623" y="55178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018973" y="5584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188327" y="5399723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参数传的是引用的副本。通过副本改元素，调用者看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得到；让副本指向新数组，调用者的 a 不受影响。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4967" cy="909257"/>
            <a:chOff x="520446" y="342900"/>
            <a:chExt cx="64849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49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 工具类：操作数组的一组静态方法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626418" cy="3141346"/>
            <a:chOff x="533400" y="1524000"/>
            <a:chExt cx="5626418" cy="3141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09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246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53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copyOf()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3843" y="21083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将一个数组中的值拷贝到新的数组中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430780"/>
              <a:ext cx="18935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55698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sort()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53843" y="25569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将数组中的值排序，默认升序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5614"/>
              <a:ext cx="1367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binarySearch()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53843" y="3005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在已排好序的数组中查找特定值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5424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53843" y="34542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判断两个数组的内容是否相等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63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3821"/>
              <a:ext cx="770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asList()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53843" y="3903821"/>
              <a:ext cx="14400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把数组包装成 List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352449"/>
              <a:ext cx="969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53843" y="4352449"/>
              <a:ext cx="346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把数组转成 [1, 2, 3] 形式的字符串（补充）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5626418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4125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2"/>
          <p:cNvGrpSpPr/>
          <p:nvPr/>
        </p:nvGrpSpPr>
        <p:grpSpPr>
          <a:xfrm>
            <a:off x="533400" y="4855845"/>
            <a:ext cx="5626418" cy="1088708"/>
            <a:chOff x="533400" y="4855845"/>
            <a:chExt cx="5626418" cy="1088708"/>
          </a:xfrm>
        </p:grpSpPr>
        <p:sp>
          <p:nvSpPr>
            <p:cNvPr id="34" name="Rectangle 34"/>
            <p:cNvSpPr/>
            <p:nvPr/>
          </p:nvSpPr>
          <p:spPr>
            <a:xfrm>
              <a:off x="533400" y="4855845"/>
              <a:ext cx="5626418" cy="1088708"/>
            </a:xfrm>
            <a:prstGeom prst="roundRect">
              <a:avLst>
                <a:gd name="adj" fmla="val 104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300663"/>
              <a:ext cx="200026" cy="200026"/>
              <a:chOff x="738188" y="5300663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3006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367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4006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157788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完整类名 java.util.Arrays（包名全小写），使用前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import java.util.Arrays。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464618" y="1524000"/>
            <a:ext cx="5193982" cy="1561148"/>
            <a:chOff x="6464618" y="1524000"/>
            <a:chExt cx="5193982" cy="1561148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93015" y="1675924"/>
              <a:ext cx="2092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示例：数组排序（原课件第 17 页）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93015" y="1935956"/>
              <a:ext cx="2679573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 = { 28, 14, 117, 66, 1, 70 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Arrays.sort(a);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a.length;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System.out.print(a[i]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,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System.out.println(Arrays.toString(a));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6464618" y="3275648"/>
            <a:ext cx="5193982" cy="858202"/>
            <a:chOff x="6464618" y="3275648"/>
            <a:chExt cx="5193982" cy="858202"/>
          </a:xfrm>
        </p:grpSpPr>
        <p:sp>
          <p:nvSpPr>
            <p:cNvPr id="45" name="Rectangle 45"/>
            <p:cNvSpPr/>
            <p:nvPr/>
          </p:nvSpPr>
          <p:spPr>
            <a:xfrm>
              <a:off x="6464618" y="3275648"/>
              <a:ext cx="5193982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93015" y="3427571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93015" y="3687604"/>
              <a:ext cx="1995043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1 , 14 , 28 , 66 , 70 , 117 ,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[1, 14, 28, 66, 70, 117]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464618" y="4324350"/>
            <a:ext cx="5193982" cy="1621155"/>
            <a:chOff x="6464618" y="4324350"/>
            <a:chExt cx="5193982" cy="1621155"/>
          </a:xfrm>
        </p:grpSpPr>
        <p:sp>
          <p:nvSpPr>
            <p:cNvPr id="49" name="Rectangle 49"/>
            <p:cNvSpPr/>
            <p:nvPr/>
          </p:nvSpPr>
          <p:spPr>
            <a:xfrm>
              <a:off x="6464618" y="432435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445770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12268" y="45339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3428" y="4569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3295" y="456914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末尾多一个逗号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04648" y="4930140"/>
              <a:ext cx="4511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原课件输出框写的是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 , 14 , … , 117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。循环在每个元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素后都拼接 " , "，实际末尾还有一个。想要整齐的输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出，直接用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Arrays.toString(a)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6737" cy="909257"/>
            <a:chOff x="520446" y="342900"/>
            <a:chExt cx="7046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6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equals、binarySearch、asList 的三个细节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2791778"/>
            <a:chOff x="533400" y="1524000"/>
            <a:chExt cx="5951220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实测（JDK 21）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048633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x = {1, 2, 3}, y = {1, 2, 3};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System.out.println((x == y)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x.equals(y)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Arrays.equals(x, y));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 false true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s = {1, 14, 28, 66, 70, 117};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System.out.println(Arrays.binarySearch(s, 66));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System.out.println(Arrays.binarySearch(s, 20));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-3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String[] arr = {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List&lt;String&gt; list = Arrays.asList(arr);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list.set(0,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"z"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System.out.println(list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arr[0]);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[z, b, c] z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UnsupportedOperationException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ok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ArrayList&lt;&gt;(Arrays.asList(arr));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ok.add(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可以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506278"/>
            <a:ext cx="5951220" cy="1621155"/>
            <a:chOff x="533400" y="4506278"/>
            <a:chExt cx="5951220" cy="1621155"/>
          </a:xfrm>
        </p:grpSpPr>
        <p:sp>
          <p:nvSpPr>
            <p:cNvPr id="11" name="Rectangle 11"/>
            <p:cNvSpPr/>
            <p:nvPr/>
          </p:nvSpPr>
          <p:spPr>
            <a:xfrm>
              <a:off x="533400" y="4506278"/>
              <a:ext cx="595122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639628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71582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7308" y="47515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4000" y="4751070"/>
              <a:ext cx="1884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为什么查 20 返回 -3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5112068"/>
              <a:ext cx="5034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有序数组 [1, 14, 28, 66, 70, 117] 里没有 20。20 应插在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与 28 之间，插入点是下标 2，返回 -(2)-1 = -3。反过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来，拿到负数 r 时，插入点就是 -r-1。</a:t>
              </a:r>
            </a:p>
          </p:txBody>
        </p:sp>
      </p:grpSp>
      <p:grpSp>
        <p:nvGrpSpPr>
          <p:cNvPr id="26" name="c2-kv-1"/>
          <p:cNvGrpSpPr/>
          <p:nvPr/>
        </p:nvGrpSpPr>
        <p:grpSpPr>
          <a:xfrm>
            <a:off x="6781800" y="1548765"/>
            <a:ext cx="4876800" cy="2865120"/>
            <a:chOff x="6781800" y="1548765"/>
            <a:chExt cx="4876800" cy="2865120"/>
          </a:xfrm>
        </p:grpSpPr>
        <p:sp>
          <p:nvSpPr>
            <p:cNvPr id="18" name="TextBox 18"/>
            <p:cNvSpPr txBox="1"/>
            <p:nvPr/>
          </p:nvSpPr>
          <p:spPr>
            <a:xfrm>
              <a:off x="6781800" y="1548765"/>
              <a:ext cx="1224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== 与 equals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52473" y="1548765"/>
              <a:ext cx="31013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数组的 equals 继承自 Object，比较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的是引用。比较内容用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Arrays.equals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789420" y="24326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1800" y="2552700"/>
              <a:ext cx="1367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binarySearch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2473" y="2552700"/>
              <a:ext cx="30441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找到返回下标；找不到返回 -(插入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点)-1。20 应插在下标 2，所以返回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-3。数组必须先排好序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89420" y="343662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81800" y="3556635"/>
              <a:ext cx="668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asList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52473" y="3556635"/>
              <a:ext cx="29775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返回的 List 和原数组共用存储，长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度固定，改元素会同步，add、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 抛异常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6789420" y="4545330"/>
            <a:ext cx="4869180" cy="1582102"/>
            <a:chOff x="6789420" y="4545330"/>
            <a:chExt cx="4869180" cy="1582102"/>
          </a:xfrm>
        </p:grpSpPr>
        <p:sp>
          <p:nvSpPr>
            <p:cNvPr id="27" name="Rectangle 27"/>
            <p:cNvSpPr/>
            <p:nvPr/>
          </p:nvSpPr>
          <p:spPr>
            <a:xfrm>
              <a:off x="6789420" y="4545330"/>
              <a:ext cx="4869180" cy="1582102"/>
            </a:xfrm>
            <a:prstGeom prst="roundRect">
              <a:avLst>
                <a:gd name="adj" fmla="val 7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994208" y="5236845"/>
              <a:ext cx="200026" cy="200025"/>
              <a:chOff x="6994208" y="523684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94208" y="52368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33946" y="52812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68662" y="53924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296150" y="5093970"/>
              <a:ext cx="3996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要一个能增删的 List，就把 asList 的结果交给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new ArrayList&lt;&gt;(...) 再用。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对象数组排序前，先规定两个对象怎么比大小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951220" cy="2304098"/>
            <a:chOff x="533400" y="1524000"/>
            <a:chExt cx="5951220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73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Employee 没有实现比较接口（原课件第 18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2688" y="1935004"/>
              <a:ext cx="124079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178"/>
                </a:lnSpc>
              </a:pPr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1542" y="1935004"/>
              <a:ext cx="4305300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java.util.Arrays;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Employee[] es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Employee[] {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Employee(12),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Employee(2)};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Arrays.sort(es);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运行到这里抛异常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3992880"/>
            <a:ext cx="5951220" cy="809625"/>
            <a:chOff x="533400" y="3992880"/>
            <a:chExt cx="5951220" cy="809625"/>
          </a:xfrm>
        </p:grpSpPr>
        <p:sp>
          <p:nvSpPr>
            <p:cNvPr id="12" name="Rectangle 12"/>
            <p:cNvSpPr/>
            <p:nvPr/>
          </p:nvSpPr>
          <p:spPr>
            <a:xfrm>
              <a:off x="533400" y="3992880"/>
              <a:ext cx="5951220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144804"/>
              <a:ext cx="2039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运行结果（JDK 21，只摘前两行）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988" y="4403884"/>
              <a:ext cx="3388868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Exception in thread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"main"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java.lang.ClassCastException: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class Employee cannot be cast to class java.lang.Comparable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4966335"/>
            <a:ext cx="5951220" cy="1160145"/>
            <a:chOff x="533400" y="4966335"/>
            <a:chExt cx="5951220" cy="1160145"/>
          </a:xfrm>
        </p:grpSpPr>
        <p:sp>
          <p:nvSpPr>
            <p:cNvPr id="16" name="Rectangle 16"/>
            <p:cNvSpPr/>
            <p:nvPr/>
          </p:nvSpPr>
          <p:spPr>
            <a:xfrm>
              <a:off x="533400" y="4966335"/>
              <a:ext cx="5951220" cy="1160145"/>
            </a:xfrm>
            <a:prstGeom prst="roundRect">
              <a:avLst>
                <a:gd name="adj" fmla="val 1149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4375" y="51473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7047" y="51801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0350" y="5186839"/>
              <a:ext cx="3116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sort 默认把元素当成 Comparable 来比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7898" y="5504021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不传比较器时，sort 把元素强制转换成 Comparable 再调 compareTo。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Employee 没实现这个接口，转换失败：编译能过，运行时报错。</a:t>
              </a:r>
            </a:p>
          </p:txBody>
        </p:sp>
      </p:grpSp>
      <p:grpSp>
        <p:nvGrpSpPr>
          <p:cNvPr id="33" name="c2-table-1"/>
          <p:cNvGrpSpPr/>
          <p:nvPr/>
        </p:nvGrpSpPr>
        <p:grpSpPr>
          <a:xfrm>
            <a:off x="6789420" y="1524000"/>
            <a:ext cx="4869180" cy="1143952"/>
            <a:chOff x="6789420" y="1524000"/>
            <a:chExt cx="4869180" cy="1143952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142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66186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要实现的方法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4098" y="2023110"/>
              <a:ext cx="1566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java.lang.Comparable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26271" y="2023110"/>
              <a:ext cx="17240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compareTo(Object o)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4098" y="2404110"/>
              <a:ext cx="1566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java.util.Comparator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26271" y="2404110"/>
              <a:ext cx="2424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compare(Object o1, Object o2)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1524000"/>
              <a:ext cx="486918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92683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ard-2"/>
          <p:cNvGrpSpPr/>
          <p:nvPr/>
        </p:nvGrpSpPr>
        <p:grpSpPr>
          <a:xfrm>
            <a:off x="6789420" y="2832735"/>
            <a:ext cx="4869180" cy="1160145"/>
            <a:chOff x="6789420" y="2832735"/>
            <a:chExt cx="4869180" cy="1160145"/>
          </a:xfrm>
        </p:grpSpPr>
        <p:sp>
          <p:nvSpPr>
            <p:cNvPr id="34" name="Rectangle 34"/>
            <p:cNvSpPr/>
            <p:nvPr/>
          </p:nvSpPr>
          <p:spPr>
            <a:xfrm>
              <a:off x="6789420" y="2832735"/>
              <a:ext cx="486918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98945" y="29660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08495" y="30137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89966" y="30465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返回值约定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7851" y="30532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负数、零、正数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2018" y="3370421"/>
              <a:ext cx="4247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前者小于后者返回负数，相等返回 0，大于返回正数。sort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只看符号，不看具体数值。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6789420" y="4157662"/>
            <a:ext cx="4869180" cy="1968818"/>
            <a:chOff x="6789420" y="4157662"/>
            <a:chExt cx="4869180" cy="1968818"/>
          </a:xfrm>
        </p:grpSpPr>
        <p:sp>
          <p:nvSpPr>
            <p:cNvPr id="41" name="Rectangle 41"/>
            <p:cNvSpPr/>
            <p:nvPr/>
          </p:nvSpPr>
          <p:spPr>
            <a:xfrm>
              <a:off x="6789420" y="4157662"/>
              <a:ext cx="4869180" cy="1968818"/>
            </a:xfrm>
            <a:prstGeom prst="roundRect">
              <a:avLst>
                <a:gd name="adj" fmla="val 67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98945" y="4291012"/>
              <a:ext cx="47625" cy="17021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08495" y="43386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93064" y="4371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版本差异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24026" y="437911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异常信息的格式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02018" y="4695349"/>
              <a:ext cx="42070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原课件截图是旧版 JDK 的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Employee cannot be cast to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java.lang.Comparable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。JDK 11 起信息里还会写出两个类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所在的模块和类加载器。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93949" cy="909257"/>
            <a:chOff x="520446" y="342900"/>
            <a:chExt cx="74939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939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Comparable：让类自己带上「默认的比较规则」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6059805" cy="3388995"/>
            <a:chOff x="533400" y="1524000"/>
            <a:chExt cx="6059805" cy="3388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388995"/>
            </a:xfrm>
            <a:prstGeom prst="roundRect">
              <a:avLst>
                <a:gd name="adj" fmla="val 2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65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id 升序（原课件第 20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129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86131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02133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2879" y="1935194"/>
              <a:ext cx="132461" cy="2893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260"/>
                </a:lnSpc>
              </a:pPr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0115" y="1935194"/>
              <a:ext cx="4619625" cy="2893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java.util.Arrays;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Comparable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compareTo(Object o)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Employee e = (Employee) 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- e.id;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Employee[] es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Employee[] {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Employee(12),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Employee(2)};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System.out.println(es[0].id);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System.out.println(es[1].id);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Arrays.sort(es);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System.out.println(es[0].id);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System.out.println(es[1].id);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5088255"/>
            <a:ext cx="6059805" cy="1226820"/>
            <a:chOff x="533400" y="5088255"/>
            <a:chExt cx="6059805" cy="1226820"/>
          </a:xfrm>
        </p:grpSpPr>
        <p:sp>
          <p:nvSpPr>
            <p:cNvPr id="15" name="Rectangle 15"/>
            <p:cNvSpPr/>
            <p:nvPr/>
          </p:nvSpPr>
          <p:spPr>
            <a:xfrm>
              <a:off x="533400" y="5088255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522160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528066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1344" y="5314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80947" y="5319712"/>
              <a:ext cx="1943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 比较 12 号和 2 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5654040"/>
              <a:ext cx="53715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号调用 compareTo(2 号)：12 - 2 = 10 &gt; 0，说明 12 号「大」，排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到后面。所以排序前打印 12、2，排序后打印 2、12。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898005" y="1524000"/>
            <a:ext cx="4760595" cy="1148715"/>
            <a:chOff x="6898005" y="1524000"/>
            <a:chExt cx="4760595" cy="1148715"/>
          </a:xfrm>
        </p:grpSpPr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26402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6592" y="1935194"/>
              <a:ext cx="132461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2847975"/>
            <a:ext cx="4760595" cy="1741170"/>
            <a:chOff x="6898005" y="2847975"/>
            <a:chExt cx="4760595" cy="1741170"/>
          </a:xfrm>
        </p:grpSpPr>
        <p:sp>
          <p:nvSpPr>
            <p:cNvPr id="26" name="Rectangle 26"/>
            <p:cNvSpPr/>
            <p:nvPr/>
          </p:nvSpPr>
          <p:spPr>
            <a:xfrm>
              <a:off x="6898005" y="2847975"/>
              <a:ext cx="4760595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7530" y="2981325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8510" y="304038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07948" y="30746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减法的隐患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12252" y="3080385"/>
              <a:ext cx="2028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this.id - e.id 可能溢出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21652" y="3413760"/>
              <a:ext cx="417995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取值很大或有负数时差值会越界：实测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Integer.MAX_VALUE - (-1)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 -2147483648，符号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反了。稳妥的写法是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Integer.compare(this.id,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e.id)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code-3"/>
          <p:cNvGrpSpPr/>
          <p:nvPr/>
        </p:nvGrpSpPr>
        <p:grpSpPr>
          <a:xfrm>
            <a:off x="6898005" y="4764405"/>
            <a:ext cx="4760595" cy="1468755"/>
            <a:chOff x="6898005" y="4764405"/>
            <a:chExt cx="4760595" cy="1468755"/>
          </a:xfrm>
        </p:grpSpPr>
        <p:sp>
          <p:nvSpPr>
            <p:cNvPr id="33" name="Rectangle 33"/>
            <p:cNvSpPr/>
            <p:nvPr/>
          </p:nvSpPr>
          <p:spPr>
            <a:xfrm>
              <a:off x="6898005" y="4764405"/>
              <a:ext cx="4760595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26402" y="491632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带泛型的写法，省掉强制转换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6592" y="5175599"/>
              <a:ext cx="2529713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Comparable&lt;Emp&gt;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compareTo(Emp e)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Integer.compare(id, e.id);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14413" cy="909257"/>
            <a:chOff x="520446" y="342900"/>
            <a:chExt cx="86144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144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Comparator：比较规则写在类外面，想要几种就写几个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847148"/>
            <a:chOff x="533400" y="1524000"/>
            <a:chExt cx="6276022" cy="3847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47148"/>
            </a:xfrm>
            <a:prstGeom prst="roundRect">
              <a:avLst>
                <a:gd name="adj" fmla="val 24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65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id 降序（原课件第 22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911727" cy="3362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Employee[] es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Employee[] {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Employee(12),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Employee(2),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Employee(8)};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Arrays.sort(es,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DescComparator());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System.out.println(es[0].id);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System.out.println(es[1].id);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System.out.println(es[2].id);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DescComparator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compare(Object o1, Object o2)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((Employee) o2).id - ((Employee) o1).id;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5561648"/>
            <a:ext cx="6276022" cy="782955"/>
            <a:chOff x="533400" y="5561648"/>
            <a:chExt cx="6276022" cy="782955"/>
          </a:xfrm>
        </p:grpSpPr>
        <p:sp>
          <p:nvSpPr>
            <p:cNvPr id="12" name="Rectangle 12"/>
            <p:cNvSpPr/>
            <p:nvPr/>
          </p:nvSpPr>
          <p:spPr>
            <a:xfrm>
              <a:off x="533400" y="5561648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853113"/>
              <a:ext cx="200026" cy="200025"/>
              <a:chOff x="738188" y="5853113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8531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8975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60086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710238"/>
              <a:ext cx="5130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为什么是降序：o1 为 2 号、o2 为 12 号时返回 12 - 2 = 10 &gt;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0，sort 认为 2 号「大」，把它排到后面。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7114222" y="1524000"/>
            <a:ext cx="4544378" cy="1033462"/>
            <a:chOff x="7114222" y="1524000"/>
            <a:chExt cx="4544378" cy="1033462"/>
          </a:xfrm>
        </p:grpSpPr>
        <p:sp>
          <p:nvSpPr>
            <p:cNvPr id="19" name="Rectangle 19"/>
            <p:cNvSpPr/>
            <p:nvPr/>
          </p:nvSpPr>
          <p:spPr>
            <a:xfrm>
              <a:off x="7114222" y="1524000"/>
              <a:ext cx="4544378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42620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42620" y="1935956"/>
              <a:ext cx="146812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</p:grpSp>
      <p:grpSp>
        <p:nvGrpSpPr>
          <p:cNvPr id="26" name="c2-code-2"/>
          <p:cNvGrpSpPr/>
          <p:nvPr/>
        </p:nvGrpSpPr>
        <p:grpSpPr>
          <a:xfrm>
            <a:off x="7114222" y="2747962"/>
            <a:ext cx="4544378" cy="1384935"/>
            <a:chOff x="7114222" y="2747962"/>
            <a:chExt cx="4544378" cy="1384935"/>
          </a:xfrm>
        </p:grpSpPr>
        <p:sp>
          <p:nvSpPr>
            <p:cNvPr id="23" name="Rectangle 23"/>
            <p:cNvSpPr/>
            <p:nvPr/>
          </p:nvSpPr>
          <p:spPr>
            <a:xfrm>
              <a:off x="7114222" y="2747962"/>
              <a:ext cx="454437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42620" y="2899886"/>
              <a:ext cx="22411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8 起可以用 Lambda 直接写规则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42620" y="3160871"/>
              <a:ext cx="3843274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Arrays.sort(es, (x, y) -&gt; Integer.compare(x.id, y.id));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 8 12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Arrays.sort(es, Comparator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.comparingInt((Employee e) -&gt; e.id).reversed());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12 8 2</a:t>
              </a:r>
            </a:p>
          </p:txBody>
        </p:sp>
      </p:grpSp>
      <p:grpSp>
        <p:nvGrpSpPr>
          <p:cNvPr id="46" name="c2-table-3"/>
          <p:cNvGrpSpPr/>
          <p:nvPr/>
        </p:nvGrpSpPr>
        <p:grpSpPr>
          <a:xfrm>
            <a:off x="7114222" y="4324350"/>
            <a:ext cx="4544378" cy="1795462"/>
            <a:chOff x="7114222" y="4324350"/>
            <a:chExt cx="4544378" cy="1795462"/>
          </a:xfrm>
        </p:grpSpPr>
        <p:sp>
          <p:nvSpPr>
            <p:cNvPr id="27" name="Rectangle 27"/>
            <p:cNvSpPr/>
            <p:nvPr/>
          </p:nvSpPr>
          <p:spPr>
            <a:xfrm>
              <a:off x="7114222" y="4324350"/>
              <a:ext cx="454437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80262" y="44591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5500" y="4459129"/>
              <a:ext cx="1004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Comparable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69638" y="4459129"/>
              <a:ext cx="1050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Comparator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22046" y="49077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2658" y="490775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被比较的类内部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39540" y="490775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单独的比较器类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52168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14222" y="522160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22046" y="53573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规则数量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2658" y="53573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39540" y="535733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想要几种写几个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14222" y="56654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22046" y="58059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改源代码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2658" y="58059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39540" y="58059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4324350"/>
              <a:ext cx="454437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00072" y="4324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26955" y="4324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807449" cy="909257"/>
            <a:chOff x="520446" y="342900"/>
            <a:chExt cx="108074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8074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两个接口怎么选：自然顺序用 Comparable，其他规则用 Comparator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476500"/>
            <a:chOff x="533400" y="1524000"/>
            <a:chExt cx="5410200" cy="2476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3464" y="1767364"/>
              <a:ext cx="2372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Comparator 的模块性更好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两个接口都能让对象比较大小。Comparator 可以看成一种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算法的实现，把算法和数据分离。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5335" y="2698432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36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6228" y="2711291"/>
              <a:ext cx="43967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类的设计者没有考虑比较问题、没有实现 Comparable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时，可以通过 Comparator 排序，不必改变对象本身。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5335" y="3289935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680" y="333027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6228" y="330279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构造不同的比较器，就能实现多种排序标准，比如升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序、降序。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185285"/>
            <a:ext cx="5410200" cy="1018222"/>
            <a:chOff x="533400" y="4185285"/>
            <a:chExt cx="5410200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4185285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594860"/>
              <a:ext cx="200026" cy="200026"/>
              <a:chOff x="738188" y="4594860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5948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6615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46948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333399"/>
              <a:ext cx="442379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Arrays.sort 对对象数组用的是 TimSort（归并排序的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改进），排序稳定，时间复杂度 O(n log n)。对 int 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类基本类型数组用的是双轴快速排序。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389245"/>
            <a:ext cx="5410200" cy="756285"/>
            <a:chOff x="533400" y="5389245"/>
            <a:chExt cx="5410200" cy="756285"/>
          </a:xfrm>
        </p:grpSpPr>
        <p:sp>
          <p:nvSpPr>
            <p:cNvPr id="27" name="Rectangle 27"/>
            <p:cNvSpPr/>
            <p:nvPr/>
          </p:nvSpPr>
          <p:spPr>
            <a:xfrm>
              <a:off x="533400" y="538924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667375"/>
              <a:ext cx="200026" cy="200025"/>
              <a:chOff x="738188" y="566737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667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711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822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537359"/>
              <a:ext cx="44688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String、Integer 等常用类已经实现了 Comparable，可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以直接排序。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6437948" y="2118360"/>
            <a:ext cx="5031105" cy="3740467"/>
            <a:chOff x="6437948" y="2118360"/>
            <a:chExt cx="5031105" cy="3740467"/>
          </a:xfrm>
        </p:grpSpPr>
        <p:sp>
          <p:nvSpPr>
            <p:cNvPr id="34" name="Freeform 34"/>
            <p:cNvSpPr/>
            <p:nvPr/>
          </p:nvSpPr>
          <p:spPr>
            <a:xfrm>
              <a:off x="8953500" y="2543175"/>
              <a:ext cx="9525" cy="898208"/>
            </a:xfrm>
            <a:custGeom>
              <a:avLst/>
              <a:gdLst/>
              <a:ahLst/>
              <a:cxnLst/>
              <a:rect l="l" t="t" r="r" b="b"/>
              <a:pathLst>
                <a:path w="9525" h="898208">
                  <a:moveTo>
                    <a:pt x="0" y="0"/>
                  </a:moveTo>
                  <a:lnTo>
                    <a:pt x="0" y="8982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01112" y="34413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600950" y="4340542"/>
              <a:ext cx="1352550" cy="809625"/>
            </a:xfrm>
            <a:custGeom>
              <a:avLst/>
              <a:gdLst/>
              <a:ahLst/>
              <a:cxnLst/>
              <a:rect l="l" t="t" r="r" b="b"/>
              <a:pathLst>
                <a:path w="1352550" h="809625">
                  <a:moveTo>
                    <a:pt x="1352550" y="0"/>
                  </a:moveTo>
                  <a:lnTo>
                    <a:pt x="1352550" y="457200"/>
                  </a:lnTo>
                  <a:lnTo>
                    <a:pt x="0" y="457200"/>
                  </a:lnTo>
                  <a:lnTo>
                    <a:pt x="0" y="809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48562" y="51501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953500" y="4340542"/>
              <a:ext cx="1352550" cy="809625"/>
            </a:xfrm>
            <a:custGeom>
              <a:avLst/>
              <a:gdLst/>
              <a:ahLst/>
              <a:cxnLst/>
              <a:rect l="l" t="t" r="r" b="b"/>
              <a:pathLst>
                <a:path w="1352550" h="809625">
                  <a:moveTo>
                    <a:pt x="0" y="0"/>
                  </a:moveTo>
                  <a:lnTo>
                    <a:pt x="0" y="457200"/>
                  </a:lnTo>
                  <a:lnTo>
                    <a:pt x="1352550" y="457200"/>
                  </a:lnTo>
                  <a:lnTo>
                    <a:pt x="1352550" y="809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253662" y="51501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27495" y="2118360"/>
              <a:ext cx="4652962" cy="42481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627495" y="3546158"/>
              <a:ext cx="4652010" cy="794385"/>
            </a:xfrm>
            <a:custGeom>
              <a:avLst/>
              <a:gdLst/>
              <a:ahLst/>
              <a:cxnLst/>
              <a:rect l="l" t="t" r="r" b="b"/>
              <a:pathLst>
                <a:path w="4652010" h="794385">
                  <a:moveTo>
                    <a:pt x="2326005" y="0"/>
                  </a:moveTo>
                  <a:lnTo>
                    <a:pt x="4652010" y="397192"/>
                  </a:lnTo>
                  <a:lnTo>
                    <a:pt x="2326005" y="794385"/>
                  </a:lnTo>
                  <a:lnTo>
                    <a:pt x="0" y="39719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37948" y="5254942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43048" y="5254942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62772" y="22469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要给对象排序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5404" y="3756660"/>
              <a:ext cx="1536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能改这个类的源代码？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且只有一种自然顺序？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66204" y="5369242"/>
              <a:ext cx="12694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Comparable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Arrays.sort(es)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64624" y="5369242"/>
              <a:ext cx="14828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Comparator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Arrays.sort(es, c)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24788" y="45815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63078" y="46081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853612" y="45815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91903" y="46081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1017" cy="909257"/>
            <a:chOff x="520446" y="342900"/>
            <a:chExt cx="69010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10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数组拷贝：copyOf 按新长度截断或补默认值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616518"/>
            <a:chOff x="533400" y="1524000"/>
            <a:chExt cx="605980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86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ArrayCopy（原课件第 25 页，末尾补了几行）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459351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a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{1, 2, 3};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b = Arrays.copyOf(a, a.length);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b.length;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System.out.println(b[i]);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 2 3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c = Arrays.copyOf(a, a.length * 2);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c.length;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System.out.println(c[i]);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 2 3 0 0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System.out.println(Arrays.toString(Arrays.copyOfRange(a, 1, 3)));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d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[5];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System.arraycopy(a, 0, d, 1, 3);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System.out.println(Arrays.toString(d));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System.out.println((b == a)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Arrays.equals(a, b));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331018"/>
            <a:ext cx="6059805" cy="1033462"/>
            <a:chOff x="533400" y="4331018"/>
            <a:chExt cx="6059805" cy="1033462"/>
          </a:xfrm>
        </p:grpSpPr>
        <p:sp>
          <p:nvSpPr>
            <p:cNvPr id="11" name="Rectangle 11"/>
            <p:cNvSpPr/>
            <p:nvPr/>
          </p:nvSpPr>
          <p:spPr>
            <a:xfrm>
              <a:off x="533400" y="4331018"/>
              <a:ext cx="605980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48294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后三行的输出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4742974"/>
              <a:ext cx="103670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[2, 3]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[0, 1, 2, 3, 0]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false true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5554980"/>
            <a:ext cx="6059805" cy="782955"/>
            <a:chOff x="533400" y="5554980"/>
            <a:chExt cx="6059805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555498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846445"/>
              <a:ext cx="200026" cy="200025"/>
              <a:chOff x="738188" y="5846445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8464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58908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60020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703570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最后一行：copyOf 总是新建数组，所以 b == a 为 false；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Arrays.equals 比的是内容，所以为 true。</a:t>
              </a:r>
            </a:p>
          </p:txBody>
        </p:sp>
      </p:grpSp>
      <p:grpSp>
        <p:nvGrpSpPr>
          <p:cNvPr id="28" name="c2-bullets-1"/>
          <p:cNvGrpSpPr/>
          <p:nvPr/>
        </p:nvGrpSpPr>
        <p:grpSpPr>
          <a:xfrm>
            <a:off x="6903720" y="1548765"/>
            <a:ext cx="4402455" cy="2125980"/>
            <a:chOff x="6903720" y="1548765"/>
            <a:chExt cx="4402455" cy="2125980"/>
          </a:xfrm>
        </p:grpSpPr>
        <p:sp>
          <p:nvSpPr>
            <p:cNvPr id="22" name="Ellipse 22"/>
            <p:cNvSpPr/>
            <p:nvPr/>
          </p:nvSpPr>
          <p:spPr>
            <a:xfrm>
              <a:off x="6903720" y="161163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61835" y="1548765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copyOf(a, n)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：新建长度为 n 的数组，拷入前 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个；n 比原长度大时，多出的位置填默认值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903720" y="22421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61835" y="2179320"/>
              <a:ext cx="4187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copyOfRange(a, from, to)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：拷贝下标 [from,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to) 这一段，含头不含尾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03720" y="28727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61835" y="2809875"/>
              <a:ext cx="4244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System.arraycopy(src, i, dst, j, n)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 src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 起的 n 个元素拷到已有数组 dst 的 j 处，不新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建数组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898005" y="3806190"/>
            <a:ext cx="4760595" cy="1059180"/>
            <a:chOff x="6898005" y="3806190"/>
            <a:chExt cx="4760595" cy="1059180"/>
          </a:xfrm>
        </p:grpSpPr>
        <p:sp>
          <p:nvSpPr>
            <p:cNvPr id="29" name="Rectangle 29"/>
            <p:cNvSpPr/>
            <p:nvPr/>
          </p:nvSpPr>
          <p:spPr>
            <a:xfrm>
              <a:off x="6898005" y="380619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102793" y="4235768"/>
              <a:ext cx="200026" cy="200026"/>
              <a:chOff x="7102793" y="423576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102793" y="4235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02805" y="4302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91693" y="43357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404735" y="3954780"/>
              <a:ext cx="3768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copyOf 有 int[]、double[]、char[]、T[]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等多个重载版本，原课件第 26 页的代码提示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列表就是这些重载。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898005" y="5055870"/>
            <a:ext cx="4760595" cy="1282065"/>
            <a:chOff x="6898005" y="5055870"/>
            <a:chExt cx="4760595" cy="1282065"/>
          </a:xfrm>
        </p:grpSpPr>
        <p:sp>
          <p:nvSpPr>
            <p:cNvPr id="36" name="Rectangle 36"/>
            <p:cNvSpPr/>
            <p:nvPr/>
          </p:nvSpPr>
          <p:spPr>
            <a:xfrm>
              <a:off x="6898005" y="5055870"/>
              <a:ext cx="4760595" cy="1282065"/>
            </a:xfrm>
            <a:prstGeom prst="roundRect">
              <a:avLst>
                <a:gd name="adj" fmla="val 891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090734" y="5593198"/>
              <a:ext cx="224134" cy="192560"/>
              <a:chOff x="7090734" y="559319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202805" y="56635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090734" y="55931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02805" y="57413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404735" y="5454015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对象数组的 copyOf 只拷引用：新旧数组的元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素指向同一批对象（浅拷贝）。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7.1 数组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数组装满了怎么办：申请更大的数组，把数据搬过去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354908" cy="1878615"/>
            <a:chOff x="533400" y="1533525"/>
            <a:chExt cx="3354908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元素个数是否已达到数组长度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新建一个更大的数组，常见做法是加倍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把原来的数据拷过去，之后用新数组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590925"/>
            <a:ext cx="5626418" cy="1912620"/>
            <a:chOff x="533400" y="3590925"/>
            <a:chExt cx="5626418" cy="1912620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742849"/>
              <a:ext cx="2347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手写一个会扩容的数组（JDK 21 实测）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797" y="4002881"/>
              <a:ext cx="3569462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data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Object[2];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 = 0;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add(Object o)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(size == data.length)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 = Arrays.copyOf(data, data.length * 2);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data[size++] = o;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依次 add 5 个，容量变化 2 2 4 4 8</a:t>
              </a:r>
            </a:p>
          </p:txBody>
        </p:sp>
      </p:grpSp>
      <p:grpSp>
        <p:nvGrpSpPr>
          <p:cNvPr id="46" name="c2-cells-1"/>
          <p:cNvGrpSpPr/>
          <p:nvPr/>
        </p:nvGrpSpPr>
        <p:grpSpPr>
          <a:xfrm>
            <a:off x="6458141" y="1524000"/>
            <a:ext cx="5200459" cy="1457039"/>
            <a:chOff x="6458141" y="1524000"/>
            <a:chExt cx="5200459" cy="1457039"/>
          </a:xfrm>
        </p:grpSpPr>
        <p:sp>
          <p:nvSpPr>
            <p:cNvPr id="25" name="TextBox 25"/>
            <p:cNvSpPr txBox="1"/>
            <p:nvPr/>
          </p:nvSpPr>
          <p:spPr>
            <a:xfrm>
              <a:off x="6458141" y="16540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旧数组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85648" y="1524000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59964" y="1654016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0048" y="1524000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74364" y="1654016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1614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6014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8141" y="24445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新数组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85648" y="2314575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59964" y="2444591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00048" y="2314575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74364" y="2444591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915400" y="2314575"/>
              <a:ext cx="9144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89717" y="2444591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829800" y="2314575"/>
              <a:ext cx="9144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744200" y="2314575"/>
              <a:ext cx="9144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01614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6014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31367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45767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60167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3" name="c2-compare-2"/>
          <p:cNvGrpSpPr/>
          <p:nvPr/>
        </p:nvGrpSpPr>
        <p:grpSpPr>
          <a:xfrm>
            <a:off x="6464618" y="3124200"/>
            <a:ext cx="5193982" cy="2379345"/>
            <a:chOff x="6464618" y="3124200"/>
            <a:chExt cx="5193982" cy="2379345"/>
          </a:xfrm>
        </p:grpSpPr>
        <p:sp>
          <p:nvSpPr>
            <p:cNvPr id="47" name="Rectangle 47"/>
            <p:cNvSpPr/>
            <p:nvPr/>
          </p:nvSpPr>
          <p:spPr>
            <a:xfrm>
              <a:off x="6464618" y="3124200"/>
              <a:ext cx="2386965" cy="2379345"/>
            </a:xfrm>
            <a:prstGeom prst="roundRect">
              <a:avLst>
                <a:gd name="adj" fmla="val 5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3257550"/>
              <a:ext cx="47625" cy="21126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4648" y="33585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数组的优点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17983" y="37757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76098" y="37128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可以按下标快速随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机访问元素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17983" y="43967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76098" y="43338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既能保存基本类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型，也能保存对象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271635" y="3124200"/>
              <a:ext cx="2386965" cy="2379345"/>
            </a:xfrm>
            <a:prstGeom prst="roundRect">
              <a:avLst>
                <a:gd name="adj" fmla="val 5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281160" y="3257550"/>
              <a:ext cx="47625" cy="21126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11665" y="33585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数组的缺点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525000" y="37757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683115" y="3712845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容量固定，空间不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足时要整体搬迁，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效率低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525000" y="468249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683115" y="461962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写程序时常常不知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道要存多少个对象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900160" y="41519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70500" y="424815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6540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把「判断、申请、拷贝」封装进一个类，就得到了 7.3 节的 ArrayList。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801868" cy="2643187"/>
            <a:chOff x="667512" y="1835468"/>
            <a:chExt cx="580186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98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枚举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取值只有那几个、而且不会变的数据，用 enum 定义成类型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枚举变量只能保存声明时列出的某个值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92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枚举类型隐式继承 java.lang.Enum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7.2 枚举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枚举：取值有限且固定的集合，写成一个类型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193982" cy="2676525"/>
            <a:chOff x="533400" y="1524000"/>
            <a:chExt cx="5193982" cy="2676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676525"/>
            </a:xfrm>
            <a:prstGeom prst="roundRect">
              <a:avLst>
                <a:gd name="adj" fmla="val 4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982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数值不变、个数有限的数据集合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季节 = {春，夏，秋，冬}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星期 = {星期一，星期二，…，星期日}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1479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性别 = {男，女}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1984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135630"/>
              <a:ext cx="1883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音量 = {高，中，低}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47091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enum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关键字创建枚举类型。枚举类型的变量只能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保存声明时给定的某个枚举值。</a:t>
              </a:r>
            </a:p>
          </p:txBody>
        </p:sp>
      </p:grpSp>
      <p:grpSp>
        <p:nvGrpSpPr>
          <p:cNvPr id="25" name="c1-code-2"/>
          <p:cNvGrpSpPr/>
          <p:nvPr/>
        </p:nvGrpSpPr>
        <p:grpSpPr>
          <a:xfrm>
            <a:off x="533400" y="4391025"/>
            <a:ext cx="5193982" cy="858202"/>
            <a:chOff x="533400" y="4391025"/>
            <a:chExt cx="5193982" cy="858202"/>
          </a:xfrm>
        </p:grpSpPr>
        <p:sp>
          <p:nvSpPr>
            <p:cNvPr id="22" name="Rectangle 22"/>
            <p:cNvSpPr/>
            <p:nvPr/>
          </p:nvSpPr>
          <p:spPr>
            <a:xfrm>
              <a:off x="533400" y="4391025"/>
              <a:ext cx="5193982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45429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定义与使用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797" y="4803934"/>
              <a:ext cx="3090291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enum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Season { SPRING, SUMMER, FALL, WINTER 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Season s = Season.SPRING;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439728"/>
            <a:ext cx="5193982" cy="782955"/>
            <a:chOff x="533400" y="5439728"/>
            <a:chExt cx="5193982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543972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31193"/>
              <a:ext cx="200026" cy="200025"/>
              <a:chOff x="738188" y="5731193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7311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7756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8867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58831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右大括号后面的分号可写可不写，两种写法都实测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通过。枚举常量按惯例全部大写。</a:t>
              </a:r>
            </a:p>
          </p:txBody>
        </p:sp>
      </p:grpSp>
      <p:grpSp>
        <p:nvGrpSpPr>
          <p:cNvPr id="53" name="c2-compare-1"/>
          <p:cNvGrpSpPr/>
          <p:nvPr/>
        </p:nvGrpSpPr>
        <p:grpSpPr>
          <a:xfrm>
            <a:off x="6032182" y="1524000"/>
            <a:ext cx="5626418" cy="2274570"/>
            <a:chOff x="6032182" y="1524000"/>
            <a:chExt cx="5626418" cy="2274570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260413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72212" y="175831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int 常量表示季节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85548" y="21755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43662" y="2112645"/>
              <a:ext cx="1994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s = 5;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编译器不拦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85548" y="251079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43662" y="24479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打印出来只是一个数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85548" y="313182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43662" y="3068955"/>
              <a:ext cx="1863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方法参数写 int，谁也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看不出该传什么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054465" y="1524000"/>
              <a:ext cx="260413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63990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94495" y="17583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用枚举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307830" y="21755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65945" y="21126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只能取四个值之一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9307830" y="251079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65945" y="2447925"/>
              <a:ext cx="1941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打印出来就是 SPRING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307830" y="284607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65945" y="2783205"/>
              <a:ext cx="1844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参数类型写 Season，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含义清楚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682990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53330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7" name="c2-code-2"/>
          <p:cNvGrpSpPr/>
          <p:nvPr/>
        </p:nvGrpSpPr>
        <p:grpSpPr>
          <a:xfrm>
            <a:off x="6032182" y="3989070"/>
            <a:ext cx="5626418" cy="1033462"/>
            <a:chOff x="6032182" y="3989070"/>
            <a:chExt cx="5626418" cy="1033462"/>
          </a:xfrm>
        </p:grpSpPr>
        <p:sp>
          <p:nvSpPr>
            <p:cNvPr id="54" name="Rectangle 54"/>
            <p:cNvSpPr/>
            <p:nvPr/>
          </p:nvSpPr>
          <p:spPr>
            <a:xfrm>
              <a:off x="6032182" y="3989070"/>
              <a:ext cx="5626418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60580" y="4140994"/>
              <a:ext cx="24473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反例：Season s = 0; 的报错（JDK 21）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60580" y="4401979"/>
              <a:ext cx="3613023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EnumErr.java:4: 错误: 不兼容的类型: int无法转换为Season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Season s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^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032182" y="5213032"/>
            <a:ext cx="5626418" cy="1008698"/>
            <a:chOff x="6032182" y="5213032"/>
            <a:chExt cx="5626418" cy="1008698"/>
          </a:xfrm>
        </p:grpSpPr>
        <p:sp>
          <p:nvSpPr>
            <p:cNvPr id="58" name="Rectangle 58"/>
            <p:cNvSpPr/>
            <p:nvPr/>
          </p:nvSpPr>
          <p:spPr>
            <a:xfrm>
              <a:off x="6032182" y="5213032"/>
              <a:ext cx="5626418" cy="1008698"/>
            </a:xfrm>
            <a:prstGeom prst="roundRect">
              <a:avLst>
                <a:gd name="adj" fmla="val 1133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236970" y="5617845"/>
              <a:ext cx="200026" cy="200026"/>
              <a:chOff x="6236970" y="561784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236970" y="56178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336983" y="5684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325870" y="57178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538912" y="5474970"/>
              <a:ext cx="4577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 Java.lang.Enum，包名全小写，应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java.lang.Enum。所有枚举类型都隐式继承它。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46431" cy="909257"/>
            <a:chOff x="520446" y="342900"/>
            <a:chExt cx="48464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7.2 枚举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464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例：在 switch 里按枚举值分支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3917632"/>
            <a:chOff x="533400" y="1524000"/>
            <a:chExt cx="6059805" cy="3917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917632"/>
            </a:xfrm>
            <a:prstGeom prst="roundRect">
              <a:avLst>
                <a:gd name="adj" fmla="val 2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91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TestEnum（原课件第 116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2079" y="1936337"/>
              <a:ext cx="140919" cy="3424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42"/>
                </a:lnSpc>
              </a:pPr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18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19</a:t>
              </a:r>
              <a:br/>
              <a:r>
                <a:rPr lang="zh-CN" sz="94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7697" y="1936337"/>
              <a:ext cx="3686505" cy="3424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TestEnum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enum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Season { SPRING, SUMMER, FALL, WINTER };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seasonOutput(Season.SPRING);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seasonOutput(Season s)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SPRING: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"春"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SUMMER: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"夏"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FALL: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"秋"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WINTER: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"冬"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"default"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6898005" y="1524000"/>
            <a:ext cx="4760595" cy="677228"/>
            <a:chOff x="6898005" y="1524000"/>
            <a:chExt cx="4760595" cy="677228"/>
          </a:xfrm>
        </p:grpSpPr>
        <p:sp>
          <p:nvSpPr>
            <p:cNvPr id="12" name="Rectangle 12"/>
            <p:cNvSpPr/>
            <p:nvPr/>
          </p:nvSpPr>
          <p:spPr>
            <a:xfrm>
              <a:off x="6898005" y="1524000"/>
              <a:ext cx="4760595" cy="677228"/>
            </a:xfrm>
            <a:prstGeom prst="roundRect">
              <a:avLst>
                <a:gd name="adj" fmla="val 140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26402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6554" y="1936337"/>
              <a:ext cx="136144" cy="184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春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6898005" y="2386965"/>
            <a:ext cx="4760595" cy="2156460"/>
            <a:chOff x="6898005" y="2386965"/>
            <a:chExt cx="4760595" cy="2156460"/>
          </a:xfrm>
        </p:grpSpPr>
        <p:sp>
          <p:nvSpPr>
            <p:cNvPr id="16" name="Rectangle 16"/>
            <p:cNvSpPr/>
            <p:nvPr/>
          </p:nvSpPr>
          <p:spPr>
            <a:xfrm>
              <a:off x="6898005" y="2386965"/>
              <a:ext cx="4760595" cy="2156460"/>
            </a:xfrm>
            <a:prstGeom prst="roundRect">
              <a:avLst>
                <a:gd name="adj" fmla="val 618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01840" y="25908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88098" y="26265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语法点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5171" y="2630329"/>
              <a:ext cx="20455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case 后面直接写常量名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4601" y="2982754"/>
              <a:ext cx="36302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switch 的表达式是枚举类型时，case 标签写</a:t>
              </a:r>
              <a:br/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SPRING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，不写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Season.SPRING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4601" y="3574256"/>
              <a:ext cx="40450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JDK 17 及以前写成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case Season.SUMMER: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会报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「枚举 switch case 标签必须为枚举常量的非限定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名称」；JDK 21 起两种写法都能编译。</a:t>
              </a:r>
            </a:p>
          </p:txBody>
        </p:sp>
      </p:grpSp>
      <p:grpSp>
        <p:nvGrpSpPr>
          <p:cNvPr id="29" name="c2-card-3"/>
          <p:cNvGrpSpPr/>
          <p:nvPr/>
        </p:nvGrpSpPr>
        <p:grpSpPr>
          <a:xfrm>
            <a:off x="6898005" y="4728210"/>
            <a:ext cx="4760595" cy="1564958"/>
            <a:chOff x="6898005" y="4728210"/>
            <a:chExt cx="4760595" cy="1564958"/>
          </a:xfrm>
        </p:grpSpPr>
        <p:sp>
          <p:nvSpPr>
            <p:cNvPr id="23" name="Rectangle 23"/>
            <p:cNvSpPr/>
            <p:nvPr/>
          </p:nvSpPr>
          <p:spPr>
            <a:xfrm>
              <a:off x="6898005" y="4728210"/>
              <a:ext cx="476059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486156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39940" y="49320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21296" y="49677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执行过程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25194" y="4972526"/>
              <a:ext cx="1107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 SPRING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2701" y="5323999"/>
              <a:ext cx="413524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匹配第一个 case，打印「春」后遇到 break 跳出。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 case 已覆盖全部取值，default 分支在这里执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行不到。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7.2 枚举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枚举自带的方法，以及带字段的枚举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701165"/>
            <a:chOff x="533400" y="1524000"/>
            <a:chExt cx="5626418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988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Enum 继承来的方法（JDK 21 实测）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080459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Season s = Season.FALL;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s.name()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s.ordinal());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(Season x : Season.values())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System.out.print(x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System.out.println(Season.valueOf(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"SUMMER"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== Season.SUMMER);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System.out.println(s.compareTo(Season.SPRING));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Season.valueOf(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"AUTUMN"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抛异常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409950"/>
            <a:ext cx="5626418" cy="1189672"/>
            <a:chOff x="533400" y="3409950"/>
            <a:chExt cx="5626418" cy="1189672"/>
          </a:xfrm>
        </p:grpSpPr>
        <p:sp>
          <p:nvSpPr>
            <p:cNvPr id="11" name="Rectangle 11"/>
            <p:cNvSpPr/>
            <p:nvPr/>
          </p:nvSpPr>
          <p:spPr>
            <a:xfrm>
              <a:off x="533400" y="3409950"/>
              <a:ext cx="5626418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5618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3822287"/>
              <a:ext cx="3686505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FALL FALL 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SPRING SUMMER FALL WINTER true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IllegalArgumentException: No enum constant Season.AUTUMN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4784408"/>
            <a:ext cx="5626418" cy="1564958"/>
            <a:chOff x="533400" y="4784408"/>
            <a:chExt cx="5626418" cy="1564958"/>
          </a:xfrm>
        </p:grpSpPr>
        <p:sp>
          <p:nvSpPr>
            <p:cNvPr id="15" name="Rectangle 15"/>
            <p:cNvSpPr/>
            <p:nvPr/>
          </p:nvSpPr>
          <p:spPr>
            <a:xfrm>
              <a:off x="533400" y="4784408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49882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443" y="50239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8644" y="502872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枚举是一个类，常量是它仅有的几个对象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5380196"/>
              <a:ext cx="49467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每个枚举常量都是这个类的 public static final 实例，不能再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 出新的。所以比较枚举值直接用 ==，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 instanceof Enum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实测为 true。</a:t>
              </a:r>
            </a:p>
          </p:txBody>
        </p:sp>
      </p:grpSp>
      <p:grpSp>
        <p:nvGrpSpPr>
          <p:cNvPr id="35" name="c2-kv-1"/>
          <p:cNvGrpSpPr/>
          <p:nvPr/>
        </p:nvGrpSpPr>
        <p:grpSpPr>
          <a:xfrm>
            <a:off x="6457379" y="1547336"/>
            <a:ext cx="5201221" cy="2233232"/>
            <a:chOff x="6457379" y="1547336"/>
            <a:chExt cx="5201221" cy="2233232"/>
          </a:xfrm>
        </p:grpSpPr>
        <p:sp>
          <p:nvSpPr>
            <p:cNvPr id="21" name="TextBox 21"/>
            <p:cNvSpPr txBox="1"/>
            <p:nvPr/>
          </p:nvSpPr>
          <p:spPr>
            <a:xfrm>
              <a:off x="6457379" y="1547336"/>
              <a:ext cx="847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values()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3796" y="154733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按声明顺序返回全部枚举值的数组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64618" y="18535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57379" y="1969294"/>
              <a:ext cx="907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ordinal()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3796" y="1969294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声明时的序号，从 0 开始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64618" y="22745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7379" y="2391251"/>
              <a:ext cx="716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name()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3796" y="2391251"/>
              <a:ext cx="305320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常量名字符串，与 toString() 默认相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29641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7379" y="3079909"/>
              <a:ext cx="1624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valueOf(String)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3796" y="307990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按名字找枚举值，找不到抛异常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33861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7379" y="3501866"/>
              <a:ext cx="1276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compareTo()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3796" y="3501866"/>
              <a:ext cx="29484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按序号比较，FALL 比 SPRING 大 2</a:t>
              </a:r>
            </a:p>
          </p:txBody>
        </p:sp>
      </p:grpSp>
      <p:grpSp>
        <p:nvGrpSpPr>
          <p:cNvPr id="39" name="c2-code-2"/>
          <p:cNvGrpSpPr/>
          <p:nvPr/>
        </p:nvGrpSpPr>
        <p:grpSpPr>
          <a:xfrm>
            <a:off x="6464618" y="3910012"/>
            <a:ext cx="5193982" cy="1701165"/>
            <a:chOff x="6464618" y="3910012"/>
            <a:chExt cx="5193982" cy="1701165"/>
          </a:xfrm>
        </p:grpSpPr>
        <p:sp>
          <p:nvSpPr>
            <p:cNvPr id="36" name="Rectangle 36"/>
            <p:cNvSpPr/>
            <p:nvPr/>
          </p:nvSpPr>
          <p:spPr>
            <a:xfrm>
              <a:off x="6464618" y="3910012"/>
              <a:ext cx="5193982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3015" y="4061936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枚举也可以有字段和构造方法（补充）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93167" y="4322350"/>
              <a:ext cx="3095574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enum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HIGH(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"高"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 MIDDLE(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"中"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 LOW(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"低"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label;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Level(String label)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.label = label;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label()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label;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Level.LOW.label() 返回 "低"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98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 容器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容量随用随长的对象仓库，按「有序可重复、不重复、键值对」分三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502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管单个元素，Map 管键值对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容器接口都是泛型的，放什么类型写在尖括号里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5269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放进 HashSet、HashMap 的类要重写 equals 和 hashCode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81814" cy="909257"/>
            <a:chOff x="520446" y="342900"/>
            <a:chExt cx="84818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818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容器分两大类：Collection 放单个元素，Map 放键值对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342072"/>
            <a:chOff x="533400" y="1524000"/>
            <a:chExt cx="5410200" cy="13420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1916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603" y="1763554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Collection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1559" y="176736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类集：一组单独元素的集合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4024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List：元素有顺序，按索引位置检索，允许重复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439829"/>
              <a:ext cx="45413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Set：不允许重复，元素之间没有顺序，靠元素值检索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050858"/>
            <a:ext cx="5410200" cy="1293495"/>
            <a:chOff x="533400" y="3050858"/>
            <a:chExt cx="5410200" cy="1293495"/>
          </a:xfrm>
        </p:grpSpPr>
        <p:sp>
          <p:nvSpPr>
            <p:cNvPr id="17" name="Rectangle 17"/>
            <p:cNvSpPr/>
            <p:nvPr/>
          </p:nvSpPr>
          <p:spPr>
            <a:xfrm>
              <a:off x="533400" y="3050858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184208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254692"/>
              <a:ext cx="485775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305" y="3290411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8171" y="32951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映射：一组键值对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364664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每个元素包括「键」对象和「值」对象。键必须唯一，值可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以重复。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530090"/>
            <a:ext cx="5410200" cy="1481138"/>
            <a:chOff x="533400" y="4530090"/>
            <a:chExt cx="5410200" cy="1481138"/>
          </a:xfrm>
        </p:grpSpPr>
        <p:sp>
          <p:nvSpPr>
            <p:cNvPr id="24" name="Rectangle 24"/>
            <p:cNvSpPr/>
            <p:nvPr/>
          </p:nvSpPr>
          <p:spPr>
            <a:xfrm>
              <a:off x="533400" y="4530090"/>
              <a:ext cx="5410200" cy="1481138"/>
            </a:xfrm>
            <a:prstGeom prst="roundRect">
              <a:avLst>
                <a:gd name="adj" fmla="val 77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170170"/>
              <a:ext cx="200026" cy="200025"/>
              <a:chOff x="738188" y="5170170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1701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2146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3257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503920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和数组相比，容器的容量是动态的；但容器只能放对象，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int 这类基本类型要装箱成 Integer 才能放进去。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248400" y="1524000"/>
            <a:ext cx="5410200" cy="1720215"/>
            <a:chOff x="6248400" y="1524000"/>
            <a:chExt cx="5410200" cy="172021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5421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964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0033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3747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按顺序存，可重复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05788" y="1964055"/>
              <a:ext cx="106299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01609" y="2085022"/>
              <a:ext cx="33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83649" y="208502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购物清单：牛奶、面包、牛奶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不重复，只关心在不在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05788" y="2393632"/>
              <a:ext cx="106299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01609" y="2515552"/>
              <a:ext cx="283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3649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已签到的学号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3747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按键查值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205788" y="2824162"/>
              <a:ext cx="106299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01609" y="2946082"/>
              <a:ext cx="316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3649" y="2946082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 → 学生对象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19150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7354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table-2"/>
          <p:cNvGrpSpPr/>
          <p:nvPr/>
        </p:nvGrpSpPr>
        <p:grpSpPr>
          <a:xfrm>
            <a:off x="6248400" y="3429952"/>
            <a:ext cx="5410200" cy="2581275"/>
            <a:chOff x="6248400" y="3429952"/>
            <a:chExt cx="5410200" cy="2581275"/>
          </a:xfrm>
        </p:grpSpPr>
        <p:sp>
          <p:nvSpPr>
            <p:cNvPr id="54" name="Rectangle 54"/>
            <p:cNvSpPr/>
            <p:nvPr/>
          </p:nvSpPr>
          <p:spPr>
            <a:xfrm>
              <a:off x="6248400" y="3429952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31127" y="356139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本节会讲的类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5731" y="35613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所属接口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47376" y="35613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底层结构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53747" y="3990975"/>
              <a:ext cx="819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01609" y="3990975"/>
              <a:ext cx="33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99866" y="3990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可扩容的数组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285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429006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53747" y="4421505"/>
              <a:ext cx="869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LinkedList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01609" y="4421505"/>
              <a:ext cx="33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99866" y="44215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715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53747" y="4852035"/>
              <a:ext cx="675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01609" y="4852035"/>
              <a:ext cx="283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99866" y="48520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5145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515016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53747" y="5281612"/>
              <a:ext cx="675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01609" y="5281612"/>
              <a:ext cx="283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99866" y="52816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55759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53747" y="5712142"/>
              <a:ext cx="710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01609" y="5712142"/>
              <a:ext cx="316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99866" y="57121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哈希表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3429952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191500" y="3429952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489758" y="3429952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容器类关系图：接口在上，常用实现类在下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graph-1"/>
          <p:cNvGrpSpPr/>
          <p:nvPr/>
        </p:nvGrpSpPr>
        <p:grpSpPr>
          <a:xfrm>
            <a:off x="749808" y="1692592"/>
            <a:ext cx="10717340" cy="3594068"/>
            <a:chOff x="749808" y="1692592"/>
            <a:chExt cx="10717340" cy="3594068"/>
          </a:xfrm>
        </p:grpSpPr>
        <p:sp>
          <p:nvSpPr>
            <p:cNvPr id="7" name="Freeform 7"/>
            <p:cNvSpPr/>
            <p:nvPr/>
          </p:nvSpPr>
          <p:spPr>
            <a:xfrm>
              <a:off x="4751070" y="1873568"/>
              <a:ext cx="1403032" cy="9525"/>
            </a:xfrm>
            <a:custGeom>
              <a:avLst/>
              <a:gdLst/>
              <a:ahLst/>
              <a:cxnLst/>
              <a:rect l="l" t="t" r="r" b="b"/>
              <a:pathLst>
                <a:path w="1403032" h="9525">
                  <a:moveTo>
                    <a:pt x="140303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655820" y="1825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80260" y="1873568"/>
              <a:ext cx="1451610" cy="9525"/>
            </a:xfrm>
            <a:custGeom>
              <a:avLst/>
              <a:gdLst/>
              <a:ahLst/>
              <a:cxnLst/>
              <a:rect l="l" t="t" r="r" b="b"/>
              <a:pathLst>
                <a:path w="1451610" h="9525">
                  <a:moveTo>
                    <a:pt x="14516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985010" y="1825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305300" y="2090738"/>
              <a:ext cx="1935480" cy="805815"/>
            </a:xfrm>
            <a:custGeom>
              <a:avLst/>
              <a:gdLst/>
              <a:ahLst/>
              <a:cxnLst/>
              <a:rect l="l" t="t" r="r" b="b"/>
              <a:pathLst>
                <a:path w="1935480" h="805815">
                  <a:moveTo>
                    <a:pt x="0" y="805815"/>
                  </a:moveTo>
                  <a:lnTo>
                    <a:pt x="19354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222682" y="2046922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7620"/>
                  </a:moveTo>
                  <a:lnTo>
                    <a:pt x="36195" y="88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863715" y="2144078"/>
              <a:ext cx="278130" cy="752475"/>
            </a:xfrm>
            <a:custGeom>
              <a:avLst/>
              <a:gdLst/>
              <a:ahLst/>
              <a:cxnLst/>
              <a:rect l="l" t="t" r="r" b="b"/>
              <a:pathLst>
                <a:path w="278130" h="752475">
                  <a:moveTo>
                    <a:pt x="278130" y="7524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818948" y="2054542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11430" y="0"/>
                  </a:moveTo>
                  <a:lnTo>
                    <a:pt x="89535" y="72390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23035" y="2149792"/>
              <a:ext cx="9525" cy="746760"/>
            </a:xfrm>
            <a:custGeom>
              <a:avLst/>
              <a:gdLst/>
              <a:ahLst/>
              <a:cxnLst/>
              <a:rect l="l" t="t" r="r" b="b"/>
              <a:pathLst>
                <a:path w="9525" h="746760">
                  <a:moveTo>
                    <a:pt x="0" y="7467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75410" y="20545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127885" y="3077528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12668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032635" y="30299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19438" y="3334702"/>
              <a:ext cx="555308" cy="727710"/>
            </a:xfrm>
            <a:custGeom>
              <a:avLst/>
              <a:gdLst/>
              <a:ahLst/>
              <a:cxnLst/>
              <a:rect l="l" t="t" r="r" b="b"/>
              <a:pathLst>
                <a:path w="555308" h="727710">
                  <a:moveTo>
                    <a:pt x="0" y="727710"/>
                  </a:moveTo>
                  <a:lnTo>
                    <a:pt x="5553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636645" y="3258502"/>
              <a:ext cx="96202" cy="104775"/>
            </a:xfrm>
            <a:custGeom>
              <a:avLst/>
              <a:gdLst/>
              <a:ahLst/>
              <a:cxnLst/>
              <a:rect l="l" t="t" r="r" b="b"/>
              <a:pathLst>
                <a:path w="96202" h="104775">
                  <a:moveTo>
                    <a:pt x="96202" y="0"/>
                  </a:moveTo>
                  <a:lnTo>
                    <a:pt x="76200" y="104775"/>
                  </a:lnTo>
                  <a:lnTo>
                    <a:pt x="0" y="466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22408" y="3341370"/>
              <a:ext cx="412433" cy="721042"/>
            </a:xfrm>
            <a:custGeom>
              <a:avLst/>
              <a:gdLst/>
              <a:ahLst/>
              <a:cxnLst/>
              <a:rect l="l" t="t" r="r" b="b"/>
              <a:pathLst>
                <a:path w="412433" h="721042">
                  <a:moveTo>
                    <a:pt x="412433" y="72104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74782" y="3258502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0" y="0"/>
                  </a:moveTo>
                  <a:lnTo>
                    <a:pt x="88583" y="59055"/>
                  </a:lnTo>
                  <a:lnTo>
                    <a:pt x="5715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550342" y="3337560"/>
              <a:ext cx="483870" cy="724853"/>
            </a:xfrm>
            <a:custGeom>
              <a:avLst/>
              <a:gdLst/>
              <a:ahLst/>
              <a:cxnLst/>
              <a:rect l="l" t="t" r="r" b="b"/>
              <a:pathLst>
                <a:path w="483870" h="724853">
                  <a:moveTo>
                    <a:pt x="0" y="724853"/>
                  </a:moveTo>
                  <a:lnTo>
                    <a:pt x="4838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995160" y="3258502"/>
              <a:ext cx="92393" cy="105727"/>
            </a:xfrm>
            <a:custGeom>
              <a:avLst/>
              <a:gdLst/>
              <a:ahLst/>
              <a:cxnLst/>
              <a:rect l="l" t="t" r="r" b="b"/>
              <a:pathLst>
                <a:path w="92393" h="105727">
                  <a:moveTo>
                    <a:pt x="92393" y="0"/>
                  </a:moveTo>
                  <a:lnTo>
                    <a:pt x="79058" y="105727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382828" y="3337560"/>
              <a:ext cx="483870" cy="724853"/>
            </a:xfrm>
            <a:custGeom>
              <a:avLst/>
              <a:gdLst/>
              <a:ahLst/>
              <a:cxnLst/>
              <a:rect l="l" t="t" r="r" b="b"/>
              <a:pathLst>
                <a:path w="483870" h="724853">
                  <a:moveTo>
                    <a:pt x="483870" y="72485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329488" y="3258502"/>
              <a:ext cx="92393" cy="105727"/>
            </a:xfrm>
            <a:custGeom>
              <a:avLst/>
              <a:gdLst/>
              <a:ahLst/>
              <a:cxnLst/>
              <a:rect l="l" t="t" r="r" b="b"/>
              <a:pathLst>
                <a:path w="92393" h="105727">
                  <a:moveTo>
                    <a:pt x="0" y="0"/>
                  </a:moveTo>
                  <a:lnTo>
                    <a:pt x="92393" y="53340"/>
                  </a:lnTo>
                  <a:lnTo>
                    <a:pt x="13335" y="1057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429375" y="4519612"/>
              <a:ext cx="9525" cy="397193"/>
            </a:xfrm>
            <a:custGeom>
              <a:avLst/>
              <a:gdLst/>
              <a:ahLst/>
              <a:cxnLst/>
              <a:rect l="l" t="t" r="r" b="b"/>
              <a:pathLst>
                <a:path w="9525" h="397193">
                  <a:moveTo>
                    <a:pt x="0" y="39719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381750" y="44243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706928" y="2145982"/>
              <a:ext cx="540067" cy="1916430"/>
            </a:xfrm>
            <a:custGeom>
              <a:avLst/>
              <a:gdLst/>
              <a:ahLst/>
              <a:cxnLst/>
              <a:rect l="l" t="t" r="r" b="b"/>
              <a:pathLst>
                <a:path w="540067" h="1916430">
                  <a:moveTo>
                    <a:pt x="0" y="1916430"/>
                  </a:moveTo>
                  <a:lnTo>
                    <a:pt x="5400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201275" y="2054542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1438" y="0"/>
                  </a:moveTo>
                  <a:lnTo>
                    <a:pt x="91440" y="104775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400348" y="2145982"/>
              <a:ext cx="540067" cy="1916430"/>
            </a:xfrm>
            <a:custGeom>
              <a:avLst/>
              <a:gdLst/>
              <a:ahLst/>
              <a:cxnLst/>
              <a:rect l="l" t="t" r="r" b="b"/>
              <a:pathLst>
                <a:path w="540067" h="1916430">
                  <a:moveTo>
                    <a:pt x="540067" y="19164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354628" y="2054542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20003" y="0"/>
                  </a:moveTo>
                  <a:lnTo>
                    <a:pt x="91440" y="79058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656445" y="4519612"/>
              <a:ext cx="9525" cy="397193"/>
            </a:xfrm>
            <a:custGeom>
              <a:avLst/>
              <a:gdLst/>
              <a:ahLst/>
              <a:cxnLst/>
              <a:rect l="l" t="t" r="r" b="b"/>
              <a:pathLst>
                <a:path w="9525" h="397193">
                  <a:moveTo>
                    <a:pt x="0" y="39719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608820" y="44243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61060" y="1692592"/>
              <a:ext cx="112395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31870" y="1692592"/>
              <a:ext cx="112395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54102" y="1692592"/>
              <a:ext cx="121920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46945" y="1692592"/>
              <a:ext cx="95250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3435" y="2896552"/>
              <a:ext cx="121920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394710" y="2896552"/>
              <a:ext cx="95250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32270" y="2896552"/>
              <a:ext cx="95250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419350" y="4062412"/>
              <a:ext cx="1123950" cy="361950"/>
            </a:xfrm>
            <a:prstGeom prst="roundRect">
              <a:avLst>
                <a:gd name="adj" fmla="val 26316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76688" y="4062412"/>
              <a:ext cx="1123950" cy="361950"/>
            </a:xfrm>
            <a:prstGeom prst="roundRect">
              <a:avLst>
                <a:gd name="adj" fmla="val 26316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67400" y="4062412"/>
              <a:ext cx="1123950" cy="361950"/>
            </a:xfrm>
            <a:prstGeom prst="roundRect">
              <a:avLst>
                <a:gd name="adj" fmla="val 26316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73315" y="4062412"/>
              <a:ext cx="10287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762625" y="4916805"/>
              <a:ext cx="13335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94470" y="4062412"/>
              <a:ext cx="1123950" cy="361950"/>
            </a:xfrm>
            <a:prstGeom prst="roundRect">
              <a:avLst>
                <a:gd name="adj" fmla="val 26316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514648" y="4062412"/>
              <a:ext cx="9525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61120" y="4916805"/>
              <a:ext cx="139065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86496" y="1803559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Iterator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77235" y="1803559"/>
              <a:ext cx="633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Iterable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9866" y="1803559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Collection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68277" y="1803559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9910" y="3007519"/>
              <a:ext cx="986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ListIterator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708705" y="3007519"/>
              <a:ext cx="32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9732" y="3007519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598894" y="4173379"/>
              <a:ext cx="764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ArrayList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132684" y="4173379"/>
              <a:ext cx="811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LinkedList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3979" y="4173379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HashSet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2269" y="4173379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70345" y="5027771"/>
              <a:ext cx="111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LinkedHashSet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24961" y="4173379"/>
              <a:ext cx="662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HashMap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59414" y="4173379"/>
              <a:ext cx="662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TreeMap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81377" y="5027771"/>
              <a:ext cx="1150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LinkedHashMap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606040" y="1787842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632520" y="18202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生成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561272" y="2991802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587752" y="302418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9808" y="47267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实线箭头：继承或实现，指向父类型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9808" y="5037296"/>
              <a:ext cx="37502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虚线：iterator() / listIterator() 生成迭代器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9808" y="441626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深色为最常用的四个类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3" name="Rectangle 7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130" y="5728335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工具类 Arrays、Collections 和比较接口 Comparable、Comparator 在原图右下角，与这些类并列、不在继承树里。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没有继承 Collection，也没有继承 Iterable。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4769" cy="909257"/>
            <a:chOff x="520446" y="342900"/>
            <a:chExt cx="65947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47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接口：List 和 Set 共有的方法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6276022" cy="4800600"/>
            <a:chOff x="533400" y="1524000"/>
            <a:chExt cx="6276022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798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64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13648" y="20454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向类集中添加一个元素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634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addAll()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3648" y="244554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将另一个类集的所有元素添加到本类集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clear()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13648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清空本类集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contains()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13648" y="324564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判断类集中是否存在某元素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645694"/>
              <a:ext cx="1029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containsAll()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13648" y="364569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判断另一个类集是否为本类集的子集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243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045744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13648" y="40457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判断两个类集是否相等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195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445794"/>
              <a:ext cx="793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isEmpty()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13648" y="44457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判断类集是否为空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196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7244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4845844"/>
              <a:ext cx="739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13648" y="48458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从类集中移除一个元素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1196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524589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13648" y="52458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查看类集中元素的数量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5197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5245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5645944"/>
              <a:ext cx="8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toArray()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13648" y="56459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把本类集转成数组并返回数组引用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9197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5934075"/>
              <a:ext cx="186404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555" y="6045994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13648" y="60459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生成一个本类集的迭代器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6276022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41173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ode-1"/>
          <p:cNvGrpSpPr/>
          <p:nvPr/>
        </p:nvGrpSpPr>
        <p:grpSpPr>
          <a:xfrm>
            <a:off x="7114222" y="1524000"/>
            <a:ext cx="4544378" cy="1902142"/>
            <a:chOff x="7114222" y="1524000"/>
            <a:chExt cx="4544378" cy="1902142"/>
          </a:xfrm>
        </p:grpSpPr>
        <p:sp>
          <p:nvSpPr>
            <p:cNvPr id="51" name="Rectangle 51"/>
            <p:cNvSpPr/>
            <p:nvPr/>
          </p:nvSpPr>
          <p:spPr>
            <a:xfrm>
              <a:off x="7114222" y="1524000"/>
              <a:ext cx="4544378" cy="1902142"/>
            </a:xfrm>
            <a:prstGeom prst="roundRect">
              <a:avLst>
                <a:gd name="adj" fmla="val 50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42620" y="1675924"/>
              <a:ext cx="3631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 HashSet、LinkedList，输出完全相同（JDK 21 实测）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42810" y="1935575"/>
              <a:ext cx="3269742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Collection&lt;String&gt; c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c.add(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c.add(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System.out.println(c.size());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System.out.println(c.contains(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c.remove(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Object[] arr = c.toArray();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数组内容 [dog]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c.clear();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System.out.println(c.isEmpty());     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7114222" y="3595688"/>
            <a:ext cx="4544378" cy="729615"/>
            <a:chOff x="7114222" y="3595688"/>
            <a:chExt cx="4544378" cy="729615"/>
          </a:xfrm>
        </p:grpSpPr>
        <p:sp>
          <p:nvSpPr>
            <p:cNvPr id="55" name="Rectangle 55"/>
            <p:cNvSpPr/>
            <p:nvPr/>
          </p:nvSpPr>
          <p:spPr>
            <a:xfrm>
              <a:off x="7114222" y="359568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19010" y="3860483"/>
              <a:ext cx="200026" cy="200026"/>
              <a:chOff x="7319010" y="3860483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19010" y="38604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419023" y="39271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07910" y="39604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621714" y="3742372"/>
              <a:ext cx="36656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 没有在 Collection 之外增加新方法，所以这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张表也就是 Set 的方法表（原课件第 65 页）。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7114222" y="4494848"/>
            <a:ext cx="4544378" cy="1829752"/>
            <a:chOff x="7114222" y="4494848"/>
            <a:chExt cx="4544378" cy="1829752"/>
          </a:xfrm>
        </p:grpSpPr>
        <p:sp>
          <p:nvSpPr>
            <p:cNvPr id="62" name="Rectangle 62"/>
            <p:cNvSpPr/>
            <p:nvPr/>
          </p:nvSpPr>
          <p:spPr>
            <a:xfrm>
              <a:off x="7114222" y="4494848"/>
              <a:ext cx="4544378" cy="1829752"/>
            </a:xfrm>
            <a:prstGeom prst="roundRect">
              <a:avLst>
                <a:gd name="adj" fmla="val 72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23748" y="4628198"/>
              <a:ext cx="47625" cy="15630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39012" y="46815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30732" y="47143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04607" y="4716780"/>
              <a:ext cx="1617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iterator() 从哪来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32154" y="5042535"/>
              <a:ext cx="396563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iterator() 其实声明在父接口 Iterable 里，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继承了它。也正因为这样，任何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都能用迭代器和 for-each 遍历，后面讲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 时会用到。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04342" cy="909257"/>
            <a:chOff x="520446" y="342900"/>
            <a:chExt cx="76043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04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List：有顺序、可重复，索引位置是它的关键属性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64958"/>
            <a:chOff x="533400" y="1524000"/>
            <a:chExt cx="5626418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256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 是有序的 Collection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1070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 是 Collection 的子接口。顺序是 List 与其他集合最大的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区别，常用实现类有 ArrayList 和 LinkedList，两者性能不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3273742"/>
            <a:ext cx="5626418" cy="3011806"/>
            <a:chOff x="533400" y="3273742"/>
            <a:chExt cx="5626418" cy="3011806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5626418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2427" y="3405188"/>
              <a:ext cx="1206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List 增加的方法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91952" y="34051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3835718"/>
              <a:ext cx="961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add(int, E)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4714" y="383571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在指定位置插入元素（重载）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1300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13480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426529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remove(int)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4714" y="426529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删除指定位置的元素（重载）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596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4695825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get(int)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64714" y="46958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获取指定位置的元素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901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9491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5126355"/>
              <a:ext cx="961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set(int, E)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64714" y="512635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重设指定位置元素的值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4197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5555932"/>
              <a:ext cx="850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indexOf()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64714" y="555593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获取元素第一次出现的位置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8502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85501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5986462"/>
              <a:ext cx="1186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lastIndexOf()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64714" y="598646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获取元素最后一次出现的位置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273742"/>
              <a:ext cx="5626418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54605" y="3273742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ode-1"/>
          <p:cNvGrpSpPr/>
          <p:nvPr/>
        </p:nvGrpSpPr>
        <p:grpSpPr>
          <a:xfrm>
            <a:off x="6464618" y="1524000"/>
            <a:ext cx="5193982" cy="2042160"/>
            <a:chOff x="6464618" y="1524000"/>
            <a:chExt cx="5193982" cy="2042160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2042160"/>
            </a:xfrm>
            <a:prstGeom prst="roundRect">
              <a:avLst>
                <a:gd name="adj" fmla="val 46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93015" y="1675924"/>
              <a:ext cx="13008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45 页的示例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93167" y="1936337"/>
              <a:ext cx="3358210" cy="15488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 a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ArrayList();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//List a = new LinkedList();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a.remove(0);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a.size(); i++) {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a.size()=2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System.out.print(a.get(i)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464618" y="3750945"/>
            <a:ext cx="5193982" cy="677228"/>
            <a:chOff x="6464618" y="3750945"/>
            <a:chExt cx="5193982" cy="677228"/>
          </a:xfrm>
        </p:grpSpPr>
        <p:sp>
          <p:nvSpPr>
            <p:cNvPr id="44" name="Rectangle 44"/>
            <p:cNvSpPr/>
            <p:nvPr/>
          </p:nvSpPr>
          <p:spPr>
            <a:xfrm>
              <a:off x="6464618" y="3750945"/>
              <a:ext cx="5193982" cy="677228"/>
            </a:xfrm>
            <a:prstGeom prst="roundRect">
              <a:avLst>
                <a:gd name="adj" fmla="val 140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3015" y="39028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3167" y="4163282"/>
              <a:ext cx="566390" cy="184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dog,cat,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464618" y="4613910"/>
            <a:ext cx="5193982" cy="1670685"/>
            <a:chOff x="6464618" y="4613910"/>
            <a:chExt cx="5193982" cy="1670685"/>
          </a:xfrm>
        </p:grpSpPr>
        <p:sp>
          <p:nvSpPr>
            <p:cNvPr id="48" name="Rectangle 48"/>
            <p:cNvSpPr/>
            <p:nvPr/>
          </p:nvSpPr>
          <p:spPr>
            <a:xfrm>
              <a:off x="6464618" y="461391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474726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06552" y="48177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97713" y="48534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7961" y="4858226"/>
              <a:ext cx="31137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remove(int) 与 remove(Object)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99314" y="5209699"/>
              <a:ext cx="450494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List&lt;Integer&gt;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li.remove(1)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删下标 1 的元素，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li.remove(Integer.valueOf(10))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才是删值为 10 的元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48048" cy="909257"/>
            <a:chOff x="520446" y="342900"/>
            <a:chExt cx="79480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480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ArrayList：内部是一个会自动扩容的 Object 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020" y="1547336"/>
            <a:ext cx="5193538" cy="1475042"/>
            <a:chOff x="541020" y="1547336"/>
            <a:chExt cx="5193538" cy="1475042"/>
          </a:xfrm>
        </p:grpSpPr>
        <p:sp>
          <p:nvSpPr>
            <p:cNvPr id="7" name="Ellipse 7"/>
            <p:cNvSpPr/>
            <p:nvPr/>
          </p:nvSpPr>
          <p:spPr>
            <a:xfrm>
              <a:off x="541020" y="16078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611" y="1547336"/>
              <a:ext cx="47577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实现了线性表数据结构，完整类名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java.util.ArrayList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020" y="193452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611" y="1874044"/>
              <a:ext cx="50369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内部维护一个 Object 类型的数组，容量可以动态变化，也被称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动态数组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020" y="253269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611" y="247221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随机存取快；在中间插入、删除元素时要搬动后面的元素，速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度较慢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3147060"/>
            <a:ext cx="5410200" cy="1697355"/>
            <a:chOff x="533400" y="3147060"/>
            <a:chExt cx="5410200" cy="1697355"/>
          </a:xfrm>
        </p:grpSpPr>
        <p:sp>
          <p:nvSpPr>
            <p:cNvPr id="14" name="Rectangle 14"/>
            <p:cNvSpPr/>
            <p:nvPr/>
          </p:nvSpPr>
          <p:spPr>
            <a:xfrm>
              <a:off x="533400" y="3147060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86256" y="32746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52900" y="32746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889" y="3699510"/>
              <a:ext cx="1008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99969" y="3699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构造一个空的线性表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09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99573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4124325"/>
              <a:ext cx="1817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ArrayList(Collection)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9969" y="412432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根据已有集合构造线性表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148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4548188"/>
              <a:ext cx="1244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ArrayList(int)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9969" y="454818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构造指定初始容量的线性表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47060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92718" y="314706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3"/>
          <p:cNvGrpSpPr/>
          <p:nvPr/>
        </p:nvGrpSpPr>
        <p:grpSpPr>
          <a:xfrm>
            <a:off x="533400" y="5024438"/>
            <a:ext cx="5410200" cy="1303020"/>
            <a:chOff x="533400" y="5024438"/>
            <a:chExt cx="5410200" cy="1303020"/>
          </a:xfrm>
        </p:grpSpPr>
        <p:sp>
          <p:nvSpPr>
            <p:cNvPr id="29" name="Rectangle 29"/>
            <p:cNvSpPr/>
            <p:nvPr/>
          </p:nvSpPr>
          <p:spPr>
            <a:xfrm>
              <a:off x="533400" y="5024438"/>
              <a:ext cx="5410200" cy="1303020"/>
            </a:xfrm>
            <a:prstGeom prst="roundRect">
              <a:avLst>
                <a:gd name="adj" fmla="val 102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5157788"/>
              <a:ext cx="47625" cy="10363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9620" y="52225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1060" y="52568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52931" y="5258276"/>
              <a:ext cx="1884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31 页的包名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381" y="5601176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Java.utils.ArrayList，应为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java.util.ArrayList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：包名全小写，util 没有 s。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248400" y="1524000"/>
            <a:ext cx="5410200" cy="1664970"/>
            <a:chOff x="6248400" y="1524000"/>
            <a:chExt cx="5410200" cy="166497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664970"/>
            </a:xfrm>
            <a:prstGeom prst="roundRect">
              <a:avLst>
                <a:gd name="adj" fmla="val 57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6797" y="1675924"/>
              <a:ext cx="2137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TestArrayList（原课件第 33 页）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988" y="1935766"/>
              <a:ext cx="2515743" cy="1173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ArrayList a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"cow"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a.remove(0);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a.size(); i++)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System.out.println(a.get(i) + 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43" name="c2-code-2"/>
          <p:cNvGrpSpPr/>
          <p:nvPr/>
        </p:nvGrpSpPr>
        <p:grpSpPr>
          <a:xfrm>
            <a:off x="6248400" y="3368992"/>
            <a:ext cx="5410200" cy="838200"/>
            <a:chOff x="6248400" y="3368992"/>
            <a:chExt cx="5410200" cy="838200"/>
          </a:xfrm>
        </p:grpSpPr>
        <p:sp>
          <p:nvSpPr>
            <p:cNvPr id="40" name="Rectangle 40"/>
            <p:cNvSpPr/>
            <p:nvPr/>
          </p:nvSpPr>
          <p:spPr>
            <a:xfrm>
              <a:off x="6248400" y="3368992"/>
              <a:ext cx="5410200" cy="838200"/>
            </a:xfrm>
            <a:prstGeom prst="roundRect">
              <a:avLst>
                <a:gd name="adj" fmla="val 11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35209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988" y="3780758"/>
              <a:ext cx="266573" cy="344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dog,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cow,</a:t>
              </a:r>
            </a:p>
          </p:txBody>
        </p:sp>
      </p:grpSp>
      <p:grpSp>
        <p:nvGrpSpPr>
          <p:cNvPr id="47" name="c2-code-3"/>
          <p:cNvGrpSpPr/>
          <p:nvPr/>
        </p:nvGrpSpPr>
        <p:grpSpPr>
          <a:xfrm>
            <a:off x="6248400" y="4387215"/>
            <a:ext cx="5410200" cy="1003935"/>
            <a:chOff x="6248400" y="4387215"/>
            <a:chExt cx="5410200" cy="1003935"/>
          </a:xfrm>
        </p:grpSpPr>
        <p:sp>
          <p:nvSpPr>
            <p:cNvPr id="44" name="Rectangle 44"/>
            <p:cNvSpPr/>
            <p:nvPr/>
          </p:nvSpPr>
          <p:spPr>
            <a:xfrm>
              <a:off x="6248400" y="4387215"/>
              <a:ext cx="5410200" cy="1003935"/>
            </a:xfrm>
            <a:prstGeom prst="roundRect">
              <a:avLst>
                <a:gd name="adj" fmla="val 9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453913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三种构造方法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988" y="4798981"/>
              <a:ext cx="2065909" cy="51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ArrayList a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ArrayList b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ArrayList(20);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ArrayList c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ArrayList(b);</a:t>
              </a:r>
            </a:p>
          </p:txBody>
        </p:sp>
      </p:grpSp>
      <p:grpSp>
        <p:nvGrpSpPr>
          <p:cNvPr id="54" name="c2-callout-4"/>
          <p:cNvGrpSpPr/>
          <p:nvPr/>
        </p:nvGrpSpPr>
        <p:grpSpPr>
          <a:xfrm>
            <a:off x="6248400" y="5571172"/>
            <a:ext cx="5410200" cy="756285"/>
            <a:chOff x="6248400" y="5571172"/>
            <a:chExt cx="5410200" cy="756285"/>
          </a:xfrm>
        </p:grpSpPr>
        <p:sp>
          <p:nvSpPr>
            <p:cNvPr id="48" name="Rectangle 48"/>
            <p:cNvSpPr/>
            <p:nvPr/>
          </p:nvSpPr>
          <p:spPr>
            <a:xfrm>
              <a:off x="6248400" y="557117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5849303"/>
              <a:ext cx="200026" cy="200026"/>
              <a:chOff x="6453188" y="5849303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8493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53200" y="59159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42088" y="59493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511" y="5718334"/>
              <a:ext cx="449592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ArrayList(Collection) 按传入集合的大小建数组：实测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传入一个 16 个元素的列表，新列表的容量正好是 16。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13206" cy="909257"/>
            <a:chOff x="520446" y="342900"/>
            <a:chExt cx="98132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132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 的容量：第一次 add 时给 10，之后每次扩到 1.5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1948815"/>
            <a:chOff x="533400" y="1524000"/>
            <a:chExt cx="5951220" cy="1948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110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用反射读出内部数组的长度（JDK 21 实测）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820541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cap(ArrayList&lt;?&gt; l)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Field f = ArrayList.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.getDeclaredField(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"elementData"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f.setAccessible(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((Object[]) f.get(l)).length;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ArrayList&lt;Integer&gt; a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cap = 0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a.add(1);                 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cap = 10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加到 11 个 → 15，加到 16 个 → 22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ArrayList&lt;&gt;(20);      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cap = 20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648075"/>
            <a:ext cx="5951220" cy="1148715"/>
            <a:chOff x="533400" y="3648075"/>
            <a:chExt cx="5951220" cy="1148715"/>
          </a:xfrm>
        </p:grpSpPr>
        <p:sp>
          <p:nvSpPr>
            <p:cNvPr id="11" name="Rectangle 11"/>
            <p:cNvSpPr/>
            <p:nvPr/>
          </p:nvSpPr>
          <p:spPr>
            <a:xfrm>
              <a:off x="533400" y="3648075"/>
              <a:ext cx="5951220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799999"/>
              <a:ext cx="42903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输出（运行时加 --add-opens java.base/java.util=ALL-UNNAMED）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059269"/>
              <a:ext cx="2077085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new ArrayList(): 0  add 1 个后: 10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 到 11 个: 15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 到 16 个: 22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new ArrayList(20): 20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4971098"/>
            <a:ext cx="5951220" cy="1226820"/>
            <a:chOff x="533400" y="4971098"/>
            <a:chExt cx="5951220" cy="1226820"/>
          </a:xfrm>
        </p:grpSpPr>
        <p:sp>
          <p:nvSpPr>
            <p:cNvPr id="15" name="Rectangle 15"/>
            <p:cNvSpPr/>
            <p:nvPr/>
          </p:nvSpPr>
          <p:spPr>
            <a:xfrm>
              <a:off x="533400" y="4971098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510444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516350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7344" y="519779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扩容公式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14297" y="5203508"/>
              <a:ext cx="2727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新容量 = 旧容量 + (旧容量 &gt;&gt; 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5537835"/>
              <a:ext cx="506291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源码 ArrayList.grow() 里的写法。右移一位就是除以 2 再取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整，所以容量依次是 10、15、22、33。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789420" y="1524000"/>
            <a:ext cx="4869180" cy="2028825"/>
            <a:chOff x="6789420" y="1524000"/>
            <a:chExt cx="4869180" cy="2028825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9945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元素个数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8326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内部数组长度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9432" y="2054066"/>
              <a:ext cx="891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0（刚 new）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2402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23307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89420" y="233553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9432" y="2459831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1～10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233535" y="2345055"/>
              <a:ext cx="241554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24022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89420" y="273653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89432" y="2865596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11～15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022" y="2865596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= 10 + 10/2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89420" y="31422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89420" y="314706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9432" y="3271361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16～22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24022" y="327136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= 15 + 15/2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89420" y="1524000"/>
              <a:ext cx="486918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21924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2"/>
          <p:cNvGrpSpPr/>
          <p:nvPr/>
        </p:nvGrpSpPr>
        <p:grpSpPr>
          <a:xfrm>
            <a:off x="6789420" y="3728085"/>
            <a:ext cx="4869180" cy="1483995"/>
            <a:chOff x="6789420" y="3728085"/>
            <a:chExt cx="4869180" cy="1483995"/>
          </a:xfrm>
        </p:grpSpPr>
        <p:sp>
          <p:nvSpPr>
            <p:cNvPr id="42" name="Rectangle 42"/>
            <p:cNvSpPr/>
            <p:nvPr/>
          </p:nvSpPr>
          <p:spPr>
            <a:xfrm>
              <a:off x="6789420" y="3728085"/>
              <a:ext cx="486918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98945" y="386143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019925" y="3920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11365" y="3954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03617" y="3960495"/>
              <a:ext cx="3006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「构造一个空的线性表，容量为 10」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13067" y="4293870"/>
              <a:ext cx="41713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34 页的说法是 JDK 6 的实现。JDK 7u40 起，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无参构造只指向一个共享的空数组，第一次 add 才分配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10。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789420" y="5387340"/>
            <a:ext cx="4869180" cy="811530"/>
            <a:chOff x="6789420" y="5387340"/>
            <a:chExt cx="4869180" cy="811530"/>
          </a:xfrm>
        </p:grpSpPr>
        <p:sp>
          <p:nvSpPr>
            <p:cNvPr id="49" name="Rectangle 49"/>
            <p:cNvSpPr/>
            <p:nvPr/>
          </p:nvSpPr>
          <p:spPr>
            <a:xfrm>
              <a:off x="6789420" y="5387340"/>
              <a:ext cx="4869180" cy="811530"/>
            </a:xfrm>
            <a:prstGeom prst="roundRect">
              <a:avLst>
                <a:gd name="adj" fmla="val 1408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94208" y="5692142"/>
              <a:ext cx="200023" cy="200023"/>
              <a:chOff x="6994208" y="5692142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4208" y="56921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27558" y="57588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296912" y="5574030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每次扩容都要新建数组再整体拷贝。预先知道大概有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多少元素时，用 ArrayList(int) 给足初始容量。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7594" cy="909257"/>
            <a:chOff x="520446" y="342900"/>
            <a:chExt cx="8027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7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LinkedList：双向链表，头尾增删快，按下标访问慢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972" y="1545907"/>
            <a:ext cx="5141786" cy="1401319"/>
            <a:chOff x="541972" y="1545907"/>
            <a:chExt cx="5141786" cy="1401319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实现了「链表」数据结构，内部是一个双向链表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191357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185737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顺序存取较快，中间插入删除快（找到位置后只改指针），随机存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取较慢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48221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42601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定义了一些链表特有的方法，可以很简单地构造「栈」「队列」这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样的数据结构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904875" y="3195638"/>
            <a:ext cx="4666298" cy="1107757"/>
            <a:chOff x="904875" y="3195638"/>
            <a:chExt cx="4666298" cy="1107757"/>
          </a:xfrm>
        </p:grpSpPr>
        <p:sp>
          <p:nvSpPr>
            <p:cNvPr id="14" name="Freeform 14"/>
            <p:cNvSpPr/>
            <p:nvPr/>
          </p:nvSpPr>
          <p:spPr>
            <a:xfrm>
              <a:off x="1258252" y="3472815"/>
              <a:ext cx="217170" cy="400050"/>
            </a:xfrm>
            <a:custGeom>
              <a:avLst/>
              <a:gdLst/>
              <a:ahLst/>
              <a:cxnLst/>
              <a:rect l="l" t="t" r="r" b="b"/>
              <a:pathLst>
                <a:path w="217170" h="400050">
                  <a:moveTo>
                    <a:pt x="0" y="0"/>
                  </a:moveTo>
                  <a:lnTo>
                    <a:pt x="217170" y="4000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433512" y="3850005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87630" y="106680"/>
                  </a:moveTo>
                  <a:lnTo>
                    <a:pt x="0" y="45720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001578" y="3472815"/>
              <a:ext cx="217170" cy="400050"/>
            </a:xfrm>
            <a:custGeom>
              <a:avLst/>
              <a:gdLst/>
              <a:ahLst/>
              <a:cxnLst/>
              <a:rect l="l" t="t" r="r" b="b"/>
              <a:pathLst>
                <a:path w="217170" h="400050">
                  <a:moveTo>
                    <a:pt x="217170" y="0"/>
                  </a:moveTo>
                  <a:lnTo>
                    <a:pt x="0" y="4000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955858" y="3850005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0" y="106680"/>
                  </a:moveTo>
                  <a:lnTo>
                    <a:pt x="3810" y="0"/>
                  </a:lnTo>
                  <a:lnTo>
                    <a:pt x="87630" y="457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013585" y="4130040"/>
              <a:ext cx="825818" cy="9525"/>
            </a:xfrm>
            <a:custGeom>
              <a:avLst/>
              <a:gdLst/>
              <a:ahLst/>
              <a:cxnLst/>
              <a:rect l="l" t="t" r="r" b="b"/>
              <a:pathLst>
                <a:path w="825818" h="9525">
                  <a:moveTo>
                    <a:pt x="0" y="0"/>
                  </a:moveTo>
                  <a:lnTo>
                    <a:pt x="8258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39402" y="4082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918335" y="4082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637598" y="4130040"/>
              <a:ext cx="824865" cy="9525"/>
            </a:xfrm>
            <a:custGeom>
              <a:avLst/>
              <a:gdLst/>
              <a:ahLst/>
              <a:cxnLst/>
              <a:rect l="l" t="t" r="r" b="b"/>
              <a:pathLst>
                <a:path w="824865" h="9525">
                  <a:moveTo>
                    <a:pt x="0" y="0"/>
                  </a:moveTo>
                  <a:lnTo>
                    <a:pt x="8248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462462" y="4082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542348" y="4082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4875" y="3195638"/>
              <a:ext cx="554355" cy="277178"/>
            </a:xfrm>
            <a:prstGeom prst="roundRect">
              <a:avLst>
                <a:gd name="adj" fmla="val 34364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016818" y="3195638"/>
              <a:ext cx="554355" cy="277178"/>
            </a:xfrm>
            <a:prstGeom prst="roundRect">
              <a:avLst>
                <a:gd name="adj" fmla="val 34364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12545" y="3956685"/>
              <a:ext cx="606742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34652" y="3956685"/>
              <a:ext cx="606742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57712" y="3956685"/>
              <a:ext cx="606742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4897" y="3273266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first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53981" y="3273266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last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70237" y="40695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3297" y="40695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16357" y="40695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100262" y="4050982"/>
              <a:ext cx="65436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15880" y="4080986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 / prev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723322" y="4050982"/>
              <a:ext cx="65436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38940" y="4080986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 / prev</a:t>
              </a:r>
            </a:p>
          </p:txBody>
        </p:sp>
      </p:grpSp>
      <p:grpSp>
        <p:nvGrpSpPr>
          <p:cNvPr id="45" name="c1-card-3"/>
          <p:cNvGrpSpPr/>
          <p:nvPr/>
        </p:nvGrpSpPr>
        <p:grpSpPr>
          <a:xfrm>
            <a:off x="533400" y="4717732"/>
            <a:ext cx="5410200" cy="1483995"/>
            <a:chOff x="533400" y="4717732"/>
            <a:chExt cx="5410200" cy="1483995"/>
          </a:xfrm>
        </p:grpSpPr>
        <p:sp>
          <p:nvSpPr>
            <p:cNvPr id="39" name="Rectangle 39"/>
            <p:cNvSpPr/>
            <p:nvPr/>
          </p:nvSpPr>
          <p:spPr>
            <a:xfrm>
              <a:off x="533400" y="4717732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851082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3905" y="491013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5345" y="4944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47597" y="4950142"/>
              <a:ext cx="2910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35、36 页的「带头结点」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7047" y="5283518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那是 JDK 6 的实现（一个 header 哨兵结点连成环）。JDK 7 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 first、last 两个指针，没有头结点；JDK 21 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LinkedList 的实例字段实测只有 size、first、last。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248400" y="1524000"/>
            <a:ext cx="5410200" cy="2840355"/>
            <a:chOff x="6248400" y="1524000"/>
            <a:chExt cx="5410200" cy="2840355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746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特有方法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333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48412" y="2054066"/>
              <a:ext cx="848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addFirst()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21078" y="20540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向链表头插入元素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8412" y="2459831"/>
              <a:ext cx="8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addLast()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21078" y="24598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向链表尾插入元素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8412" y="2865596"/>
              <a:ext cx="848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getFirst()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21078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获取链表头元素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8412" y="3271361"/>
              <a:ext cx="8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getLast()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21078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获取链表尾元素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8412" y="3677126"/>
              <a:ext cx="1141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removeFirst()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21078" y="36771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移除链表头元素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48412" y="4082891"/>
              <a:ext cx="1094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removeLast()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21078" y="40828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移除链表尾元素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51630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3" name="c2-table-2"/>
          <p:cNvGrpSpPr/>
          <p:nvPr/>
        </p:nvGrpSpPr>
        <p:grpSpPr>
          <a:xfrm>
            <a:off x="6248400" y="4539615"/>
            <a:ext cx="5410200" cy="1623060"/>
            <a:chOff x="6248400" y="4539615"/>
            <a:chExt cx="5410200" cy="1623060"/>
          </a:xfrm>
        </p:grpSpPr>
        <p:sp>
          <p:nvSpPr>
            <p:cNvPr id="72" name="Rectangle 72"/>
            <p:cNvSpPr/>
            <p:nvPr/>
          </p:nvSpPr>
          <p:spPr>
            <a:xfrm>
              <a:off x="6248400" y="4539615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73951" y="4663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41579" y="4663916"/>
              <a:ext cx="764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ArrayList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41092" y="4663916"/>
              <a:ext cx="811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LinkedList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48412" y="5069681"/>
              <a:ext cx="1144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get(i) 按下标取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422005" y="4954905"/>
              <a:ext cx="160401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512492" y="5069681"/>
              <a:ext cx="592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 O(1)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135553" y="5069681"/>
              <a:ext cx="580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 O(n)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5346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248400" y="535114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8412" y="54754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在头部插入删除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12492" y="5475446"/>
              <a:ext cx="580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 O(n)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045065" y="5360670"/>
              <a:ext cx="160401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135553" y="5475446"/>
              <a:ext cx="592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 O(1)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5752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48412" y="58812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在尾部追加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12492" y="58812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快（均摊）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135553" y="588121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453961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8407718" y="45396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0030778" y="45396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43342" cy="909257"/>
            <a:chOff x="520446" y="342900"/>
            <a:chExt cx="58433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43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LinkedList 的头部操作实现栈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2724150"/>
            <a:chOff x="533400" y="1524000"/>
            <a:chExt cx="5951220" cy="2724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724150"/>
            </a:xfrm>
            <a:prstGeom prst="roundRect">
              <a:avLst>
                <a:gd name="adj" fmla="val 34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34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StackL（原课件第 38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095574" cy="22307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java.util.LinkedList;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StackL {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//构造"栈"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LinkedList list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LinkedList();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push(Object o) {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//进栈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list.addFirst(o);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top() {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//查看栈顶元素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list.getFirst();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pop() {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//出栈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list.removeFirst();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433888"/>
            <a:ext cx="5951220" cy="1360170"/>
            <a:chOff x="533400" y="4433888"/>
            <a:chExt cx="5951220" cy="1360170"/>
          </a:xfrm>
        </p:grpSpPr>
        <p:sp>
          <p:nvSpPr>
            <p:cNvPr id="11" name="Rectangle 11"/>
            <p:cNvSpPr/>
            <p:nvPr/>
          </p:nvSpPr>
          <p:spPr>
            <a:xfrm>
              <a:off x="533400" y="4433888"/>
              <a:ext cx="5951220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58581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测试代码（补充）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4845272"/>
              <a:ext cx="3949141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StackL s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StackL();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s.push(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s.push(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s.push(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System.out.println(s.top());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System.out.println(s.pop()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s.pop()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s.pop());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s.pop();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栈已空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789420" y="1524000"/>
            <a:ext cx="4869180" cy="1018222"/>
            <a:chOff x="6789420" y="1524000"/>
            <a:chExt cx="4869180" cy="1018222"/>
          </a:xfrm>
        </p:grpSpPr>
        <p:sp>
          <p:nvSpPr>
            <p:cNvPr id="15" name="Rectangle 15"/>
            <p:cNvSpPr/>
            <p:nvPr/>
          </p:nvSpPr>
          <p:spPr>
            <a:xfrm>
              <a:off x="6789420" y="1524000"/>
              <a:ext cx="4869180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17817" y="1675924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17969" y="1936337"/>
              <a:ext cx="2110689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 B A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java.util.NoSuchElementException</a:t>
              </a:r>
            </a:p>
          </p:txBody>
        </p:sp>
      </p:grpSp>
      <p:grpSp>
        <p:nvGrpSpPr>
          <p:cNvPr id="31" name="c2-cells-2"/>
          <p:cNvGrpSpPr/>
          <p:nvPr/>
        </p:nvGrpSpPr>
        <p:grpSpPr>
          <a:xfrm>
            <a:off x="6783324" y="2775109"/>
            <a:ext cx="3762756" cy="895826"/>
            <a:chOff x="6783324" y="2775109"/>
            <a:chExt cx="3762756" cy="895826"/>
          </a:xfrm>
        </p:grpSpPr>
        <p:sp>
          <p:nvSpPr>
            <p:cNvPr id="19" name="TextBox 19"/>
            <p:cNvSpPr txBox="1"/>
            <p:nvPr/>
          </p:nvSpPr>
          <p:spPr>
            <a:xfrm>
              <a:off x="6783324" y="3161348"/>
              <a:ext cx="920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push 三次后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80020" y="303276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85648" y="31613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02040" y="303276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7668" y="31613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624060" y="303276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29688" y="31613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2949" y="34947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24969" y="34947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46989" y="34947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0216" y="2775109"/>
              <a:ext cx="661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 first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202930" y="29375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38" name="c2-card-3"/>
          <p:cNvGrpSpPr/>
          <p:nvPr/>
        </p:nvGrpSpPr>
        <p:grpSpPr>
          <a:xfrm>
            <a:off x="6789420" y="3814762"/>
            <a:ext cx="4869180" cy="1293495"/>
            <a:chOff x="6789420" y="3814762"/>
            <a:chExt cx="4869180" cy="1293495"/>
          </a:xfrm>
        </p:grpSpPr>
        <p:sp>
          <p:nvSpPr>
            <p:cNvPr id="32" name="Rectangle 32"/>
            <p:cNvSpPr/>
            <p:nvPr/>
          </p:nvSpPr>
          <p:spPr>
            <a:xfrm>
              <a:off x="6789420" y="3814762"/>
              <a:ext cx="486918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394811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1355" y="40185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3664" y="40543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换成队列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6608" y="405907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尾部进、头部出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4116" y="4410551"/>
              <a:ext cx="42434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addLast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入队、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removeFirst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出队就是先进先出。依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次入队 A、B、C 后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removeFirst()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 A。</a:t>
              </a:r>
            </a:p>
          </p:txBody>
        </p:sp>
      </p:grpSp>
      <p:grpSp>
        <p:nvGrpSpPr>
          <p:cNvPr id="45" name="c2-callout-4"/>
          <p:cNvGrpSpPr/>
          <p:nvPr/>
        </p:nvGrpSpPr>
        <p:grpSpPr>
          <a:xfrm>
            <a:off x="6789420" y="5293995"/>
            <a:ext cx="4869180" cy="1018222"/>
            <a:chOff x="6789420" y="5293995"/>
            <a:chExt cx="4869180" cy="1018222"/>
          </a:xfrm>
        </p:grpSpPr>
        <p:sp>
          <p:nvSpPr>
            <p:cNvPr id="39" name="Rectangle 39"/>
            <p:cNvSpPr/>
            <p:nvPr/>
          </p:nvSpPr>
          <p:spPr>
            <a:xfrm>
              <a:off x="6789420" y="5293995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982149" y="5699878"/>
              <a:ext cx="224134" cy="192560"/>
              <a:chOff x="6982149" y="5699878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094220" y="57702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982149" y="56998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94220" y="5848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296531" y="5441156"/>
              <a:ext cx="357619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对空链表调用 getFirst、removeFirst 会抛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NoSuchElementException，出栈前先用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isEmpty() 判断。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用接口类型声明变量，换实现类时其他代码不用动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476500"/>
            <a:chOff x="533400" y="1524000"/>
            <a:chExt cx="5410200" cy="2476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117443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710" y="1763554"/>
              <a:ext cx="1034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46 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18728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使用接口定义的好处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119789"/>
              <a:ext cx="48115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List a = new ArrayList();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改成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new LinkedList()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时，后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面的代码一行都不用改。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711291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ArrayList 与 LinkedList 常用的大部分方法都由 List 接口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33027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要用实现类特有的方法时，就不能用接口定义，而应该用具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体类定义，例如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ArrayList a = new ArrayList();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4185285"/>
            <a:ext cx="5410200" cy="1189672"/>
            <a:chOff x="533400" y="4185285"/>
            <a:chExt cx="5410200" cy="1189672"/>
          </a:xfrm>
        </p:grpSpPr>
        <p:sp>
          <p:nvSpPr>
            <p:cNvPr id="15" name="Rectangle 15"/>
            <p:cNvSpPr/>
            <p:nvPr/>
          </p:nvSpPr>
          <p:spPr>
            <a:xfrm>
              <a:off x="533400" y="4185285"/>
              <a:ext cx="5410200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337209"/>
              <a:ext cx="2723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正例与反例：push 是 LinkedList 特有的方法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" y="5073015"/>
              <a:ext cx="537210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949" y="4597622"/>
              <a:ext cx="2767279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LinkedList&lt;String&gt; a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LinkedList&lt;&gt;();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a.push(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能编译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b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LinkedList&lt;&gt;();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b.push(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编译报错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560695"/>
            <a:ext cx="5410200" cy="756285"/>
            <a:chOff x="533400" y="5560695"/>
            <a:chExt cx="5410200" cy="756285"/>
          </a:xfrm>
        </p:grpSpPr>
        <p:sp>
          <p:nvSpPr>
            <p:cNvPr id="20" name="Rectangle 20"/>
            <p:cNvSpPr/>
            <p:nvPr/>
          </p:nvSpPr>
          <p:spPr>
            <a:xfrm>
              <a:off x="533400" y="556069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837875"/>
              <a:ext cx="200023" cy="200023"/>
              <a:chOff x="738188" y="5837875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8378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904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707856"/>
              <a:ext cx="43606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编译器只看变量的声明类型：b 声明为 List，就只能调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List 里有的方法，不管实际 new 的是哪个类。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248400" y="1524000"/>
            <a:ext cx="5410200" cy="1360170"/>
            <a:chOff x="6248400" y="1524000"/>
            <a:chExt cx="5410200" cy="1360170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1675924"/>
              <a:ext cx="1247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报错信息（JDK 21）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949" y="1936337"/>
              <a:ext cx="2158441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IfacePush.java:5: 错误: 找不到符号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b.push(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^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符号:   方法 push(String)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位置: 类型为List&lt;String&gt;的变量 b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068955"/>
            <a:ext cx="5410200" cy="3247072"/>
            <a:chOff x="6248400" y="3068955"/>
            <a:chExt cx="5410200" cy="3247072"/>
          </a:xfrm>
        </p:grpSpPr>
        <p:sp>
          <p:nvSpPr>
            <p:cNvPr id="30" name="Rectangle 30"/>
            <p:cNvSpPr/>
            <p:nvPr/>
          </p:nvSpPr>
          <p:spPr>
            <a:xfrm>
              <a:off x="6248400" y="3068955"/>
              <a:ext cx="5410200" cy="3247072"/>
            </a:xfrm>
            <a:prstGeom prst="roundRect">
              <a:avLst>
                <a:gd name="adj" fmla="val 4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202305"/>
              <a:ext cx="47625" cy="29803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0335" y="327279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2644" y="3308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版本差异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75588" y="3313271"/>
              <a:ext cx="2968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21 的 List 也有 addFirst 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3096" y="3664744"/>
              <a:ext cx="468528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21 新增 SequencedCollection 接口，List 继承了它，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addFirst、addLast、getFirst、getLast、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removeFirst、removeLast 这六个方法在 List 上也能调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3096" y="4799171"/>
              <a:ext cx="455002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 JDK 17 编译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List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变量调用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addFirst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仍报「找不到符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号」。上面换成 push 这类 Deque 方法，在各版本都属于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LinkedList 特有。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泛型的动机：不加类型限制，错误要到运行时才暴露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2821305"/>
            <a:chOff x="533400" y="1524000"/>
            <a:chExt cx="5410200" cy="2821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21305"/>
            </a:xfrm>
            <a:prstGeom prst="roundRect">
              <a:avLst>
                <a:gd name="adj" fmla="val 33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845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noGenerics（原课件第 48～49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718560"/>
              <a:ext cx="537210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1101" y="1935766"/>
              <a:ext cx="138049" cy="2333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05"/>
                </a:lnSpc>
              </a:pPr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3925" y="1935766"/>
              <a:ext cx="3462147" cy="2333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 {}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{}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noGenerics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List a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a.add(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"haha"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//插入一个String类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a.add(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Cat());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//插入一个Cat类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a.add(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Dog());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//插入一个Dog类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 = (String) a.get(0);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//取出第一个元素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取出时必须强制转换，转错了编译器不管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Cat c = (Cat) a.get(0);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526280"/>
            <a:ext cx="5410200" cy="1003935"/>
            <a:chOff x="533400" y="4526280"/>
            <a:chExt cx="5410200" cy="1003935"/>
          </a:xfrm>
        </p:grpSpPr>
        <p:sp>
          <p:nvSpPr>
            <p:cNvPr id="13" name="Rectangle 13"/>
            <p:cNvSpPr/>
            <p:nvPr/>
          </p:nvSpPr>
          <p:spPr>
            <a:xfrm>
              <a:off x="533400" y="4526280"/>
              <a:ext cx="5410200" cy="1003935"/>
            </a:xfrm>
            <a:prstGeom prst="roundRect">
              <a:avLst>
                <a:gd name="adj" fmla="val 9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678204"/>
              <a:ext cx="1247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运行结果（JDK 21）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938046"/>
              <a:ext cx="3608197" cy="51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Exception in thread 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"main"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java.lang.ClassCastException: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class java.lang.String cannot be cast to class Cat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noGenerics.main(noGenerics.java:12)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1168718"/>
            <a:chOff x="6248400" y="1524000"/>
            <a:chExt cx="5410200" cy="1168718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168718"/>
            </a:xfrm>
            <a:prstGeom prst="roundRect">
              <a:avLst>
                <a:gd name="adj" fmla="val 81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20498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WithGenerics（原课件第 50 页）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67450" y="2231708"/>
              <a:ext cx="537210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988" y="1935766"/>
              <a:ext cx="2644267" cy="676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a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ArrayList&lt;String&gt;();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"haha"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Cat());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编译报错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String());</a:t>
              </a:r>
            </a:p>
          </p:txBody>
        </p:sp>
      </p:grpSp>
      <p:grpSp>
        <p:nvGrpSpPr>
          <p:cNvPr id="25" name="c2-code-2"/>
          <p:cNvGrpSpPr/>
          <p:nvPr/>
        </p:nvGrpSpPr>
        <p:grpSpPr>
          <a:xfrm>
            <a:off x="6248400" y="2872740"/>
            <a:ext cx="5410200" cy="1168718"/>
            <a:chOff x="6248400" y="2872740"/>
            <a:chExt cx="5410200" cy="1168718"/>
          </a:xfrm>
        </p:grpSpPr>
        <p:sp>
          <p:nvSpPr>
            <p:cNvPr id="22" name="Rectangle 22"/>
            <p:cNvSpPr/>
            <p:nvPr/>
          </p:nvSpPr>
          <p:spPr>
            <a:xfrm>
              <a:off x="6248400" y="2872740"/>
              <a:ext cx="5410200" cy="1168718"/>
            </a:xfrm>
            <a:prstGeom prst="roundRect">
              <a:avLst>
                <a:gd name="adj" fmla="val 81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3024664"/>
              <a:ext cx="1247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编译报错（JDK 21）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988" y="3285458"/>
              <a:ext cx="2486533" cy="676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WithGenerics.java:8: 错误: 不兼容的类型: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       Cat无法转换为String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a.add(new Cat());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^</a:t>
              </a:r>
            </a:p>
          </p:txBody>
        </p:sp>
      </p:grpSp>
      <p:grpSp>
        <p:nvGrpSpPr>
          <p:cNvPr id="46" name="c2-compare-3"/>
          <p:cNvGrpSpPr/>
          <p:nvPr/>
        </p:nvGrpSpPr>
        <p:grpSpPr>
          <a:xfrm>
            <a:off x="6248400" y="4222432"/>
            <a:ext cx="5410200" cy="1884998"/>
            <a:chOff x="6248400" y="4222432"/>
            <a:chExt cx="5410200" cy="1884998"/>
          </a:xfrm>
        </p:grpSpPr>
        <p:sp>
          <p:nvSpPr>
            <p:cNvPr id="26" name="Rectangle 26"/>
            <p:cNvSpPr/>
            <p:nvPr/>
          </p:nvSpPr>
          <p:spPr>
            <a:xfrm>
              <a:off x="6248400" y="4222432"/>
              <a:ext cx="249555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435578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77381" y="44438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不用泛型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2240" y="483965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8831" y="477916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插入的元素没有类型检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2240" y="542925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8831" y="53687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取出的元素要强制转换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2240" y="574643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8831" y="568690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错误在运行时才出现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63050" y="4222432"/>
              <a:ext cx="249555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72575" y="435578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92031" y="444388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用泛型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406890" y="483965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63481" y="477916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编译时检查元素类型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406890" y="515778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63481" y="5097304"/>
              <a:ext cx="1616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取出直接是 String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06890" y="547497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63481" y="541543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错误在编译时就报出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791575" y="500253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68046" y="510397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泛型语法：定义时写类型参数，使用时填入具体类型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160145"/>
            <a:chOff x="533400" y="1524000"/>
            <a:chExt cx="5410200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定义泛型类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1830" y="1744504"/>
              <a:ext cx="2803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类名&lt;类型参数列表&gt; { 类体 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678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在定义泛型类或声明泛型类的变量时，用尖括号 &lt;&gt; 指定形式类型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参数。例：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class A&lt;X1, X2&gt; { X1 a; X2 b; }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848928"/>
            <a:ext cx="5410200" cy="1730692"/>
            <a:chOff x="533400" y="2848928"/>
            <a:chExt cx="5410200" cy="1730692"/>
          </a:xfrm>
        </p:grpSpPr>
        <p:sp>
          <p:nvSpPr>
            <p:cNvPr id="14" name="Rectangle 14"/>
            <p:cNvSpPr/>
            <p:nvPr/>
          </p:nvSpPr>
          <p:spPr>
            <a:xfrm>
              <a:off x="533400" y="2848928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982278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0299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946" y="30627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使用泛型类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91830" y="3069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泛型类的具体化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3866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应用泛型类时，必须用具体类型填入类型参数：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3671411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类名&lt;具体类型列表&gt; 变量名 = new 类名&lt;具体类型列表&gt;(构造参</a:t>
              </a:r>
              <a:br/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数);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199096"/>
              <a:ext cx="4589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A&lt;String, Integer&gt; m = new A&lt;String, Integer&gt;();</a:t>
              </a:r>
            </a:p>
          </p:txBody>
        </p:sp>
      </p:grpSp>
      <p:grpSp>
        <p:nvGrpSpPr>
          <p:cNvPr id="39" name="c1-bullets-3"/>
          <p:cNvGrpSpPr/>
          <p:nvPr/>
        </p:nvGrpSpPr>
        <p:grpSpPr>
          <a:xfrm>
            <a:off x="526923" y="4764881"/>
            <a:ext cx="4073080" cy="1520286"/>
            <a:chOff x="526923" y="4764881"/>
            <a:chExt cx="4073080" cy="1520286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4764881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55 页的五条要点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5053965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5334" y="508277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2858" y="5062538"/>
              <a:ext cx="2812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泛型是 Java SE 5.0（JDK 1.5）加入的特性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5308283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5334" y="533709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2858" y="5316855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泛型的本质是参数化类型，数据类型被当作参数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562600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5334" y="559141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2858" y="557117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用尖括号 &lt;&gt; 指定形式类型参数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33400" y="5815965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5334" y="584573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2858" y="582549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用在类、接口、方法上，分别叫泛型类、泛型接口、泛型方法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33400" y="6070283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5334" y="610004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2858" y="607980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使用泛型时指定类型参数的具体类型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248400" y="1524000"/>
            <a:ext cx="5410200" cy="2005012"/>
            <a:chOff x="6248400" y="1524000"/>
            <a:chExt cx="5410200" cy="2005012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005012"/>
            </a:xfrm>
            <a:prstGeom prst="roundRect">
              <a:avLst>
                <a:gd name="adj" fmla="val 47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1675924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两个类型参数（JDK 21 实测）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988" y="1935004"/>
              <a:ext cx="3446145" cy="15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A&lt;X1, X2&gt;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X1 a;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X2 b;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A&lt;String, Integer&gt; m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A&lt;String, Integer&gt;();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m.a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"age"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m.b = 20;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A&lt;String, Integer&gt; n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A&lt;&gt;();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菱形写法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n.a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n.b = m.b + 1;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System.out.println(m.a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m.b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n.a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n.b);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age=20 x=21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693795"/>
            <a:ext cx="5410200" cy="1403032"/>
            <a:chOff x="6248400" y="3693795"/>
            <a:chExt cx="5410200" cy="1403032"/>
          </a:xfrm>
        </p:grpSpPr>
        <p:sp>
          <p:nvSpPr>
            <p:cNvPr id="44" name="Rectangle 44"/>
            <p:cNvSpPr/>
            <p:nvPr/>
          </p:nvSpPr>
          <p:spPr>
            <a:xfrm>
              <a:off x="6248400" y="3693795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382714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7475" y="38747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0147" y="39076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33451" y="3914299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菱形写法 &lt;&gt;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0998" y="4230529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7 起，右边的具体类型可以省略成 </a:t>
              </a: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&lt;&gt;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，编译器按左边推断。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省掉尖括号写成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A()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则是原始类型，会有「未经检查的转换」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警告。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5261610"/>
            <a:ext cx="5410200" cy="982028"/>
            <a:chOff x="6248400" y="5261610"/>
            <a:chExt cx="5410200" cy="982028"/>
          </a:xfrm>
        </p:grpSpPr>
        <p:sp>
          <p:nvSpPr>
            <p:cNvPr id="51" name="Rectangle 51"/>
            <p:cNvSpPr/>
            <p:nvPr/>
          </p:nvSpPr>
          <p:spPr>
            <a:xfrm>
              <a:off x="6248400" y="5261610"/>
              <a:ext cx="5410200" cy="982028"/>
            </a:xfrm>
            <a:prstGeom prst="roundRect">
              <a:avLst>
                <a:gd name="adj" fmla="val 1163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41129" y="5648443"/>
              <a:ext cx="224134" cy="192560"/>
              <a:chOff x="6441129" y="5648443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53200" y="57188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41129" y="56484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5796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6273" y="5545931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类型参数只能是引用类型：写 Integer、Double，不能写 int、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double。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泛型方法：类型参数写在返回值前面，调用时自动推断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1701165"/>
            <a:chOff x="533400" y="1524000"/>
            <a:chExt cx="595122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296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testGen（原课件第 52 页，按 JDK 21 改写构造写法）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056583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&lt;T&gt; T testGen(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T first, T second)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? first : second;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s = testGen(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正确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Integer i = testGen(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Integer.valueOf(1),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Integer.valueOf(2));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正确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s2 = testGen(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"pi"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Float.valueOf(3.14f));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409950"/>
            <a:ext cx="5951220" cy="1018222"/>
            <a:chOff x="533400" y="3409950"/>
            <a:chExt cx="5951220" cy="1018222"/>
          </a:xfrm>
        </p:grpSpPr>
        <p:sp>
          <p:nvSpPr>
            <p:cNvPr id="11" name="Rectangle 11"/>
            <p:cNvSpPr/>
            <p:nvPr/>
          </p:nvSpPr>
          <p:spPr>
            <a:xfrm>
              <a:off x="533400" y="3409950"/>
              <a:ext cx="5951220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561874"/>
              <a:ext cx="2303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最后一行的编译报错（JDK 21，节选）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3822287"/>
              <a:ext cx="2301697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不兼容的类型: 推断类型不符合上限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推断: INT#1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上限: String,Object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4613910"/>
            <a:ext cx="5951220" cy="1564958"/>
            <a:chOff x="533400" y="4613910"/>
            <a:chExt cx="5951220" cy="1564958"/>
          </a:xfrm>
        </p:grpSpPr>
        <p:sp>
          <p:nvSpPr>
            <p:cNvPr id="15" name="Rectangle 15"/>
            <p:cNvSpPr/>
            <p:nvPr/>
          </p:nvSpPr>
          <p:spPr>
            <a:xfrm>
              <a:off x="533400" y="4613910"/>
              <a:ext cx="5951220" cy="1564958"/>
            </a:xfrm>
            <a:prstGeom prst="roundRect">
              <a:avLst>
                <a:gd name="adj" fmla="val 852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48177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44" y="48534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22488" y="4858226"/>
              <a:ext cx="264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同时要容纳 String 和 Float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5209699"/>
              <a:ext cx="51812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编译器只能把 T 推断成两者的公共父类型（Serializable 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Comparable 等的交叉类型），它不能赋给 String。改成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Object</a:t>
              </a:r>
              <a:br/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o = testGen(...)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就能编译，o 的运行时类型是 String。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789420" y="1524000"/>
            <a:ext cx="4869180" cy="1613535"/>
            <a:chOff x="6789420" y="1524000"/>
            <a:chExt cx="4869180" cy="1613535"/>
          </a:xfrm>
        </p:grpSpPr>
        <p:sp>
          <p:nvSpPr>
            <p:cNvPr id="21" name="Rectangle 21"/>
            <p:cNvSpPr/>
            <p:nvPr/>
          </p:nvSpPr>
          <p:spPr>
            <a:xfrm>
              <a:off x="6789420" y="1524000"/>
              <a:ext cx="486918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98945" y="165735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3135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2156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32764" y="176736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类、接口、方法都可以使用泛型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4116" y="2119789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泛型方法的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&lt;T&gt;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写在修饰符和返回类型之间，作用范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围只在这个方法里。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4116" y="2711291"/>
              <a:ext cx="38182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调用时不用写类型，编译器根据实参推断 T。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3322320"/>
            <a:ext cx="4869180" cy="2856548"/>
            <a:chOff x="6789420" y="3322320"/>
            <a:chExt cx="4869180" cy="2856548"/>
          </a:xfrm>
        </p:grpSpPr>
        <p:sp>
          <p:nvSpPr>
            <p:cNvPr id="29" name="Rectangle 29"/>
            <p:cNvSpPr/>
            <p:nvPr/>
          </p:nvSpPr>
          <p:spPr>
            <a:xfrm>
              <a:off x="6789420" y="3322320"/>
              <a:ext cx="4869180" cy="2856548"/>
            </a:xfrm>
            <a:prstGeom prst="roundRect">
              <a:avLst>
                <a:gd name="adj" fmla="val 46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3455670"/>
              <a:ext cx="47625" cy="25898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31355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21563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4116" y="3900011"/>
              <a:ext cx="40616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Integer(1) 与 new Float(3.14) 已过时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4116" y="4238149"/>
              <a:ext cx="415328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Integer(1)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Float(3.14)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创建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包装对象。这些构造方法从 JDK 9 起标为过时，JDK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起标为待删除，JDK 21 编译时警告「已过时, 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标记为待删除」。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4116" y="5372576"/>
              <a:ext cx="41713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改用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Integer.valueOf(1)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，或直接写 1 让编译器自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动装箱。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2731" cy="909257"/>
            <a:chOff x="520446" y="342900"/>
            <a:chExt cx="68527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27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泛型类：Dog&lt;T&gt; 的体重类型留到使用时再定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2908935"/>
            <a:chOff x="533400" y="1524000"/>
            <a:chExt cx="5626418" cy="2908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08935"/>
            </a:xfrm>
            <a:prstGeom prst="roundRect">
              <a:avLst>
                <a:gd name="adj" fmla="val 32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56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56～58 页的 Dog（已更正）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2879" y="1935194"/>
              <a:ext cx="132461" cy="2413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260"/>
                </a:lnSpc>
              </a:pPr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8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0115" y="1935194"/>
              <a:ext cx="2680589" cy="2413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Dog&lt;T&gt;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weight;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b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"wang"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Dog(T weight)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.weight = weight;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&lt;M&gt; M speak(M m) {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泛型方法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使用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Dog&lt;Double&gt; d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Dog&lt;&gt;(23.2);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已更正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s = d.speak(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Integer n = d.speak(7);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Dog&lt;String&gt; d2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Dog&lt;&gt;(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"二十斤"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608195"/>
            <a:ext cx="5626418" cy="1741170"/>
            <a:chOff x="533400" y="4608195"/>
            <a:chExt cx="5626418" cy="1741170"/>
          </a:xfrm>
        </p:grpSpPr>
        <p:sp>
          <p:nvSpPr>
            <p:cNvPr id="12" name="Rectangle 12"/>
            <p:cNvSpPr/>
            <p:nvPr/>
          </p:nvSpPr>
          <p:spPr>
            <a:xfrm>
              <a:off x="533400" y="4608195"/>
              <a:ext cx="5626418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741545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3905" y="4800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5345" y="4834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47597" y="4839652"/>
              <a:ext cx="1912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Dog&lt;double&gt; 编译不过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5173980"/>
              <a:ext cx="50029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Dog&lt;double&gt; d = new Dog(23.2);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。类型参数不能是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基本类型，JDK 21 报「意外的类型 需要: 引用 找到: double」。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应写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Dog&lt;Double&gt;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，右边用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Dog&lt;&gt;(23.2)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，23.2 自动装箱成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Double。</a:t>
              </a:r>
            </a:p>
          </p:txBody>
        </p:sp>
      </p:grpSp>
      <p:grpSp>
        <p:nvGrpSpPr>
          <p:cNvPr id="21" name="c2-image-1"/>
          <p:cNvGrpSpPr/>
          <p:nvPr/>
        </p:nvGrpSpPr>
        <p:grpSpPr>
          <a:xfrm>
            <a:off x="6502078" y="1524000"/>
            <a:ext cx="5120013" cy="2205609"/>
            <a:chOff x="6502078" y="1524000"/>
            <a:chExt cx="5120013" cy="2205609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rcRect l="5561" t="0" r="5561" b="0"/>
            <a:stretch>
              <a:fillRect/>
            </a:stretch>
          </p:blipFill>
          <p:spPr>
            <a:xfrm>
              <a:off x="7790498" y="1524000"/>
              <a:ext cx="2542222" cy="1906905"/>
            </a:xfrm>
            <a:prstGeom prst="roundRect">
              <a:avLst>
                <a:gd name="adj" fmla="val 6993"/>
              </a:avLst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6502078" y="3524250"/>
              <a:ext cx="5120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盒盖上的孔决定能放什么：List&lt;String&gt; 只收 String，放 Cat 在编译时就被拦下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464618" y="3882390"/>
            <a:ext cx="5193982" cy="2466022"/>
            <a:chOff x="6464618" y="3882390"/>
            <a:chExt cx="5193982" cy="2466022"/>
          </a:xfrm>
        </p:grpSpPr>
        <p:sp>
          <p:nvSpPr>
            <p:cNvPr id="22" name="Rectangle 22"/>
            <p:cNvSpPr/>
            <p:nvPr/>
          </p:nvSpPr>
          <p:spPr>
            <a:xfrm>
              <a:off x="6464618" y="3882390"/>
              <a:ext cx="5193982" cy="2466022"/>
            </a:xfrm>
            <a:prstGeom prst="roundRect">
              <a:avLst>
                <a:gd name="adj" fmla="val 5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4015740"/>
              <a:ext cx="47625" cy="21993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5122" y="407479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0561" y="41090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原课件的类比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2214" y="411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房间和家具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88264" y="4449128"/>
              <a:ext cx="43856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 类的 weight 固定是 int，就像房间里的床和灯都已摆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好。Dog&lt;T&gt; 只留出「放体重」的位置，放 Double 还是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String，到 new 的时候才决定。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8264" y="5265420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speak 的类型参数 M 与类的 T 无关，每次调用单独推断：传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"hello" 时 M 是 String，传 7 时 M 是 Integer。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容器接口本身就是泛型的：放什么类型写在尖括号里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028825"/>
            <a:chOff x="533400" y="1524000"/>
            <a:chExt cx="541020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98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22679" y="1648301"/>
              <a:ext cx="1637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声明（原课件第 53 页）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0255" y="2054066"/>
              <a:ext cx="3258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Collection&lt;E&gt; extends Iterable&lt;E&gt;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32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0255" y="2459831"/>
              <a:ext cx="2964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List&lt;E&gt; extends Collection&lt;E&gt;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0255" y="2865596"/>
              <a:ext cx="2919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Set&lt;E&gt; extends Collection&lt;E&gt;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40255" y="3271361"/>
              <a:ext cx="1522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Map&lt;K, V&gt;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3548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3728085"/>
            <a:ext cx="5410200" cy="1226820"/>
            <a:chOff x="533400" y="3728085"/>
            <a:chExt cx="5410200" cy="1226820"/>
          </a:xfrm>
        </p:grpSpPr>
        <p:sp>
          <p:nvSpPr>
            <p:cNvPr id="26" name="Rectangle 26"/>
            <p:cNvSpPr/>
            <p:nvPr/>
          </p:nvSpPr>
          <p:spPr>
            <a:xfrm>
              <a:off x="533400" y="372808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86143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3920490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9340" y="395478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接口里的方法也是泛型的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7747" y="3960495"/>
              <a:ext cx="1662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add(E e);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429387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List&lt;String&gt;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 E 就是 String，所以 add 只收 String，get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直接返回 String。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130165"/>
            <a:ext cx="5410200" cy="1226820"/>
            <a:chOff x="533400" y="5130165"/>
            <a:chExt cx="5410200" cy="1226820"/>
          </a:xfrm>
        </p:grpSpPr>
        <p:sp>
          <p:nvSpPr>
            <p:cNvPr id="33" name="Rectangle 33"/>
            <p:cNvSpPr/>
            <p:nvPr/>
          </p:nvSpPr>
          <p:spPr>
            <a:xfrm>
              <a:off x="533400" y="5130165"/>
              <a:ext cx="5410200" cy="1226820"/>
            </a:xfrm>
            <a:prstGeom prst="roundRect">
              <a:avLst>
                <a:gd name="adj" fmla="val 93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643563"/>
              <a:ext cx="200026" cy="200026"/>
              <a:chOff x="738188" y="5643563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6435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710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7435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275898"/>
              <a:ext cx="4282821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 Interface List&lt;E&gt;，关键字区分大小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写，应为小写 interface。JDK 21 源码里 List 改为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 SequencedCollection&lt;E&gt;，后者再继承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Collection&lt;E&gt;。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248400" y="1524000"/>
            <a:ext cx="5410200" cy="2268855"/>
            <a:chOff x="6248400" y="1524000"/>
            <a:chExt cx="5410200" cy="2268855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1675924"/>
              <a:ext cx="20727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泛型版 StackL（原课件第 54 页）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67450" y="2221230"/>
              <a:ext cx="537210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6988" y="1935194"/>
              <a:ext cx="3652901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java.util.LinkedList;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StackL&lt;T&gt; {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//构造"栈"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LinkedList&lt;T&gt; list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LinkedList&lt;&gt;();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push(T o) { list.addFirst(o); }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//进栈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top()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list.getFirst(); }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//查看栈顶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pop()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list.removeFirst(); }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//出栈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StackL&lt;Integer&gt; s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StackL&lt;&gt;();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s.push(1); s.push(2);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top = s.pop();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不用强制转换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System.out.println(top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s.top());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 1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968115"/>
            <a:ext cx="5410200" cy="2388870"/>
            <a:chOff x="6248400" y="3968115"/>
            <a:chExt cx="5410200" cy="2388870"/>
          </a:xfrm>
        </p:grpSpPr>
        <p:sp>
          <p:nvSpPr>
            <p:cNvPr id="45" name="Rectangle 45"/>
            <p:cNvSpPr/>
            <p:nvPr/>
          </p:nvSpPr>
          <p:spPr>
            <a:xfrm>
              <a:off x="6248400" y="3968115"/>
              <a:ext cx="5410200" cy="2388870"/>
            </a:xfrm>
            <a:prstGeom prst="roundRect">
              <a:avLst>
                <a:gd name="adj" fmla="val 5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101465"/>
              <a:ext cx="47625" cy="21221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41605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0345" y="4194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2597" y="4199572"/>
              <a:ext cx="1590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行右边补了 &lt;&gt;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4533900"/>
              <a:ext cx="42571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原课件写的是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LinkedList()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，能编译，但加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-Xlint:unchecked 会报「未经检查的转换」。写成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LinkedList&lt;&gt;()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就没有警告。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07955" cy="909257"/>
            <a:chOff x="520446" y="342900"/>
            <a:chExt cx="44079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07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Set：不允许重复，没有下标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41020" y="1547336"/>
            <a:ext cx="4648701" cy="1596010"/>
            <a:chOff x="541020" y="1547336"/>
            <a:chExt cx="4648701" cy="1596010"/>
          </a:xfrm>
        </p:grpSpPr>
        <p:sp>
          <p:nvSpPr>
            <p:cNvPr id="7" name="Ellipse 7"/>
            <p:cNvSpPr/>
            <p:nvPr/>
          </p:nvSpPr>
          <p:spPr>
            <a:xfrm>
              <a:off x="541020" y="16078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611" y="15473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实现数学上「集合」的数据结构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020" y="193643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611" y="187690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最大的特点是不允许保存重复的元素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020" y="226599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611" y="220646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元素之间不要求有顺序，元素没有索引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020" y="259556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611" y="2535079"/>
              <a:ext cx="3910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继承自 Collection 接口，没有增加额外的方法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1020" y="292417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611" y="2864644"/>
              <a:ext cx="44921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常用实现类：HashSet、TreeSet 和 LinkedHashSet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272790"/>
            <a:ext cx="5193982" cy="1530668"/>
            <a:chOff x="533400" y="3272790"/>
            <a:chExt cx="5193982" cy="1530668"/>
          </a:xfrm>
        </p:grpSpPr>
        <p:sp>
          <p:nvSpPr>
            <p:cNvPr id="18" name="Rectangle 18"/>
            <p:cNvSpPr/>
            <p:nvPr/>
          </p:nvSpPr>
          <p:spPr>
            <a:xfrm>
              <a:off x="533400" y="3272790"/>
              <a:ext cx="5193982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424714"/>
              <a:ext cx="3356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Collection 的方法做集合运算（补充，JDK 21 实测）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949" y="3685127"/>
              <a:ext cx="4725111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a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TreeSet&lt;&gt;(List.of(1, 2, 3, 4));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b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TreeSet&lt;&gt;(List.of(3, 4, 5));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u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TreeSet&lt;&gt;(a); u.addAll(b);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并 [1, 2, 3, 4, 5]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i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TreeSet&lt;&gt;(a); i.retainAll(b);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交 [3, 4]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d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TreeSet&lt;&gt;(a); d.removeAll(b);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差 [1, 2]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a.containsAll(i);          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子集 true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988242"/>
            <a:ext cx="5193982" cy="1361122"/>
            <a:chOff x="533400" y="4988242"/>
            <a:chExt cx="5193982" cy="1361122"/>
          </a:xfrm>
        </p:grpSpPr>
        <p:sp>
          <p:nvSpPr>
            <p:cNvPr id="22" name="Rectangle 22"/>
            <p:cNvSpPr/>
            <p:nvPr/>
          </p:nvSpPr>
          <p:spPr>
            <a:xfrm>
              <a:off x="533400" y="4988242"/>
              <a:ext cx="5193982" cy="1361122"/>
            </a:xfrm>
            <a:prstGeom prst="roundRect">
              <a:avLst>
                <a:gd name="adj" fmla="val 8397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69270"/>
              <a:ext cx="200023" cy="200023"/>
              <a:chOff x="738188" y="556927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5692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635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5306854"/>
              <a:ext cx="420738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重复怎么判断由实现类决定：HashSet 看 hashCode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 equals，TreeSet 看 compareTo 或比较器，本节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后面分别讲。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6032182" y="1524000"/>
            <a:ext cx="5626418" cy="1871662"/>
            <a:chOff x="6032182" y="1524000"/>
            <a:chExt cx="5626418" cy="1871662"/>
          </a:xfrm>
        </p:grpSpPr>
        <p:sp>
          <p:nvSpPr>
            <p:cNvPr id="28" name="Rectangle 28"/>
            <p:cNvSpPr/>
            <p:nvPr/>
          </p:nvSpPr>
          <p:spPr>
            <a:xfrm>
              <a:off x="6032182" y="1524000"/>
              <a:ext cx="5626418" cy="1871662"/>
            </a:xfrm>
            <a:prstGeom prst="roundRect">
              <a:avLst>
                <a:gd name="adj" fmla="val 5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60580" y="1675924"/>
              <a:ext cx="23562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示例（原课件第 66 页，补了一行打印）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60732" y="1936337"/>
              <a:ext cx="3883482" cy="1378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Set&lt;String&gt; set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HashSet&lt;String&gt;();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System.out.println(set.add(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无法插入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set.remove(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System.out.println(set);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System.out.println(set.size()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set.contains(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</a:p>
          </p:txBody>
        </p:sp>
      </p:grpSp>
      <p:grpSp>
        <p:nvGrpSpPr>
          <p:cNvPr id="35" name="c2-code-2"/>
          <p:cNvGrpSpPr/>
          <p:nvPr/>
        </p:nvGrpSpPr>
        <p:grpSpPr>
          <a:xfrm>
            <a:off x="6032182" y="3580448"/>
            <a:ext cx="5626418" cy="1018222"/>
            <a:chOff x="6032182" y="3580448"/>
            <a:chExt cx="5626418" cy="1018222"/>
          </a:xfrm>
        </p:grpSpPr>
        <p:sp>
          <p:nvSpPr>
            <p:cNvPr id="32" name="Rectangle 32"/>
            <p:cNvSpPr/>
            <p:nvPr/>
          </p:nvSpPr>
          <p:spPr>
            <a:xfrm>
              <a:off x="6032182" y="3580448"/>
              <a:ext cx="5626418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60580" y="3732371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0732" y="3992785"/>
              <a:ext cx="403555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false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[dog]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true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032182" y="4784408"/>
            <a:ext cx="5626418" cy="1564958"/>
            <a:chOff x="6032182" y="4784408"/>
            <a:chExt cx="5626418" cy="1564958"/>
          </a:xfrm>
        </p:grpSpPr>
        <p:sp>
          <p:nvSpPr>
            <p:cNvPr id="36" name="Rectangle 36"/>
            <p:cNvSpPr/>
            <p:nvPr/>
          </p:nvSpPr>
          <p:spPr>
            <a:xfrm>
              <a:off x="6032182" y="4784408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4917758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74118" y="49882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4326" y="50239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4574" y="50287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输出带方括号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66879" y="5380196"/>
              <a:ext cx="49648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原课件输出框写作 dog。println 一个集合打印的是它的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toString()，格式是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[dog]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。原课件代码第 4 行末尾多了一个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+，也已删去。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68116" cy="909257"/>
            <a:chOff x="520446" y="342900"/>
            <a:chExt cx="73681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681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Iterator：不管什么集合，都用同一套方法遍历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788795"/>
            <a:chOff x="533400" y="1524000"/>
            <a:chExt cx="5626418" cy="17887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2114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 可以按下标取，Set 没有下标（原课件第 67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57466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a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ArrayList&lt;String&gt;();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a.size(); i++)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s = a.get(i);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//取出元素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Set&lt;String&gt; b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HashSet&lt;String&gt;();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(Iterator&lt;String&gt; it = b.iterator(); it.hasNext(); 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s = it.next();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//取出元素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steps-2"/>
          <p:cNvGrpSpPr/>
          <p:nvPr/>
        </p:nvGrpSpPr>
        <p:grpSpPr>
          <a:xfrm>
            <a:off x="533400" y="3497580"/>
            <a:ext cx="4322333" cy="1693069"/>
            <a:chOff x="533400" y="3497580"/>
            <a:chExt cx="4322333" cy="1693069"/>
          </a:xfrm>
        </p:grpSpPr>
        <p:sp>
          <p:nvSpPr>
            <p:cNvPr id="11" name="Rectangle 11"/>
            <p:cNvSpPr/>
            <p:nvPr/>
          </p:nvSpPr>
          <p:spPr>
            <a:xfrm>
              <a:off x="666750" y="364045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3400" y="349758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5713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08432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158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67106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7448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52901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796189"/>
              <a:ext cx="3908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iterator() 返回迭代器，此时它位于第一个元素之前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41157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4383881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hasNext() 检查后面是否还有元素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47024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970621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next() 返回下一个元素，迭代器向后移动一个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359718"/>
            <a:ext cx="5626418" cy="865822"/>
            <a:chOff x="533400" y="5359718"/>
            <a:chExt cx="5626418" cy="865822"/>
          </a:xfrm>
        </p:grpSpPr>
        <p:sp>
          <p:nvSpPr>
            <p:cNvPr id="25" name="Rectangle 25"/>
            <p:cNvSpPr/>
            <p:nvPr/>
          </p:nvSpPr>
          <p:spPr>
            <a:xfrm>
              <a:off x="533400" y="5359718"/>
              <a:ext cx="5626418" cy="865822"/>
            </a:xfrm>
            <a:prstGeom prst="roundRect">
              <a:avLst>
                <a:gd name="adj" fmla="val 132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92140"/>
              <a:ext cx="200026" cy="200025"/>
              <a:chOff x="738188" y="5692140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921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7365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8477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557403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用迭代器遍历时不需要知道集合内部是数组、链表还是哈希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表，换一种集合，循环的写法一个字都不用改。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464618" y="1524000"/>
            <a:ext cx="5193982" cy="1623060"/>
            <a:chOff x="6464618" y="1524000"/>
            <a:chExt cx="5193982" cy="1623060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30602" y="1648301"/>
              <a:ext cx="1441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Iterator&lt;E&gt; 的方法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238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4630" y="2054066"/>
              <a:ext cx="1418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hasNext()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38210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序列中是否还有元素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4630" y="2459831"/>
              <a:ext cx="67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next()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38210" y="245983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获得下一个元素，第一次调用返回第一个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4630" y="2865596"/>
              <a:ext cx="1095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remove()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38210" y="286559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删除迭代器刚返回的那个元素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3343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464618" y="3322320"/>
            <a:ext cx="5193982" cy="1998345"/>
            <a:chOff x="6464618" y="3322320"/>
            <a:chExt cx="5193982" cy="1998345"/>
          </a:xfrm>
        </p:grpSpPr>
        <p:sp>
          <p:nvSpPr>
            <p:cNvPr id="47" name="Rectangle 47"/>
            <p:cNvSpPr/>
            <p:nvPr/>
          </p:nvSpPr>
          <p:spPr>
            <a:xfrm>
              <a:off x="6464618" y="3322320"/>
              <a:ext cx="5193982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3455670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5122" y="35147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86562" y="3549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78814" y="355473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迭代器是一种设计模式，也是一个对象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8264" y="3888105"/>
              <a:ext cx="4497134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它把「怎样逐个取出元素」从不同的集合类里抽出来。所有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都能用迭代器，因为 Collection 继承了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java.lang.Iterable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，Iterable 的抽象方法只有一个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Iterator&lt;T&gt; iterator()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（Java 8 起另有 forEach 等默认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方法）。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464618" y="5495925"/>
            <a:ext cx="5193982" cy="729615"/>
            <a:chOff x="6464618" y="5495925"/>
            <a:chExt cx="5193982" cy="729615"/>
          </a:xfrm>
        </p:grpSpPr>
        <p:sp>
          <p:nvSpPr>
            <p:cNvPr id="54" name="Rectangle 54"/>
            <p:cNvSpPr/>
            <p:nvPr/>
          </p:nvSpPr>
          <p:spPr>
            <a:xfrm>
              <a:off x="6464618" y="549592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5760720"/>
              <a:ext cx="200026" cy="200026"/>
              <a:chOff x="6669405" y="5760720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57607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69418" y="58273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58305" y="58607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110" y="5641658"/>
              <a:ext cx="42485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更正：原课件第 74 页写作 Java.lang.Iteratble，应为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java.lang.Iterable。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8095" cy="909257"/>
            <a:chOff x="520446" y="342900"/>
            <a:chExt cx="68880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80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边遍历边删除：只能用迭代器自己的 remove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453640"/>
            <a:chOff x="533400" y="1524000"/>
            <a:chExt cx="6059805" cy="2453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三种写法对比（JDK 21 实测）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4018915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a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ArrayList&lt;&gt;(List.of(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"cow"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(Iterator&lt;String&gt; it = a.iterator(); it.hasNext(); 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s = it.next();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(s.equals(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 it.remove();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正确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System.out.println(a);             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[cat, cow]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b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ArrayList&lt;&gt;(List.of(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"cow"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 s : b)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(s.equals(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 b.remove(s);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抛异常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Iterator&lt;String&gt; it2 = a.iterator();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it2.remove();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还没调 next()，抛异常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142422"/>
            <a:ext cx="6059805" cy="809625"/>
            <a:chOff x="533400" y="4142422"/>
            <a:chExt cx="6059805" cy="809625"/>
          </a:xfrm>
        </p:grpSpPr>
        <p:sp>
          <p:nvSpPr>
            <p:cNvPr id="11" name="Rectangle 11"/>
            <p:cNvSpPr/>
            <p:nvPr/>
          </p:nvSpPr>
          <p:spPr>
            <a:xfrm>
              <a:off x="533400" y="4142422"/>
              <a:ext cx="6059805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29434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后两段的异常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552474"/>
              <a:ext cx="2357882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java.util.ConcurrentModificationException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java.lang.IllegalStateException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5115878"/>
            <a:ext cx="6059805" cy="1160145"/>
            <a:chOff x="533400" y="5115878"/>
            <a:chExt cx="6059805" cy="1160145"/>
          </a:xfrm>
        </p:grpSpPr>
        <p:sp>
          <p:nvSpPr>
            <p:cNvPr id="15" name="Rectangle 15"/>
            <p:cNvSpPr/>
            <p:nvPr/>
          </p:nvSpPr>
          <p:spPr>
            <a:xfrm>
              <a:off x="533400" y="5115878"/>
              <a:ext cx="605980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524922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5296852"/>
              <a:ext cx="100679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3958" y="5329714"/>
              <a:ext cx="862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ListIterator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67090" y="5336381"/>
              <a:ext cx="1804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 专用，能双向移动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5653564"/>
              <a:ext cx="5279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listIterator(n)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从位置 n 开始，有 hasPrevious()、previous()，还能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add、set。对 [cat, cow] 从尾部倒着走，输出 cow cat。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898005" y="1524000"/>
            <a:ext cx="4760595" cy="1930718"/>
            <a:chOff x="6898005" y="1524000"/>
            <a:chExt cx="4760595" cy="1930718"/>
          </a:xfrm>
        </p:grpSpPr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07530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1708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0879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3056" y="17445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遍历期间别绕过迭代器改集合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0603" y="2061686"/>
              <a:ext cx="40281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用集合自己的 remove 改了结构，迭代器下一次 next()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发现修改次数对不上，就抛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ConcurrentModificationException。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0603" y="2832259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迭代器的 remove() 每调一次 next() 只能用一次，删的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next() 刚返回的元素。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898005" y="3619500"/>
            <a:ext cx="4760595" cy="2656522"/>
            <a:chOff x="6898005" y="3619500"/>
            <a:chExt cx="4760595" cy="2656522"/>
          </a:xfrm>
        </p:grpSpPr>
        <p:sp>
          <p:nvSpPr>
            <p:cNvPr id="30" name="Rectangle 30"/>
            <p:cNvSpPr/>
            <p:nvPr/>
          </p:nvSpPr>
          <p:spPr>
            <a:xfrm>
              <a:off x="6898005" y="3619500"/>
              <a:ext cx="4760595" cy="2656522"/>
            </a:xfrm>
            <a:prstGeom prst="roundRect">
              <a:avLst>
                <a:gd name="adj" fmla="val 50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3752850"/>
              <a:ext cx="47625" cy="23898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17080" y="3800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08799" y="3833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3056" y="3840956"/>
              <a:ext cx="221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79 页列出的迭代器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0603" y="4157186"/>
              <a:ext cx="41663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ListIterator, SetIterator,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TreeIterator。java.util 里只有 ListIterator 是公开的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子接口，没有 SetIterator 和 TreeIterator 这两个类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10603" y="5170646"/>
              <a:ext cx="4198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HashSet、TreeSet 的 iterator() 返回的是它们内部私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有类的对象，我们只按 Iterator 接口来用，不需要知道具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体类名。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14833" cy="909257"/>
            <a:chOff x="520446" y="342900"/>
            <a:chExt cx="40148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148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for-each：迭代器的简写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055495"/>
            <a:chOff x="533400" y="1524000"/>
            <a:chExt cx="5410200" cy="2055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5549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88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3273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(变量类型 变量名 : 集合) { … 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把迭代器包装起来，代码更简洁。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465070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for-each 只能遍历两种对象：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8003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984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35630"/>
              <a:ext cx="39592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实现了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java.lang.Iterable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接口的类的实例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769995"/>
            <a:ext cx="5410200" cy="1737360"/>
            <a:chOff x="533400" y="3769995"/>
            <a:chExt cx="5410200" cy="1737360"/>
          </a:xfrm>
        </p:grpSpPr>
        <p:sp>
          <p:nvSpPr>
            <p:cNvPr id="19" name="Rectangle 19"/>
            <p:cNvSpPr/>
            <p:nvPr/>
          </p:nvSpPr>
          <p:spPr>
            <a:xfrm>
              <a:off x="533400" y="376999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3921919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80 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797" y="4182904"/>
              <a:ext cx="3227197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Set&lt;String&gt; set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HashSet&lt;String&gt;();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set.add(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 s : set)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arr = {3, 1, 2};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: arr) System.out.print(x);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312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6248400" y="1524000"/>
            <a:ext cx="5410200" cy="1209675"/>
            <a:chOff x="6248400" y="1524000"/>
            <a:chExt cx="5410200" cy="120967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797" y="1675924"/>
              <a:ext cx="2021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编译器把集合的 for-each 翻译成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6797" y="1935956"/>
              <a:ext cx="3980180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(Iterator&lt;String&gt; i = set.iterator(); i.hasNext(); 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s = i.next();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248400" y="2924175"/>
            <a:ext cx="5410200" cy="2022158"/>
            <a:chOff x="6248400" y="2924175"/>
            <a:chExt cx="5410200" cy="2022158"/>
          </a:xfrm>
        </p:grpSpPr>
        <p:sp>
          <p:nvSpPr>
            <p:cNvPr id="27" name="Rectangle 27"/>
            <p:cNvSpPr/>
            <p:nvPr/>
          </p:nvSpPr>
          <p:spPr>
            <a:xfrm>
              <a:off x="6248400" y="2924175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79336" y="30589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72906" y="30589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能删元素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9809" y="30589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能拿到下标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6223" y="3508534"/>
              <a:ext cx="14702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 for + get(i)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0303" y="35085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能（注意下标）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43363" y="35085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8166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82143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4070509"/>
              <a:ext cx="769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20303" y="3957161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能，用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it.remove()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43363" y="4070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4919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6223" y="4632484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for-each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22005" y="4506278"/>
              <a:ext cx="160401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20303" y="46324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43363" y="46324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924175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07718" y="292417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30778" y="292417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3"/>
          <p:cNvGrpSpPr/>
          <p:nvPr/>
        </p:nvGrpSpPr>
        <p:grpSpPr>
          <a:xfrm>
            <a:off x="6248400" y="5136832"/>
            <a:ext cx="5410200" cy="782955"/>
            <a:chOff x="6248400" y="5136832"/>
            <a:chExt cx="5410200" cy="782955"/>
          </a:xfrm>
        </p:grpSpPr>
        <p:sp>
          <p:nvSpPr>
            <p:cNvPr id="48" name="Rectangle 48"/>
            <p:cNvSpPr/>
            <p:nvPr/>
          </p:nvSpPr>
          <p:spPr>
            <a:xfrm>
              <a:off x="6248400" y="513683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41129" y="5424606"/>
              <a:ext cx="224134" cy="192560"/>
              <a:chOff x="6441129" y="5424606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553200" y="54949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41129" y="54246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53200" y="55727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5285422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Map 不是 Iterable，不能直接写 for (x : map)，要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先取 keySet()、values() 或 entrySet()。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30747" cy="909257"/>
            <a:chOff x="520446" y="342900"/>
            <a:chExt cx="89307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307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HashSet：先用哈希码定位到一条链表，再用 equals 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403032"/>
            <a:chOff x="533400" y="1524000"/>
            <a:chExt cx="5626418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为什么要哈希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16608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添加删除前都要先查找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222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 不允许重复，每次 add 前都得查一下是否已存在。逐个循环比较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效率低下，HashSet 采用「哈希表」与哈希算法实现快速查找，内部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维护一个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链表数组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101340"/>
            <a:ext cx="3696710" cy="2149411"/>
            <a:chOff x="533400" y="3101340"/>
            <a:chExt cx="3696710" cy="2149411"/>
          </a:xfrm>
        </p:grpSpPr>
        <p:sp>
          <p:nvSpPr>
            <p:cNvPr id="14" name="Rectangle 14"/>
            <p:cNvSpPr/>
            <p:nvPr/>
          </p:nvSpPr>
          <p:spPr>
            <a:xfrm>
              <a:off x="666750" y="3244215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10134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751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5474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285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0719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281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76059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8344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322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算哈希码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387090"/>
              <a:ext cx="2024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a.hashCode() 获得哈希码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6847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定位链表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3939540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由哈希码算出 a 在数组中的位置，即属于哪一个链表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238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逐个比较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492942"/>
              <a:ext cx="2957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a.equals() 和这个链表中每一个元素比较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7915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504539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有相同元素则 a 被找到；否则说明集合里没有 a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413058"/>
            <a:ext cx="5626418" cy="937260"/>
            <a:chOff x="533400" y="5413058"/>
            <a:chExt cx="5626418" cy="937260"/>
          </a:xfrm>
        </p:grpSpPr>
        <p:sp>
          <p:nvSpPr>
            <p:cNvPr id="32" name="Rectangle 32"/>
            <p:cNvSpPr/>
            <p:nvPr/>
          </p:nvSpPr>
          <p:spPr>
            <a:xfrm>
              <a:off x="533400" y="5413058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81675"/>
              <a:ext cx="200026" cy="200025"/>
              <a:chOff x="738188" y="578167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816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8261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9372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5557361"/>
              <a:ext cx="46377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右图是 16 个桶的哈希表存小整数：Integer 的哈希码就是它的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值，放在第「值 % 16」个桶。只要链表都很短，查找就是常数时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73" name="c2-cells-1"/>
          <p:cNvGrpSpPr/>
          <p:nvPr/>
        </p:nvGrpSpPr>
        <p:grpSpPr>
          <a:xfrm>
            <a:off x="6459855" y="1524000"/>
            <a:ext cx="3007995" cy="2364105"/>
            <a:chOff x="6459855" y="1524000"/>
            <a:chExt cx="3007995" cy="2364105"/>
          </a:xfrm>
        </p:grpSpPr>
        <p:sp>
          <p:nvSpPr>
            <p:cNvPr id="39" name="TextBox 39"/>
            <p:cNvSpPr txBox="1"/>
            <p:nvPr/>
          </p:nvSpPr>
          <p:spPr>
            <a:xfrm>
              <a:off x="6459855" y="1645920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桶 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80860" y="1524000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67139" y="16459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02880" y="1524000"/>
              <a:ext cx="209550" cy="356235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879080" y="167354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907655" y="170211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250555" y="16592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36280" y="1524000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22559" y="16459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58300" y="1524000"/>
              <a:ext cx="209550" cy="356235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30547" y="1655445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59855" y="2147888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桶 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80860" y="2025968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0212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02880" y="2025968"/>
              <a:ext cx="209550" cy="356235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879080" y="21755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907655" y="22040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250555" y="21612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36280" y="2025968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22559" y="21478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258300" y="2025968"/>
              <a:ext cx="209550" cy="356235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330547" y="2157412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59855" y="2649855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桶 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80860" y="2527935"/>
              <a:ext cx="92202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59855" y="3151823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桶 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80860" y="3029902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02123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802880" y="3029902"/>
              <a:ext cx="209550" cy="356235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875127" y="3161348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59855" y="3653790"/>
              <a:ext cx="3087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桶 12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880860" y="3531870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67139" y="36537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802880" y="3531870"/>
              <a:ext cx="209550" cy="356235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875127" y="3663315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76" name="c2-image-2"/>
          <p:cNvGrpSpPr/>
          <p:nvPr/>
        </p:nvGrpSpPr>
        <p:grpSpPr>
          <a:xfrm>
            <a:off x="7539965" y="4052888"/>
            <a:ext cx="3044241" cy="1901856"/>
            <a:chOff x="7539965" y="4052888"/>
            <a:chExt cx="3044241" cy="1901856"/>
          </a:xfrm>
        </p:grpSpPr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rcRect l="5549" t="0" r="5549" b="0"/>
            <a:stretch>
              <a:fillRect/>
            </a:stretch>
          </p:blipFill>
          <p:spPr>
            <a:xfrm>
              <a:off x="7981950" y="4052888"/>
              <a:ext cx="2159318" cy="1619250"/>
            </a:xfrm>
            <a:prstGeom prst="roundRect">
              <a:avLst>
                <a:gd name="adj" fmla="val 8235"/>
              </a:avLst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7539965" y="5764054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按包裹上的记号直接投进对应格子，只在那一格里找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0885" cy="909257"/>
            <a:chOff x="520446" y="342900"/>
            <a:chExt cx="7990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0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容量与载入因子：元素数超过容量×0.75 就扩容一倍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626418" cy="2150745"/>
            <a:chOff x="533400" y="1524000"/>
            <a:chExt cx="5626418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672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9195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865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64714" y="2085022"/>
              <a:ext cx="2938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空的 HashSet，容量 16，载入因子 0.75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1673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HashSet(Collection)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64714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从其他集合构造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1101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HashSet(int)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4714" y="2946082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指定初始容量，载入因子 0.75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1669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HashSet(int, float)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4714" y="3375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指定初始容量与载入因子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5460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kv-2"/>
          <p:cNvGrpSpPr/>
          <p:nvPr/>
        </p:nvGrpSpPr>
        <p:grpSpPr>
          <a:xfrm>
            <a:off x="526161" y="3883819"/>
            <a:ext cx="5633657" cy="967359"/>
            <a:chOff x="526161" y="3883819"/>
            <a:chExt cx="5633657" cy="967359"/>
          </a:xfrm>
        </p:grpSpPr>
        <p:sp>
          <p:nvSpPr>
            <p:cNvPr id="26" name="TextBox 26"/>
            <p:cNvSpPr txBox="1"/>
            <p:nvPr/>
          </p:nvSpPr>
          <p:spPr>
            <a:xfrm>
              <a:off x="526161" y="38838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25334" y="388381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链表数组的长度，也就是桶数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89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161" y="43048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载入因子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5334" y="4304824"/>
              <a:ext cx="409016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数组重构的条件：元素数目 &gt; 容量 × 载入因子 时扩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展，如 16 → 32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4981575"/>
            <a:ext cx="5626418" cy="1347788"/>
            <a:chOff x="533400" y="4981575"/>
            <a:chExt cx="5626418" cy="1347788"/>
          </a:xfrm>
        </p:grpSpPr>
        <p:sp>
          <p:nvSpPr>
            <p:cNvPr id="32" name="Rectangle 32"/>
            <p:cNvSpPr/>
            <p:nvPr/>
          </p:nvSpPr>
          <p:spPr>
            <a:xfrm>
              <a:off x="533400" y="4981575"/>
              <a:ext cx="5626418" cy="1347788"/>
            </a:xfrm>
            <a:prstGeom prst="roundRect">
              <a:avLst>
                <a:gd name="adj" fmla="val 98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5114925"/>
              <a:ext cx="47625" cy="10810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518541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1593" y="52211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8666" y="5224939"/>
              <a:ext cx="30248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HashSet 放第几个元素时扩容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8096" y="5576411"/>
              <a:ext cx="49197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阈值 = 16 × 0.75 = 12。放入第 13 个元素时 13 &gt; 12，数组扩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32，新阈值 32 × 0.75 = 24。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464618" y="1524000"/>
            <a:ext cx="5193982" cy="1360170"/>
            <a:chOff x="6464618" y="1524000"/>
            <a:chExt cx="5193982" cy="1360170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3015" y="1675924"/>
              <a:ext cx="28698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反射读 HashMap 内部数组长度（JDK 21 实测）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167" y="1936337"/>
              <a:ext cx="3226892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HashMap&lt;Integer, Integer&gt; m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new: 0  1 个: 16  12 个: 16  13 个: 32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HashMap&lt;Integer, Integer&gt; m2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HashMap&lt;&gt;(20);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m2.put(1, 1);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HashMap(20) 实际容量: 32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3068955"/>
            <a:ext cx="5193982" cy="1884998"/>
            <a:chOff x="6464618" y="3068955"/>
            <a:chExt cx="5193982" cy="1884998"/>
          </a:xfrm>
        </p:grpSpPr>
        <p:sp>
          <p:nvSpPr>
            <p:cNvPr id="43" name="Rectangle 43"/>
            <p:cNvSpPr/>
            <p:nvPr/>
          </p:nvSpPr>
          <p:spPr>
            <a:xfrm>
              <a:off x="6464618" y="3068955"/>
              <a:ext cx="5193982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3202305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32727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7713" y="3308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07961" y="33132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两个实现细节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9314" y="3664744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内部就是一个 HashMap（后面 HashMap 一页细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讲），所以直接观察 HashMap。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9314" y="4256246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数组第一次 put 时才分配。指定的容量会被向上取成 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的幂，给 20 实际得到 32。</a:t>
              </a:r>
            </a:p>
          </p:txBody>
        </p:sp>
      </p:grpSp>
      <p:grpSp>
        <p:nvGrpSpPr>
          <p:cNvPr id="54" name="c2-code-3"/>
          <p:cNvGrpSpPr/>
          <p:nvPr/>
        </p:nvGrpSpPr>
        <p:grpSpPr>
          <a:xfrm>
            <a:off x="6464618" y="5139690"/>
            <a:ext cx="5193982" cy="1189672"/>
            <a:chOff x="6464618" y="5139690"/>
            <a:chExt cx="5193982" cy="1189672"/>
          </a:xfrm>
        </p:grpSpPr>
        <p:sp>
          <p:nvSpPr>
            <p:cNvPr id="51" name="Rectangle 51"/>
            <p:cNvSpPr/>
            <p:nvPr/>
          </p:nvSpPr>
          <p:spPr>
            <a:xfrm>
              <a:off x="6464618" y="5139690"/>
              <a:ext cx="5193982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93015" y="5291614"/>
              <a:ext cx="2814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例：100 个数放进 HashSet（原课件第 89 页）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93167" y="5551075"/>
              <a:ext cx="3507435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set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HashSet&lt;Integer&gt;();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100; i++)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set.add(i % 6);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原课件写 new Integer(i%6)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迭代输出 0, 1, 2, 3, 4, 5,   size=6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92286" cy="909257"/>
            <a:chOff x="520446" y="342900"/>
            <a:chExt cx="89922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922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默认的 hashCode 和 equals 都只认「是不是同一个对象」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626418" cy="3654742"/>
            <a:chOff x="533400" y="1524000"/>
            <a:chExt cx="5626418" cy="36547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5518" y="1655445"/>
              <a:ext cx="1104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Object 的方法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7294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42925" y="1964055"/>
              <a:ext cx="256889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2222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equals(Object obj)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26689" y="2085022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比较对象，默认用 ==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393632"/>
              <a:ext cx="256889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1239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hashCode()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6689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求哈希码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946082"/>
              <a:ext cx="1482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toString()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6689" y="294608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返回对象的字符串表示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375660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Class getClass()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6689" y="3375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求对象对应的类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3806190"/>
              <a:ext cx="2121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Object clone()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26689" y="38061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建立当前对象的拷贝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005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10527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4235768"/>
              <a:ext cx="2090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void finalize()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26689" y="423576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释放资源（已过时）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530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4666298"/>
              <a:ext cx="184442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notify() / notifyAll() /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6689" y="477297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多线程之间的等待与唤醒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5626418" cy="36547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116580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5363528"/>
            <a:ext cx="5626418" cy="900112"/>
            <a:chOff x="533400" y="5363528"/>
            <a:chExt cx="5626418" cy="900112"/>
          </a:xfrm>
        </p:grpSpPr>
        <p:sp>
          <p:nvSpPr>
            <p:cNvPr id="38" name="Rectangle 38"/>
            <p:cNvSpPr/>
            <p:nvPr/>
          </p:nvSpPr>
          <p:spPr>
            <a:xfrm>
              <a:off x="533400" y="5363528"/>
              <a:ext cx="5626418" cy="900112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714048"/>
              <a:ext cx="200026" cy="200026"/>
              <a:chOff x="738188" y="571404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7140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7807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8140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5583079"/>
              <a:ext cx="461314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finalize() 从 JDK 9 起标为过时，JDK 18 起标为待删除，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不要再依赖它释放资源（原课件第 86 页列出了它）。</a:t>
              </a:r>
            </a:p>
          </p:txBody>
        </p:sp>
      </p:grpSp>
      <p:grpSp>
        <p:nvGrpSpPr>
          <p:cNvPr id="52" name="c2-bullets-1"/>
          <p:cNvGrpSpPr/>
          <p:nvPr/>
        </p:nvGrpSpPr>
        <p:grpSpPr>
          <a:xfrm>
            <a:off x="6457379" y="1547336"/>
            <a:ext cx="4737510" cy="1275970"/>
            <a:chOff x="6457379" y="1547336"/>
            <a:chExt cx="4737510" cy="1275970"/>
          </a:xfrm>
        </p:grpSpPr>
        <p:sp>
          <p:nvSpPr>
            <p:cNvPr id="45" name="TextBox 45"/>
            <p:cNvSpPr txBox="1"/>
            <p:nvPr/>
          </p:nvSpPr>
          <p:spPr>
            <a:xfrm>
              <a:off x="6457379" y="1547336"/>
              <a:ext cx="1884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91 页的要点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72238" y="194595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28829" y="1886426"/>
              <a:ext cx="4172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equals() 比较两个引用是否指向同一个对象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72238" y="227552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28829" y="2215039"/>
              <a:ext cx="45660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中的对象需要重写 hashCode() 与 equals()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72238" y="260508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28829" y="2544604"/>
              <a:ext cx="44282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Integer、Double、String 等已经重写了这两个方法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2952750"/>
            <a:ext cx="5193982" cy="2107882"/>
            <a:chOff x="6464618" y="2952750"/>
            <a:chExt cx="5193982" cy="2107882"/>
          </a:xfrm>
        </p:grpSpPr>
        <p:sp>
          <p:nvSpPr>
            <p:cNvPr id="53" name="Rectangle 53"/>
            <p:cNvSpPr/>
            <p:nvPr/>
          </p:nvSpPr>
          <p:spPr>
            <a:xfrm>
              <a:off x="6464618" y="2952750"/>
              <a:ext cx="5193982" cy="2107882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3086100"/>
              <a:ext cx="47625" cy="18411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06552" y="31565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97713" y="31923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07961" y="3196114"/>
              <a:ext cx="2554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hashCode 不是内存地址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99314" y="3547586"/>
              <a:ext cx="4541012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原课件写「系统默认 hashCode() 返回对象在内存中的地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址」。规范只要求同一对象多次调用结果相同，HotSpot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默认用线程内的伪随机数算法生成并记在对象头里，对象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被垃圾回收器移动后哈希码也不变。把它理解为「每个对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象各自的编号」更准确。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464618" y="5245418"/>
            <a:ext cx="5193982" cy="1018222"/>
            <a:chOff x="6464618" y="5245418"/>
            <a:chExt cx="5193982" cy="1018222"/>
          </a:xfrm>
        </p:grpSpPr>
        <p:sp>
          <p:nvSpPr>
            <p:cNvPr id="60" name="Rectangle 60"/>
            <p:cNvSpPr/>
            <p:nvPr/>
          </p:nvSpPr>
          <p:spPr>
            <a:xfrm>
              <a:off x="6464618" y="5245418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5654995"/>
              <a:ext cx="200023" cy="200023"/>
              <a:chOff x="6669405" y="565499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6549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02755" y="57216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1729" y="5392579"/>
              <a:ext cx="421640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所以不重写时，两个 id 相同的 Employee 哈希码不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同、equals 也为 false，HashSet 会把它们当成两个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6955" cy="909257"/>
            <a:chOff x="520446" y="342900"/>
            <a:chExt cx="83769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6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例：不重写 hashCode 和 equals，同样的 id 存了两份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388995"/>
            <a:chOff x="533400" y="1524000"/>
            <a:chExt cx="6059805" cy="3388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388995"/>
            </a:xfrm>
            <a:prstGeom prst="roundRect">
              <a:avLst>
                <a:gd name="adj" fmla="val 2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856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HashSetNoHashCode（原课件第 90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328797" cy="2893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HashSetNoHashCode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Set&lt;Employeee&gt; set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HashSet&lt;Employeee&gt;();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set.add(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Employeee(12));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set.add(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Employeee(1));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set.add(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Employeee(1));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(Employeee e : set)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"ID="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e.id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",hashcode="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e.hashCode());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088255"/>
            <a:ext cx="6059805" cy="1184910"/>
            <a:chOff x="533400" y="5088255"/>
            <a:chExt cx="6059805" cy="1184910"/>
          </a:xfrm>
        </p:grpSpPr>
        <p:sp>
          <p:nvSpPr>
            <p:cNvPr id="11" name="Rectangle 11"/>
            <p:cNvSpPr/>
            <p:nvPr/>
          </p:nvSpPr>
          <p:spPr>
            <a:xfrm>
              <a:off x="533400" y="5088255"/>
              <a:ext cx="6059805" cy="1184910"/>
            </a:xfrm>
            <a:prstGeom prst="roundRect">
              <a:avLst>
                <a:gd name="adj" fmla="val 964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576053"/>
              <a:ext cx="224134" cy="192560"/>
              <a:chOff x="726129" y="5576053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6464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5760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724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336858"/>
              <a:ext cx="496862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只重写 equals、不重写 hashCode 也不行：实测两个 id=1 的对象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equals 为 true，放进 HashSet 后 size 仍是 2，contains 查不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898005" y="1524000"/>
            <a:ext cx="4760595" cy="988695"/>
            <a:chOff x="6898005" y="1524000"/>
            <a:chExt cx="4760595" cy="988695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988695"/>
            </a:xfrm>
            <a:prstGeom prst="roundRect">
              <a:avLst>
                <a:gd name="adj" fmla="val 96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26402" y="1675924"/>
              <a:ext cx="1775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某一次运行的输出（JDK 21）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26592" y="1935194"/>
              <a:ext cx="1546225" cy="493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ID=1,hashcode=942731712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ID=1,hashcode=971848845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ID=12,hashcode=1101288798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898005" y="2687955"/>
            <a:ext cx="4760595" cy="1786890"/>
            <a:chOff x="6898005" y="2687955"/>
            <a:chExt cx="4760595" cy="1786890"/>
          </a:xfrm>
        </p:grpSpPr>
        <p:sp>
          <p:nvSpPr>
            <p:cNvPr id="22" name="Rectangle 22"/>
            <p:cNvSpPr/>
            <p:nvPr/>
          </p:nvSpPr>
          <p:spPr>
            <a:xfrm>
              <a:off x="6898005" y="2687955"/>
              <a:ext cx="476059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07530" y="282130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8510" y="288036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15950" y="29146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读输出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45552" y="292036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三个对象都留下了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21652" y="3253740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ID=1 的对象被当成了不同的元素，size 实测为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21652" y="381381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哈希码每次运行都可能不同，原课件的 28705408 等数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字和这里对不上是正常的，打印顺序也会随之变化。</a:t>
              </a:r>
            </a:p>
          </p:txBody>
        </p:sp>
      </p:grpSp>
      <p:grpSp>
        <p:nvGrpSpPr>
          <p:cNvPr id="45" name="c2-table-3"/>
          <p:cNvGrpSpPr/>
          <p:nvPr/>
        </p:nvGrpSpPr>
        <p:grpSpPr>
          <a:xfrm>
            <a:off x="6898005" y="4649152"/>
            <a:ext cx="4760595" cy="1623060"/>
            <a:chOff x="6898005" y="4649152"/>
            <a:chExt cx="4760595" cy="1623060"/>
          </a:xfrm>
        </p:grpSpPr>
        <p:sp>
          <p:nvSpPr>
            <p:cNvPr id="30" name="Rectangle 30"/>
            <p:cNvSpPr/>
            <p:nvPr/>
          </p:nvSpPr>
          <p:spPr>
            <a:xfrm>
              <a:off x="6898005" y="4649152"/>
              <a:ext cx="476059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54644" y="4773454"/>
              <a:ext cx="185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加入第二个 Employeee(1)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06736" y="47734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98017" y="517921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哈希码与已有的相同吗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68815" y="517921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不同，多半进别的桶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98005" y="545592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98005" y="5460682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8017" y="5584984"/>
              <a:ext cx="1343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同桶时 equals 返回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68815" y="5584984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false，默认比引用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98005" y="58616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8017" y="5990749"/>
              <a:ext cx="1131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的判断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478328" y="5875972"/>
              <a:ext cx="217074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68815" y="599074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不重复，存进去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98005" y="4649152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464040" y="464915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例：重写之后，内容相同的对象只存一份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050858"/>
            <a:chOff x="533400" y="1524000"/>
            <a:chExt cx="5842635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61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93 页的 Employeee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2688" y="1935004"/>
              <a:ext cx="124079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178"/>
                </a:lnSpc>
              </a:pPr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1542" y="1935004"/>
              <a:ext cx="2128774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Employeee(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hashCode()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equals(Object o)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Employeee e = (Employeee) o;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== e.id)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main 同上一页：依次 add 12、1、1</a:t>
              </a:r>
            </a:p>
          </p:txBody>
        </p:sp>
      </p:grpSp>
      <p:grpSp>
        <p:nvGrpSpPr>
          <p:cNvPr id="25" name="c1-steps-2"/>
          <p:cNvGrpSpPr/>
          <p:nvPr/>
        </p:nvGrpSpPr>
        <p:grpSpPr>
          <a:xfrm>
            <a:off x="533400" y="4749165"/>
            <a:ext cx="4289406" cy="1596962"/>
            <a:chOff x="533400" y="4749165"/>
            <a:chExt cx="4289406" cy="1596962"/>
          </a:xfrm>
        </p:grpSpPr>
        <p:sp>
          <p:nvSpPr>
            <p:cNvPr id="12" name="Rectangle 12"/>
            <p:cNvSpPr/>
            <p:nvPr/>
          </p:nvSpPr>
          <p:spPr>
            <a:xfrm>
              <a:off x="666750" y="489204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33400" y="47491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48229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530256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5376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585501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59288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47801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算哈希码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166" y="5034915"/>
              <a:ext cx="3691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 Employeee(1) 的 hashCode() 返回 1，定位到桶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53325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5587365"/>
              <a:ext cx="3875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1 里已有 Employeee(1)，equals 比较 id 相等，返回 true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58859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6140768"/>
              <a:ext cx="31062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判为重复，add 返回 false，集合里只剩 2 个元素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680835" y="1524000"/>
            <a:ext cx="4977765" cy="809625"/>
            <a:chOff x="6680835" y="1524000"/>
            <a:chExt cx="4977765" cy="809625"/>
          </a:xfrm>
        </p:grpSpPr>
        <p:sp>
          <p:nvSpPr>
            <p:cNvPr id="26" name="Rectangle 26"/>
            <p:cNvSpPr/>
            <p:nvPr/>
          </p:nvSpPr>
          <p:spPr>
            <a:xfrm>
              <a:off x="6680835" y="1524000"/>
              <a:ext cx="4977765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9232" y="1675924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9422" y="1935004"/>
              <a:ext cx="983234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ID=1,hashcode=1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ID=12,hashcode=12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680835" y="2498408"/>
            <a:ext cx="4977765" cy="917258"/>
            <a:chOff x="6680835" y="2498408"/>
            <a:chExt cx="4977765" cy="917258"/>
          </a:xfrm>
        </p:grpSpPr>
        <p:sp>
          <p:nvSpPr>
            <p:cNvPr id="30" name="Rectangle 30"/>
            <p:cNvSpPr/>
            <p:nvPr/>
          </p:nvSpPr>
          <p:spPr>
            <a:xfrm>
              <a:off x="6680835" y="2498408"/>
              <a:ext cx="4977765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0360" y="2631758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99910" y="267938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88531" y="27122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读输出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90663" y="2718911"/>
              <a:ext cx="20251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为什么先打印 1 再打印 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93433" y="3035141"/>
              <a:ext cx="4272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按桶号从小到大遍历：1 在桶 1，12 在桶 12。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680835" y="3580448"/>
            <a:ext cx="4977765" cy="2762250"/>
            <a:chOff x="6680835" y="3580448"/>
            <a:chExt cx="4977765" cy="2762250"/>
          </a:xfrm>
        </p:grpSpPr>
        <p:sp>
          <p:nvSpPr>
            <p:cNvPr id="37" name="Rectangle 37"/>
            <p:cNvSpPr/>
            <p:nvPr/>
          </p:nvSpPr>
          <p:spPr>
            <a:xfrm>
              <a:off x="6680835" y="3580448"/>
              <a:ext cx="4977765" cy="2762250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3713798"/>
              <a:ext cx="47625" cy="2495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99910" y="37614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2582" y="37942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66838" y="3800951"/>
              <a:ext cx="2776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 equals 不满足下一页的第 5 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3433" y="4117181"/>
              <a:ext cx="41094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行直接强制转换，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x.equals(null)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实测抛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NullPointerException，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x.equals("abc")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ClassCastException。规范要求这两种情况返回 false。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3433" y="4888706"/>
              <a:ext cx="43858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改法：转换前先用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 instanceof Employeee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判断，不是就返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false。null 和其他类型都在这一步被挡下，完整写法见下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40107" cy="909257"/>
            <a:chOff x="520446" y="342900"/>
            <a:chExt cx="85401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401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合格的 equals 要满足五条约定，hashCode 要和它配套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5410200" cy="2634615"/>
            <a:chOff x="533400" y="1524000"/>
            <a:chExt cx="5410200" cy="2634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22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773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自反性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4038" y="2054066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x，x.equals(x) 总返回 true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4038" y="2459831"/>
              <a:ext cx="3599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x.equals(y) 为 true 当且仅当 y.equals(x) 为 true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9656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4038" y="2865596"/>
              <a:ext cx="38234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x.equals(y)、y.equals(z) 都为 true，则 x.equals(z) 为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42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470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471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24038" y="3471386"/>
              <a:ext cx="3388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对象没被修改时，多次调用 x.equals(y) 结果不变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480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762375"/>
              <a:ext cx="11715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8771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非空性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24038" y="3877151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对任意非空 x，x.equals(null) 返回 false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410200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719262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333875"/>
            <a:ext cx="5410200" cy="1831658"/>
            <a:chOff x="533400" y="4333875"/>
            <a:chExt cx="5410200" cy="1831658"/>
          </a:xfrm>
        </p:grpSpPr>
        <p:sp>
          <p:nvSpPr>
            <p:cNvPr id="30" name="Rectangle 30"/>
            <p:cNvSpPr/>
            <p:nvPr/>
          </p:nvSpPr>
          <p:spPr>
            <a:xfrm>
              <a:off x="533400" y="4333875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5805" y="4526280"/>
              <a:ext cx="1134428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606" y="4560570"/>
              <a:ext cx="995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hashCode 规则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67675" y="4566285"/>
              <a:ext cx="2828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equals 相等，hashCode 必须相等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34378" y="495585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0397" y="4899660"/>
              <a:ext cx="3354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 equals 的对象，hashCode 一定相等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34378" y="52587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0397" y="5202555"/>
              <a:ext cx="3900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两个对象的 hashCode 不相等，则一定不 equals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8947" y="550545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反过来不成立：hashCode 相等的对象不一定 equals，这就是哈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希冲突，同一条链表里靠 equals 区分。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248400" y="1524000"/>
            <a:ext cx="5410200" cy="2588895"/>
            <a:chOff x="6248400" y="1524000"/>
            <a:chExt cx="5410200" cy="2588895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588895"/>
            </a:xfrm>
            <a:prstGeom prst="roundRect">
              <a:avLst>
                <a:gd name="adj" fmla="val 36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1675924"/>
              <a:ext cx="1687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规范的写法（JDK 21 实测）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988" y="1935194"/>
              <a:ext cx="3898773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Emp(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id;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equals(Object o)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== o)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(!(o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Emp))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null 也走这里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Emp e = (Emp) 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 == e.id;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hashCode()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Objects.hash(id);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248400" y="4288155"/>
            <a:ext cx="5410200" cy="668655"/>
            <a:chOff x="6248400" y="4288155"/>
            <a:chExt cx="5410200" cy="668655"/>
          </a:xfrm>
        </p:grpSpPr>
        <p:sp>
          <p:nvSpPr>
            <p:cNvPr id="44" name="Rectangle 44"/>
            <p:cNvSpPr/>
            <p:nvPr/>
          </p:nvSpPr>
          <p:spPr>
            <a:xfrm>
              <a:off x="6248400" y="4288155"/>
              <a:ext cx="5410200" cy="668655"/>
            </a:xfrm>
            <a:prstGeom prst="roundRect">
              <a:avLst>
                <a:gd name="adj" fmla="val 142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4440079"/>
              <a:ext cx="3403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equals(null)、equals("abc")、equals(new Emp(3))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988" y="4699349"/>
              <a:ext cx="1052022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false false true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248400" y="5131118"/>
            <a:ext cx="5410200" cy="1034415"/>
            <a:chOff x="6248400" y="5131118"/>
            <a:chExt cx="5410200" cy="1034415"/>
          </a:xfrm>
        </p:grpSpPr>
        <p:sp>
          <p:nvSpPr>
            <p:cNvPr id="48" name="Rectangle 48"/>
            <p:cNvSpPr/>
            <p:nvPr/>
          </p:nvSpPr>
          <p:spPr>
            <a:xfrm>
              <a:off x="6248400" y="5131118"/>
              <a:ext cx="5410200" cy="1034415"/>
            </a:xfrm>
            <a:prstGeom prst="roundRect">
              <a:avLst>
                <a:gd name="adj" fmla="val 1105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5548313"/>
              <a:ext cx="200026" cy="200025"/>
              <a:chOff x="6453188" y="554831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5483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92926" y="55927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27642" y="57038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892" y="5430202"/>
              <a:ext cx="42399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参与 equals 比较的字段，也要全部参与 hashCode 的计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算；Objects.hash(a, b, c) 可以一次算多个字段。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4423" cy="909257"/>
            <a:chOff x="520446" y="342900"/>
            <a:chExt cx="82944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44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 按大小排好，LinkedHashSet 记住插入顺序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545908"/>
            <a:chOff x="533400" y="1524000"/>
            <a:chExt cx="5410200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1247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501" y="1743551"/>
              <a:ext cx="551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TreeSet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8102" y="1745932"/>
              <a:ext cx="1483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元素间有序的 Set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底层是红黑树（自平衡的排序二叉树）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42792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371725"/>
              <a:ext cx="4705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元素必须实现 Comparable，或在构造时传入 Comparator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72796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671762"/>
              <a:ext cx="1549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查找效率 O(log n)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39452"/>
            <a:ext cx="5410200" cy="1459230"/>
            <a:chOff x="533400" y="3239452"/>
            <a:chExt cx="5410200" cy="1459230"/>
          </a:xfrm>
        </p:grpSpPr>
        <p:sp>
          <p:nvSpPr>
            <p:cNvPr id="19" name="Rectangle 19"/>
            <p:cNvSpPr/>
            <p:nvPr/>
          </p:nvSpPr>
          <p:spPr>
            <a:xfrm>
              <a:off x="533400" y="323945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37280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3426142"/>
              <a:ext cx="111156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4394" y="3459004"/>
              <a:ext cx="978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LinkedHashSet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7200" y="3461385"/>
              <a:ext cx="1346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+ 链表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332" y="378714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HashSet 的基础上把每个元素按插入顺序用链表串起来，元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素间有确定的顺序。适合既要常数级存取、又要求元素有序（按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插入顺序）的情况。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869180"/>
            <a:ext cx="5410200" cy="1459230"/>
            <a:chOff x="533400" y="4869180"/>
            <a:chExt cx="5410200" cy="1459230"/>
          </a:xfrm>
        </p:grpSpPr>
        <p:sp>
          <p:nvSpPr>
            <p:cNvPr id="26" name="Rectangle 26"/>
            <p:cNvSpPr/>
            <p:nvPr/>
          </p:nvSpPr>
          <p:spPr>
            <a:xfrm>
              <a:off x="533400" y="4869180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500253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50558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862" y="50887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3784" y="5091112"/>
              <a:ext cx="3420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自定义类放进 TreeSet 前先定好比较规则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416868"/>
              <a:ext cx="46514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元素既不是 Comparable、也没给比较器时，add 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ClassCastException。和 Arrays.sort 一样，要么让类实现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Comparable，要么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TreeSet&lt;&gt;(比较器)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248400" y="1524000"/>
            <a:ext cx="5410200" cy="2830830"/>
            <a:chOff x="6248400" y="1524000"/>
            <a:chExt cx="5410200" cy="283083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2830830"/>
            </a:xfrm>
            <a:prstGeom prst="roundRect">
              <a:avLst>
                <a:gd name="adj" fmla="val 33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797" y="1675924"/>
              <a:ext cx="20833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分数相同就算重复（JDK 21 实测）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76988" y="1935575"/>
              <a:ext cx="3193288" cy="2327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Comparable&lt;Stu&gt;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Stu(String n,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s) { name = n; score = s;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compareTo(Stu o)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Integer.compare(score, o.score);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toString() {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 + score;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没有重写 equals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Set&lt;Stu&gt; 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TreeSet&lt;&gt;();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t.add(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90)); t.add(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85));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t.add(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"王"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90));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System.out.println(t);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[李85, 张90]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Set&lt;Stu&gt; h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HashSet&lt;&gt;();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h.add(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90)); h.add(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"王"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90));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System.out.println(h.size());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524375"/>
            <a:ext cx="5410200" cy="1804035"/>
            <a:chOff x="6248400" y="4524375"/>
            <a:chExt cx="5410200" cy="1804035"/>
          </a:xfrm>
        </p:grpSpPr>
        <p:sp>
          <p:nvSpPr>
            <p:cNvPr id="37" name="Rectangle 37"/>
            <p:cNvSpPr/>
            <p:nvPr/>
          </p:nvSpPr>
          <p:spPr>
            <a:xfrm>
              <a:off x="6248400" y="4524375"/>
              <a:ext cx="5410200" cy="1804035"/>
            </a:xfrm>
            <a:prstGeom prst="roundRect">
              <a:avLst>
                <a:gd name="adj" fmla="val 73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657725"/>
              <a:ext cx="47625" cy="15373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3190" y="47110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5862" y="47439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38784" y="4746308"/>
              <a:ext cx="28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 靠 compareTo 判断重复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6332" y="5072062"/>
              <a:ext cx="480574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95 页写「对象需重写 equals() 以保证元素的单一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性」。TreeSet 不调用 equals，compareTo（或比较器）返回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就算重复，上例的「王90」因此没放进去。建议让两者结果一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致，否则 TreeSet 和 HashSet 对「重复」的判断会不一样。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4550" cy="909257"/>
            <a:chOff x="520446" y="342900"/>
            <a:chExt cx="73745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45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例：同样五个数，三种 Set 的输出顺序各不相同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2748915"/>
            <a:chOff x="533400" y="1524000"/>
            <a:chExt cx="5951220" cy="2748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748915"/>
            </a:xfrm>
            <a:prstGeom prst="roundRect">
              <a:avLst>
                <a:gd name="adj" fmla="val 34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0158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96 页（随机数固定为原课件那一次的值）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574669" cy="22536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hashSet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HashSet&lt;Integer&gt;();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linkedHashSet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LinkedHashSet&lt;Integer&gt;();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Set&lt;Integer&gt; treeSet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TreeSet&lt;Integer&gt;();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nums = {46, 0, 27, 70, 61};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5; i++)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原课件：int s = (int)(Math.random()*100);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 = nums[i];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hashSet.add(s);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linkedHashSet.add(s);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treeSet.add(s);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"HashSet："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hashSet);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"LinkedHashSet："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linkedHashSet);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"TreeSet ："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treeSet);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448175"/>
            <a:ext cx="5951220" cy="988695"/>
            <a:chOff x="533400" y="4448175"/>
            <a:chExt cx="5951220" cy="988695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5951220" cy="988695"/>
            </a:xfrm>
            <a:prstGeom prst="roundRect">
              <a:avLst>
                <a:gd name="adj" fmla="val 96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600099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859369"/>
              <a:ext cx="2088261" cy="493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HashSet：[0, 70, 27, 61, 46]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LinkedHashSet：[46, 0, 27, 70, 61]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TreeSet ：[0, 27, 46, 61, 70]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5611178"/>
            <a:ext cx="5951220" cy="729615"/>
            <a:chOff x="533400" y="5611178"/>
            <a:chExt cx="595122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5611178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875973"/>
              <a:ext cx="200026" cy="200026"/>
              <a:chOff x="738188" y="587597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8759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9426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9759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5757862"/>
              <a:ext cx="47885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Math.random()*100 取整后是 0～99，注释里的「0－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100」偏了 1。</a:t>
              </a:r>
            </a:p>
          </p:txBody>
        </p:sp>
      </p:grpSp>
      <p:grpSp>
        <p:nvGrpSpPr>
          <p:cNvPr id="36" name="c2-table-1"/>
          <p:cNvGrpSpPr/>
          <p:nvPr/>
        </p:nvGrpSpPr>
        <p:grpSpPr>
          <a:xfrm>
            <a:off x="6789420" y="1524000"/>
            <a:ext cx="4869180" cy="1623060"/>
            <a:chOff x="6789420" y="1524000"/>
            <a:chExt cx="4869180" cy="1623060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26932" y="1648301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9304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9432" y="2054066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2032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按桶号，看起来无规律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23307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89420" y="233553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9432" y="2459831"/>
              <a:ext cx="111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LinkedHashSet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42032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保持元素的添加顺序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273653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89432" y="2865596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42032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按值从小到大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1524000"/>
              <a:ext cx="486918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53725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table-2"/>
          <p:cNvGrpSpPr/>
          <p:nvPr/>
        </p:nvGrpSpPr>
        <p:grpSpPr>
          <a:xfrm>
            <a:off x="6789420" y="3322320"/>
            <a:ext cx="4869180" cy="811530"/>
            <a:chOff x="6789420" y="3322320"/>
            <a:chExt cx="4869180" cy="811530"/>
          </a:xfrm>
        </p:grpSpPr>
        <p:sp>
          <p:nvSpPr>
            <p:cNvPr id="37" name="Rectangle 37"/>
            <p:cNvSpPr/>
            <p:nvPr/>
          </p:nvSpPr>
          <p:spPr>
            <a:xfrm>
              <a:off x="6789420" y="3322320"/>
              <a:ext cx="486918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92200" y="34466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73694" y="34466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60725" y="34466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91293" y="34466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21860" y="34466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76240" y="34466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9432" y="3852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58150" y="3852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88718" y="3852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8332" y="38523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48900" y="38523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79468" y="38523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322320"/>
              <a:ext cx="4869180" cy="811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53375" y="332232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683942" y="332232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13558" y="332232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144125" y="332232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874692" y="332232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3"/>
          <p:cNvGrpSpPr/>
          <p:nvPr/>
        </p:nvGrpSpPr>
        <p:grpSpPr>
          <a:xfrm>
            <a:off x="6789420" y="4309110"/>
            <a:ext cx="4869180" cy="2032635"/>
            <a:chOff x="6789420" y="4309110"/>
            <a:chExt cx="4869180" cy="2032635"/>
          </a:xfrm>
        </p:grpSpPr>
        <p:sp>
          <p:nvSpPr>
            <p:cNvPr id="57" name="Rectangle 57"/>
            <p:cNvSpPr/>
            <p:nvPr/>
          </p:nvSpPr>
          <p:spPr>
            <a:xfrm>
              <a:off x="6789420" y="4309110"/>
              <a:ext cx="4869180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98945" y="4442460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19925" y="4501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11365" y="4535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03617" y="4540568"/>
              <a:ext cx="2454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这一行与原课件不同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13067" y="4874895"/>
              <a:ext cx="42656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原课件是 [0, 70, 27, 46, 61]，来自旧版 JDK 的散列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函数。JDK 8 起小整数直接按「值 % 16」分桶，上表的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桶号从小到大就是 JDK 21 的输出顺序。HashSet 的顺序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本来就不保证，写程序不要依赖它。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7809" cy="909257"/>
            <a:chOff x="520446" y="342900"/>
            <a:chExt cx="6197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7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Map：键不能重复，一个键只映射一个值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5431"/>
            <a:ext cx="5078689" cy="1371409"/>
            <a:chOff x="542925" y="1545431"/>
            <a:chExt cx="5078689" cy="1371409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4255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维护「键（key）- 值（value）」对的容器，声明为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interface Map&lt;K, V&gt;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21336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208073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键与值都是对象，键值对也是对象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42697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374106"/>
              <a:ext cx="4923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Map 中不能包含相同的 key，每个 key 只能映射一个 value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71938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667476"/>
              <a:ext cx="4154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常用实现类：HashMap、TreeMap 和 LinkedHashMap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3030855"/>
            <a:ext cx="5193982" cy="1525905"/>
            <a:chOff x="533400" y="3030855"/>
            <a:chExt cx="5193982" cy="1525905"/>
          </a:xfrm>
        </p:grpSpPr>
        <p:sp>
          <p:nvSpPr>
            <p:cNvPr id="16" name="Rectangle 16"/>
            <p:cNvSpPr/>
            <p:nvPr/>
          </p:nvSpPr>
          <p:spPr>
            <a:xfrm>
              <a:off x="533400" y="3030855"/>
              <a:ext cx="519398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55217" y="31489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1056" y="31489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遍历顺序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078" y="3529965"/>
              <a:ext cx="621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05481" y="35299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不保证顺序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890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9380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910965"/>
              <a:ext cx="10782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LinkedHashMap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05481" y="39109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插入顺序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709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4292918"/>
              <a:ext cx="621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TreeMap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05481" y="429291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按键从小到大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30855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06040" y="303085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3"/>
          <p:cNvGrpSpPr/>
          <p:nvPr/>
        </p:nvGrpSpPr>
        <p:grpSpPr>
          <a:xfrm>
            <a:off x="533400" y="4721542"/>
            <a:ext cx="5193982" cy="1444942"/>
            <a:chOff x="533400" y="4721542"/>
            <a:chExt cx="5193982" cy="1444942"/>
          </a:xfrm>
        </p:grpSpPr>
        <p:sp>
          <p:nvSpPr>
            <p:cNvPr id="31" name="Rectangle 31"/>
            <p:cNvSpPr/>
            <p:nvPr/>
          </p:nvSpPr>
          <p:spPr>
            <a:xfrm>
              <a:off x="533400" y="4721542"/>
              <a:ext cx="519398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85489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90251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946" y="493537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类比与说明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91830" y="49420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字典的词条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25922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词条（键）不能重复，一个词条对应一段释义（值）；不同词条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的释义可以相同。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98" y="5786914"/>
              <a:ext cx="48758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原课件称 Map 为「无序容器」，按上表这只对 HashMap 成立。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032182" y="1524000"/>
            <a:ext cx="5626418" cy="1556385"/>
            <a:chOff x="6032182" y="1524000"/>
            <a:chExt cx="5626418" cy="1556385"/>
          </a:xfrm>
        </p:grpSpPr>
        <p:sp>
          <p:nvSpPr>
            <p:cNvPr id="39" name="Rectangle 39"/>
            <p:cNvSpPr/>
            <p:nvPr/>
          </p:nvSpPr>
          <p:spPr>
            <a:xfrm>
              <a:off x="6032182" y="1524000"/>
              <a:ext cx="5626418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60580" y="1675924"/>
              <a:ext cx="16408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101 页（已更正）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51232" y="2649855"/>
              <a:ext cx="5588318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60770" y="1935004"/>
              <a:ext cx="3217037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Map&lt;String, String&gt; map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HashMap&lt;String, String&gt;();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map.put(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"yellow"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System.out.println(map.put(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"dog"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"red"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返回旧值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map.put(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"red"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System.out.println(map);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map.remove(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System.out.println(map);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032182" y="3245168"/>
            <a:ext cx="5626418" cy="958215"/>
            <a:chOff x="6032182" y="3245168"/>
            <a:chExt cx="5626418" cy="958215"/>
          </a:xfrm>
        </p:grpSpPr>
        <p:sp>
          <p:nvSpPr>
            <p:cNvPr id="44" name="Rectangle 44"/>
            <p:cNvSpPr/>
            <p:nvPr/>
          </p:nvSpPr>
          <p:spPr>
            <a:xfrm>
              <a:off x="6032182" y="3245168"/>
              <a:ext cx="5626418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60580" y="3397091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60770" y="3656171"/>
              <a:ext cx="1040511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yellow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{cat=red, dog=red}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{dog=red}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032182" y="4368165"/>
            <a:ext cx="5626418" cy="1798320"/>
            <a:chOff x="6032182" y="4368165"/>
            <a:chExt cx="5626418" cy="1798320"/>
          </a:xfrm>
        </p:grpSpPr>
        <p:sp>
          <p:nvSpPr>
            <p:cNvPr id="48" name="Rectangle 48"/>
            <p:cNvSpPr/>
            <p:nvPr/>
          </p:nvSpPr>
          <p:spPr>
            <a:xfrm>
              <a:off x="6032182" y="4368165"/>
              <a:ext cx="5626418" cy="1798320"/>
            </a:xfrm>
            <a:prstGeom prst="roundRect">
              <a:avLst>
                <a:gd name="adj" fmla="val 74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4501515"/>
              <a:ext cx="47625" cy="15316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1258" y="45491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2977" y="45820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17233" y="45896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原课件的两处笔误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44780" y="4905851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6 行原写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Map.remove("cat")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，用接口名调用实例方法，报「无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法从静态上下文中引用非静态方法」，应为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map.remove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44780" y="5433536"/>
              <a:ext cx="4691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输出原写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{cat = red, dog = red}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，实际等号两边没有空格。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31892" cy="909257"/>
            <a:chOff x="520446" y="342900"/>
            <a:chExt cx="25318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5318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的常用方法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5626418" cy="3813810"/>
            <a:chOff x="533400" y="1524000"/>
            <a:chExt cx="5626418" cy="3813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959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增删查方法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530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724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put(K, V)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78836" y="202311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将值与键关联；键已存在时替换旧值，并返回旧值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874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putAll(Map)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78836" y="2404110"/>
              <a:ext cx="2510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将指定 Map 中的所有映射复制到此 Map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clear()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78836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删除所有映射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1181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remove(Object)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78836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删除键和关联的值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90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get(Object)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78836" y="354806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通过键查找值，找不到返回 null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811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93001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8836" y="39300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返回键值对个数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89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311015"/>
              <a:ext cx="743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isEmpty()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78836" y="43110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判断是否为空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570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57485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4692015"/>
              <a:ext cx="1527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containsKey(Object)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78836" y="4692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判断是否存在指定键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520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5073968"/>
              <a:ext cx="1653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containsValue(Object)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78836" y="507396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判断是否存在指定值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5626418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7939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5502592"/>
            <a:ext cx="5626418" cy="702945"/>
            <a:chOff x="533400" y="5502592"/>
            <a:chExt cx="5626418" cy="702945"/>
          </a:xfrm>
        </p:grpSpPr>
        <p:sp>
          <p:nvSpPr>
            <p:cNvPr id="43" name="Rectangle 43"/>
            <p:cNvSpPr/>
            <p:nvPr/>
          </p:nvSpPr>
          <p:spPr>
            <a:xfrm>
              <a:off x="533400" y="5502592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5750361"/>
              <a:ext cx="224134" cy="192560"/>
              <a:chOff x="726129" y="5750361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58207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57503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8985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5647849"/>
              <a:ext cx="4605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get 返回 null 有两种可能：键不存在，或者存的值就是 null。要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区分就用 containsKey。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464618" y="1524000"/>
            <a:ext cx="5193982" cy="1525905"/>
            <a:chOff x="6464618" y="1524000"/>
            <a:chExt cx="5193982" cy="1525905"/>
          </a:xfrm>
        </p:grpSpPr>
        <p:sp>
          <p:nvSpPr>
            <p:cNvPr id="50" name="Rectangle 50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5954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视图方法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98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9296" y="2023110"/>
              <a:ext cx="669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keySet()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25231" y="2023110"/>
              <a:ext cx="1606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将所有键打包成 Set 返回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9296" y="2404110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values()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25231" y="2404110"/>
              <a:ext cx="2043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将所有值打包成 Collection 返回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9296" y="2785110"/>
              <a:ext cx="832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entrySet()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25231" y="2785110"/>
              <a:ext cx="24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返回键值对实体（Map.Entry）的 Set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1524000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22579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ode-2"/>
          <p:cNvGrpSpPr/>
          <p:nvPr/>
        </p:nvGrpSpPr>
        <p:grpSpPr>
          <a:xfrm>
            <a:off x="6464618" y="3214688"/>
            <a:ext cx="5193982" cy="1406842"/>
            <a:chOff x="6464618" y="3214688"/>
            <a:chExt cx="5193982" cy="1406842"/>
          </a:xfrm>
        </p:grpSpPr>
        <p:sp>
          <p:nvSpPr>
            <p:cNvPr id="65" name="Rectangle 65"/>
            <p:cNvSpPr/>
            <p:nvPr/>
          </p:nvSpPr>
          <p:spPr>
            <a:xfrm>
              <a:off x="6464618" y="3214688"/>
              <a:ext cx="5193982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93015" y="3366611"/>
              <a:ext cx="1687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查询类方法（JDK 21 实测）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93205" y="3625691"/>
              <a:ext cx="2357882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Map&lt;Integer, String&gt; m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m.put(1,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m.get(1);        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"abc"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m.get(2);        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null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m.containsKey(1);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m.containsValue(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</a:p>
          </p:txBody>
        </p:sp>
      </p:grpSp>
      <p:grpSp>
        <p:nvGrpSpPr>
          <p:cNvPr id="74" name="c2-card-3"/>
          <p:cNvGrpSpPr/>
          <p:nvPr/>
        </p:nvGrpSpPr>
        <p:grpSpPr>
          <a:xfrm>
            <a:off x="6464618" y="4786312"/>
            <a:ext cx="5193982" cy="1419225"/>
            <a:chOff x="6464618" y="4786312"/>
            <a:chExt cx="5193982" cy="1419225"/>
          </a:xfrm>
        </p:grpSpPr>
        <p:sp>
          <p:nvSpPr>
            <p:cNvPr id="69" name="Rectangle 69"/>
            <p:cNvSpPr/>
            <p:nvPr/>
          </p:nvSpPr>
          <p:spPr>
            <a:xfrm>
              <a:off x="6464618" y="4786312"/>
              <a:ext cx="5193982" cy="1419225"/>
            </a:xfrm>
            <a:prstGeom prst="roundRect">
              <a:avLst>
                <a:gd name="adj" fmla="val 939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645592" y="4967288"/>
              <a:ext cx="178593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93733" y="5000149"/>
              <a:ext cx="1690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 Set 和 Collection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39353" y="50068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键唯一，值可重复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39116" y="5323046"/>
              <a:ext cx="45808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键不会重复，keySet() 就返回 Set；值可能重复，values() 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 Collection。好比学号不会重复，姓名却可能相同。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7826" cy="909257"/>
            <a:chOff x="520446" y="342900"/>
            <a:chExt cx="73378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78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的遍历：先取出三种视图之一，再用迭代器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626995"/>
            <a:chOff x="533400" y="1524000"/>
            <a:chExt cx="5410200" cy="2626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为什么不能直接遍历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7440" y="1768792"/>
              <a:ext cx="3395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没有继承 Iterable，也没有下标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96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键值对元素无序，无法用索引；它也不是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Iterable，不能直接取迭代器。Map 接口提供三种集合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视图：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2322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keySet()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：生成键的 Set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2888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values()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：生成值的 Collection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707130"/>
              <a:ext cx="29484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entrySet()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：生成键值对的 Set</a:t>
              </a:r>
            </a:p>
          </p:txBody>
        </p:sp>
      </p:grpSp>
      <p:grpSp>
        <p:nvGrpSpPr>
          <p:cNvPr id="23" name="c1-code-2"/>
          <p:cNvGrpSpPr/>
          <p:nvPr/>
        </p:nvGrpSpPr>
        <p:grpSpPr>
          <a:xfrm>
            <a:off x="533400" y="4341495"/>
            <a:ext cx="5410200" cy="1737360"/>
            <a:chOff x="533400" y="4341495"/>
            <a:chExt cx="5410200" cy="1737360"/>
          </a:xfrm>
        </p:grpSpPr>
        <p:sp>
          <p:nvSpPr>
            <p:cNvPr id="20" name="Rectangle 20"/>
            <p:cNvSpPr/>
            <p:nvPr/>
          </p:nvSpPr>
          <p:spPr>
            <a:xfrm>
              <a:off x="533400" y="434149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797" y="4493419"/>
              <a:ext cx="21685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方法一：遍历值（原课件第 105 页）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797" y="4753451"/>
              <a:ext cx="3227197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byValue(Map&lt;String, Student&gt; map)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Collection&lt;Student&gt; c = map.values();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Iterator it;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 = c.iterator(); it.hasNext(); 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Student s = (Student) it.next();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1912620"/>
            <a:chOff x="6248400" y="1524000"/>
            <a:chExt cx="5410200" cy="191262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方法二：通过键遍历值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797" y="1935956"/>
              <a:ext cx="3227197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byKey(Map&lt;String, Student&gt; map)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Set&lt;String&gt; key = map.keySet();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Iterator it;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 = key.iterator(); it.hasNext(); 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 = (String) it.next();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Student value = map.get(s);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code-2"/>
          <p:cNvGrpSpPr/>
          <p:nvPr/>
        </p:nvGrpSpPr>
        <p:grpSpPr>
          <a:xfrm>
            <a:off x="6248400" y="3627120"/>
            <a:ext cx="5410200" cy="2088832"/>
            <a:chOff x="6248400" y="3627120"/>
            <a:chExt cx="5410200" cy="2088832"/>
          </a:xfrm>
        </p:grpSpPr>
        <p:sp>
          <p:nvSpPr>
            <p:cNvPr id="28" name="Rectangle 28"/>
            <p:cNvSpPr/>
            <p:nvPr/>
          </p:nvSpPr>
          <p:spPr>
            <a:xfrm>
              <a:off x="6248400" y="362712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797" y="3779044"/>
              <a:ext cx="2696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方法三：遍历键值对实体（原课件第 106 页）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797" y="4040029"/>
              <a:ext cx="3911727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byEntry(Map&lt;String, Student&gt; map)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Set&lt;Map.Entry&lt;String, Student&gt;&gt; set = map.entrySet();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Iterator&lt;Map.Entry&lt;String, Student&gt;&gt; it;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 = set.iterator(); it.hasNext(); 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Map.Entry&lt;String, Student&gt; entry = it.next();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System.out.println(entry.getKey()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"---&gt;"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+ entry.getValue());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三种遍历的实测结果，以及更短的写法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360170"/>
            <a:chOff x="533400" y="1524000"/>
            <a:chExt cx="5626418" cy="1360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准备数据并调用三个方法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226892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Map&lt;String, Student&gt; map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LinkedHashMap&lt;&gt;();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map.put(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"S01"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90));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map.put(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"S02"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"李四"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85));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byValue(map); byKey(map); byEntry(map);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Student 的 toString() 返回 姓名(分数)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068955"/>
            <a:ext cx="5626418" cy="1189672"/>
            <a:chOff x="533400" y="3068955"/>
            <a:chExt cx="5626418" cy="1189672"/>
          </a:xfrm>
        </p:grpSpPr>
        <p:sp>
          <p:nvSpPr>
            <p:cNvPr id="11" name="Rectangle 11"/>
            <p:cNvSpPr/>
            <p:nvPr/>
          </p:nvSpPr>
          <p:spPr>
            <a:xfrm>
              <a:off x="533400" y="3068955"/>
              <a:ext cx="5626418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220879"/>
              <a:ext cx="2696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输出（在 byValue、byKey 里补了打印语句）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3481292"/>
              <a:ext cx="1603324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张三(90) 李四(85)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S01:张三(90) S02:李四(85)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S01---&gt;张三(90)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S02---&gt;李四(85)</a:t>
              </a:r>
            </a:p>
          </p:txBody>
        </p:sp>
      </p:grpSp>
      <p:grpSp>
        <p:nvGrpSpPr>
          <p:cNvPr id="22" name="c1-card-3"/>
          <p:cNvGrpSpPr/>
          <p:nvPr/>
        </p:nvGrpSpPr>
        <p:grpSpPr>
          <a:xfrm>
            <a:off x="533400" y="4443412"/>
            <a:ext cx="5626418" cy="1884998"/>
            <a:chOff x="533400" y="4443412"/>
            <a:chExt cx="5626418" cy="1884998"/>
          </a:xfrm>
        </p:grpSpPr>
        <p:sp>
          <p:nvSpPr>
            <p:cNvPr id="15" name="Rectangle 15"/>
            <p:cNvSpPr/>
            <p:nvPr/>
          </p:nvSpPr>
          <p:spPr>
            <a:xfrm>
              <a:off x="533400" y="4443412"/>
              <a:ext cx="5626418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57676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647248"/>
              <a:ext cx="97917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780" y="4682966"/>
              <a:ext cx="8382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Map.Entry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61566" y="4687729"/>
              <a:ext cx="2174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内部定义的一个接口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5039201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专门保存一个键值对，getKey() 取键，getValue() 取值，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setValue() 改值。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5630704"/>
              <a:ext cx="49287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entrySet() 里的每个元素都是一个 Map.Entry，所以方法三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 entry 后直接取键和值，不用再调 get。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6464618" y="1524000"/>
            <a:ext cx="5193982" cy="1530668"/>
            <a:chOff x="6464618" y="1524000"/>
            <a:chExt cx="5193982" cy="1530668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3015" y="1675924"/>
              <a:ext cx="2654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for-each 与 forEach（Java 5 / Java 8）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3167" y="1936337"/>
              <a:ext cx="4343095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(Map.Entry&lt;String, Student&gt; e : map.entrySet())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System.out.print(e.getKey()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e.getValue().score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S01=90 S02=85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map.forEach((k, v) -&gt; System.out.print(k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"-&gt;"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v.name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S01-&gt;张三 S02-&gt;李四</a:t>
              </a:r>
            </a:p>
          </p:txBody>
        </p:sp>
      </p:grpSp>
      <p:grpSp>
        <p:nvGrpSpPr>
          <p:cNvPr id="42" name="c2-table-2"/>
          <p:cNvGrpSpPr/>
          <p:nvPr/>
        </p:nvGrpSpPr>
        <p:grpSpPr>
          <a:xfrm>
            <a:off x="6464618" y="3239452"/>
            <a:ext cx="5193982" cy="1720215"/>
            <a:chOff x="6464618" y="3239452"/>
            <a:chExt cx="5193982" cy="1720215"/>
          </a:xfrm>
        </p:grpSpPr>
        <p:sp>
          <p:nvSpPr>
            <p:cNvPr id="27" name="Rectangle 27"/>
            <p:cNvSpPr/>
            <p:nvPr/>
          </p:nvSpPr>
          <p:spPr>
            <a:xfrm>
              <a:off x="6464618" y="3239452"/>
              <a:ext cx="5193982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76122" y="33708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73590" y="33708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9964" y="3801427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values()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28254" y="380142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只要值，不关心键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40947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4618" y="4099560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9964" y="4231005"/>
              <a:ext cx="765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keySet()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8254" y="4231005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要键；取值还得再 get 一次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4525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4539615"/>
              <a:ext cx="153924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9964" y="4661535"/>
              <a:ext cx="951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entrySet()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8254" y="466153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键和值都要，只查一遍，效率最高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239452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18145" y="32394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3"/>
          <p:cNvGrpSpPr/>
          <p:nvPr/>
        </p:nvGrpSpPr>
        <p:grpSpPr>
          <a:xfrm>
            <a:off x="6464618" y="5145405"/>
            <a:ext cx="5193982" cy="1183005"/>
            <a:chOff x="6464618" y="5145405"/>
            <a:chExt cx="5193982" cy="1183005"/>
          </a:xfrm>
        </p:grpSpPr>
        <p:sp>
          <p:nvSpPr>
            <p:cNvPr id="43" name="Rectangle 43"/>
            <p:cNvSpPr/>
            <p:nvPr/>
          </p:nvSpPr>
          <p:spPr>
            <a:xfrm>
              <a:off x="6464618" y="5145405"/>
              <a:ext cx="5193982" cy="1183005"/>
            </a:xfrm>
            <a:prstGeom prst="roundRect">
              <a:avLst>
                <a:gd name="adj" fmla="val 96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5636895"/>
              <a:ext cx="200026" cy="200026"/>
              <a:chOff x="6669405" y="5636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69405" y="5636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69418" y="5703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58305" y="5736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729" y="5375434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这里用 LinkedHashMap 让输出顺序固定。换成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HashMap，JDK 的实现里三种视图按同样的桶顺序遍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历，只是不一定是插入顺序。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98820" cy="909257"/>
            <a:chOff x="520446" y="342900"/>
            <a:chExt cx="89988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988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 与 HashSet：HashSet 内部就是一个 HashMap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1972" y="1545907"/>
            <a:ext cx="5497581" cy="1704214"/>
            <a:chOff x="541972" y="1545907"/>
            <a:chExt cx="5497581" cy="1704214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必须保持「键」的单一性，这和 Set 必须保持元素的单一性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是一致的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216789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2111692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内部维护着一个 HashMap：「键」就是要存入的对象，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「值」是一个常量 PRESENT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73367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677477"/>
              <a:ext cx="4311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HashSet 的 add() 调用内部 HashMap 的 put()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972" y="304228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992" y="2986088"/>
              <a:ext cx="5341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所以作为 HashMap 键的类，也需要重写 equals() 与 hashCode()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367088"/>
            <a:ext cx="5410200" cy="1128712"/>
            <a:chOff x="533400" y="3367088"/>
            <a:chExt cx="5410200" cy="1128712"/>
          </a:xfrm>
        </p:grpSpPr>
        <p:sp>
          <p:nvSpPr>
            <p:cNvPr id="16" name="Rectangle 16"/>
            <p:cNvSpPr/>
            <p:nvPr/>
          </p:nvSpPr>
          <p:spPr>
            <a:xfrm>
              <a:off x="533400" y="3367088"/>
              <a:ext cx="5410200" cy="1128712"/>
            </a:xfrm>
            <a:prstGeom prst="roundRect">
              <a:avLst>
                <a:gd name="adj" fmla="val 843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519011"/>
              <a:ext cx="20184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源码里 HashSet.add 的实现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988" y="3778663"/>
              <a:ext cx="3073146" cy="630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PRESENT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add(E e)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map.put(e, PRESENT) ==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665345"/>
            <a:ext cx="5410200" cy="1644968"/>
            <a:chOff x="533400" y="4665345"/>
            <a:chExt cx="5410200" cy="1644968"/>
          </a:xfrm>
        </p:grpSpPr>
        <p:sp>
          <p:nvSpPr>
            <p:cNvPr id="20" name="Rectangle 20"/>
            <p:cNvSpPr/>
            <p:nvPr/>
          </p:nvSpPr>
          <p:spPr>
            <a:xfrm>
              <a:off x="533400" y="4665345"/>
              <a:ext cx="5410200" cy="1644968"/>
            </a:xfrm>
            <a:prstGeom prst="roundRect">
              <a:avLst>
                <a:gd name="adj" fmla="val 8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798695"/>
              <a:ext cx="47625" cy="137826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85203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6811" y="48848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读源码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8562" y="4887278"/>
              <a:ext cx="1657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的返回值从哪来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5213033"/>
              <a:ext cx="45657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 对新键返回 null，对已有的键返回旧值（这里是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PRESENT）。所以 add 新元素返回 true，add 重复元素返回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false：实测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hs.add("x")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两次，依次得到 true、false。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248400" y="1524000"/>
            <a:ext cx="5410200" cy="2000250"/>
            <a:chOff x="6248400" y="1524000"/>
            <a:chExt cx="5410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317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790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5555" y="2045494"/>
              <a:ext cx="839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09635" y="2045494"/>
              <a:ext cx="2773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空的 HashMap，容量 16，载入因子 0.75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2333625"/>
              <a:ext cx="214503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5555" y="2445544"/>
              <a:ext cx="1138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HashMap(Map)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09635" y="2445544"/>
              <a:ext cx="114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从其他 Map 构造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5555" y="2845594"/>
              <a:ext cx="106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HashMap(int)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635" y="2845594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指定初始容量，载入因子 0.75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5555" y="3245644"/>
              <a:ext cx="1590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HashMap(int, float)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09635" y="32456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指定初始容量与载入因子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0771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248400" y="3693795"/>
            <a:ext cx="5410200" cy="1716405"/>
            <a:chOff x="6248400" y="3693795"/>
            <a:chExt cx="5410200" cy="1716405"/>
          </a:xfrm>
        </p:grpSpPr>
        <p:sp>
          <p:nvSpPr>
            <p:cNvPr id="47" name="Rectangle 47"/>
            <p:cNvSpPr/>
            <p:nvPr/>
          </p:nvSpPr>
          <p:spPr>
            <a:xfrm>
              <a:off x="6248400" y="3693795"/>
              <a:ext cx="5410200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3827145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3190" y="38804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862" y="39133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38784" y="3915727"/>
              <a:ext cx="2442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108 页的构造方法表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6332" y="4241482"/>
              <a:ext cx="472859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说明栏写的是「构造空的 HashSet」等，应为 HashMap。另外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 没有 HashMap(Collection) 构造方法，只有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HashMap(Map)；传入 List 实测编译报错「无法推断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HashMap&lt;&gt; 的类型参数」。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248400" y="5580698"/>
            <a:ext cx="5410200" cy="729615"/>
            <a:chOff x="6248400" y="5580698"/>
            <a:chExt cx="5410200" cy="729615"/>
          </a:xfrm>
        </p:grpSpPr>
        <p:sp>
          <p:nvSpPr>
            <p:cNvPr id="54" name="Rectangle 54"/>
            <p:cNvSpPr/>
            <p:nvPr/>
          </p:nvSpPr>
          <p:spPr>
            <a:xfrm>
              <a:off x="6248400" y="558069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5845493"/>
              <a:ext cx="200026" cy="200026"/>
              <a:chOff x="6453188" y="5845493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8454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53200" y="5912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42088" y="59455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892" y="5727383"/>
              <a:ext cx="43256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容量与载入因子的作用和 HashSet 中的一样：默认 16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桶，元素数超过 12 时扩到 32。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37144" cy="909257"/>
            <a:chOff x="520446" y="342900"/>
            <a:chExt cx="86371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371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 Map：按键排序、按插入顺序、弱引用、按 == 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626418" cy="2790825"/>
            <a:chOff x="533400" y="1524000"/>
            <a:chExt cx="5626418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0447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2336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191702"/>
              <a:ext cx="710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TreeMap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6576" y="2085022"/>
              <a:ext cx="3502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特点同 TreeSet，基于红黑树，按「键」排序；有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subMap() 方法，可以取出键在某一范围内的子映射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27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97468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835592"/>
              <a:ext cx="123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LinkedHashMap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6576" y="2728912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把每一个键值对用双向链表串起来，类似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LinkedHashSet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365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3479482"/>
              <a:ext cx="112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WeakHashMap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6576" y="3372802"/>
              <a:ext cx="34335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map 之外的引用指向某个键时，这个键可以被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垃圾收集器回收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879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88429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4015740"/>
              <a:ext cx="1375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IdentityHashMap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6576" y="4015740"/>
              <a:ext cx="3154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== 代替 equals() 对键作比较的哈希映射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1646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4500562"/>
            <a:ext cx="5626418" cy="1836420"/>
            <a:chOff x="533400" y="4500562"/>
            <a:chExt cx="5626418" cy="1836420"/>
          </a:xfrm>
        </p:grpSpPr>
        <p:sp>
          <p:nvSpPr>
            <p:cNvPr id="26" name="Rectangle 26"/>
            <p:cNvSpPr/>
            <p:nvPr/>
          </p:nvSpPr>
          <p:spPr>
            <a:xfrm>
              <a:off x="533400" y="4500562"/>
              <a:ext cx="5626418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633912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753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55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76744" y="4743926"/>
              <a:ext cx="1421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109 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5095399"/>
              <a:ext cx="490169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IdentifyHashMap 应为 IdentityHashMap。「TreeMap 是唯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一带有 subMap() 的 Map」已过时：subMap 声明在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SortedMap 接口里，JDK 6 起的 ConcurrentSkipListMap 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实现了它。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464618" y="1524000"/>
            <a:ext cx="5193982" cy="1530668"/>
            <a:chOff x="6464618" y="1524000"/>
            <a:chExt cx="5193982" cy="1530668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93015" y="1675924"/>
              <a:ext cx="2122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四个键，三种 Map（JDK 21 实测）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93167" y="1936337"/>
              <a:ext cx="3226892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String[] ks = {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"pear"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"apple"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"fig"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"banana"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依次 put(k, k.length())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HashMap       {banana=6, apple=5, pear=4, fig=3}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LinkedHashMap {pear=4, apple=5, fig=3, banana=6}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TreeMap       {apple=5, banana=6, fig=3, pear=4}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t.subMap(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→  {banana=6, fig=3}</a:t>
              </a:r>
            </a:p>
          </p:txBody>
        </p:sp>
      </p:grpSp>
      <p:grpSp>
        <p:nvGrpSpPr>
          <p:cNvPr id="40" name="c2-code-2"/>
          <p:cNvGrpSpPr/>
          <p:nvPr/>
        </p:nvGrpSpPr>
        <p:grpSpPr>
          <a:xfrm>
            <a:off x="6464618" y="3239452"/>
            <a:ext cx="5193982" cy="1018222"/>
            <a:chOff x="6464618" y="3239452"/>
            <a:chExt cx="5193982" cy="1018222"/>
          </a:xfrm>
        </p:grpSpPr>
        <p:sp>
          <p:nvSpPr>
            <p:cNvPr id="37" name="Rectangle 37"/>
            <p:cNvSpPr/>
            <p:nvPr/>
          </p:nvSpPr>
          <p:spPr>
            <a:xfrm>
              <a:off x="6464618" y="3239452"/>
              <a:ext cx="5193982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3015" y="3391376"/>
              <a:ext cx="1909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IdentityHashMap 与 HashMap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93167" y="3651790"/>
              <a:ext cx="3292551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k1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"k"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), k2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"k"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id.put(k1, 1); id.put(k2, 2);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id.size() == 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hm.put(k1, 1); hm.put(k2, 2);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hm.size() == 1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6464618" y="4443412"/>
            <a:ext cx="5193982" cy="1892618"/>
            <a:chOff x="6464618" y="4443412"/>
            <a:chExt cx="5193982" cy="1892618"/>
          </a:xfrm>
        </p:grpSpPr>
        <p:sp>
          <p:nvSpPr>
            <p:cNvPr id="41" name="Rectangle 41"/>
            <p:cNvSpPr/>
            <p:nvPr/>
          </p:nvSpPr>
          <p:spPr>
            <a:xfrm>
              <a:off x="6464618" y="4443412"/>
              <a:ext cx="5193982" cy="1892618"/>
            </a:xfrm>
            <a:prstGeom prst="roundRect">
              <a:avLst>
                <a:gd name="adj" fmla="val 7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576762"/>
              <a:ext cx="47625" cy="16259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06552" y="464724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2811" y="46829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49884" y="468772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看你要的顺序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9314" y="5039201"/>
              <a:ext cx="422541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只按键查值用 HashMap；要按键排序或取一段范围用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TreeMap，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subMap(from, to)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含头不含尾，和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copyOfRange 一样；要记住插入顺序用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LinkedHashMap。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9425" cy="909257"/>
            <a:chOff x="520446" y="342900"/>
            <a:chExt cx="84794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94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Collections 工具类：对 List 排序、查找、反转、拷贝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193982" cy="3146108"/>
            <a:chOff x="533400" y="1524000"/>
            <a:chExt cx="5193982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75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340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07158" y="2108359"/>
              <a:ext cx="23782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List 按升序排序，元素须实现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Comparable；也可以传比较器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1367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binarySearch()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07158" y="2783681"/>
              <a:ext cx="2473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二分查找，List 必须已经排好序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reverse()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07158" y="3232309"/>
              <a:ext cx="20093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List 中的元素逆序排列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79428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copy(dest, src)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07158" y="3680936"/>
              <a:ext cx="27846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src 的元素拷到 dest 前部并覆盖；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dest 不能比 src 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167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357211"/>
              <a:ext cx="1243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max() / min()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07158" y="435721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返回集合中的最大、最小元素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193982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9457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860608"/>
            <a:ext cx="5193982" cy="1074420"/>
            <a:chOff x="533400" y="4860608"/>
            <a:chExt cx="5193982" cy="1074420"/>
          </a:xfrm>
        </p:grpSpPr>
        <p:sp>
          <p:nvSpPr>
            <p:cNvPr id="29" name="Rectangle 29"/>
            <p:cNvSpPr/>
            <p:nvPr/>
          </p:nvSpPr>
          <p:spPr>
            <a:xfrm>
              <a:off x="533400" y="4860608"/>
              <a:ext cx="5193982" cy="1074420"/>
            </a:xfrm>
            <a:prstGeom prst="roundRect">
              <a:avLst>
                <a:gd name="adj" fmla="val 1063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297805"/>
              <a:ext cx="200026" cy="200026"/>
              <a:chOff x="738188" y="5297805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2978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364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3978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016818"/>
              <a:ext cx="4053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Collections（带 s）是工具类，全是静态方法；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Collection（不带 s）是接口。Arrays 管数组，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Collections 管集合。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032182" y="1524000"/>
            <a:ext cx="5626418" cy="2264092"/>
            <a:chOff x="6032182" y="1524000"/>
            <a:chExt cx="5626418" cy="2264092"/>
          </a:xfrm>
        </p:grpSpPr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60580" y="1675924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实测（JDK 21）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60580" y="1935956"/>
              <a:ext cx="4596257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List&lt;Integer&gt; a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ArrayList&lt;&gt;(List.of(28, 14, 117, 66, 1, 70));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Collections.sort(a);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[1, 14, 28, 66, 70, 117]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Collections.binarySearch(a, 66);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Collections.reverse(a);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[117, 70, 66, 28, 14, 1]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Collections.max(a);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117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List&lt;Integer&gt; dest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ArrayList&lt;&gt;(List.of(0,0,0,0,0,0,0,0));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Collections.copy(dest, a);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[117, 70, 66, 28, 14, 1, 0, 0]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Collections.copy(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ArrayList&lt;Integer&gt;(10), a);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IndexOutOfBoundsException: Source does not fit in dest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Collections.sort(a, Collections.reverseOrder());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032182" y="3978592"/>
            <a:ext cx="5626418" cy="1956435"/>
            <a:chOff x="6032182" y="3978592"/>
            <a:chExt cx="5626418" cy="1956435"/>
          </a:xfrm>
        </p:grpSpPr>
        <p:sp>
          <p:nvSpPr>
            <p:cNvPr id="40" name="Rectangle 40"/>
            <p:cNvSpPr/>
            <p:nvPr/>
          </p:nvSpPr>
          <p:spPr>
            <a:xfrm>
              <a:off x="6032182" y="3978592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4111942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79832" y="41881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0041" y="42238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9908" y="4223385"/>
              <a:ext cx="2637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 看的是 size，不是容量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2212" y="4584382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ArrayList&lt;&gt;(10)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size 是 0，拿它当 dest 照样抛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异常。要先往 dest 里放够元素。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2212" y="5205412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 只覆盖 dest 的前 src.size() 个位置，后面的保持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原值：上例 dest 末尾的两个 0 没有变。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 · 7.3 容器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容器怎么选：先定接口，再按操作特点定实现类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722948" y="1786890"/>
            <a:ext cx="5031105" cy="4092892"/>
            <a:chOff x="722948" y="1786890"/>
            <a:chExt cx="5031105" cy="4092892"/>
          </a:xfrm>
        </p:grpSpPr>
        <p:sp>
          <p:nvSpPr>
            <p:cNvPr id="7" name="Freeform 7"/>
            <p:cNvSpPr/>
            <p:nvPr/>
          </p:nvSpPr>
          <p:spPr>
            <a:xfrm>
              <a:off x="3048952" y="210121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23272" y="2048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85950" y="2402205"/>
              <a:ext cx="9525" cy="339090"/>
            </a:xfrm>
            <a:custGeom>
              <a:avLst/>
              <a:gdLst/>
              <a:ahLst/>
              <a:cxnLst/>
              <a:rect l="l" t="t" r="r" b="b"/>
              <a:pathLst>
                <a:path w="9525" h="339090">
                  <a:moveTo>
                    <a:pt x="0" y="0"/>
                  </a:moveTo>
                  <a:lnTo>
                    <a:pt x="0" y="3390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3562" y="2741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48952" y="325564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23272" y="3203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3666172"/>
              <a:ext cx="9525" cy="339090"/>
            </a:xfrm>
            <a:custGeom>
              <a:avLst/>
              <a:gdLst/>
              <a:ahLst/>
              <a:cxnLst/>
              <a:rect l="l" t="t" r="r" b="b"/>
              <a:pathLst>
                <a:path w="9525" h="339090">
                  <a:moveTo>
                    <a:pt x="0" y="0"/>
                  </a:moveTo>
                  <a:lnTo>
                    <a:pt x="0" y="3390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33562" y="40052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48952" y="441007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23272" y="43576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85950" y="4711065"/>
              <a:ext cx="9525" cy="434340"/>
            </a:xfrm>
            <a:custGeom>
              <a:avLst/>
              <a:gdLst/>
              <a:ahLst/>
              <a:cxnLst/>
              <a:rect l="l" t="t" r="r" b="b"/>
              <a:pathLst>
                <a:path w="9525" h="434340">
                  <a:moveTo>
                    <a:pt x="0" y="0"/>
                  </a:moveTo>
                  <a:lnTo>
                    <a:pt x="0" y="434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33562" y="51454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22948" y="1800225"/>
              <a:ext cx="2326005" cy="601980"/>
            </a:xfrm>
            <a:custGeom>
              <a:avLst/>
              <a:gdLst/>
              <a:ahLst/>
              <a:cxnLst/>
              <a:rect l="l" t="t" r="r" b="b"/>
              <a:pathLst>
                <a:path w="2326005" h="601980">
                  <a:moveTo>
                    <a:pt x="1163002" y="0"/>
                  </a:moveTo>
                  <a:lnTo>
                    <a:pt x="2326005" y="300990"/>
                  </a:lnTo>
                  <a:lnTo>
                    <a:pt x="1163002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28048" y="178689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2948" y="2846070"/>
              <a:ext cx="2326005" cy="820102"/>
            </a:xfrm>
            <a:custGeom>
              <a:avLst/>
              <a:gdLst/>
              <a:ahLst/>
              <a:cxnLst/>
              <a:rect l="l" t="t" r="r" b="b"/>
              <a:pathLst>
                <a:path w="2326005" h="820102">
                  <a:moveTo>
                    <a:pt x="1163002" y="0"/>
                  </a:moveTo>
                  <a:lnTo>
                    <a:pt x="2326005" y="409575"/>
                  </a:lnTo>
                  <a:lnTo>
                    <a:pt x="1163002" y="820102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28048" y="294132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22948" y="4110038"/>
              <a:ext cx="2326005" cy="601028"/>
            </a:xfrm>
            <a:custGeom>
              <a:avLst/>
              <a:gdLst/>
              <a:ahLst/>
              <a:cxnLst/>
              <a:rect l="l" t="t" r="r" b="b"/>
              <a:pathLst>
                <a:path w="2326005" h="601028">
                  <a:moveTo>
                    <a:pt x="1163002" y="0"/>
                  </a:moveTo>
                  <a:lnTo>
                    <a:pt x="2326005" y="300038"/>
                  </a:lnTo>
                  <a:lnTo>
                    <a:pt x="1163002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28048" y="419100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2948" y="525018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76375" y="201215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需要按键查值？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5885" y="1902619"/>
              <a:ext cx="13703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要排序用 TreeMap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10513" y="3057049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按顺序存、可重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66109" y="3057049"/>
              <a:ext cx="184988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头部增删多用 LinkedList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48689" y="43210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需要有序？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47505" y="4321016"/>
              <a:ext cx="687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0417" y="5366861"/>
              <a:ext cx="167106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 按值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LinkedHashSet 按插入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24200" y="188499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62490" y="19116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14525" y="253174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37766" y="25584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24200" y="303942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62490" y="3066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14525" y="379571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37766" y="38223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124200" y="41938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62490" y="42205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14525" y="488823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937766" y="49149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6248400" y="1524000"/>
            <a:ext cx="5410200" cy="3368040"/>
            <a:chOff x="6248400" y="1524000"/>
            <a:chExt cx="5410200" cy="3368040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67296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65753" y="1659731"/>
              <a:ext cx="179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112 页的建议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6223" y="2108359"/>
              <a:ext cx="874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9283" y="2108359"/>
              <a:ext cx="346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随机访问（调用 get()）和循环遍历效率最高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6223" y="2556986"/>
              <a:ext cx="92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LinkedList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79283" y="25569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在列表中部插入和删除效率很高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6223" y="3005614"/>
              <a:ext cx="770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 List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79283" y="30056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查找（按值找元素）效率都相当低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3328988"/>
              <a:ext cx="160401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6223" y="3454241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79283" y="345424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增删改查效率最高，大部分情况下选它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56223" y="4017169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TreeSet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79283" y="3903821"/>
              <a:ext cx="27683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查找为 O(log n)，比 List 快，比不上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4386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444341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6223" y="4579144"/>
              <a:ext cx="127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LinkedHashSet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79283" y="457914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既要高效存取、又要求元素有序时用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1524000"/>
              <a:ext cx="5410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866698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llout-2"/>
          <p:cNvGrpSpPr/>
          <p:nvPr/>
        </p:nvGrpSpPr>
        <p:grpSpPr>
          <a:xfrm>
            <a:off x="6248400" y="5082540"/>
            <a:ext cx="5410200" cy="1059180"/>
            <a:chOff x="6248400" y="5082540"/>
            <a:chExt cx="5410200" cy="1059180"/>
          </a:xfrm>
        </p:grpSpPr>
        <p:sp>
          <p:nvSpPr>
            <p:cNvPr id="73" name="Rectangle 73"/>
            <p:cNvSpPr/>
            <p:nvPr/>
          </p:nvSpPr>
          <p:spPr>
            <a:xfrm>
              <a:off x="6248400" y="508254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453188" y="5512118"/>
              <a:ext cx="200026" cy="200026"/>
              <a:chOff x="6453188" y="5512118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53188" y="55121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53200" y="5578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42088" y="56121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755130" y="5231130"/>
              <a:ext cx="4110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的选择与 Set 对应：HashMap、TreeMap、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LinkedHashMap 分别对应 HashSet、TreeSet、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LinkedHashSet。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984977" cy="264033"/>
            <a:chOff x="526542" y="1545907"/>
            <a:chExt cx="59849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984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先自己写答案，再对照。涉及编译报错和输出的题都在 JDK 21 上验证过。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257425"/>
            <a:chOff x="533400" y="1928812"/>
            <a:chExt cx="3505200" cy="22574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89879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int[] c = new int[3]; char[] d =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char[3]; String[] e = new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String[3]; 三个数组的元素默认值各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530918"/>
              <a:ext cx="26026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0、'\u0000'（编码为 0 的字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符）、null。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355782"/>
            <a:ext cx="3505200" cy="2000250"/>
            <a:chOff x="533400" y="4355782"/>
            <a:chExt cx="3505200" cy="2000250"/>
          </a:xfrm>
        </p:grpSpPr>
        <p:sp>
          <p:nvSpPr>
            <p:cNvPr id="15" name="Rectangle 15"/>
            <p:cNvSpPr/>
            <p:nvPr/>
          </p:nvSpPr>
          <p:spPr>
            <a:xfrm>
              <a:off x="53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887278"/>
              <a:ext cx="2583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List、Set、Map 各自的特点？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9455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 有序可重复、按索引访问；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 不重复、无索引；Map 存键值对，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键唯一、值可重复。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257425"/>
            <a:chOff x="4343400" y="1928812"/>
            <a:chExt cx="3505200" cy="22574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5922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方法里执行 para = new int[]{2,3};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调用者的数组会变吗？执行 para[0]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2; 呢？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27374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前者不变，只是参数这个副本改指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新数组；后者会变，两个引用指向同一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个数组。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355782"/>
            <a:ext cx="3505200" cy="2000250"/>
            <a:chOff x="4343400" y="4355782"/>
            <a:chExt cx="3505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887278"/>
              <a:ext cx="2906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Dog&lt;double&gt; d; 为什么编译不过？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类型参数必须是引用类型，应写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Dog&lt;Double&gt;。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257425"/>
            <a:chOff x="8153400" y="1928812"/>
            <a:chExt cx="3505200" cy="22574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6222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要按两种不同规则给 Employee 数组排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序，又不能改 Employee 的源代码，该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用哪个接口？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273742"/>
              <a:ext cx="27054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Comparator。写两个比较器类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（或两个 Lambda），调用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Arrays.sort(es, c)。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355782"/>
            <a:ext cx="3505200" cy="2000250"/>
            <a:chOff x="8153400" y="4355782"/>
            <a:chExt cx="3505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887278"/>
              <a:ext cx="2872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自定义类放进 HashSet 前要重写哪两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个方法？两者要满足什么关系？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444490"/>
              <a:ext cx="28254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 和 hashCode。equals 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的两个对象，hashCode 必须相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自测（二）：读程序写输出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865948"/>
            <a:chOff x="533400" y="1524000"/>
            <a:chExt cx="3505200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4536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int[][] a = new int[3][]; a[0]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new int[4]; 输出 a.length、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a[0].length、a[1]？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1237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4 null。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75685"/>
            <a:ext cx="3505200" cy="2680335"/>
            <a:chOff x="533400" y="3575685"/>
            <a:chExt cx="3505200" cy="2680335"/>
          </a:xfrm>
        </p:grpSpPr>
        <p:sp>
          <p:nvSpPr>
            <p:cNvPr id="13" name="Rectangle 13"/>
            <p:cNvSpPr/>
            <p:nvPr/>
          </p:nvSpPr>
          <p:spPr>
            <a:xfrm>
              <a:off x="53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152424"/>
              <a:ext cx="241074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HashMap 先 put("a", 1) 再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put("a", 2)，size() 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get("a")？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015389"/>
              <a:ext cx="28909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和 2。同一个键再 put 会覆盖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旧值。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865948"/>
            <a:chOff x="4343400" y="1524000"/>
            <a:chExt cx="3505200" cy="186594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9801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List&lt;String&gt; l 依次 add x、y、x，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 l.remove("x")，打印 l？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9359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[y, x]。remove(Object) 只删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第一个相等的元素。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575685"/>
            <a:ext cx="3505200" cy="2680335"/>
            <a:chOff x="4343400" y="3575685"/>
            <a:chExt cx="3505200" cy="26803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152424"/>
              <a:ext cx="292110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List&lt;Integer&gt; li 为 [10, 20,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30]，先 li.remove(1)，再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li.remove(Integer.valueOf(10)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)，结果？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286851"/>
              <a:ext cx="28277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[30]。第一次按下标删掉 20，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第二次按值删掉 10。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865948"/>
            <a:chOff x="8153400" y="1524000"/>
            <a:chExt cx="3505200" cy="186594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6654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TreeSet&lt;&gt;(List.of("b",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"a", "b", "c")) 打印出来是？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8007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[a, b, c]。去重并按字典序排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575685"/>
            <a:ext cx="3505200" cy="2680335"/>
            <a:chOff x="8153400" y="3575685"/>
            <a:chExt cx="3505200" cy="26803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152424"/>
              <a:ext cx="28111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边用 for-each 遍历 ArrayList，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边调用 list.remove(元素)，会怎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945003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ConcurrentModificationException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。要删元素就用 Iterator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第7章 对象的容纳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26923" y="1545431"/>
            <a:ext cx="5214747" cy="2350580"/>
            <a:chOff x="526923" y="1545431"/>
            <a:chExt cx="5214747" cy="235058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三节各自的落点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3546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5307" y="18701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148" y="1846421"/>
              <a:ext cx="48166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 数组长度固定、按下标访问，变量里存的是引用。Arrays 提供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sort、binarySearch、copyOf、equals、asList；对象排序靠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Comparable（类内）或 Comparator（类外）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61366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307" y="26492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148" y="2625566"/>
              <a:ext cx="4865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enum 定义取值有限的类型，可用在 switch 里，自带 values、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ordinal、valueOf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4991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31855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3160871"/>
              <a:ext cx="49385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 List 有序可重复，Set 不重复，Map 存键值对。泛型让容器在编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译时检查元素类型；HashSet、HashMap 依赖 hashCode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equals，TreeSet、TreeMap 依赖比较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10978"/>
            <a:ext cx="5410200" cy="2173605"/>
            <a:chOff x="533400" y="4010978"/>
            <a:chExt cx="5410200" cy="21736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10978"/>
              <a:ext cx="541020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44328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419195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946" y="422481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原课件总结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1830" y="423148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三个接口、两个工具类、两个比较接口、四个常用类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4547711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List、Set、Map；Arrays、Collections；Comparable、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Comparator；ArrayList、LinkedList、HashSet、HashMap。再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加上迭代器 Iterator 和泛型。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5319236"/>
              <a:ext cx="48166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读程序写输出时最容易错的是两处：HashSet 先用 hashCode 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位、再用 equals 比较；TreeSet 用 compareTo 判重。把这两条过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程想清楚，输出就能推出来。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2474595"/>
            <a:chOff x="6248400" y="1524000"/>
            <a:chExt cx="5410200" cy="247459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1308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88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43079" y="2023110"/>
              <a:ext cx="1741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与 Collections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7159" y="2023110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 / 工具类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3079" y="2404110"/>
              <a:ext cx="190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Comparable 与 Comparator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7159" y="2404110"/>
              <a:ext cx="2129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类内 compareTo / 类外 compare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3079" y="2785110"/>
              <a:ext cx="110980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remove(int) 与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remove(Object)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7159" y="2878455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按下标删 / 按值删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3079" y="3353752"/>
              <a:ext cx="173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HashSet 与 TreeSet 判重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22005" y="3246120"/>
              <a:ext cx="322707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07159" y="3353752"/>
              <a:ext cx="2127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hashCode + equals / compareTo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3079" y="3734752"/>
              <a:ext cx="1146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 与 size()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07159" y="37347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数组属性 / 集合方法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407718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248400" y="4163378"/>
            <a:ext cx="5410200" cy="2021205"/>
            <a:chOff x="6248400" y="4163378"/>
            <a:chExt cx="5410200" cy="2021205"/>
          </a:xfrm>
        </p:grpSpPr>
        <p:sp>
          <p:nvSpPr>
            <p:cNvPr id="49" name="Rectangle 49"/>
            <p:cNvSpPr/>
            <p:nvPr/>
          </p:nvSpPr>
          <p:spPr>
            <a:xfrm>
              <a:off x="6248400" y="4163378"/>
              <a:ext cx="5410200" cy="2021205"/>
            </a:xfrm>
            <a:prstGeom prst="roundRect">
              <a:avLst>
                <a:gd name="adj" fmla="val 6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296728"/>
              <a:ext cx="47625" cy="17545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7475" y="434435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2044" y="43772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版本差异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83006" y="4384834"/>
              <a:ext cx="1572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JDK 21 实测订正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0998" y="4701064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 无参构造第一次 add 才分配 10；LinkedList 没有头结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0998" y="5228749"/>
              <a:ext cx="4696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Integer(…) 已标记待删除，改用 valueOf 或自动装箱。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60998" y="5513546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21 起 List 也有 addFirst 等方法，case 标签也可以写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Season.SPRING。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第7章 对象的容纳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7">
  <a:themeElements>
    <a:clrScheme name="java_ch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2026-09-23T09:36:50Z</dcterms:created>
  <dcterms:modified xsi:type="dcterms:W3CDTF">2026-09-23T09:36:50Z</dcterms:modified>
  <cp:category/>
  <cp:contentStatus/>
</cp:coreProperties>
</file>