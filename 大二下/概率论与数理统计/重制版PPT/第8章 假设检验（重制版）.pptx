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b_ch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b_ch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1a2aa36c907a77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12dbd7547dab537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2c6e35b7834901e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282" t="0" r="281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601462" cy="3437763"/>
            <a:chOff x="666750" y="1619250"/>
            <a:chExt cx="560146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概率论与数理统计 · 第八章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假设检验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先假定原假设成立，再看样本是否让小概率事件发生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小概率原理与两类错误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 检验与 t 检验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3976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χ² 检验与 F 检验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两总体均值差与方差比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自学复习版｜据吉林大学《概率论与数理统计》第八章课件整理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4158901"/>
            <a:chOff x="521970" y="1515428"/>
            <a:chExt cx="6287453" cy="4158901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假设检验的基本概念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引例、原假设与备择假设、显著性水平、两类错误、双边与单边检验、一般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单个正态总体的参数检验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σ² 已知用 u 检验、σ² 未知用 t 检验检验均值；χ² 检验检验方差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两个正态总体的参数检验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3375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均值差用 u 检验或 t 检验，方差比用 F 检验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八道自测题，选检验方法的判断树，易错点汇总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例题一览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53449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 包装机、例2 灯泡、例3 零件、例4 纤度（单总体）；例5 蓄电池、例6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两组数据（两总体）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100512"/>
            <a:chOff x="7114222" y="1524000"/>
            <a:chExt cx="4544378" cy="4100512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100512"/>
            </a:xfrm>
            <a:prstGeom prst="roundRect">
              <a:avLst>
                <a:gd name="adj" fmla="val 32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83381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由实际问题写出原假设和备择假设，判断是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双边、左边还是右边检验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说出两类错误的含义，解释样本容量固定时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与 β 为什么此消彼长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按四个步骤完成 u、t、χ²、F 检验，写出拒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绝域并下结论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549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根据“检验均值还是方差、另一参数是否已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知”选出正确的检验统计量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两总体均值比较前先用 F 检验判断方差是否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8264" cy="3351847"/>
            <a:chOff x="667512" y="1835468"/>
            <a:chExt cx="43982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假设检验的基本概念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用样本判断关于总体的某个说法能不能成立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引例：次品率能否出厂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原假设、备择假设与显著性水平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两类错误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检验的一般步骤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18796" cy="909257"/>
            <a:chOff x="520446" y="342900"/>
            <a:chExt cx="79187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187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引例：抽 12 件查出 3 件次品，这批产品还能出厂吗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386840"/>
            <a:chOff x="533400" y="1524000"/>
            <a:chExt cx="5626418" cy="1386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引例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0279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某产品出厂检验规定：次品率 p 不超过 4% 才能出厂。现从一万件产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品中任意抽查 12 件，发现 3 件次品，问该批产品能否出厂？若只发现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件次品，能否出厂？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3085148"/>
            <a:ext cx="5349316" cy="1596961"/>
            <a:chOff x="533400" y="3085148"/>
            <a:chExt cx="5349316" cy="1596961"/>
          </a:xfrm>
        </p:grpSpPr>
        <p:sp>
          <p:nvSpPr>
            <p:cNvPr id="13" name="Rectangle 13"/>
            <p:cNvSpPr/>
            <p:nvPr/>
          </p:nvSpPr>
          <p:spPr>
            <a:xfrm>
              <a:off x="666750" y="322802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0851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58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385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12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1910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2648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1161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提出假设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370898"/>
              <a:ext cx="18658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H₀：p ≤ 0.04，H₁：p &gt; 0.04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668554"/>
              <a:ext cx="1199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H₀ 下算概率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923348"/>
              <a:ext cx="4935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H₀ 允许的最大次品率 p = 0.04，12 件中次品数服从二项分布 B(12, 0.04)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22195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看是否发生小概率事件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476750"/>
              <a:ext cx="3798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概率很小的事件在一次抽样里竟然发生了，就认为 H₀ 不成立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3"/>
              <p:cNvSpPr txBox="1">
                <a:spLocks noGrp="1"/>
              </p:cNvSpPr>
              <p:nvPr/>
            </p:nvSpPr>
            <p:spPr>
              <a:xfrm>
                <a:off x="533400" y="4843462"/>
                <a:ext cx="5626418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bSup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d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0.0098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14"/>
              <p:cNvSpPr txBox="1">
                <a:spLocks noGrp="1"/>
              </p:cNvSpPr>
              <p:nvPr/>
            </p:nvSpPr>
            <p:spPr>
              <a:xfrm>
                <a:off x="533400" y="5332095"/>
                <a:ext cx="5626418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d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0.306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9" name="c2-compare-1"/>
          <p:cNvGrpSpPr/>
          <p:nvPr/>
        </p:nvGrpSpPr>
        <p:grpSpPr>
          <a:xfrm>
            <a:off x="6464618" y="1524000"/>
            <a:ext cx="5193982" cy="1453515"/>
            <a:chOff x="6464618" y="1524000"/>
            <a:chExt cx="5193982" cy="145351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2386965" cy="1453515"/>
            </a:xfrm>
            <a:prstGeom prst="roundRect">
              <a:avLst>
                <a:gd name="adj" fmla="val 9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11868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77216" y="1726406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查出 3 件次品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693218" y="20793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48666" y="2027396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概率约 0.0098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93218" y="23650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48666" y="231219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小概率事件发生了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93218" y="26498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48666" y="2596991"/>
              <a:ext cx="1474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 H₀，不能出厂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271635" y="1524000"/>
              <a:ext cx="2386965" cy="1453515"/>
            </a:xfrm>
            <a:prstGeom prst="roundRect">
              <a:avLst>
                <a:gd name="adj" fmla="val 9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281160" y="1657350"/>
              <a:ext cx="47625" cy="11868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84233" y="1726406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查出 1 件次品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9500235" y="20793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655683" y="2027396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概率约 0.306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500235" y="23650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55683" y="23121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不算小概率事件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500235" y="26498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55683" y="2596991"/>
              <a:ext cx="1474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 H₀，可以出厂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900160" y="208883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83393" y="219456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464618" y="3142298"/>
            <a:ext cx="5193982" cy="2513648"/>
            <a:chOff x="6464618" y="3142298"/>
            <a:chExt cx="5193982" cy="2513648"/>
          </a:xfrm>
        </p:grpSpPr>
        <p:sp>
          <p:nvSpPr>
            <p:cNvPr id="50" name="Rectangle 50"/>
            <p:cNvSpPr/>
            <p:nvPr/>
          </p:nvSpPr>
          <p:spPr>
            <a:xfrm>
              <a:off x="6464618" y="3142298"/>
              <a:ext cx="5193982" cy="2513648"/>
            </a:xfrm>
            <a:prstGeom prst="roundRect">
              <a:avLst>
                <a:gd name="adj" fmla="val 53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3275648"/>
              <a:ext cx="47625" cy="22469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83692" y="332327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65163" y="335613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77216" y="3662839"/>
              <a:ext cx="4523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P₁₂(3) = 0.0097，精确值 0.009751，四舍五入应为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0.0098。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77216" y="4191476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更规范的做法是看“至少这么多次品”的概率：P{X ≥ 3}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0.0107 仍很小，P{X ≥ 1} ≈ 0.387 不小，两个结论不变。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8676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这是概率意义下的反证法：先假定 H₀ 成立，推出一个小概率事件，而它在一次抽样中竟然发生了，于是否定 H₀。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原假设与备择假设：检验就是在两者之间二选一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542" y="1545907"/>
            <a:ext cx="5849493" cy="1949006"/>
            <a:chOff x="526542" y="1545907"/>
            <a:chExt cx="5849493" cy="194900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41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45754" y="1545907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也叫零假设，是被检验的那个说法，如 p ≤ 0.04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326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1938338"/>
              <a:ext cx="1022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45754" y="1938338"/>
              <a:ext cx="3953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也叫对立假设，H₀ 被拒绝时接受它，如 p &gt; 0.04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250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330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假设检验问题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45754" y="2330768"/>
              <a:ext cx="424853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H₀ 成立的前提下用样本观测值分析，发生小概率事件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就拒绝 H₀（接受 H₁），否则接受 H₀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87083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29775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参数检验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45754" y="2977515"/>
              <a:ext cx="41285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只对总体中的未知参数提出假设再检验，本章都是这一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611880"/>
            <a:ext cx="5842635" cy="2045970"/>
            <a:chOff x="533400" y="3611880"/>
            <a:chExt cx="5842635" cy="2045970"/>
          </a:xfrm>
        </p:grpSpPr>
        <p:sp>
          <p:nvSpPr>
            <p:cNvPr id="19" name="Rectangle 19"/>
            <p:cNvSpPr/>
            <p:nvPr/>
          </p:nvSpPr>
          <p:spPr>
            <a:xfrm>
              <a:off x="533400" y="3611880"/>
              <a:ext cx="5842635" cy="2045970"/>
            </a:xfrm>
            <a:prstGeom prst="roundRect">
              <a:avLst>
                <a:gd name="adj" fmla="val 65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745230"/>
              <a:ext cx="47625" cy="17792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8190" y="379857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759" y="38314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理论基础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3340" y="383381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小概率原理与显著性水平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332" y="4159568"/>
              <a:ext cx="51743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小概率事件在一次试验中几乎不可能发生。多小算“小”，由事先给定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显著性水平 α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（0 &lt; α &lt; 1）规定，通常取 0.01、0.05 或 0.1。</a:t>
              </a:r>
            </a:p>
          </p:txBody>
        </p:sp>
      </p:grpSp>
      <p:grpSp>
        <p:nvGrpSpPr>
          <p:cNvPr id="28" name="c2-image-1"/>
          <p:cNvGrpSpPr/>
          <p:nvPr/>
        </p:nvGrpSpPr>
        <p:grpSpPr>
          <a:xfrm>
            <a:off x="6680835" y="1524000"/>
            <a:ext cx="4977765" cy="2797206"/>
            <a:chOff x="6680835" y="1524000"/>
            <a:chExt cx="4977765" cy="2797206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0" t="12112" r="0" b="12113"/>
            <a:stretch>
              <a:fillRect/>
            </a:stretch>
          </p:blipFill>
          <p:spPr>
            <a:xfrm>
              <a:off x="6680835" y="1524000"/>
              <a:ext cx="4977765" cy="2514600"/>
            </a:xfrm>
            <a:prstGeom prst="roundRect">
              <a:avLst>
                <a:gd name="adj" fmla="val 5303"/>
              </a:avLst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7275462" y="4130516"/>
              <a:ext cx="37885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法庭先推定被告无罪（H₀），证据足够有力才判有罪（接受 H₁）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680835" y="4471988"/>
            <a:ext cx="4977765" cy="1185862"/>
            <a:chOff x="6680835" y="4471988"/>
            <a:chExt cx="4977765" cy="1185862"/>
          </a:xfrm>
        </p:grpSpPr>
        <p:sp>
          <p:nvSpPr>
            <p:cNvPr id="29" name="Rectangle 29"/>
            <p:cNvSpPr/>
            <p:nvPr/>
          </p:nvSpPr>
          <p:spPr>
            <a:xfrm>
              <a:off x="6680835" y="4471988"/>
              <a:ext cx="497776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90360" y="460533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5625" y="4658678"/>
              <a:ext cx="105441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74128" y="4691539"/>
              <a:ext cx="9183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接受 H₀ 的含义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8767" y="5003483"/>
              <a:ext cx="42142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证据不足只能“不能定罪”，不等于证明了清白。接受 H₀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也一样，只说明样本没有给出足够的反对证据。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5" name="Rectangle 3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8373"/>
              <a:ext cx="5573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任务必须在 H₀ 与 H₁ 之间作一选择，二者互为对立，不会同时成立。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78383" cy="909257"/>
            <a:chOff x="520446" y="342900"/>
            <a:chExt cx="8278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78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例1：包装机称出 9 袋糖果，平均重量偏离 100 g 了吗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700212"/>
            <a:chOff x="533400" y="1524000"/>
            <a:chExt cx="6059805" cy="17002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062" y="1743551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35438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某车间用包装机包装糖果，每袋重量（单位 g）服从正态分布。由以往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经验知每袋重量的标准差 σ = 0.5 g 保持不变。每隔一定时间要检查包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装机的工作情况，现抽取 9 袋，测得重量如下表。根据质量要求每袋重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量应为 100 g，问这段时间包装机工作是否正常（α = 0.05）？</a:t>
              </a:r>
            </a:p>
          </p:txBody>
        </p:sp>
      </p:grpSp>
      <p:grpSp>
        <p:nvGrpSpPr>
          <p:cNvPr id="41" name="c1-table-2"/>
          <p:cNvGrpSpPr/>
          <p:nvPr/>
        </p:nvGrpSpPr>
        <p:grpSpPr>
          <a:xfrm>
            <a:off x="533400" y="3393758"/>
            <a:ext cx="6059805" cy="800100"/>
            <a:chOff x="533400" y="3393758"/>
            <a:chExt cx="6059805" cy="800100"/>
          </a:xfrm>
        </p:grpSpPr>
        <p:sp>
          <p:nvSpPr>
            <p:cNvPr id="13" name="Rectangle 13"/>
            <p:cNvSpPr/>
            <p:nvPr/>
          </p:nvSpPr>
          <p:spPr>
            <a:xfrm>
              <a:off x="533400" y="3393758"/>
              <a:ext cx="605980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1809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8086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03411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8731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14051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68419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23739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20016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16294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9493" y="39152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44308" y="391525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100.2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81096" y="39152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36416" y="39152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91736" y="39152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46103" y="39152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01423" y="39152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56238" y="391525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100.1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93978" y="39152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393758"/>
              <a:ext cx="6059805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83958" y="33937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21192" y="33937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75560" y="33937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30880" y="33937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886200" y="33937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40568" y="33937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195888" y="33937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33122" y="339375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1-steps-3"/>
          <p:cNvGrpSpPr/>
          <p:nvPr/>
        </p:nvGrpSpPr>
        <p:grpSpPr>
          <a:xfrm>
            <a:off x="533400" y="4373880"/>
            <a:ext cx="3772007" cy="1684497"/>
            <a:chOff x="533400" y="4373880"/>
            <a:chExt cx="3772007" cy="1684497"/>
          </a:xfrm>
        </p:grpSpPr>
        <p:sp>
          <p:nvSpPr>
            <p:cNvPr id="42" name="Rectangle 42"/>
            <p:cNvSpPr/>
            <p:nvPr/>
          </p:nvSpPr>
          <p:spPr>
            <a:xfrm>
              <a:off x="666750" y="4516755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33400" y="43738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7024" y="4447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33400" y="49568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7024" y="5030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33400" y="55397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7024" y="56135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5642" y="44053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建立模型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6785" y="4672489"/>
              <a:ext cx="3060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设每袋重量 X ~ N(μ, 0.5²)，σ 已知，μ 未知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5642" y="49882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转化问题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6785" y="5255419"/>
              <a:ext cx="335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工作是否正常，相当于判断 μ = μ₀ = 100 是否正确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5642" y="5571173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写出假设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785" y="5838349"/>
              <a:ext cx="29754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原假设 H₀：μ = 100，备择假设 H₁：μ ≠ 100</a:t>
              </a:r>
            </a:p>
          </p:txBody>
        </p:sp>
      </p:grpSp>
      <p:grpSp>
        <p:nvGrpSpPr>
          <p:cNvPr id="58" name="c2-image-1"/>
          <p:cNvGrpSpPr/>
          <p:nvPr/>
        </p:nvGrpSpPr>
        <p:grpSpPr>
          <a:xfrm>
            <a:off x="6898005" y="1524000"/>
            <a:ext cx="4760595" cy="2629566"/>
            <a:chOff x="6898005" y="1524000"/>
            <a:chExt cx="4760595" cy="2629566"/>
          </a:xfrm>
        </p:grpSpPr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2"/>
            <a:srcRect l="0" t="700" r="0" b="701"/>
            <a:stretch>
              <a:fillRect/>
            </a:stretch>
          </p:blipFill>
          <p:spPr>
            <a:xfrm>
              <a:off x="6898005" y="1524000"/>
              <a:ext cx="4760595" cy="2346960"/>
            </a:xfrm>
            <a:prstGeom prst="roundRect">
              <a:avLst>
                <a:gd name="adj" fmla="val 5681"/>
              </a:avLst>
            </a:prstGeom>
          </p:spPr>
        </p:pic>
        <p:sp>
          <p:nvSpPr>
            <p:cNvPr id="57" name="TextBox 57"/>
            <p:cNvSpPr txBox="1"/>
            <p:nvPr/>
          </p:nvSpPr>
          <p:spPr>
            <a:xfrm>
              <a:off x="7700113" y="3962876"/>
              <a:ext cx="31563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机器可能跑偏，但标准差由机器本身决定，σ 视为已知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898005" y="4304348"/>
            <a:ext cx="4760595" cy="2000250"/>
            <a:chOff x="6898005" y="4304348"/>
            <a:chExt cx="4760595" cy="2000250"/>
          </a:xfrm>
        </p:grpSpPr>
        <p:sp>
          <p:nvSpPr>
            <p:cNvPr id="59" name="Rectangle 59"/>
            <p:cNvSpPr/>
            <p:nvPr/>
          </p:nvSpPr>
          <p:spPr>
            <a:xfrm>
              <a:off x="6898005" y="4304348"/>
              <a:ext cx="4760595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07530" y="4437698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22795" y="449103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07364" y="45238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先估一下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15937" y="4835842"/>
              <a:ext cx="40599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袋的平均值 99.522，比 100 少 0.478 g。平均值的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标准差 σ/√n = 0.5/3 ≈ 0.167，偏差约是它的 2.9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15937" y="5650230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平均值不会恰好是 100，要回答的是偏差大到什么程度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才算不正常。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0909" cy="909257"/>
            <a:chOff x="520446" y="342900"/>
            <a:chExt cx="73509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09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构造检验统计量：样本均值离 μ₀ 太远就怀疑 H₀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154295" cy="2475072"/>
            <a:chOff x="533400" y="1533525"/>
            <a:chExt cx="5154295" cy="247507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54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31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060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90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628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看样本均值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4740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样本均值是 μ 的无偏估计。H₀ 为真时它应集中在 μ₀ 附近，偏差的绝对值不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应太大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3555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622709"/>
              <a:ext cx="3547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为真时 u 服从 N(0, 1)，与 σ、n 无关，可以查表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38462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定临界值 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05639"/>
              <a:ext cx="3234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|u| ≥ k 就拒绝 H₀，k 取成使 P{|u| ≥ k} = α 的数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21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查分位点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788569"/>
              <a:ext cx="2732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由标准正态上 α 分位点的定义，k = uα/2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172902"/>
            <a:ext cx="5410200" cy="1528762"/>
            <a:chOff x="533400" y="4172902"/>
            <a:chExt cx="5410200" cy="1528762"/>
          </a:xfrm>
        </p:grpSpPr>
        <p:sp>
          <p:nvSpPr>
            <p:cNvPr id="25" name="Rectangle 25"/>
            <p:cNvSpPr/>
            <p:nvPr/>
          </p:nvSpPr>
          <p:spPr>
            <a:xfrm>
              <a:off x="533400" y="4172902"/>
              <a:ext cx="541020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306252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8190" y="43595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0862" y="43924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名词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6762" y="47596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782" y="4703445"/>
              <a:ext cx="3439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检验统计量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：判断用的样本函数，这里是 u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6762" y="505968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2782" y="5003483"/>
              <a:ext cx="3641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 W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：使我们拒绝 H₀ 的统计量取值范围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6762" y="53606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2782" y="5303520"/>
              <a:ext cx="3294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临界值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：拒绝域的边界点，这里是 ±uα/2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42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43"/>
              <p:cNvSpPr txBox="1">
                <a:spLocks noGrp="1"/>
              </p:cNvSpPr>
              <p:nvPr/>
            </p:nvSpPr>
            <p:spPr>
              <a:xfrm>
                <a:off x="6248400" y="2182178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ba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μ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44"/>
              <p:cNvSpPr txBox="1">
                <a:spLocks noGrp="1"/>
              </p:cNvSpPr>
              <p:nvPr/>
            </p:nvSpPr>
            <p:spPr>
              <a:xfrm>
                <a:off x="6248400" y="2815590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rd-4"/>
          <p:cNvGrpSpPr/>
          <p:nvPr/>
        </p:nvGrpSpPr>
        <p:grpSpPr>
          <a:xfrm>
            <a:off x="6248400" y="3347085"/>
            <a:ext cx="5410200" cy="2354580"/>
            <a:chOff x="6248400" y="3347085"/>
            <a:chExt cx="5410200" cy="2354580"/>
          </a:xfrm>
        </p:grpSpPr>
        <p:sp>
          <p:nvSpPr>
            <p:cNvPr id="39" name="Rectangle 39"/>
            <p:cNvSpPr/>
            <p:nvPr/>
          </p:nvSpPr>
          <p:spPr>
            <a:xfrm>
              <a:off x="6248400" y="3347085"/>
              <a:ext cx="5410200" cy="2354580"/>
            </a:xfrm>
            <a:prstGeom prst="roundRect">
              <a:avLst>
                <a:gd name="adj" fmla="val 56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35090" y="35337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27762" y="35666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8232" y="3878580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|u| ≥ uα/2：概率只有 α 的事件发生了，按实际推断原理拒绝</a:t>
              </a:r>
              <a:br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8232" y="4435792"/>
              <a:ext cx="1645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|u| &lt; uα/2：接受 H₀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29375" y="4732496"/>
              <a:ext cx="3893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 = 0.05 时 uα/2 = u₀.₀₂₅ = 1.96；α = 0.01 时为 2.576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6" name="Rectangle 4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8373"/>
              <a:ext cx="64381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 只含样本和已知量 μ₀、σ、n，代入数据就能算出数值，所以能当检验统计量。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54653" cy="909257"/>
            <a:chOff x="520446" y="342900"/>
            <a:chExt cx="57546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546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解：|u| = 2.87 ≥ 1.96，拒绝 H₀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930597" cy="2702814"/>
            <a:chOff x="533400" y="1533525"/>
            <a:chExt cx="4930597" cy="27028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1818322"/>
              <a:ext cx="2328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 = 100，σ = 0.5，n = 9，α = 0.05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371725"/>
              <a:ext cx="2182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u₀.₀₂₅ = 1.96，W = {|u| ≥ 1.96}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2925128"/>
              <a:ext cx="2767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个数之和 895.7，均值 895.7/9 = 99.522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2227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统计量的值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477578"/>
              <a:ext cx="3219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(99.522 − 100)/(0.5/3) = −2.87，|u| = 2.87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7761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030980"/>
              <a:ext cx="4516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2.87 ≥ 1.96，u 落入拒绝域，拒绝 H₀，认为这段时间包装机工作不正常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51"/>
              <p:cNvSpPr txBox="1">
                <a:spLocks noGrp="1"/>
              </p:cNvSpPr>
              <p:nvPr/>
            </p:nvSpPr>
            <p:spPr>
              <a:xfrm>
                <a:off x="533400" y="4397692"/>
                <a:ext cx="584263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99.522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100</m:t>
                              </m:r>
                            </m:e>
                          </m: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2.87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1.96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5" name="c1-card-3"/>
          <p:cNvGrpSpPr/>
          <p:nvPr/>
        </p:nvGrpSpPr>
        <p:grpSpPr>
          <a:xfrm>
            <a:off x="533400" y="5025390"/>
            <a:ext cx="5842635" cy="1143952"/>
            <a:chOff x="533400" y="5025390"/>
            <a:chExt cx="5842635" cy="1143952"/>
          </a:xfrm>
        </p:grpSpPr>
        <p:sp>
          <p:nvSpPr>
            <p:cNvPr id="30" name="Rectangle 30"/>
            <p:cNvSpPr/>
            <p:nvPr/>
          </p:nvSpPr>
          <p:spPr>
            <a:xfrm>
              <a:off x="533400" y="5025390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515874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2475" y="520636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3946" y="523922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结论的读法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998" y="5546884"/>
              <a:ext cx="5166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意思是“若包装机正常，出现这么大偏差的概率不到 5%”。判断仍可能出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错，犯错概率不超过 α。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680835" y="1524000"/>
            <a:ext cx="4977765" cy="1143952"/>
            <a:chOff x="6680835" y="1524000"/>
            <a:chExt cx="4977765" cy="1143952"/>
          </a:xfrm>
        </p:grpSpPr>
        <p:sp>
          <p:nvSpPr>
            <p:cNvPr id="36" name="Rectangle 36"/>
            <p:cNvSpPr/>
            <p:nvPr/>
          </p:nvSpPr>
          <p:spPr>
            <a:xfrm>
              <a:off x="6680835" y="1524000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90360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999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25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93433" y="2045494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原课件把均值取成 99.52，算得 |u| = 2.88。均值精确值为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99.5222，|u| = 2.867，约为 2.87，结论不变。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680835" y="2832735"/>
            <a:ext cx="4977765" cy="1386840"/>
            <a:chOff x="6680835" y="2832735"/>
            <a:chExt cx="4977765" cy="1386840"/>
          </a:xfrm>
        </p:grpSpPr>
        <p:sp>
          <p:nvSpPr>
            <p:cNvPr id="42" name="Rectangle 42"/>
            <p:cNvSpPr/>
            <p:nvPr/>
          </p:nvSpPr>
          <p:spPr>
            <a:xfrm>
              <a:off x="6680835" y="2832735"/>
              <a:ext cx="497776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296608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99910" y="301371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81380" y="304657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另一种看法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3433" y="3354229"/>
              <a:ext cx="428828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也可以直接比样本均值：它落在区间 100 ± 1.96 × 0.5/3，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(99.673, 100.327) 之外就拒绝。99.522 在区间左侧外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680835" y="4384358"/>
            <a:ext cx="4977765" cy="1784985"/>
            <a:chOff x="6680835" y="4384358"/>
            <a:chExt cx="4977765" cy="1784985"/>
          </a:xfrm>
        </p:grpSpPr>
        <p:sp>
          <p:nvSpPr>
            <p:cNvPr id="48" name="Rectangle 48"/>
            <p:cNvSpPr/>
            <p:nvPr/>
          </p:nvSpPr>
          <p:spPr>
            <a:xfrm>
              <a:off x="6680835" y="4384358"/>
              <a:ext cx="4977765" cy="1784985"/>
            </a:xfrm>
            <a:prstGeom prst="roundRect">
              <a:avLst>
                <a:gd name="adj" fmla="val 640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885623" y="5176838"/>
              <a:ext cx="200026" cy="200025"/>
              <a:chOff x="6885623" y="517683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885623" y="51768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25361" y="52212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60077" y="53324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188708" y="5070634"/>
              <a:ext cx="39956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 值（补充）：P{|u| ≥ 2.87} = 0.0041 &lt; α = 0.05，同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样拒绝 H₀。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7880" cy="909257"/>
            <a:chOff x="520446" y="342900"/>
            <a:chExt cx="57878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78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的拒绝域：u 落进两侧尾巴就拒绝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exA"/>
          <p:cNvGrpSpPr/>
          <p:nvPr/>
        </p:nvGrpSpPr>
        <p:grpSpPr>
          <a:xfrm>
            <a:off x="533400" y="1524000"/>
            <a:ext cx="7162800" cy="4762500"/>
            <a:chOff x="533400" y="1524000"/>
            <a:chExt cx="71628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1628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4079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H₀ 为真时 u ~ N(0, 1)：两侧尾巴合起来就是拒绝域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940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α = 0.05，两侧各留 α/2 = 0.025，临界值 ±u₀.₀₂₅ = ±1.96。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104900" y="4668202"/>
              <a:ext cx="1482090" cy="341947"/>
            </a:xfrm>
            <a:custGeom>
              <a:avLst/>
              <a:gdLst/>
              <a:ahLst/>
              <a:cxnLst/>
              <a:rect l="l" t="t" r="r" b="b"/>
              <a:pathLst>
                <a:path w="1482090" h="341947">
                  <a:moveTo>
                    <a:pt x="0" y="341947"/>
                  </a:moveTo>
                  <a:lnTo>
                    <a:pt x="0" y="340995"/>
                  </a:lnTo>
                  <a:lnTo>
                    <a:pt x="18098" y="340995"/>
                  </a:lnTo>
                  <a:lnTo>
                    <a:pt x="37148" y="340995"/>
                  </a:lnTo>
                  <a:lnTo>
                    <a:pt x="55245" y="340995"/>
                  </a:lnTo>
                  <a:lnTo>
                    <a:pt x="74295" y="340995"/>
                  </a:lnTo>
                  <a:lnTo>
                    <a:pt x="92393" y="340995"/>
                  </a:lnTo>
                  <a:lnTo>
                    <a:pt x="111443" y="340995"/>
                  </a:lnTo>
                  <a:lnTo>
                    <a:pt x="129540" y="340042"/>
                  </a:lnTo>
                  <a:lnTo>
                    <a:pt x="148590" y="340042"/>
                  </a:lnTo>
                  <a:lnTo>
                    <a:pt x="166688" y="340042"/>
                  </a:lnTo>
                  <a:lnTo>
                    <a:pt x="184785" y="340042"/>
                  </a:lnTo>
                  <a:lnTo>
                    <a:pt x="203835" y="340042"/>
                  </a:lnTo>
                  <a:lnTo>
                    <a:pt x="221933" y="339090"/>
                  </a:lnTo>
                  <a:lnTo>
                    <a:pt x="240983" y="339090"/>
                  </a:lnTo>
                  <a:lnTo>
                    <a:pt x="259080" y="339090"/>
                  </a:lnTo>
                  <a:lnTo>
                    <a:pt x="278130" y="338138"/>
                  </a:lnTo>
                  <a:lnTo>
                    <a:pt x="296227" y="338138"/>
                  </a:lnTo>
                  <a:lnTo>
                    <a:pt x="315277" y="338138"/>
                  </a:lnTo>
                  <a:lnTo>
                    <a:pt x="333375" y="337185"/>
                  </a:lnTo>
                  <a:lnTo>
                    <a:pt x="351473" y="337185"/>
                  </a:lnTo>
                  <a:lnTo>
                    <a:pt x="370523" y="336232"/>
                  </a:lnTo>
                  <a:lnTo>
                    <a:pt x="388620" y="336232"/>
                  </a:lnTo>
                  <a:lnTo>
                    <a:pt x="407670" y="335280"/>
                  </a:lnTo>
                  <a:lnTo>
                    <a:pt x="425767" y="335280"/>
                  </a:lnTo>
                  <a:lnTo>
                    <a:pt x="444817" y="334328"/>
                  </a:lnTo>
                  <a:lnTo>
                    <a:pt x="462915" y="333375"/>
                  </a:lnTo>
                  <a:lnTo>
                    <a:pt x="481965" y="333375"/>
                  </a:lnTo>
                  <a:lnTo>
                    <a:pt x="500062" y="332422"/>
                  </a:lnTo>
                  <a:lnTo>
                    <a:pt x="518160" y="331470"/>
                  </a:lnTo>
                  <a:lnTo>
                    <a:pt x="537210" y="330517"/>
                  </a:lnTo>
                  <a:lnTo>
                    <a:pt x="555308" y="329565"/>
                  </a:lnTo>
                  <a:lnTo>
                    <a:pt x="574358" y="328612"/>
                  </a:lnTo>
                  <a:lnTo>
                    <a:pt x="592455" y="327660"/>
                  </a:lnTo>
                  <a:lnTo>
                    <a:pt x="611505" y="325755"/>
                  </a:lnTo>
                  <a:lnTo>
                    <a:pt x="629602" y="324803"/>
                  </a:lnTo>
                  <a:lnTo>
                    <a:pt x="648652" y="322897"/>
                  </a:lnTo>
                  <a:lnTo>
                    <a:pt x="666750" y="321945"/>
                  </a:lnTo>
                  <a:lnTo>
                    <a:pt x="684848" y="320040"/>
                  </a:lnTo>
                  <a:lnTo>
                    <a:pt x="703898" y="318135"/>
                  </a:lnTo>
                  <a:lnTo>
                    <a:pt x="721995" y="316230"/>
                  </a:lnTo>
                  <a:lnTo>
                    <a:pt x="741045" y="314325"/>
                  </a:lnTo>
                  <a:lnTo>
                    <a:pt x="759142" y="312420"/>
                  </a:lnTo>
                  <a:lnTo>
                    <a:pt x="778192" y="309562"/>
                  </a:lnTo>
                  <a:lnTo>
                    <a:pt x="796290" y="307657"/>
                  </a:lnTo>
                  <a:lnTo>
                    <a:pt x="815340" y="304800"/>
                  </a:lnTo>
                  <a:lnTo>
                    <a:pt x="833438" y="301942"/>
                  </a:lnTo>
                  <a:lnTo>
                    <a:pt x="851535" y="299085"/>
                  </a:lnTo>
                  <a:lnTo>
                    <a:pt x="870585" y="296228"/>
                  </a:lnTo>
                  <a:lnTo>
                    <a:pt x="888683" y="292417"/>
                  </a:lnTo>
                  <a:lnTo>
                    <a:pt x="907733" y="288607"/>
                  </a:lnTo>
                  <a:lnTo>
                    <a:pt x="925830" y="284797"/>
                  </a:lnTo>
                  <a:lnTo>
                    <a:pt x="944880" y="280988"/>
                  </a:lnTo>
                  <a:lnTo>
                    <a:pt x="962978" y="276225"/>
                  </a:lnTo>
                  <a:lnTo>
                    <a:pt x="982028" y="272415"/>
                  </a:lnTo>
                  <a:lnTo>
                    <a:pt x="1000125" y="267653"/>
                  </a:lnTo>
                  <a:lnTo>
                    <a:pt x="1018222" y="261938"/>
                  </a:lnTo>
                  <a:lnTo>
                    <a:pt x="1037272" y="256222"/>
                  </a:lnTo>
                  <a:lnTo>
                    <a:pt x="1055370" y="250507"/>
                  </a:lnTo>
                  <a:lnTo>
                    <a:pt x="1074420" y="244792"/>
                  </a:lnTo>
                  <a:lnTo>
                    <a:pt x="1092518" y="238125"/>
                  </a:lnTo>
                  <a:lnTo>
                    <a:pt x="1111568" y="231457"/>
                  </a:lnTo>
                  <a:lnTo>
                    <a:pt x="1129665" y="224790"/>
                  </a:lnTo>
                  <a:lnTo>
                    <a:pt x="1148715" y="217170"/>
                  </a:lnTo>
                  <a:lnTo>
                    <a:pt x="1166812" y="208597"/>
                  </a:lnTo>
                  <a:lnTo>
                    <a:pt x="1184910" y="200977"/>
                  </a:lnTo>
                  <a:lnTo>
                    <a:pt x="1203960" y="191452"/>
                  </a:lnTo>
                  <a:lnTo>
                    <a:pt x="1222058" y="182880"/>
                  </a:lnTo>
                  <a:lnTo>
                    <a:pt x="1241108" y="173355"/>
                  </a:lnTo>
                  <a:lnTo>
                    <a:pt x="1259205" y="162877"/>
                  </a:lnTo>
                  <a:lnTo>
                    <a:pt x="1278255" y="152400"/>
                  </a:lnTo>
                  <a:lnTo>
                    <a:pt x="1296352" y="140970"/>
                  </a:lnTo>
                  <a:lnTo>
                    <a:pt x="1315402" y="129540"/>
                  </a:lnTo>
                  <a:lnTo>
                    <a:pt x="1333500" y="118110"/>
                  </a:lnTo>
                  <a:lnTo>
                    <a:pt x="1351597" y="104775"/>
                  </a:lnTo>
                  <a:lnTo>
                    <a:pt x="1370647" y="91440"/>
                  </a:lnTo>
                  <a:lnTo>
                    <a:pt x="1388745" y="78105"/>
                  </a:lnTo>
                  <a:lnTo>
                    <a:pt x="1407795" y="63817"/>
                  </a:lnTo>
                  <a:lnTo>
                    <a:pt x="1425892" y="48577"/>
                  </a:lnTo>
                  <a:lnTo>
                    <a:pt x="1444942" y="33338"/>
                  </a:lnTo>
                  <a:lnTo>
                    <a:pt x="1463040" y="17145"/>
                  </a:lnTo>
                  <a:lnTo>
                    <a:pt x="1482090" y="0"/>
                  </a:lnTo>
                  <a:lnTo>
                    <a:pt x="1482090" y="341947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5433060" y="4668202"/>
              <a:ext cx="1482090" cy="341947"/>
            </a:xfrm>
            <a:custGeom>
              <a:avLst/>
              <a:gdLst/>
              <a:ahLst/>
              <a:cxnLst/>
              <a:rect l="l" t="t" r="r" b="b"/>
              <a:pathLst>
                <a:path w="1482090" h="341947">
                  <a:moveTo>
                    <a:pt x="0" y="341947"/>
                  </a:moveTo>
                  <a:lnTo>
                    <a:pt x="0" y="0"/>
                  </a:lnTo>
                  <a:lnTo>
                    <a:pt x="19050" y="17145"/>
                  </a:lnTo>
                  <a:lnTo>
                    <a:pt x="37147" y="33338"/>
                  </a:lnTo>
                  <a:lnTo>
                    <a:pt x="56197" y="48577"/>
                  </a:lnTo>
                  <a:lnTo>
                    <a:pt x="74295" y="63817"/>
                  </a:lnTo>
                  <a:lnTo>
                    <a:pt x="93345" y="78105"/>
                  </a:lnTo>
                  <a:lnTo>
                    <a:pt x="111443" y="91440"/>
                  </a:lnTo>
                  <a:lnTo>
                    <a:pt x="130493" y="104775"/>
                  </a:lnTo>
                  <a:lnTo>
                    <a:pt x="148590" y="118110"/>
                  </a:lnTo>
                  <a:lnTo>
                    <a:pt x="166688" y="129540"/>
                  </a:lnTo>
                  <a:lnTo>
                    <a:pt x="185738" y="140970"/>
                  </a:lnTo>
                  <a:lnTo>
                    <a:pt x="203835" y="152400"/>
                  </a:lnTo>
                  <a:lnTo>
                    <a:pt x="222885" y="162877"/>
                  </a:lnTo>
                  <a:lnTo>
                    <a:pt x="240983" y="173355"/>
                  </a:lnTo>
                  <a:lnTo>
                    <a:pt x="260033" y="182880"/>
                  </a:lnTo>
                  <a:lnTo>
                    <a:pt x="278130" y="191452"/>
                  </a:lnTo>
                  <a:lnTo>
                    <a:pt x="297180" y="200977"/>
                  </a:lnTo>
                  <a:lnTo>
                    <a:pt x="315278" y="208597"/>
                  </a:lnTo>
                  <a:lnTo>
                    <a:pt x="333375" y="217170"/>
                  </a:lnTo>
                  <a:lnTo>
                    <a:pt x="352425" y="224790"/>
                  </a:lnTo>
                  <a:lnTo>
                    <a:pt x="370522" y="231457"/>
                  </a:lnTo>
                  <a:lnTo>
                    <a:pt x="389572" y="238125"/>
                  </a:lnTo>
                  <a:lnTo>
                    <a:pt x="407670" y="244792"/>
                  </a:lnTo>
                  <a:lnTo>
                    <a:pt x="426720" y="250507"/>
                  </a:lnTo>
                  <a:lnTo>
                    <a:pt x="444818" y="256222"/>
                  </a:lnTo>
                  <a:lnTo>
                    <a:pt x="463868" y="261938"/>
                  </a:lnTo>
                  <a:lnTo>
                    <a:pt x="481965" y="267653"/>
                  </a:lnTo>
                  <a:lnTo>
                    <a:pt x="500062" y="272415"/>
                  </a:lnTo>
                  <a:lnTo>
                    <a:pt x="519112" y="276225"/>
                  </a:lnTo>
                  <a:lnTo>
                    <a:pt x="537210" y="280988"/>
                  </a:lnTo>
                  <a:lnTo>
                    <a:pt x="556260" y="284797"/>
                  </a:lnTo>
                  <a:lnTo>
                    <a:pt x="574358" y="288607"/>
                  </a:lnTo>
                  <a:lnTo>
                    <a:pt x="593408" y="292417"/>
                  </a:lnTo>
                  <a:lnTo>
                    <a:pt x="611505" y="296228"/>
                  </a:lnTo>
                  <a:lnTo>
                    <a:pt x="630555" y="299085"/>
                  </a:lnTo>
                  <a:lnTo>
                    <a:pt x="648653" y="301942"/>
                  </a:lnTo>
                  <a:lnTo>
                    <a:pt x="666750" y="304800"/>
                  </a:lnTo>
                  <a:lnTo>
                    <a:pt x="685800" y="307657"/>
                  </a:lnTo>
                  <a:lnTo>
                    <a:pt x="703897" y="309562"/>
                  </a:lnTo>
                  <a:lnTo>
                    <a:pt x="722947" y="312420"/>
                  </a:lnTo>
                  <a:lnTo>
                    <a:pt x="741045" y="314325"/>
                  </a:lnTo>
                  <a:lnTo>
                    <a:pt x="760095" y="316230"/>
                  </a:lnTo>
                  <a:lnTo>
                    <a:pt x="778193" y="318135"/>
                  </a:lnTo>
                  <a:lnTo>
                    <a:pt x="797243" y="320040"/>
                  </a:lnTo>
                  <a:lnTo>
                    <a:pt x="815340" y="321945"/>
                  </a:lnTo>
                  <a:lnTo>
                    <a:pt x="833438" y="322897"/>
                  </a:lnTo>
                  <a:lnTo>
                    <a:pt x="852488" y="324803"/>
                  </a:lnTo>
                  <a:lnTo>
                    <a:pt x="870585" y="325755"/>
                  </a:lnTo>
                  <a:lnTo>
                    <a:pt x="889635" y="327660"/>
                  </a:lnTo>
                  <a:lnTo>
                    <a:pt x="907733" y="328612"/>
                  </a:lnTo>
                  <a:lnTo>
                    <a:pt x="926783" y="329565"/>
                  </a:lnTo>
                  <a:lnTo>
                    <a:pt x="944880" y="330517"/>
                  </a:lnTo>
                  <a:lnTo>
                    <a:pt x="963930" y="331470"/>
                  </a:lnTo>
                  <a:lnTo>
                    <a:pt x="982028" y="332422"/>
                  </a:lnTo>
                  <a:lnTo>
                    <a:pt x="1000125" y="333375"/>
                  </a:lnTo>
                  <a:lnTo>
                    <a:pt x="1019175" y="333375"/>
                  </a:lnTo>
                  <a:lnTo>
                    <a:pt x="1037272" y="334328"/>
                  </a:lnTo>
                  <a:lnTo>
                    <a:pt x="1056322" y="335280"/>
                  </a:lnTo>
                  <a:lnTo>
                    <a:pt x="1074420" y="335280"/>
                  </a:lnTo>
                  <a:lnTo>
                    <a:pt x="1093470" y="336232"/>
                  </a:lnTo>
                  <a:lnTo>
                    <a:pt x="1111568" y="336232"/>
                  </a:lnTo>
                  <a:lnTo>
                    <a:pt x="1130618" y="337185"/>
                  </a:lnTo>
                  <a:lnTo>
                    <a:pt x="1148715" y="337185"/>
                  </a:lnTo>
                  <a:lnTo>
                    <a:pt x="1166812" y="338138"/>
                  </a:lnTo>
                  <a:lnTo>
                    <a:pt x="1185862" y="338138"/>
                  </a:lnTo>
                  <a:lnTo>
                    <a:pt x="1203960" y="338138"/>
                  </a:lnTo>
                  <a:lnTo>
                    <a:pt x="1223010" y="339090"/>
                  </a:lnTo>
                  <a:lnTo>
                    <a:pt x="1241108" y="339090"/>
                  </a:lnTo>
                  <a:lnTo>
                    <a:pt x="1260158" y="339090"/>
                  </a:lnTo>
                  <a:lnTo>
                    <a:pt x="1278255" y="340042"/>
                  </a:lnTo>
                  <a:lnTo>
                    <a:pt x="1297305" y="340042"/>
                  </a:lnTo>
                  <a:lnTo>
                    <a:pt x="1315403" y="340042"/>
                  </a:lnTo>
                  <a:lnTo>
                    <a:pt x="1333500" y="340042"/>
                  </a:lnTo>
                  <a:lnTo>
                    <a:pt x="1352550" y="340042"/>
                  </a:lnTo>
                  <a:lnTo>
                    <a:pt x="1370647" y="340995"/>
                  </a:lnTo>
                  <a:lnTo>
                    <a:pt x="1389697" y="340995"/>
                  </a:lnTo>
                  <a:lnTo>
                    <a:pt x="1407795" y="340995"/>
                  </a:lnTo>
                  <a:lnTo>
                    <a:pt x="1426845" y="340995"/>
                  </a:lnTo>
                  <a:lnTo>
                    <a:pt x="1444943" y="340995"/>
                  </a:lnTo>
                  <a:lnTo>
                    <a:pt x="1463993" y="340995"/>
                  </a:lnTo>
                  <a:lnTo>
                    <a:pt x="1482090" y="340995"/>
                  </a:lnTo>
                  <a:lnTo>
                    <a:pt x="1482090" y="341947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2" name="Polygon 12"/>
            <p:cNvSpPr/>
            <p:nvPr/>
          </p:nvSpPr>
          <p:spPr>
            <a:xfrm>
              <a:off x="2586990" y="2678430"/>
              <a:ext cx="2846070" cy="2331720"/>
            </a:xfrm>
            <a:custGeom>
              <a:avLst/>
              <a:gdLst/>
              <a:ahLst/>
              <a:cxnLst/>
              <a:rect l="l" t="t" r="r" b="b"/>
              <a:pathLst>
                <a:path w="2846070" h="2331720">
                  <a:moveTo>
                    <a:pt x="0" y="2331720"/>
                  </a:moveTo>
                  <a:lnTo>
                    <a:pt x="0" y="1989773"/>
                  </a:lnTo>
                  <a:lnTo>
                    <a:pt x="17145" y="1973580"/>
                  </a:lnTo>
                  <a:lnTo>
                    <a:pt x="35242" y="1956435"/>
                  </a:lnTo>
                  <a:lnTo>
                    <a:pt x="53340" y="1938338"/>
                  </a:lnTo>
                  <a:lnTo>
                    <a:pt x="70485" y="1919288"/>
                  </a:lnTo>
                  <a:lnTo>
                    <a:pt x="88582" y="1900238"/>
                  </a:lnTo>
                  <a:lnTo>
                    <a:pt x="106680" y="1881188"/>
                  </a:lnTo>
                  <a:lnTo>
                    <a:pt x="123825" y="1860232"/>
                  </a:lnTo>
                  <a:lnTo>
                    <a:pt x="141922" y="1839278"/>
                  </a:lnTo>
                  <a:lnTo>
                    <a:pt x="160020" y="1818323"/>
                  </a:lnTo>
                  <a:lnTo>
                    <a:pt x="177165" y="1795462"/>
                  </a:lnTo>
                  <a:lnTo>
                    <a:pt x="195262" y="1772603"/>
                  </a:lnTo>
                  <a:lnTo>
                    <a:pt x="213360" y="1749742"/>
                  </a:lnTo>
                  <a:lnTo>
                    <a:pt x="230505" y="1725930"/>
                  </a:lnTo>
                  <a:lnTo>
                    <a:pt x="248602" y="1701165"/>
                  </a:lnTo>
                  <a:lnTo>
                    <a:pt x="266700" y="1675448"/>
                  </a:lnTo>
                  <a:lnTo>
                    <a:pt x="283845" y="1649730"/>
                  </a:lnTo>
                  <a:lnTo>
                    <a:pt x="301942" y="1623060"/>
                  </a:lnTo>
                  <a:lnTo>
                    <a:pt x="320040" y="1596390"/>
                  </a:lnTo>
                  <a:lnTo>
                    <a:pt x="337185" y="1568768"/>
                  </a:lnTo>
                  <a:lnTo>
                    <a:pt x="355282" y="1540192"/>
                  </a:lnTo>
                  <a:lnTo>
                    <a:pt x="373380" y="1511618"/>
                  </a:lnTo>
                  <a:lnTo>
                    <a:pt x="391477" y="1482090"/>
                  </a:lnTo>
                  <a:lnTo>
                    <a:pt x="408622" y="1452562"/>
                  </a:lnTo>
                  <a:lnTo>
                    <a:pt x="426720" y="1422082"/>
                  </a:lnTo>
                  <a:lnTo>
                    <a:pt x="444817" y="1390650"/>
                  </a:lnTo>
                  <a:lnTo>
                    <a:pt x="461962" y="1360170"/>
                  </a:lnTo>
                  <a:lnTo>
                    <a:pt x="480060" y="1327785"/>
                  </a:lnTo>
                  <a:lnTo>
                    <a:pt x="498157" y="1296353"/>
                  </a:lnTo>
                  <a:lnTo>
                    <a:pt x="515302" y="1263015"/>
                  </a:lnTo>
                  <a:lnTo>
                    <a:pt x="533400" y="1230630"/>
                  </a:lnTo>
                  <a:lnTo>
                    <a:pt x="551497" y="1197292"/>
                  </a:lnTo>
                  <a:lnTo>
                    <a:pt x="568642" y="1163955"/>
                  </a:lnTo>
                  <a:lnTo>
                    <a:pt x="586740" y="1129665"/>
                  </a:lnTo>
                  <a:lnTo>
                    <a:pt x="604838" y="1096328"/>
                  </a:lnTo>
                  <a:lnTo>
                    <a:pt x="621982" y="1062038"/>
                  </a:lnTo>
                  <a:lnTo>
                    <a:pt x="640080" y="1027748"/>
                  </a:lnTo>
                  <a:lnTo>
                    <a:pt x="658177" y="993458"/>
                  </a:lnTo>
                  <a:lnTo>
                    <a:pt x="675322" y="958215"/>
                  </a:lnTo>
                  <a:lnTo>
                    <a:pt x="693420" y="923925"/>
                  </a:lnTo>
                  <a:lnTo>
                    <a:pt x="711517" y="888683"/>
                  </a:lnTo>
                  <a:lnTo>
                    <a:pt x="728662" y="854392"/>
                  </a:lnTo>
                  <a:lnTo>
                    <a:pt x="746760" y="820103"/>
                  </a:lnTo>
                  <a:lnTo>
                    <a:pt x="764857" y="785812"/>
                  </a:lnTo>
                  <a:lnTo>
                    <a:pt x="782002" y="751523"/>
                  </a:lnTo>
                  <a:lnTo>
                    <a:pt x="800100" y="717233"/>
                  </a:lnTo>
                  <a:lnTo>
                    <a:pt x="818197" y="683895"/>
                  </a:lnTo>
                  <a:lnTo>
                    <a:pt x="836295" y="649605"/>
                  </a:lnTo>
                  <a:lnTo>
                    <a:pt x="853440" y="617220"/>
                  </a:lnTo>
                  <a:lnTo>
                    <a:pt x="871538" y="583883"/>
                  </a:lnTo>
                  <a:lnTo>
                    <a:pt x="889635" y="551498"/>
                  </a:lnTo>
                  <a:lnTo>
                    <a:pt x="906780" y="520065"/>
                  </a:lnTo>
                  <a:lnTo>
                    <a:pt x="924877" y="488633"/>
                  </a:lnTo>
                  <a:lnTo>
                    <a:pt x="942975" y="458153"/>
                  </a:lnTo>
                  <a:lnTo>
                    <a:pt x="960120" y="427673"/>
                  </a:lnTo>
                  <a:lnTo>
                    <a:pt x="978217" y="399098"/>
                  </a:lnTo>
                  <a:lnTo>
                    <a:pt x="996315" y="370523"/>
                  </a:lnTo>
                  <a:lnTo>
                    <a:pt x="1013460" y="341948"/>
                  </a:lnTo>
                  <a:lnTo>
                    <a:pt x="1031557" y="315278"/>
                  </a:lnTo>
                  <a:lnTo>
                    <a:pt x="1049655" y="288608"/>
                  </a:lnTo>
                  <a:lnTo>
                    <a:pt x="1066800" y="263842"/>
                  </a:lnTo>
                  <a:lnTo>
                    <a:pt x="1084897" y="239078"/>
                  </a:lnTo>
                  <a:lnTo>
                    <a:pt x="1102995" y="216217"/>
                  </a:lnTo>
                  <a:lnTo>
                    <a:pt x="1120140" y="193358"/>
                  </a:lnTo>
                  <a:lnTo>
                    <a:pt x="1138238" y="172403"/>
                  </a:lnTo>
                  <a:lnTo>
                    <a:pt x="1156335" y="152400"/>
                  </a:lnTo>
                  <a:lnTo>
                    <a:pt x="1173480" y="133350"/>
                  </a:lnTo>
                  <a:lnTo>
                    <a:pt x="1191577" y="115253"/>
                  </a:lnTo>
                  <a:lnTo>
                    <a:pt x="1209675" y="98108"/>
                  </a:lnTo>
                  <a:lnTo>
                    <a:pt x="1227772" y="82867"/>
                  </a:lnTo>
                  <a:lnTo>
                    <a:pt x="1244918" y="68580"/>
                  </a:lnTo>
                  <a:lnTo>
                    <a:pt x="1263015" y="56198"/>
                  </a:lnTo>
                  <a:lnTo>
                    <a:pt x="1281112" y="44767"/>
                  </a:lnTo>
                  <a:lnTo>
                    <a:pt x="1298257" y="34290"/>
                  </a:lnTo>
                  <a:lnTo>
                    <a:pt x="1316355" y="24765"/>
                  </a:lnTo>
                  <a:lnTo>
                    <a:pt x="1334452" y="17145"/>
                  </a:lnTo>
                  <a:lnTo>
                    <a:pt x="1351597" y="11430"/>
                  </a:lnTo>
                  <a:lnTo>
                    <a:pt x="1369695" y="6667"/>
                  </a:lnTo>
                  <a:lnTo>
                    <a:pt x="1387792" y="2858"/>
                  </a:lnTo>
                  <a:lnTo>
                    <a:pt x="1404938" y="953"/>
                  </a:lnTo>
                  <a:lnTo>
                    <a:pt x="1423035" y="0"/>
                  </a:lnTo>
                  <a:lnTo>
                    <a:pt x="1441132" y="953"/>
                  </a:lnTo>
                  <a:lnTo>
                    <a:pt x="1458277" y="2858"/>
                  </a:lnTo>
                  <a:lnTo>
                    <a:pt x="1476375" y="6667"/>
                  </a:lnTo>
                  <a:lnTo>
                    <a:pt x="1494472" y="11430"/>
                  </a:lnTo>
                  <a:lnTo>
                    <a:pt x="1511618" y="17145"/>
                  </a:lnTo>
                  <a:lnTo>
                    <a:pt x="1529715" y="24765"/>
                  </a:lnTo>
                  <a:lnTo>
                    <a:pt x="1547812" y="34290"/>
                  </a:lnTo>
                  <a:lnTo>
                    <a:pt x="1564957" y="44767"/>
                  </a:lnTo>
                  <a:lnTo>
                    <a:pt x="1583055" y="56198"/>
                  </a:lnTo>
                  <a:lnTo>
                    <a:pt x="1601152" y="68580"/>
                  </a:lnTo>
                  <a:lnTo>
                    <a:pt x="1618297" y="82867"/>
                  </a:lnTo>
                  <a:lnTo>
                    <a:pt x="1636395" y="98108"/>
                  </a:lnTo>
                  <a:lnTo>
                    <a:pt x="1654492" y="115253"/>
                  </a:lnTo>
                  <a:lnTo>
                    <a:pt x="1672590" y="133350"/>
                  </a:lnTo>
                  <a:lnTo>
                    <a:pt x="1689735" y="152400"/>
                  </a:lnTo>
                  <a:lnTo>
                    <a:pt x="1707832" y="172403"/>
                  </a:lnTo>
                  <a:lnTo>
                    <a:pt x="1725930" y="193358"/>
                  </a:lnTo>
                  <a:lnTo>
                    <a:pt x="1743075" y="216217"/>
                  </a:lnTo>
                  <a:lnTo>
                    <a:pt x="1761172" y="239078"/>
                  </a:lnTo>
                  <a:lnTo>
                    <a:pt x="1779270" y="263842"/>
                  </a:lnTo>
                  <a:lnTo>
                    <a:pt x="1796415" y="288608"/>
                  </a:lnTo>
                  <a:lnTo>
                    <a:pt x="1814512" y="315278"/>
                  </a:lnTo>
                  <a:lnTo>
                    <a:pt x="1832610" y="341948"/>
                  </a:lnTo>
                  <a:lnTo>
                    <a:pt x="1849755" y="370523"/>
                  </a:lnTo>
                  <a:lnTo>
                    <a:pt x="1867852" y="399098"/>
                  </a:lnTo>
                  <a:lnTo>
                    <a:pt x="1885950" y="427673"/>
                  </a:lnTo>
                  <a:lnTo>
                    <a:pt x="1903095" y="458153"/>
                  </a:lnTo>
                  <a:lnTo>
                    <a:pt x="1921192" y="488633"/>
                  </a:lnTo>
                  <a:lnTo>
                    <a:pt x="1939290" y="520065"/>
                  </a:lnTo>
                  <a:lnTo>
                    <a:pt x="1956435" y="551498"/>
                  </a:lnTo>
                  <a:lnTo>
                    <a:pt x="1974532" y="583883"/>
                  </a:lnTo>
                  <a:lnTo>
                    <a:pt x="1992630" y="617220"/>
                  </a:lnTo>
                  <a:lnTo>
                    <a:pt x="2009775" y="649605"/>
                  </a:lnTo>
                  <a:lnTo>
                    <a:pt x="2027872" y="683895"/>
                  </a:lnTo>
                  <a:lnTo>
                    <a:pt x="2045970" y="717233"/>
                  </a:lnTo>
                  <a:lnTo>
                    <a:pt x="2064068" y="751523"/>
                  </a:lnTo>
                  <a:lnTo>
                    <a:pt x="2081212" y="785812"/>
                  </a:lnTo>
                  <a:lnTo>
                    <a:pt x="2099310" y="820103"/>
                  </a:lnTo>
                  <a:lnTo>
                    <a:pt x="2117407" y="854392"/>
                  </a:lnTo>
                  <a:lnTo>
                    <a:pt x="2134552" y="888683"/>
                  </a:lnTo>
                  <a:lnTo>
                    <a:pt x="2152650" y="923925"/>
                  </a:lnTo>
                  <a:lnTo>
                    <a:pt x="2170748" y="958215"/>
                  </a:lnTo>
                  <a:lnTo>
                    <a:pt x="2187892" y="993458"/>
                  </a:lnTo>
                  <a:lnTo>
                    <a:pt x="2205990" y="1027748"/>
                  </a:lnTo>
                  <a:lnTo>
                    <a:pt x="2224088" y="1062038"/>
                  </a:lnTo>
                  <a:lnTo>
                    <a:pt x="2241232" y="1096328"/>
                  </a:lnTo>
                  <a:lnTo>
                    <a:pt x="2259330" y="1129665"/>
                  </a:lnTo>
                  <a:lnTo>
                    <a:pt x="2277427" y="1163955"/>
                  </a:lnTo>
                  <a:lnTo>
                    <a:pt x="2294572" y="1197292"/>
                  </a:lnTo>
                  <a:lnTo>
                    <a:pt x="2312670" y="1230630"/>
                  </a:lnTo>
                  <a:lnTo>
                    <a:pt x="2330767" y="1263015"/>
                  </a:lnTo>
                  <a:lnTo>
                    <a:pt x="2347912" y="1296353"/>
                  </a:lnTo>
                  <a:lnTo>
                    <a:pt x="2366010" y="1327785"/>
                  </a:lnTo>
                  <a:lnTo>
                    <a:pt x="2384107" y="1360170"/>
                  </a:lnTo>
                  <a:lnTo>
                    <a:pt x="2401252" y="1390650"/>
                  </a:lnTo>
                  <a:lnTo>
                    <a:pt x="2419350" y="1422082"/>
                  </a:lnTo>
                  <a:lnTo>
                    <a:pt x="2437448" y="1452562"/>
                  </a:lnTo>
                  <a:lnTo>
                    <a:pt x="2454592" y="1482090"/>
                  </a:lnTo>
                  <a:lnTo>
                    <a:pt x="2472690" y="1511618"/>
                  </a:lnTo>
                  <a:lnTo>
                    <a:pt x="2490788" y="1540192"/>
                  </a:lnTo>
                  <a:lnTo>
                    <a:pt x="2508885" y="1568768"/>
                  </a:lnTo>
                  <a:lnTo>
                    <a:pt x="2526030" y="1596390"/>
                  </a:lnTo>
                  <a:lnTo>
                    <a:pt x="2544128" y="1623060"/>
                  </a:lnTo>
                  <a:lnTo>
                    <a:pt x="2562225" y="1649730"/>
                  </a:lnTo>
                  <a:lnTo>
                    <a:pt x="2579370" y="1675448"/>
                  </a:lnTo>
                  <a:lnTo>
                    <a:pt x="2597467" y="1701165"/>
                  </a:lnTo>
                  <a:lnTo>
                    <a:pt x="2615565" y="1725930"/>
                  </a:lnTo>
                  <a:lnTo>
                    <a:pt x="2632710" y="1749742"/>
                  </a:lnTo>
                  <a:lnTo>
                    <a:pt x="2650807" y="1772603"/>
                  </a:lnTo>
                  <a:lnTo>
                    <a:pt x="2668905" y="1795462"/>
                  </a:lnTo>
                  <a:lnTo>
                    <a:pt x="2686050" y="1818323"/>
                  </a:lnTo>
                  <a:lnTo>
                    <a:pt x="2704148" y="1839278"/>
                  </a:lnTo>
                  <a:lnTo>
                    <a:pt x="2722245" y="1860232"/>
                  </a:lnTo>
                  <a:lnTo>
                    <a:pt x="2739390" y="1881188"/>
                  </a:lnTo>
                  <a:lnTo>
                    <a:pt x="2757488" y="1900238"/>
                  </a:lnTo>
                  <a:lnTo>
                    <a:pt x="2775585" y="1919288"/>
                  </a:lnTo>
                  <a:lnTo>
                    <a:pt x="2792730" y="1938338"/>
                  </a:lnTo>
                  <a:lnTo>
                    <a:pt x="2810828" y="1956435"/>
                  </a:lnTo>
                  <a:lnTo>
                    <a:pt x="2828925" y="1973580"/>
                  </a:lnTo>
                  <a:lnTo>
                    <a:pt x="2846070" y="1989773"/>
                  </a:lnTo>
                  <a:lnTo>
                    <a:pt x="2846070" y="2331720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104900" y="5010150"/>
              <a:ext cx="5857875" cy="9525"/>
            </a:xfrm>
            <a:custGeom>
              <a:avLst/>
              <a:gdLst/>
              <a:ahLst/>
              <a:cxnLst/>
              <a:rect l="l" t="t" r="r" b="b"/>
              <a:pathLst>
                <a:path w="5857875" h="9525">
                  <a:moveTo>
                    <a:pt x="0" y="0"/>
                  </a:moveTo>
                  <a:lnTo>
                    <a:pt x="58578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962775" y="49801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71741" y="49444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04900" y="2678430"/>
              <a:ext cx="5810250" cy="2330768"/>
            </a:xfrm>
            <a:custGeom>
              <a:avLst/>
              <a:gdLst/>
              <a:ahLst/>
              <a:cxnLst/>
              <a:rect l="l" t="t" r="r" b="b"/>
              <a:pathLst>
                <a:path w="5810250" h="2330768">
                  <a:moveTo>
                    <a:pt x="0" y="2330768"/>
                  </a:moveTo>
                  <a:lnTo>
                    <a:pt x="21907" y="2330768"/>
                  </a:lnTo>
                  <a:lnTo>
                    <a:pt x="44768" y="2330768"/>
                  </a:lnTo>
                  <a:lnTo>
                    <a:pt x="66675" y="2330768"/>
                  </a:lnTo>
                  <a:lnTo>
                    <a:pt x="89535" y="2330768"/>
                  </a:lnTo>
                  <a:lnTo>
                    <a:pt x="111443" y="2329815"/>
                  </a:lnTo>
                  <a:lnTo>
                    <a:pt x="134302" y="2329815"/>
                  </a:lnTo>
                  <a:lnTo>
                    <a:pt x="156210" y="2329815"/>
                  </a:lnTo>
                  <a:lnTo>
                    <a:pt x="179070" y="2329815"/>
                  </a:lnTo>
                  <a:lnTo>
                    <a:pt x="200977" y="2329815"/>
                  </a:lnTo>
                  <a:lnTo>
                    <a:pt x="223838" y="2328863"/>
                  </a:lnTo>
                  <a:lnTo>
                    <a:pt x="245745" y="2328863"/>
                  </a:lnTo>
                  <a:lnTo>
                    <a:pt x="268605" y="2328863"/>
                  </a:lnTo>
                  <a:lnTo>
                    <a:pt x="290512" y="2327910"/>
                  </a:lnTo>
                  <a:lnTo>
                    <a:pt x="312420" y="2327910"/>
                  </a:lnTo>
                  <a:lnTo>
                    <a:pt x="335280" y="2326958"/>
                  </a:lnTo>
                  <a:lnTo>
                    <a:pt x="357188" y="2326958"/>
                  </a:lnTo>
                  <a:lnTo>
                    <a:pt x="380048" y="2326005"/>
                  </a:lnTo>
                  <a:lnTo>
                    <a:pt x="401955" y="2326005"/>
                  </a:lnTo>
                  <a:lnTo>
                    <a:pt x="424815" y="2325052"/>
                  </a:lnTo>
                  <a:lnTo>
                    <a:pt x="446723" y="2324100"/>
                  </a:lnTo>
                  <a:lnTo>
                    <a:pt x="469583" y="2323148"/>
                  </a:lnTo>
                  <a:lnTo>
                    <a:pt x="491490" y="2322195"/>
                  </a:lnTo>
                  <a:lnTo>
                    <a:pt x="514350" y="2321242"/>
                  </a:lnTo>
                  <a:lnTo>
                    <a:pt x="536258" y="2320290"/>
                  </a:lnTo>
                  <a:lnTo>
                    <a:pt x="559117" y="2319338"/>
                  </a:lnTo>
                  <a:lnTo>
                    <a:pt x="581025" y="2317432"/>
                  </a:lnTo>
                  <a:lnTo>
                    <a:pt x="602933" y="2316480"/>
                  </a:lnTo>
                  <a:lnTo>
                    <a:pt x="625792" y="2314575"/>
                  </a:lnTo>
                  <a:lnTo>
                    <a:pt x="647700" y="2312670"/>
                  </a:lnTo>
                  <a:lnTo>
                    <a:pt x="670560" y="2310765"/>
                  </a:lnTo>
                  <a:lnTo>
                    <a:pt x="692467" y="2308860"/>
                  </a:lnTo>
                  <a:lnTo>
                    <a:pt x="715328" y="2306955"/>
                  </a:lnTo>
                  <a:lnTo>
                    <a:pt x="737235" y="2305050"/>
                  </a:lnTo>
                  <a:lnTo>
                    <a:pt x="760095" y="2302192"/>
                  </a:lnTo>
                  <a:lnTo>
                    <a:pt x="782002" y="2299335"/>
                  </a:lnTo>
                  <a:lnTo>
                    <a:pt x="804862" y="2296477"/>
                  </a:lnTo>
                  <a:lnTo>
                    <a:pt x="826770" y="2292668"/>
                  </a:lnTo>
                  <a:lnTo>
                    <a:pt x="849630" y="2288858"/>
                  </a:lnTo>
                  <a:lnTo>
                    <a:pt x="871538" y="2285048"/>
                  </a:lnTo>
                  <a:lnTo>
                    <a:pt x="893445" y="2281238"/>
                  </a:lnTo>
                  <a:lnTo>
                    <a:pt x="916305" y="2276475"/>
                  </a:lnTo>
                  <a:lnTo>
                    <a:pt x="938212" y="2271713"/>
                  </a:lnTo>
                  <a:lnTo>
                    <a:pt x="961072" y="2266950"/>
                  </a:lnTo>
                  <a:lnTo>
                    <a:pt x="982980" y="2261235"/>
                  </a:lnTo>
                  <a:lnTo>
                    <a:pt x="1005840" y="2255520"/>
                  </a:lnTo>
                  <a:lnTo>
                    <a:pt x="1027748" y="2248852"/>
                  </a:lnTo>
                  <a:lnTo>
                    <a:pt x="1050608" y="2242185"/>
                  </a:lnTo>
                  <a:lnTo>
                    <a:pt x="1072515" y="2234565"/>
                  </a:lnTo>
                  <a:lnTo>
                    <a:pt x="1095375" y="2226945"/>
                  </a:lnTo>
                  <a:lnTo>
                    <a:pt x="1117282" y="2219325"/>
                  </a:lnTo>
                  <a:lnTo>
                    <a:pt x="1140142" y="2209800"/>
                  </a:lnTo>
                  <a:lnTo>
                    <a:pt x="1162050" y="2201227"/>
                  </a:lnTo>
                  <a:lnTo>
                    <a:pt x="1183958" y="2190750"/>
                  </a:lnTo>
                  <a:lnTo>
                    <a:pt x="1206818" y="2180273"/>
                  </a:lnTo>
                  <a:lnTo>
                    <a:pt x="1228725" y="2168842"/>
                  </a:lnTo>
                  <a:lnTo>
                    <a:pt x="1251585" y="2157412"/>
                  </a:lnTo>
                  <a:lnTo>
                    <a:pt x="1273492" y="2145030"/>
                  </a:lnTo>
                  <a:lnTo>
                    <a:pt x="1296352" y="2131695"/>
                  </a:lnTo>
                  <a:lnTo>
                    <a:pt x="1318260" y="2117408"/>
                  </a:lnTo>
                  <a:lnTo>
                    <a:pt x="1341120" y="2102168"/>
                  </a:lnTo>
                  <a:lnTo>
                    <a:pt x="1363028" y="2086928"/>
                  </a:lnTo>
                  <a:lnTo>
                    <a:pt x="1385888" y="2070735"/>
                  </a:lnTo>
                  <a:lnTo>
                    <a:pt x="1407795" y="2053590"/>
                  </a:lnTo>
                  <a:lnTo>
                    <a:pt x="1430655" y="2035492"/>
                  </a:lnTo>
                  <a:lnTo>
                    <a:pt x="1452562" y="2016442"/>
                  </a:lnTo>
                  <a:lnTo>
                    <a:pt x="1474470" y="1996440"/>
                  </a:lnTo>
                  <a:lnTo>
                    <a:pt x="1497330" y="1975485"/>
                  </a:lnTo>
                  <a:lnTo>
                    <a:pt x="1519238" y="1953578"/>
                  </a:lnTo>
                  <a:lnTo>
                    <a:pt x="1542097" y="1930718"/>
                  </a:lnTo>
                  <a:lnTo>
                    <a:pt x="1564005" y="1907858"/>
                  </a:lnTo>
                  <a:lnTo>
                    <a:pt x="1586865" y="1883092"/>
                  </a:lnTo>
                  <a:lnTo>
                    <a:pt x="1608772" y="1857375"/>
                  </a:lnTo>
                  <a:lnTo>
                    <a:pt x="1631632" y="1830705"/>
                  </a:lnTo>
                  <a:lnTo>
                    <a:pt x="1653540" y="1803082"/>
                  </a:lnTo>
                  <a:lnTo>
                    <a:pt x="1676400" y="1774508"/>
                  </a:lnTo>
                  <a:lnTo>
                    <a:pt x="1698308" y="1744980"/>
                  </a:lnTo>
                  <a:lnTo>
                    <a:pt x="1721168" y="1714500"/>
                  </a:lnTo>
                  <a:lnTo>
                    <a:pt x="1743075" y="1683068"/>
                  </a:lnTo>
                  <a:lnTo>
                    <a:pt x="1764982" y="1650682"/>
                  </a:lnTo>
                  <a:lnTo>
                    <a:pt x="1787842" y="1617345"/>
                  </a:lnTo>
                  <a:lnTo>
                    <a:pt x="1809750" y="1583055"/>
                  </a:lnTo>
                  <a:lnTo>
                    <a:pt x="1832610" y="1547812"/>
                  </a:lnTo>
                  <a:lnTo>
                    <a:pt x="1854518" y="1512570"/>
                  </a:lnTo>
                  <a:lnTo>
                    <a:pt x="1877378" y="1475423"/>
                  </a:lnTo>
                  <a:lnTo>
                    <a:pt x="1899285" y="1437323"/>
                  </a:lnTo>
                  <a:lnTo>
                    <a:pt x="1922145" y="1399223"/>
                  </a:lnTo>
                  <a:lnTo>
                    <a:pt x="1944053" y="1360170"/>
                  </a:lnTo>
                  <a:lnTo>
                    <a:pt x="1966912" y="1320165"/>
                  </a:lnTo>
                  <a:lnTo>
                    <a:pt x="1988820" y="1279208"/>
                  </a:lnTo>
                  <a:lnTo>
                    <a:pt x="2011680" y="1238250"/>
                  </a:lnTo>
                  <a:lnTo>
                    <a:pt x="2033588" y="1196340"/>
                  </a:lnTo>
                  <a:lnTo>
                    <a:pt x="2055495" y="1154430"/>
                  </a:lnTo>
                  <a:lnTo>
                    <a:pt x="2078355" y="1112520"/>
                  </a:lnTo>
                  <a:lnTo>
                    <a:pt x="2100262" y="1068705"/>
                  </a:lnTo>
                  <a:lnTo>
                    <a:pt x="2123122" y="1025842"/>
                  </a:lnTo>
                  <a:lnTo>
                    <a:pt x="2145030" y="982980"/>
                  </a:lnTo>
                  <a:lnTo>
                    <a:pt x="2167890" y="939165"/>
                  </a:lnTo>
                  <a:lnTo>
                    <a:pt x="2189798" y="895350"/>
                  </a:lnTo>
                  <a:lnTo>
                    <a:pt x="2212658" y="852488"/>
                  </a:lnTo>
                  <a:lnTo>
                    <a:pt x="2234565" y="808673"/>
                  </a:lnTo>
                  <a:lnTo>
                    <a:pt x="2257425" y="765810"/>
                  </a:lnTo>
                  <a:lnTo>
                    <a:pt x="2279332" y="722948"/>
                  </a:lnTo>
                  <a:lnTo>
                    <a:pt x="2302192" y="680085"/>
                  </a:lnTo>
                  <a:lnTo>
                    <a:pt x="2324100" y="638175"/>
                  </a:lnTo>
                  <a:lnTo>
                    <a:pt x="2346008" y="597217"/>
                  </a:lnTo>
                  <a:lnTo>
                    <a:pt x="2368868" y="556260"/>
                  </a:lnTo>
                  <a:lnTo>
                    <a:pt x="2390775" y="516255"/>
                  </a:lnTo>
                  <a:lnTo>
                    <a:pt x="2413635" y="477203"/>
                  </a:lnTo>
                  <a:lnTo>
                    <a:pt x="2435542" y="439103"/>
                  </a:lnTo>
                  <a:lnTo>
                    <a:pt x="2458402" y="401955"/>
                  </a:lnTo>
                  <a:lnTo>
                    <a:pt x="2480310" y="365760"/>
                  </a:lnTo>
                  <a:lnTo>
                    <a:pt x="2503170" y="331470"/>
                  </a:lnTo>
                  <a:lnTo>
                    <a:pt x="2525078" y="298133"/>
                  </a:lnTo>
                  <a:lnTo>
                    <a:pt x="2547938" y="265748"/>
                  </a:lnTo>
                  <a:lnTo>
                    <a:pt x="2569845" y="235267"/>
                  </a:lnTo>
                  <a:lnTo>
                    <a:pt x="2592705" y="206692"/>
                  </a:lnTo>
                  <a:lnTo>
                    <a:pt x="2614612" y="179070"/>
                  </a:lnTo>
                  <a:lnTo>
                    <a:pt x="2636520" y="153353"/>
                  </a:lnTo>
                  <a:lnTo>
                    <a:pt x="2659380" y="129540"/>
                  </a:lnTo>
                  <a:lnTo>
                    <a:pt x="2681288" y="107633"/>
                  </a:lnTo>
                  <a:lnTo>
                    <a:pt x="2704148" y="87630"/>
                  </a:lnTo>
                  <a:lnTo>
                    <a:pt x="2726055" y="69533"/>
                  </a:lnTo>
                  <a:lnTo>
                    <a:pt x="2748915" y="53340"/>
                  </a:lnTo>
                  <a:lnTo>
                    <a:pt x="2770822" y="39053"/>
                  </a:lnTo>
                  <a:lnTo>
                    <a:pt x="2793682" y="27623"/>
                  </a:lnTo>
                  <a:lnTo>
                    <a:pt x="2815590" y="17145"/>
                  </a:lnTo>
                  <a:lnTo>
                    <a:pt x="2838450" y="9525"/>
                  </a:lnTo>
                  <a:lnTo>
                    <a:pt x="2860358" y="4762"/>
                  </a:lnTo>
                  <a:lnTo>
                    <a:pt x="2883218" y="953"/>
                  </a:lnTo>
                  <a:lnTo>
                    <a:pt x="2905125" y="0"/>
                  </a:lnTo>
                  <a:lnTo>
                    <a:pt x="2927032" y="953"/>
                  </a:lnTo>
                  <a:lnTo>
                    <a:pt x="2949892" y="4762"/>
                  </a:lnTo>
                  <a:lnTo>
                    <a:pt x="2971800" y="9525"/>
                  </a:lnTo>
                  <a:lnTo>
                    <a:pt x="2994660" y="17145"/>
                  </a:lnTo>
                  <a:lnTo>
                    <a:pt x="3016568" y="27623"/>
                  </a:lnTo>
                  <a:lnTo>
                    <a:pt x="3039428" y="39053"/>
                  </a:lnTo>
                  <a:lnTo>
                    <a:pt x="3061335" y="53340"/>
                  </a:lnTo>
                  <a:lnTo>
                    <a:pt x="3084195" y="69533"/>
                  </a:lnTo>
                  <a:lnTo>
                    <a:pt x="3106102" y="87630"/>
                  </a:lnTo>
                  <a:lnTo>
                    <a:pt x="3128962" y="107633"/>
                  </a:lnTo>
                  <a:lnTo>
                    <a:pt x="3150870" y="129540"/>
                  </a:lnTo>
                  <a:lnTo>
                    <a:pt x="3173730" y="153353"/>
                  </a:lnTo>
                  <a:lnTo>
                    <a:pt x="3195638" y="179070"/>
                  </a:lnTo>
                  <a:lnTo>
                    <a:pt x="3217545" y="206692"/>
                  </a:lnTo>
                  <a:lnTo>
                    <a:pt x="3240405" y="235267"/>
                  </a:lnTo>
                  <a:lnTo>
                    <a:pt x="3262312" y="265748"/>
                  </a:lnTo>
                  <a:lnTo>
                    <a:pt x="3285172" y="298133"/>
                  </a:lnTo>
                  <a:lnTo>
                    <a:pt x="3307080" y="331470"/>
                  </a:lnTo>
                  <a:lnTo>
                    <a:pt x="3329940" y="365760"/>
                  </a:lnTo>
                  <a:lnTo>
                    <a:pt x="3351848" y="401955"/>
                  </a:lnTo>
                  <a:lnTo>
                    <a:pt x="3374708" y="439103"/>
                  </a:lnTo>
                  <a:lnTo>
                    <a:pt x="3396615" y="477203"/>
                  </a:lnTo>
                  <a:lnTo>
                    <a:pt x="3419475" y="516255"/>
                  </a:lnTo>
                  <a:lnTo>
                    <a:pt x="3441382" y="556260"/>
                  </a:lnTo>
                  <a:lnTo>
                    <a:pt x="3464242" y="597217"/>
                  </a:lnTo>
                  <a:lnTo>
                    <a:pt x="3486150" y="638175"/>
                  </a:lnTo>
                  <a:lnTo>
                    <a:pt x="3508058" y="680085"/>
                  </a:lnTo>
                  <a:lnTo>
                    <a:pt x="3530918" y="722948"/>
                  </a:lnTo>
                  <a:lnTo>
                    <a:pt x="3552825" y="765810"/>
                  </a:lnTo>
                  <a:lnTo>
                    <a:pt x="3575685" y="808673"/>
                  </a:lnTo>
                  <a:lnTo>
                    <a:pt x="3597592" y="852488"/>
                  </a:lnTo>
                  <a:lnTo>
                    <a:pt x="3620452" y="895350"/>
                  </a:lnTo>
                  <a:lnTo>
                    <a:pt x="3642360" y="939165"/>
                  </a:lnTo>
                  <a:lnTo>
                    <a:pt x="3665220" y="982980"/>
                  </a:lnTo>
                  <a:lnTo>
                    <a:pt x="3687128" y="1025842"/>
                  </a:lnTo>
                  <a:lnTo>
                    <a:pt x="3709988" y="1068705"/>
                  </a:lnTo>
                  <a:lnTo>
                    <a:pt x="3731895" y="1112520"/>
                  </a:lnTo>
                  <a:lnTo>
                    <a:pt x="3754755" y="1154430"/>
                  </a:lnTo>
                  <a:lnTo>
                    <a:pt x="3776662" y="1196340"/>
                  </a:lnTo>
                  <a:lnTo>
                    <a:pt x="3798570" y="1238250"/>
                  </a:lnTo>
                  <a:lnTo>
                    <a:pt x="3821430" y="1279208"/>
                  </a:lnTo>
                  <a:lnTo>
                    <a:pt x="3843338" y="1320165"/>
                  </a:lnTo>
                  <a:lnTo>
                    <a:pt x="3866198" y="1360170"/>
                  </a:lnTo>
                  <a:lnTo>
                    <a:pt x="3888105" y="1399223"/>
                  </a:lnTo>
                  <a:lnTo>
                    <a:pt x="3910965" y="1437323"/>
                  </a:lnTo>
                  <a:lnTo>
                    <a:pt x="3932872" y="1475423"/>
                  </a:lnTo>
                  <a:lnTo>
                    <a:pt x="3955732" y="1512570"/>
                  </a:lnTo>
                  <a:lnTo>
                    <a:pt x="3977640" y="1547812"/>
                  </a:lnTo>
                  <a:lnTo>
                    <a:pt x="4000500" y="1583055"/>
                  </a:lnTo>
                  <a:lnTo>
                    <a:pt x="4022407" y="1617345"/>
                  </a:lnTo>
                  <a:lnTo>
                    <a:pt x="4045268" y="1650682"/>
                  </a:lnTo>
                  <a:lnTo>
                    <a:pt x="4067175" y="1683068"/>
                  </a:lnTo>
                  <a:lnTo>
                    <a:pt x="4089082" y="1714500"/>
                  </a:lnTo>
                  <a:lnTo>
                    <a:pt x="4111943" y="1744980"/>
                  </a:lnTo>
                  <a:lnTo>
                    <a:pt x="4133850" y="1774508"/>
                  </a:lnTo>
                  <a:lnTo>
                    <a:pt x="4156710" y="1803082"/>
                  </a:lnTo>
                  <a:lnTo>
                    <a:pt x="4178618" y="1830705"/>
                  </a:lnTo>
                  <a:lnTo>
                    <a:pt x="4201478" y="1857375"/>
                  </a:lnTo>
                  <a:lnTo>
                    <a:pt x="4223385" y="1883092"/>
                  </a:lnTo>
                  <a:lnTo>
                    <a:pt x="4246245" y="1907858"/>
                  </a:lnTo>
                  <a:lnTo>
                    <a:pt x="4268152" y="1930718"/>
                  </a:lnTo>
                  <a:lnTo>
                    <a:pt x="4291012" y="1953578"/>
                  </a:lnTo>
                  <a:lnTo>
                    <a:pt x="4312920" y="1975485"/>
                  </a:lnTo>
                  <a:lnTo>
                    <a:pt x="4335780" y="1996440"/>
                  </a:lnTo>
                  <a:lnTo>
                    <a:pt x="4357688" y="2016442"/>
                  </a:lnTo>
                  <a:lnTo>
                    <a:pt x="4379595" y="2035492"/>
                  </a:lnTo>
                  <a:lnTo>
                    <a:pt x="4402455" y="2053590"/>
                  </a:lnTo>
                  <a:lnTo>
                    <a:pt x="4424362" y="2070735"/>
                  </a:lnTo>
                  <a:lnTo>
                    <a:pt x="4447222" y="2086928"/>
                  </a:lnTo>
                  <a:lnTo>
                    <a:pt x="4469130" y="2102168"/>
                  </a:lnTo>
                  <a:lnTo>
                    <a:pt x="4491990" y="2117408"/>
                  </a:lnTo>
                  <a:lnTo>
                    <a:pt x="4513898" y="2131695"/>
                  </a:lnTo>
                  <a:lnTo>
                    <a:pt x="4536758" y="2145030"/>
                  </a:lnTo>
                  <a:lnTo>
                    <a:pt x="4558665" y="2157412"/>
                  </a:lnTo>
                  <a:lnTo>
                    <a:pt x="4581525" y="2168842"/>
                  </a:lnTo>
                  <a:lnTo>
                    <a:pt x="4603432" y="2180273"/>
                  </a:lnTo>
                  <a:lnTo>
                    <a:pt x="4626292" y="2190750"/>
                  </a:lnTo>
                  <a:lnTo>
                    <a:pt x="4648200" y="2201227"/>
                  </a:lnTo>
                  <a:lnTo>
                    <a:pt x="4670108" y="2209800"/>
                  </a:lnTo>
                  <a:lnTo>
                    <a:pt x="4692968" y="2219325"/>
                  </a:lnTo>
                  <a:lnTo>
                    <a:pt x="4714875" y="2226945"/>
                  </a:lnTo>
                  <a:lnTo>
                    <a:pt x="4737735" y="2234565"/>
                  </a:lnTo>
                  <a:lnTo>
                    <a:pt x="4759642" y="2242185"/>
                  </a:lnTo>
                  <a:lnTo>
                    <a:pt x="4782502" y="2248852"/>
                  </a:lnTo>
                  <a:lnTo>
                    <a:pt x="4804410" y="2255520"/>
                  </a:lnTo>
                  <a:lnTo>
                    <a:pt x="4827270" y="2261235"/>
                  </a:lnTo>
                  <a:lnTo>
                    <a:pt x="4849178" y="2266950"/>
                  </a:lnTo>
                  <a:lnTo>
                    <a:pt x="4872038" y="2271713"/>
                  </a:lnTo>
                  <a:lnTo>
                    <a:pt x="4893945" y="2276475"/>
                  </a:lnTo>
                  <a:lnTo>
                    <a:pt x="4916805" y="2281238"/>
                  </a:lnTo>
                  <a:lnTo>
                    <a:pt x="4938712" y="2285048"/>
                  </a:lnTo>
                  <a:lnTo>
                    <a:pt x="4960620" y="2288858"/>
                  </a:lnTo>
                  <a:lnTo>
                    <a:pt x="4983480" y="2292668"/>
                  </a:lnTo>
                  <a:lnTo>
                    <a:pt x="5005388" y="2296477"/>
                  </a:lnTo>
                  <a:lnTo>
                    <a:pt x="5028248" y="2299335"/>
                  </a:lnTo>
                  <a:lnTo>
                    <a:pt x="5050155" y="2302192"/>
                  </a:lnTo>
                  <a:lnTo>
                    <a:pt x="5073015" y="2305050"/>
                  </a:lnTo>
                  <a:lnTo>
                    <a:pt x="5094922" y="2306955"/>
                  </a:lnTo>
                  <a:lnTo>
                    <a:pt x="5117782" y="2308860"/>
                  </a:lnTo>
                  <a:lnTo>
                    <a:pt x="5139690" y="2310765"/>
                  </a:lnTo>
                  <a:lnTo>
                    <a:pt x="5162550" y="2312670"/>
                  </a:lnTo>
                  <a:lnTo>
                    <a:pt x="5184458" y="2314575"/>
                  </a:lnTo>
                  <a:lnTo>
                    <a:pt x="5207318" y="2316480"/>
                  </a:lnTo>
                  <a:lnTo>
                    <a:pt x="5229225" y="2317432"/>
                  </a:lnTo>
                  <a:lnTo>
                    <a:pt x="5251132" y="2319338"/>
                  </a:lnTo>
                  <a:lnTo>
                    <a:pt x="5273992" y="2320290"/>
                  </a:lnTo>
                  <a:lnTo>
                    <a:pt x="5295900" y="2321242"/>
                  </a:lnTo>
                  <a:lnTo>
                    <a:pt x="5318760" y="2322195"/>
                  </a:lnTo>
                  <a:lnTo>
                    <a:pt x="5340668" y="2323148"/>
                  </a:lnTo>
                  <a:lnTo>
                    <a:pt x="5363528" y="2324100"/>
                  </a:lnTo>
                  <a:lnTo>
                    <a:pt x="5385435" y="2325052"/>
                  </a:lnTo>
                  <a:lnTo>
                    <a:pt x="5408295" y="2326005"/>
                  </a:lnTo>
                  <a:lnTo>
                    <a:pt x="5430202" y="2326005"/>
                  </a:lnTo>
                  <a:lnTo>
                    <a:pt x="5453062" y="2326958"/>
                  </a:lnTo>
                  <a:lnTo>
                    <a:pt x="5474970" y="2326958"/>
                  </a:lnTo>
                  <a:lnTo>
                    <a:pt x="5497830" y="2327910"/>
                  </a:lnTo>
                  <a:lnTo>
                    <a:pt x="5519738" y="2327910"/>
                  </a:lnTo>
                  <a:lnTo>
                    <a:pt x="5541645" y="2328863"/>
                  </a:lnTo>
                  <a:lnTo>
                    <a:pt x="5564505" y="2328863"/>
                  </a:lnTo>
                  <a:lnTo>
                    <a:pt x="5586412" y="2328863"/>
                  </a:lnTo>
                  <a:lnTo>
                    <a:pt x="5609272" y="2329815"/>
                  </a:lnTo>
                  <a:lnTo>
                    <a:pt x="5631180" y="2329815"/>
                  </a:lnTo>
                  <a:lnTo>
                    <a:pt x="5654040" y="2329815"/>
                  </a:lnTo>
                  <a:lnTo>
                    <a:pt x="5675948" y="2329815"/>
                  </a:lnTo>
                  <a:lnTo>
                    <a:pt x="5698808" y="2329815"/>
                  </a:lnTo>
                  <a:lnTo>
                    <a:pt x="5720715" y="2330768"/>
                  </a:lnTo>
                  <a:lnTo>
                    <a:pt x="5743575" y="2330768"/>
                  </a:lnTo>
                  <a:lnTo>
                    <a:pt x="5765482" y="2330768"/>
                  </a:lnTo>
                  <a:lnTo>
                    <a:pt x="5788342" y="2330768"/>
                  </a:lnTo>
                  <a:lnTo>
                    <a:pt x="5810250" y="2330768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586990" y="4376738"/>
              <a:ext cx="9525" cy="633412"/>
            </a:xfrm>
            <a:custGeom>
              <a:avLst/>
              <a:gdLst/>
              <a:ahLst/>
              <a:cxnLst/>
              <a:rect l="l" t="t" r="r" b="b"/>
              <a:pathLst>
                <a:path w="9525" h="633412">
                  <a:moveTo>
                    <a:pt x="0" y="63341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2410C"/>
              </a:solidFill>
              <a:custDash>
                <a:ds d="312500" sp="250000"/>
              </a:custDash>
            </a:ln>
          </p:spPr>
        </p:sp>
        <p:sp>
          <p:nvSpPr>
            <p:cNvPr id="18" name="Line 18"/>
            <p:cNvSpPr/>
            <p:nvPr/>
          </p:nvSpPr>
          <p:spPr>
            <a:xfrm>
              <a:off x="5433060" y="4376738"/>
              <a:ext cx="9525" cy="633412"/>
            </a:xfrm>
            <a:custGeom>
              <a:avLst/>
              <a:gdLst/>
              <a:ahLst/>
              <a:cxnLst/>
              <a:rect l="l" t="t" r="r" b="b"/>
              <a:pathLst>
                <a:path w="9525" h="633412">
                  <a:moveTo>
                    <a:pt x="0" y="63341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2410C"/>
              </a:solidFill>
              <a:custDash>
                <a:ds d="312500" sp="250000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2586990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00189" y="508587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−1.96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433060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3434" y="508587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1.96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010025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68792" y="50858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05736" y="3895077"/>
              <a:ext cx="12085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接受域 面积 0.95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86651" y="4136965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|u| &lt; 1.96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23863" y="4141013"/>
              <a:ext cx="80263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α/2 = 0.025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752700" y="4320454"/>
              <a:ext cx="436169" cy="540029"/>
            </a:xfrm>
            <a:custGeom>
              <a:avLst/>
              <a:gdLst/>
              <a:ahLst/>
              <a:cxnLst/>
              <a:rect l="l" t="t" r="r" b="b"/>
              <a:pathLst>
                <a:path w="436169" h="540029">
                  <a:moveTo>
                    <a:pt x="436169" y="0"/>
                  </a:moveTo>
                  <a:lnTo>
                    <a:pt x="0" y="540029"/>
                  </a:lnTo>
                </a:path>
              </a:pathLst>
            </a:custGeom>
            <a:noFill/>
            <a:ln w="12382">
              <a:solidFill>
                <a:srgbClr val="C2410C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5716791" y="4844320"/>
              <a:ext cx="55912" cy="60627"/>
            </a:xfrm>
            <a:custGeom>
              <a:avLst/>
              <a:gdLst/>
              <a:ahLst/>
              <a:cxnLst/>
              <a:rect l="l" t="t" r="r" b="b"/>
              <a:pathLst>
                <a:path w="55912" h="60627">
                  <a:moveTo>
                    <a:pt x="0" y="60627"/>
                  </a:moveTo>
                  <a:lnTo>
                    <a:pt x="15897" y="0"/>
                  </a:lnTo>
                  <a:lnTo>
                    <a:pt x="55912" y="32318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93557" y="4141013"/>
              <a:ext cx="80263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α/2 = 0.025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831181" y="4320454"/>
              <a:ext cx="436169" cy="540029"/>
            </a:xfrm>
            <a:custGeom>
              <a:avLst/>
              <a:gdLst/>
              <a:ahLst/>
              <a:cxnLst/>
              <a:rect l="l" t="t" r="r" b="b"/>
              <a:pathLst>
                <a:path w="436169" h="540029">
                  <a:moveTo>
                    <a:pt x="0" y="0"/>
                  </a:moveTo>
                  <a:lnTo>
                    <a:pt x="436169" y="540029"/>
                  </a:lnTo>
                </a:path>
              </a:pathLst>
            </a:custGeom>
            <a:noFill/>
            <a:ln w="12382">
              <a:solidFill>
                <a:srgbClr val="C2410C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2247348" y="4844320"/>
              <a:ext cx="55912" cy="60627"/>
            </a:xfrm>
            <a:custGeom>
              <a:avLst/>
              <a:gdLst/>
              <a:ahLst/>
              <a:cxnLst/>
              <a:rect l="l" t="t" r="r" b="b"/>
              <a:pathLst>
                <a:path w="55912" h="60627">
                  <a:moveTo>
                    <a:pt x="55912" y="60627"/>
                  </a:moveTo>
                  <a:lnTo>
                    <a:pt x="0" y="32318"/>
                  </a:lnTo>
                  <a:lnTo>
                    <a:pt x="40015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1927860" y="4512945"/>
              <a:ext cx="9525" cy="497205"/>
            </a:xfrm>
            <a:custGeom>
              <a:avLst/>
              <a:gdLst/>
              <a:ahLst/>
              <a:cxnLst/>
              <a:rect l="l" t="t" r="r" b="b"/>
              <a:pathLst>
                <a:path w="9525" h="497205">
                  <a:moveTo>
                    <a:pt x="0" y="49720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0392B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875472" y="4957762"/>
              <a:ext cx="104775" cy="104775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03667" y="34355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样本算得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56138" y="3640150"/>
              <a:ext cx="671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u = −2.87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891703" y="3841175"/>
              <a:ext cx="32937" cy="556660"/>
            </a:xfrm>
            <a:custGeom>
              <a:avLst/>
              <a:gdLst/>
              <a:ahLst/>
              <a:cxnLst/>
              <a:rect l="l" t="t" r="r" b="b"/>
              <a:pathLst>
                <a:path w="32937" h="556660">
                  <a:moveTo>
                    <a:pt x="0" y="0"/>
                  </a:moveTo>
                  <a:lnTo>
                    <a:pt x="32937" y="556660"/>
                  </a:lnTo>
                </a:path>
              </a:pathLst>
            </a:custGeom>
            <a:noFill/>
            <a:ln w="13335">
              <a:solidFill>
                <a:srgbClr val="C0392B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1898971" y="4396321"/>
              <a:ext cx="51349" cy="58569"/>
            </a:xfrm>
            <a:custGeom>
              <a:avLst/>
              <a:gdLst/>
              <a:ahLst/>
              <a:cxnLst/>
              <a:rect l="l" t="t" r="r" b="b"/>
              <a:pathLst>
                <a:path w="51349" h="58569">
                  <a:moveTo>
                    <a:pt x="29051" y="58569"/>
                  </a:moveTo>
                  <a:lnTo>
                    <a:pt x="0" y="3038"/>
                  </a:lnTo>
                  <a:lnTo>
                    <a:pt x="51349" y="0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1104900" y="5391150"/>
              <a:ext cx="1482090" cy="9525"/>
            </a:xfrm>
            <a:custGeom>
              <a:avLst/>
              <a:gdLst/>
              <a:ahLst/>
              <a:cxnLst/>
              <a:rect l="l" t="t" r="r" b="b"/>
              <a:pathLst>
                <a:path w="1482090" h="9525">
                  <a:moveTo>
                    <a:pt x="0" y="0"/>
                  </a:moveTo>
                  <a:lnTo>
                    <a:pt x="1482090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557430" y="5472351"/>
              <a:ext cx="57657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拒绝域 W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433060" y="5391150"/>
              <a:ext cx="1482090" cy="9525"/>
            </a:xfrm>
            <a:custGeom>
              <a:avLst/>
              <a:gdLst/>
              <a:ahLst/>
              <a:cxnLst/>
              <a:rect l="l" t="t" r="r" b="b"/>
              <a:pathLst>
                <a:path w="1482090" h="9525">
                  <a:moveTo>
                    <a:pt x="0" y="0"/>
                  </a:moveTo>
                  <a:lnTo>
                    <a:pt x="1482090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86047" y="5472351"/>
              <a:ext cx="57657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拒绝域 W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200150" y="5829300"/>
              <a:ext cx="209550" cy="133350"/>
            </a:xfrm>
            <a:prstGeom prst="rect">
              <a:avLst/>
            </a:prstGeom>
            <a:solidFill>
              <a:srgbClr val="F6C6A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480756" y="5834301"/>
              <a:ext cx="148552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拒绝域：尾部面积合计 α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676650" y="5829300"/>
              <a:ext cx="209550" cy="133350"/>
            </a:xfrm>
            <a:prstGeom prst="rect">
              <a:avLst/>
            </a:prstGeom>
            <a:solidFill>
              <a:srgbClr val="D6DFF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957256" y="5834301"/>
              <a:ext cx="117279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接受域：面积 1 − α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815012" y="5843588"/>
              <a:ext cx="104775" cy="104775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76556" y="5834301"/>
              <a:ext cx="80568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的观测值</a:t>
              </a:r>
            </a:p>
          </p:txBody>
        </p:sp>
      </p:grpSp>
      <p:grpSp>
        <p:nvGrpSpPr>
          <p:cNvPr id="65" name="exB"/>
          <p:cNvGrpSpPr/>
          <p:nvPr/>
        </p:nvGrpSpPr>
        <p:grpSpPr>
          <a:xfrm>
            <a:off x="7848600" y="1524000"/>
            <a:ext cx="3810000" cy="4762500"/>
            <a:chOff x="7848600" y="1524000"/>
            <a:chExt cx="3810000" cy="4762500"/>
          </a:xfrm>
        </p:grpSpPr>
        <p:sp>
          <p:nvSpPr>
            <p:cNvPr id="50" name="Rectangle 50"/>
            <p:cNvSpPr/>
            <p:nvPr/>
          </p:nvSpPr>
          <p:spPr>
            <a:xfrm>
              <a:off x="7848600" y="1524000"/>
              <a:ext cx="3810000" cy="1428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58125" y="1628775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20050" y="16287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13014" y="16821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判定规则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14526" y="1940004"/>
              <a:ext cx="1859090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|u| ≥ 1.96：u 落进两侧尾巴，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小概率事件发生，拒绝 H₀；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|u| &lt; 1.96：接受 H₀。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848600" y="3086100"/>
              <a:ext cx="3810000" cy="1562100"/>
            </a:xfrm>
            <a:prstGeom prst="roundRect">
              <a:avLst>
                <a:gd name="adj" fmla="val 60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58125" y="3190875"/>
              <a:ext cx="47625" cy="13525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20050" y="3190875"/>
              <a:ext cx="12954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097012" y="324421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换成样本均值来看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14526" y="3502104"/>
              <a:ext cx="2073656" cy="812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的临界值 ±1.96 对应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± 1.96 × 0.5/3，即样本均值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99.673 或 ≥ 100.327 时拒绝。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本例均值 99.522，落在左侧。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848600" y="4781550"/>
              <a:ext cx="3810000" cy="1504950"/>
            </a:xfrm>
            <a:prstGeom prst="roundRect">
              <a:avLst>
                <a:gd name="adj" fmla="val 63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858125" y="4886325"/>
              <a:ext cx="47625" cy="1295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20050" y="4886325"/>
              <a:ext cx="10143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105438" y="4939665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 值（补充）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14526" y="5197554"/>
              <a:ext cx="2011362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P{|u| ≥ 2.87} = 0.0041。p 值是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“比观测值更极端”的概率，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值 &lt; α 与 u 落入拒绝域等价。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两类错误：弃真与取伪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626418" cy="1143952"/>
            <a:chOff x="533400" y="1524000"/>
            <a:chExt cx="5626418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443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64884" y="1641157"/>
              <a:ext cx="512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H₀ 为真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90851" y="1641157"/>
              <a:ext cx="512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H₀ 不真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4659" y="2023110"/>
              <a:ext cx="512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 H₀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18360" y="1914525"/>
              <a:ext cx="200691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7465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44328" y="1914525"/>
              <a:ext cx="200691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05896" y="2023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第二类错误（取伪）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4659" y="2404110"/>
              <a:ext cx="512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 H₀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118360" y="2296478"/>
              <a:ext cx="200691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79929" y="2404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第一类错误（弃真）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44328" y="2296478"/>
              <a:ext cx="200691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00625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04072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30040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2832735"/>
            <a:ext cx="5626418" cy="1305878"/>
            <a:chOff x="533400" y="2832735"/>
            <a:chExt cx="5626418" cy="1305878"/>
          </a:xfrm>
        </p:grpSpPr>
        <p:sp>
          <p:nvSpPr>
            <p:cNvPr id="27" name="Rectangle 27"/>
            <p:cNvSpPr/>
            <p:nvPr/>
          </p:nvSpPr>
          <p:spPr>
            <a:xfrm>
              <a:off x="533400" y="2832735"/>
              <a:ext cx="5626418" cy="1305878"/>
            </a:xfrm>
            <a:prstGeom prst="roundRect">
              <a:avLst>
                <a:gd name="adj" fmla="val 10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2966085"/>
              <a:ext cx="47625" cy="103917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301371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8693" y="304657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第一类错误（弃真）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3354229"/>
              <a:ext cx="29092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为真却拒绝了 H₀，概率不超过 α：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64"/>
                <p:cNvSpPr txBox="1">
                  <a:spLocks noGrp="1"/>
                </p:cNvSpPr>
                <p:nvPr/>
              </p:nvSpPr>
              <p:spPr>
                <a:xfrm>
                  <a:off x="752475" y="3617595"/>
                  <a:ext cx="5226368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拒绝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nor m:val="on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正确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0" name="c1-card-3"/>
          <p:cNvGrpSpPr/>
          <p:nvPr/>
        </p:nvGrpSpPr>
        <p:grpSpPr>
          <a:xfrm>
            <a:off x="533400" y="4303395"/>
            <a:ext cx="5626418" cy="1305878"/>
            <a:chOff x="533400" y="4303395"/>
            <a:chExt cx="5626418" cy="1305878"/>
          </a:xfrm>
        </p:grpSpPr>
        <p:sp>
          <p:nvSpPr>
            <p:cNvPr id="34" name="Rectangle 34"/>
            <p:cNvSpPr/>
            <p:nvPr/>
          </p:nvSpPr>
          <p:spPr>
            <a:xfrm>
              <a:off x="533400" y="4303395"/>
              <a:ext cx="5626418" cy="1305878"/>
            </a:xfrm>
            <a:prstGeom prst="roundRect">
              <a:avLst>
                <a:gd name="adj" fmla="val 10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436745"/>
              <a:ext cx="47625" cy="103917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2475" y="448437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8693" y="451723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第二类错误（取伪）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5998" y="4824889"/>
              <a:ext cx="29092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不正确却接受了 H₀，概率记为 β：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65"/>
                <p:cNvSpPr txBox="1">
                  <a:spLocks noGrp="1"/>
                </p:cNvSpPr>
                <p:nvPr/>
              </p:nvSpPr>
              <p:spPr>
                <a:xfrm>
                  <a:off x="752475" y="5089208"/>
                  <a:ext cx="5226368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接受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nor m:val="on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不正确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β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1386840"/>
            <a:chOff x="6464618" y="1524000"/>
            <a:chExt cx="5193982" cy="1386840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83692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6921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此消彼长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77216" y="2045494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确定检验法则时，应尽可能使两类错误的概率都较小。但样本容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量给定后，减少其中一类错误的概率，另一类错误的概率往往会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增大。要使两者都减小，只能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增大样本容量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464618" y="3075622"/>
            <a:ext cx="5193982" cy="1386840"/>
            <a:chOff x="6464618" y="3075622"/>
            <a:chExt cx="5193982" cy="1386840"/>
          </a:xfrm>
        </p:grpSpPr>
        <p:sp>
          <p:nvSpPr>
            <p:cNvPr id="47" name="Rectangle 47"/>
            <p:cNvSpPr/>
            <p:nvPr/>
          </p:nvSpPr>
          <p:spPr>
            <a:xfrm>
              <a:off x="6464618" y="3075622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45592" y="325659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27063" y="328945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显著性检验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39116" y="3597116"/>
              <a:ext cx="45402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样本容量给定时，只控制第一类错误的概率不超过 α，而不考虑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第二类错误的概率 β，这类检验称为显著性检验。本章的检验都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是显著性检验。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464618" y="4627245"/>
            <a:ext cx="5193982" cy="982028"/>
            <a:chOff x="6464618" y="4627245"/>
            <a:chExt cx="5193982" cy="982028"/>
          </a:xfrm>
        </p:grpSpPr>
        <p:sp>
          <p:nvSpPr>
            <p:cNvPr id="52" name="Rectangle 52"/>
            <p:cNvSpPr/>
            <p:nvPr/>
          </p:nvSpPr>
          <p:spPr>
            <a:xfrm>
              <a:off x="6464618" y="4627245"/>
              <a:ext cx="5193982" cy="982028"/>
            </a:xfrm>
            <a:prstGeom prst="roundRect">
              <a:avLst>
                <a:gd name="adj" fmla="val 116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5018723"/>
              <a:ext cx="200026" cy="200025"/>
              <a:chOff x="6669405" y="501872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50187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09144" y="50631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43859" y="51742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2491" y="4912519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法庭类比：冤枉好人是第一类错误，放走坏人是第二类错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误。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9" name="Rectangle 5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8282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显著性检验只保证 α 小。拒绝 H₀ 的结论比较可靠；接受 H₀ 时 β 可能不小，这就是“接受”说得较弱的原因。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09451" cy="909257"/>
            <a:chOff x="520446" y="342900"/>
            <a:chExt cx="52094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094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两类错误的面积：α 与 β 此消彼长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abA"/>
          <p:cNvGrpSpPr/>
          <p:nvPr/>
        </p:nvGrpSpPr>
        <p:grpSpPr>
          <a:xfrm>
            <a:off x="533400" y="1524000"/>
            <a:ext cx="7162800" cy="4762500"/>
            <a:chOff x="533400" y="1524000"/>
            <a:chExt cx="71628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1628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4608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样本均值的两种分布：α 算在 H₀ 曲线上，β 算在真实曲线上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38554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 的检验（n = 9，α = 0.05），假如真实均值是 μ = 99.6。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3534728" y="2861310"/>
              <a:ext cx="2450782" cy="2148840"/>
            </a:xfrm>
            <a:custGeom>
              <a:avLst/>
              <a:gdLst/>
              <a:ahLst/>
              <a:cxnLst/>
              <a:rect l="l" t="t" r="r" b="b"/>
              <a:pathLst>
                <a:path w="2450782" h="2148840">
                  <a:moveTo>
                    <a:pt x="0" y="2148840"/>
                  </a:moveTo>
                  <a:lnTo>
                    <a:pt x="0" y="0"/>
                  </a:lnTo>
                  <a:lnTo>
                    <a:pt x="20955" y="31433"/>
                  </a:lnTo>
                  <a:lnTo>
                    <a:pt x="40957" y="64770"/>
                  </a:lnTo>
                  <a:lnTo>
                    <a:pt x="61912" y="100012"/>
                  </a:lnTo>
                  <a:lnTo>
                    <a:pt x="81915" y="137160"/>
                  </a:lnTo>
                  <a:lnTo>
                    <a:pt x="101917" y="175260"/>
                  </a:lnTo>
                  <a:lnTo>
                    <a:pt x="122872" y="214312"/>
                  </a:lnTo>
                  <a:lnTo>
                    <a:pt x="142875" y="255270"/>
                  </a:lnTo>
                  <a:lnTo>
                    <a:pt x="163830" y="297180"/>
                  </a:lnTo>
                  <a:lnTo>
                    <a:pt x="183832" y="340043"/>
                  </a:lnTo>
                  <a:lnTo>
                    <a:pt x="204788" y="383858"/>
                  </a:lnTo>
                  <a:lnTo>
                    <a:pt x="224790" y="428625"/>
                  </a:lnTo>
                  <a:lnTo>
                    <a:pt x="245745" y="474345"/>
                  </a:lnTo>
                  <a:lnTo>
                    <a:pt x="265747" y="520065"/>
                  </a:lnTo>
                  <a:lnTo>
                    <a:pt x="285750" y="565785"/>
                  </a:lnTo>
                  <a:lnTo>
                    <a:pt x="306705" y="612458"/>
                  </a:lnTo>
                  <a:lnTo>
                    <a:pt x="326707" y="659130"/>
                  </a:lnTo>
                  <a:lnTo>
                    <a:pt x="347662" y="705803"/>
                  </a:lnTo>
                  <a:lnTo>
                    <a:pt x="367665" y="753428"/>
                  </a:lnTo>
                  <a:lnTo>
                    <a:pt x="388620" y="800100"/>
                  </a:lnTo>
                  <a:lnTo>
                    <a:pt x="408622" y="846773"/>
                  </a:lnTo>
                  <a:lnTo>
                    <a:pt x="428625" y="892493"/>
                  </a:lnTo>
                  <a:lnTo>
                    <a:pt x="449580" y="939165"/>
                  </a:lnTo>
                  <a:lnTo>
                    <a:pt x="469582" y="984885"/>
                  </a:lnTo>
                  <a:lnTo>
                    <a:pt x="490538" y="1029653"/>
                  </a:lnTo>
                  <a:lnTo>
                    <a:pt x="510540" y="1073468"/>
                  </a:lnTo>
                  <a:lnTo>
                    <a:pt x="531495" y="1117282"/>
                  </a:lnTo>
                  <a:lnTo>
                    <a:pt x="551497" y="1161098"/>
                  </a:lnTo>
                  <a:lnTo>
                    <a:pt x="572452" y="1203008"/>
                  </a:lnTo>
                  <a:lnTo>
                    <a:pt x="592455" y="1243965"/>
                  </a:lnTo>
                  <a:lnTo>
                    <a:pt x="612457" y="1284923"/>
                  </a:lnTo>
                  <a:lnTo>
                    <a:pt x="633412" y="1324928"/>
                  </a:lnTo>
                  <a:lnTo>
                    <a:pt x="653415" y="1363028"/>
                  </a:lnTo>
                  <a:lnTo>
                    <a:pt x="674370" y="1401128"/>
                  </a:lnTo>
                  <a:lnTo>
                    <a:pt x="694372" y="1437323"/>
                  </a:lnTo>
                  <a:lnTo>
                    <a:pt x="715327" y="1472565"/>
                  </a:lnTo>
                  <a:lnTo>
                    <a:pt x="735330" y="1506855"/>
                  </a:lnTo>
                  <a:lnTo>
                    <a:pt x="755332" y="1540193"/>
                  </a:lnTo>
                  <a:lnTo>
                    <a:pt x="776288" y="1572578"/>
                  </a:lnTo>
                  <a:lnTo>
                    <a:pt x="796290" y="1604010"/>
                  </a:lnTo>
                  <a:lnTo>
                    <a:pt x="817245" y="1633538"/>
                  </a:lnTo>
                  <a:lnTo>
                    <a:pt x="837247" y="1663065"/>
                  </a:lnTo>
                  <a:lnTo>
                    <a:pt x="858202" y="1690688"/>
                  </a:lnTo>
                  <a:lnTo>
                    <a:pt x="878205" y="1717358"/>
                  </a:lnTo>
                  <a:lnTo>
                    <a:pt x="899160" y="1742123"/>
                  </a:lnTo>
                  <a:lnTo>
                    <a:pt x="919162" y="1766888"/>
                  </a:lnTo>
                  <a:lnTo>
                    <a:pt x="939165" y="1789748"/>
                  </a:lnTo>
                  <a:lnTo>
                    <a:pt x="960120" y="1812608"/>
                  </a:lnTo>
                  <a:lnTo>
                    <a:pt x="980122" y="1833562"/>
                  </a:lnTo>
                  <a:lnTo>
                    <a:pt x="1001077" y="1853565"/>
                  </a:lnTo>
                  <a:lnTo>
                    <a:pt x="1021080" y="1872615"/>
                  </a:lnTo>
                  <a:lnTo>
                    <a:pt x="1042035" y="1890712"/>
                  </a:lnTo>
                  <a:lnTo>
                    <a:pt x="1062038" y="1908810"/>
                  </a:lnTo>
                  <a:lnTo>
                    <a:pt x="1082040" y="1925003"/>
                  </a:lnTo>
                  <a:lnTo>
                    <a:pt x="1102995" y="1940243"/>
                  </a:lnTo>
                  <a:lnTo>
                    <a:pt x="1122997" y="1954530"/>
                  </a:lnTo>
                  <a:lnTo>
                    <a:pt x="1143952" y="1968818"/>
                  </a:lnTo>
                  <a:lnTo>
                    <a:pt x="1163955" y="1981200"/>
                  </a:lnTo>
                  <a:lnTo>
                    <a:pt x="1184910" y="1993582"/>
                  </a:lnTo>
                  <a:lnTo>
                    <a:pt x="1204912" y="2005012"/>
                  </a:lnTo>
                  <a:lnTo>
                    <a:pt x="1225868" y="2015490"/>
                  </a:lnTo>
                  <a:lnTo>
                    <a:pt x="1245870" y="2025968"/>
                  </a:lnTo>
                  <a:lnTo>
                    <a:pt x="1265872" y="2035493"/>
                  </a:lnTo>
                  <a:lnTo>
                    <a:pt x="1286827" y="2044065"/>
                  </a:lnTo>
                  <a:lnTo>
                    <a:pt x="1306830" y="2052638"/>
                  </a:lnTo>
                  <a:lnTo>
                    <a:pt x="1327785" y="2060258"/>
                  </a:lnTo>
                  <a:lnTo>
                    <a:pt x="1347788" y="2066925"/>
                  </a:lnTo>
                  <a:lnTo>
                    <a:pt x="1368742" y="2073593"/>
                  </a:lnTo>
                  <a:lnTo>
                    <a:pt x="1388745" y="2080260"/>
                  </a:lnTo>
                  <a:lnTo>
                    <a:pt x="1408747" y="2085975"/>
                  </a:lnTo>
                  <a:lnTo>
                    <a:pt x="1429703" y="2091690"/>
                  </a:lnTo>
                  <a:lnTo>
                    <a:pt x="1449705" y="2096453"/>
                  </a:lnTo>
                  <a:lnTo>
                    <a:pt x="1470660" y="2101215"/>
                  </a:lnTo>
                  <a:lnTo>
                    <a:pt x="1490662" y="2105025"/>
                  </a:lnTo>
                  <a:lnTo>
                    <a:pt x="1511617" y="2108835"/>
                  </a:lnTo>
                  <a:lnTo>
                    <a:pt x="1531620" y="2112645"/>
                  </a:lnTo>
                  <a:lnTo>
                    <a:pt x="1551622" y="2115502"/>
                  </a:lnTo>
                  <a:lnTo>
                    <a:pt x="1572578" y="2118360"/>
                  </a:lnTo>
                  <a:lnTo>
                    <a:pt x="1592580" y="2121218"/>
                  </a:lnTo>
                  <a:lnTo>
                    <a:pt x="1613535" y="2124075"/>
                  </a:lnTo>
                  <a:lnTo>
                    <a:pt x="1633538" y="2126933"/>
                  </a:lnTo>
                  <a:lnTo>
                    <a:pt x="1654492" y="2128838"/>
                  </a:lnTo>
                  <a:lnTo>
                    <a:pt x="1674495" y="2130743"/>
                  </a:lnTo>
                  <a:lnTo>
                    <a:pt x="1695450" y="2132648"/>
                  </a:lnTo>
                  <a:lnTo>
                    <a:pt x="1715453" y="2133600"/>
                  </a:lnTo>
                  <a:lnTo>
                    <a:pt x="1735455" y="2135505"/>
                  </a:lnTo>
                  <a:lnTo>
                    <a:pt x="1756410" y="2136458"/>
                  </a:lnTo>
                  <a:lnTo>
                    <a:pt x="1776412" y="2138362"/>
                  </a:lnTo>
                  <a:lnTo>
                    <a:pt x="1797367" y="2139315"/>
                  </a:lnTo>
                  <a:lnTo>
                    <a:pt x="1817370" y="2140268"/>
                  </a:lnTo>
                  <a:lnTo>
                    <a:pt x="1838325" y="2141220"/>
                  </a:lnTo>
                  <a:lnTo>
                    <a:pt x="1858328" y="2142172"/>
                  </a:lnTo>
                  <a:lnTo>
                    <a:pt x="1878330" y="2142172"/>
                  </a:lnTo>
                  <a:lnTo>
                    <a:pt x="1899285" y="2143125"/>
                  </a:lnTo>
                  <a:lnTo>
                    <a:pt x="1919288" y="2144078"/>
                  </a:lnTo>
                  <a:lnTo>
                    <a:pt x="1940242" y="2144078"/>
                  </a:lnTo>
                  <a:lnTo>
                    <a:pt x="1960245" y="2145030"/>
                  </a:lnTo>
                  <a:lnTo>
                    <a:pt x="1981200" y="2145030"/>
                  </a:lnTo>
                  <a:lnTo>
                    <a:pt x="2001203" y="2145983"/>
                  </a:lnTo>
                  <a:lnTo>
                    <a:pt x="2022157" y="2145983"/>
                  </a:lnTo>
                  <a:lnTo>
                    <a:pt x="2042160" y="2145983"/>
                  </a:lnTo>
                  <a:lnTo>
                    <a:pt x="2062162" y="2146935"/>
                  </a:lnTo>
                  <a:lnTo>
                    <a:pt x="2083117" y="2146935"/>
                  </a:lnTo>
                  <a:lnTo>
                    <a:pt x="2103120" y="2146935"/>
                  </a:lnTo>
                  <a:lnTo>
                    <a:pt x="2124075" y="2146935"/>
                  </a:lnTo>
                  <a:lnTo>
                    <a:pt x="2144078" y="2147888"/>
                  </a:lnTo>
                  <a:lnTo>
                    <a:pt x="2165032" y="2147888"/>
                  </a:lnTo>
                  <a:lnTo>
                    <a:pt x="2185035" y="2147888"/>
                  </a:lnTo>
                  <a:lnTo>
                    <a:pt x="2205038" y="2147888"/>
                  </a:lnTo>
                  <a:lnTo>
                    <a:pt x="2225992" y="2147888"/>
                  </a:lnTo>
                  <a:lnTo>
                    <a:pt x="2245995" y="2147888"/>
                  </a:lnTo>
                  <a:lnTo>
                    <a:pt x="2266950" y="2147888"/>
                  </a:lnTo>
                  <a:lnTo>
                    <a:pt x="2286952" y="2147888"/>
                  </a:lnTo>
                  <a:lnTo>
                    <a:pt x="2307907" y="2148840"/>
                  </a:lnTo>
                  <a:lnTo>
                    <a:pt x="2327910" y="2148840"/>
                  </a:lnTo>
                  <a:lnTo>
                    <a:pt x="2348865" y="2148840"/>
                  </a:lnTo>
                  <a:lnTo>
                    <a:pt x="2368867" y="2148840"/>
                  </a:lnTo>
                  <a:lnTo>
                    <a:pt x="2388870" y="2148840"/>
                  </a:lnTo>
                  <a:lnTo>
                    <a:pt x="2409825" y="2148840"/>
                  </a:lnTo>
                  <a:lnTo>
                    <a:pt x="2429828" y="2148840"/>
                  </a:lnTo>
                  <a:lnTo>
                    <a:pt x="2450782" y="2148840"/>
                  </a:lnTo>
                  <a:lnTo>
                    <a:pt x="2450782" y="2148840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5985510" y="4663440"/>
              <a:ext cx="1024890" cy="346710"/>
            </a:xfrm>
            <a:custGeom>
              <a:avLst/>
              <a:gdLst/>
              <a:ahLst/>
              <a:cxnLst/>
              <a:rect l="l" t="t" r="r" b="b"/>
              <a:pathLst>
                <a:path w="1024890" h="346710">
                  <a:moveTo>
                    <a:pt x="0" y="346710"/>
                  </a:moveTo>
                  <a:lnTo>
                    <a:pt x="0" y="0"/>
                  </a:lnTo>
                  <a:lnTo>
                    <a:pt x="17145" y="18097"/>
                  </a:lnTo>
                  <a:lnTo>
                    <a:pt x="34290" y="35242"/>
                  </a:lnTo>
                  <a:lnTo>
                    <a:pt x="51435" y="52388"/>
                  </a:lnTo>
                  <a:lnTo>
                    <a:pt x="67628" y="68580"/>
                  </a:lnTo>
                  <a:lnTo>
                    <a:pt x="84772" y="83820"/>
                  </a:lnTo>
                  <a:lnTo>
                    <a:pt x="101918" y="98107"/>
                  </a:lnTo>
                  <a:lnTo>
                    <a:pt x="119062" y="112395"/>
                  </a:lnTo>
                  <a:lnTo>
                    <a:pt x="136208" y="125730"/>
                  </a:lnTo>
                  <a:lnTo>
                    <a:pt x="153353" y="139065"/>
                  </a:lnTo>
                  <a:lnTo>
                    <a:pt x="170497" y="151447"/>
                  </a:lnTo>
                  <a:lnTo>
                    <a:pt x="187643" y="162877"/>
                  </a:lnTo>
                  <a:lnTo>
                    <a:pt x="204788" y="174307"/>
                  </a:lnTo>
                  <a:lnTo>
                    <a:pt x="221933" y="184785"/>
                  </a:lnTo>
                  <a:lnTo>
                    <a:pt x="239078" y="194310"/>
                  </a:lnTo>
                  <a:lnTo>
                    <a:pt x="256222" y="203835"/>
                  </a:lnTo>
                  <a:lnTo>
                    <a:pt x="273368" y="213360"/>
                  </a:lnTo>
                  <a:lnTo>
                    <a:pt x="290512" y="221932"/>
                  </a:lnTo>
                  <a:lnTo>
                    <a:pt x="307658" y="229553"/>
                  </a:lnTo>
                  <a:lnTo>
                    <a:pt x="324803" y="237172"/>
                  </a:lnTo>
                  <a:lnTo>
                    <a:pt x="340995" y="244792"/>
                  </a:lnTo>
                  <a:lnTo>
                    <a:pt x="358140" y="251460"/>
                  </a:lnTo>
                  <a:lnTo>
                    <a:pt x="375285" y="257175"/>
                  </a:lnTo>
                  <a:lnTo>
                    <a:pt x="392430" y="263842"/>
                  </a:lnTo>
                  <a:lnTo>
                    <a:pt x="409575" y="269557"/>
                  </a:lnTo>
                  <a:lnTo>
                    <a:pt x="426720" y="274320"/>
                  </a:lnTo>
                  <a:lnTo>
                    <a:pt x="443865" y="280035"/>
                  </a:lnTo>
                  <a:lnTo>
                    <a:pt x="461010" y="284797"/>
                  </a:lnTo>
                  <a:lnTo>
                    <a:pt x="478155" y="288607"/>
                  </a:lnTo>
                  <a:lnTo>
                    <a:pt x="495300" y="293370"/>
                  </a:lnTo>
                  <a:lnTo>
                    <a:pt x="512445" y="297180"/>
                  </a:lnTo>
                  <a:lnTo>
                    <a:pt x="529590" y="300990"/>
                  </a:lnTo>
                  <a:lnTo>
                    <a:pt x="546735" y="303847"/>
                  </a:lnTo>
                  <a:lnTo>
                    <a:pt x="563880" y="307657"/>
                  </a:lnTo>
                  <a:lnTo>
                    <a:pt x="581025" y="310515"/>
                  </a:lnTo>
                  <a:lnTo>
                    <a:pt x="598170" y="313372"/>
                  </a:lnTo>
                  <a:lnTo>
                    <a:pt x="614362" y="315278"/>
                  </a:lnTo>
                  <a:lnTo>
                    <a:pt x="631508" y="318135"/>
                  </a:lnTo>
                  <a:lnTo>
                    <a:pt x="648653" y="320040"/>
                  </a:lnTo>
                  <a:lnTo>
                    <a:pt x="665797" y="321945"/>
                  </a:lnTo>
                  <a:lnTo>
                    <a:pt x="682943" y="324803"/>
                  </a:lnTo>
                  <a:lnTo>
                    <a:pt x="700088" y="325755"/>
                  </a:lnTo>
                  <a:lnTo>
                    <a:pt x="717233" y="327660"/>
                  </a:lnTo>
                  <a:lnTo>
                    <a:pt x="734378" y="329565"/>
                  </a:lnTo>
                  <a:lnTo>
                    <a:pt x="751522" y="330517"/>
                  </a:lnTo>
                  <a:lnTo>
                    <a:pt x="768668" y="332422"/>
                  </a:lnTo>
                  <a:lnTo>
                    <a:pt x="785812" y="333375"/>
                  </a:lnTo>
                  <a:lnTo>
                    <a:pt x="802958" y="334328"/>
                  </a:lnTo>
                  <a:lnTo>
                    <a:pt x="820103" y="335280"/>
                  </a:lnTo>
                  <a:lnTo>
                    <a:pt x="837247" y="336232"/>
                  </a:lnTo>
                  <a:lnTo>
                    <a:pt x="854393" y="337185"/>
                  </a:lnTo>
                  <a:lnTo>
                    <a:pt x="871538" y="338138"/>
                  </a:lnTo>
                  <a:lnTo>
                    <a:pt x="887730" y="339090"/>
                  </a:lnTo>
                  <a:lnTo>
                    <a:pt x="904875" y="340042"/>
                  </a:lnTo>
                  <a:lnTo>
                    <a:pt x="922020" y="340042"/>
                  </a:lnTo>
                  <a:lnTo>
                    <a:pt x="939165" y="340995"/>
                  </a:lnTo>
                  <a:lnTo>
                    <a:pt x="956310" y="340995"/>
                  </a:lnTo>
                  <a:lnTo>
                    <a:pt x="973455" y="341947"/>
                  </a:lnTo>
                  <a:lnTo>
                    <a:pt x="990600" y="341947"/>
                  </a:lnTo>
                  <a:lnTo>
                    <a:pt x="1007745" y="342900"/>
                  </a:lnTo>
                  <a:lnTo>
                    <a:pt x="1024890" y="342900"/>
                  </a:lnTo>
                  <a:lnTo>
                    <a:pt x="1024890" y="346710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12" name="Polygon 12"/>
            <p:cNvSpPr/>
            <p:nvPr/>
          </p:nvSpPr>
          <p:spPr>
            <a:xfrm>
              <a:off x="1009650" y="4663440"/>
              <a:ext cx="2525078" cy="346710"/>
            </a:xfrm>
            <a:custGeom>
              <a:avLst/>
              <a:gdLst/>
              <a:ahLst/>
              <a:cxnLst/>
              <a:rect l="l" t="t" r="r" b="b"/>
              <a:pathLst>
                <a:path w="2525078" h="346710">
                  <a:moveTo>
                    <a:pt x="0" y="346710"/>
                  </a:moveTo>
                  <a:lnTo>
                    <a:pt x="0" y="346710"/>
                  </a:lnTo>
                  <a:lnTo>
                    <a:pt x="41910" y="346710"/>
                  </a:lnTo>
                  <a:lnTo>
                    <a:pt x="83820" y="346710"/>
                  </a:lnTo>
                  <a:lnTo>
                    <a:pt x="126682" y="346710"/>
                  </a:lnTo>
                  <a:lnTo>
                    <a:pt x="168593" y="346710"/>
                  </a:lnTo>
                  <a:lnTo>
                    <a:pt x="210502" y="346710"/>
                  </a:lnTo>
                  <a:lnTo>
                    <a:pt x="252412" y="346710"/>
                  </a:lnTo>
                  <a:lnTo>
                    <a:pt x="294323" y="346710"/>
                  </a:lnTo>
                  <a:lnTo>
                    <a:pt x="337185" y="346710"/>
                  </a:lnTo>
                  <a:lnTo>
                    <a:pt x="379095" y="346710"/>
                  </a:lnTo>
                  <a:lnTo>
                    <a:pt x="421005" y="346710"/>
                  </a:lnTo>
                  <a:lnTo>
                    <a:pt x="462915" y="346710"/>
                  </a:lnTo>
                  <a:lnTo>
                    <a:pt x="504825" y="346710"/>
                  </a:lnTo>
                  <a:lnTo>
                    <a:pt x="546735" y="346710"/>
                  </a:lnTo>
                  <a:lnTo>
                    <a:pt x="589598" y="346710"/>
                  </a:lnTo>
                  <a:lnTo>
                    <a:pt x="631508" y="346710"/>
                  </a:lnTo>
                  <a:lnTo>
                    <a:pt x="673417" y="346710"/>
                  </a:lnTo>
                  <a:lnTo>
                    <a:pt x="715328" y="346710"/>
                  </a:lnTo>
                  <a:lnTo>
                    <a:pt x="757238" y="346710"/>
                  </a:lnTo>
                  <a:lnTo>
                    <a:pt x="800100" y="346710"/>
                  </a:lnTo>
                  <a:lnTo>
                    <a:pt x="842010" y="346710"/>
                  </a:lnTo>
                  <a:lnTo>
                    <a:pt x="883920" y="346710"/>
                  </a:lnTo>
                  <a:lnTo>
                    <a:pt x="925830" y="346710"/>
                  </a:lnTo>
                  <a:lnTo>
                    <a:pt x="967740" y="346710"/>
                  </a:lnTo>
                  <a:lnTo>
                    <a:pt x="1010602" y="346710"/>
                  </a:lnTo>
                  <a:lnTo>
                    <a:pt x="1052512" y="346710"/>
                  </a:lnTo>
                  <a:lnTo>
                    <a:pt x="1094422" y="346710"/>
                  </a:lnTo>
                  <a:lnTo>
                    <a:pt x="1136332" y="346710"/>
                  </a:lnTo>
                  <a:lnTo>
                    <a:pt x="1178242" y="345757"/>
                  </a:lnTo>
                  <a:lnTo>
                    <a:pt x="1220152" y="345757"/>
                  </a:lnTo>
                  <a:lnTo>
                    <a:pt x="1263015" y="345757"/>
                  </a:lnTo>
                  <a:lnTo>
                    <a:pt x="1304925" y="345757"/>
                  </a:lnTo>
                  <a:lnTo>
                    <a:pt x="1346835" y="344805"/>
                  </a:lnTo>
                  <a:lnTo>
                    <a:pt x="1388745" y="344805"/>
                  </a:lnTo>
                  <a:lnTo>
                    <a:pt x="1430655" y="343853"/>
                  </a:lnTo>
                  <a:lnTo>
                    <a:pt x="1473518" y="343853"/>
                  </a:lnTo>
                  <a:lnTo>
                    <a:pt x="1515428" y="342900"/>
                  </a:lnTo>
                  <a:lnTo>
                    <a:pt x="1557338" y="341947"/>
                  </a:lnTo>
                  <a:lnTo>
                    <a:pt x="1599247" y="340042"/>
                  </a:lnTo>
                  <a:lnTo>
                    <a:pt x="1641158" y="339090"/>
                  </a:lnTo>
                  <a:lnTo>
                    <a:pt x="1684020" y="337185"/>
                  </a:lnTo>
                  <a:lnTo>
                    <a:pt x="1725930" y="334328"/>
                  </a:lnTo>
                  <a:lnTo>
                    <a:pt x="1767840" y="331470"/>
                  </a:lnTo>
                  <a:lnTo>
                    <a:pt x="1809750" y="327660"/>
                  </a:lnTo>
                  <a:lnTo>
                    <a:pt x="1851660" y="322897"/>
                  </a:lnTo>
                  <a:lnTo>
                    <a:pt x="1893570" y="318135"/>
                  </a:lnTo>
                  <a:lnTo>
                    <a:pt x="1936432" y="311467"/>
                  </a:lnTo>
                  <a:lnTo>
                    <a:pt x="1978342" y="303847"/>
                  </a:lnTo>
                  <a:lnTo>
                    <a:pt x="2020253" y="295275"/>
                  </a:lnTo>
                  <a:lnTo>
                    <a:pt x="2062162" y="284797"/>
                  </a:lnTo>
                  <a:lnTo>
                    <a:pt x="2104072" y="272415"/>
                  </a:lnTo>
                  <a:lnTo>
                    <a:pt x="2146935" y="259080"/>
                  </a:lnTo>
                  <a:lnTo>
                    <a:pt x="2188845" y="241935"/>
                  </a:lnTo>
                  <a:lnTo>
                    <a:pt x="2230755" y="223838"/>
                  </a:lnTo>
                  <a:lnTo>
                    <a:pt x="2272665" y="201930"/>
                  </a:lnTo>
                  <a:lnTo>
                    <a:pt x="2314575" y="177165"/>
                  </a:lnTo>
                  <a:lnTo>
                    <a:pt x="2357438" y="149542"/>
                  </a:lnTo>
                  <a:lnTo>
                    <a:pt x="2399348" y="118110"/>
                  </a:lnTo>
                  <a:lnTo>
                    <a:pt x="2441258" y="82867"/>
                  </a:lnTo>
                  <a:lnTo>
                    <a:pt x="2483168" y="43815"/>
                  </a:lnTo>
                  <a:lnTo>
                    <a:pt x="2525078" y="0"/>
                  </a:lnTo>
                  <a:lnTo>
                    <a:pt x="2525078" y="346710"/>
                  </a:lnTo>
                  <a:close/>
                </a:path>
              </a:pathLst>
            </a:custGeom>
            <a:solidFill>
              <a:srgbClr val="A9BBE4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009650" y="5010150"/>
              <a:ext cx="6048375" cy="9525"/>
            </a:xfrm>
            <a:custGeom>
              <a:avLst/>
              <a:gdLst/>
              <a:ahLst/>
              <a:cxnLst/>
              <a:rect l="l" t="t" r="r" b="b"/>
              <a:pathLst>
                <a:path w="6048375" h="9525">
                  <a:moveTo>
                    <a:pt x="0" y="0"/>
                  </a:moveTo>
                  <a:lnTo>
                    <a:pt x="60483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7058025" y="49801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009650" y="2643188"/>
              <a:ext cx="6000750" cy="2366962"/>
            </a:xfrm>
            <a:custGeom>
              <a:avLst/>
              <a:gdLst/>
              <a:ahLst/>
              <a:cxnLst/>
              <a:rect l="l" t="t" r="r" b="b"/>
              <a:pathLst>
                <a:path w="6000750" h="2366962">
                  <a:moveTo>
                    <a:pt x="0" y="2366962"/>
                  </a:moveTo>
                  <a:lnTo>
                    <a:pt x="22860" y="2366962"/>
                  </a:lnTo>
                  <a:lnTo>
                    <a:pt x="45720" y="2366962"/>
                  </a:lnTo>
                  <a:lnTo>
                    <a:pt x="69532" y="2366962"/>
                  </a:lnTo>
                  <a:lnTo>
                    <a:pt x="92393" y="2366962"/>
                  </a:lnTo>
                  <a:lnTo>
                    <a:pt x="115252" y="2366962"/>
                  </a:lnTo>
                  <a:lnTo>
                    <a:pt x="138112" y="2366962"/>
                  </a:lnTo>
                  <a:lnTo>
                    <a:pt x="161925" y="2366962"/>
                  </a:lnTo>
                  <a:lnTo>
                    <a:pt x="184785" y="2366962"/>
                  </a:lnTo>
                  <a:lnTo>
                    <a:pt x="207645" y="2366962"/>
                  </a:lnTo>
                  <a:lnTo>
                    <a:pt x="230505" y="2366962"/>
                  </a:lnTo>
                  <a:lnTo>
                    <a:pt x="254317" y="2366962"/>
                  </a:lnTo>
                  <a:lnTo>
                    <a:pt x="277177" y="2366962"/>
                  </a:lnTo>
                  <a:lnTo>
                    <a:pt x="300038" y="2366962"/>
                  </a:lnTo>
                  <a:lnTo>
                    <a:pt x="322898" y="2366962"/>
                  </a:lnTo>
                  <a:lnTo>
                    <a:pt x="345758" y="2366962"/>
                  </a:lnTo>
                  <a:lnTo>
                    <a:pt x="369570" y="2366962"/>
                  </a:lnTo>
                  <a:lnTo>
                    <a:pt x="392430" y="2366962"/>
                  </a:lnTo>
                  <a:lnTo>
                    <a:pt x="415290" y="2366962"/>
                  </a:lnTo>
                  <a:lnTo>
                    <a:pt x="438150" y="2366962"/>
                  </a:lnTo>
                  <a:lnTo>
                    <a:pt x="461962" y="2366962"/>
                  </a:lnTo>
                  <a:lnTo>
                    <a:pt x="484823" y="2366962"/>
                  </a:lnTo>
                  <a:lnTo>
                    <a:pt x="507683" y="2366962"/>
                  </a:lnTo>
                  <a:lnTo>
                    <a:pt x="530542" y="2366962"/>
                  </a:lnTo>
                  <a:lnTo>
                    <a:pt x="554355" y="2366962"/>
                  </a:lnTo>
                  <a:lnTo>
                    <a:pt x="577215" y="2366962"/>
                  </a:lnTo>
                  <a:lnTo>
                    <a:pt x="600075" y="2366962"/>
                  </a:lnTo>
                  <a:lnTo>
                    <a:pt x="622935" y="2366962"/>
                  </a:lnTo>
                  <a:lnTo>
                    <a:pt x="645795" y="2366962"/>
                  </a:lnTo>
                  <a:lnTo>
                    <a:pt x="669608" y="2366962"/>
                  </a:lnTo>
                  <a:lnTo>
                    <a:pt x="692467" y="2366962"/>
                  </a:lnTo>
                  <a:lnTo>
                    <a:pt x="715328" y="2366962"/>
                  </a:lnTo>
                  <a:lnTo>
                    <a:pt x="738188" y="2366962"/>
                  </a:lnTo>
                  <a:lnTo>
                    <a:pt x="762000" y="2366962"/>
                  </a:lnTo>
                  <a:lnTo>
                    <a:pt x="784860" y="2366962"/>
                  </a:lnTo>
                  <a:lnTo>
                    <a:pt x="807720" y="2366962"/>
                  </a:lnTo>
                  <a:lnTo>
                    <a:pt x="830580" y="2366962"/>
                  </a:lnTo>
                  <a:lnTo>
                    <a:pt x="854392" y="2366962"/>
                  </a:lnTo>
                  <a:lnTo>
                    <a:pt x="877252" y="2366962"/>
                  </a:lnTo>
                  <a:lnTo>
                    <a:pt x="900112" y="2366962"/>
                  </a:lnTo>
                  <a:lnTo>
                    <a:pt x="922972" y="2366962"/>
                  </a:lnTo>
                  <a:lnTo>
                    <a:pt x="945833" y="2366962"/>
                  </a:lnTo>
                  <a:lnTo>
                    <a:pt x="969645" y="2366962"/>
                  </a:lnTo>
                  <a:lnTo>
                    <a:pt x="992505" y="2366962"/>
                  </a:lnTo>
                  <a:lnTo>
                    <a:pt x="1015365" y="2366962"/>
                  </a:lnTo>
                  <a:lnTo>
                    <a:pt x="1038225" y="2366962"/>
                  </a:lnTo>
                  <a:lnTo>
                    <a:pt x="1062038" y="2366962"/>
                  </a:lnTo>
                  <a:lnTo>
                    <a:pt x="1084898" y="2366962"/>
                  </a:lnTo>
                  <a:lnTo>
                    <a:pt x="1107758" y="2366962"/>
                  </a:lnTo>
                  <a:lnTo>
                    <a:pt x="1130618" y="2366962"/>
                  </a:lnTo>
                  <a:lnTo>
                    <a:pt x="1154430" y="2366962"/>
                  </a:lnTo>
                  <a:lnTo>
                    <a:pt x="1177290" y="2366010"/>
                  </a:lnTo>
                  <a:lnTo>
                    <a:pt x="1200150" y="2366010"/>
                  </a:lnTo>
                  <a:lnTo>
                    <a:pt x="1223010" y="2366010"/>
                  </a:lnTo>
                  <a:lnTo>
                    <a:pt x="1245870" y="2366010"/>
                  </a:lnTo>
                  <a:lnTo>
                    <a:pt x="1269682" y="2366010"/>
                  </a:lnTo>
                  <a:lnTo>
                    <a:pt x="1292542" y="2366010"/>
                  </a:lnTo>
                  <a:lnTo>
                    <a:pt x="1315402" y="2366010"/>
                  </a:lnTo>
                  <a:lnTo>
                    <a:pt x="1338262" y="2366010"/>
                  </a:lnTo>
                  <a:lnTo>
                    <a:pt x="1362075" y="2365057"/>
                  </a:lnTo>
                  <a:lnTo>
                    <a:pt x="1384935" y="2365057"/>
                  </a:lnTo>
                  <a:lnTo>
                    <a:pt x="1407795" y="2365057"/>
                  </a:lnTo>
                  <a:lnTo>
                    <a:pt x="1430655" y="2364105"/>
                  </a:lnTo>
                  <a:lnTo>
                    <a:pt x="1454468" y="2364105"/>
                  </a:lnTo>
                  <a:lnTo>
                    <a:pt x="1477328" y="2364105"/>
                  </a:lnTo>
                  <a:lnTo>
                    <a:pt x="1500188" y="2363152"/>
                  </a:lnTo>
                  <a:lnTo>
                    <a:pt x="1523047" y="2363152"/>
                  </a:lnTo>
                  <a:lnTo>
                    <a:pt x="1545908" y="2362200"/>
                  </a:lnTo>
                  <a:lnTo>
                    <a:pt x="1569720" y="2361248"/>
                  </a:lnTo>
                  <a:lnTo>
                    <a:pt x="1592580" y="2361248"/>
                  </a:lnTo>
                  <a:lnTo>
                    <a:pt x="1615440" y="2360295"/>
                  </a:lnTo>
                  <a:lnTo>
                    <a:pt x="1638300" y="2359343"/>
                  </a:lnTo>
                  <a:lnTo>
                    <a:pt x="1662112" y="2358390"/>
                  </a:lnTo>
                  <a:lnTo>
                    <a:pt x="1684972" y="2356485"/>
                  </a:lnTo>
                  <a:lnTo>
                    <a:pt x="1707832" y="2355532"/>
                  </a:lnTo>
                  <a:lnTo>
                    <a:pt x="1730692" y="2354580"/>
                  </a:lnTo>
                  <a:lnTo>
                    <a:pt x="1754505" y="2352675"/>
                  </a:lnTo>
                  <a:lnTo>
                    <a:pt x="1777365" y="2350770"/>
                  </a:lnTo>
                  <a:lnTo>
                    <a:pt x="1800225" y="2348865"/>
                  </a:lnTo>
                  <a:lnTo>
                    <a:pt x="1823085" y="2346960"/>
                  </a:lnTo>
                  <a:lnTo>
                    <a:pt x="1845945" y="2344102"/>
                  </a:lnTo>
                  <a:lnTo>
                    <a:pt x="1869758" y="2341245"/>
                  </a:lnTo>
                  <a:lnTo>
                    <a:pt x="1892618" y="2338388"/>
                  </a:lnTo>
                  <a:lnTo>
                    <a:pt x="1915478" y="2335530"/>
                  </a:lnTo>
                  <a:lnTo>
                    <a:pt x="1938338" y="2331720"/>
                  </a:lnTo>
                  <a:lnTo>
                    <a:pt x="1962150" y="2327910"/>
                  </a:lnTo>
                  <a:lnTo>
                    <a:pt x="1985010" y="2323148"/>
                  </a:lnTo>
                  <a:lnTo>
                    <a:pt x="2007870" y="2318385"/>
                  </a:lnTo>
                  <a:lnTo>
                    <a:pt x="2030730" y="2312670"/>
                  </a:lnTo>
                  <a:lnTo>
                    <a:pt x="2054542" y="2306955"/>
                  </a:lnTo>
                  <a:lnTo>
                    <a:pt x="2077403" y="2301240"/>
                  </a:lnTo>
                  <a:lnTo>
                    <a:pt x="2100262" y="2294572"/>
                  </a:lnTo>
                  <a:lnTo>
                    <a:pt x="2123122" y="2286952"/>
                  </a:lnTo>
                  <a:lnTo>
                    <a:pt x="2145982" y="2279332"/>
                  </a:lnTo>
                  <a:lnTo>
                    <a:pt x="2169795" y="2270760"/>
                  </a:lnTo>
                  <a:lnTo>
                    <a:pt x="2192655" y="2261235"/>
                  </a:lnTo>
                  <a:lnTo>
                    <a:pt x="2215515" y="2250757"/>
                  </a:lnTo>
                  <a:lnTo>
                    <a:pt x="2238375" y="2240280"/>
                  </a:lnTo>
                  <a:lnTo>
                    <a:pt x="2262188" y="2227898"/>
                  </a:lnTo>
                  <a:lnTo>
                    <a:pt x="2285048" y="2215515"/>
                  </a:lnTo>
                  <a:lnTo>
                    <a:pt x="2307908" y="2202180"/>
                  </a:lnTo>
                  <a:lnTo>
                    <a:pt x="2330768" y="2186940"/>
                  </a:lnTo>
                  <a:lnTo>
                    <a:pt x="2354580" y="2171700"/>
                  </a:lnTo>
                  <a:lnTo>
                    <a:pt x="2377440" y="2154555"/>
                  </a:lnTo>
                  <a:lnTo>
                    <a:pt x="2400300" y="2137410"/>
                  </a:lnTo>
                  <a:lnTo>
                    <a:pt x="2423160" y="2118360"/>
                  </a:lnTo>
                  <a:lnTo>
                    <a:pt x="2446020" y="2098358"/>
                  </a:lnTo>
                  <a:lnTo>
                    <a:pt x="2469832" y="2077403"/>
                  </a:lnTo>
                  <a:lnTo>
                    <a:pt x="2492692" y="2054542"/>
                  </a:lnTo>
                  <a:lnTo>
                    <a:pt x="2515552" y="2030730"/>
                  </a:lnTo>
                  <a:lnTo>
                    <a:pt x="2538412" y="2005012"/>
                  </a:lnTo>
                  <a:lnTo>
                    <a:pt x="2562225" y="1978342"/>
                  </a:lnTo>
                  <a:lnTo>
                    <a:pt x="2585085" y="1950720"/>
                  </a:lnTo>
                  <a:lnTo>
                    <a:pt x="2607945" y="1921192"/>
                  </a:lnTo>
                  <a:lnTo>
                    <a:pt x="2630805" y="1890712"/>
                  </a:lnTo>
                  <a:lnTo>
                    <a:pt x="2654618" y="1858328"/>
                  </a:lnTo>
                  <a:lnTo>
                    <a:pt x="2677478" y="1824990"/>
                  </a:lnTo>
                  <a:lnTo>
                    <a:pt x="2700338" y="1789747"/>
                  </a:lnTo>
                  <a:lnTo>
                    <a:pt x="2723198" y="1753553"/>
                  </a:lnTo>
                  <a:lnTo>
                    <a:pt x="2746058" y="1715453"/>
                  </a:lnTo>
                  <a:lnTo>
                    <a:pt x="2769870" y="1675447"/>
                  </a:lnTo>
                  <a:lnTo>
                    <a:pt x="2792730" y="1635442"/>
                  </a:lnTo>
                  <a:lnTo>
                    <a:pt x="2815590" y="1592580"/>
                  </a:lnTo>
                  <a:lnTo>
                    <a:pt x="2838450" y="1549718"/>
                  </a:lnTo>
                  <a:lnTo>
                    <a:pt x="2862262" y="1504950"/>
                  </a:lnTo>
                  <a:lnTo>
                    <a:pt x="2885122" y="1459230"/>
                  </a:lnTo>
                  <a:lnTo>
                    <a:pt x="2907982" y="1412558"/>
                  </a:lnTo>
                  <a:lnTo>
                    <a:pt x="2930842" y="1363980"/>
                  </a:lnTo>
                  <a:lnTo>
                    <a:pt x="2954655" y="1315403"/>
                  </a:lnTo>
                  <a:lnTo>
                    <a:pt x="2977515" y="1264920"/>
                  </a:lnTo>
                  <a:lnTo>
                    <a:pt x="3000375" y="1214438"/>
                  </a:lnTo>
                  <a:lnTo>
                    <a:pt x="3023235" y="1163003"/>
                  </a:lnTo>
                  <a:lnTo>
                    <a:pt x="3046095" y="1111568"/>
                  </a:lnTo>
                  <a:lnTo>
                    <a:pt x="3069908" y="1059180"/>
                  </a:lnTo>
                  <a:lnTo>
                    <a:pt x="3092768" y="1005840"/>
                  </a:lnTo>
                  <a:lnTo>
                    <a:pt x="3115628" y="953453"/>
                  </a:lnTo>
                  <a:lnTo>
                    <a:pt x="3138488" y="900112"/>
                  </a:lnTo>
                  <a:lnTo>
                    <a:pt x="3162300" y="846772"/>
                  </a:lnTo>
                  <a:lnTo>
                    <a:pt x="3185160" y="794385"/>
                  </a:lnTo>
                  <a:lnTo>
                    <a:pt x="3208020" y="741997"/>
                  </a:lnTo>
                  <a:lnTo>
                    <a:pt x="3230880" y="690562"/>
                  </a:lnTo>
                  <a:lnTo>
                    <a:pt x="3254692" y="639128"/>
                  </a:lnTo>
                  <a:lnTo>
                    <a:pt x="3277552" y="588645"/>
                  </a:lnTo>
                  <a:lnTo>
                    <a:pt x="3300412" y="540067"/>
                  </a:lnTo>
                  <a:lnTo>
                    <a:pt x="3323272" y="492442"/>
                  </a:lnTo>
                  <a:lnTo>
                    <a:pt x="3346132" y="445770"/>
                  </a:lnTo>
                  <a:lnTo>
                    <a:pt x="3369945" y="400050"/>
                  </a:lnTo>
                  <a:lnTo>
                    <a:pt x="3392805" y="357188"/>
                  </a:lnTo>
                  <a:lnTo>
                    <a:pt x="3415665" y="315278"/>
                  </a:lnTo>
                  <a:lnTo>
                    <a:pt x="3438525" y="276225"/>
                  </a:lnTo>
                  <a:lnTo>
                    <a:pt x="3462338" y="238125"/>
                  </a:lnTo>
                  <a:lnTo>
                    <a:pt x="3485198" y="203835"/>
                  </a:lnTo>
                  <a:lnTo>
                    <a:pt x="3508058" y="170497"/>
                  </a:lnTo>
                  <a:lnTo>
                    <a:pt x="3530918" y="140970"/>
                  </a:lnTo>
                  <a:lnTo>
                    <a:pt x="3554730" y="113347"/>
                  </a:lnTo>
                  <a:lnTo>
                    <a:pt x="3577590" y="88583"/>
                  </a:lnTo>
                  <a:lnTo>
                    <a:pt x="3600450" y="66675"/>
                  </a:lnTo>
                  <a:lnTo>
                    <a:pt x="3623310" y="47625"/>
                  </a:lnTo>
                  <a:lnTo>
                    <a:pt x="3646170" y="31433"/>
                  </a:lnTo>
                  <a:lnTo>
                    <a:pt x="3669982" y="19050"/>
                  </a:lnTo>
                  <a:lnTo>
                    <a:pt x="3692842" y="9525"/>
                  </a:lnTo>
                  <a:lnTo>
                    <a:pt x="3715702" y="2858"/>
                  </a:lnTo>
                  <a:lnTo>
                    <a:pt x="3738562" y="0"/>
                  </a:lnTo>
                  <a:lnTo>
                    <a:pt x="3762375" y="0"/>
                  </a:lnTo>
                  <a:lnTo>
                    <a:pt x="3785235" y="2858"/>
                  </a:lnTo>
                  <a:lnTo>
                    <a:pt x="3808095" y="9525"/>
                  </a:lnTo>
                  <a:lnTo>
                    <a:pt x="3830955" y="19050"/>
                  </a:lnTo>
                  <a:lnTo>
                    <a:pt x="3854768" y="31433"/>
                  </a:lnTo>
                  <a:lnTo>
                    <a:pt x="3877628" y="47625"/>
                  </a:lnTo>
                  <a:lnTo>
                    <a:pt x="3900488" y="66675"/>
                  </a:lnTo>
                  <a:lnTo>
                    <a:pt x="3923348" y="88583"/>
                  </a:lnTo>
                  <a:lnTo>
                    <a:pt x="3946207" y="113347"/>
                  </a:lnTo>
                  <a:lnTo>
                    <a:pt x="3970020" y="140970"/>
                  </a:lnTo>
                  <a:lnTo>
                    <a:pt x="3992880" y="170497"/>
                  </a:lnTo>
                  <a:lnTo>
                    <a:pt x="4015740" y="203835"/>
                  </a:lnTo>
                  <a:lnTo>
                    <a:pt x="4038600" y="238125"/>
                  </a:lnTo>
                  <a:lnTo>
                    <a:pt x="4062412" y="276225"/>
                  </a:lnTo>
                  <a:lnTo>
                    <a:pt x="4085272" y="315278"/>
                  </a:lnTo>
                  <a:lnTo>
                    <a:pt x="4108132" y="357188"/>
                  </a:lnTo>
                  <a:lnTo>
                    <a:pt x="4130993" y="400050"/>
                  </a:lnTo>
                  <a:lnTo>
                    <a:pt x="4154805" y="445770"/>
                  </a:lnTo>
                  <a:lnTo>
                    <a:pt x="4177665" y="492442"/>
                  </a:lnTo>
                  <a:lnTo>
                    <a:pt x="4200525" y="540067"/>
                  </a:lnTo>
                  <a:lnTo>
                    <a:pt x="4223385" y="588645"/>
                  </a:lnTo>
                  <a:lnTo>
                    <a:pt x="4246245" y="639128"/>
                  </a:lnTo>
                  <a:lnTo>
                    <a:pt x="4270058" y="690562"/>
                  </a:lnTo>
                  <a:lnTo>
                    <a:pt x="4292918" y="741997"/>
                  </a:lnTo>
                  <a:lnTo>
                    <a:pt x="4315778" y="794385"/>
                  </a:lnTo>
                  <a:lnTo>
                    <a:pt x="4338638" y="846772"/>
                  </a:lnTo>
                  <a:lnTo>
                    <a:pt x="4362450" y="900112"/>
                  </a:lnTo>
                  <a:lnTo>
                    <a:pt x="4385310" y="953453"/>
                  </a:lnTo>
                  <a:lnTo>
                    <a:pt x="4408170" y="1005840"/>
                  </a:lnTo>
                  <a:lnTo>
                    <a:pt x="4431030" y="1059180"/>
                  </a:lnTo>
                  <a:lnTo>
                    <a:pt x="4454842" y="1111568"/>
                  </a:lnTo>
                  <a:lnTo>
                    <a:pt x="4477702" y="1163003"/>
                  </a:lnTo>
                  <a:lnTo>
                    <a:pt x="4500562" y="1214438"/>
                  </a:lnTo>
                  <a:lnTo>
                    <a:pt x="4523422" y="1264920"/>
                  </a:lnTo>
                  <a:lnTo>
                    <a:pt x="4546282" y="1315403"/>
                  </a:lnTo>
                  <a:lnTo>
                    <a:pt x="4570095" y="1363980"/>
                  </a:lnTo>
                  <a:lnTo>
                    <a:pt x="4592955" y="1412558"/>
                  </a:lnTo>
                  <a:lnTo>
                    <a:pt x="4615815" y="1459230"/>
                  </a:lnTo>
                  <a:lnTo>
                    <a:pt x="4638675" y="1504950"/>
                  </a:lnTo>
                  <a:lnTo>
                    <a:pt x="4662488" y="1549718"/>
                  </a:lnTo>
                  <a:lnTo>
                    <a:pt x="4685348" y="1592580"/>
                  </a:lnTo>
                  <a:lnTo>
                    <a:pt x="4708208" y="1635442"/>
                  </a:lnTo>
                  <a:lnTo>
                    <a:pt x="4731068" y="1675447"/>
                  </a:lnTo>
                  <a:lnTo>
                    <a:pt x="4754880" y="1715453"/>
                  </a:lnTo>
                  <a:lnTo>
                    <a:pt x="4777740" y="1753553"/>
                  </a:lnTo>
                  <a:lnTo>
                    <a:pt x="4800600" y="1789747"/>
                  </a:lnTo>
                  <a:lnTo>
                    <a:pt x="4823460" y="1824990"/>
                  </a:lnTo>
                  <a:lnTo>
                    <a:pt x="4846320" y="1858328"/>
                  </a:lnTo>
                  <a:lnTo>
                    <a:pt x="4870132" y="1890712"/>
                  </a:lnTo>
                  <a:lnTo>
                    <a:pt x="4892992" y="1921192"/>
                  </a:lnTo>
                  <a:lnTo>
                    <a:pt x="4915852" y="1950720"/>
                  </a:lnTo>
                  <a:lnTo>
                    <a:pt x="4938712" y="1978342"/>
                  </a:lnTo>
                  <a:lnTo>
                    <a:pt x="4962525" y="2005012"/>
                  </a:lnTo>
                  <a:lnTo>
                    <a:pt x="4985385" y="2030730"/>
                  </a:lnTo>
                  <a:lnTo>
                    <a:pt x="5008245" y="2054542"/>
                  </a:lnTo>
                  <a:lnTo>
                    <a:pt x="5031105" y="2077403"/>
                  </a:lnTo>
                  <a:lnTo>
                    <a:pt x="5054918" y="2098358"/>
                  </a:lnTo>
                  <a:lnTo>
                    <a:pt x="5077778" y="2118360"/>
                  </a:lnTo>
                  <a:lnTo>
                    <a:pt x="5100638" y="2137410"/>
                  </a:lnTo>
                  <a:lnTo>
                    <a:pt x="5123498" y="2154555"/>
                  </a:lnTo>
                  <a:lnTo>
                    <a:pt x="5146358" y="2171700"/>
                  </a:lnTo>
                  <a:lnTo>
                    <a:pt x="5170170" y="2186940"/>
                  </a:lnTo>
                  <a:lnTo>
                    <a:pt x="5193030" y="2202180"/>
                  </a:lnTo>
                  <a:lnTo>
                    <a:pt x="5215890" y="2215515"/>
                  </a:lnTo>
                  <a:lnTo>
                    <a:pt x="5238750" y="2227898"/>
                  </a:lnTo>
                  <a:lnTo>
                    <a:pt x="5262562" y="2240280"/>
                  </a:lnTo>
                  <a:lnTo>
                    <a:pt x="5285422" y="2250757"/>
                  </a:lnTo>
                  <a:lnTo>
                    <a:pt x="5308282" y="2261235"/>
                  </a:lnTo>
                  <a:lnTo>
                    <a:pt x="5331142" y="2270760"/>
                  </a:lnTo>
                  <a:lnTo>
                    <a:pt x="5354955" y="2279332"/>
                  </a:lnTo>
                  <a:lnTo>
                    <a:pt x="5377815" y="2286952"/>
                  </a:lnTo>
                  <a:lnTo>
                    <a:pt x="5400675" y="2294572"/>
                  </a:lnTo>
                  <a:lnTo>
                    <a:pt x="5423535" y="2301240"/>
                  </a:lnTo>
                  <a:lnTo>
                    <a:pt x="5446395" y="2306955"/>
                  </a:lnTo>
                  <a:lnTo>
                    <a:pt x="5470208" y="2312670"/>
                  </a:lnTo>
                  <a:lnTo>
                    <a:pt x="5493068" y="2318385"/>
                  </a:lnTo>
                  <a:lnTo>
                    <a:pt x="5515928" y="2323148"/>
                  </a:lnTo>
                  <a:lnTo>
                    <a:pt x="5538788" y="2327910"/>
                  </a:lnTo>
                  <a:lnTo>
                    <a:pt x="5562600" y="2331720"/>
                  </a:lnTo>
                  <a:lnTo>
                    <a:pt x="5585460" y="2335530"/>
                  </a:lnTo>
                  <a:lnTo>
                    <a:pt x="5608320" y="2338388"/>
                  </a:lnTo>
                  <a:lnTo>
                    <a:pt x="5631180" y="2341245"/>
                  </a:lnTo>
                  <a:lnTo>
                    <a:pt x="5654992" y="2344102"/>
                  </a:lnTo>
                  <a:lnTo>
                    <a:pt x="5677852" y="2346960"/>
                  </a:lnTo>
                  <a:lnTo>
                    <a:pt x="5700712" y="2348865"/>
                  </a:lnTo>
                  <a:lnTo>
                    <a:pt x="5723572" y="2350770"/>
                  </a:lnTo>
                  <a:lnTo>
                    <a:pt x="5746432" y="2352675"/>
                  </a:lnTo>
                  <a:lnTo>
                    <a:pt x="5770245" y="2354580"/>
                  </a:lnTo>
                  <a:lnTo>
                    <a:pt x="5793105" y="2355532"/>
                  </a:lnTo>
                  <a:lnTo>
                    <a:pt x="5815965" y="2356485"/>
                  </a:lnTo>
                  <a:lnTo>
                    <a:pt x="5838825" y="2358390"/>
                  </a:lnTo>
                  <a:lnTo>
                    <a:pt x="5862638" y="2359343"/>
                  </a:lnTo>
                  <a:lnTo>
                    <a:pt x="5885498" y="2360295"/>
                  </a:lnTo>
                  <a:lnTo>
                    <a:pt x="5908358" y="2361248"/>
                  </a:lnTo>
                  <a:lnTo>
                    <a:pt x="5931218" y="2361248"/>
                  </a:lnTo>
                  <a:lnTo>
                    <a:pt x="5955030" y="2362200"/>
                  </a:lnTo>
                  <a:lnTo>
                    <a:pt x="5977890" y="2363152"/>
                  </a:lnTo>
                  <a:lnTo>
                    <a:pt x="6000750" y="2363152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09650" y="2643188"/>
              <a:ext cx="6000750" cy="2366962"/>
            </a:xfrm>
            <a:custGeom>
              <a:avLst/>
              <a:gdLst/>
              <a:ahLst/>
              <a:cxnLst/>
              <a:rect l="l" t="t" r="r" b="b"/>
              <a:pathLst>
                <a:path w="6000750" h="2366962">
                  <a:moveTo>
                    <a:pt x="0" y="2363152"/>
                  </a:moveTo>
                  <a:lnTo>
                    <a:pt x="22860" y="2363152"/>
                  </a:lnTo>
                  <a:lnTo>
                    <a:pt x="45720" y="2362200"/>
                  </a:lnTo>
                  <a:lnTo>
                    <a:pt x="69532" y="2361248"/>
                  </a:lnTo>
                  <a:lnTo>
                    <a:pt x="92393" y="2361248"/>
                  </a:lnTo>
                  <a:lnTo>
                    <a:pt x="115252" y="2360295"/>
                  </a:lnTo>
                  <a:lnTo>
                    <a:pt x="138112" y="2359343"/>
                  </a:lnTo>
                  <a:lnTo>
                    <a:pt x="161925" y="2358390"/>
                  </a:lnTo>
                  <a:lnTo>
                    <a:pt x="184785" y="2356485"/>
                  </a:lnTo>
                  <a:lnTo>
                    <a:pt x="207645" y="2355532"/>
                  </a:lnTo>
                  <a:lnTo>
                    <a:pt x="230505" y="2354580"/>
                  </a:lnTo>
                  <a:lnTo>
                    <a:pt x="254317" y="2352675"/>
                  </a:lnTo>
                  <a:lnTo>
                    <a:pt x="277177" y="2350770"/>
                  </a:lnTo>
                  <a:lnTo>
                    <a:pt x="300038" y="2348865"/>
                  </a:lnTo>
                  <a:lnTo>
                    <a:pt x="322898" y="2346960"/>
                  </a:lnTo>
                  <a:lnTo>
                    <a:pt x="345758" y="2344102"/>
                  </a:lnTo>
                  <a:lnTo>
                    <a:pt x="369570" y="2341245"/>
                  </a:lnTo>
                  <a:lnTo>
                    <a:pt x="392430" y="2338388"/>
                  </a:lnTo>
                  <a:lnTo>
                    <a:pt x="415290" y="2335530"/>
                  </a:lnTo>
                  <a:lnTo>
                    <a:pt x="438150" y="2331720"/>
                  </a:lnTo>
                  <a:lnTo>
                    <a:pt x="461962" y="2327910"/>
                  </a:lnTo>
                  <a:lnTo>
                    <a:pt x="484823" y="2323148"/>
                  </a:lnTo>
                  <a:lnTo>
                    <a:pt x="507683" y="2318385"/>
                  </a:lnTo>
                  <a:lnTo>
                    <a:pt x="530542" y="2312670"/>
                  </a:lnTo>
                  <a:lnTo>
                    <a:pt x="554355" y="2306955"/>
                  </a:lnTo>
                  <a:lnTo>
                    <a:pt x="577215" y="2301240"/>
                  </a:lnTo>
                  <a:lnTo>
                    <a:pt x="600075" y="2294572"/>
                  </a:lnTo>
                  <a:lnTo>
                    <a:pt x="622935" y="2286952"/>
                  </a:lnTo>
                  <a:lnTo>
                    <a:pt x="645795" y="2279332"/>
                  </a:lnTo>
                  <a:lnTo>
                    <a:pt x="669608" y="2270760"/>
                  </a:lnTo>
                  <a:lnTo>
                    <a:pt x="692467" y="2261235"/>
                  </a:lnTo>
                  <a:lnTo>
                    <a:pt x="715328" y="2250757"/>
                  </a:lnTo>
                  <a:lnTo>
                    <a:pt x="738188" y="2240280"/>
                  </a:lnTo>
                  <a:lnTo>
                    <a:pt x="762000" y="2227898"/>
                  </a:lnTo>
                  <a:lnTo>
                    <a:pt x="784860" y="2215515"/>
                  </a:lnTo>
                  <a:lnTo>
                    <a:pt x="807720" y="2202180"/>
                  </a:lnTo>
                  <a:lnTo>
                    <a:pt x="830580" y="2186940"/>
                  </a:lnTo>
                  <a:lnTo>
                    <a:pt x="854392" y="2171700"/>
                  </a:lnTo>
                  <a:lnTo>
                    <a:pt x="877252" y="2154555"/>
                  </a:lnTo>
                  <a:lnTo>
                    <a:pt x="900112" y="2137410"/>
                  </a:lnTo>
                  <a:lnTo>
                    <a:pt x="922972" y="2118360"/>
                  </a:lnTo>
                  <a:lnTo>
                    <a:pt x="945833" y="2098358"/>
                  </a:lnTo>
                  <a:lnTo>
                    <a:pt x="969645" y="2077403"/>
                  </a:lnTo>
                  <a:lnTo>
                    <a:pt x="992505" y="2054542"/>
                  </a:lnTo>
                  <a:lnTo>
                    <a:pt x="1015365" y="2030730"/>
                  </a:lnTo>
                  <a:lnTo>
                    <a:pt x="1038225" y="2005012"/>
                  </a:lnTo>
                  <a:lnTo>
                    <a:pt x="1062038" y="1978342"/>
                  </a:lnTo>
                  <a:lnTo>
                    <a:pt x="1084898" y="1950720"/>
                  </a:lnTo>
                  <a:lnTo>
                    <a:pt x="1107758" y="1921192"/>
                  </a:lnTo>
                  <a:lnTo>
                    <a:pt x="1130618" y="1890712"/>
                  </a:lnTo>
                  <a:lnTo>
                    <a:pt x="1154430" y="1858328"/>
                  </a:lnTo>
                  <a:lnTo>
                    <a:pt x="1177290" y="1824990"/>
                  </a:lnTo>
                  <a:lnTo>
                    <a:pt x="1200150" y="1789747"/>
                  </a:lnTo>
                  <a:lnTo>
                    <a:pt x="1223010" y="1753553"/>
                  </a:lnTo>
                  <a:lnTo>
                    <a:pt x="1245870" y="1715453"/>
                  </a:lnTo>
                  <a:lnTo>
                    <a:pt x="1269682" y="1675447"/>
                  </a:lnTo>
                  <a:lnTo>
                    <a:pt x="1292542" y="1635442"/>
                  </a:lnTo>
                  <a:lnTo>
                    <a:pt x="1315402" y="1592580"/>
                  </a:lnTo>
                  <a:lnTo>
                    <a:pt x="1338262" y="1549718"/>
                  </a:lnTo>
                  <a:lnTo>
                    <a:pt x="1362075" y="1504950"/>
                  </a:lnTo>
                  <a:lnTo>
                    <a:pt x="1384935" y="1459230"/>
                  </a:lnTo>
                  <a:lnTo>
                    <a:pt x="1407795" y="1412558"/>
                  </a:lnTo>
                  <a:lnTo>
                    <a:pt x="1430655" y="1363980"/>
                  </a:lnTo>
                  <a:lnTo>
                    <a:pt x="1454468" y="1315403"/>
                  </a:lnTo>
                  <a:lnTo>
                    <a:pt x="1477328" y="1264920"/>
                  </a:lnTo>
                  <a:lnTo>
                    <a:pt x="1500188" y="1214438"/>
                  </a:lnTo>
                  <a:lnTo>
                    <a:pt x="1523047" y="1163003"/>
                  </a:lnTo>
                  <a:lnTo>
                    <a:pt x="1545908" y="1111568"/>
                  </a:lnTo>
                  <a:lnTo>
                    <a:pt x="1569720" y="1059180"/>
                  </a:lnTo>
                  <a:lnTo>
                    <a:pt x="1592580" y="1005840"/>
                  </a:lnTo>
                  <a:lnTo>
                    <a:pt x="1615440" y="953453"/>
                  </a:lnTo>
                  <a:lnTo>
                    <a:pt x="1638300" y="900112"/>
                  </a:lnTo>
                  <a:lnTo>
                    <a:pt x="1662112" y="846772"/>
                  </a:lnTo>
                  <a:lnTo>
                    <a:pt x="1684972" y="794385"/>
                  </a:lnTo>
                  <a:lnTo>
                    <a:pt x="1707832" y="741997"/>
                  </a:lnTo>
                  <a:lnTo>
                    <a:pt x="1730692" y="690562"/>
                  </a:lnTo>
                  <a:lnTo>
                    <a:pt x="1754505" y="639128"/>
                  </a:lnTo>
                  <a:lnTo>
                    <a:pt x="1777365" y="588645"/>
                  </a:lnTo>
                  <a:lnTo>
                    <a:pt x="1800225" y="540067"/>
                  </a:lnTo>
                  <a:lnTo>
                    <a:pt x="1823085" y="492442"/>
                  </a:lnTo>
                  <a:lnTo>
                    <a:pt x="1845945" y="445770"/>
                  </a:lnTo>
                  <a:lnTo>
                    <a:pt x="1869758" y="400050"/>
                  </a:lnTo>
                  <a:lnTo>
                    <a:pt x="1892618" y="357188"/>
                  </a:lnTo>
                  <a:lnTo>
                    <a:pt x="1915478" y="315278"/>
                  </a:lnTo>
                  <a:lnTo>
                    <a:pt x="1938338" y="276225"/>
                  </a:lnTo>
                  <a:lnTo>
                    <a:pt x="1962150" y="238125"/>
                  </a:lnTo>
                  <a:lnTo>
                    <a:pt x="1985010" y="203835"/>
                  </a:lnTo>
                  <a:lnTo>
                    <a:pt x="2007870" y="170497"/>
                  </a:lnTo>
                  <a:lnTo>
                    <a:pt x="2030730" y="140970"/>
                  </a:lnTo>
                  <a:lnTo>
                    <a:pt x="2054542" y="113347"/>
                  </a:lnTo>
                  <a:lnTo>
                    <a:pt x="2077403" y="88583"/>
                  </a:lnTo>
                  <a:lnTo>
                    <a:pt x="2100262" y="66675"/>
                  </a:lnTo>
                  <a:lnTo>
                    <a:pt x="2123122" y="47625"/>
                  </a:lnTo>
                  <a:lnTo>
                    <a:pt x="2145982" y="31433"/>
                  </a:lnTo>
                  <a:lnTo>
                    <a:pt x="2169795" y="19050"/>
                  </a:lnTo>
                  <a:lnTo>
                    <a:pt x="2192655" y="9525"/>
                  </a:lnTo>
                  <a:lnTo>
                    <a:pt x="2215515" y="2858"/>
                  </a:lnTo>
                  <a:lnTo>
                    <a:pt x="2238375" y="0"/>
                  </a:lnTo>
                  <a:lnTo>
                    <a:pt x="2262188" y="0"/>
                  </a:lnTo>
                  <a:lnTo>
                    <a:pt x="2285048" y="2858"/>
                  </a:lnTo>
                  <a:lnTo>
                    <a:pt x="2307908" y="9525"/>
                  </a:lnTo>
                  <a:lnTo>
                    <a:pt x="2330768" y="19050"/>
                  </a:lnTo>
                  <a:lnTo>
                    <a:pt x="2354580" y="31433"/>
                  </a:lnTo>
                  <a:lnTo>
                    <a:pt x="2377440" y="47625"/>
                  </a:lnTo>
                  <a:lnTo>
                    <a:pt x="2400300" y="66675"/>
                  </a:lnTo>
                  <a:lnTo>
                    <a:pt x="2423160" y="88583"/>
                  </a:lnTo>
                  <a:lnTo>
                    <a:pt x="2446020" y="113347"/>
                  </a:lnTo>
                  <a:lnTo>
                    <a:pt x="2469832" y="140970"/>
                  </a:lnTo>
                  <a:lnTo>
                    <a:pt x="2492692" y="170497"/>
                  </a:lnTo>
                  <a:lnTo>
                    <a:pt x="2515552" y="203835"/>
                  </a:lnTo>
                  <a:lnTo>
                    <a:pt x="2538412" y="238125"/>
                  </a:lnTo>
                  <a:lnTo>
                    <a:pt x="2562225" y="276225"/>
                  </a:lnTo>
                  <a:lnTo>
                    <a:pt x="2585085" y="315278"/>
                  </a:lnTo>
                  <a:lnTo>
                    <a:pt x="2607945" y="357188"/>
                  </a:lnTo>
                  <a:lnTo>
                    <a:pt x="2630805" y="400050"/>
                  </a:lnTo>
                  <a:lnTo>
                    <a:pt x="2654618" y="445770"/>
                  </a:lnTo>
                  <a:lnTo>
                    <a:pt x="2677478" y="492442"/>
                  </a:lnTo>
                  <a:lnTo>
                    <a:pt x="2700338" y="540067"/>
                  </a:lnTo>
                  <a:lnTo>
                    <a:pt x="2723198" y="588645"/>
                  </a:lnTo>
                  <a:lnTo>
                    <a:pt x="2746058" y="639128"/>
                  </a:lnTo>
                  <a:lnTo>
                    <a:pt x="2769870" y="690562"/>
                  </a:lnTo>
                  <a:lnTo>
                    <a:pt x="2792730" y="741997"/>
                  </a:lnTo>
                  <a:lnTo>
                    <a:pt x="2815590" y="794385"/>
                  </a:lnTo>
                  <a:lnTo>
                    <a:pt x="2838450" y="846772"/>
                  </a:lnTo>
                  <a:lnTo>
                    <a:pt x="2862262" y="900112"/>
                  </a:lnTo>
                  <a:lnTo>
                    <a:pt x="2885122" y="953453"/>
                  </a:lnTo>
                  <a:lnTo>
                    <a:pt x="2907982" y="1005840"/>
                  </a:lnTo>
                  <a:lnTo>
                    <a:pt x="2930842" y="1059180"/>
                  </a:lnTo>
                  <a:lnTo>
                    <a:pt x="2954655" y="1111568"/>
                  </a:lnTo>
                  <a:lnTo>
                    <a:pt x="2977515" y="1163003"/>
                  </a:lnTo>
                  <a:lnTo>
                    <a:pt x="3000375" y="1214438"/>
                  </a:lnTo>
                  <a:lnTo>
                    <a:pt x="3023235" y="1264920"/>
                  </a:lnTo>
                  <a:lnTo>
                    <a:pt x="3046095" y="1315403"/>
                  </a:lnTo>
                  <a:lnTo>
                    <a:pt x="3069908" y="1363980"/>
                  </a:lnTo>
                  <a:lnTo>
                    <a:pt x="3092768" y="1412558"/>
                  </a:lnTo>
                  <a:lnTo>
                    <a:pt x="3115628" y="1459230"/>
                  </a:lnTo>
                  <a:lnTo>
                    <a:pt x="3138488" y="1504950"/>
                  </a:lnTo>
                  <a:lnTo>
                    <a:pt x="3162300" y="1549718"/>
                  </a:lnTo>
                  <a:lnTo>
                    <a:pt x="3185160" y="1592580"/>
                  </a:lnTo>
                  <a:lnTo>
                    <a:pt x="3208020" y="1635442"/>
                  </a:lnTo>
                  <a:lnTo>
                    <a:pt x="3230880" y="1675447"/>
                  </a:lnTo>
                  <a:lnTo>
                    <a:pt x="3254692" y="1715453"/>
                  </a:lnTo>
                  <a:lnTo>
                    <a:pt x="3277552" y="1753553"/>
                  </a:lnTo>
                  <a:lnTo>
                    <a:pt x="3300412" y="1789747"/>
                  </a:lnTo>
                  <a:lnTo>
                    <a:pt x="3323272" y="1824990"/>
                  </a:lnTo>
                  <a:lnTo>
                    <a:pt x="3346132" y="1858328"/>
                  </a:lnTo>
                  <a:lnTo>
                    <a:pt x="3369945" y="1890712"/>
                  </a:lnTo>
                  <a:lnTo>
                    <a:pt x="3392805" y="1921192"/>
                  </a:lnTo>
                  <a:lnTo>
                    <a:pt x="3415665" y="1950720"/>
                  </a:lnTo>
                  <a:lnTo>
                    <a:pt x="3438525" y="1978342"/>
                  </a:lnTo>
                  <a:lnTo>
                    <a:pt x="3462338" y="2005012"/>
                  </a:lnTo>
                  <a:lnTo>
                    <a:pt x="3485198" y="2030730"/>
                  </a:lnTo>
                  <a:lnTo>
                    <a:pt x="3508058" y="2054542"/>
                  </a:lnTo>
                  <a:lnTo>
                    <a:pt x="3530918" y="2077403"/>
                  </a:lnTo>
                  <a:lnTo>
                    <a:pt x="3554730" y="2098358"/>
                  </a:lnTo>
                  <a:lnTo>
                    <a:pt x="3577590" y="2118360"/>
                  </a:lnTo>
                  <a:lnTo>
                    <a:pt x="3600450" y="2137410"/>
                  </a:lnTo>
                  <a:lnTo>
                    <a:pt x="3623310" y="2154555"/>
                  </a:lnTo>
                  <a:lnTo>
                    <a:pt x="3646170" y="2171700"/>
                  </a:lnTo>
                  <a:lnTo>
                    <a:pt x="3669982" y="2186940"/>
                  </a:lnTo>
                  <a:lnTo>
                    <a:pt x="3692842" y="2202180"/>
                  </a:lnTo>
                  <a:lnTo>
                    <a:pt x="3715702" y="2215515"/>
                  </a:lnTo>
                  <a:lnTo>
                    <a:pt x="3738562" y="2227898"/>
                  </a:lnTo>
                  <a:lnTo>
                    <a:pt x="3762375" y="2240280"/>
                  </a:lnTo>
                  <a:lnTo>
                    <a:pt x="3785235" y="2250757"/>
                  </a:lnTo>
                  <a:lnTo>
                    <a:pt x="3808095" y="2261235"/>
                  </a:lnTo>
                  <a:lnTo>
                    <a:pt x="3830955" y="2270760"/>
                  </a:lnTo>
                  <a:lnTo>
                    <a:pt x="3854768" y="2279332"/>
                  </a:lnTo>
                  <a:lnTo>
                    <a:pt x="3877628" y="2286952"/>
                  </a:lnTo>
                  <a:lnTo>
                    <a:pt x="3900488" y="2294572"/>
                  </a:lnTo>
                  <a:lnTo>
                    <a:pt x="3923348" y="2301240"/>
                  </a:lnTo>
                  <a:lnTo>
                    <a:pt x="3946207" y="2306955"/>
                  </a:lnTo>
                  <a:lnTo>
                    <a:pt x="3970020" y="2312670"/>
                  </a:lnTo>
                  <a:lnTo>
                    <a:pt x="3992880" y="2318385"/>
                  </a:lnTo>
                  <a:lnTo>
                    <a:pt x="4015740" y="2323148"/>
                  </a:lnTo>
                  <a:lnTo>
                    <a:pt x="4038600" y="2327910"/>
                  </a:lnTo>
                  <a:lnTo>
                    <a:pt x="4062412" y="2331720"/>
                  </a:lnTo>
                  <a:lnTo>
                    <a:pt x="4085272" y="2335530"/>
                  </a:lnTo>
                  <a:lnTo>
                    <a:pt x="4108132" y="2338388"/>
                  </a:lnTo>
                  <a:lnTo>
                    <a:pt x="4130993" y="2341245"/>
                  </a:lnTo>
                  <a:lnTo>
                    <a:pt x="4154805" y="2344102"/>
                  </a:lnTo>
                  <a:lnTo>
                    <a:pt x="4177665" y="2346960"/>
                  </a:lnTo>
                  <a:lnTo>
                    <a:pt x="4200525" y="2348865"/>
                  </a:lnTo>
                  <a:lnTo>
                    <a:pt x="4223385" y="2350770"/>
                  </a:lnTo>
                  <a:lnTo>
                    <a:pt x="4246245" y="2352675"/>
                  </a:lnTo>
                  <a:lnTo>
                    <a:pt x="4270058" y="2354580"/>
                  </a:lnTo>
                  <a:lnTo>
                    <a:pt x="4292918" y="2355532"/>
                  </a:lnTo>
                  <a:lnTo>
                    <a:pt x="4315778" y="2356485"/>
                  </a:lnTo>
                  <a:lnTo>
                    <a:pt x="4338638" y="2358390"/>
                  </a:lnTo>
                  <a:lnTo>
                    <a:pt x="4362450" y="2359343"/>
                  </a:lnTo>
                  <a:lnTo>
                    <a:pt x="4385310" y="2360295"/>
                  </a:lnTo>
                  <a:lnTo>
                    <a:pt x="4408170" y="2361248"/>
                  </a:lnTo>
                  <a:lnTo>
                    <a:pt x="4431030" y="2361248"/>
                  </a:lnTo>
                  <a:lnTo>
                    <a:pt x="4454842" y="2362200"/>
                  </a:lnTo>
                  <a:lnTo>
                    <a:pt x="4477702" y="2363152"/>
                  </a:lnTo>
                  <a:lnTo>
                    <a:pt x="4500562" y="2363152"/>
                  </a:lnTo>
                  <a:lnTo>
                    <a:pt x="4523422" y="2364105"/>
                  </a:lnTo>
                  <a:lnTo>
                    <a:pt x="4546282" y="2364105"/>
                  </a:lnTo>
                  <a:lnTo>
                    <a:pt x="4570095" y="2364105"/>
                  </a:lnTo>
                  <a:lnTo>
                    <a:pt x="4592955" y="2365057"/>
                  </a:lnTo>
                  <a:lnTo>
                    <a:pt x="4615815" y="2365057"/>
                  </a:lnTo>
                  <a:lnTo>
                    <a:pt x="4638675" y="2365057"/>
                  </a:lnTo>
                  <a:lnTo>
                    <a:pt x="4662488" y="2366010"/>
                  </a:lnTo>
                  <a:lnTo>
                    <a:pt x="4685348" y="2366010"/>
                  </a:lnTo>
                  <a:lnTo>
                    <a:pt x="4708208" y="2366010"/>
                  </a:lnTo>
                  <a:lnTo>
                    <a:pt x="4731068" y="2366010"/>
                  </a:lnTo>
                  <a:lnTo>
                    <a:pt x="4754880" y="2366010"/>
                  </a:lnTo>
                  <a:lnTo>
                    <a:pt x="4777740" y="2366010"/>
                  </a:lnTo>
                  <a:lnTo>
                    <a:pt x="4800600" y="2366010"/>
                  </a:lnTo>
                  <a:lnTo>
                    <a:pt x="4823460" y="2366010"/>
                  </a:lnTo>
                  <a:lnTo>
                    <a:pt x="4846320" y="2366962"/>
                  </a:lnTo>
                  <a:lnTo>
                    <a:pt x="4870132" y="2366962"/>
                  </a:lnTo>
                  <a:lnTo>
                    <a:pt x="4892992" y="2366962"/>
                  </a:lnTo>
                  <a:lnTo>
                    <a:pt x="4915852" y="2366962"/>
                  </a:lnTo>
                  <a:lnTo>
                    <a:pt x="4938712" y="2366962"/>
                  </a:lnTo>
                  <a:lnTo>
                    <a:pt x="4962525" y="2366962"/>
                  </a:lnTo>
                  <a:lnTo>
                    <a:pt x="4985385" y="2366962"/>
                  </a:lnTo>
                  <a:lnTo>
                    <a:pt x="5008245" y="2366962"/>
                  </a:lnTo>
                  <a:lnTo>
                    <a:pt x="5031105" y="2366962"/>
                  </a:lnTo>
                  <a:lnTo>
                    <a:pt x="5054918" y="2366962"/>
                  </a:lnTo>
                  <a:lnTo>
                    <a:pt x="5077778" y="2366962"/>
                  </a:lnTo>
                  <a:lnTo>
                    <a:pt x="5100638" y="2366962"/>
                  </a:lnTo>
                  <a:lnTo>
                    <a:pt x="5123498" y="2366962"/>
                  </a:lnTo>
                  <a:lnTo>
                    <a:pt x="5146358" y="2366962"/>
                  </a:lnTo>
                  <a:lnTo>
                    <a:pt x="5170170" y="2366962"/>
                  </a:lnTo>
                  <a:lnTo>
                    <a:pt x="5193030" y="2366962"/>
                  </a:lnTo>
                  <a:lnTo>
                    <a:pt x="5215890" y="2366962"/>
                  </a:lnTo>
                  <a:lnTo>
                    <a:pt x="5238750" y="2366962"/>
                  </a:lnTo>
                  <a:lnTo>
                    <a:pt x="5262562" y="2366962"/>
                  </a:lnTo>
                  <a:lnTo>
                    <a:pt x="5285422" y="2366962"/>
                  </a:lnTo>
                  <a:lnTo>
                    <a:pt x="5308282" y="2366962"/>
                  </a:lnTo>
                  <a:lnTo>
                    <a:pt x="5331142" y="2366962"/>
                  </a:lnTo>
                  <a:lnTo>
                    <a:pt x="5354955" y="2366962"/>
                  </a:lnTo>
                  <a:lnTo>
                    <a:pt x="5377815" y="2366962"/>
                  </a:lnTo>
                  <a:lnTo>
                    <a:pt x="5400675" y="2366962"/>
                  </a:lnTo>
                  <a:lnTo>
                    <a:pt x="5423535" y="2366962"/>
                  </a:lnTo>
                  <a:lnTo>
                    <a:pt x="5446395" y="2366962"/>
                  </a:lnTo>
                  <a:lnTo>
                    <a:pt x="5470208" y="2366962"/>
                  </a:lnTo>
                  <a:lnTo>
                    <a:pt x="5493068" y="2366962"/>
                  </a:lnTo>
                  <a:lnTo>
                    <a:pt x="5515928" y="2366962"/>
                  </a:lnTo>
                  <a:lnTo>
                    <a:pt x="5538788" y="2366962"/>
                  </a:lnTo>
                  <a:lnTo>
                    <a:pt x="5562600" y="2366962"/>
                  </a:lnTo>
                  <a:lnTo>
                    <a:pt x="5585460" y="2366962"/>
                  </a:lnTo>
                  <a:lnTo>
                    <a:pt x="5608320" y="2366962"/>
                  </a:lnTo>
                  <a:lnTo>
                    <a:pt x="5631180" y="2366962"/>
                  </a:lnTo>
                  <a:lnTo>
                    <a:pt x="5654992" y="2366962"/>
                  </a:lnTo>
                  <a:lnTo>
                    <a:pt x="5677852" y="2366962"/>
                  </a:lnTo>
                  <a:lnTo>
                    <a:pt x="5700712" y="2366962"/>
                  </a:lnTo>
                  <a:lnTo>
                    <a:pt x="5723572" y="2366962"/>
                  </a:lnTo>
                  <a:lnTo>
                    <a:pt x="5746432" y="2366962"/>
                  </a:lnTo>
                  <a:lnTo>
                    <a:pt x="5770245" y="2366962"/>
                  </a:lnTo>
                  <a:lnTo>
                    <a:pt x="5793105" y="2366962"/>
                  </a:lnTo>
                  <a:lnTo>
                    <a:pt x="5815965" y="2366962"/>
                  </a:lnTo>
                  <a:lnTo>
                    <a:pt x="5838825" y="2366962"/>
                  </a:lnTo>
                  <a:lnTo>
                    <a:pt x="5862638" y="2366962"/>
                  </a:lnTo>
                  <a:lnTo>
                    <a:pt x="5885498" y="2366962"/>
                  </a:lnTo>
                  <a:lnTo>
                    <a:pt x="5908358" y="2366962"/>
                  </a:lnTo>
                  <a:lnTo>
                    <a:pt x="5931218" y="2366962"/>
                  </a:lnTo>
                  <a:lnTo>
                    <a:pt x="5955030" y="2366962"/>
                  </a:lnTo>
                  <a:lnTo>
                    <a:pt x="5977890" y="2366962"/>
                  </a:lnTo>
                  <a:lnTo>
                    <a:pt x="6000750" y="2366962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17" name="Line 17"/>
            <p:cNvSpPr/>
            <p:nvPr/>
          </p:nvSpPr>
          <p:spPr>
            <a:xfrm>
              <a:off x="3534728" y="2487930"/>
              <a:ext cx="9525" cy="2522220"/>
            </a:xfrm>
            <a:custGeom>
              <a:avLst/>
              <a:gdLst/>
              <a:ahLst/>
              <a:cxnLst/>
              <a:rect l="l" t="t" r="r" b="b"/>
              <a:pathLst>
                <a:path w="9525" h="2522220">
                  <a:moveTo>
                    <a:pt x="0" y="252222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1F2937"/>
              </a:solidFill>
              <a:custDash>
                <a:ds d="357143" sp="285714"/>
              </a:custDash>
            </a:ln>
          </p:spPr>
        </p:sp>
        <p:sp>
          <p:nvSpPr>
            <p:cNvPr id="18" name="Line 18"/>
            <p:cNvSpPr/>
            <p:nvPr/>
          </p:nvSpPr>
          <p:spPr>
            <a:xfrm>
              <a:off x="5985510" y="2487930"/>
              <a:ext cx="9525" cy="2522220"/>
            </a:xfrm>
            <a:custGeom>
              <a:avLst/>
              <a:gdLst/>
              <a:ahLst/>
              <a:cxnLst/>
              <a:rect l="l" t="t" r="r" b="b"/>
              <a:pathLst>
                <a:path w="9525" h="2522220">
                  <a:moveTo>
                    <a:pt x="0" y="252222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1F2937"/>
              </a:solidFill>
              <a:custDash>
                <a:ds d="357143" sp="285714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3534728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12351" y="508587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99.673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985510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26339" y="5085874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100.327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760595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46325" y="508587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259455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09858" y="525732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99.6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760220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09670" y="508587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99.2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49257" y="2463527"/>
              <a:ext cx="821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H₀：μ = 100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01455" y="2463527"/>
              <a:ext cx="916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真值 μ = 99.6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45618" y="434468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β = 0.33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719932" y="4151786"/>
              <a:ext cx="365103" cy="245097"/>
            </a:xfrm>
            <a:custGeom>
              <a:avLst/>
              <a:gdLst/>
              <a:ahLst/>
              <a:cxnLst/>
              <a:rect l="l" t="t" r="r" b="b"/>
              <a:pathLst>
                <a:path w="365103" h="245097">
                  <a:moveTo>
                    <a:pt x="365103" y="245097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C2410C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3672478" y="4119924"/>
              <a:ext cx="61789" cy="53207"/>
            </a:xfrm>
            <a:custGeom>
              <a:avLst/>
              <a:gdLst/>
              <a:ahLst/>
              <a:cxnLst/>
              <a:rect l="l" t="t" r="r" b="b"/>
              <a:pathLst>
                <a:path w="61789" h="53207">
                  <a:moveTo>
                    <a:pt x="0" y="0"/>
                  </a:moveTo>
                  <a:lnTo>
                    <a:pt x="61789" y="10506"/>
                  </a:lnTo>
                  <a:lnTo>
                    <a:pt x="33118" y="53207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20055" y="435278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α/2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149035" y="4545254"/>
              <a:ext cx="298799" cy="323974"/>
            </a:xfrm>
            <a:custGeom>
              <a:avLst/>
              <a:gdLst/>
              <a:ahLst/>
              <a:cxnLst/>
              <a:rect l="l" t="t" r="r" b="b"/>
              <a:pathLst>
                <a:path w="298799" h="323974">
                  <a:moveTo>
                    <a:pt x="298799" y="0"/>
                  </a:moveTo>
                  <a:lnTo>
                    <a:pt x="0" y="323974"/>
                  </a:lnTo>
                </a:path>
              </a:pathLst>
            </a:custGeom>
            <a:noFill/>
            <a:ln w="11430">
              <a:solidFill>
                <a:srgbClr val="243B7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110288" y="4851787"/>
              <a:ext cx="57655" cy="59446"/>
            </a:xfrm>
            <a:custGeom>
              <a:avLst/>
              <a:gdLst/>
              <a:ahLst/>
              <a:cxnLst/>
              <a:rect l="l" t="t" r="r" b="b"/>
              <a:pathLst>
                <a:path w="57655" h="59446">
                  <a:moveTo>
                    <a:pt x="0" y="59446"/>
                  </a:moveTo>
                  <a:lnTo>
                    <a:pt x="19841" y="0"/>
                  </a:lnTo>
                  <a:lnTo>
                    <a:pt x="57655" y="34871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42758" y="37098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接受域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3592135" y="3882533"/>
              <a:ext cx="867947" cy="9525"/>
            </a:xfrm>
            <a:custGeom>
              <a:avLst/>
              <a:gdLst/>
              <a:ahLst/>
              <a:cxnLst/>
              <a:rect l="l" t="t" r="r" b="b"/>
              <a:pathLst>
                <a:path w="867947" h="9525">
                  <a:moveTo>
                    <a:pt x="867947" y="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243B7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3534985" y="3856815"/>
              <a:ext cx="57150" cy="51435"/>
            </a:xfrm>
            <a:custGeom>
              <a:avLst/>
              <a:gdLst/>
              <a:ahLst/>
              <a:cxnLst/>
              <a:rect l="l" t="t" r="r" b="b"/>
              <a:pathLst>
                <a:path w="57150" h="51435">
                  <a:moveTo>
                    <a:pt x="0" y="25717"/>
                  </a:moveTo>
                  <a:lnTo>
                    <a:pt x="57150" y="0"/>
                  </a:lnTo>
                  <a:lnTo>
                    <a:pt x="57150" y="51435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5060156" y="3882533"/>
              <a:ext cx="867947" cy="9525"/>
            </a:xfrm>
            <a:custGeom>
              <a:avLst/>
              <a:gdLst/>
              <a:ahLst/>
              <a:cxnLst/>
              <a:rect l="l" t="t" r="r" b="b"/>
              <a:pathLst>
                <a:path w="867947" h="9525">
                  <a:moveTo>
                    <a:pt x="0" y="0"/>
                  </a:moveTo>
                  <a:lnTo>
                    <a:pt x="867947" y="0"/>
                  </a:lnTo>
                </a:path>
              </a:pathLst>
            </a:custGeom>
            <a:noFill/>
            <a:ln w="11430">
              <a:solidFill>
                <a:srgbClr val="243B7A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5928103" y="3856815"/>
              <a:ext cx="57150" cy="51435"/>
            </a:xfrm>
            <a:custGeom>
              <a:avLst/>
              <a:gdLst/>
              <a:ahLst/>
              <a:cxnLst/>
              <a:rect l="l" t="t" r="r" b="b"/>
              <a:pathLst>
                <a:path w="57150" h="51435">
                  <a:moveTo>
                    <a:pt x="57150" y="25717"/>
                  </a:moveTo>
                  <a:lnTo>
                    <a:pt x="0" y="51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104900" y="5829300"/>
              <a:ext cx="209550" cy="133350"/>
            </a:xfrm>
            <a:prstGeom prst="rect">
              <a:avLst/>
            </a:prstGeom>
            <a:solidFill>
              <a:srgbClr val="A9BBE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85506" y="5834301"/>
              <a:ext cx="137392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曲线落在拒绝域：α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581400" y="5829300"/>
              <a:ext cx="209550" cy="133350"/>
            </a:xfrm>
            <a:prstGeom prst="rect">
              <a:avLst/>
            </a:prstGeom>
            <a:solidFill>
              <a:srgbClr val="F6C6A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62006" y="5834301"/>
              <a:ext cx="144473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真实曲线落在接受域：β</a:t>
              </a:r>
            </a:p>
          </p:txBody>
        </p:sp>
      </p:grpSp>
      <p:grpSp>
        <p:nvGrpSpPr>
          <p:cNvPr id="62" name="abB"/>
          <p:cNvGrpSpPr/>
          <p:nvPr/>
        </p:nvGrpSpPr>
        <p:grpSpPr>
          <a:xfrm>
            <a:off x="7848600" y="1524000"/>
            <a:ext cx="3810000" cy="4762500"/>
            <a:chOff x="7848600" y="1524000"/>
            <a:chExt cx="3810000" cy="4762500"/>
          </a:xfrm>
        </p:grpSpPr>
        <p:sp>
          <p:nvSpPr>
            <p:cNvPr id="47" name="Rectangle 47"/>
            <p:cNvSpPr/>
            <p:nvPr/>
          </p:nvSpPr>
          <p:spPr>
            <a:xfrm>
              <a:off x="7848600" y="1524000"/>
              <a:ext cx="3810000" cy="1219200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58125" y="1628775"/>
              <a:ext cx="47625" cy="10096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20050" y="16287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21015" y="1682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14526" y="1940004"/>
              <a:ext cx="1651444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蓝色阴影是弃真的概率 α，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橙色阴影是取伪的概率 β。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848600" y="2876550"/>
              <a:ext cx="3810000" cy="167640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858125" y="2981325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20050" y="2981325"/>
              <a:ext cx="200248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075804" y="3034665"/>
              <a:ext cx="18909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β 随 n、α 变化（真值 99.6）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14526" y="3292554"/>
              <a:ext cx="1831404" cy="812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9，α = 0.05：β = 0.330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16，α = 0.05：β = 0.107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25，α = 0.05：β = 0.021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9，α = 0.01：β = 0.570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48600" y="4686300"/>
              <a:ext cx="3810000" cy="16002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58125" y="4791075"/>
              <a:ext cx="47625" cy="13906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20050" y="47910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13014" y="48444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两条规律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14526" y="5102304"/>
              <a:ext cx="1907540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取小，接受域变宽，β 变大；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增大，两条曲线都变瘦，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不变时 β 也能降下来。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双边、左边、右边检验：看备择假设往哪边偏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71277" cy="278702"/>
            <a:chOff x="526161" y="1547336"/>
            <a:chExt cx="677127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712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对总体中的未知参数 θ 进行检验，θ₀ 是一个已知的数。按 H₁ 的形式分成三类。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41195"/>
            <a:ext cx="6059805" cy="1623060"/>
            <a:chOff x="533400" y="1941195"/>
            <a:chExt cx="6059805" cy="162306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269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83729" y="2065496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83777" y="2065496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00916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拒绝域位置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1919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双边检验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15898" y="2471261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= θ₀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91333" y="2471261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≠ θ₀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53911" y="2471261"/>
              <a:ext cx="1059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两侧尾部各 α/2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47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5272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1919" y="2877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左边检验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6036" y="2877026"/>
              <a:ext cx="1353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= θ₀（或 θ ≥ θ₀）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1333" y="2877026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&lt; θ₀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12225" y="2877026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左侧尾部 α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537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1919" y="32827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右边检验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56036" y="3282791"/>
              <a:ext cx="1353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= θ₀（或 θ ≤ θ₀）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91333" y="3282791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&gt; θ₀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12225" y="3282791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右侧尾部 α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941195"/>
              <a:ext cx="605980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61925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43757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7012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739515"/>
            <a:ext cx="6059805" cy="1748790"/>
            <a:chOff x="533400" y="3739515"/>
            <a:chExt cx="6059805" cy="1748790"/>
          </a:xfrm>
        </p:grpSpPr>
        <p:sp>
          <p:nvSpPr>
            <p:cNvPr id="34" name="Rectangle 34"/>
            <p:cNvSpPr/>
            <p:nvPr/>
          </p:nvSpPr>
          <p:spPr>
            <a:xfrm>
              <a:off x="533400" y="3739515"/>
              <a:ext cx="6059805" cy="1748790"/>
            </a:xfrm>
            <a:prstGeom prst="roundRect">
              <a:avLst>
                <a:gd name="adj" fmla="val 76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3872865"/>
              <a:ext cx="47625" cy="14820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3931920"/>
              <a:ext cx="1781175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9107" y="3966210"/>
              <a:ext cx="169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 H₀ 可以写成不等式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4289108"/>
              <a:ext cx="53372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以右边检验为例，用 θ = θ₀ 定出的拒绝域，在 θ &lt; θ₀ 时落入拒绝域的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概率更小，仍不超过 α。所以 H₀ 写成 θ = θ₀ 或 θ ≤ θ₀，拒绝域相同。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898005" y="1941195"/>
            <a:ext cx="4760595" cy="1814512"/>
            <a:chOff x="6898005" y="1941195"/>
            <a:chExt cx="4760595" cy="1814512"/>
          </a:xfrm>
        </p:grpSpPr>
        <p:sp>
          <p:nvSpPr>
            <p:cNvPr id="40" name="Rectangle 40"/>
            <p:cNvSpPr/>
            <p:nvPr/>
          </p:nvSpPr>
          <p:spPr>
            <a:xfrm>
              <a:off x="6898005" y="1941195"/>
              <a:ext cx="4760595" cy="1814512"/>
            </a:xfrm>
            <a:prstGeom prst="roundRect">
              <a:avLst>
                <a:gd name="adj" fmla="val 734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90410" y="2133600"/>
              <a:ext cx="117729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46996" y="2167890"/>
              <a:ext cx="1062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怎样写 H₀ 与 H₁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89458" y="247840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45136" y="25167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70254" y="2490788"/>
              <a:ext cx="1612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等号永远放在 H₀ 里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089458" y="278130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45136" y="28196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70254" y="2792730"/>
              <a:ext cx="37770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想要用数据证明的结论放在 H₁，如“新工艺提高了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寿命”写成 H₁：μ &gt; 1500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089458" y="334041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45136" y="33788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70254" y="3352800"/>
              <a:ext cx="4048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题目问“是否有显著差异”“是否正常”，用双边检验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898005" y="3930968"/>
            <a:ext cx="4760595" cy="1557338"/>
            <a:chOff x="6898005" y="3930968"/>
            <a:chExt cx="4760595" cy="1557338"/>
          </a:xfrm>
        </p:grpSpPr>
        <p:sp>
          <p:nvSpPr>
            <p:cNvPr id="53" name="Rectangle 53"/>
            <p:cNvSpPr/>
            <p:nvPr/>
          </p:nvSpPr>
          <p:spPr>
            <a:xfrm>
              <a:off x="6898005" y="3930968"/>
              <a:ext cx="4760595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07530" y="4064318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8510" y="412337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03948" y="41576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对照本章例题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37082" y="453675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93102" y="4480560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包装机是否正常：双边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37082" y="483870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93102" y="4782502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新工艺是否提高寿命：右边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137082" y="514159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93102" y="5085398"/>
              <a:ext cx="2903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 标准差能否认为是 0.048：双边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4" name="Rectangle 6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633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左、右指的是拒绝域在统计量分布的哪一侧，与 H₁ 中不等号的开口方向一致。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假设检验的基本概念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参数检验的一般步骤：假设、统计量、拒绝域、下结论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707708" y="1574482"/>
            <a:ext cx="4629150" cy="3886201"/>
            <a:chOff x="707708" y="1574482"/>
            <a:chExt cx="4629150" cy="3886201"/>
          </a:xfrm>
        </p:grpSpPr>
        <p:sp>
          <p:nvSpPr>
            <p:cNvPr id="7" name="Freeform 7"/>
            <p:cNvSpPr/>
            <p:nvPr/>
          </p:nvSpPr>
          <p:spPr>
            <a:xfrm>
              <a:off x="1777365" y="214979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28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24978" y="21497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77365" y="28289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28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24978" y="2828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77365" y="3508058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28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24978" y="35080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77365" y="418909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190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24978" y="4189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847975" y="4581525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91815" y="45291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777365" y="4869180"/>
              <a:ext cx="9525" cy="87630"/>
            </a:xfrm>
            <a:custGeom>
              <a:avLst/>
              <a:gdLst/>
              <a:ahLst/>
              <a:cxnLst/>
              <a:rect l="l" t="t" r="r" b="b"/>
              <a:pathLst>
                <a:path w="9525" h="87630">
                  <a:moveTo>
                    <a:pt x="0" y="0"/>
                  </a:moveTo>
                  <a:lnTo>
                    <a:pt x="0" y="876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724978" y="49568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7708" y="1574482"/>
              <a:ext cx="2140268" cy="578168"/>
            </a:xfrm>
            <a:prstGeom prst="roundRect">
              <a:avLst>
                <a:gd name="adj" fmla="val 4991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7708" y="2254568"/>
              <a:ext cx="214026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7708" y="2933700"/>
              <a:ext cx="214026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07708" y="3612832"/>
              <a:ext cx="2140268" cy="578167"/>
            </a:xfrm>
            <a:custGeom>
              <a:avLst/>
              <a:gdLst/>
              <a:ahLst/>
              <a:cxnLst/>
              <a:rect l="l" t="t" r="r" b="b"/>
              <a:pathLst>
                <a:path w="2140268" h="578167">
                  <a:moveTo>
                    <a:pt x="133350" y="0"/>
                  </a:moveTo>
                  <a:lnTo>
                    <a:pt x="2140268" y="0"/>
                  </a:lnTo>
                  <a:lnTo>
                    <a:pt x="2006918" y="578167"/>
                  </a:lnTo>
                  <a:lnTo>
                    <a:pt x="0" y="578167"/>
                  </a:lnTo>
                  <a:close/>
                </a:path>
              </a:pathLst>
            </a:custGeom>
            <a:solidFill>
              <a:srgbClr val="E8EDF8"/>
            </a:solidFill>
            <a:ln w="13335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07708" y="4293870"/>
              <a:ext cx="2140268" cy="575310"/>
            </a:xfrm>
            <a:custGeom>
              <a:avLst/>
              <a:gdLst/>
              <a:ahLst/>
              <a:cxnLst/>
              <a:rect l="l" t="t" r="r" b="b"/>
              <a:pathLst>
                <a:path w="2140268" h="575310">
                  <a:moveTo>
                    <a:pt x="1069658" y="0"/>
                  </a:moveTo>
                  <a:lnTo>
                    <a:pt x="2140268" y="287655"/>
                  </a:lnTo>
                  <a:lnTo>
                    <a:pt x="1069658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196590" y="4381500"/>
              <a:ext cx="2140268" cy="399098"/>
            </a:xfrm>
            <a:prstGeom prst="roundRect">
              <a:avLst>
                <a:gd name="adj" fmla="val 23866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7708" y="5061585"/>
              <a:ext cx="2140268" cy="399098"/>
            </a:xfrm>
            <a:prstGeom prst="roundRect">
              <a:avLst>
                <a:gd name="adj" fmla="val 4988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1194" y="1688306"/>
              <a:ext cx="1612341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提出原假设 H₀ 和备择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假设 H₁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2218" y="2368391"/>
              <a:ext cx="159029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在 H₀ 正确下确定检验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 T 及其分布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0214" y="3047524"/>
              <a:ext cx="165430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对给定的 α 确定拒绝域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0214" y="3726656"/>
              <a:ext cx="165430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由样本值算出 T 的观察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 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6337" y="4502944"/>
              <a:ext cx="542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∈ W？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98242" y="4502944"/>
              <a:ext cx="5360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 H₀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03784" y="5182076"/>
              <a:ext cx="547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接受 H₀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911792" y="437483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51366" y="440007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805940" y="487965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829562" y="490394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815965" y="1524000"/>
            <a:ext cx="5842635" cy="2434590"/>
            <a:chOff x="5815965" y="1524000"/>
            <a:chExt cx="5842635" cy="2434590"/>
          </a:xfrm>
        </p:grpSpPr>
        <p:sp>
          <p:nvSpPr>
            <p:cNvPr id="38" name="Rectangle 38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605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88388" y="164830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例1 中的做法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15978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提出假设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8058" y="2054066"/>
              <a:ext cx="18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H₀：μ = 100，H₁：μ ≠ 100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5978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选统计量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18058" y="2459831"/>
              <a:ext cx="3525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已知，u = (样本均值 − 100)/(0.5/3) ~ N(0, 1)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15978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定拒绝域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18058" y="2865596"/>
              <a:ext cx="1913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0.05，W = {|u| ≥ 1.96}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15978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算观察值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18058" y="3271361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|u| = 2.87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15978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下结论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18058" y="3677126"/>
              <a:ext cx="1155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落入 W，拒绝 H₀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1524000"/>
              <a:ext cx="584263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1328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5815965" y="4133850"/>
            <a:ext cx="5842635" cy="1466850"/>
            <a:chOff x="5815965" y="4133850"/>
            <a:chExt cx="5842635" cy="1466850"/>
          </a:xfrm>
        </p:grpSpPr>
        <p:sp>
          <p:nvSpPr>
            <p:cNvPr id="60" name="Rectangle 60"/>
            <p:cNvSpPr/>
            <p:nvPr/>
          </p:nvSpPr>
          <p:spPr>
            <a:xfrm>
              <a:off x="5815965" y="4133850"/>
              <a:ext cx="584263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25490" y="426720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46470" y="4326255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20578" y="4360545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2 步的要点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39612" y="4682490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统计量里除了样本之外只能有已知数，而且在 H₀ 为真时分布完全确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定。选哪个统计量，取决于检验的是哪个参数、其他参数是否已知，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第二、三部分就按这个分类。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3610"/>
              <a:ext cx="66380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步必须在第 4 步之前完成，拒绝域由 α 和统计量的分布决定，与样本值无关。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单个正态总体的参数检验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018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总体 X ~ N(μ, σ²)，样本 X₁, …, Xₙ，检验 μ 或 σ²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已知检验 μ：u 检验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未知检验 μ：t 检验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590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 σ²：χ² 检验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9222" cy="909257"/>
            <a:chOff x="520446" y="342900"/>
            <a:chExt cx="59492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92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已知时检验 μ：u 检验的三种拒绝域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02581" cy="308039"/>
            <a:chOff x="525399" y="1550194"/>
            <a:chExt cx="1080258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025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总体 X ~ N(μ, σ²)，σ² 已知，X₁, X₂, …, Xₙ 是来自 X 的样本，样本均值与样本方差分别记为 X 上加横线和 S²。</a:t>
              </a:r>
            </a:p>
          </p:txBody>
        </p:sp>
      </p:grpSp>
      <p:grpSp>
        <p:nvGrpSpPr>
          <p:cNvPr id="13" name="c1-card-1"/>
          <p:cNvGrpSpPr/>
          <p:nvPr/>
        </p:nvGrpSpPr>
        <p:grpSpPr>
          <a:xfrm>
            <a:off x="533400" y="1967865"/>
            <a:ext cx="4760595" cy="1356360"/>
            <a:chOff x="533400" y="1967865"/>
            <a:chExt cx="4760595" cy="135636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760595" cy="1356360"/>
            </a:xfrm>
            <a:prstGeom prst="roundRect">
              <a:avLst>
                <a:gd name="adj" fmla="val 983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220694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5521" y="2213134"/>
              <a:ext cx="21408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检验统计量（H₀ 中 μ = μ₀ 时）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9"/>
                <p:cNvSpPr txBox="1">
                  <a:spLocks noGrp="1"/>
                </p:cNvSpPr>
                <p:nvPr/>
              </p:nvSpPr>
              <p:spPr>
                <a:xfrm>
                  <a:off x="742950" y="2529840"/>
                  <a:ext cx="434149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70"/>
              <p:cNvSpPr txBox="1">
                <a:spLocks noGrp="1"/>
              </p:cNvSpPr>
              <p:nvPr/>
            </p:nvSpPr>
            <p:spPr>
              <a:xfrm>
                <a:off x="533400" y="3514725"/>
                <a:ext cx="476059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bar>
                                <m:barPr>
                                  <m:pos m:val="top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≤−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71"/>
              <p:cNvSpPr txBox="1">
                <a:spLocks noGrp="1"/>
              </p:cNvSpPr>
              <p:nvPr/>
            </p:nvSpPr>
            <p:spPr>
              <a:xfrm>
                <a:off x="533400" y="4219575"/>
                <a:ext cx="476059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bar>
                                <m:barPr>
                                  <m:pos m:val="top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ba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0" name="c2-table-1"/>
          <p:cNvGrpSpPr/>
          <p:nvPr/>
        </p:nvGrpSpPr>
        <p:grpSpPr>
          <a:xfrm>
            <a:off x="5598795" y="1967865"/>
            <a:ext cx="6059805" cy="1950720"/>
            <a:chOff x="5598795" y="1967865"/>
            <a:chExt cx="6059805" cy="1950720"/>
          </a:xfrm>
        </p:grpSpPr>
        <p:sp>
          <p:nvSpPr>
            <p:cNvPr id="16" name="Rectangle 16"/>
            <p:cNvSpPr/>
            <p:nvPr/>
          </p:nvSpPr>
          <p:spPr>
            <a:xfrm>
              <a:off x="5598795" y="1967865"/>
              <a:ext cx="6059805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74068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09790" y="2106930"/>
              <a:ext cx="934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45220" y="2106930"/>
              <a:ext cx="11365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21785" y="2106930"/>
              <a:ext cx="856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拒绝域 W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74068" y="25946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6803" y="2594610"/>
              <a:ext cx="580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= μ₀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23198" y="2594610"/>
              <a:ext cx="580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≠ μ₀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87952" y="259461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|u| ≥ uα/2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598795" y="2938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598795" y="2943225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74068" y="308229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2171" y="3082290"/>
              <a:ext cx="154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= μ₀（μ ≥ μ₀）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23198" y="3082290"/>
              <a:ext cx="580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&lt; μ₀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04062" y="3082290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−uα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98795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74068" y="35699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2171" y="3569970"/>
              <a:ext cx="154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= μ₀（μ ≤ μ₀）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23198" y="3569970"/>
              <a:ext cx="580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&gt; μ₀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59593" y="3569970"/>
              <a:ext cx="580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≥ uα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98795" y="1967865"/>
              <a:ext cx="6059805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563678" y="1967865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82000" y="1967865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836468" y="1967865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2"/>
          <p:cNvGrpSpPr/>
          <p:nvPr/>
        </p:nvGrpSpPr>
        <p:grpSpPr>
          <a:xfrm>
            <a:off x="5598795" y="4109085"/>
            <a:ext cx="6059805" cy="1316355"/>
            <a:chOff x="5598795" y="4109085"/>
            <a:chExt cx="6059805" cy="1316355"/>
          </a:xfrm>
        </p:grpSpPr>
        <p:sp>
          <p:nvSpPr>
            <p:cNvPr id="41" name="Rectangle 41"/>
            <p:cNvSpPr/>
            <p:nvPr/>
          </p:nvSpPr>
          <p:spPr>
            <a:xfrm>
              <a:off x="5598795" y="4109085"/>
              <a:ext cx="605980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08320" y="424243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46445" y="43186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24804" y="43543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临界值不同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38825" y="4695825"/>
              <a:ext cx="5368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0.05 时双边用 u₀.₀₂₅ = 1.96，单边用 u₀.₀₅ = 1.645。单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边检验把整个 α 放在一侧，临界值更靠近 0。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79327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单边检验的临界值由 P{u ≤ −uα} = α 或 P{u ≥ uα} = α 定出，对应左边、右边两种情形。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97264" cy="909257"/>
            <a:chOff x="520446" y="342900"/>
            <a:chExt cx="82972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972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三种拒绝域：双边分两尾，单边只看一尾（α = 0.05）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tri0"/>
          <p:cNvGrpSpPr/>
          <p:nvPr/>
        </p:nvGrpSpPr>
        <p:grpSpPr>
          <a:xfrm>
            <a:off x="533400" y="1524000"/>
            <a:ext cx="3606803" cy="4762500"/>
            <a:chOff x="533400" y="1524000"/>
            <a:chExt cx="3606803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606803" cy="4762500"/>
            </a:xfrm>
            <a:prstGeom prst="roundRect">
              <a:avLst>
                <a:gd name="adj" fmla="val 316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1648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双边检验 H₁：μ ≠ μ₀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1085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 = {|u| ≥ uα/2}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762000" y="4011930"/>
              <a:ext cx="691515" cy="274320"/>
            </a:xfrm>
            <a:custGeom>
              <a:avLst/>
              <a:gdLst/>
              <a:ahLst/>
              <a:cxnLst/>
              <a:rect l="l" t="t" r="r" b="b"/>
              <a:pathLst>
                <a:path w="691515" h="274320">
                  <a:moveTo>
                    <a:pt x="0" y="274320"/>
                  </a:moveTo>
                  <a:lnTo>
                    <a:pt x="0" y="271462"/>
                  </a:lnTo>
                  <a:lnTo>
                    <a:pt x="14288" y="271462"/>
                  </a:lnTo>
                  <a:lnTo>
                    <a:pt x="27623" y="270510"/>
                  </a:lnTo>
                  <a:lnTo>
                    <a:pt x="41910" y="270510"/>
                  </a:lnTo>
                  <a:lnTo>
                    <a:pt x="55245" y="269558"/>
                  </a:lnTo>
                  <a:lnTo>
                    <a:pt x="69532" y="269558"/>
                  </a:lnTo>
                  <a:lnTo>
                    <a:pt x="82868" y="268605"/>
                  </a:lnTo>
                  <a:lnTo>
                    <a:pt x="97155" y="267653"/>
                  </a:lnTo>
                  <a:lnTo>
                    <a:pt x="110490" y="267653"/>
                  </a:lnTo>
                  <a:lnTo>
                    <a:pt x="124777" y="266700"/>
                  </a:lnTo>
                  <a:lnTo>
                    <a:pt x="138112" y="265748"/>
                  </a:lnTo>
                  <a:lnTo>
                    <a:pt x="152400" y="264795"/>
                  </a:lnTo>
                  <a:lnTo>
                    <a:pt x="165735" y="262890"/>
                  </a:lnTo>
                  <a:lnTo>
                    <a:pt x="180023" y="261938"/>
                  </a:lnTo>
                  <a:lnTo>
                    <a:pt x="193357" y="260985"/>
                  </a:lnTo>
                  <a:lnTo>
                    <a:pt x="207645" y="259080"/>
                  </a:lnTo>
                  <a:lnTo>
                    <a:pt x="220980" y="258128"/>
                  </a:lnTo>
                  <a:lnTo>
                    <a:pt x="235268" y="256223"/>
                  </a:lnTo>
                  <a:lnTo>
                    <a:pt x="248602" y="254317"/>
                  </a:lnTo>
                  <a:lnTo>
                    <a:pt x="262890" y="252412"/>
                  </a:lnTo>
                  <a:lnTo>
                    <a:pt x="276225" y="249555"/>
                  </a:lnTo>
                  <a:lnTo>
                    <a:pt x="290512" y="247650"/>
                  </a:lnTo>
                  <a:lnTo>
                    <a:pt x="303848" y="244792"/>
                  </a:lnTo>
                  <a:lnTo>
                    <a:pt x="318135" y="241935"/>
                  </a:lnTo>
                  <a:lnTo>
                    <a:pt x="331470" y="238125"/>
                  </a:lnTo>
                  <a:lnTo>
                    <a:pt x="345758" y="235267"/>
                  </a:lnTo>
                  <a:lnTo>
                    <a:pt x="359092" y="231458"/>
                  </a:lnTo>
                  <a:lnTo>
                    <a:pt x="373380" y="227648"/>
                  </a:lnTo>
                  <a:lnTo>
                    <a:pt x="386715" y="222885"/>
                  </a:lnTo>
                  <a:lnTo>
                    <a:pt x="401002" y="218123"/>
                  </a:lnTo>
                  <a:lnTo>
                    <a:pt x="415290" y="213360"/>
                  </a:lnTo>
                  <a:lnTo>
                    <a:pt x="428625" y="207645"/>
                  </a:lnTo>
                  <a:lnTo>
                    <a:pt x="442912" y="201930"/>
                  </a:lnTo>
                  <a:lnTo>
                    <a:pt x="456248" y="195262"/>
                  </a:lnTo>
                  <a:lnTo>
                    <a:pt x="470535" y="188595"/>
                  </a:lnTo>
                  <a:lnTo>
                    <a:pt x="483870" y="181928"/>
                  </a:lnTo>
                  <a:lnTo>
                    <a:pt x="498158" y="174308"/>
                  </a:lnTo>
                  <a:lnTo>
                    <a:pt x="511492" y="165735"/>
                  </a:lnTo>
                  <a:lnTo>
                    <a:pt x="525780" y="157162"/>
                  </a:lnTo>
                  <a:lnTo>
                    <a:pt x="539115" y="147638"/>
                  </a:lnTo>
                  <a:lnTo>
                    <a:pt x="553402" y="137160"/>
                  </a:lnTo>
                  <a:lnTo>
                    <a:pt x="566738" y="126683"/>
                  </a:lnTo>
                  <a:lnTo>
                    <a:pt x="581025" y="116205"/>
                  </a:lnTo>
                  <a:lnTo>
                    <a:pt x="594360" y="103823"/>
                  </a:lnTo>
                  <a:lnTo>
                    <a:pt x="608648" y="91440"/>
                  </a:lnTo>
                  <a:lnTo>
                    <a:pt x="621983" y="78105"/>
                  </a:lnTo>
                  <a:lnTo>
                    <a:pt x="636270" y="63817"/>
                  </a:lnTo>
                  <a:lnTo>
                    <a:pt x="649605" y="49530"/>
                  </a:lnTo>
                  <a:lnTo>
                    <a:pt x="663892" y="33338"/>
                  </a:lnTo>
                  <a:lnTo>
                    <a:pt x="677228" y="17145"/>
                  </a:lnTo>
                  <a:lnTo>
                    <a:pt x="691515" y="0"/>
                  </a:lnTo>
                  <a:lnTo>
                    <a:pt x="691515" y="274320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3106102" y="4011930"/>
              <a:ext cx="691515" cy="274320"/>
            </a:xfrm>
            <a:custGeom>
              <a:avLst/>
              <a:gdLst/>
              <a:ahLst/>
              <a:cxnLst/>
              <a:rect l="l" t="t" r="r" b="b"/>
              <a:pathLst>
                <a:path w="691515" h="274320">
                  <a:moveTo>
                    <a:pt x="0" y="274320"/>
                  </a:moveTo>
                  <a:lnTo>
                    <a:pt x="0" y="0"/>
                  </a:lnTo>
                  <a:lnTo>
                    <a:pt x="13335" y="17145"/>
                  </a:lnTo>
                  <a:lnTo>
                    <a:pt x="27622" y="33338"/>
                  </a:lnTo>
                  <a:lnTo>
                    <a:pt x="40957" y="49530"/>
                  </a:lnTo>
                  <a:lnTo>
                    <a:pt x="55245" y="63817"/>
                  </a:lnTo>
                  <a:lnTo>
                    <a:pt x="68580" y="78105"/>
                  </a:lnTo>
                  <a:lnTo>
                    <a:pt x="82867" y="91440"/>
                  </a:lnTo>
                  <a:lnTo>
                    <a:pt x="96202" y="103823"/>
                  </a:lnTo>
                  <a:lnTo>
                    <a:pt x="110490" y="116205"/>
                  </a:lnTo>
                  <a:lnTo>
                    <a:pt x="123825" y="126683"/>
                  </a:lnTo>
                  <a:lnTo>
                    <a:pt x="138112" y="137160"/>
                  </a:lnTo>
                  <a:lnTo>
                    <a:pt x="152400" y="147638"/>
                  </a:lnTo>
                  <a:lnTo>
                    <a:pt x="165735" y="157162"/>
                  </a:lnTo>
                  <a:lnTo>
                    <a:pt x="180022" y="165735"/>
                  </a:lnTo>
                  <a:lnTo>
                    <a:pt x="193357" y="174308"/>
                  </a:lnTo>
                  <a:lnTo>
                    <a:pt x="207645" y="181928"/>
                  </a:lnTo>
                  <a:lnTo>
                    <a:pt x="220980" y="188595"/>
                  </a:lnTo>
                  <a:lnTo>
                    <a:pt x="235267" y="195262"/>
                  </a:lnTo>
                  <a:lnTo>
                    <a:pt x="248602" y="201930"/>
                  </a:lnTo>
                  <a:lnTo>
                    <a:pt x="262890" y="207645"/>
                  </a:lnTo>
                  <a:lnTo>
                    <a:pt x="276225" y="213360"/>
                  </a:lnTo>
                  <a:lnTo>
                    <a:pt x="290512" y="218123"/>
                  </a:lnTo>
                  <a:lnTo>
                    <a:pt x="303847" y="222885"/>
                  </a:lnTo>
                  <a:lnTo>
                    <a:pt x="318135" y="227648"/>
                  </a:lnTo>
                  <a:lnTo>
                    <a:pt x="331470" y="231458"/>
                  </a:lnTo>
                  <a:lnTo>
                    <a:pt x="345757" y="235267"/>
                  </a:lnTo>
                  <a:lnTo>
                    <a:pt x="359092" y="238125"/>
                  </a:lnTo>
                  <a:lnTo>
                    <a:pt x="373380" y="241935"/>
                  </a:lnTo>
                  <a:lnTo>
                    <a:pt x="386715" y="244792"/>
                  </a:lnTo>
                  <a:lnTo>
                    <a:pt x="401002" y="247650"/>
                  </a:lnTo>
                  <a:lnTo>
                    <a:pt x="414338" y="249555"/>
                  </a:lnTo>
                  <a:lnTo>
                    <a:pt x="428625" y="252412"/>
                  </a:lnTo>
                  <a:lnTo>
                    <a:pt x="441960" y="254317"/>
                  </a:lnTo>
                  <a:lnTo>
                    <a:pt x="456247" y="256223"/>
                  </a:lnTo>
                  <a:lnTo>
                    <a:pt x="469582" y="258128"/>
                  </a:lnTo>
                  <a:lnTo>
                    <a:pt x="483870" y="259080"/>
                  </a:lnTo>
                  <a:lnTo>
                    <a:pt x="497205" y="260985"/>
                  </a:lnTo>
                  <a:lnTo>
                    <a:pt x="511492" y="261938"/>
                  </a:lnTo>
                  <a:lnTo>
                    <a:pt x="524827" y="262890"/>
                  </a:lnTo>
                  <a:lnTo>
                    <a:pt x="539115" y="264795"/>
                  </a:lnTo>
                  <a:lnTo>
                    <a:pt x="552450" y="265748"/>
                  </a:lnTo>
                  <a:lnTo>
                    <a:pt x="566738" y="266700"/>
                  </a:lnTo>
                  <a:lnTo>
                    <a:pt x="581025" y="267653"/>
                  </a:lnTo>
                  <a:lnTo>
                    <a:pt x="594360" y="267653"/>
                  </a:lnTo>
                  <a:lnTo>
                    <a:pt x="608647" y="268605"/>
                  </a:lnTo>
                  <a:lnTo>
                    <a:pt x="621982" y="269558"/>
                  </a:lnTo>
                  <a:lnTo>
                    <a:pt x="636270" y="269558"/>
                  </a:lnTo>
                  <a:lnTo>
                    <a:pt x="649605" y="270510"/>
                  </a:lnTo>
                  <a:lnTo>
                    <a:pt x="663892" y="270510"/>
                  </a:lnTo>
                  <a:lnTo>
                    <a:pt x="677227" y="271462"/>
                  </a:lnTo>
                  <a:lnTo>
                    <a:pt x="691515" y="271462"/>
                  </a:lnTo>
                  <a:lnTo>
                    <a:pt x="691515" y="274320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762000" y="4286250"/>
              <a:ext cx="3063878" cy="9525"/>
            </a:xfrm>
            <a:custGeom>
              <a:avLst/>
              <a:gdLst/>
              <a:ahLst/>
              <a:cxnLst/>
              <a:rect l="l" t="t" r="r" b="b"/>
              <a:pathLst>
                <a:path w="3063878" h="9525">
                  <a:moveTo>
                    <a:pt x="0" y="0"/>
                  </a:moveTo>
                  <a:lnTo>
                    <a:pt x="3063878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825878" y="42562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34844" y="42205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000" y="2412682"/>
              <a:ext cx="3035618" cy="1870710"/>
            </a:xfrm>
            <a:custGeom>
              <a:avLst/>
              <a:gdLst/>
              <a:ahLst/>
              <a:cxnLst/>
              <a:rect l="l" t="t" r="r" b="b"/>
              <a:pathLst>
                <a:path w="3035618" h="1870710">
                  <a:moveTo>
                    <a:pt x="0" y="1870710"/>
                  </a:moveTo>
                  <a:lnTo>
                    <a:pt x="15240" y="1870710"/>
                  </a:lnTo>
                  <a:lnTo>
                    <a:pt x="30480" y="1869758"/>
                  </a:lnTo>
                  <a:lnTo>
                    <a:pt x="45720" y="1869758"/>
                  </a:lnTo>
                  <a:lnTo>
                    <a:pt x="60960" y="1868805"/>
                  </a:lnTo>
                  <a:lnTo>
                    <a:pt x="76200" y="1867852"/>
                  </a:lnTo>
                  <a:lnTo>
                    <a:pt x="91440" y="1867852"/>
                  </a:lnTo>
                  <a:lnTo>
                    <a:pt x="106680" y="1866900"/>
                  </a:lnTo>
                  <a:lnTo>
                    <a:pt x="120968" y="1865947"/>
                  </a:lnTo>
                  <a:lnTo>
                    <a:pt x="136207" y="1864995"/>
                  </a:lnTo>
                  <a:lnTo>
                    <a:pt x="151448" y="1864042"/>
                  </a:lnTo>
                  <a:lnTo>
                    <a:pt x="166688" y="1862138"/>
                  </a:lnTo>
                  <a:lnTo>
                    <a:pt x="181927" y="1861185"/>
                  </a:lnTo>
                  <a:lnTo>
                    <a:pt x="197168" y="1859280"/>
                  </a:lnTo>
                  <a:lnTo>
                    <a:pt x="212407" y="1858327"/>
                  </a:lnTo>
                  <a:lnTo>
                    <a:pt x="227648" y="1856422"/>
                  </a:lnTo>
                  <a:lnTo>
                    <a:pt x="242888" y="1854518"/>
                  </a:lnTo>
                  <a:lnTo>
                    <a:pt x="258127" y="1851660"/>
                  </a:lnTo>
                  <a:lnTo>
                    <a:pt x="273368" y="1849755"/>
                  </a:lnTo>
                  <a:lnTo>
                    <a:pt x="288608" y="1846897"/>
                  </a:lnTo>
                  <a:lnTo>
                    <a:pt x="303848" y="1844040"/>
                  </a:lnTo>
                  <a:lnTo>
                    <a:pt x="319088" y="1841182"/>
                  </a:lnTo>
                  <a:lnTo>
                    <a:pt x="334327" y="1837372"/>
                  </a:lnTo>
                  <a:lnTo>
                    <a:pt x="348615" y="1833562"/>
                  </a:lnTo>
                  <a:lnTo>
                    <a:pt x="363855" y="1828800"/>
                  </a:lnTo>
                  <a:lnTo>
                    <a:pt x="379095" y="1824990"/>
                  </a:lnTo>
                  <a:lnTo>
                    <a:pt x="394335" y="1819275"/>
                  </a:lnTo>
                  <a:lnTo>
                    <a:pt x="409575" y="1814512"/>
                  </a:lnTo>
                  <a:lnTo>
                    <a:pt x="424815" y="1808797"/>
                  </a:lnTo>
                  <a:lnTo>
                    <a:pt x="440055" y="1802130"/>
                  </a:lnTo>
                  <a:lnTo>
                    <a:pt x="455295" y="1795462"/>
                  </a:lnTo>
                  <a:lnTo>
                    <a:pt x="470535" y="1787842"/>
                  </a:lnTo>
                  <a:lnTo>
                    <a:pt x="485775" y="1780222"/>
                  </a:lnTo>
                  <a:lnTo>
                    <a:pt x="501015" y="1771650"/>
                  </a:lnTo>
                  <a:lnTo>
                    <a:pt x="516255" y="1762125"/>
                  </a:lnTo>
                  <a:lnTo>
                    <a:pt x="531495" y="1752600"/>
                  </a:lnTo>
                  <a:lnTo>
                    <a:pt x="546735" y="1742122"/>
                  </a:lnTo>
                  <a:lnTo>
                    <a:pt x="561975" y="1730692"/>
                  </a:lnTo>
                  <a:lnTo>
                    <a:pt x="576262" y="1718310"/>
                  </a:lnTo>
                  <a:lnTo>
                    <a:pt x="591502" y="1705927"/>
                  </a:lnTo>
                  <a:lnTo>
                    <a:pt x="606742" y="1691640"/>
                  </a:lnTo>
                  <a:lnTo>
                    <a:pt x="621983" y="1677352"/>
                  </a:lnTo>
                  <a:lnTo>
                    <a:pt x="637222" y="1662112"/>
                  </a:lnTo>
                  <a:lnTo>
                    <a:pt x="652462" y="1644968"/>
                  </a:lnTo>
                  <a:lnTo>
                    <a:pt x="667702" y="1627822"/>
                  </a:lnTo>
                  <a:lnTo>
                    <a:pt x="682942" y="1609725"/>
                  </a:lnTo>
                  <a:lnTo>
                    <a:pt x="698183" y="1590675"/>
                  </a:lnTo>
                  <a:lnTo>
                    <a:pt x="713422" y="1569720"/>
                  </a:lnTo>
                  <a:lnTo>
                    <a:pt x="728662" y="1548765"/>
                  </a:lnTo>
                  <a:lnTo>
                    <a:pt x="743902" y="1525905"/>
                  </a:lnTo>
                  <a:lnTo>
                    <a:pt x="759142" y="1503045"/>
                  </a:lnTo>
                  <a:lnTo>
                    <a:pt x="774383" y="1478280"/>
                  </a:lnTo>
                  <a:lnTo>
                    <a:pt x="789622" y="1452562"/>
                  </a:lnTo>
                  <a:lnTo>
                    <a:pt x="803910" y="1425892"/>
                  </a:lnTo>
                  <a:lnTo>
                    <a:pt x="819150" y="1398270"/>
                  </a:lnTo>
                  <a:lnTo>
                    <a:pt x="834390" y="1368742"/>
                  </a:lnTo>
                  <a:lnTo>
                    <a:pt x="849630" y="1339215"/>
                  </a:lnTo>
                  <a:lnTo>
                    <a:pt x="864870" y="1307782"/>
                  </a:lnTo>
                  <a:lnTo>
                    <a:pt x="880110" y="1276350"/>
                  </a:lnTo>
                  <a:lnTo>
                    <a:pt x="895350" y="1243012"/>
                  </a:lnTo>
                  <a:lnTo>
                    <a:pt x="910590" y="1209675"/>
                  </a:lnTo>
                  <a:lnTo>
                    <a:pt x="925830" y="1174432"/>
                  </a:lnTo>
                  <a:lnTo>
                    <a:pt x="941070" y="1138238"/>
                  </a:lnTo>
                  <a:lnTo>
                    <a:pt x="956310" y="1102042"/>
                  </a:lnTo>
                  <a:lnTo>
                    <a:pt x="971550" y="1064895"/>
                  </a:lnTo>
                  <a:lnTo>
                    <a:pt x="986790" y="1026795"/>
                  </a:lnTo>
                  <a:lnTo>
                    <a:pt x="1002030" y="987742"/>
                  </a:lnTo>
                  <a:lnTo>
                    <a:pt x="1017270" y="948690"/>
                  </a:lnTo>
                  <a:lnTo>
                    <a:pt x="1031558" y="908685"/>
                  </a:lnTo>
                  <a:lnTo>
                    <a:pt x="1046798" y="868680"/>
                  </a:lnTo>
                  <a:lnTo>
                    <a:pt x="1062038" y="827722"/>
                  </a:lnTo>
                  <a:lnTo>
                    <a:pt x="1077278" y="786765"/>
                  </a:lnTo>
                  <a:lnTo>
                    <a:pt x="1092518" y="746760"/>
                  </a:lnTo>
                  <a:lnTo>
                    <a:pt x="1107758" y="705802"/>
                  </a:lnTo>
                  <a:lnTo>
                    <a:pt x="1122998" y="664845"/>
                  </a:lnTo>
                  <a:lnTo>
                    <a:pt x="1138238" y="623888"/>
                  </a:lnTo>
                  <a:lnTo>
                    <a:pt x="1153478" y="583883"/>
                  </a:lnTo>
                  <a:lnTo>
                    <a:pt x="1168718" y="543877"/>
                  </a:lnTo>
                  <a:lnTo>
                    <a:pt x="1183958" y="504825"/>
                  </a:lnTo>
                  <a:lnTo>
                    <a:pt x="1199198" y="465772"/>
                  </a:lnTo>
                  <a:lnTo>
                    <a:pt x="1214438" y="427672"/>
                  </a:lnTo>
                  <a:lnTo>
                    <a:pt x="1229678" y="390525"/>
                  </a:lnTo>
                  <a:lnTo>
                    <a:pt x="1244918" y="355283"/>
                  </a:lnTo>
                  <a:lnTo>
                    <a:pt x="1259205" y="320040"/>
                  </a:lnTo>
                  <a:lnTo>
                    <a:pt x="1274445" y="286702"/>
                  </a:lnTo>
                  <a:lnTo>
                    <a:pt x="1289685" y="254317"/>
                  </a:lnTo>
                  <a:lnTo>
                    <a:pt x="1304925" y="223838"/>
                  </a:lnTo>
                  <a:lnTo>
                    <a:pt x="1320165" y="194310"/>
                  </a:lnTo>
                  <a:lnTo>
                    <a:pt x="1335405" y="166688"/>
                  </a:lnTo>
                  <a:lnTo>
                    <a:pt x="1350645" y="140970"/>
                  </a:lnTo>
                  <a:lnTo>
                    <a:pt x="1365885" y="118110"/>
                  </a:lnTo>
                  <a:lnTo>
                    <a:pt x="1381125" y="96202"/>
                  </a:lnTo>
                  <a:lnTo>
                    <a:pt x="1396365" y="76200"/>
                  </a:lnTo>
                  <a:lnTo>
                    <a:pt x="1411605" y="59055"/>
                  </a:lnTo>
                  <a:lnTo>
                    <a:pt x="1426845" y="42862"/>
                  </a:lnTo>
                  <a:lnTo>
                    <a:pt x="1442085" y="30480"/>
                  </a:lnTo>
                  <a:lnTo>
                    <a:pt x="1457325" y="19050"/>
                  </a:lnTo>
                  <a:lnTo>
                    <a:pt x="1472565" y="11430"/>
                  </a:lnTo>
                  <a:lnTo>
                    <a:pt x="1486852" y="4762"/>
                  </a:lnTo>
                  <a:lnTo>
                    <a:pt x="1502092" y="952"/>
                  </a:lnTo>
                  <a:lnTo>
                    <a:pt x="1517332" y="0"/>
                  </a:lnTo>
                  <a:lnTo>
                    <a:pt x="1532572" y="952"/>
                  </a:lnTo>
                  <a:lnTo>
                    <a:pt x="1547812" y="4762"/>
                  </a:lnTo>
                  <a:lnTo>
                    <a:pt x="1563052" y="11430"/>
                  </a:lnTo>
                  <a:lnTo>
                    <a:pt x="1578292" y="19050"/>
                  </a:lnTo>
                  <a:lnTo>
                    <a:pt x="1593532" y="30480"/>
                  </a:lnTo>
                  <a:lnTo>
                    <a:pt x="1608772" y="42862"/>
                  </a:lnTo>
                  <a:lnTo>
                    <a:pt x="1624012" y="59055"/>
                  </a:lnTo>
                  <a:lnTo>
                    <a:pt x="1639252" y="76200"/>
                  </a:lnTo>
                  <a:lnTo>
                    <a:pt x="1654492" y="96202"/>
                  </a:lnTo>
                  <a:lnTo>
                    <a:pt x="1669732" y="118110"/>
                  </a:lnTo>
                  <a:lnTo>
                    <a:pt x="1684972" y="140970"/>
                  </a:lnTo>
                  <a:lnTo>
                    <a:pt x="1700212" y="166688"/>
                  </a:lnTo>
                  <a:lnTo>
                    <a:pt x="1714500" y="194310"/>
                  </a:lnTo>
                  <a:lnTo>
                    <a:pt x="1729740" y="223838"/>
                  </a:lnTo>
                  <a:lnTo>
                    <a:pt x="1744980" y="254317"/>
                  </a:lnTo>
                  <a:lnTo>
                    <a:pt x="1760220" y="286702"/>
                  </a:lnTo>
                  <a:lnTo>
                    <a:pt x="1775460" y="320040"/>
                  </a:lnTo>
                  <a:lnTo>
                    <a:pt x="1790700" y="355283"/>
                  </a:lnTo>
                  <a:lnTo>
                    <a:pt x="1805940" y="390525"/>
                  </a:lnTo>
                  <a:lnTo>
                    <a:pt x="1821180" y="427672"/>
                  </a:lnTo>
                  <a:lnTo>
                    <a:pt x="1836420" y="465772"/>
                  </a:lnTo>
                  <a:lnTo>
                    <a:pt x="1851660" y="504825"/>
                  </a:lnTo>
                  <a:lnTo>
                    <a:pt x="1866900" y="543877"/>
                  </a:lnTo>
                  <a:lnTo>
                    <a:pt x="1882140" y="583883"/>
                  </a:lnTo>
                  <a:lnTo>
                    <a:pt x="1897380" y="623888"/>
                  </a:lnTo>
                  <a:lnTo>
                    <a:pt x="1912620" y="664845"/>
                  </a:lnTo>
                  <a:lnTo>
                    <a:pt x="1927860" y="705802"/>
                  </a:lnTo>
                  <a:lnTo>
                    <a:pt x="1942147" y="746760"/>
                  </a:lnTo>
                  <a:lnTo>
                    <a:pt x="1957388" y="786765"/>
                  </a:lnTo>
                  <a:lnTo>
                    <a:pt x="1972628" y="827722"/>
                  </a:lnTo>
                  <a:lnTo>
                    <a:pt x="1987868" y="868680"/>
                  </a:lnTo>
                  <a:lnTo>
                    <a:pt x="2003108" y="908685"/>
                  </a:lnTo>
                  <a:lnTo>
                    <a:pt x="2018347" y="948690"/>
                  </a:lnTo>
                  <a:lnTo>
                    <a:pt x="2033588" y="987742"/>
                  </a:lnTo>
                  <a:lnTo>
                    <a:pt x="2048828" y="1026795"/>
                  </a:lnTo>
                  <a:lnTo>
                    <a:pt x="2064068" y="1064895"/>
                  </a:lnTo>
                  <a:lnTo>
                    <a:pt x="2079308" y="1102042"/>
                  </a:lnTo>
                  <a:lnTo>
                    <a:pt x="2094547" y="1138238"/>
                  </a:lnTo>
                  <a:lnTo>
                    <a:pt x="2109788" y="1174432"/>
                  </a:lnTo>
                  <a:lnTo>
                    <a:pt x="2125028" y="1209675"/>
                  </a:lnTo>
                  <a:lnTo>
                    <a:pt x="2140268" y="1243012"/>
                  </a:lnTo>
                  <a:lnTo>
                    <a:pt x="2155508" y="1276350"/>
                  </a:lnTo>
                  <a:lnTo>
                    <a:pt x="2169795" y="1307782"/>
                  </a:lnTo>
                  <a:lnTo>
                    <a:pt x="2185035" y="1339215"/>
                  </a:lnTo>
                  <a:lnTo>
                    <a:pt x="2200275" y="1368742"/>
                  </a:lnTo>
                  <a:lnTo>
                    <a:pt x="2215515" y="1398270"/>
                  </a:lnTo>
                  <a:lnTo>
                    <a:pt x="2230755" y="1425892"/>
                  </a:lnTo>
                  <a:lnTo>
                    <a:pt x="2245995" y="1452562"/>
                  </a:lnTo>
                  <a:lnTo>
                    <a:pt x="2261235" y="1478280"/>
                  </a:lnTo>
                  <a:lnTo>
                    <a:pt x="2276475" y="1503045"/>
                  </a:lnTo>
                  <a:lnTo>
                    <a:pt x="2291715" y="1525905"/>
                  </a:lnTo>
                  <a:lnTo>
                    <a:pt x="2306955" y="1548765"/>
                  </a:lnTo>
                  <a:lnTo>
                    <a:pt x="2322195" y="1569720"/>
                  </a:lnTo>
                  <a:lnTo>
                    <a:pt x="2337435" y="1590675"/>
                  </a:lnTo>
                  <a:lnTo>
                    <a:pt x="2352675" y="1609725"/>
                  </a:lnTo>
                  <a:lnTo>
                    <a:pt x="2367915" y="1627822"/>
                  </a:lnTo>
                  <a:lnTo>
                    <a:pt x="2383155" y="1644968"/>
                  </a:lnTo>
                  <a:lnTo>
                    <a:pt x="2397442" y="1662112"/>
                  </a:lnTo>
                  <a:lnTo>
                    <a:pt x="2412682" y="1677352"/>
                  </a:lnTo>
                  <a:lnTo>
                    <a:pt x="2427922" y="1691640"/>
                  </a:lnTo>
                  <a:lnTo>
                    <a:pt x="2443162" y="1705927"/>
                  </a:lnTo>
                  <a:lnTo>
                    <a:pt x="2458402" y="1718310"/>
                  </a:lnTo>
                  <a:lnTo>
                    <a:pt x="2473642" y="1730692"/>
                  </a:lnTo>
                  <a:lnTo>
                    <a:pt x="2488882" y="1742122"/>
                  </a:lnTo>
                  <a:lnTo>
                    <a:pt x="2504122" y="1752600"/>
                  </a:lnTo>
                  <a:lnTo>
                    <a:pt x="2519362" y="1762125"/>
                  </a:lnTo>
                  <a:lnTo>
                    <a:pt x="2534602" y="1771650"/>
                  </a:lnTo>
                  <a:lnTo>
                    <a:pt x="2549842" y="1780222"/>
                  </a:lnTo>
                  <a:lnTo>
                    <a:pt x="2565082" y="1787842"/>
                  </a:lnTo>
                  <a:lnTo>
                    <a:pt x="2580322" y="1795462"/>
                  </a:lnTo>
                  <a:lnTo>
                    <a:pt x="2595562" y="1802130"/>
                  </a:lnTo>
                  <a:lnTo>
                    <a:pt x="2610802" y="1808797"/>
                  </a:lnTo>
                  <a:lnTo>
                    <a:pt x="2625090" y="1814512"/>
                  </a:lnTo>
                  <a:lnTo>
                    <a:pt x="2640330" y="1819275"/>
                  </a:lnTo>
                  <a:lnTo>
                    <a:pt x="2655570" y="1824990"/>
                  </a:lnTo>
                  <a:lnTo>
                    <a:pt x="2670810" y="1828800"/>
                  </a:lnTo>
                  <a:lnTo>
                    <a:pt x="2686050" y="1833562"/>
                  </a:lnTo>
                  <a:lnTo>
                    <a:pt x="2701290" y="1837372"/>
                  </a:lnTo>
                  <a:lnTo>
                    <a:pt x="2716530" y="1841182"/>
                  </a:lnTo>
                  <a:lnTo>
                    <a:pt x="2731770" y="1844040"/>
                  </a:lnTo>
                  <a:lnTo>
                    <a:pt x="2747010" y="1846897"/>
                  </a:lnTo>
                  <a:lnTo>
                    <a:pt x="2762250" y="1849755"/>
                  </a:lnTo>
                  <a:lnTo>
                    <a:pt x="2777490" y="1851660"/>
                  </a:lnTo>
                  <a:lnTo>
                    <a:pt x="2792730" y="1854518"/>
                  </a:lnTo>
                  <a:lnTo>
                    <a:pt x="2807970" y="1856422"/>
                  </a:lnTo>
                  <a:lnTo>
                    <a:pt x="2823210" y="1858327"/>
                  </a:lnTo>
                  <a:lnTo>
                    <a:pt x="2838450" y="1859280"/>
                  </a:lnTo>
                  <a:lnTo>
                    <a:pt x="2852738" y="1861185"/>
                  </a:lnTo>
                  <a:lnTo>
                    <a:pt x="2867978" y="1862138"/>
                  </a:lnTo>
                  <a:lnTo>
                    <a:pt x="2883218" y="1864042"/>
                  </a:lnTo>
                  <a:lnTo>
                    <a:pt x="2898458" y="1864995"/>
                  </a:lnTo>
                  <a:lnTo>
                    <a:pt x="2913698" y="1865947"/>
                  </a:lnTo>
                  <a:lnTo>
                    <a:pt x="2928938" y="1866900"/>
                  </a:lnTo>
                  <a:lnTo>
                    <a:pt x="2944178" y="1867852"/>
                  </a:lnTo>
                  <a:lnTo>
                    <a:pt x="2959418" y="1867852"/>
                  </a:lnTo>
                  <a:lnTo>
                    <a:pt x="2974658" y="1868805"/>
                  </a:lnTo>
                  <a:lnTo>
                    <a:pt x="2989898" y="1869758"/>
                  </a:lnTo>
                  <a:lnTo>
                    <a:pt x="3005138" y="1869758"/>
                  </a:lnTo>
                  <a:lnTo>
                    <a:pt x="3020378" y="1870710"/>
                  </a:lnTo>
                  <a:lnTo>
                    <a:pt x="3035618" y="1870710"/>
                  </a:lnTo>
                </a:path>
              </a:pathLst>
            </a:custGeom>
            <a:noFill/>
            <a:ln w="21908">
              <a:solidFill>
                <a:srgbClr val="2F4B9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279332" y="4286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38414" y="43619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453515" y="4286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67019" y="436197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−1.96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106102" y="4286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55848" y="436197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1.96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2551" y="36093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α/2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11184" y="36093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α/2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6750" y="4762500"/>
              <a:ext cx="3340103" cy="139065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6275" y="4867275"/>
              <a:ext cx="47625" cy="11811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8200" y="4867275"/>
              <a:ext cx="10287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3163" y="49206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拒绝域的位置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866" y="5182552"/>
              <a:ext cx="1644206" cy="6054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偏大偏小都算违背 H₀，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平分到两侧，各 α/2。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0.05 时临界值 ±1.96。</a:t>
              </a:r>
            </a:p>
          </p:txBody>
        </p:sp>
      </p:grpSp>
      <p:grpSp>
        <p:nvGrpSpPr>
          <p:cNvPr id="48" name="tri1"/>
          <p:cNvGrpSpPr/>
          <p:nvPr/>
        </p:nvGrpSpPr>
        <p:grpSpPr>
          <a:xfrm>
            <a:off x="4292603" y="1524000"/>
            <a:ext cx="3606803" cy="4762500"/>
            <a:chOff x="4292603" y="1524000"/>
            <a:chExt cx="3606803" cy="4762500"/>
          </a:xfrm>
        </p:grpSpPr>
        <p:sp>
          <p:nvSpPr>
            <p:cNvPr id="30" name="Rectangle 30"/>
            <p:cNvSpPr/>
            <p:nvPr/>
          </p:nvSpPr>
          <p:spPr>
            <a:xfrm>
              <a:off x="4292603" y="1524000"/>
              <a:ext cx="3606803" cy="4762500"/>
            </a:xfrm>
            <a:prstGeom prst="roundRect">
              <a:avLst>
                <a:gd name="adj" fmla="val 316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76626" y="1662589"/>
              <a:ext cx="1648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左边检验 H₁：μ &lt; μ₀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77769" y="1925002"/>
              <a:ext cx="92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 = {u ≤ −uα}</a:t>
              </a:r>
            </a:p>
          </p:txBody>
        </p:sp>
        <p:sp>
          <p:nvSpPr>
            <p:cNvPr id="33" name="Polygon 33"/>
            <p:cNvSpPr/>
            <p:nvPr/>
          </p:nvSpPr>
          <p:spPr>
            <a:xfrm>
              <a:off x="4521518" y="3802380"/>
              <a:ext cx="823913" cy="483870"/>
            </a:xfrm>
            <a:custGeom>
              <a:avLst/>
              <a:gdLst/>
              <a:ahLst/>
              <a:cxnLst/>
              <a:rect l="l" t="t" r="r" b="b"/>
              <a:pathLst>
                <a:path w="823913" h="483870">
                  <a:moveTo>
                    <a:pt x="0" y="483870"/>
                  </a:moveTo>
                  <a:lnTo>
                    <a:pt x="0" y="481012"/>
                  </a:lnTo>
                  <a:lnTo>
                    <a:pt x="16192" y="481012"/>
                  </a:lnTo>
                  <a:lnTo>
                    <a:pt x="32385" y="480060"/>
                  </a:lnTo>
                  <a:lnTo>
                    <a:pt x="49530" y="479108"/>
                  </a:lnTo>
                  <a:lnTo>
                    <a:pt x="65723" y="479108"/>
                  </a:lnTo>
                  <a:lnTo>
                    <a:pt x="81915" y="478155"/>
                  </a:lnTo>
                  <a:lnTo>
                    <a:pt x="98108" y="477203"/>
                  </a:lnTo>
                  <a:lnTo>
                    <a:pt x="115253" y="476250"/>
                  </a:lnTo>
                  <a:lnTo>
                    <a:pt x="131445" y="475298"/>
                  </a:lnTo>
                  <a:lnTo>
                    <a:pt x="147638" y="474345"/>
                  </a:lnTo>
                  <a:lnTo>
                    <a:pt x="164783" y="473392"/>
                  </a:lnTo>
                  <a:lnTo>
                    <a:pt x="180975" y="471488"/>
                  </a:lnTo>
                  <a:lnTo>
                    <a:pt x="197167" y="469583"/>
                  </a:lnTo>
                  <a:lnTo>
                    <a:pt x="214312" y="467678"/>
                  </a:lnTo>
                  <a:lnTo>
                    <a:pt x="230505" y="465773"/>
                  </a:lnTo>
                  <a:lnTo>
                    <a:pt x="246698" y="463867"/>
                  </a:lnTo>
                  <a:lnTo>
                    <a:pt x="263842" y="461010"/>
                  </a:lnTo>
                  <a:lnTo>
                    <a:pt x="280035" y="459105"/>
                  </a:lnTo>
                  <a:lnTo>
                    <a:pt x="296228" y="455295"/>
                  </a:lnTo>
                  <a:lnTo>
                    <a:pt x="312420" y="452438"/>
                  </a:lnTo>
                  <a:lnTo>
                    <a:pt x="329565" y="448628"/>
                  </a:lnTo>
                  <a:lnTo>
                    <a:pt x="345758" y="444817"/>
                  </a:lnTo>
                  <a:lnTo>
                    <a:pt x="361950" y="440055"/>
                  </a:lnTo>
                  <a:lnTo>
                    <a:pt x="379095" y="435292"/>
                  </a:lnTo>
                  <a:lnTo>
                    <a:pt x="395288" y="429578"/>
                  </a:lnTo>
                  <a:lnTo>
                    <a:pt x="411480" y="423862"/>
                  </a:lnTo>
                  <a:lnTo>
                    <a:pt x="428625" y="417195"/>
                  </a:lnTo>
                  <a:lnTo>
                    <a:pt x="444817" y="410528"/>
                  </a:lnTo>
                  <a:lnTo>
                    <a:pt x="461010" y="402908"/>
                  </a:lnTo>
                  <a:lnTo>
                    <a:pt x="478155" y="394335"/>
                  </a:lnTo>
                  <a:lnTo>
                    <a:pt x="494348" y="385762"/>
                  </a:lnTo>
                  <a:lnTo>
                    <a:pt x="510540" y="375285"/>
                  </a:lnTo>
                  <a:lnTo>
                    <a:pt x="526733" y="364808"/>
                  </a:lnTo>
                  <a:lnTo>
                    <a:pt x="543877" y="353378"/>
                  </a:lnTo>
                  <a:lnTo>
                    <a:pt x="560070" y="341948"/>
                  </a:lnTo>
                  <a:lnTo>
                    <a:pt x="576263" y="328612"/>
                  </a:lnTo>
                  <a:lnTo>
                    <a:pt x="593408" y="314325"/>
                  </a:lnTo>
                  <a:lnTo>
                    <a:pt x="609600" y="299085"/>
                  </a:lnTo>
                  <a:lnTo>
                    <a:pt x="625792" y="283845"/>
                  </a:lnTo>
                  <a:lnTo>
                    <a:pt x="642938" y="266700"/>
                  </a:lnTo>
                  <a:lnTo>
                    <a:pt x="659130" y="247650"/>
                  </a:lnTo>
                  <a:lnTo>
                    <a:pt x="675323" y="228600"/>
                  </a:lnTo>
                  <a:lnTo>
                    <a:pt x="691515" y="208598"/>
                  </a:lnTo>
                  <a:lnTo>
                    <a:pt x="708660" y="186690"/>
                  </a:lnTo>
                  <a:lnTo>
                    <a:pt x="724852" y="163830"/>
                  </a:lnTo>
                  <a:lnTo>
                    <a:pt x="741045" y="139065"/>
                  </a:lnTo>
                  <a:lnTo>
                    <a:pt x="758190" y="114300"/>
                  </a:lnTo>
                  <a:lnTo>
                    <a:pt x="774383" y="87630"/>
                  </a:lnTo>
                  <a:lnTo>
                    <a:pt x="790575" y="59055"/>
                  </a:lnTo>
                  <a:lnTo>
                    <a:pt x="807720" y="30480"/>
                  </a:lnTo>
                  <a:lnTo>
                    <a:pt x="823913" y="0"/>
                  </a:lnTo>
                  <a:lnTo>
                    <a:pt x="823913" y="483870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4521203" y="4286250"/>
              <a:ext cx="3063869" cy="9525"/>
            </a:xfrm>
            <a:custGeom>
              <a:avLst/>
              <a:gdLst/>
              <a:ahLst/>
              <a:cxnLst/>
              <a:rect l="l" t="t" r="r" b="b"/>
              <a:pathLst>
                <a:path w="3063869" h="9525">
                  <a:moveTo>
                    <a:pt x="0" y="0"/>
                  </a:moveTo>
                  <a:lnTo>
                    <a:pt x="3063869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585072" y="42562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94038" y="42205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4521518" y="2412682"/>
              <a:ext cx="3034665" cy="1870710"/>
            </a:xfrm>
            <a:custGeom>
              <a:avLst/>
              <a:gdLst/>
              <a:ahLst/>
              <a:cxnLst/>
              <a:rect l="l" t="t" r="r" b="b"/>
              <a:pathLst>
                <a:path w="3034665" h="1870710">
                  <a:moveTo>
                    <a:pt x="0" y="1870710"/>
                  </a:moveTo>
                  <a:lnTo>
                    <a:pt x="15240" y="1870710"/>
                  </a:lnTo>
                  <a:lnTo>
                    <a:pt x="30480" y="1869758"/>
                  </a:lnTo>
                  <a:lnTo>
                    <a:pt x="44767" y="1869758"/>
                  </a:lnTo>
                  <a:lnTo>
                    <a:pt x="60008" y="1868805"/>
                  </a:lnTo>
                  <a:lnTo>
                    <a:pt x="75248" y="1867852"/>
                  </a:lnTo>
                  <a:lnTo>
                    <a:pt x="90488" y="1867852"/>
                  </a:lnTo>
                  <a:lnTo>
                    <a:pt x="105728" y="1866900"/>
                  </a:lnTo>
                  <a:lnTo>
                    <a:pt x="120967" y="1865947"/>
                  </a:lnTo>
                  <a:lnTo>
                    <a:pt x="136208" y="1864995"/>
                  </a:lnTo>
                  <a:lnTo>
                    <a:pt x="151448" y="1864042"/>
                  </a:lnTo>
                  <a:lnTo>
                    <a:pt x="166688" y="1862138"/>
                  </a:lnTo>
                  <a:lnTo>
                    <a:pt x="181928" y="1861185"/>
                  </a:lnTo>
                  <a:lnTo>
                    <a:pt x="197167" y="1859280"/>
                  </a:lnTo>
                  <a:lnTo>
                    <a:pt x="212408" y="1858327"/>
                  </a:lnTo>
                  <a:lnTo>
                    <a:pt x="227648" y="1856422"/>
                  </a:lnTo>
                  <a:lnTo>
                    <a:pt x="242888" y="1854518"/>
                  </a:lnTo>
                  <a:lnTo>
                    <a:pt x="258128" y="1851660"/>
                  </a:lnTo>
                  <a:lnTo>
                    <a:pt x="272415" y="1849755"/>
                  </a:lnTo>
                  <a:lnTo>
                    <a:pt x="287655" y="1846897"/>
                  </a:lnTo>
                  <a:lnTo>
                    <a:pt x="302895" y="1844040"/>
                  </a:lnTo>
                  <a:lnTo>
                    <a:pt x="318135" y="1841182"/>
                  </a:lnTo>
                  <a:lnTo>
                    <a:pt x="333375" y="1837372"/>
                  </a:lnTo>
                  <a:lnTo>
                    <a:pt x="348615" y="1833562"/>
                  </a:lnTo>
                  <a:lnTo>
                    <a:pt x="363855" y="1828800"/>
                  </a:lnTo>
                  <a:lnTo>
                    <a:pt x="379095" y="1824990"/>
                  </a:lnTo>
                  <a:lnTo>
                    <a:pt x="394335" y="1819275"/>
                  </a:lnTo>
                  <a:lnTo>
                    <a:pt x="409575" y="1814512"/>
                  </a:lnTo>
                  <a:lnTo>
                    <a:pt x="424815" y="1808797"/>
                  </a:lnTo>
                  <a:lnTo>
                    <a:pt x="440055" y="1802130"/>
                  </a:lnTo>
                  <a:lnTo>
                    <a:pt x="455295" y="1795462"/>
                  </a:lnTo>
                  <a:lnTo>
                    <a:pt x="470535" y="1787842"/>
                  </a:lnTo>
                  <a:lnTo>
                    <a:pt x="485775" y="1780222"/>
                  </a:lnTo>
                  <a:lnTo>
                    <a:pt x="500063" y="1771650"/>
                  </a:lnTo>
                  <a:lnTo>
                    <a:pt x="515302" y="1762125"/>
                  </a:lnTo>
                  <a:lnTo>
                    <a:pt x="530542" y="1752600"/>
                  </a:lnTo>
                  <a:lnTo>
                    <a:pt x="545783" y="1742122"/>
                  </a:lnTo>
                  <a:lnTo>
                    <a:pt x="561023" y="1730692"/>
                  </a:lnTo>
                  <a:lnTo>
                    <a:pt x="576263" y="1718310"/>
                  </a:lnTo>
                  <a:lnTo>
                    <a:pt x="591502" y="1705927"/>
                  </a:lnTo>
                  <a:lnTo>
                    <a:pt x="606742" y="1691640"/>
                  </a:lnTo>
                  <a:lnTo>
                    <a:pt x="621983" y="1677352"/>
                  </a:lnTo>
                  <a:lnTo>
                    <a:pt x="637223" y="1662112"/>
                  </a:lnTo>
                  <a:lnTo>
                    <a:pt x="652463" y="1644968"/>
                  </a:lnTo>
                  <a:lnTo>
                    <a:pt x="667702" y="1627822"/>
                  </a:lnTo>
                  <a:lnTo>
                    <a:pt x="682942" y="1609725"/>
                  </a:lnTo>
                  <a:lnTo>
                    <a:pt x="698183" y="1590675"/>
                  </a:lnTo>
                  <a:lnTo>
                    <a:pt x="713423" y="1569720"/>
                  </a:lnTo>
                  <a:lnTo>
                    <a:pt x="727710" y="1548765"/>
                  </a:lnTo>
                  <a:lnTo>
                    <a:pt x="742950" y="1525905"/>
                  </a:lnTo>
                  <a:lnTo>
                    <a:pt x="758190" y="1503045"/>
                  </a:lnTo>
                  <a:lnTo>
                    <a:pt x="773430" y="1478280"/>
                  </a:lnTo>
                  <a:lnTo>
                    <a:pt x="788670" y="1452562"/>
                  </a:lnTo>
                  <a:lnTo>
                    <a:pt x="803910" y="1425892"/>
                  </a:lnTo>
                  <a:lnTo>
                    <a:pt x="819150" y="1398270"/>
                  </a:lnTo>
                  <a:lnTo>
                    <a:pt x="834390" y="1368742"/>
                  </a:lnTo>
                  <a:lnTo>
                    <a:pt x="849630" y="1339215"/>
                  </a:lnTo>
                  <a:lnTo>
                    <a:pt x="864870" y="1307782"/>
                  </a:lnTo>
                  <a:lnTo>
                    <a:pt x="880110" y="1276350"/>
                  </a:lnTo>
                  <a:lnTo>
                    <a:pt x="895350" y="1243012"/>
                  </a:lnTo>
                  <a:lnTo>
                    <a:pt x="910590" y="1209675"/>
                  </a:lnTo>
                  <a:lnTo>
                    <a:pt x="925830" y="1174432"/>
                  </a:lnTo>
                  <a:lnTo>
                    <a:pt x="941070" y="1138238"/>
                  </a:lnTo>
                  <a:lnTo>
                    <a:pt x="955358" y="1102042"/>
                  </a:lnTo>
                  <a:lnTo>
                    <a:pt x="970598" y="1064895"/>
                  </a:lnTo>
                  <a:lnTo>
                    <a:pt x="985838" y="1026795"/>
                  </a:lnTo>
                  <a:lnTo>
                    <a:pt x="1001077" y="987742"/>
                  </a:lnTo>
                  <a:lnTo>
                    <a:pt x="1016317" y="948690"/>
                  </a:lnTo>
                  <a:lnTo>
                    <a:pt x="1031558" y="908685"/>
                  </a:lnTo>
                  <a:lnTo>
                    <a:pt x="1046798" y="868680"/>
                  </a:lnTo>
                  <a:lnTo>
                    <a:pt x="1062038" y="827722"/>
                  </a:lnTo>
                  <a:lnTo>
                    <a:pt x="1077277" y="786765"/>
                  </a:lnTo>
                  <a:lnTo>
                    <a:pt x="1092518" y="746760"/>
                  </a:lnTo>
                  <a:lnTo>
                    <a:pt x="1107758" y="705802"/>
                  </a:lnTo>
                  <a:lnTo>
                    <a:pt x="1122998" y="664845"/>
                  </a:lnTo>
                  <a:lnTo>
                    <a:pt x="1138238" y="623888"/>
                  </a:lnTo>
                  <a:lnTo>
                    <a:pt x="1153477" y="583883"/>
                  </a:lnTo>
                  <a:lnTo>
                    <a:pt x="1168718" y="543877"/>
                  </a:lnTo>
                  <a:lnTo>
                    <a:pt x="1183005" y="504825"/>
                  </a:lnTo>
                  <a:lnTo>
                    <a:pt x="1198245" y="465772"/>
                  </a:lnTo>
                  <a:lnTo>
                    <a:pt x="1213485" y="427672"/>
                  </a:lnTo>
                  <a:lnTo>
                    <a:pt x="1228725" y="390525"/>
                  </a:lnTo>
                  <a:lnTo>
                    <a:pt x="1243965" y="355283"/>
                  </a:lnTo>
                  <a:lnTo>
                    <a:pt x="1259205" y="320040"/>
                  </a:lnTo>
                  <a:lnTo>
                    <a:pt x="1274445" y="286702"/>
                  </a:lnTo>
                  <a:lnTo>
                    <a:pt x="1289685" y="254317"/>
                  </a:lnTo>
                  <a:lnTo>
                    <a:pt x="1304925" y="223838"/>
                  </a:lnTo>
                  <a:lnTo>
                    <a:pt x="1320165" y="194310"/>
                  </a:lnTo>
                  <a:lnTo>
                    <a:pt x="1335405" y="166688"/>
                  </a:lnTo>
                  <a:lnTo>
                    <a:pt x="1350645" y="140970"/>
                  </a:lnTo>
                  <a:lnTo>
                    <a:pt x="1365885" y="118110"/>
                  </a:lnTo>
                  <a:lnTo>
                    <a:pt x="1381125" y="96202"/>
                  </a:lnTo>
                  <a:lnTo>
                    <a:pt x="1396365" y="76200"/>
                  </a:lnTo>
                  <a:lnTo>
                    <a:pt x="1410652" y="59055"/>
                  </a:lnTo>
                  <a:lnTo>
                    <a:pt x="1425892" y="42862"/>
                  </a:lnTo>
                  <a:lnTo>
                    <a:pt x="1441132" y="30480"/>
                  </a:lnTo>
                  <a:lnTo>
                    <a:pt x="1456373" y="19050"/>
                  </a:lnTo>
                  <a:lnTo>
                    <a:pt x="1471613" y="11430"/>
                  </a:lnTo>
                  <a:lnTo>
                    <a:pt x="1486852" y="4762"/>
                  </a:lnTo>
                  <a:lnTo>
                    <a:pt x="1502092" y="952"/>
                  </a:lnTo>
                  <a:lnTo>
                    <a:pt x="1517332" y="0"/>
                  </a:lnTo>
                  <a:lnTo>
                    <a:pt x="1532573" y="952"/>
                  </a:lnTo>
                  <a:lnTo>
                    <a:pt x="1547813" y="4762"/>
                  </a:lnTo>
                  <a:lnTo>
                    <a:pt x="1563052" y="11430"/>
                  </a:lnTo>
                  <a:lnTo>
                    <a:pt x="1578292" y="19050"/>
                  </a:lnTo>
                  <a:lnTo>
                    <a:pt x="1593532" y="30480"/>
                  </a:lnTo>
                  <a:lnTo>
                    <a:pt x="1608773" y="42862"/>
                  </a:lnTo>
                  <a:lnTo>
                    <a:pt x="1624013" y="59055"/>
                  </a:lnTo>
                  <a:lnTo>
                    <a:pt x="1638300" y="76200"/>
                  </a:lnTo>
                  <a:lnTo>
                    <a:pt x="1653540" y="96202"/>
                  </a:lnTo>
                  <a:lnTo>
                    <a:pt x="1668780" y="118110"/>
                  </a:lnTo>
                  <a:lnTo>
                    <a:pt x="1684020" y="140970"/>
                  </a:lnTo>
                  <a:lnTo>
                    <a:pt x="1699260" y="166688"/>
                  </a:lnTo>
                  <a:lnTo>
                    <a:pt x="1714500" y="194310"/>
                  </a:lnTo>
                  <a:lnTo>
                    <a:pt x="1729740" y="223838"/>
                  </a:lnTo>
                  <a:lnTo>
                    <a:pt x="1744980" y="254317"/>
                  </a:lnTo>
                  <a:lnTo>
                    <a:pt x="1760220" y="286702"/>
                  </a:lnTo>
                  <a:lnTo>
                    <a:pt x="1775460" y="320040"/>
                  </a:lnTo>
                  <a:lnTo>
                    <a:pt x="1790700" y="355283"/>
                  </a:lnTo>
                  <a:lnTo>
                    <a:pt x="1805940" y="390525"/>
                  </a:lnTo>
                  <a:lnTo>
                    <a:pt x="1821180" y="427672"/>
                  </a:lnTo>
                  <a:lnTo>
                    <a:pt x="1836420" y="465772"/>
                  </a:lnTo>
                  <a:lnTo>
                    <a:pt x="1851660" y="504825"/>
                  </a:lnTo>
                  <a:lnTo>
                    <a:pt x="1865948" y="543877"/>
                  </a:lnTo>
                  <a:lnTo>
                    <a:pt x="1881188" y="583883"/>
                  </a:lnTo>
                  <a:lnTo>
                    <a:pt x="1896427" y="623888"/>
                  </a:lnTo>
                  <a:lnTo>
                    <a:pt x="1911668" y="664845"/>
                  </a:lnTo>
                  <a:lnTo>
                    <a:pt x="1926908" y="705802"/>
                  </a:lnTo>
                  <a:lnTo>
                    <a:pt x="1942148" y="746760"/>
                  </a:lnTo>
                  <a:lnTo>
                    <a:pt x="1957388" y="786765"/>
                  </a:lnTo>
                  <a:lnTo>
                    <a:pt x="1972627" y="827722"/>
                  </a:lnTo>
                  <a:lnTo>
                    <a:pt x="1987868" y="868680"/>
                  </a:lnTo>
                  <a:lnTo>
                    <a:pt x="2003108" y="908685"/>
                  </a:lnTo>
                  <a:lnTo>
                    <a:pt x="2018348" y="948690"/>
                  </a:lnTo>
                  <a:lnTo>
                    <a:pt x="2033588" y="987742"/>
                  </a:lnTo>
                  <a:lnTo>
                    <a:pt x="2048827" y="1026795"/>
                  </a:lnTo>
                  <a:lnTo>
                    <a:pt x="2064068" y="1064895"/>
                  </a:lnTo>
                  <a:lnTo>
                    <a:pt x="2079308" y="1102042"/>
                  </a:lnTo>
                  <a:lnTo>
                    <a:pt x="2093595" y="1138238"/>
                  </a:lnTo>
                  <a:lnTo>
                    <a:pt x="2108835" y="1174432"/>
                  </a:lnTo>
                  <a:lnTo>
                    <a:pt x="2124075" y="1209675"/>
                  </a:lnTo>
                  <a:lnTo>
                    <a:pt x="2139315" y="1243012"/>
                  </a:lnTo>
                  <a:lnTo>
                    <a:pt x="2154555" y="1276350"/>
                  </a:lnTo>
                  <a:lnTo>
                    <a:pt x="2169795" y="1307782"/>
                  </a:lnTo>
                  <a:lnTo>
                    <a:pt x="2185035" y="1339215"/>
                  </a:lnTo>
                  <a:lnTo>
                    <a:pt x="2200275" y="1368742"/>
                  </a:lnTo>
                  <a:lnTo>
                    <a:pt x="2215515" y="1398270"/>
                  </a:lnTo>
                  <a:lnTo>
                    <a:pt x="2230755" y="1425892"/>
                  </a:lnTo>
                  <a:lnTo>
                    <a:pt x="2245995" y="1452562"/>
                  </a:lnTo>
                  <a:lnTo>
                    <a:pt x="2261235" y="1478280"/>
                  </a:lnTo>
                  <a:lnTo>
                    <a:pt x="2276475" y="1503045"/>
                  </a:lnTo>
                  <a:lnTo>
                    <a:pt x="2291715" y="1525905"/>
                  </a:lnTo>
                  <a:lnTo>
                    <a:pt x="2306955" y="1548765"/>
                  </a:lnTo>
                  <a:lnTo>
                    <a:pt x="2321242" y="1569720"/>
                  </a:lnTo>
                  <a:lnTo>
                    <a:pt x="2336482" y="1590675"/>
                  </a:lnTo>
                  <a:lnTo>
                    <a:pt x="2351723" y="1609725"/>
                  </a:lnTo>
                  <a:lnTo>
                    <a:pt x="2366963" y="1627822"/>
                  </a:lnTo>
                  <a:lnTo>
                    <a:pt x="2382202" y="1644968"/>
                  </a:lnTo>
                  <a:lnTo>
                    <a:pt x="2397442" y="1662112"/>
                  </a:lnTo>
                  <a:lnTo>
                    <a:pt x="2412682" y="1677352"/>
                  </a:lnTo>
                  <a:lnTo>
                    <a:pt x="2427923" y="1691640"/>
                  </a:lnTo>
                  <a:lnTo>
                    <a:pt x="2443163" y="1705927"/>
                  </a:lnTo>
                  <a:lnTo>
                    <a:pt x="2458402" y="1718310"/>
                  </a:lnTo>
                  <a:lnTo>
                    <a:pt x="2473642" y="1730692"/>
                  </a:lnTo>
                  <a:lnTo>
                    <a:pt x="2488882" y="1742122"/>
                  </a:lnTo>
                  <a:lnTo>
                    <a:pt x="2504123" y="1752600"/>
                  </a:lnTo>
                  <a:lnTo>
                    <a:pt x="2519363" y="1762125"/>
                  </a:lnTo>
                  <a:lnTo>
                    <a:pt x="2534602" y="1771650"/>
                  </a:lnTo>
                  <a:lnTo>
                    <a:pt x="2548890" y="1780222"/>
                  </a:lnTo>
                  <a:lnTo>
                    <a:pt x="2564130" y="1787842"/>
                  </a:lnTo>
                  <a:lnTo>
                    <a:pt x="2579370" y="1795462"/>
                  </a:lnTo>
                  <a:lnTo>
                    <a:pt x="2594610" y="1802130"/>
                  </a:lnTo>
                  <a:lnTo>
                    <a:pt x="2609850" y="1808797"/>
                  </a:lnTo>
                  <a:lnTo>
                    <a:pt x="2625090" y="1814512"/>
                  </a:lnTo>
                  <a:lnTo>
                    <a:pt x="2640330" y="1819275"/>
                  </a:lnTo>
                  <a:lnTo>
                    <a:pt x="2655570" y="1824990"/>
                  </a:lnTo>
                  <a:lnTo>
                    <a:pt x="2670810" y="1828800"/>
                  </a:lnTo>
                  <a:lnTo>
                    <a:pt x="2686050" y="1833562"/>
                  </a:lnTo>
                  <a:lnTo>
                    <a:pt x="2701290" y="1837372"/>
                  </a:lnTo>
                  <a:lnTo>
                    <a:pt x="2716530" y="1841182"/>
                  </a:lnTo>
                  <a:lnTo>
                    <a:pt x="2731770" y="1844040"/>
                  </a:lnTo>
                  <a:lnTo>
                    <a:pt x="2747010" y="1846897"/>
                  </a:lnTo>
                  <a:lnTo>
                    <a:pt x="2762250" y="1849755"/>
                  </a:lnTo>
                  <a:lnTo>
                    <a:pt x="2776538" y="1851660"/>
                  </a:lnTo>
                  <a:lnTo>
                    <a:pt x="2791777" y="1854518"/>
                  </a:lnTo>
                  <a:lnTo>
                    <a:pt x="2807018" y="1856422"/>
                  </a:lnTo>
                  <a:lnTo>
                    <a:pt x="2822258" y="1858327"/>
                  </a:lnTo>
                  <a:lnTo>
                    <a:pt x="2837498" y="1859280"/>
                  </a:lnTo>
                  <a:lnTo>
                    <a:pt x="2852738" y="1861185"/>
                  </a:lnTo>
                  <a:lnTo>
                    <a:pt x="2867977" y="1862138"/>
                  </a:lnTo>
                  <a:lnTo>
                    <a:pt x="2883218" y="1864042"/>
                  </a:lnTo>
                  <a:lnTo>
                    <a:pt x="2898458" y="1864995"/>
                  </a:lnTo>
                  <a:lnTo>
                    <a:pt x="2913698" y="1865947"/>
                  </a:lnTo>
                  <a:lnTo>
                    <a:pt x="2928938" y="1866900"/>
                  </a:lnTo>
                  <a:lnTo>
                    <a:pt x="2944177" y="1867852"/>
                  </a:lnTo>
                  <a:lnTo>
                    <a:pt x="2959418" y="1867852"/>
                  </a:lnTo>
                  <a:lnTo>
                    <a:pt x="2974658" y="1868805"/>
                  </a:lnTo>
                  <a:lnTo>
                    <a:pt x="2989898" y="1869758"/>
                  </a:lnTo>
                  <a:lnTo>
                    <a:pt x="3004185" y="1869758"/>
                  </a:lnTo>
                  <a:lnTo>
                    <a:pt x="3019425" y="1870710"/>
                  </a:lnTo>
                  <a:lnTo>
                    <a:pt x="3034665" y="1870710"/>
                  </a:lnTo>
                </a:path>
              </a:pathLst>
            </a:custGeom>
            <a:noFill/>
            <a:ln w="21908">
              <a:solidFill>
                <a:srgbClr val="2F4B9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038850" y="4286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97617" y="43619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345430" y="4286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22739" y="436197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−1.645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93519" y="3507362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425953" y="4762500"/>
              <a:ext cx="3340103" cy="139065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4435478" y="4867275"/>
              <a:ext cx="47625" cy="11811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597403" y="4867275"/>
              <a:ext cx="10287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682366" y="49206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拒绝域的位置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92069" y="5182552"/>
              <a:ext cx="1717548" cy="6054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u 很小才说明 μ &lt; μ₀，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 α 放在左尾。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0.05 时临界值 −1.645。</a:t>
              </a:r>
            </a:p>
          </p:txBody>
        </p:sp>
      </p:grpSp>
      <p:grpSp>
        <p:nvGrpSpPr>
          <p:cNvPr id="71" name="tri2"/>
          <p:cNvGrpSpPr/>
          <p:nvPr/>
        </p:nvGrpSpPr>
        <p:grpSpPr>
          <a:xfrm>
            <a:off x="8051797" y="1524000"/>
            <a:ext cx="3606803" cy="4762500"/>
            <a:chOff x="8051797" y="1524000"/>
            <a:chExt cx="3606803" cy="4762500"/>
          </a:xfrm>
        </p:grpSpPr>
        <p:sp>
          <p:nvSpPr>
            <p:cNvPr id="49" name="Rectangle 49"/>
            <p:cNvSpPr/>
            <p:nvPr/>
          </p:nvSpPr>
          <p:spPr>
            <a:xfrm>
              <a:off x="8051797" y="1524000"/>
              <a:ext cx="3606803" cy="4762500"/>
            </a:xfrm>
            <a:prstGeom prst="roundRect">
              <a:avLst>
                <a:gd name="adj" fmla="val 316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235820" y="1662589"/>
              <a:ext cx="1648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右边检验 H₁：μ &gt; μ₀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36963" y="1925002"/>
              <a:ext cx="842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 = {u ≥ uα}</a:t>
              </a:r>
            </a:p>
          </p:txBody>
        </p:sp>
        <p:sp>
          <p:nvSpPr>
            <p:cNvPr id="52" name="Polygon 52"/>
            <p:cNvSpPr/>
            <p:nvPr/>
          </p:nvSpPr>
          <p:spPr>
            <a:xfrm>
              <a:off x="10491788" y="3802380"/>
              <a:ext cx="823912" cy="483870"/>
            </a:xfrm>
            <a:custGeom>
              <a:avLst/>
              <a:gdLst/>
              <a:ahLst/>
              <a:cxnLst/>
              <a:rect l="l" t="t" r="r" b="b"/>
              <a:pathLst>
                <a:path w="823912" h="483870">
                  <a:moveTo>
                    <a:pt x="0" y="483870"/>
                  </a:moveTo>
                  <a:lnTo>
                    <a:pt x="0" y="0"/>
                  </a:lnTo>
                  <a:lnTo>
                    <a:pt x="16193" y="30480"/>
                  </a:lnTo>
                  <a:lnTo>
                    <a:pt x="32385" y="59055"/>
                  </a:lnTo>
                  <a:lnTo>
                    <a:pt x="49530" y="87630"/>
                  </a:lnTo>
                  <a:lnTo>
                    <a:pt x="65723" y="114300"/>
                  </a:lnTo>
                  <a:lnTo>
                    <a:pt x="81915" y="139065"/>
                  </a:lnTo>
                  <a:lnTo>
                    <a:pt x="99060" y="163830"/>
                  </a:lnTo>
                  <a:lnTo>
                    <a:pt x="115252" y="186690"/>
                  </a:lnTo>
                  <a:lnTo>
                    <a:pt x="131445" y="208598"/>
                  </a:lnTo>
                  <a:lnTo>
                    <a:pt x="147638" y="228600"/>
                  </a:lnTo>
                  <a:lnTo>
                    <a:pt x="164782" y="247650"/>
                  </a:lnTo>
                  <a:lnTo>
                    <a:pt x="180975" y="266700"/>
                  </a:lnTo>
                  <a:lnTo>
                    <a:pt x="197168" y="283845"/>
                  </a:lnTo>
                  <a:lnTo>
                    <a:pt x="214312" y="299085"/>
                  </a:lnTo>
                  <a:lnTo>
                    <a:pt x="230505" y="314325"/>
                  </a:lnTo>
                  <a:lnTo>
                    <a:pt x="246698" y="328612"/>
                  </a:lnTo>
                  <a:lnTo>
                    <a:pt x="263843" y="341948"/>
                  </a:lnTo>
                  <a:lnTo>
                    <a:pt x="280035" y="353378"/>
                  </a:lnTo>
                  <a:lnTo>
                    <a:pt x="296227" y="364808"/>
                  </a:lnTo>
                  <a:lnTo>
                    <a:pt x="313373" y="375285"/>
                  </a:lnTo>
                  <a:lnTo>
                    <a:pt x="329565" y="385762"/>
                  </a:lnTo>
                  <a:lnTo>
                    <a:pt x="345757" y="394335"/>
                  </a:lnTo>
                  <a:lnTo>
                    <a:pt x="361950" y="402908"/>
                  </a:lnTo>
                  <a:lnTo>
                    <a:pt x="379095" y="410528"/>
                  </a:lnTo>
                  <a:lnTo>
                    <a:pt x="395288" y="417195"/>
                  </a:lnTo>
                  <a:lnTo>
                    <a:pt x="411480" y="423862"/>
                  </a:lnTo>
                  <a:lnTo>
                    <a:pt x="428625" y="429578"/>
                  </a:lnTo>
                  <a:lnTo>
                    <a:pt x="444818" y="435292"/>
                  </a:lnTo>
                  <a:lnTo>
                    <a:pt x="461010" y="440055"/>
                  </a:lnTo>
                  <a:lnTo>
                    <a:pt x="478155" y="444817"/>
                  </a:lnTo>
                  <a:lnTo>
                    <a:pt x="494348" y="448628"/>
                  </a:lnTo>
                  <a:lnTo>
                    <a:pt x="510540" y="452438"/>
                  </a:lnTo>
                  <a:lnTo>
                    <a:pt x="527685" y="455295"/>
                  </a:lnTo>
                  <a:lnTo>
                    <a:pt x="543877" y="459105"/>
                  </a:lnTo>
                  <a:lnTo>
                    <a:pt x="560070" y="461010"/>
                  </a:lnTo>
                  <a:lnTo>
                    <a:pt x="576262" y="463867"/>
                  </a:lnTo>
                  <a:lnTo>
                    <a:pt x="593407" y="465773"/>
                  </a:lnTo>
                  <a:lnTo>
                    <a:pt x="609600" y="467678"/>
                  </a:lnTo>
                  <a:lnTo>
                    <a:pt x="625793" y="469583"/>
                  </a:lnTo>
                  <a:lnTo>
                    <a:pt x="642938" y="471488"/>
                  </a:lnTo>
                  <a:lnTo>
                    <a:pt x="659130" y="473392"/>
                  </a:lnTo>
                  <a:lnTo>
                    <a:pt x="675323" y="474345"/>
                  </a:lnTo>
                  <a:lnTo>
                    <a:pt x="692468" y="475298"/>
                  </a:lnTo>
                  <a:lnTo>
                    <a:pt x="708660" y="476250"/>
                  </a:lnTo>
                  <a:lnTo>
                    <a:pt x="724852" y="477203"/>
                  </a:lnTo>
                  <a:lnTo>
                    <a:pt x="741045" y="478155"/>
                  </a:lnTo>
                  <a:lnTo>
                    <a:pt x="758190" y="479108"/>
                  </a:lnTo>
                  <a:lnTo>
                    <a:pt x="774382" y="479108"/>
                  </a:lnTo>
                  <a:lnTo>
                    <a:pt x="790575" y="480060"/>
                  </a:lnTo>
                  <a:lnTo>
                    <a:pt x="807720" y="481012"/>
                  </a:lnTo>
                  <a:lnTo>
                    <a:pt x="823912" y="481012"/>
                  </a:lnTo>
                  <a:lnTo>
                    <a:pt x="823912" y="483870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8280397" y="4286250"/>
              <a:ext cx="3063878" cy="9525"/>
            </a:xfrm>
            <a:custGeom>
              <a:avLst/>
              <a:gdLst/>
              <a:ahLst/>
              <a:cxnLst/>
              <a:rect l="l" t="t" r="r" b="b"/>
              <a:pathLst>
                <a:path w="3063878" h="9525">
                  <a:moveTo>
                    <a:pt x="0" y="0"/>
                  </a:moveTo>
                  <a:lnTo>
                    <a:pt x="3063878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11344275" y="42562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453241" y="42205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280082" y="2412682"/>
              <a:ext cx="3035618" cy="1870710"/>
            </a:xfrm>
            <a:custGeom>
              <a:avLst/>
              <a:gdLst/>
              <a:ahLst/>
              <a:cxnLst/>
              <a:rect l="l" t="t" r="r" b="b"/>
              <a:pathLst>
                <a:path w="3035618" h="1870710">
                  <a:moveTo>
                    <a:pt x="0" y="1870710"/>
                  </a:moveTo>
                  <a:lnTo>
                    <a:pt x="15240" y="1870710"/>
                  </a:lnTo>
                  <a:lnTo>
                    <a:pt x="30480" y="1869758"/>
                  </a:lnTo>
                  <a:lnTo>
                    <a:pt x="45720" y="1869758"/>
                  </a:lnTo>
                  <a:lnTo>
                    <a:pt x="60960" y="1868805"/>
                  </a:lnTo>
                  <a:lnTo>
                    <a:pt x="76200" y="1867852"/>
                  </a:lnTo>
                  <a:lnTo>
                    <a:pt x="91440" y="1867852"/>
                  </a:lnTo>
                  <a:lnTo>
                    <a:pt x="106680" y="1866900"/>
                  </a:lnTo>
                  <a:lnTo>
                    <a:pt x="121920" y="1865947"/>
                  </a:lnTo>
                  <a:lnTo>
                    <a:pt x="137160" y="1864995"/>
                  </a:lnTo>
                  <a:lnTo>
                    <a:pt x="152400" y="1864042"/>
                  </a:lnTo>
                  <a:lnTo>
                    <a:pt x="167640" y="1862138"/>
                  </a:lnTo>
                  <a:lnTo>
                    <a:pt x="182880" y="1861185"/>
                  </a:lnTo>
                  <a:lnTo>
                    <a:pt x="197168" y="1859280"/>
                  </a:lnTo>
                  <a:lnTo>
                    <a:pt x="212408" y="1858327"/>
                  </a:lnTo>
                  <a:lnTo>
                    <a:pt x="227648" y="1856422"/>
                  </a:lnTo>
                  <a:lnTo>
                    <a:pt x="242888" y="1854518"/>
                  </a:lnTo>
                  <a:lnTo>
                    <a:pt x="258128" y="1851660"/>
                  </a:lnTo>
                  <a:lnTo>
                    <a:pt x="273368" y="1849755"/>
                  </a:lnTo>
                  <a:lnTo>
                    <a:pt x="288608" y="1846897"/>
                  </a:lnTo>
                  <a:lnTo>
                    <a:pt x="303848" y="1844040"/>
                  </a:lnTo>
                  <a:lnTo>
                    <a:pt x="319088" y="1841182"/>
                  </a:lnTo>
                  <a:lnTo>
                    <a:pt x="334328" y="1837372"/>
                  </a:lnTo>
                  <a:lnTo>
                    <a:pt x="349568" y="1833562"/>
                  </a:lnTo>
                  <a:lnTo>
                    <a:pt x="364808" y="1828800"/>
                  </a:lnTo>
                  <a:lnTo>
                    <a:pt x="380048" y="1824990"/>
                  </a:lnTo>
                  <a:lnTo>
                    <a:pt x="395288" y="1819275"/>
                  </a:lnTo>
                  <a:lnTo>
                    <a:pt x="410528" y="1814512"/>
                  </a:lnTo>
                  <a:lnTo>
                    <a:pt x="424815" y="1808797"/>
                  </a:lnTo>
                  <a:lnTo>
                    <a:pt x="440055" y="1802130"/>
                  </a:lnTo>
                  <a:lnTo>
                    <a:pt x="455295" y="1795462"/>
                  </a:lnTo>
                  <a:lnTo>
                    <a:pt x="470535" y="1787842"/>
                  </a:lnTo>
                  <a:lnTo>
                    <a:pt x="485775" y="1780222"/>
                  </a:lnTo>
                  <a:lnTo>
                    <a:pt x="501015" y="1771650"/>
                  </a:lnTo>
                  <a:lnTo>
                    <a:pt x="516255" y="1762125"/>
                  </a:lnTo>
                  <a:lnTo>
                    <a:pt x="531495" y="1752600"/>
                  </a:lnTo>
                  <a:lnTo>
                    <a:pt x="546735" y="1742122"/>
                  </a:lnTo>
                  <a:lnTo>
                    <a:pt x="561975" y="1730692"/>
                  </a:lnTo>
                  <a:lnTo>
                    <a:pt x="577215" y="1718310"/>
                  </a:lnTo>
                  <a:lnTo>
                    <a:pt x="592455" y="1705927"/>
                  </a:lnTo>
                  <a:lnTo>
                    <a:pt x="607695" y="1691640"/>
                  </a:lnTo>
                  <a:lnTo>
                    <a:pt x="622935" y="1677352"/>
                  </a:lnTo>
                  <a:lnTo>
                    <a:pt x="638175" y="1662112"/>
                  </a:lnTo>
                  <a:lnTo>
                    <a:pt x="652462" y="1644968"/>
                  </a:lnTo>
                  <a:lnTo>
                    <a:pt x="667703" y="1627822"/>
                  </a:lnTo>
                  <a:lnTo>
                    <a:pt x="682943" y="1609725"/>
                  </a:lnTo>
                  <a:lnTo>
                    <a:pt x="698183" y="1590675"/>
                  </a:lnTo>
                  <a:lnTo>
                    <a:pt x="713423" y="1569720"/>
                  </a:lnTo>
                  <a:lnTo>
                    <a:pt x="728662" y="1548765"/>
                  </a:lnTo>
                  <a:lnTo>
                    <a:pt x="743903" y="1525905"/>
                  </a:lnTo>
                  <a:lnTo>
                    <a:pt x="759143" y="1503045"/>
                  </a:lnTo>
                  <a:lnTo>
                    <a:pt x="774383" y="1478280"/>
                  </a:lnTo>
                  <a:lnTo>
                    <a:pt x="789623" y="1452562"/>
                  </a:lnTo>
                  <a:lnTo>
                    <a:pt x="804862" y="1425892"/>
                  </a:lnTo>
                  <a:lnTo>
                    <a:pt x="820103" y="1398270"/>
                  </a:lnTo>
                  <a:lnTo>
                    <a:pt x="835343" y="1368742"/>
                  </a:lnTo>
                  <a:lnTo>
                    <a:pt x="850583" y="1339215"/>
                  </a:lnTo>
                  <a:lnTo>
                    <a:pt x="865823" y="1307782"/>
                  </a:lnTo>
                  <a:lnTo>
                    <a:pt x="880110" y="1276350"/>
                  </a:lnTo>
                  <a:lnTo>
                    <a:pt x="895350" y="1243012"/>
                  </a:lnTo>
                  <a:lnTo>
                    <a:pt x="910590" y="1209675"/>
                  </a:lnTo>
                  <a:lnTo>
                    <a:pt x="925830" y="1174432"/>
                  </a:lnTo>
                  <a:lnTo>
                    <a:pt x="941070" y="1138238"/>
                  </a:lnTo>
                  <a:lnTo>
                    <a:pt x="956310" y="1102042"/>
                  </a:lnTo>
                  <a:lnTo>
                    <a:pt x="971550" y="1064895"/>
                  </a:lnTo>
                  <a:lnTo>
                    <a:pt x="986790" y="1026795"/>
                  </a:lnTo>
                  <a:lnTo>
                    <a:pt x="1002030" y="987742"/>
                  </a:lnTo>
                  <a:lnTo>
                    <a:pt x="1017270" y="948690"/>
                  </a:lnTo>
                  <a:lnTo>
                    <a:pt x="1032510" y="908685"/>
                  </a:lnTo>
                  <a:lnTo>
                    <a:pt x="1047750" y="868680"/>
                  </a:lnTo>
                  <a:lnTo>
                    <a:pt x="1062990" y="827722"/>
                  </a:lnTo>
                  <a:lnTo>
                    <a:pt x="1078230" y="786765"/>
                  </a:lnTo>
                  <a:lnTo>
                    <a:pt x="1093470" y="746760"/>
                  </a:lnTo>
                  <a:lnTo>
                    <a:pt x="1107758" y="705802"/>
                  </a:lnTo>
                  <a:lnTo>
                    <a:pt x="1122998" y="664845"/>
                  </a:lnTo>
                  <a:lnTo>
                    <a:pt x="1138238" y="623888"/>
                  </a:lnTo>
                  <a:lnTo>
                    <a:pt x="1153478" y="583883"/>
                  </a:lnTo>
                  <a:lnTo>
                    <a:pt x="1168718" y="543877"/>
                  </a:lnTo>
                  <a:lnTo>
                    <a:pt x="1183958" y="504825"/>
                  </a:lnTo>
                  <a:lnTo>
                    <a:pt x="1199198" y="465772"/>
                  </a:lnTo>
                  <a:lnTo>
                    <a:pt x="1214438" y="427672"/>
                  </a:lnTo>
                  <a:lnTo>
                    <a:pt x="1229678" y="390525"/>
                  </a:lnTo>
                  <a:lnTo>
                    <a:pt x="1244918" y="355283"/>
                  </a:lnTo>
                  <a:lnTo>
                    <a:pt x="1260158" y="320040"/>
                  </a:lnTo>
                  <a:lnTo>
                    <a:pt x="1275398" y="286702"/>
                  </a:lnTo>
                  <a:lnTo>
                    <a:pt x="1290638" y="254317"/>
                  </a:lnTo>
                  <a:lnTo>
                    <a:pt x="1305878" y="223838"/>
                  </a:lnTo>
                  <a:lnTo>
                    <a:pt x="1321118" y="194310"/>
                  </a:lnTo>
                  <a:lnTo>
                    <a:pt x="1335405" y="166688"/>
                  </a:lnTo>
                  <a:lnTo>
                    <a:pt x="1350645" y="140970"/>
                  </a:lnTo>
                  <a:lnTo>
                    <a:pt x="1365885" y="118110"/>
                  </a:lnTo>
                  <a:lnTo>
                    <a:pt x="1381125" y="96202"/>
                  </a:lnTo>
                  <a:lnTo>
                    <a:pt x="1396365" y="76200"/>
                  </a:lnTo>
                  <a:lnTo>
                    <a:pt x="1411605" y="59055"/>
                  </a:lnTo>
                  <a:lnTo>
                    <a:pt x="1426845" y="42862"/>
                  </a:lnTo>
                  <a:lnTo>
                    <a:pt x="1442085" y="30480"/>
                  </a:lnTo>
                  <a:lnTo>
                    <a:pt x="1457325" y="19050"/>
                  </a:lnTo>
                  <a:lnTo>
                    <a:pt x="1472565" y="11430"/>
                  </a:lnTo>
                  <a:lnTo>
                    <a:pt x="1487805" y="4762"/>
                  </a:lnTo>
                  <a:lnTo>
                    <a:pt x="1503045" y="952"/>
                  </a:lnTo>
                  <a:lnTo>
                    <a:pt x="1518285" y="0"/>
                  </a:lnTo>
                  <a:lnTo>
                    <a:pt x="1533525" y="952"/>
                  </a:lnTo>
                  <a:lnTo>
                    <a:pt x="1548765" y="4762"/>
                  </a:lnTo>
                  <a:lnTo>
                    <a:pt x="1563053" y="11430"/>
                  </a:lnTo>
                  <a:lnTo>
                    <a:pt x="1578293" y="19050"/>
                  </a:lnTo>
                  <a:lnTo>
                    <a:pt x="1593532" y="30480"/>
                  </a:lnTo>
                  <a:lnTo>
                    <a:pt x="1608773" y="42862"/>
                  </a:lnTo>
                  <a:lnTo>
                    <a:pt x="1624012" y="59055"/>
                  </a:lnTo>
                  <a:lnTo>
                    <a:pt x="1639253" y="76200"/>
                  </a:lnTo>
                  <a:lnTo>
                    <a:pt x="1654493" y="96202"/>
                  </a:lnTo>
                  <a:lnTo>
                    <a:pt x="1669732" y="118110"/>
                  </a:lnTo>
                  <a:lnTo>
                    <a:pt x="1684973" y="140970"/>
                  </a:lnTo>
                  <a:lnTo>
                    <a:pt x="1700212" y="166688"/>
                  </a:lnTo>
                  <a:lnTo>
                    <a:pt x="1715453" y="194310"/>
                  </a:lnTo>
                  <a:lnTo>
                    <a:pt x="1730693" y="223838"/>
                  </a:lnTo>
                  <a:lnTo>
                    <a:pt x="1745932" y="254317"/>
                  </a:lnTo>
                  <a:lnTo>
                    <a:pt x="1761173" y="286702"/>
                  </a:lnTo>
                  <a:lnTo>
                    <a:pt x="1776412" y="320040"/>
                  </a:lnTo>
                  <a:lnTo>
                    <a:pt x="1790700" y="355283"/>
                  </a:lnTo>
                  <a:lnTo>
                    <a:pt x="1805940" y="390525"/>
                  </a:lnTo>
                  <a:lnTo>
                    <a:pt x="1821180" y="427672"/>
                  </a:lnTo>
                  <a:lnTo>
                    <a:pt x="1836420" y="465772"/>
                  </a:lnTo>
                  <a:lnTo>
                    <a:pt x="1851660" y="504825"/>
                  </a:lnTo>
                  <a:lnTo>
                    <a:pt x="1866900" y="543877"/>
                  </a:lnTo>
                  <a:lnTo>
                    <a:pt x="1882140" y="583883"/>
                  </a:lnTo>
                  <a:lnTo>
                    <a:pt x="1897380" y="623888"/>
                  </a:lnTo>
                  <a:lnTo>
                    <a:pt x="1912620" y="664845"/>
                  </a:lnTo>
                  <a:lnTo>
                    <a:pt x="1927860" y="705802"/>
                  </a:lnTo>
                  <a:lnTo>
                    <a:pt x="1943100" y="746760"/>
                  </a:lnTo>
                  <a:lnTo>
                    <a:pt x="1958340" y="786765"/>
                  </a:lnTo>
                  <a:lnTo>
                    <a:pt x="1973580" y="827722"/>
                  </a:lnTo>
                  <a:lnTo>
                    <a:pt x="1988820" y="868680"/>
                  </a:lnTo>
                  <a:lnTo>
                    <a:pt x="2004060" y="908685"/>
                  </a:lnTo>
                  <a:lnTo>
                    <a:pt x="2018348" y="948690"/>
                  </a:lnTo>
                  <a:lnTo>
                    <a:pt x="2033588" y="987742"/>
                  </a:lnTo>
                  <a:lnTo>
                    <a:pt x="2048828" y="1026795"/>
                  </a:lnTo>
                  <a:lnTo>
                    <a:pt x="2064068" y="1064895"/>
                  </a:lnTo>
                  <a:lnTo>
                    <a:pt x="2079307" y="1102042"/>
                  </a:lnTo>
                  <a:lnTo>
                    <a:pt x="2094548" y="1138238"/>
                  </a:lnTo>
                  <a:lnTo>
                    <a:pt x="2109788" y="1174432"/>
                  </a:lnTo>
                  <a:lnTo>
                    <a:pt x="2125028" y="1209675"/>
                  </a:lnTo>
                  <a:lnTo>
                    <a:pt x="2140268" y="1243012"/>
                  </a:lnTo>
                  <a:lnTo>
                    <a:pt x="2155507" y="1276350"/>
                  </a:lnTo>
                  <a:lnTo>
                    <a:pt x="2170748" y="1307782"/>
                  </a:lnTo>
                  <a:lnTo>
                    <a:pt x="2185988" y="1339215"/>
                  </a:lnTo>
                  <a:lnTo>
                    <a:pt x="2201228" y="1368742"/>
                  </a:lnTo>
                  <a:lnTo>
                    <a:pt x="2216468" y="1398270"/>
                  </a:lnTo>
                  <a:lnTo>
                    <a:pt x="2231707" y="1425892"/>
                  </a:lnTo>
                  <a:lnTo>
                    <a:pt x="2245995" y="1452562"/>
                  </a:lnTo>
                  <a:lnTo>
                    <a:pt x="2261235" y="1478280"/>
                  </a:lnTo>
                  <a:lnTo>
                    <a:pt x="2276475" y="1503045"/>
                  </a:lnTo>
                  <a:lnTo>
                    <a:pt x="2291715" y="1525905"/>
                  </a:lnTo>
                  <a:lnTo>
                    <a:pt x="2306955" y="1548765"/>
                  </a:lnTo>
                  <a:lnTo>
                    <a:pt x="2322195" y="1569720"/>
                  </a:lnTo>
                  <a:lnTo>
                    <a:pt x="2337435" y="1590675"/>
                  </a:lnTo>
                  <a:lnTo>
                    <a:pt x="2352675" y="1609725"/>
                  </a:lnTo>
                  <a:lnTo>
                    <a:pt x="2367915" y="1627822"/>
                  </a:lnTo>
                  <a:lnTo>
                    <a:pt x="2383155" y="1644968"/>
                  </a:lnTo>
                  <a:lnTo>
                    <a:pt x="2398395" y="1662112"/>
                  </a:lnTo>
                  <a:lnTo>
                    <a:pt x="2413635" y="1677352"/>
                  </a:lnTo>
                  <a:lnTo>
                    <a:pt x="2428875" y="1691640"/>
                  </a:lnTo>
                  <a:lnTo>
                    <a:pt x="2444115" y="1705927"/>
                  </a:lnTo>
                  <a:lnTo>
                    <a:pt x="2459355" y="1718310"/>
                  </a:lnTo>
                  <a:lnTo>
                    <a:pt x="2473643" y="1730692"/>
                  </a:lnTo>
                  <a:lnTo>
                    <a:pt x="2488882" y="1742122"/>
                  </a:lnTo>
                  <a:lnTo>
                    <a:pt x="2504123" y="1752600"/>
                  </a:lnTo>
                  <a:lnTo>
                    <a:pt x="2519362" y="1762125"/>
                  </a:lnTo>
                  <a:lnTo>
                    <a:pt x="2534603" y="1771650"/>
                  </a:lnTo>
                  <a:lnTo>
                    <a:pt x="2549843" y="1780222"/>
                  </a:lnTo>
                  <a:lnTo>
                    <a:pt x="2565082" y="1787842"/>
                  </a:lnTo>
                  <a:lnTo>
                    <a:pt x="2580323" y="1795462"/>
                  </a:lnTo>
                  <a:lnTo>
                    <a:pt x="2595562" y="1802130"/>
                  </a:lnTo>
                  <a:lnTo>
                    <a:pt x="2610803" y="1808797"/>
                  </a:lnTo>
                  <a:lnTo>
                    <a:pt x="2626043" y="1814512"/>
                  </a:lnTo>
                  <a:lnTo>
                    <a:pt x="2641282" y="1819275"/>
                  </a:lnTo>
                  <a:lnTo>
                    <a:pt x="2656523" y="1824990"/>
                  </a:lnTo>
                  <a:lnTo>
                    <a:pt x="2671762" y="1828800"/>
                  </a:lnTo>
                  <a:lnTo>
                    <a:pt x="2687003" y="1833562"/>
                  </a:lnTo>
                  <a:lnTo>
                    <a:pt x="2701290" y="1837372"/>
                  </a:lnTo>
                  <a:lnTo>
                    <a:pt x="2716530" y="1841182"/>
                  </a:lnTo>
                  <a:lnTo>
                    <a:pt x="2731770" y="1844040"/>
                  </a:lnTo>
                  <a:lnTo>
                    <a:pt x="2747010" y="1846897"/>
                  </a:lnTo>
                  <a:lnTo>
                    <a:pt x="2762250" y="1849755"/>
                  </a:lnTo>
                  <a:lnTo>
                    <a:pt x="2777490" y="1851660"/>
                  </a:lnTo>
                  <a:lnTo>
                    <a:pt x="2792730" y="1854518"/>
                  </a:lnTo>
                  <a:lnTo>
                    <a:pt x="2807970" y="1856422"/>
                  </a:lnTo>
                  <a:lnTo>
                    <a:pt x="2823210" y="1858327"/>
                  </a:lnTo>
                  <a:lnTo>
                    <a:pt x="2838450" y="1859280"/>
                  </a:lnTo>
                  <a:lnTo>
                    <a:pt x="2853690" y="1861185"/>
                  </a:lnTo>
                  <a:lnTo>
                    <a:pt x="2868930" y="1862138"/>
                  </a:lnTo>
                  <a:lnTo>
                    <a:pt x="2884170" y="1864042"/>
                  </a:lnTo>
                  <a:lnTo>
                    <a:pt x="2899410" y="1864995"/>
                  </a:lnTo>
                  <a:lnTo>
                    <a:pt x="2914650" y="1865947"/>
                  </a:lnTo>
                  <a:lnTo>
                    <a:pt x="2928938" y="1866900"/>
                  </a:lnTo>
                  <a:lnTo>
                    <a:pt x="2944178" y="1867852"/>
                  </a:lnTo>
                  <a:lnTo>
                    <a:pt x="2959418" y="1867852"/>
                  </a:lnTo>
                  <a:lnTo>
                    <a:pt x="2974657" y="1868805"/>
                  </a:lnTo>
                  <a:lnTo>
                    <a:pt x="2989898" y="1869758"/>
                  </a:lnTo>
                  <a:lnTo>
                    <a:pt x="3005138" y="1869758"/>
                  </a:lnTo>
                  <a:lnTo>
                    <a:pt x="3020378" y="1870710"/>
                  </a:lnTo>
                  <a:lnTo>
                    <a:pt x="3035618" y="1870710"/>
                  </a:lnTo>
                </a:path>
              </a:pathLst>
            </a:custGeom>
            <a:noFill/>
            <a:ln w="21908">
              <a:solidFill>
                <a:srgbClr val="2F4B9A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9798368" y="4286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756849" y="43619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0491788" y="42862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305148" y="436197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1.645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13465" y="37891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0541318" y="4238625"/>
              <a:ext cx="95250" cy="9525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332857" y="2955979"/>
              <a:ext cx="99604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例2：u = 1.875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10620851" y="3182684"/>
              <a:ext cx="146780" cy="906275"/>
            </a:xfrm>
            <a:custGeom>
              <a:avLst/>
              <a:gdLst/>
              <a:ahLst/>
              <a:cxnLst/>
              <a:rect l="l" t="t" r="r" b="b"/>
              <a:pathLst>
                <a:path w="146780" h="906275">
                  <a:moveTo>
                    <a:pt x="146780" y="0"/>
                  </a:moveTo>
                  <a:lnTo>
                    <a:pt x="0" y="906275"/>
                  </a:lnTo>
                </a:path>
              </a:pathLst>
            </a:custGeom>
            <a:noFill/>
            <a:ln w="12382">
              <a:solidFill>
                <a:srgbClr val="C0392B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10595420" y="4084844"/>
              <a:ext cx="50768" cy="60522"/>
            </a:xfrm>
            <a:custGeom>
              <a:avLst/>
              <a:gdLst/>
              <a:ahLst/>
              <a:cxnLst/>
              <a:rect l="l" t="t" r="r" b="b"/>
              <a:pathLst>
                <a:path w="50768" h="60522">
                  <a:moveTo>
                    <a:pt x="16288" y="60522"/>
                  </a:moveTo>
                  <a:lnTo>
                    <a:pt x="0" y="0"/>
                  </a:lnTo>
                  <a:lnTo>
                    <a:pt x="50768" y="8220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185147" y="4762500"/>
              <a:ext cx="3340103" cy="139065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194672" y="4867275"/>
              <a:ext cx="47625" cy="11811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356597" y="4867275"/>
              <a:ext cx="10287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441560" y="49206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拒绝域的位置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51263" y="5182552"/>
              <a:ext cx="1644206" cy="6054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u 很大才说明 μ &gt; μ₀，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 α 放在右尾。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0.05 时临界值 1.645。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1004" cy="909257"/>
            <a:chOff x="520446" y="342900"/>
            <a:chExt cx="71610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10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例2：新工艺提高了灯泡寿命吗（右边 u 检验）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545908"/>
            <a:chOff x="533400" y="1524000"/>
            <a:chExt cx="5951220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867" y="176355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28942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某厂灯泡寿命 X（单位 h）服从 N(μ, 200²)。根据经验，灯泡的平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均寿命不超过 1500 h。现测试了 25 只采用新工艺生产的灯泡，平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均寿命为 1575 h，问新工艺是否提高了灯泡的寿命（α = 0.05）？</a:t>
              </a:r>
            </a:p>
          </p:txBody>
        </p:sp>
      </p:grpSp>
      <p:grpSp>
        <p:nvGrpSpPr>
          <p:cNvPr id="34" name="c1-steps-2"/>
          <p:cNvGrpSpPr/>
          <p:nvPr/>
        </p:nvGrpSpPr>
        <p:grpSpPr>
          <a:xfrm>
            <a:off x="533400" y="3265170"/>
            <a:ext cx="5046726" cy="3031236"/>
            <a:chOff x="533400" y="3265170"/>
            <a:chExt cx="5046726" cy="3031236"/>
          </a:xfrm>
        </p:grpSpPr>
        <p:sp>
          <p:nvSpPr>
            <p:cNvPr id="13" name="Rectangle 13"/>
            <p:cNvSpPr/>
            <p:nvPr/>
          </p:nvSpPr>
          <p:spPr>
            <a:xfrm>
              <a:off x="666750" y="3408045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26517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38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862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60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07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81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1273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201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7483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582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29803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578542"/>
              <a:ext cx="2940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H₀：μ ≤ 1500，H₁：μ &gt; 1500，右边检验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39190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199572"/>
              <a:ext cx="4153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200 已知，u = (样本均值 − 1500)/(σ/√n) ~ N(0, 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454009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4820602"/>
              <a:ext cx="2485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u₀.₀₅ = 1.645，W = {u ≥ 1.645}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51611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5441632"/>
              <a:ext cx="3509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(1575 − 1500)/(200/√25) = 75/40 = 1.875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261" y="578119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04" y="6061710"/>
              <a:ext cx="4633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1.875 ≥ 1.645，拒绝 H₀、接受 H₁，认为新工艺提高了灯泡寿命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789420" y="1524000"/>
            <a:ext cx="4869180" cy="1865948"/>
            <a:chOff x="6789420" y="1524000"/>
            <a:chExt cx="4869180" cy="1865948"/>
          </a:xfrm>
        </p:grpSpPr>
        <p:sp>
          <p:nvSpPr>
            <p:cNvPr id="35" name="Rectangle 35"/>
            <p:cNvSpPr/>
            <p:nvPr/>
          </p:nvSpPr>
          <p:spPr>
            <a:xfrm>
              <a:off x="6789420" y="1524000"/>
              <a:ext cx="4869180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98945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3135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2156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31355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89700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2248" y="2100739"/>
              <a:ext cx="38196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原课件把本题称作“左边检验”。H₁：μ &gt; 1500，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 {u ≥ uα} 在右侧，应为右边检验。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031355" y="268033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89700" y="27197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22248" y="2692241"/>
              <a:ext cx="38376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原课件算式分子写成 1575 − 1000，应为 1575 −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1500；它给出的 1.875 正是按 1500 算的。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789420" y="3575685"/>
            <a:ext cx="4869180" cy="1545908"/>
            <a:chOff x="6789420" y="3575685"/>
            <a:chExt cx="4869180" cy="1545908"/>
          </a:xfrm>
        </p:grpSpPr>
        <p:sp>
          <p:nvSpPr>
            <p:cNvPr id="46" name="Rectangle 46"/>
            <p:cNvSpPr/>
            <p:nvPr/>
          </p:nvSpPr>
          <p:spPr>
            <a:xfrm>
              <a:off x="6789420" y="3575685"/>
              <a:ext cx="486918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98945" y="370903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31355" y="377952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92010" y="381523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同一数据按双边检验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24116" y="4152424"/>
              <a:ext cx="412623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若问“新工艺是否改变了寿命”，临界值变成 1.96，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 1.875 &lt; 1.96，就不能拒绝 H₀。单边还是双边要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由问题本身决定，不能看了数据再选。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789420" y="5307330"/>
            <a:ext cx="4869180" cy="980122"/>
            <a:chOff x="6789420" y="5307330"/>
            <a:chExt cx="4869180" cy="980122"/>
          </a:xfrm>
        </p:grpSpPr>
        <p:sp>
          <p:nvSpPr>
            <p:cNvPr id="52" name="Rectangle 52"/>
            <p:cNvSpPr/>
            <p:nvPr/>
          </p:nvSpPr>
          <p:spPr>
            <a:xfrm>
              <a:off x="6789420" y="5307330"/>
              <a:ext cx="4869180" cy="980122"/>
            </a:xfrm>
            <a:prstGeom prst="roundRect">
              <a:avLst>
                <a:gd name="adj" fmla="val 116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994208" y="5697855"/>
              <a:ext cx="200026" cy="200025"/>
              <a:chOff x="6994208" y="5697855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994208" y="56978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033946" y="57423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068662" y="58534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296531" y="5566886"/>
              <a:ext cx="350405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换成样本均值：均值 ≥ 1500 + 1.645 × 40 =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1565.8 就拒绝，1575 超过了它。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01708" cy="909257"/>
            <a:chOff x="520446" y="342900"/>
            <a:chExt cx="68017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017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未知时检验 μ：用 S 代替 σ，得到 t 检验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810702"/>
            <a:chOff x="533400" y="1524000"/>
            <a:chExt cx="4977765" cy="18107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10702"/>
            </a:xfrm>
            <a:prstGeom prst="roundRect">
              <a:avLst>
                <a:gd name="adj" fmla="val 736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2082165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3389" y="1750695"/>
              <a:ext cx="2006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检验统计量（H₀ 中 μ = μ₀ 时）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76"/>
                <p:cNvSpPr txBox="1">
                  <a:spLocks noGrp="1"/>
                </p:cNvSpPr>
                <p:nvPr/>
              </p:nvSpPr>
              <p:spPr>
                <a:xfrm>
                  <a:off x="725805" y="2050732"/>
                  <a:ext cx="459295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18947" y="2673668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 未知，u 算不出数值，改用样本标准差 S。由第6章抽样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定理，H₀ 为真时 t 服从自由度 n − 1 的 t 分布。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509962"/>
            <a:ext cx="4977765" cy="2089785"/>
            <a:chOff x="533400" y="3509962"/>
            <a:chExt cx="4977765" cy="2089785"/>
          </a:xfrm>
        </p:grpSpPr>
        <p:sp>
          <p:nvSpPr>
            <p:cNvPr id="13" name="Rectangle 13"/>
            <p:cNvSpPr/>
            <p:nvPr/>
          </p:nvSpPr>
          <p:spPr>
            <a:xfrm>
              <a:off x="533400" y="3509962"/>
              <a:ext cx="4977765" cy="2089785"/>
            </a:xfrm>
            <a:prstGeom prst="roundRect">
              <a:avLst>
                <a:gd name="adj" fmla="val 63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643312"/>
              <a:ext cx="47625" cy="18230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702368"/>
              <a:ext cx="90392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966" y="3736658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对比 u 检验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411480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4058602"/>
              <a:ext cx="37731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 σ 换成 S，分布由 N(0, 1) 换成 t(n − 1)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2478" y="441769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497" y="4361498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分布尾巴更厚，同样的 α 临界值更大，如 t₀.₀₂₅(8)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2.306 &gt; 1.96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2478" y="497681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8497" y="4920615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&gt; 45 时 tα(n − 1) ≈ uα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815965" y="1524000"/>
            <a:ext cx="5842635" cy="1778318"/>
            <a:chOff x="5815965" y="1524000"/>
            <a:chExt cx="5842635" cy="1778318"/>
          </a:xfrm>
        </p:grpSpPr>
        <p:sp>
          <p:nvSpPr>
            <p:cNvPr id="24" name="Rectangle 24"/>
            <p:cNvSpPr/>
            <p:nvPr/>
          </p:nvSpPr>
          <p:spPr>
            <a:xfrm>
              <a:off x="5815965" y="1524000"/>
              <a:ext cx="5842635" cy="44481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599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89861" y="1651635"/>
              <a:ext cx="841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8230" y="1651635"/>
              <a:ext cx="1022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79826" y="1651635"/>
              <a:ext cx="770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拒绝域 W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5992" y="20964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49173" y="2096452"/>
              <a:ext cx="52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= μ₀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68410" y="2096452"/>
              <a:ext cx="52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≠ μ₀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44967" y="2096452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|t| ≥ tα/2(n − 1)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4088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2413635"/>
              <a:ext cx="584263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35992" y="25412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13004" y="2541270"/>
              <a:ext cx="139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= μ₀（μ ≥ μ₀）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68410" y="2541270"/>
              <a:ext cx="52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&lt; μ₀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49466" y="2541270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≤ −tα(n − 1)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8527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35992" y="29860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13004" y="2986088"/>
              <a:ext cx="139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= μ₀（μ ≤ μ₀）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68410" y="2986088"/>
              <a:ext cx="52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&gt; μ₀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99443" y="298608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≥ tα(n − 1)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1524000"/>
              <a:ext cx="5842635" cy="17783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28448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82000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666922" y="1524000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table-2"/>
          <p:cNvGrpSpPr/>
          <p:nvPr/>
        </p:nvGrpSpPr>
        <p:grpSpPr>
          <a:xfrm>
            <a:off x="5815965" y="3477578"/>
            <a:ext cx="5842635" cy="1217295"/>
            <a:chOff x="5815965" y="3477578"/>
            <a:chExt cx="5842635" cy="1217295"/>
          </a:xfrm>
        </p:grpSpPr>
        <p:sp>
          <p:nvSpPr>
            <p:cNvPr id="49" name="Rectangle 49"/>
            <p:cNvSpPr/>
            <p:nvPr/>
          </p:nvSpPr>
          <p:spPr>
            <a:xfrm>
              <a:off x="5815965" y="3477578"/>
              <a:ext cx="584263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99610" y="3601879"/>
              <a:ext cx="1135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 = 0.05，n = 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13510" y="360187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 检验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39048" y="3601879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检验（自由度 8）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4874" y="4007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双边临界值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30243" y="4007644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u₀.₀₂₅ = 1.96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34148" y="4007644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t₀.₀₂₅(8) = 2.306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4284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15965" y="4289108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84874" y="44134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单边临界值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30243" y="4413409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u₀.₀₅ = 1.645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5611" y="4413409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t₀.₀₅(8) = 1.860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3477578"/>
              <a:ext cx="584263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914322" y="347757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550718" y="347757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llout-3"/>
          <p:cNvGrpSpPr/>
          <p:nvPr/>
        </p:nvGrpSpPr>
        <p:grpSpPr>
          <a:xfrm>
            <a:off x="5815965" y="4870132"/>
            <a:ext cx="5842635" cy="729615"/>
            <a:chOff x="5815965" y="4870132"/>
            <a:chExt cx="5842635" cy="729615"/>
          </a:xfrm>
        </p:grpSpPr>
        <p:sp>
          <p:nvSpPr>
            <p:cNvPr id="65" name="Rectangle 65"/>
            <p:cNvSpPr/>
            <p:nvPr/>
          </p:nvSpPr>
          <p:spPr>
            <a:xfrm>
              <a:off x="5815965" y="487013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020753" y="5134928"/>
              <a:ext cx="200026" cy="200025"/>
              <a:chOff x="6020753" y="5134928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020753" y="51349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060491" y="51793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095207" y="52905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323457" y="5015865"/>
              <a:ext cx="48657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 分布关于 0 对称，左尾临界值可以写成 −tα(n − 1)，这一点和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 检验相同。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2" name="Rectangle 7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3610"/>
              <a:ext cx="7183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实际问题里 σ 往往未知，t 检验比 u 检验常用得多。题目没说 σ 已知，就默认用 t 检验。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42516" cy="909257"/>
            <a:chOff x="520446" y="342900"/>
            <a:chExt cx="95425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425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例3：零件长度要求 150 mm，这批零件合格吗（双边 t 检验）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700212"/>
            <a:chOff x="533400" y="1524000"/>
            <a:chExt cx="5951220" cy="17002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062" y="1743551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28580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某车间加工一种零件，要求长度为 150 mm。从一批加工后的零件中抽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9 个，测得长度为 147, 150, 149, 154, 152, 153, 148, 151,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155。设零件长度 X 服从正态分布，问这批零件是否合格（α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0.05）？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3403282"/>
            <a:ext cx="5204363" cy="2268380"/>
            <a:chOff x="533400" y="3403282"/>
            <a:chExt cx="5204363" cy="2268380"/>
          </a:xfrm>
        </p:grpSpPr>
        <p:sp>
          <p:nvSpPr>
            <p:cNvPr id="13" name="Rectangle 13"/>
            <p:cNvSpPr/>
            <p:nvPr/>
          </p:nvSpPr>
          <p:spPr>
            <a:xfrm>
              <a:off x="666750" y="3546158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4032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771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862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691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6429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15207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225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435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702844"/>
              <a:ext cx="3545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N(μ, σ²)，σ² 未知；H₀：μ = 150，H₁：μ ≠ 150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01859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285774"/>
              <a:ext cx="2744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t₀.₀₂₅(8) = 2.306，W = {|t| ≥ 2.306}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60152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868704"/>
              <a:ext cx="189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9，均值 = 1359/9 = 151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518445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样本方差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5451634"/>
              <a:ext cx="4790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离差平方和 16+1+4+9+1+4+9+0+16 = 60，s² = 60/8 = 7.5，s = 2.739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87"/>
              <p:cNvSpPr txBox="1">
                <a:spLocks noGrp="1"/>
              </p:cNvSpPr>
              <p:nvPr/>
            </p:nvSpPr>
            <p:spPr>
              <a:xfrm>
                <a:off x="6789420" y="1524000"/>
                <a:ext cx="486918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150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88"/>
              <p:cNvSpPr txBox="1">
                <a:spLocks noGrp="1"/>
              </p:cNvSpPr>
              <p:nvPr/>
            </p:nvSpPr>
            <p:spPr>
              <a:xfrm>
                <a:off x="6789420" y="2156460"/>
                <a:ext cx="486918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151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150</m:t>
                              </m:r>
                            </m:e>
                          </m: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2.739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1.095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2.306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9" name="c2-card-3"/>
          <p:cNvGrpSpPr/>
          <p:nvPr/>
        </p:nvGrpSpPr>
        <p:grpSpPr>
          <a:xfrm>
            <a:off x="6789420" y="2789872"/>
            <a:ext cx="4869180" cy="1189672"/>
            <a:chOff x="6789420" y="2789872"/>
            <a:chExt cx="4869180" cy="1189672"/>
          </a:xfrm>
        </p:grpSpPr>
        <p:sp>
          <p:nvSpPr>
            <p:cNvPr id="33" name="Rectangle 33"/>
            <p:cNvSpPr/>
            <p:nvPr/>
          </p:nvSpPr>
          <p:spPr>
            <a:xfrm>
              <a:off x="6789420" y="2789872"/>
              <a:ext cx="4869180" cy="1189672"/>
            </a:xfrm>
            <a:prstGeom prst="roundRect">
              <a:avLst>
                <a:gd name="adj" fmla="val 112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98945" y="2923222"/>
              <a:ext cx="47625" cy="9229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14210" y="29765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06882" y="30094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7352" y="3320415"/>
              <a:ext cx="41808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|t| 没有落入拒绝域，接受 H₀，认为这批零件合格。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8495" y="3617119"/>
              <a:ext cx="4074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 值（补充）：P{|t(8)| ≥ 1.095} = 0.305，远大于 0.05。</a:t>
              </a:r>
            </a:p>
          </p:txBody>
        </p:sp>
      </p:grpSp>
      <p:grpSp>
        <p:nvGrpSpPr>
          <p:cNvPr id="45" name="c2-card-4"/>
          <p:cNvGrpSpPr/>
          <p:nvPr/>
        </p:nvGrpSpPr>
        <p:grpSpPr>
          <a:xfrm>
            <a:off x="6789420" y="4149090"/>
            <a:ext cx="4869180" cy="1516380"/>
            <a:chOff x="6789420" y="4149090"/>
            <a:chExt cx="4869180" cy="1516380"/>
          </a:xfrm>
        </p:grpSpPr>
        <p:sp>
          <p:nvSpPr>
            <p:cNvPr id="40" name="Rectangle 40"/>
            <p:cNvSpPr/>
            <p:nvPr/>
          </p:nvSpPr>
          <p:spPr>
            <a:xfrm>
              <a:off x="6789420" y="4149090"/>
              <a:ext cx="4869180" cy="1516380"/>
            </a:xfrm>
            <a:prstGeom prst="roundRect">
              <a:avLst>
                <a:gd name="adj" fmla="val 87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98945" y="4282440"/>
              <a:ext cx="47625" cy="12496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14210" y="43357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06882" y="43686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07352" y="4680585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|t| = 1.096。1/(2.739/3) = 1.0953，应为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1.095，结论不变。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6" name="Rectangle 4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8373"/>
              <a:ext cx="7710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离差平方和先算好再除以 n − 1，比直接套 Σxᵢ² − n·(均值)² 少出错；数据是整数时尤其方便。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22639" cy="909257"/>
            <a:chOff x="520446" y="342900"/>
            <a:chExt cx="80226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226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检验方差 σ²：χ² 检验，μ 已知用 n，μ 未知用 n − 1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410200" cy="1278255"/>
            <a:chOff x="533400" y="1524000"/>
            <a:chExt cx="5410200" cy="12782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78255"/>
            </a:xfrm>
            <a:prstGeom prst="roundRect">
              <a:avLst>
                <a:gd name="adj" fmla="val 1043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104108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4729" y="1743551"/>
              <a:ext cx="890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均值 μ 已知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09"/>
                <p:cNvSpPr txBox="1">
                  <a:spLocks noGrp="1"/>
                </p:cNvSpPr>
                <p:nvPr/>
              </p:nvSpPr>
              <p:spPr>
                <a:xfrm>
                  <a:off x="720090" y="2032635"/>
                  <a:ext cx="503682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1" name="c1-table-2"/>
          <p:cNvGrpSpPr/>
          <p:nvPr/>
        </p:nvGrpSpPr>
        <p:grpSpPr>
          <a:xfrm>
            <a:off x="533400" y="2971800"/>
            <a:ext cx="5410200" cy="1600200"/>
            <a:chOff x="533400" y="2971800"/>
            <a:chExt cx="5410200" cy="1600200"/>
          </a:xfrm>
        </p:grpSpPr>
        <p:sp>
          <p:nvSpPr>
            <p:cNvPr id="12" name="Rectangle 12"/>
            <p:cNvSpPr/>
            <p:nvPr/>
          </p:nvSpPr>
          <p:spPr>
            <a:xfrm>
              <a:off x="533400" y="2971800"/>
              <a:ext cx="541020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6516" y="30932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10436" y="3093244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91497" y="3093244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6516" y="34932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59680" y="349329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= σ₀²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16127" y="349329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≠ σ₀²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671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719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6516" y="38933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59680" y="389334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≥ σ₀²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16127" y="389334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&lt; σ₀²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167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6516" y="42933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59680" y="429339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≤ σ₀²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16127" y="429339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&gt; σ₀²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97180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26895" y="29718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83342" y="29718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110"/>
              <p:cNvSpPr txBox="1">
                <a:spLocks noGrp="1"/>
              </p:cNvSpPr>
              <p:nvPr/>
            </p:nvSpPr>
            <p:spPr>
              <a:xfrm>
                <a:off x="533400" y="4741545"/>
                <a:ext cx="5410200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双边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或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e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左边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e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右边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37" name="c2-card-1"/>
          <p:cNvGrpSpPr/>
          <p:nvPr/>
        </p:nvGrpSpPr>
        <p:grpSpPr>
          <a:xfrm>
            <a:off x="6248400" y="1524000"/>
            <a:ext cx="5410200" cy="1175385"/>
            <a:chOff x="6248400" y="1524000"/>
            <a:chExt cx="5410200" cy="1175385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175385"/>
            </a:xfrm>
            <a:prstGeom prst="roundRect">
              <a:avLst>
                <a:gd name="adj" fmla="val 113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35090" y="1710690"/>
              <a:ext cx="104108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09729" y="1743551"/>
              <a:ext cx="890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均值 μ 未知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11"/>
                <p:cNvSpPr txBox="1">
                  <a:spLocks noGrp="1"/>
                </p:cNvSpPr>
                <p:nvPr/>
              </p:nvSpPr>
              <p:spPr>
                <a:xfrm>
                  <a:off x="6435090" y="2032635"/>
                  <a:ext cx="503682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7" name="c2-table-2"/>
          <p:cNvGrpSpPr/>
          <p:nvPr/>
        </p:nvGrpSpPr>
        <p:grpSpPr>
          <a:xfrm>
            <a:off x="6248400" y="2868930"/>
            <a:ext cx="5410200" cy="1600200"/>
            <a:chOff x="6248400" y="2868930"/>
            <a:chExt cx="5410200" cy="1600200"/>
          </a:xfrm>
        </p:grpSpPr>
        <p:sp>
          <p:nvSpPr>
            <p:cNvPr id="38" name="Rectangle 38"/>
            <p:cNvSpPr/>
            <p:nvPr/>
          </p:nvSpPr>
          <p:spPr>
            <a:xfrm>
              <a:off x="6248400" y="2868930"/>
              <a:ext cx="541020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41516" y="29903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5436" y="2990374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06497" y="2990374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41516" y="33904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74680" y="339042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= σ₀²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31127" y="339042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≠ σ₀²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6642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366903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41516" y="37904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4680" y="379047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≥ σ₀²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31127" y="379047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&lt; σ₀²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40643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1516" y="41905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74680" y="419052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≤ σ₀²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31127" y="419052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&gt; σ₀²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86893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41895" y="286893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598342" y="286893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formula112"/>
              <p:cNvSpPr txBox="1">
                <a:spLocks noGrp="1"/>
              </p:cNvSpPr>
              <p:nvPr/>
            </p:nvSpPr>
            <p:spPr>
              <a:xfrm>
                <a:off x="6248400" y="4638675"/>
                <a:ext cx="5410200" cy="761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双边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  </m:t>
                          </m:r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或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左边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右边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χ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65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9" name="Rectangle 59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5779770"/>
              <a:ext cx="98549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χ² 分布不对称，左尾临界值要查 1 − α/2（单边为 1 − α）对应的上分位点，不能写成右尾临界值加负号。χ²α(n) 指 χ²(n) 的上 α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分位点。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62592" cy="909257"/>
            <a:chOff x="520446" y="342900"/>
            <a:chExt cx="68625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625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为什么这样定拒绝域：S² 离 σ₀² 太远就拒绝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173523" cy="2411159"/>
            <a:chOff x="533400" y="1533525"/>
            <a:chExt cx="5173523" cy="241115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看比值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4760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 是 σ² 的无偏估计。H₀：σ² = σ₀² 为真时，S²/σ₀² 应在 1 附近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7416"/>
              <a:ext cx="908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乘上 n − 1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7927"/>
              <a:ext cx="4240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− 1)S²/σ₀² 在 H₀ 下服从 χ²(n − 1)，期望正好是 n − 1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80844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两头都算异常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8957"/>
              <a:ext cx="3635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比值过小或过大都违背 H₀，双边检验两侧各取 α/2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709988"/>
              <a:ext cx="3899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H₁：σ² &gt; σ₀² 时只有 χ² 偏大才拒绝，拒绝域只在右尾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120515"/>
            <a:ext cx="5410200" cy="1545908"/>
            <a:chOff x="533400" y="4120515"/>
            <a:chExt cx="5410200" cy="1545908"/>
          </a:xfrm>
        </p:grpSpPr>
        <p:sp>
          <p:nvSpPr>
            <p:cNvPr id="25" name="Rectangle 25"/>
            <p:cNvSpPr/>
            <p:nvPr/>
          </p:nvSpPr>
          <p:spPr>
            <a:xfrm>
              <a:off x="533400" y="412051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25386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5335" y="4324350"/>
              <a:ext cx="104775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9276" y="4360069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代例4 的数字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4697254"/>
              <a:ext cx="467626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s²/σ₀² = 0.00778/0.002304 = 3.38，样本方差是假设值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3 倍多。乘以 n − 1 = 4 得 χ² = 13.51，远超过期望 4，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落在右尾。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545908"/>
            <a:chOff x="6248400" y="1524000"/>
            <a:chExt cx="5410200" cy="1545908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0335" y="1727835"/>
              <a:ext cx="131730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5908" y="1763554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μ 已知时为何是 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3096" y="2100739"/>
              <a:ext cx="471233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(Xᵢ − μ)/σ₀ 是 n 个独立的标准正态，平方和服从 χ²(n)。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未知时用样本均值代替 μ，受到 Σ(Xᵢ − 样本均值) = 0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约束，少一个自由度。</a:t>
              </a:r>
            </a:p>
          </p:txBody>
        </p:sp>
      </p:grpSp>
      <p:grpSp>
        <p:nvGrpSpPr>
          <p:cNvPr id="52" name="c2-table-2"/>
          <p:cNvGrpSpPr/>
          <p:nvPr/>
        </p:nvGrpSpPr>
        <p:grpSpPr>
          <a:xfrm>
            <a:off x="6248400" y="3255645"/>
            <a:ext cx="5410200" cy="1290638"/>
            <a:chOff x="6248400" y="3255645"/>
            <a:chExt cx="5410200" cy="1290638"/>
          </a:xfrm>
        </p:grpSpPr>
        <p:sp>
          <p:nvSpPr>
            <p:cNvPr id="37" name="Rectangle 37"/>
            <p:cNvSpPr/>
            <p:nvPr/>
          </p:nvSpPr>
          <p:spPr>
            <a:xfrm>
              <a:off x="6248400" y="3255645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92290" y="33870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13673" y="33870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07243" y="33870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自由度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20201" y="381666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已知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57971" y="3816668"/>
              <a:ext cx="1208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Σ(Xᵢ − μ)²/σ₀²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05134" y="3816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41109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411575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20201" y="424719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未知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08721" y="4247198"/>
              <a:ext cx="1106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− 1)S²/σ₀²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767822" y="4247198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255645"/>
              <a:ext cx="5410200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66698" y="325564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246995" y="325564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llout-3"/>
          <p:cNvGrpSpPr/>
          <p:nvPr/>
        </p:nvGrpSpPr>
        <p:grpSpPr>
          <a:xfrm>
            <a:off x="6248400" y="4731068"/>
            <a:ext cx="5410200" cy="935355"/>
            <a:chOff x="6248400" y="4731068"/>
            <a:chExt cx="5410200" cy="935355"/>
          </a:xfrm>
        </p:grpSpPr>
        <p:sp>
          <p:nvSpPr>
            <p:cNvPr id="53" name="Rectangle 53"/>
            <p:cNvSpPr/>
            <p:nvPr/>
          </p:nvSpPr>
          <p:spPr>
            <a:xfrm>
              <a:off x="6248400" y="4731068"/>
              <a:ext cx="5410200" cy="935355"/>
            </a:xfrm>
            <a:prstGeom prst="roundRect">
              <a:avLst>
                <a:gd name="adj" fmla="val 1222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5098733"/>
              <a:ext cx="200026" cy="200025"/>
              <a:chOff x="6453188" y="5098733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50987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92926" y="51431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27642" y="52543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511" y="496871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两种情形的拒绝域形状一样，只是自由度不同；查表前先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确认用的是 n 还是 n − 1。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04084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例：n = 5、α = 0.1 的双边检验，拒绝域是 χ² ≤ χ²₀.₉₅(4) = 0.711 或 χ² ≥ χ²₀.₀₅(4) = 9.488。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53301" cy="909257"/>
            <a:chOff x="520446" y="342900"/>
            <a:chExt cx="92533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533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例4：尼龙纤维纤度的标准差还是 0.048 吗（双边 χ² 检验）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466850"/>
            <a:chOff x="533400" y="1524000"/>
            <a:chExt cx="5951220" cy="1466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2772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某厂生产的尼龙纤维的纤度在正常情况下服从正态分布。某日抽取 5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根纤维，测得纤度为 1.32, 1.36, 1.55, 1.44, 1.40。问能否认为这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一天纤度的标准差 σ = 0.048（α = 0.1）？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3175635"/>
            <a:ext cx="5629448" cy="2487453"/>
            <a:chOff x="533400" y="3175635"/>
            <a:chExt cx="5629448" cy="2487453"/>
          </a:xfrm>
        </p:grpSpPr>
        <p:sp>
          <p:nvSpPr>
            <p:cNvPr id="13" name="Rectangle 13"/>
            <p:cNvSpPr/>
            <p:nvPr/>
          </p:nvSpPr>
          <p:spPr>
            <a:xfrm>
              <a:off x="666750" y="331851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1756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494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6237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361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3491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22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9358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0096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2070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474244"/>
              <a:ext cx="2736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未知；H₀：σ = 0.048，H₁：σ ≠ 0.048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79380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061936"/>
              <a:ext cx="5216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χ²₀.₉₅(4) = 0.711，χ²₀.₀₅(4) = 9.488，W = {χ² ≤ 0.711 或 χ² ≥ 9.488}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3805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648676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7.07/5 = 1.414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96824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样本方差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5235416"/>
              <a:ext cx="45915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 −0.094, −0.054, 0.136, 0.026, −0.014，平方和 0.03112，s²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0.03112/4 = 0.00778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121"/>
              <p:cNvSpPr txBox="1">
                <a:spLocks noGrp="1"/>
              </p:cNvSpPr>
              <p:nvPr/>
            </p:nvSpPr>
            <p:spPr>
              <a:xfrm>
                <a:off x="6789420" y="1524000"/>
                <a:ext cx="486918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χ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0.04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χ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122"/>
              <p:cNvSpPr txBox="1">
                <a:spLocks noGrp="1"/>
              </p:cNvSpPr>
              <p:nvPr/>
            </p:nvSpPr>
            <p:spPr>
              <a:xfrm>
                <a:off x="6789420" y="2187892"/>
                <a:ext cx="486918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χ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0.00778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0.04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13.51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8" name="c2-card-3"/>
          <p:cNvGrpSpPr/>
          <p:nvPr/>
        </p:nvGrpSpPr>
        <p:grpSpPr>
          <a:xfrm>
            <a:off x="6789420" y="2851785"/>
            <a:ext cx="4869180" cy="1209675"/>
            <a:chOff x="6789420" y="2851785"/>
            <a:chExt cx="4869180" cy="1209675"/>
          </a:xfrm>
        </p:grpSpPr>
        <p:sp>
          <p:nvSpPr>
            <p:cNvPr id="33" name="Rectangle 33"/>
            <p:cNvSpPr/>
            <p:nvPr/>
          </p:nvSpPr>
          <p:spPr>
            <a:xfrm>
              <a:off x="6789420" y="2851785"/>
              <a:ext cx="486918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98945" y="298513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19925" y="30441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11365" y="30784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13067" y="3400425"/>
              <a:ext cx="41370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13.51 ≥ 9.488，落入右侧拒绝域，拒绝 H₀，不能认为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这一天纤度的标准差是 0.048。</a:t>
              </a:r>
            </a:p>
          </p:txBody>
        </p:sp>
      </p:grpSp>
      <p:grpSp>
        <p:nvGrpSpPr>
          <p:cNvPr id="44" name="c2-card-4"/>
          <p:cNvGrpSpPr/>
          <p:nvPr/>
        </p:nvGrpSpPr>
        <p:grpSpPr>
          <a:xfrm>
            <a:off x="6789420" y="4235768"/>
            <a:ext cx="4869180" cy="1420178"/>
            <a:chOff x="6789420" y="4235768"/>
            <a:chExt cx="4869180" cy="1420178"/>
          </a:xfrm>
        </p:grpSpPr>
        <p:sp>
          <p:nvSpPr>
            <p:cNvPr id="39" name="Rectangle 39"/>
            <p:cNvSpPr/>
            <p:nvPr/>
          </p:nvSpPr>
          <p:spPr>
            <a:xfrm>
              <a:off x="6789420" y="4235768"/>
              <a:ext cx="4869180" cy="1420178"/>
            </a:xfrm>
            <a:prstGeom prst="roundRect">
              <a:avLst>
                <a:gd name="adj" fmla="val 93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98945" y="4369118"/>
              <a:ext cx="47625" cy="115347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19925" y="4428172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75361" y="446246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检验标准差等于检验方差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13067" y="4785360"/>
              <a:ext cx="42056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0.048 与 σ² = 0.048² = 0.002304 是同一个假设，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统计量里用的是方差。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5" name="Rectangle 4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3610"/>
              <a:ext cx="8509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本题 α = 0.1，两侧各 0.05，所以查的是 χ²₀.₉₅ 与 χ²₀.₀₅，不是 α = 0.05 时的 χ²₀.₉₇₅ 与 χ²₀.₀₂₅。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9248" cy="909257"/>
            <a:chOff x="520446" y="342900"/>
            <a:chExt cx="7359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9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 的拒绝域：χ² 分布右偏，两个临界值不对称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hA"/>
          <p:cNvGrpSpPr/>
          <p:nvPr/>
        </p:nvGrpSpPr>
        <p:grpSpPr>
          <a:xfrm>
            <a:off x="533400" y="1524000"/>
            <a:ext cx="6667500" cy="4762500"/>
            <a:chOff x="533400" y="1524000"/>
            <a:chExt cx="6667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667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3321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χ²(4) 的密度：左右两个临界值要分别查表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4752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α = 0.1，左尾、右尾各 0.05；χ²₀.₉₅(4) = 0.711，χ²₀.₀₅(4) = 9.488。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104900" y="3408998"/>
              <a:ext cx="240983" cy="1601153"/>
            </a:xfrm>
            <a:custGeom>
              <a:avLst/>
              <a:gdLst/>
              <a:ahLst/>
              <a:cxnLst/>
              <a:rect l="l" t="t" r="r" b="b"/>
              <a:pathLst>
                <a:path w="240983" h="1601153">
                  <a:moveTo>
                    <a:pt x="0" y="1601153"/>
                  </a:moveTo>
                  <a:lnTo>
                    <a:pt x="0" y="1601153"/>
                  </a:lnTo>
                  <a:lnTo>
                    <a:pt x="5715" y="1544003"/>
                  </a:lnTo>
                  <a:lnTo>
                    <a:pt x="12382" y="1488758"/>
                  </a:lnTo>
                  <a:lnTo>
                    <a:pt x="18098" y="1434465"/>
                  </a:lnTo>
                  <a:lnTo>
                    <a:pt x="23812" y="1380173"/>
                  </a:lnTo>
                  <a:lnTo>
                    <a:pt x="30480" y="1327785"/>
                  </a:lnTo>
                  <a:lnTo>
                    <a:pt x="36195" y="1276350"/>
                  </a:lnTo>
                  <a:lnTo>
                    <a:pt x="41910" y="1224915"/>
                  </a:lnTo>
                  <a:lnTo>
                    <a:pt x="48577" y="1175385"/>
                  </a:lnTo>
                  <a:lnTo>
                    <a:pt x="54293" y="1126808"/>
                  </a:lnTo>
                  <a:lnTo>
                    <a:pt x="60007" y="1078230"/>
                  </a:lnTo>
                  <a:lnTo>
                    <a:pt x="66675" y="1031558"/>
                  </a:lnTo>
                  <a:lnTo>
                    <a:pt x="72390" y="984885"/>
                  </a:lnTo>
                  <a:lnTo>
                    <a:pt x="78105" y="939165"/>
                  </a:lnTo>
                  <a:lnTo>
                    <a:pt x="84773" y="894398"/>
                  </a:lnTo>
                  <a:lnTo>
                    <a:pt x="90488" y="851535"/>
                  </a:lnTo>
                  <a:lnTo>
                    <a:pt x="96202" y="808673"/>
                  </a:lnTo>
                  <a:lnTo>
                    <a:pt x="102870" y="765810"/>
                  </a:lnTo>
                  <a:lnTo>
                    <a:pt x="108585" y="724853"/>
                  </a:lnTo>
                  <a:lnTo>
                    <a:pt x="114300" y="683895"/>
                  </a:lnTo>
                  <a:lnTo>
                    <a:pt x="120967" y="644843"/>
                  </a:lnTo>
                  <a:lnTo>
                    <a:pt x="126683" y="605790"/>
                  </a:lnTo>
                  <a:lnTo>
                    <a:pt x="132398" y="567690"/>
                  </a:lnTo>
                  <a:lnTo>
                    <a:pt x="139065" y="530543"/>
                  </a:lnTo>
                  <a:lnTo>
                    <a:pt x="144780" y="493395"/>
                  </a:lnTo>
                  <a:lnTo>
                    <a:pt x="150495" y="457200"/>
                  </a:lnTo>
                  <a:lnTo>
                    <a:pt x="157162" y="421958"/>
                  </a:lnTo>
                  <a:lnTo>
                    <a:pt x="162877" y="387668"/>
                  </a:lnTo>
                  <a:lnTo>
                    <a:pt x="168592" y="354330"/>
                  </a:lnTo>
                  <a:lnTo>
                    <a:pt x="175260" y="320993"/>
                  </a:lnTo>
                  <a:lnTo>
                    <a:pt x="180975" y="288608"/>
                  </a:lnTo>
                  <a:lnTo>
                    <a:pt x="186690" y="256223"/>
                  </a:lnTo>
                  <a:lnTo>
                    <a:pt x="193358" y="225743"/>
                  </a:lnTo>
                  <a:lnTo>
                    <a:pt x="199073" y="195262"/>
                  </a:lnTo>
                  <a:lnTo>
                    <a:pt x="204788" y="165735"/>
                  </a:lnTo>
                  <a:lnTo>
                    <a:pt x="211455" y="136208"/>
                  </a:lnTo>
                  <a:lnTo>
                    <a:pt x="217170" y="107633"/>
                  </a:lnTo>
                  <a:lnTo>
                    <a:pt x="222885" y="80010"/>
                  </a:lnTo>
                  <a:lnTo>
                    <a:pt x="229552" y="52388"/>
                  </a:lnTo>
                  <a:lnTo>
                    <a:pt x="235267" y="25718"/>
                  </a:lnTo>
                  <a:lnTo>
                    <a:pt x="240983" y="0"/>
                  </a:lnTo>
                  <a:lnTo>
                    <a:pt x="240983" y="1601153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4324350" y="4744402"/>
              <a:ext cx="2209800" cy="265747"/>
            </a:xfrm>
            <a:custGeom>
              <a:avLst/>
              <a:gdLst/>
              <a:ahLst/>
              <a:cxnLst/>
              <a:rect l="l" t="t" r="r" b="b"/>
              <a:pathLst>
                <a:path w="2209800" h="265747">
                  <a:moveTo>
                    <a:pt x="0" y="265747"/>
                  </a:moveTo>
                  <a:lnTo>
                    <a:pt x="0" y="0"/>
                  </a:lnTo>
                  <a:lnTo>
                    <a:pt x="27622" y="8572"/>
                  </a:lnTo>
                  <a:lnTo>
                    <a:pt x="55245" y="17145"/>
                  </a:lnTo>
                  <a:lnTo>
                    <a:pt x="82867" y="24765"/>
                  </a:lnTo>
                  <a:lnTo>
                    <a:pt x="110490" y="32385"/>
                  </a:lnTo>
                  <a:lnTo>
                    <a:pt x="138112" y="40005"/>
                  </a:lnTo>
                  <a:lnTo>
                    <a:pt x="165735" y="46672"/>
                  </a:lnTo>
                  <a:lnTo>
                    <a:pt x="193358" y="54292"/>
                  </a:lnTo>
                  <a:lnTo>
                    <a:pt x="220980" y="60960"/>
                  </a:lnTo>
                  <a:lnTo>
                    <a:pt x="248603" y="67627"/>
                  </a:lnTo>
                  <a:lnTo>
                    <a:pt x="276225" y="74295"/>
                  </a:lnTo>
                  <a:lnTo>
                    <a:pt x="303847" y="80010"/>
                  </a:lnTo>
                  <a:lnTo>
                    <a:pt x="331470" y="85725"/>
                  </a:lnTo>
                  <a:lnTo>
                    <a:pt x="359092" y="91440"/>
                  </a:lnTo>
                  <a:lnTo>
                    <a:pt x="386715" y="97155"/>
                  </a:lnTo>
                  <a:lnTo>
                    <a:pt x="414338" y="102870"/>
                  </a:lnTo>
                  <a:lnTo>
                    <a:pt x="441960" y="108585"/>
                  </a:lnTo>
                  <a:lnTo>
                    <a:pt x="469583" y="113347"/>
                  </a:lnTo>
                  <a:lnTo>
                    <a:pt x="497205" y="118110"/>
                  </a:lnTo>
                  <a:lnTo>
                    <a:pt x="524828" y="122872"/>
                  </a:lnTo>
                  <a:lnTo>
                    <a:pt x="552450" y="127635"/>
                  </a:lnTo>
                  <a:lnTo>
                    <a:pt x="580072" y="132397"/>
                  </a:lnTo>
                  <a:lnTo>
                    <a:pt x="607695" y="137160"/>
                  </a:lnTo>
                  <a:lnTo>
                    <a:pt x="635318" y="140970"/>
                  </a:lnTo>
                  <a:lnTo>
                    <a:pt x="662940" y="144780"/>
                  </a:lnTo>
                  <a:lnTo>
                    <a:pt x="690562" y="149542"/>
                  </a:lnTo>
                  <a:lnTo>
                    <a:pt x="718185" y="153353"/>
                  </a:lnTo>
                  <a:lnTo>
                    <a:pt x="745807" y="157162"/>
                  </a:lnTo>
                  <a:lnTo>
                    <a:pt x="773430" y="160020"/>
                  </a:lnTo>
                  <a:lnTo>
                    <a:pt x="801053" y="163830"/>
                  </a:lnTo>
                  <a:lnTo>
                    <a:pt x="828675" y="167640"/>
                  </a:lnTo>
                  <a:lnTo>
                    <a:pt x="856297" y="170497"/>
                  </a:lnTo>
                  <a:lnTo>
                    <a:pt x="883920" y="173355"/>
                  </a:lnTo>
                  <a:lnTo>
                    <a:pt x="911543" y="177165"/>
                  </a:lnTo>
                  <a:lnTo>
                    <a:pt x="939165" y="180022"/>
                  </a:lnTo>
                  <a:lnTo>
                    <a:pt x="966788" y="182880"/>
                  </a:lnTo>
                  <a:lnTo>
                    <a:pt x="994410" y="185738"/>
                  </a:lnTo>
                  <a:lnTo>
                    <a:pt x="1022032" y="188595"/>
                  </a:lnTo>
                  <a:lnTo>
                    <a:pt x="1049655" y="190500"/>
                  </a:lnTo>
                  <a:lnTo>
                    <a:pt x="1077278" y="193357"/>
                  </a:lnTo>
                  <a:lnTo>
                    <a:pt x="1104900" y="196215"/>
                  </a:lnTo>
                  <a:lnTo>
                    <a:pt x="1132522" y="198120"/>
                  </a:lnTo>
                  <a:lnTo>
                    <a:pt x="1160145" y="200025"/>
                  </a:lnTo>
                  <a:lnTo>
                    <a:pt x="1187768" y="202882"/>
                  </a:lnTo>
                  <a:lnTo>
                    <a:pt x="1215390" y="204788"/>
                  </a:lnTo>
                  <a:lnTo>
                    <a:pt x="1243012" y="206692"/>
                  </a:lnTo>
                  <a:lnTo>
                    <a:pt x="1270635" y="208597"/>
                  </a:lnTo>
                  <a:lnTo>
                    <a:pt x="1298257" y="210503"/>
                  </a:lnTo>
                  <a:lnTo>
                    <a:pt x="1325880" y="212407"/>
                  </a:lnTo>
                  <a:lnTo>
                    <a:pt x="1353503" y="214312"/>
                  </a:lnTo>
                  <a:lnTo>
                    <a:pt x="1381125" y="216217"/>
                  </a:lnTo>
                  <a:lnTo>
                    <a:pt x="1408747" y="218122"/>
                  </a:lnTo>
                  <a:lnTo>
                    <a:pt x="1436370" y="219075"/>
                  </a:lnTo>
                  <a:lnTo>
                    <a:pt x="1463993" y="220980"/>
                  </a:lnTo>
                  <a:lnTo>
                    <a:pt x="1491615" y="222885"/>
                  </a:lnTo>
                  <a:lnTo>
                    <a:pt x="1519238" y="223838"/>
                  </a:lnTo>
                  <a:lnTo>
                    <a:pt x="1546860" y="225742"/>
                  </a:lnTo>
                  <a:lnTo>
                    <a:pt x="1574482" y="226695"/>
                  </a:lnTo>
                  <a:lnTo>
                    <a:pt x="1602105" y="228600"/>
                  </a:lnTo>
                  <a:lnTo>
                    <a:pt x="1629728" y="229553"/>
                  </a:lnTo>
                  <a:lnTo>
                    <a:pt x="1657350" y="230505"/>
                  </a:lnTo>
                  <a:lnTo>
                    <a:pt x="1684972" y="232410"/>
                  </a:lnTo>
                  <a:lnTo>
                    <a:pt x="1712595" y="233362"/>
                  </a:lnTo>
                  <a:lnTo>
                    <a:pt x="1740218" y="234315"/>
                  </a:lnTo>
                  <a:lnTo>
                    <a:pt x="1767840" y="235267"/>
                  </a:lnTo>
                  <a:lnTo>
                    <a:pt x="1795462" y="236220"/>
                  </a:lnTo>
                  <a:lnTo>
                    <a:pt x="1823085" y="237172"/>
                  </a:lnTo>
                  <a:lnTo>
                    <a:pt x="1850707" y="238125"/>
                  </a:lnTo>
                  <a:lnTo>
                    <a:pt x="1878330" y="239078"/>
                  </a:lnTo>
                  <a:lnTo>
                    <a:pt x="1905953" y="240030"/>
                  </a:lnTo>
                  <a:lnTo>
                    <a:pt x="1933575" y="240982"/>
                  </a:lnTo>
                  <a:lnTo>
                    <a:pt x="1961197" y="241935"/>
                  </a:lnTo>
                  <a:lnTo>
                    <a:pt x="1988820" y="242888"/>
                  </a:lnTo>
                  <a:lnTo>
                    <a:pt x="2016443" y="243840"/>
                  </a:lnTo>
                  <a:lnTo>
                    <a:pt x="2044065" y="244792"/>
                  </a:lnTo>
                  <a:lnTo>
                    <a:pt x="2071688" y="244792"/>
                  </a:lnTo>
                  <a:lnTo>
                    <a:pt x="2099310" y="245745"/>
                  </a:lnTo>
                  <a:lnTo>
                    <a:pt x="2126932" y="246697"/>
                  </a:lnTo>
                  <a:lnTo>
                    <a:pt x="2154555" y="247650"/>
                  </a:lnTo>
                  <a:lnTo>
                    <a:pt x="2182178" y="247650"/>
                  </a:lnTo>
                  <a:lnTo>
                    <a:pt x="2209800" y="248603"/>
                  </a:lnTo>
                  <a:lnTo>
                    <a:pt x="2209800" y="265747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2" name="Polygon 12"/>
            <p:cNvSpPr/>
            <p:nvPr/>
          </p:nvSpPr>
          <p:spPr>
            <a:xfrm>
              <a:off x="1345882" y="2645092"/>
              <a:ext cx="2978468" cy="2365058"/>
            </a:xfrm>
            <a:custGeom>
              <a:avLst/>
              <a:gdLst/>
              <a:ahLst/>
              <a:cxnLst/>
              <a:rect l="l" t="t" r="r" b="b"/>
              <a:pathLst>
                <a:path w="2978468" h="2365058">
                  <a:moveTo>
                    <a:pt x="0" y="2365058"/>
                  </a:moveTo>
                  <a:lnTo>
                    <a:pt x="0" y="763905"/>
                  </a:lnTo>
                  <a:lnTo>
                    <a:pt x="19050" y="686753"/>
                  </a:lnTo>
                  <a:lnTo>
                    <a:pt x="37147" y="615315"/>
                  </a:lnTo>
                  <a:lnTo>
                    <a:pt x="56197" y="548640"/>
                  </a:lnTo>
                  <a:lnTo>
                    <a:pt x="74295" y="486728"/>
                  </a:lnTo>
                  <a:lnTo>
                    <a:pt x="93345" y="429578"/>
                  </a:lnTo>
                  <a:lnTo>
                    <a:pt x="111442" y="377190"/>
                  </a:lnTo>
                  <a:lnTo>
                    <a:pt x="130492" y="329565"/>
                  </a:lnTo>
                  <a:lnTo>
                    <a:pt x="149542" y="284798"/>
                  </a:lnTo>
                  <a:lnTo>
                    <a:pt x="167640" y="244792"/>
                  </a:lnTo>
                  <a:lnTo>
                    <a:pt x="186690" y="208598"/>
                  </a:lnTo>
                  <a:lnTo>
                    <a:pt x="204788" y="175260"/>
                  </a:lnTo>
                  <a:lnTo>
                    <a:pt x="223838" y="145733"/>
                  </a:lnTo>
                  <a:lnTo>
                    <a:pt x="241935" y="119062"/>
                  </a:lnTo>
                  <a:lnTo>
                    <a:pt x="260985" y="95250"/>
                  </a:lnTo>
                  <a:lnTo>
                    <a:pt x="279082" y="75248"/>
                  </a:lnTo>
                  <a:lnTo>
                    <a:pt x="298132" y="57150"/>
                  </a:lnTo>
                  <a:lnTo>
                    <a:pt x="316230" y="41910"/>
                  </a:lnTo>
                  <a:lnTo>
                    <a:pt x="335280" y="29528"/>
                  </a:lnTo>
                  <a:lnTo>
                    <a:pt x="354330" y="19050"/>
                  </a:lnTo>
                  <a:lnTo>
                    <a:pt x="372427" y="11430"/>
                  </a:lnTo>
                  <a:lnTo>
                    <a:pt x="391477" y="5715"/>
                  </a:lnTo>
                  <a:lnTo>
                    <a:pt x="409575" y="1905"/>
                  </a:lnTo>
                  <a:lnTo>
                    <a:pt x="428625" y="0"/>
                  </a:lnTo>
                  <a:lnTo>
                    <a:pt x="446722" y="0"/>
                  </a:lnTo>
                  <a:lnTo>
                    <a:pt x="465772" y="1905"/>
                  </a:lnTo>
                  <a:lnTo>
                    <a:pt x="483870" y="4762"/>
                  </a:lnTo>
                  <a:lnTo>
                    <a:pt x="502920" y="10478"/>
                  </a:lnTo>
                  <a:lnTo>
                    <a:pt x="521017" y="16192"/>
                  </a:lnTo>
                  <a:lnTo>
                    <a:pt x="540067" y="23812"/>
                  </a:lnTo>
                  <a:lnTo>
                    <a:pt x="558165" y="33338"/>
                  </a:lnTo>
                  <a:lnTo>
                    <a:pt x="577215" y="43815"/>
                  </a:lnTo>
                  <a:lnTo>
                    <a:pt x="596265" y="55245"/>
                  </a:lnTo>
                  <a:lnTo>
                    <a:pt x="614362" y="67628"/>
                  </a:lnTo>
                  <a:lnTo>
                    <a:pt x="633412" y="80962"/>
                  </a:lnTo>
                  <a:lnTo>
                    <a:pt x="651510" y="95250"/>
                  </a:lnTo>
                  <a:lnTo>
                    <a:pt x="670560" y="110490"/>
                  </a:lnTo>
                  <a:lnTo>
                    <a:pt x="688657" y="126683"/>
                  </a:lnTo>
                  <a:lnTo>
                    <a:pt x="707707" y="143828"/>
                  </a:lnTo>
                  <a:lnTo>
                    <a:pt x="725805" y="161925"/>
                  </a:lnTo>
                  <a:lnTo>
                    <a:pt x="744855" y="180023"/>
                  </a:lnTo>
                  <a:lnTo>
                    <a:pt x="762952" y="199073"/>
                  </a:lnTo>
                  <a:lnTo>
                    <a:pt x="782002" y="218123"/>
                  </a:lnTo>
                  <a:lnTo>
                    <a:pt x="801052" y="238125"/>
                  </a:lnTo>
                  <a:lnTo>
                    <a:pt x="819150" y="259080"/>
                  </a:lnTo>
                  <a:lnTo>
                    <a:pt x="838200" y="280035"/>
                  </a:lnTo>
                  <a:lnTo>
                    <a:pt x="856297" y="301942"/>
                  </a:lnTo>
                  <a:lnTo>
                    <a:pt x="875347" y="322898"/>
                  </a:lnTo>
                  <a:lnTo>
                    <a:pt x="893445" y="345758"/>
                  </a:lnTo>
                  <a:lnTo>
                    <a:pt x="912495" y="367665"/>
                  </a:lnTo>
                  <a:lnTo>
                    <a:pt x="930592" y="390525"/>
                  </a:lnTo>
                  <a:lnTo>
                    <a:pt x="949642" y="413385"/>
                  </a:lnTo>
                  <a:lnTo>
                    <a:pt x="967740" y="436245"/>
                  </a:lnTo>
                  <a:lnTo>
                    <a:pt x="986790" y="460058"/>
                  </a:lnTo>
                  <a:lnTo>
                    <a:pt x="1004888" y="482917"/>
                  </a:lnTo>
                  <a:lnTo>
                    <a:pt x="1023938" y="506730"/>
                  </a:lnTo>
                  <a:lnTo>
                    <a:pt x="1042988" y="530542"/>
                  </a:lnTo>
                  <a:lnTo>
                    <a:pt x="1061085" y="554355"/>
                  </a:lnTo>
                  <a:lnTo>
                    <a:pt x="1080135" y="578167"/>
                  </a:lnTo>
                  <a:lnTo>
                    <a:pt x="1098232" y="601980"/>
                  </a:lnTo>
                  <a:lnTo>
                    <a:pt x="1117282" y="625792"/>
                  </a:lnTo>
                  <a:lnTo>
                    <a:pt x="1135380" y="649605"/>
                  </a:lnTo>
                  <a:lnTo>
                    <a:pt x="1154430" y="673417"/>
                  </a:lnTo>
                  <a:lnTo>
                    <a:pt x="1172527" y="697230"/>
                  </a:lnTo>
                  <a:lnTo>
                    <a:pt x="1191577" y="721042"/>
                  </a:lnTo>
                  <a:lnTo>
                    <a:pt x="1209675" y="744855"/>
                  </a:lnTo>
                  <a:lnTo>
                    <a:pt x="1228725" y="768667"/>
                  </a:lnTo>
                  <a:lnTo>
                    <a:pt x="1247775" y="791528"/>
                  </a:lnTo>
                  <a:lnTo>
                    <a:pt x="1265872" y="815340"/>
                  </a:lnTo>
                  <a:lnTo>
                    <a:pt x="1284922" y="838200"/>
                  </a:lnTo>
                  <a:lnTo>
                    <a:pt x="1303020" y="862012"/>
                  </a:lnTo>
                  <a:lnTo>
                    <a:pt x="1322070" y="884873"/>
                  </a:lnTo>
                  <a:lnTo>
                    <a:pt x="1340168" y="907733"/>
                  </a:lnTo>
                  <a:lnTo>
                    <a:pt x="1359218" y="930592"/>
                  </a:lnTo>
                  <a:lnTo>
                    <a:pt x="1377315" y="953453"/>
                  </a:lnTo>
                  <a:lnTo>
                    <a:pt x="1396365" y="975360"/>
                  </a:lnTo>
                  <a:lnTo>
                    <a:pt x="1414462" y="997267"/>
                  </a:lnTo>
                  <a:lnTo>
                    <a:pt x="1433512" y="1020128"/>
                  </a:lnTo>
                  <a:lnTo>
                    <a:pt x="1452562" y="1041083"/>
                  </a:lnTo>
                  <a:lnTo>
                    <a:pt x="1470660" y="1062990"/>
                  </a:lnTo>
                  <a:lnTo>
                    <a:pt x="1489710" y="1084898"/>
                  </a:lnTo>
                  <a:lnTo>
                    <a:pt x="1507808" y="1105853"/>
                  </a:lnTo>
                  <a:lnTo>
                    <a:pt x="1526858" y="1126808"/>
                  </a:lnTo>
                  <a:lnTo>
                    <a:pt x="1544955" y="1147762"/>
                  </a:lnTo>
                  <a:lnTo>
                    <a:pt x="1564005" y="1168718"/>
                  </a:lnTo>
                  <a:lnTo>
                    <a:pt x="1582102" y="1188720"/>
                  </a:lnTo>
                  <a:lnTo>
                    <a:pt x="1601152" y="1208723"/>
                  </a:lnTo>
                  <a:lnTo>
                    <a:pt x="1619250" y="1228725"/>
                  </a:lnTo>
                  <a:lnTo>
                    <a:pt x="1638300" y="1248728"/>
                  </a:lnTo>
                  <a:lnTo>
                    <a:pt x="1656397" y="1267778"/>
                  </a:lnTo>
                  <a:lnTo>
                    <a:pt x="1675447" y="1286828"/>
                  </a:lnTo>
                  <a:lnTo>
                    <a:pt x="1694497" y="1305878"/>
                  </a:lnTo>
                  <a:lnTo>
                    <a:pt x="1712595" y="1324928"/>
                  </a:lnTo>
                  <a:lnTo>
                    <a:pt x="1731645" y="1343025"/>
                  </a:lnTo>
                  <a:lnTo>
                    <a:pt x="1749742" y="1361123"/>
                  </a:lnTo>
                  <a:lnTo>
                    <a:pt x="1768792" y="1379220"/>
                  </a:lnTo>
                  <a:lnTo>
                    <a:pt x="1786890" y="1397318"/>
                  </a:lnTo>
                  <a:lnTo>
                    <a:pt x="1805940" y="1414462"/>
                  </a:lnTo>
                  <a:lnTo>
                    <a:pt x="1824038" y="1432560"/>
                  </a:lnTo>
                  <a:lnTo>
                    <a:pt x="1843088" y="1449705"/>
                  </a:lnTo>
                  <a:lnTo>
                    <a:pt x="1861185" y="1465898"/>
                  </a:lnTo>
                  <a:lnTo>
                    <a:pt x="1880235" y="1483042"/>
                  </a:lnTo>
                  <a:lnTo>
                    <a:pt x="1899285" y="1499235"/>
                  </a:lnTo>
                  <a:lnTo>
                    <a:pt x="1917382" y="1515428"/>
                  </a:lnTo>
                  <a:lnTo>
                    <a:pt x="1936432" y="1530668"/>
                  </a:lnTo>
                  <a:lnTo>
                    <a:pt x="1954530" y="1546860"/>
                  </a:lnTo>
                  <a:lnTo>
                    <a:pt x="1973580" y="1562100"/>
                  </a:lnTo>
                  <a:lnTo>
                    <a:pt x="1991677" y="1577340"/>
                  </a:lnTo>
                  <a:lnTo>
                    <a:pt x="2010727" y="1591628"/>
                  </a:lnTo>
                  <a:lnTo>
                    <a:pt x="2028825" y="1606868"/>
                  </a:lnTo>
                  <a:lnTo>
                    <a:pt x="2047875" y="1621155"/>
                  </a:lnTo>
                  <a:lnTo>
                    <a:pt x="2065972" y="1635442"/>
                  </a:lnTo>
                  <a:lnTo>
                    <a:pt x="2085022" y="1649730"/>
                  </a:lnTo>
                  <a:lnTo>
                    <a:pt x="2104072" y="1663065"/>
                  </a:lnTo>
                  <a:lnTo>
                    <a:pt x="2122170" y="1676400"/>
                  </a:lnTo>
                  <a:lnTo>
                    <a:pt x="2141220" y="1689735"/>
                  </a:lnTo>
                  <a:lnTo>
                    <a:pt x="2159318" y="1703070"/>
                  </a:lnTo>
                  <a:lnTo>
                    <a:pt x="2178368" y="1716405"/>
                  </a:lnTo>
                  <a:lnTo>
                    <a:pt x="2196465" y="1728788"/>
                  </a:lnTo>
                  <a:lnTo>
                    <a:pt x="2215515" y="1741170"/>
                  </a:lnTo>
                  <a:lnTo>
                    <a:pt x="2233612" y="1753553"/>
                  </a:lnTo>
                  <a:lnTo>
                    <a:pt x="2252662" y="1765935"/>
                  </a:lnTo>
                  <a:lnTo>
                    <a:pt x="2270760" y="1777365"/>
                  </a:lnTo>
                  <a:lnTo>
                    <a:pt x="2289810" y="1788795"/>
                  </a:lnTo>
                  <a:lnTo>
                    <a:pt x="2307908" y="1801178"/>
                  </a:lnTo>
                  <a:lnTo>
                    <a:pt x="2326958" y="1811655"/>
                  </a:lnTo>
                  <a:lnTo>
                    <a:pt x="2346008" y="1823085"/>
                  </a:lnTo>
                  <a:lnTo>
                    <a:pt x="2364105" y="1833562"/>
                  </a:lnTo>
                  <a:lnTo>
                    <a:pt x="2383155" y="1844992"/>
                  </a:lnTo>
                  <a:lnTo>
                    <a:pt x="2401252" y="1855470"/>
                  </a:lnTo>
                  <a:lnTo>
                    <a:pt x="2420302" y="1864995"/>
                  </a:lnTo>
                  <a:lnTo>
                    <a:pt x="2438400" y="1875473"/>
                  </a:lnTo>
                  <a:lnTo>
                    <a:pt x="2457450" y="1884998"/>
                  </a:lnTo>
                  <a:lnTo>
                    <a:pt x="2475548" y="1895475"/>
                  </a:lnTo>
                  <a:lnTo>
                    <a:pt x="2494598" y="1905000"/>
                  </a:lnTo>
                  <a:lnTo>
                    <a:pt x="2512695" y="1914525"/>
                  </a:lnTo>
                  <a:lnTo>
                    <a:pt x="2531745" y="1923098"/>
                  </a:lnTo>
                  <a:lnTo>
                    <a:pt x="2550795" y="1932623"/>
                  </a:lnTo>
                  <a:lnTo>
                    <a:pt x="2568892" y="1941195"/>
                  </a:lnTo>
                  <a:lnTo>
                    <a:pt x="2587942" y="1949768"/>
                  </a:lnTo>
                  <a:lnTo>
                    <a:pt x="2606040" y="1958340"/>
                  </a:lnTo>
                  <a:lnTo>
                    <a:pt x="2625090" y="1966912"/>
                  </a:lnTo>
                  <a:lnTo>
                    <a:pt x="2643188" y="1975485"/>
                  </a:lnTo>
                  <a:lnTo>
                    <a:pt x="2662238" y="1983105"/>
                  </a:lnTo>
                  <a:lnTo>
                    <a:pt x="2680335" y="1991678"/>
                  </a:lnTo>
                  <a:lnTo>
                    <a:pt x="2699385" y="1999298"/>
                  </a:lnTo>
                  <a:lnTo>
                    <a:pt x="2717482" y="2006918"/>
                  </a:lnTo>
                  <a:lnTo>
                    <a:pt x="2736532" y="2014538"/>
                  </a:lnTo>
                  <a:lnTo>
                    <a:pt x="2754630" y="2021205"/>
                  </a:lnTo>
                  <a:lnTo>
                    <a:pt x="2773680" y="2028825"/>
                  </a:lnTo>
                  <a:lnTo>
                    <a:pt x="2792730" y="2035492"/>
                  </a:lnTo>
                  <a:lnTo>
                    <a:pt x="2810827" y="2043112"/>
                  </a:lnTo>
                  <a:lnTo>
                    <a:pt x="2829877" y="2049780"/>
                  </a:lnTo>
                  <a:lnTo>
                    <a:pt x="2847975" y="2056448"/>
                  </a:lnTo>
                  <a:lnTo>
                    <a:pt x="2867025" y="2063115"/>
                  </a:lnTo>
                  <a:lnTo>
                    <a:pt x="2885122" y="2069782"/>
                  </a:lnTo>
                  <a:lnTo>
                    <a:pt x="2904172" y="2075498"/>
                  </a:lnTo>
                  <a:lnTo>
                    <a:pt x="2922270" y="2082165"/>
                  </a:lnTo>
                  <a:lnTo>
                    <a:pt x="2941320" y="2087880"/>
                  </a:lnTo>
                  <a:lnTo>
                    <a:pt x="2959418" y="2093595"/>
                  </a:lnTo>
                  <a:lnTo>
                    <a:pt x="2978468" y="2099310"/>
                  </a:lnTo>
                  <a:lnTo>
                    <a:pt x="2978468" y="2365058"/>
                  </a:lnTo>
                  <a:close/>
                </a:path>
              </a:pathLst>
            </a:custGeom>
            <a:solidFill>
              <a:srgbClr val="D6DFF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104900" y="5010150"/>
              <a:ext cx="5476875" cy="9525"/>
            </a:xfrm>
            <a:custGeom>
              <a:avLst/>
              <a:gdLst/>
              <a:ahLst/>
              <a:cxnLst/>
              <a:rect l="l" t="t" r="r" b="b"/>
              <a:pathLst>
                <a:path w="5476875" h="9525">
                  <a:moveTo>
                    <a:pt x="0" y="0"/>
                  </a:moveTo>
                  <a:lnTo>
                    <a:pt x="54768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81775" y="498014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90741" y="4944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104900" y="2428875"/>
              <a:ext cx="9525" cy="2581275"/>
            </a:xfrm>
            <a:custGeom>
              <a:avLst/>
              <a:gdLst/>
              <a:ahLst/>
              <a:cxnLst/>
              <a:rect l="l" t="t" r="r" b="b"/>
              <a:pathLst>
                <a:path w="9525" h="2581275">
                  <a:moveTo>
                    <a:pt x="0" y="25812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1074896" y="236220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75766" y="22869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04900" y="2645092"/>
              <a:ext cx="5429250" cy="2365058"/>
            </a:xfrm>
            <a:custGeom>
              <a:avLst/>
              <a:gdLst/>
              <a:ahLst/>
              <a:cxnLst/>
              <a:rect l="l" t="t" r="r" b="b"/>
              <a:pathLst>
                <a:path w="5429250" h="2365058">
                  <a:moveTo>
                    <a:pt x="0" y="2365058"/>
                  </a:moveTo>
                  <a:lnTo>
                    <a:pt x="18098" y="2197418"/>
                  </a:lnTo>
                  <a:lnTo>
                    <a:pt x="36195" y="2039303"/>
                  </a:lnTo>
                  <a:lnTo>
                    <a:pt x="54293" y="1889760"/>
                  </a:lnTo>
                  <a:lnTo>
                    <a:pt x="72390" y="1748790"/>
                  </a:lnTo>
                  <a:lnTo>
                    <a:pt x="90488" y="1614488"/>
                  </a:lnTo>
                  <a:lnTo>
                    <a:pt x="108585" y="1487805"/>
                  </a:lnTo>
                  <a:lnTo>
                    <a:pt x="126683" y="1368742"/>
                  </a:lnTo>
                  <a:lnTo>
                    <a:pt x="144780" y="1256348"/>
                  </a:lnTo>
                  <a:lnTo>
                    <a:pt x="162877" y="1150620"/>
                  </a:lnTo>
                  <a:lnTo>
                    <a:pt x="180975" y="1051560"/>
                  </a:lnTo>
                  <a:lnTo>
                    <a:pt x="199073" y="958215"/>
                  </a:lnTo>
                  <a:lnTo>
                    <a:pt x="217170" y="870585"/>
                  </a:lnTo>
                  <a:lnTo>
                    <a:pt x="235267" y="788670"/>
                  </a:lnTo>
                  <a:lnTo>
                    <a:pt x="253365" y="712470"/>
                  </a:lnTo>
                  <a:lnTo>
                    <a:pt x="271462" y="641033"/>
                  </a:lnTo>
                  <a:lnTo>
                    <a:pt x="289560" y="574358"/>
                  </a:lnTo>
                  <a:lnTo>
                    <a:pt x="307658" y="512445"/>
                  </a:lnTo>
                  <a:lnTo>
                    <a:pt x="325755" y="455295"/>
                  </a:lnTo>
                  <a:lnTo>
                    <a:pt x="343852" y="401955"/>
                  </a:lnTo>
                  <a:lnTo>
                    <a:pt x="361950" y="353378"/>
                  </a:lnTo>
                  <a:lnTo>
                    <a:pt x="380048" y="308610"/>
                  </a:lnTo>
                  <a:lnTo>
                    <a:pt x="398145" y="266700"/>
                  </a:lnTo>
                  <a:lnTo>
                    <a:pt x="416242" y="229553"/>
                  </a:lnTo>
                  <a:lnTo>
                    <a:pt x="434340" y="195262"/>
                  </a:lnTo>
                  <a:lnTo>
                    <a:pt x="452438" y="164783"/>
                  </a:lnTo>
                  <a:lnTo>
                    <a:pt x="470535" y="136208"/>
                  </a:lnTo>
                  <a:lnTo>
                    <a:pt x="488633" y="111442"/>
                  </a:lnTo>
                  <a:lnTo>
                    <a:pt x="506730" y="89535"/>
                  </a:lnTo>
                  <a:lnTo>
                    <a:pt x="524828" y="70485"/>
                  </a:lnTo>
                  <a:lnTo>
                    <a:pt x="542925" y="54292"/>
                  </a:lnTo>
                  <a:lnTo>
                    <a:pt x="561022" y="40005"/>
                  </a:lnTo>
                  <a:lnTo>
                    <a:pt x="579120" y="27623"/>
                  </a:lnTo>
                  <a:lnTo>
                    <a:pt x="597217" y="18098"/>
                  </a:lnTo>
                  <a:lnTo>
                    <a:pt x="615315" y="10478"/>
                  </a:lnTo>
                  <a:lnTo>
                    <a:pt x="633412" y="5715"/>
                  </a:lnTo>
                  <a:lnTo>
                    <a:pt x="651510" y="1905"/>
                  </a:lnTo>
                  <a:lnTo>
                    <a:pt x="669608" y="0"/>
                  </a:lnTo>
                  <a:lnTo>
                    <a:pt x="687705" y="0"/>
                  </a:lnTo>
                  <a:lnTo>
                    <a:pt x="705802" y="1905"/>
                  </a:lnTo>
                  <a:lnTo>
                    <a:pt x="723900" y="4762"/>
                  </a:lnTo>
                  <a:lnTo>
                    <a:pt x="741998" y="9525"/>
                  </a:lnTo>
                  <a:lnTo>
                    <a:pt x="760095" y="15240"/>
                  </a:lnTo>
                  <a:lnTo>
                    <a:pt x="778192" y="22860"/>
                  </a:lnTo>
                  <a:lnTo>
                    <a:pt x="796290" y="31433"/>
                  </a:lnTo>
                  <a:lnTo>
                    <a:pt x="814388" y="40958"/>
                  </a:lnTo>
                  <a:lnTo>
                    <a:pt x="832485" y="52388"/>
                  </a:lnTo>
                  <a:lnTo>
                    <a:pt x="850583" y="63817"/>
                  </a:lnTo>
                  <a:lnTo>
                    <a:pt x="868680" y="77153"/>
                  </a:lnTo>
                  <a:lnTo>
                    <a:pt x="886778" y="90488"/>
                  </a:lnTo>
                  <a:lnTo>
                    <a:pt x="904875" y="105728"/>
                  </a:lnTo>
                  <a:lnTo>
                    <a:pt x="922972" y="120967"/>
                  </a:lnTo>
                  <a:lnTo>
                    <a:pt x="941070" y="137160"/>
                  </a:lnTo>
                  <a:lnTo>
                    <a:pt x="959167" y="154305"/>
                  </a:lnTo>
                  <a:lnTo>
                    <a:pt x="977265" y="171450"/>
                  </a:lnTo>
                  <a:lnTo>
                    <a:pt x="995362" y="189548"/>
                  </a:lnTo>
                  <a:lnTo>
                    <a:pt x="1013460" y="208598"/>
                  </a:lnTo>
                  <a:lnTo>
                    <a:pt x="1031558" y="227648"/>
                  </a:lnTo>
                  <a:lnTo>
                    <a:pt x="1049655" y="247650"/>
                  </a:lnTo>
                  <a:lnTo>
                    <a:pt x="1067752" y="267653"/>
                  </a:lnTo>
                  <a:lnTo>
                    <a:pt x="1085850" y="288608"/>
                  </a:lnTo>
                  <a:lnTo>
                    <a:pt x="1103948" y="309562"/>
                  </a:lnTo>
                  <a:lnTo>
                    <a:pt x="1122045" y="330517"/>
                  </a:lnTo>
                  <a:lnTo>
                    <a:pt x="1140142" y="352425"/>
                  </a:lnTo>
                  <a:lnTo>
                    <a:pt x="1158240" y="374333"/>
                  </a:lnTo>
                  <a:lnTo>
                    <a:pt x="1176338" y="396240"/>
                  </a:lnTo>
                  <a:lnTo>
                    <a:pt x="1194435" y="418148"/>
                  </a:lnTo>
                  <a:lnTo>
                    <a:pt x="1212532" y="441008"/>
                  </a:lnTo>
                  <a:lnTo>
                    <a:pt x="1230630" y="463867"/>
                  </a:lnTo>
                  <a:lnTo>
                    <a:pt x="1248728" y="486728"/>
                  </a:lnTo>
                  <a:lnTo>
                    <a:pt x="1266825" y="509588"/>
                  </a:lnTo>
                  <a:lnTo>
                    <a:pt x="1284922" y="532448"/>
                  </a:lnTo>
                  <a:lnTo>
                    <a:pt x="1303020" y="555308"/>
                  </a:lnTo>
                  <a:lnTo>
                    <a:pt x="1321118" y="578167"/>
                  </a:lnTo>
                  <a:lnTo>
                    <a:pt x="1339215" y="601980"/>
                  </a:lnTo>
                  <a:lnTo>
                    <a:pt x="1357312" y="624840"/>
                  </a:lnTo>
                  <a:lnTo>
                    <a:pt x="1375410" y="647700"/>
                  </a:lnTo>
                  <a:lnTo>
                    <a:pt x="1393508" y="671512"/>
                  </a:lnTo>
                  <a:lnTo>
                    <a:pt x="1411605" y="694373"/>
                  </a:lnTo>
                  <a:lnTo>
                    <a:pt x="1429703" y="717233"/>
                  </a:lnTo>
                  <a:lnTo>
                    <a:pt x="1447800" y="740092"/>
                  </a:lnTo>
                  <a:lnTo>
                    <a:pt x="1465897" y="763905"/>
                  </a:lnTo>
                  <a:lnTo>
                    <a:pt x="1483995" y="786765"/>
                  </a:lnTo>
                  <a:lnTo>
                    <a:pt x="1502092" y="809625"/>
                  </a:lnTo>
                  <a:lnTo>
                    <a:pt x="1520190" y="831533"/>
                  </a:lnTo>
                  <a:lnTo>
                    <a:pt x="1538288" y="854392"/>
                  </a:lnTo>
                  <a:lnTo>
                    <a:pt x="1556385" y="877253"/>
                  </a:lnTo>
                  <a:lnTo>
                    <a:pt x="1574482" y="899160"/>
                  </a:lnTo>
                  <a:lnTo>
                    <a:pt x="1592580" y="921067"/>
                  </a:lnTo>
                  <a:lnTo>
                    <a:pt x="1610678" y="942975"/>
                  </a:lnTo>
                  <a:lnTo>
                    <a:pt x="1628775" y="964883"/>
                  </a:lnTo>
                  <a:lnTo>
                    <a:pt x="1646872" y="986790"/>
                  </a:lnTo>
                  <a:lnTo>
                    <a:pt x="1664970" y="1008698"/>
                  </a:lnTo>
                  <a:lnTo>
                    <a:pt x="1683068" y="1029653"/>
                  </a:lnTo>
                  <a:lnTo>
                    <a:pt x="1701165" y="1050608"/>
                  </a:lnTo>
                  <a:lnTo>
                    <a:pt x="1719262" y="1071562"/>
                  </a:lnTo>
                  <a:lnTo>
                    <a:pt x="1737360" y="1092518"/>
                  </a:lnTo>
                  <a:lnTo>
                    <a:pt x="1755458" y="1113473"/>
                  </a:lnTo>
                  <a:lnTo>
                    <a:pt x="1773555" y="1133475"/>
                  </a:lnTo>
                  <a:lnTo>
                    <a:pt x="1791653" y="1153478"/>
                  </a:lnTo>
                  <a:lnTo>
                    <a:pt x="1809750" y="1173480"/>
                  </a:lnTo>
                  <a:lnTo>
                    <a:pt x="1827847" y="1193482"/>
                  </a:lnTo>
                  <a:lnTo>
                    <a:pt x="1845945" y="1213485"/>
                  </a:lnTo>
                  <a:lnTo>
                    <a:pt x="1864042" y="1232535"/>
                  </a:lnTo>
                  <a:lnTo>
                    <a:pt x="1882140" y="1251585"/>
                  </a:lnTo>
                  <a:lnTo>
                    <a:pt x="1900238" y="1270635"/>
                  </a:lnTo>
                  <a:lnTo>
                    <a:pt x="1918335" y="1288732"/>
                  </a:lnTo>
                  <a:lnTo>
                    <a:pt x="1936432" y="1307782"/>
                  </a:lnTo>
                  <a:lnTo>
                    <a:pt x="1954530" y="1325880"/>
                  </a:lnTo>
                  <a:lnTo>
                    <a:pt x="1972628" y="1343978"/>
                  </a:lnTo>
                  <a:lnTo>
                    <a:pt x="1990725" y="1361123"/>
                  </a:lnTo>
                  <a:lnTo>
                    <a:pt x="2008822" y="1379220"/>
                  </a:lnTo>
                  <a:lnTo>
                    <a:pt x="2026920" y="1396365"/>
                  </a:lnTo>
                  <a:lnTo>
                    <a:pt x="2045018" y="1413510"/>
                  </a:lnTo>
                  <a:lnTo>
                    <a:pt x="2063115" y="1429703"/>
                  </a:lnTo>
                  <a:lnTo>
                    <a:pt x="2081212" y="1446848"/>
                  </a:lnTo>
                  <a:lnTo>
                    <a:pt x="2099310" y="1463040"/>
                  </a:lnTo>
                  <a:lnTo>
                    <a:pt x="2117408" y="1479232"/>
                  </a:lnTo>
                  <a:lnTo>
                    <a:pt x="2135505" y="1495425"/>
                  </a:lnTo>
                  <a:lnTo>
                    <a:pt x="2153602" y="1510665"/>
                  </a:lnTo>
                  <a:lnTo>
                    <a:pt x="2171700" y="1526858"/>
                  </a:lnTo>
                  <a:lnTo>
                    <a:pt x="2189798" y="1542098"/>
                  </a:lnTo>
                  <a:lnTo>
                    <a:pt x="2207895" y="1556385"/>
                  </a:lnTo>
                  <a:lnTo>
                    <a:pt x="2225992" y="1571625"/>
                  </a:lnTo>
                  <a:lnTo>
                    <a:pt x="2244090" y="1585912"/>
                  </a:lnTo>
                  <a:lnTo>
                    <a:pt x="2262188" y="1600200"/>
                  </a:lnTo>
                  <a:lnTo>
                    <a:pt x="2280285" y="1614488"/>
                  </a:lnTo>
                  <a:lnTo>
                    <a:pt x="2298382" y="1628775"/>
                  </a:lnTo>
                  <a:lnTo>
                    <a:pt x="2316480" y="1642110"/>
                  </a:lnTo>
                  <a:lnTo>
                    <a:pt x="2334578" y="1655445"/>
                  </a:lnTo>
                  <a:lnTo>
                    <a:pt x="2352675" y="1668780"/>
                  </a:lnTo>
                  <a:lnTo>
                    <a:pt x="2370772" y="1682115"/>
                  </a:lnTo>
                  <a:lnTo>
                    <a:pt x="2388870" y="1695450"/>
                  </a:lnTo>
                  <a:lnTo>
                    <a:pt x="2406968" y="1707832"/>
                  </a:lnTo>
                  <a:lnTo>
                    <a:pt x="2425065" y="1720215"/>
                  </a:lnTo>
                  <a:lnTo>
                    <a:pt x="2443162" y="1732598"/>
                  </a:lnTo>
                  <a:lnTo>
                    <a:pt x="2461260" y="1744980"/>
                  </a:lnTo>
                  <a:lnTo>
                    <a:pt x="2479358" y="1756410"/>
                  </a:lnTo>
                  <a:lnTo>
                    <a:pt x="2497455" y="1767840"/>
                  </a:lnTo>
                  <a:lnTo>
                    <a:pt x="2515552" y="1780223"/>
                  </a:lnTo>
                  <a:lnTo>
                    <a:pt x="2533650" y="1790700"/>
                  </a:lnTo>
                  <a:lnTo>
                    <a:pt x="2551748" y="1802130"/>
                  </a:lnTo>
                  <a:lnTo>
                    <a:pt x="2569845" y="1813560"/>
                  </a:lnTo>
                  <a:lnTo>
                    <a:pt x="2587942" y="1824038"/>
                  </a:lnTo>
                  <a:lnTo>
                    <a:pt x="2606040" y="1834515"/>
                  </a:lnTo>
                  <a:lnTo>
                    <a:pt x="2624138" y="1844992"/>
                  </a:lnTo>
                  <a:lnTo>
                    <a:pt x="2642235" y="1854518"/>
                  </a:lnTo>
                  <a:lnTo>
                    <a:pt x="2660332" y="1864995"/>
                  </a:lnTo>
                  <a:lnTo>
                    <a:pt x="2678430" y="1874520"/>
                  </a:lnTo>
                  <a:lnTo>
                    <a:pt x="2696528" y="1884998"/>
                  </a:lnTo>
                  <a:lnTo>
                    <a:pt x="2714625" y="1893570"/>
                  </a:lnTo>
                  <a:lnTo>
                    <a:pt x="2732722" y="1903095"/>
                  </a:lnTo>
                  <a:lnTo>
                    <a:pt x="2750820" y="1912620"/>
                  </a:lnTo>
                  <a:lnTo>
                    <a:pt x="2768918" y="1921192"/>
                  </a:lnTo>
                  <a:lnTo>
                    <a:pt x="2787015" y="1930718"/>
                  </a:lnTo>
                  <a:lnTo>
                    <a:pt x="2805112" y="1939290"/>
                  </a:lnTo>
                  <a:lnTo>
                    <a:pt x="2823210" y="1947862"/>
                  </a:lnTo>
                  <a:lnTo>
                    <a:pt x="2841308" y="1956435"/>
                  </a:lnTo>
                  <a:lnTo>
                    <a:pt x="2859405" y="1964055"/>
                  </a:lnTo>
                  <a:lnTo>
                    <a:pt x="2877502" y="1972628"/>
                  </a:lnTo>
                  <a:lnTo>
                    <a:pt x="2895600" y="1980248"/>
                  </a:lnTo>
                  <a:lnTo>
                    <a:pt x="2913698" y="1987868"/>
                  </a:lnTo>
                  <a:lnTo>
                    <a:pt x="2931795" y="1995488"/>
                  </a:lnTo>
                  <a:lnTo>
                    <a:pt x="2949892" y="2003108"/>
                  </a:lnTo>
                  <a:lnTo>
                    <a:pt x="2967990" y="2010728"/>
                  </a:lnTo>
                  <a:lnTo>
                    <a:pt x="2986088" y="2017395"/>
                  </a:lnTo>
                  <a:lnTo>
                    <a:pt x="3004185" y="2025015"/>
                  </a:lnTo>
                  <a:lnTo>
                    <a:pt x="3022282" y="2031682"/>
                  </a:lnTo>
                  <a:lnTo>
                    <a:pt x="3040380" y="2038350"/>
                  </a:lnTo>
                  <a:lnTo>
                    <a:pt x="3058478" y="2045018"/>
                  </a:lnTo>
                  <a:lnTo>
                    <a:pt x="3076575" y="2051685"/>
                  </a:lnTo>
                  <a:lnTo>
                    <a:pt x="3094672" y="2058353"/>
                  </a:lnTo>
                  <a:lnTo>
                    <a:pt x="3112770" y="2065020"/>
                  </a:lnTo>
                  <a:lnTo>
                    <a:pt x="3130868" y="2070735"/>
                  </a:lnTo>
                  <a:lnTo>
                    <a:pt x="3148965" y="2077403"/>
                  </a:lnTo>
                  <a:lnTo>
                    <a:pt x="3167062" y="2083118"/>
                  </a:lnTo>
                  <a:lnTo>
                    <a:pt x="3185160" y="2088832"/>
                  </a:lnTo>
                  <a:lnTo>
                    <a:pt x="3203258" y="2094548"/>
                  </a:lnTo>
                  <a:lnTo>
                    <a:pt x="3221355" y="2100262"/>
                  </a:lnTo>
                  <a:lnTo>
                    <a:pt x="3239452" y="2105978"/>
                  </a:lnTo>
                  <a:lnTo>
                    <a:pt x="3257550" y="2110740"/>
                  </a:lnTo>
                  <a:lnTo>
                    <a:pt x="3275648" y="2116455"/>
                  </a:lnTo>
                  <a:lnTo>
                    <a:pt x="3293745" y="2121218"/>
                  </a:lnTo>
                  <a:lnTo>
                    <a:pt x="3311842" y="2126932"/>
                  </a:lnTo>
                  <a:lnTo>
                    <a:pt x="3329940" y="2131695"/>
                  </a:lnTo>
                  <a:lnTo>
                    <a:pt x="3348038" y="2136458"/>
                  </a:lnTo>
                  <a:lnTo>
                    <a:pt x="3366135" y="2141220"/>
                  </a:lnTo>
                  <a:lnTo>
                    <a:pt x="3384232" y="2145982"/>
                  </a:lnTo>
                  <a:lnTo>
                    <a:pt x="3402330" y="2150745"/>
                  </a:lnTo>
                  <a:lnTo>
                    <a:pt x="3420428" y="2155508"/>
                  </a:lnTo>
                  <a:lnTo>
                    <a:pt x="3438525" y="2159318"/>
                  </a:lnTo>
                  <a:lnTo>
                    <a:pt x="3456622" y="2164080"/>
                  </a:lnTo>
                  <a:lnTo>
                    <a:pt x="3474720" y="2167890"/>
                  </a:lnTo>
                  <a:lnTo>
                    <a:pt x="3492818" y="2172652"/>
                  </a:lnTo>
                  <a:lnTo>
                    <a:pt x="3510915" y="2176462"/>
                  </a:lnTo>
                  <a:lnTo>
                    <a:pt x="3529012" y="2180273"/>
                  </a:lnTo>
                  <a:lnTo>
                    <a:pt x="3547110" y="2184082"/>
                  </a:lnTo>
                  <a:lnTo>
                    <a:pt x="3565208" y="2188845"/>
                  </a:lnTo>
                  <a:lnTo>
                    <a:pt x="3583305" y="2192655"/>
                  </a:lnTo>
                  <a:lnTo>
                    <a:pt x="3601402" y="2195512"/>
                  </a:lnTo>
                  <a:lnTo>
                    <a:pt x="3619500" y="2199323"/>
                  </a:lnTo>
                  <a:lnTo>
                    <a:pt x="3637598" y="2203132"/>
                  </a:lnTo>
                  <a:lnTo>
                    <a:pt x="3655695" y="2206942"/>
                  </a:lnTo>
                  <a:lnTo>
                    <a:pt x="3673792" y="2209800"/>
                  </a:lnTo>
                  <a:lnTo>
                    <a:pt x="3691890" y="2213610"/>
                  </a:lnTo>
                  <a:lnTo>
                    <a:pt x="3709988" y="2216468"/>
                  </a:lnTo>
                  <a:lnTo>
                    <a:pt x="3728085" y="2219325"/>
                  </a:lnTo>
                  <a:lnTo>
                    <a:pt x="3746182" y="2223135"/>
                  </a:lnTo>
                  <a:lnTo>
                    <a:pt x="3764280" y="2225992"/>
                  </a:lnTo>
                  <a:lnTo>
                    <a:pt x="3782378" y="2228850"/>
                  </a:lnTo>
                  <a:lnTo>
                    <a:pt x="3800475" y="2231708"/>
                  </a:lnTo>
                  <a:lnTo>
                    <a:pt x="3818572" y="2234565"/>
                  </a:lnTo>
                  <a:lnTo>
                    <a:pt x="3836670" y="2237423"/>
                  </a:lnTo>
                  <a:lnTo>
                    <a:pt x="3854768" y="2240280"/>
                  </a:lnTo>
                  <a:lnTo>
                    <a:pt x="3872865" y="2243138"/>
                  </a:lnTo>
                  <a:lnTo>
                    <a:pt x="3890962" y="2245995"/>
                  </a:lnTo>
                  <a:lnTo>
                    <a:pt x="3909060" y="2247900"/>
                  </a:lnTo>
                  <a:lnTo>
                    <a:pt x="3927157" y="2250758"/>
                  </a:lnTo>
                  <a:lnTo>
                    <a:pt x="3945255" y="2253615"/>
                  </a:lnTo>
                  <a:lnTo>
                    <a:pt x="3963352" y="2255520"/>
                  </a:lnTo>
                  <a:lnTo>
                    <a:pt x="3981450" y="2258377"/>
                  </a:lnTo>
                  <a:lnTo>
                    <a:pt x="3999548" y="2260282"/>
                  </a:lnTo>
                  <a:lnTo>
                    <a:pt x="4017645" y="2263140"/>
                  </a:lnTo>
                  <a:lnTo>
                    <a:pt x="4035743" y="2265045"/>
                  </a:lnTo>
                  <a:lnTo>
                    <a:pt x="4053840" y="2266950"/>
                  </a:lnTo>
                  <a:lnTo>
                    <a:pt x="4071938" y="2269808"/>
                  </a:lnTo>
                  <a:lnTo>
                    <a:pt x="4090035" y="2271713"/>
                  </a:lnTo>
                  <a:lnTo>
                    <a:pt x="4108132" y="2273618"/>
                  </a:lnTo>
                  <a:lnTo>
                    <a:pt x="4126230" y="2275523"/>
                  </a:lnTo>
                  <a:lnTo>
                    <a:pt x="4144328" y="2277427"/>
                  </a:lnTo>
                  <a:lnTo>
                    <a:pt x="4162425" y="2279332"/>
                  </a:lnTo>
                  <a:lnTo>
                    <a:pt x="4180522" y="2281238"/>
                  </a:lnTo>
                  <a:lnTo>
                    <a:pt x="4198620" y="2283142"/>
                  </a:lnTo>
                  <a:lnTo>
                    <a:pt x="4216718" y="2285048"/>
                  </a:lnTo>
                  <a:lnTo>
                    <a:pt x="4234815" y="2286952"/>
                  </a:lnTo>
                  <a:lnTo>
                    <a:pt x="4252912" y="2288858"/>
                  </a:lnTo>
                  <a:lnTo>
                    <a:pt x="4271010" y="2289810"/>
                  </a:lnTo>
                  <a:lnTo>
                    <a:pt x="4289108" y="2291715"/>
                  </a:lnTo>
                  <a:lnTo>
                    <a:pt x="4307205" y="2293620"/>
                  </a:lnTo>
                  <a:lnTo>
                    <a:pt x="4325302" y="2295525"/>
                  </a:lnTo>
                  <a:lnTo>
                    <a:pt x="4343400" y="2296477"/>
                  </a:lnTo>
                  <a:lnTo>
                    <a:pt x="4361498" y="2298382"/>
                  </a:lnTo>
                  <a:lnTo>
                    <a:pt x="4379595" y="2299335"/>
                  </a:lnTo>
                  <a:lnTo>
                    <a:pt x="4397692" y="2301240"/>
                  </a:lnTo>
                  <a:lnTo>
                    <a:pt x="4415790" y="2302192"/>
                  </a:lnTo>
                  <a:lnTo>
                    <a:pt x="4433888" y="2304098"/>
                  </a:lnTo>
                  <a:lnTo>
                    <a:pt x="4451985" y="2305050"/>
                  </a:lnTo>
                  <a:lnTo>
                    <a:pt x="4470082" y="2306955"/>
                  </a:lnTo>
                  <a:lnTo>
                    <a:pt x="4488180" y="2307908"/>
                  </a:lnTo>
                  <a:lnTo>
                    <a:pt x="4506278" y="2308860"/>
                  </a:lnTo>
                  <a:lnTo>
                    <a:pt x="4524375" y="2310765"/>
                  </a:lnTo>
                  <a:lnTo>
                    <a:pt x="4542472" y="2311718"/>
                  </a:lnTo>
                  <a:lnTo>
                    <a:pt x="4560570" y="2312670"/>
                  </a:lnTo>
                  <a:lnTo>
                    <a:pt x="4578668" y="2314575"/>
                  </a:lnTo>
                  <a:lnTo>
                    <a:pt x="4596765" y="2315527"/>
                  </a:lnTo>
                  <a:lnTo>
                    <a:pt x="4614862" y="2316480"/>
                  </a:lnTo>
                  <a:lnTo>
                    <a:pt x="4632960" y="2317432"/>
                  </a:lnTo>
                  <a:lnTo>
                    <a:pt x="4651058" y="2318385"/>
                  </a:lnTo>
                  <a:lnTo>
                    <a:pt x="4669155" y="2319338"/>
                  </a:lnTo>
                  <a:lnTo>
                    <a:pt x="4687252" y="2320290"/>
                  </a:lnTo>
                  <a:lnTo>
                    <a:pt x="4705350" y="2321242"/>
                  </a:lnTo>
                  <a:lnTo>
                    <a:pt x="4723448" y="2322195"/>
                  </a:lnTo>
                  <a:lnTo>
                    <a:pt x="4741545" y="2323148"/>
                  </a:lnTo>
                  <a:lnTo>
                    <a:pt x="4759642" y="2324100"/>
                  </a:lnTo>
                  <a:lnTo>
                    <a:pt x="4777740" y="2325052"/>
                  </a:lnTo>
                  <a:lnTo>
                    <a:pt x="4795838" y="2326005"/>
                  </a:lnTo>
                  <a:lnTo>
                    <a:pt x="4813935" y="2326958"/>
                  </a:lnTo>
                  <a:lnTo>
                    <a:pt x="4832032" y="2327910"/>
                  </a:lnTo>
                  <a:lnTo>
                    <a:pt x="4850130" y="2328863"/>
                  </a:lnTo>
                  <a:lnTo>
                    <a:pt x="4868228" y="2329815"/>
                  </a:lnTo>
                  <a:lnTo>
                    <a:pt x="4886325" y="2330768"/>
                  </a:lnTo>
                  <a:lnTo>
                    <a:pt x="4904422" y="2331720"/>
                  </a:lnTo>
                  <a:lnTo>
                    <a:pt x="4922520" y="2331720"/>
                  </a:lnTo>
                  <a:lnTo>
                    <a:pt x="4940618" y="2332673"/>
                  </a:lnTo>
                  <a:lnTo>
                    <a:pt x="4958715" y="2333625"/>
                  </a:lnTo>
                  <a:lnTo>
                    <a:pt x="4976812" y="2334577"/>
                  </a:lnTo>
                  <a:lnTo>
                    <a:pt x="4994910" y="2334577"/>
                  </a:lnTo>
                  <a:lnTo>
                    <a:pt x="5013008" y="2335530"/>
                  </a:lnTo>
                  <a:lnTo>
                    <a:pt x="5031105" y="2336482"/>
                  </a:lnTo>
                  <a:lnTo>
                    <a:pt x="5049202" y="2337435"/>
                  </a:lnTo>
                  <a:lnTo>
                    <a:pt x="5067300" y="2337435"/>
                  </a:lnTo>
                  <a:lnTo>
                    <a:pt x="5085398" y="2338388"/>
                  </a:lnTo>
                  <a:lnTo>
                    <a:pt x="5103495" y="2338388"/>
                  </a:lnTo>
                  <a:lnTo>
                    <a:pt x="5121592" y="2339340"/>
                  </a:lnTo>
                  <a:lnTo>
                    <a:pt x="5139690" y="2340292"/>
                  </a:lnTo>
                  <a:lnTo>
                    <a:pt x="5157788" y="2340292"/>
                  </a:lnTo>
                  <a:lnTo>
                    <a:pt x="5175885" y="2341245"/>
                  </a:lnTo>
                  <a:lnTo>
                    <a:pt x="5193982" y="2341245"/>
                  </a:lnTo>
                  <a:lnTo>
                    <a:pt x="5212080" y="2342198"/>
                  </a:lnTo>
                  <a:lnTo>
                    <a:pt x="5230178" y="2343150"/>
                  </a:lnTo>
                  <a:lnTo>
                    <a:pt x="5248275" y="2343150"/>
                  </a:lnTo>
                  <a:lnTo>
                    <a:pt x="5266372" y="2344102"/>
                  </a:lnTo>
                  <a:lnTo>
                    <a:pt x="5284470" y="2344102"/>
                  </a:lnTo>
                  <a:lnTo>
                    <a:pt x="5302568" y="2345055"/>
                  </a:lnTo>
                  <a:lnTo>
                    <a:pt x="5320665" y="2345055"/>
                  </a:lnTo>
                  <a:lnTo>
                    <a:pt x="5338762" y="2346008"/>
                  </a:lnTo>
                  <a:lnTo>
                    <a:pt x="5356860" y="2346008"/>
                  </a:lnTo>
                  <a:lnTo>
                    <a:pt x="5374958" y="2346960"/>
                  </a:lnTo>
                  <a:lnTo>
                    <a:pt x="5393055" y="2346960"/>
                  </a:lnTo>
                  <a:lnTo>
                    <a:pt x="5411152" y="2346960"/>
                  </a:lnTo>
                  <a:lnTo>
                    <a:pt x="5429250" y="2347913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345882" y="3023235"/>
              <a:ext cx="9525" cy="1986915"/>
            </a:xfrm>
            <a:custGeom>
              <a:avLst/>
              <a:gdLst/>
              <a:ahLst/>
              <a:cxnLst/>
              <a:rect l="l" t="t" r="r" b="b"/>
              <a:pathLst>
                <a:path w="9525" h="1986915">
                  <a:moveTo>
                    <a:pt x="0" y="198691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2410C"/>
              </a:solidFill>
              <a:custDash>
                <a:ds d="312500" sp="250000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1345882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59720" y="508587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0.711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324350" y="4358640"/>
              <a:ext cx="9525" cy="651510"/>
            </a:xfrm>
            <a:custGeom>
              <a:avLst/>
              <a:gdLst/>
              <a:ahLst/>
              <a:cxnLst/>
              <a:rect l="l" t="t" r="r" b="b"/>
              <a:pathLst>
                <a:path w="9525" h="651510">
                  <a:moveTo>
                    <a:pt x="0" y="6515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2410C"/>
              </a:solidFill>
              <a:custDash>
                <a:ds d="312500" sp="250000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4324350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37997" y="508587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9.488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462212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20979" y="50858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819525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78292" y="50858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176838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99324" y="50858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534150" y="50101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06950" y="2521982"/>
              <a:ext cx="6391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左尾 0.05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266901" y="2798445"/>
              <a:ext cx="313058" cy="1898142"/>
            </a:xfrm>
            <a:custGeom>
              <a:avLst/>
              <a:gdLst/>
              <a:ahLst/>
              <a:cxnLst/>
              <a:rect l="l" t="t" r="r" b="b"/>
              <a:pathLst>
                <a:path w="313058" h="1898142">
                  <a:moveTo>
                    <a:pt x="313058" y="0"/>
                  </a:moveTo>
                  <a:lnTo>
                    <a:pt x="0" y="1898142"/>
                  </a:lnTo>
                </a:path>
              </a:pathLst>
            </a:custGeom>
            <a:noFill/>
            <a:ln w="11430">
              <a:solidFill>
                <a:srgbClr val="C2410C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1241527" y="4692406"/>
              <a:ext cx="50749" cy="60569"/>
            </a:xfrm>
            <a:custGeom>
              <a:avLst/>
              <a:gdLst/>
              <a:ahLst/>
              <a:cxnLst/>
              <a:rect l="l" t="t" r="r" b="b"/>
              <a:pathLst>
                <a:path w="50749" h="60569">
                  <a:moveTo>
                    <a:pt x="16069" y="60569"/>
                  </a:moveTo>
                  <a:lnTo>
                    <a:pt x="0" y="0"/>
                  </a:lnTo>
                  <a:lnTo>
                    <a:pt x="50749" y="8363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19738" y="3936444"/>
              <a:ext cx="6391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右尾 0.05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587545" y="4187190"/>
              <a:ext cx="249965" cy="615706"/>
            </a:xfrm>
            <a:custGeom>
              <a:avLst/>
              <a:gdLst/>
              <a:ahLst/>
              <a:cxnLst/>
              <a:rect l="l" t="t" r="r" b="b"/>
              <a:pathLst>
                <a:path w="249965" h="615706">
                  <a:moveTo>
                    <a:pt x="249965" y="0"/>
                  </a:moveTo>
                  <a:lnTo>
                    <a:pt x="0" y="615706"/>
                  </a:lnTo>
                </a:path>
              </a:pathLst>
            </a:custGeom>
            <a:noFill/>
            <a:ln w="11430">
              <a:solidFill>
                <a:srgbClr val="C2410C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4563713" y="4793218"/>
              <a:ext cx="47663" cy="62627"/>
            </a:xfrm>
            <a:custGeom>
              <a:avLst/>
              <a:gdLst/>
              <a:ahLst/>
              <a:cxnLst/>
              <a:rect l="l" t="t" r="r" b="b"/>
              <a:pathLst>
                <a:path w="47663" h="62627">
                  <a:moveTo>
                    <a:pt x="2334" y="62627"/>
                  </a:moveTo>
                  <a:lnTo>
                    <a:pt x="0" y="0"/>
                  </a:lnTo>
                  <a:lnTo>
                    <a:pt x="47663" y="1934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235875" y="4125278"/>
              <a:ext cx="724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接受域 0.9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635942" y="4957762"/>
              <a:ext cx="104775" cy="104775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5688330" y="4110038"/>
              <a:ext cx="9525" cy="900112"/>
            </a:xfrm>
            <a:custGeom>
              <a:avLst/>
              <a:gdLst/>
              <a:ahLst/>
              <a:cxnLst/>
              <a:rect l="l" t="t" r="r" b="b"/>
              <a:pathLst>
                <a:path w="9525" h="900112">
                  <a:moveTo>
                    <a:pt x="0" y="90011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0392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96612" y="3610928"/>
              <a:ext cx="783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例4：13.51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11111" y="3872151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落在右尾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200150" y="5829300"/>
              <a:ext cx="209550" cy="133350"/>
            </a:xfrm>
            <a:prstGeom prst="rect">
              <a:avLst/>
            </a:prstGeom>
            <a:solidFill>
              <a:srgbClr val="F6C6A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480756" y="5834301"/>
              <a:ext cx="213136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拒绝域：χ² ≤ 0.711 或 χ² ≥ 9.488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767262" y="5843588"/>
              <a:ext cx="104775" cy="104775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28806" y="5834301"/>
              <a:ext cx="158749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观测值 (5 − 1)s²/0.048²</a:t>
              </a:r>
            </a:p>
          </p:txBody>
        </p:sp>
      </p:grpSp>
      <p:grpSp>
        <p:nvGrpSpPr>
          <p:cNvPr id="64" name="chB"/>
          <p:cNvGrpSpPr/>
          <p:nvPr/>
        </p:nvGrpSpPr>
        <p:grpSpPr>
          <a:xfrm>
            <a:off x="7353300" y="1524000"/>
            <a:ext cx="4305300" cy="4762500"/>
            <a:chOff x="7353300" y="1524000"/>
            <a:chExt cx="4305300" cy="4762500"/>
          </a:xfrm>
        </p:grpSpPr>
        <p:sp>
          <p:nvSpPr>
            <p:cNvPr id="49" name="Rectangle 49"/>
            <p:cNvSpPr/>
            <p:nvPr/>
          </p:nvSpPr>
          <p:spPr>
            <a:xfrm>
              <a:off x="7353300" y="1524000"/>
              <a:ext cx="4305300" cy="1428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62825" y="1628775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24750" y="1628775"/>
              <a:ext cx="1194387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29474" y="1682115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为什么不写成 ±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19226" y="1940004"/>
              <a:ext cx="2108264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只取正值且右偏，不对称。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左尾点要查 χ²₀.₉₅(4) = 0.711，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不能用右尾点加负号。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353300" y="3086100"/>
              <a:ext cx="4305300" cy="1562100"/>
            </a:xfrm>
            <a:prstGeom prst="roundRect">
              <a:avLst>
                <a:gd name="adj" fmla="val 60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62825" y="3190875"/>
              <a:ext cx="47625" cy="13525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524750" y="3190875"/>
              <a:ext cx="12954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601712" y="324421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换成样本方差来看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19226" y="3502104"/>
              <a:ext cx="2343594" cy="812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 ≤ 0.711 × 0.048²/4 = 0.00041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s² ≥ 9.488 × 0.048²/4 = 0.00546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时拒绝。本例 s² = 0.00778，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比上限大得多。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353300" y="4781550"/>
              <a:ext cx="4305300" cy="1504950"/>
            </a:xfrm>
            <a:prstGeom prst="roundRect">
              <a:avLst>
                <a:gd name="adj" fmla="val 63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62825" y="4886325"/>
              <a:ext cx="47625" cy="1295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524750" y="4886325"/>
              <a:ext cx="10143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10138" y="4939665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 值（补充）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9226" y="5197554"/>
              <a:ext cx="2433574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右尾概率 P{χ²(4) ≥ 13.51} = 0.009，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 p 值取两倍 0.018 &lt; 0.1，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与查临界值的结论一致。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34266" cy="909257"/>
            <a:chOff x="520446" y="342900"/>
            <a:chExt cx="100342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单个正态总体的参数检验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342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单个正态总体的四种检验：按“检验谁、另一个参数是否已知”来选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able-1"/>
          <p:cNvGrpSpPr/>
          <p:nvPr/>
        </p:nvGrpSpPr>
        <p:grpSpPr>
          <a:xfrm>
            <a:off x="533400" y="1524000"/>
            <a:ext cx="11125200" cy="2327910"/>
            <a:chOff x="533400" y="1524000"/>
            <a:chExt cx="11125200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005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3801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检验对象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01519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12844" y="16454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检验统计量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8398" y="1645444"/>
              <a:ext cx="13144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H₀ 为真时的分布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53692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85934" y="16454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双边拒绝域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9219" y="206549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 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80900" y="2065496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已知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0985" y="2065496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(均值 − μ₀)/(σ/√n)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1437" y="2065496"/>
              <a:ext cx="668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N(0, 1)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80459" y="2065496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检验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29012" y="2065496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|u| ≥ uα/2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59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64105"/>
              <a:ext cx="11125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89219" y="248554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 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0900" y="2485549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未知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40175" y="2485549"/>
              <a:ext cx="16198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(均值 − μ₀)/(S/√n)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43146" y="2485549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 − 1)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85748" y="2373630"/>
              <a:ext cx="1093470" cy="4010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80459" y="2485549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检验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40387" y="2485549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|t| ≥ tα/2(n − 1)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7803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9464" y="2905601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 σ²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28286" y="2905601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已知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05743" y="2905601"/>
              <a:ext cx="1288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Σ(Xᵢ − μ)²/σ₀²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42227" y="290560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χ²(n)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3072" y="2905601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检验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79448" y="2905601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χ²₁₋α/2(n) 或 ≥ χ²α/2(n)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2004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205162"/>
              <a:ext cx="11125200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9464" y="3439001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 σ²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28286" y="3439001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未知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59875" y="3439001"/>
              <a:ext cx="11804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− 1)S²/σ₀²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5760" y="3439001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χ²(n − 1)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85748" y="3214688"/>
              <a:ext cx="1093470" cy="6276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33072" y="3439001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检验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87662" y="3325654"/>
              <a:ext cx="16710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χ²₁₋α/2(n − 1) 或 ≥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χ²α/2(n − 1)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11125200" cy="23279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752600" y="1524000"/>
              <a:ext cx="9525" cy="2327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198495" y="1524000"/>
              <a:ext cx="9525" cy="2327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91238" y="1524000"/>
              <a:ext cx="9525" cy="2327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871460" y="1524000"/>
              <a:ext cx="9525" cy="2327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83980" y="1524000"/>
              <a:ext cx="9525" cy="2327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1-compare-2"/>
          <p:cNvGrpSpPr/>
          <p:nvPr/>
        </p:nvGrpSpPr>
        <p:grpSpPr>
          <a:xfrm>
            <a:off x="533400" y="4016692"/>
            <a:ext cx="11125200" cy="1706880"/>
            <a:chOff x="533400" y="4016692"/>
            <a:chExt cx="11125200" cy="1706880"/>
          </a:xfrm>
        </p:grpSpPr>
        <p:sp>
          <p:nvSpPr>
            <p:cNvPr id="52" name="Rectangle 52"/>
            <p:cNvSpPr/>
            <p:nvPr/>
          </p:nvSpPr>
          <p:spPr>
            <a:xfrm>
              <a:off x="533400" y="4016692"/>
              <a:ext cx="5353050" cy="1706880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42925" y="4150042"/>
              <a:ext cx="47625" cy="144018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5998" y="421909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单边检验怎样改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62000" y="45720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7448" y="4520089"/>
              <a:ext cx="26371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H₁ 取 “&lt;”：只留左尾，α/2 换成 α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62000" y="485775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17448" y="4804886"/>
              <a:ext cx="26371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H₁ 取 “&gt;”：只留右尾，α/2 换成 α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62000" y="514254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17448" y="508968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u、t 的左尾写 −uα、−tα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305550" y="4016692"/>
              <a:ext cx="5353050" cy="1706880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315075" y="4150042"/>
              <a:ext cx="47625" cy="14401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18148" y="421909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本部分例题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534150" y="45720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89598" y="4520089"/>
              <a:ext cx="2029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包装机：u 检验，双边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534150" y="485775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89598" y="4804886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灯泡：u 检验，右边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534150" y="514254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89598" y="5089684"/>
              <a:ext cx="3967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零件：t 检验，双边；例4 纤度：χ² 检验，双边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934075" y="470820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17308" y="481393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3" name="Rectangle 7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1273" y="6039326"/>
              <a:ext cx="6578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名称一栏高亮的两种最常用，实际问题里另一参数通常未知。表中“均值”指样本均值。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两个正态总体的参数检验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比较两个总体的均值差与方差比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均值差：u 检验与 t 检验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08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方差比：F 检验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先比方差、再比均值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10564" cy="909257"/>
            <a:chOff x="520446" y="342900"/>
            <a:chExt cx="61105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105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方差已知时检验均值差 μ₁ − μ₂：u 检验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667380" cy="264033"/>
            <a:chOff x="526542" y="1545907"/>
            <a:chExt cx="966738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667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~ N(μ₁, σ₁²) 与 Y ~ N(μ₂, σ₂²) 相互独立，样本容量分别为 n₁、n₂；δ 是已知常数，比较两均值是否相等时 δ = 0。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28"/>
              <p:cNvSpPr txBox="1">
                <a:spLocks noGrp="1"/>
              </p:cNvSpPr>
              <p:nvPr/>
            </p:nvSpPr>
            <p:spPr>
              <a:xfrm>
                <a:off x="533400" y="1928812"/>
                <a:ext cx="497776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b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2"/>
          <p:cNvGrpSpPr/>
          <p:nvPr/>
        </p:nvGrpSpPr>
        <p:grpSpPr>
          <a:xfrm>
            <a:off x="533400" y="2586990"/>
            <a:ext cx="4977765" cy="1185862"/>
            <a:chOff x="533400" y="2586990"/>
            <a:chExt cx="4977765" cy="1185862"/>
          </a:xfrm>
        </p:grpSpPr>
        <p:sp>
          <p:nvSpPr>
            <p:cNvPr id="10" name="Rectangle 10"/>
            <p:cNvSpPr/>
            <p:nvPr/>
          </p:nvSpPr>
          <p:spPr>
            <a:xfrm>
              <a:off x="533400" y="2586990"/>
              <a:ext cx="4977765" cy="1185862"/>
            </a:xfrm>
            <a:prstGeom prst="roundRect">
              <a:avLst>
                <a:gd name="adj" fmla="val 112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20090" y="2773680"/>
              <a:ext cx="192500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8181" y="2806541"/>
              <a:ext cx="18278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检验统计量（σ₁²、σ₂² 已知）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118485"/>
              <a:ext cx="41970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H₀ 中 μ₁ − μ₂ = δ 时成立：两样本均值之差服从 N(μ₁ −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μ₂, σ₁²/n₁ + σ₂²/n₂)，标准化即得 u。</a:t>
              </a:r>
            </a:p>
          </p:txBody>
        </p:sp>
      </p:grpSp>
      <p:grpSp>
        <p:nvGrpSpPr>
          <p:cNvPr id="21" name="c1-card-3"/>
          <p:cNvGrpSpPr/>
          <p:nvPr/>
        </p:nvGrpSpPr>
        <p:grpSpPr>
          <a:xfrm>
            <a:off x="533400" y="3942398"/>
            <a:ext cx="4977765" cy="1743075"/>
            <a:chOff x="533400" y="3942398"/>
            <a:chExt cx="4977765" cy="1743075"/>
          </a:xfrm>
        </p:grpSpPr>
        <p:sp>
          <p:nvSpPr>
            <p:cNvPr id="15" name="Rectangle 15"/>
            <p:cNvSpPr/>
            <p:nvPr/>
          </p:nvSpPr>
          <p:spPr>
            <a:xfrm>
              <a:off x="533400" y="3942398"/>
              <a:ext cx="497776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75748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41290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759" y="4161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补充小例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4473892"/>
              <a:ext cx="43599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两台机床零件长度，σ₁² = 0.25、σ₂² = 0.36。n₁ = 10，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 20.3；n₂ = 12，均值 19.9。α = 0.05 检验 μ₁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μ₂：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5288280"/>
              <a:ext cx="4444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0.4/√(0.025 + 0.03) = 1.706 &lt; 1.96，接受 H₀。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5815965" y="1928812"/>
            <a:ext cx="5842635" cy="1755458"/>
            <a:chOff x="5815965" y="1928812"/>
            <a:chExt cx="5842635" cy="1755458"/>
          </a:xfrm>
        </p:grpSpPr>
        <p:sp>
          <p:nvSpPr>
            <p:cNvPr id="22" name="Rectangle 22"/>
            <p:cNvSpPr/>
            <p:nvPr/>
          </p:nvSpPr>
          <p:spPr>
            <a:xfrm>
              <a:off x="5815965" y="1928812"/>
              <a:ext cx="5842635" cy="43910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869" y="2053590"/>
              <a:ext cx="841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83915" y="2053590"/>
              <a:ext cx="1022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7928" y="2053590"/>
              <a:ext cx="770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拒绝域 W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9782" y="2492692"/>
              <a:ext cx="977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= 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9641" y="2492692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≠ 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07479" y="2492692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|u| ≥ uα/2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28013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15965" y="2806065"/>
              <a:ext cx="584263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19782" y="2931795"/>
              <a:ext cx="977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≥ 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9641" y="2931795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&lt; 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11978" y="293179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−uα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32404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19782" y="3370898"/>
              <a:ext cx="977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≤ 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9641" y="3370898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&gt; 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61955" y="3370898"/>
              <a:ext cx="52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≥ uα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1928812"/>
              <a:ext cx="5842635" cy="17554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797165" y="1928812"/>
              <a:ext cx="9525" cy="17554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784080" y="1928812"/>
              <a:ext cx="9525" cy="17554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2"/>
          <p:cNvGrpSpPr/>
          <p:nvPr/>
        </p:nvGrpSpPr>
        <p:grpSpPr>
          <a:xfrm>
            <a:off x="5815965" y="3853815"/>
            <a:ext cx="5842635" cy="1831658"/>
            <a:chOff x="5815965" y="3853815"/>
            <a:chExt cx="5842635" cy="1831658"/>
          </a:xfrm>
        </p:grpSpPr>
        <p:sp>
          <p:nvSpPr>
            <p:cNvPr id="42" name="Rectangle 42"/>
            <p:cNvSpPr/>
            <p:nvPr/>
          </p:nvSpPr>
          <p:spPr>
            <a:xfrm>
              <a:off x="5815965" y="3853815"/>
              <a:ext cx="5842635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25490" y="3987165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0755" y="4040505"/>
              <a:ext cx="13554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05668" y="4073366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和单总体 u 检验对照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33897" y="4385310"/>
              <a:ext cx="51829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分子由“样本均值 − μ₀”换成“两样本均值之差 − δ”，分母换成差的标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准差，拒绝域的形状完全相同。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35040" y="4939189"/>
              <a:ext cx="4202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特例：σ₁² = σ₂² = σ² 且 n₁ = n₂ = n 时，分母化为 σ√(2/n)。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9" name="Rectangle 4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8373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这里要求两个样本相互独立。同一批对象测两次的成对数据不满足独立性，要先作差再按单总体处理。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5102" cy="909257"/>
            <a:chOff x="520446" y="342900"/>
            <a:chExt cx="7935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5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方差相等但未知时检验 μ₁ − μ₂：合并方差的 t 检验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301240"/>
            <a:chOff x="533400" y="1524000"/>
            <a:chExt cx="5410200" cy="23012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01240"/>
            </a:xfrm>
            <a:prstGeom prst="roundRect">
              <a:avLst>
                <a:gd name="adj" fmla="val 579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253555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2432" y="1769269"/>
              <a:ext cx="2476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检验统计量（σ₁² = σ₂² = σ² 未知）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31"/>
                <p:cNvSpPr txBox="1">
                  <a:spLocks noGrp="1"/>
                </p:cNvSpPr>
                <p:nvPr/>
              </p:nvSpPr>
              <p:spPr>
                <a:xfrm>
                  <a:off x="742950" y="2085975"/>
                  <a:ext cx="49911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bar>
                              <m:barPr>
                                <m:pos m:val="top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bar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ba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35330" y="274605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其中合并标准差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32"/>
                <p:cNvSpPr txBox="1">
                  <a:spLocks noGrp="1"/>
                </p:cNvSpPr>
                <p:nvPr/>
              </p:nvSpPr>
              <p:spPr>
                <a:xfrm>
                  <a:off x="742950" y="3056572"/>
                  <a:ext cx="49911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2"/>
          <p:cNvGrpSpPr/>
          <p:nvPr/>
        </p:nvGrpSpPr>
        <p:grpSpPr>
          <a:xfrm>
            <a:off x="533400" y="4015740"/>
            <a:ext cx="5410200" cy="1602105"/>
            <a:chOff x="533400" y="4015740"/>
            <a:chExt cx="5410200" cy="1602105"/>
          </a:xfrm>
        </p:grpSpPr>
        <p:sp>
          <p:nvSpPr>
            <p:cNvPr id="14" name="Rectangle 14"/>
            <p:cNvSpPr/>
            <p:nvPr/>
          </p:nvSpPr>
          <p:spPr>
            <a:xfrm>
              <a:off x="533400" y="401574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14909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22529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0557" y="426100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合并方差的意思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602480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两总体方差相同，S₁² 和 S₂² 估计的是同一个 σ²，按各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自自由度 n₁ − 1、n₂ − 1 加权平均，得到更准的估计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Sw²，自由度相加为 n₁ + n₂ − 2。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6248400" y="1524000"/>
            <a:ext cx="5410200" cy="1795462"/>
            <a:chOff x="6248400" y="1524000"/>
            <a:chExt cx="5410200" cy="1795462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06871" y="1659731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6141" y="1659731"/>
              <a:ext cx="969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02663" y="1659731"/>
              <a:ext cx="730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拒绝域 W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2314" y="2108359"/>
              <a:ext cx="926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= 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79496" y="2108359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≠ 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43928" y="2108359"/>
              <a:ext cx="1848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|t| ≥ tα/2(n₁ + n₂ − 2)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2314" y="2556986"/>
              <a:ext cx="926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≥ 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79496" y="2556986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&lt; 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43008" y="2556986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≤ −tα(n₁ + n₂ − 2)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2314" y="3005614"/>
              <a:ext cx="926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≤ 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79496" y="3005614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 &gt; 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90395" y="3005614"/>
              <a:ext cx="155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≥ tα(n₁ + n₂ − 2)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75811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27354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2"/>
          <p:cNvGrpSpPr/>
          <p:nvPr/>
        </p:nvGrpSpPr>
        <p:grpSpPr>
          <a:xfrm>
            <a:off x="6248400" y="3509962"/>
            <a:ext cx="5410200" cy="2107882"/>
            <a:chOff x="6248400" y="3509962"/>
            <a:chExt cx="5410200" cy="2107882"/>
          </a:xfrm>
        </p:grpSpPr>
        <p:sp>
          <p:nvSpPr>
            <p:cNvPr id="40" name="Rectangle 40"/>
            <p:cNvSpPr/>
            <p:nvPr/>
          </p:nvSpPr>
          <p:spPr>
            <a:xfrm>
              <a:off x="6248400" y="3509962"/>
              <a:ext cx="5410200" cy="2107882"/>
            </a:xfrm>
            <a:prstGeom prst="roundRect">
              <a:avLst>
                <a:gd name="adj" fmla="val 6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3643312"/>
              <a:ext cx="47625" cy="18411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6050" y="3719512"/>
              <a:ext cx="118967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6041" y="3755231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代入例5 看一看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8430" y="4096702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= n₂ = 5，自由度 5 + 5 − 2 = 8，√(1/5 + 1/5)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0.632。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8430" y="4717732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sw² = (4 × 3.7 + 4 × 3.8)/8 = 3.75。两组容量相同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时，合并方差就是两个样本方差的平均。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9872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使用前提是 σ₁² = σ₂²。题目没有给出这一条时，要先用后面的 F 检验判断方差是否相等，例6 就是这样做的。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63971" cy="909257"/>
            <a:chOff x="520446" y="342900"/>
            <a:chExt cx="95639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639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例5：甲乙两厂蓄电池的电容量有无显著差异（两样本 t 检验）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466850"/>
            <a:chOff x="533400" y="1524000"/>
            <a:chExt cx="5842635" cy="1466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20007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在甲、乙两厂生产的蓄电池中各取 5 个测量电容量。设电容量分别为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N(μ₁, σ₁²) 和 Y ~ N(μ₂, σ₂²)，且 σ₁² = σ₂²。问两厂的电容量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有无显著差异（α = 0.05）？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33400" y="3166110"/>
            <a:ext cx="5842635" cy="1217295"/>
            <a:chOff x="533400" y="3166110"/>
            <a:chExt cx="5842635" cy="1217295"/>
          </a:xfrm>
        </p:grpSpPr>
        <p:sp>
          <p:nvSpPr>
            <p:cNvPr id="13" name="Rectangle 13"/>
            <p:cNvSpPr/>
            <p:nvPr/>
          </p:nvSpPr>
          <p:spPr>
            <a:xfrm>
              <a:off x="533400" y="3166110"/>
              <a:ext cx="584263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7431" y="32904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77606" y="3290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61489" y="3290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6324" y="3290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0206" y="3290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15041" y="3290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5048" y="32904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4889" y="32904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样本方差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7431" y="36961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96754" y="369617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0636" y="369617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65471" y="369617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49354" y="369617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34189" y="369617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8508" y="369617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140.8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2049" y="369617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728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97764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7431" y="41019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乙厂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96754" y="41019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80636" y="41019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65471" y="41019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49354" y="41019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34189" y="41019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68508" y="410194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141.6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62049" y="410194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166110"/>
              <a:ext cx="584263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229678" y="31661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814512" y="31661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398395" y="31661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982278" y="31661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567112" y="31661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150995" y="31661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203508" y="31661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steps-3"/>
          <p:cNvGrpSpPr/>
          <p:nvPr/>
        </p:nvGrpSpPr>
        <p:grpSpPr>
          <a:xfrm>
            <a:off x="533400" y="4567238"/>
            <a:ext cx="4326529" cy="1106329"/>
            <a:chOff x="533400" y="4567238"/>
            <a:chExt cx="4326529" cy="1106329"/>
          </a:xfrm>
        </p:grpSpPr>
        <p:sp>
          <p:nvSpPr>
            <p:cNvPr id="49" name="Rectangle 49"/>
            <p:cNvSpPr/>
            <p:nvPr/>
          </p:nvSpPr>
          <p:spPr>
            <a:xfrm>
              <a:off x="666750" y="4710112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33400" y="45672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7024" y="46410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33400" y="51549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7024" y="52287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5642" y="459962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6785" y="4866799"/>
              <a:ext cx="2465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H₀：μ₁ = μ₂，H₁：μ₁ ≠ μ₂（δ = 0）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5642" y="518636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6785" y="5453539"/>
              <a:ext cx="3913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+ n₂ − 2 = 8，t₀.₀₂₅(8) = 2.306，W = {|t| ≥ 2.306}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formula141"/>
              <p:cNvSpPr txBox="1">
                <a:spLocks noGrp="1"/>
              </p:cNvSpPr>
              <p:nvPr/>
            </p:nvSpPr>
            <p:spPr>
              <a:xfrm>
                <a:off x="6680835" y="1524000"/>
                <a:ext cx="497776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3.7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3.8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3.75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formula142"/>
              <p:cNvSpPr txBox="1">
                <a:spLocks noGrp="1"/>
              </p:cNvSpPr>
              <p:nvPr/>
            </p:nvSpPr>
            <p:spPr>
              <a:xfrm>
                <a:off x="6680835" y="2162175"/>
                <a:ext cx="497776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140.8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141.6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3.75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0.653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6" name="c2-card-3"/>
          <p:cNvGrpSpPr/>
          <p:nvPr/>
        </p:nvGrpSpPr>
        <p:grpSpPr>
          <a:xfrm>
            <a:off x="6680835" y="2774632"/>
            <a:ext cx="4977765" cy="1209675"/>
            <a:chOff x="6680835" y="2774632"/>
            <a:chExt cx="4977765" cy="1209675"/>
          </a:xfrm>
        </p:grpSpPr>
        <p:sp>
          <p:nvSpPr>
            <p:cNvPr id="61" name="Rectangle 61"/>
            <p:cNvSpPr/>
            <p:nvPr/>
          </p:nvSpPr>
          <p:spPr>
            <a:xfrm>
              <a:off x="6680835" y="2774632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90360" y="290798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911340" y="296703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02780" y="30013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04482" y="3323272"/>
              <a:ext cx="43085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0.653 &lt; 2.306，接受 H₀，认为两厂蓄电池的电容量无显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著差异。</a:t>
              </a:r>
            </a:p>
          </p:txBody>
        </p:sp>
      </p:grpSp>
      <p:grpSp>
        <p:nvGrpSpPr>
          <p:cNvPr id="72" name="c2-card-4"/>
          <p:cNvGrpSpPr/>
          <p:nvPr/>
        </p:nvGrpSpPr>
        <p:grpSpPr>
          <a:xfrm>
            <a:off x="6680835" y="4158615"/>
            <a:ext cx="4977765" cy="1508760"/>
            <a:chOff x="6680835" y="4158615"/>
            <a:chExt cx="4977765" cy="1508760"/>
          </a:xfrm>
        </p:grpSpPr>
        <p:sp>
          <p:nvSpPr>
            <p:cNvPr id="67" name="Rectangle 67"/>
            <p:cNvSpPr/>
            <p:nvPr/>
          </p:nvSpPr>
          <p:spPr>
            <a:xfrm>
              <a:off x="6680835" y="4158615"/>
              <a:ext cx="4977765" cy="1508760"/>
            </a:xfrm>
            <a:prstGeom prst="roundRect">
              <a:avLst>
                <a:gd name="adj" fmla="val 88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90360" y="4291965"/>
              <a:ext cx="47625" cy="12420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11340" y="4351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02780" y="4385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04482" y="4708208"/>
              <a:ext cx="42485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s₁² = 3.699，s₂² = 3.799，sw² = 3.7499，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|t| = 0.6535。精确值为 3.7、3.8、3.75，|t|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0.6532，结论不变。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3" name="Rectangle 7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6023610"/>
              <a:ext cx="9191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离差平方和：甲厂 4.84 + 0.04 + 7.84 + 1.44 + 0.64 = 14.8，乙厂 0.36 + 1.96 + 6.76 + 5.76 + 0.36 = 15.2。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31837" cy="909257"/>
            <a:chOff x="520446" y="342900"/>
            <a:chExt cx="100318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318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 又解：样本容量相等时，化为差值 Z = X − Y 的单总体 t 检验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287289" cy="2268379"/>
            <a:chOff x="533400" y="1533525"/>
            <a:chExt cx="5287289" cy="226837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构造差值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3531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X − Y ~ N(μ, σ²)，μ = μ₁ − μ₂，σ² = σ₁² + σ₂²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478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差值样本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6016"/>
              <a:ext cx="2175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按顺序相减：2, −2, −1, −2, −1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假设与拒绝域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998946"/>
              <a:ext cx="4544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H₀：μ = 0，H₁：μ ≠ 0；t₀.₀₂₅(4) = 2.7764，W = {|t| ≥ 2.7764}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31374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差值的均值与方差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581876"/>
              <a:ext cx="48739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 −0.8，离差平方和 7.84+1.44+0.04+1.44+0.04 = 10.8，s² = 2.7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48"/>
              <p:cNvSpPr txBox="1">
                <a:spLocks noGrp="1"/>
              </p:cNvSpPr>
              <p:nvPr/>
            </p:nvSpPr>
            <p:spPr>
              <a:xfrm>
                <a:off x="533400" y="3965258"/>
                <a:ext cx="5626418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bar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</m:bar>
                            </m:e>
                          </m: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0.8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2.7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1.089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2.7764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2" name="c1-card-3"/>
          <p:cNvGrpSpPr/>
          <p:nvPr/>
        </p:nvGrpSpPr>
        <p:grpSpPr>
          <a:xfrm>
            <a:off x="533400" y="4598670"/>
            <a:ext cx="5626418" cy="1751648"/>
            <a:chOff x="533400" y="4598670"/>
            <a:chExt cx="5626418" cy="1751648"/>
          </a:xfrm>
        </p:grpSpPr>
        <p:sp>
          <p:nvSpPr>
            <p:cNvPr id="26" name="Rectangle 26"/>
            <p:cNvSpPr/>
            <p:nvPr/>
          </p:nvSpPr>
          <p:spPr>
            <a:xfrm>
              <a:off x="533400" y="4598670"/>
              <a:ext cx="5626418" cy="1751648"/>
            </a:xfrm>
            <a:prstGeom prst="roundRect">
              <a:avLst>
                <a:gd name="adj" fmla="val 7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732020"/>
              <a:ext cx="47625" cy="14849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8190" y="47853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0862" y="48182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332" y="5129212"/>
              <a:ext cx="48571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 H₀，认为两厂蓄电池的电容量无显著差异，与合并方差的 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检验一致。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475" y="5683091"/>
              <a:ext cx="49400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统计量 1.089 比合并方差法的 0.653 大，但临界值也从 2.306 升到 2.7764，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离拒绝域仍然很远。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464618" y="1524000"/>
            <a:ext cx="5193982" cy="1443038"/>
            <a:chOff x="6464618" y="1524000"/>
            <a:chExt cx="5193982" cy="1443038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165735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9408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2079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2549" y="2054542"/>
              <a:ext cx="44542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原课件算得 |t| = 0.2177，与它列出的算式不符，按算式应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1.089。s² 精确值是 2.7，结果同为 1.089 &lt; 2.7764，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结论不变。</a:t>
              </a:r>
            </a:p>
          </p:txBody>
        </p:sp>
      </p:grpSp>
      <p:grpSp>
        <p:nvGrpSpPr>
          <p:cNvPr id="58" name="c2-table-2"/>
          <p:cNvGrpSpPr/>
          <p:nvPr/>
        </p:nvGrpSpPr>
        <p:grpSpPr>
          <a:xfrm>
            <a:off x="6464618" y="3136582"/>
            <a:ext cx="5193982" cy="1600200"/>
            <a:chOff x="6464618" y="3136582"/>
            <a:chExt cx="5193982" cy="1600200"/>
          </a:xfrm>
        </p:grpSpPr>
        <p:sp>
          <p:nvSpPr>
            <p:cNvPr id="39" name="Rectangle 39"/>
            <p:cNvSpPr/>
            <p:nvPr/>
          </p:nvSpPr>
          <p:spPr>
            <a:xfrm>
              <a:off x="6464618" y="3136582"/>
              <a:ext cx="5193982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83451" y="3258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7267" y="3258026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合并方差 t 检验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99234" y="325802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差值 t 检验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08063" y="36580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29157" y="36580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50350" y="36580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93192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3936682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08063" y="4058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63305" y="4058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2.306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43035" y="405812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2.7764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43319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08063" y="44581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63305" y="445817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84498" y="445817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1.089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136582"/>
              <a:ext cx="5193982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10500" y="313658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731692" y="313658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3"/>
          <p:cNvGrpSpPr/>
          <p:nvPr/>
        </p:nvGrpSpPr>
        <p:grpSpPr>
          <a:xfrm>
            <a:off x="6464618" y="4907280"/>
            <a:ext cx="5193982" cy="1443038"/>
            <a:chOff x="6464618" y="4907280"/>
            <a:chExt cx="5193982" cy="1443038"/>
          </a:xfrm>
        </p:grpSpPr>
        <p:sp>
          <p:nvSpPr>
            <p:cNvPr id="59" name="Rectangle 59"/>
            <p:cNvSpPr/>
            <p:nvPr/>
          </p:nvSpPr>
          <p:spPr>
            <a:xfrm>
              <a:off x="6464618" y="4907280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4142" y="504063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89408" y="509397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59677" y="512683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两种解法怎样取舍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82549" y="5437823"/>
              <a:ext cx="44971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两样本独立时，任意配对相减也合法，但只剩 4 个自由度，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临界值变大、检验变弱。差值法真正的用处是成对数据，比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如同一批电池在两种条件下各测一次。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11095" cy="909257"/>
            <a:chOff x="520446" y="342900"/>
            <a:chExt cx="87110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110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检验方差比 σ₁²/σ₂²：F 检验，均值已知与未知两种情形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410200" cy="1270635"/>
            <a:chOff x="533400" y="1524000"/>
            <a:chExt cx="5410200" cy="1270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70635"/>
            </a:xfrm>
            <a:prstGeom prst="roundRect">
              <a:avLst>
                <a:gd name="adj" fmla="val 1049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1463992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7887" y="1750695"/>
              <a:ext cx="1340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均值 μ₁、μ₂ 已知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65"/>
                <p:cNvSpPr txBox="1">
                  <a:spLocks noGrp="1"/>
                </p:cNvSpPr>
                <p:nvPr/>
              </p:nvSpPr>
              <p:spPr>
                <a:xfrm>
                  <a:off x="725805" y="2050732"/>
                  <a:ext cx="502539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1" name="c1-table-2"/>
          <p:cNvGrpSpPr/>
          <p:nvPr/>
        </p:nvGrpSpPr>
        <p:grpSpPr>
          <a:xfrm>
            <a:off x="533400" y="2969895"/>
            <a:ext cx="5410200" cy="1623060"/>
            <a:chOff x="533400" y="2969895"/>
            <a:chExt cx="5410200" cy="1623060"/>
          </a:xfrm>
        </p:grpSpPr>
        <p:sp>
          <p:nvSpPr>
            <p:cNvPr id="12" name="Rectangle 12"/>
            <p:cNvSpPr/>
            <p:nvPr/>
          </p:nvSpPr>
          <p:spPr>
            <a:xfrm>
              <a:off x="533400" y="2969895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6516" y="30941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10436" y="3094196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91497" y="3094196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6516" y="34999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18217" y="349996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= σ₂²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74664" y="349996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≠ σ₂²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766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814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6516" y="39057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18217" y="390572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≥ σ₂²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74664" y="390572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&lt; σ₂²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1824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6516" y="4311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18217" y="431149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≤ σ₂²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74664" y="431149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&gt; σ₂²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96989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26895" y="29698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83342" y="29698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166"/>
              <p:cNvSpPr txBox="1">
                <a:spLocks noGrp="1"/>
              </p:cNvSpPr>
              <p:nvPr/>
            </p:nvSpPr>
            <p:spPr>
              <a:xfrm>
                <a:off x="533400" y="4768215"/>
                <a:ext cx="5410200" cy="761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双边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  </m:t>
                          </m:r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或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左边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右边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37" name="c2-card-1"/>
          <p:cNvGrpSpPr/>
          <p:nvPr/>
        </p:nvGrpSpPr>
        <p:grpSpPr>
          <a:xfrm>
            <a:off x="6248400" y="1524000"/>
            <a:ext cx="5410200" cy="1250632"/>
            <a:chOff x="6248400" y="1524000"/>
            <a:chExt cx="5410200" cy="1250632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40805" y="1716405"/>
              <a:ext cx="1463992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02887" y="1750695"/>
              <a:ext cx="1340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均值 μ₁、μ₂ 未知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67"/>
                <p:cNvSpPr txBox="1">
                  <a:spLocks noGrp="1"/>
                </p:cNvSpPr>
                <p:nvPr/>
              </p:nvSpPr>
              <p:spPr>
                <a:xfrm>
                  <a:off x="6440805" y="2050732"/>
                  <a:ext cx="502539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7" name="c2-table-2"/>
          <p:cNvGrpSpPr/>
          <p:nvPr/>
        </p:nvGrpSpPr>
        <p:grpSpPr>
          <a:xfrm>
            <a:off x="6248400" y="2949892"/>
            <a:ext cx="5410200" cy="1623060"/>
            <a:chOff x="6248400" y="2949892"/>
            <a:chExt cx="5410200" cy="1623060"/>
          </a:xfrm>
        </p:grpSpPr>
        <p:sp>
          <p:nvSpPr>
            <p:cNvPr id="38" name="Rectangle 38"/>
            <p:cNvSpPr/>
            <p:nvPr/>
          </p:nvSpPr>
          <p:spPr>
            <a:xfrm>
              <a:off x="6248400" y="2949892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41516" y="3074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5436" y="3074194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原假设 H₀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06497" y="3074194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备择假设 H₁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41516" y="34799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33217" y="3479959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= σ₂²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89664" y="3479959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≠ σ₂²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7566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376142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41516" y="38857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33217" y="388572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≥ σ₂²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89664" y="388572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&lt; σ₂²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41624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1516" y="42914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33217" y="4291489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≤ σ₂²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89664" y="4291489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&gt; σ₂²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949892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41895" y="29498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598342" y="294989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formula168"/>
              <p:cNvSpPr txBox="1">
                <a:spLocks noGrp="1"/>
              </p:cNvSpPr>
              <p:nvPr/>
            </p:nvSpPr>
            <p:spPr>
              <a:xfrm>
                <a:off x="6248400" y="4748212"/>
                <a:ext cx="5410200" cy="761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双边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  </m:t>
                          </m:r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或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左边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r>
                            <m:rPr>
                              <m:nor m:val="on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右边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10092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H₀ 为真时比值应在 1 附近，过大过小都拒绝。附表只列右尾，左尾点用 F₁₋α(m, n) = 1/Fα(n, m) 换算，注意自由度对调。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73179" cy="909257"/>
            <a:chOff x="520446" y="342900"/>
            <a:chExt cx="94731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731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例6：两组数据来自同一总体吗？第一步先检验方差（F 检验）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274445"/>
            <a:chOff x="533400" y="1524000"/>
            <a:chExt cx="5842635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867" y="176355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0820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从两个正态总体 N(μ₁, σ₁²)、N(μ₂, σ₂²) 分别独立抽取样本，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观察值如下。能否认为两个样本来自同一总体（α = 0.05）？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2984182"/>
            <a:ext cx="5842635" cy="1290638"/>
            <a:chOff x="533400" y="2984182"/>
            <a:chExt cx="5842635" cy="1290638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584263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31156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3643" y="311562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45628" y="311562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88566" y="311562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31503" y="311562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63378" y="31156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87709" y="311562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样本方差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7052" y="35452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17015" y="354520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9000" y="354520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01938" y="354520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44875" y="354520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91648" y="354520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44249" y="354520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1.5467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395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844290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7052" y="39757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17015" y="39757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59000" y="39757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01938" y="39757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44875" y="39757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47223" y="397573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4249" y="397573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6.4367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2984182"/>
              <a:ext cx="584263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229678" y="298418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872615" y="298418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515552" y="298418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57538" y="298418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800475" y="298418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852035" y="298418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steps-3"/>
          <p:cNvGrpSpPr/>
          <p:nvPr/>
        </p:nvGrpSpPr>
        <p:grpSpPr>
          <a:xfrm>
            <a:off x="533400" y="4469130"/>
            <a:ext cx="4939284" cy="1169098"/>
            <a:chOff x="533400" y="4469130"/>
            <a:chExt cx="4939284" cy="1169098"/>
          </a:xfrm>
        </p:grpSpPr>
        <p:sp>
          <p:nvSpPr>
            <p:cNvPr id="45" name="Rectangle 45"/>
            <p:cNvSpPr/>
            <p:nvPr/>
          </p:nvSpPr>
          <p:spPr>
            <a:xfrm>
              <a:off x="666750" y="4612005"/>
              <a:ext cx="19050" cy="6210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33400" y="44691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7024" y="4542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33400" y="50901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7024" y="5163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5261" y="450294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先检验方差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6404" y="4783455"/>
              <a:ext cx="4229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H₀：σ₁² = σ₂²，H₁：σ₁² ≠ σ₂²；F = S₁²/S₂² ~ F(3, 3)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5261" y="51230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6404" y="5403532"/>
              <a:ext cx="4526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F₀.₀₂₅(3, 3) = 15.44，F₀.₉₇₅(3, 3) = 1/15.44 = 0.065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formula171"/>
              <p:cNvSpPr txBox="1">
                <a:spLocks noGrp="1"/>
              </p:cNvSpPr>
              <p:nvPr/>
            </p:nvSpPr>
            <p:spPr>
              <a:xfrm>
                <a:off x="6680835" y="1524000"/>
                <a:ext cx="497776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1.5467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6.4367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0.240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1" name="c2-card-2"/>
          <p:cNvGrpSpPr/>
          <p:nvPr/>
        </p:nvGrpSpPr>
        <p:grpSpPr>
          <a:xfrm>
            <a:off x="6680835" y="2224088"/>
            <a:ext cx="4977765" cy="1274445"/>
            <a:chOff x="6680835" y="2224088"/>
            <a:chExt cx="4977765" cy="1274445"/>
          </a:xfrm>
        </p:grpSpPr>
        <p:sp>
          <p:nvSpPr>
            <p:cNvPr id="56" name="Rectangle 56"/>
            <p:cNvSpPr/>
            <p:nvPr/>
          </p:nvSpPr>
          <p:spPr>
            <a:xfrm>
              <a:off x="6680835" y="2224088"/>
              <a:ext cx="497776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90360" y="235743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22770" y="242792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01129" y="246364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第一步结论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15531" y="2800826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{F ≤ 0.065 或 F ≥ 15.44}。0.065 &lt; 0.240 &lt;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15.44，接受 H₀，认为两个总体的方差相同。</a:t>
              </a:r>
            </a:p>
          </p:txBody>
        </p:sp>
      </p:grpSp>
      <p:grpSp>
        <p:nvGrpSpPr>
          <p:cNvPr id="72" name="c2-card-3"/>
          <p:cNvGrpSpPr/>
          <p:nvPr/>
        </p:nvGrpSpPr>
        <p:grpSpPr>
          <a:xfrm>
            <a:off x="6680835" y="3684270"/>
            <a:ext cx="4977765" cy="1945958"/>
            <a:chOff x="6680835" y="3684270"/>
            <a:chExt cx="4977765" cy="1945958"/>
          </a:xfrm>
        </p:grpSpPr>
        <p:sp>
          <p:nvSpPr>
            <p:cNvPr id="62" name="Rectangle 62"/>
            <p:cNvSpPr/>
            <p:nvPr/>
          </p:nvSpPr>
          <p:spPr>
            <a:xfrm>
              <a:off x="6680835" y="3684270"/>
              <a:ext cx="4977765" cy="1945958"/>
            </a:xfrm>
            <a:prstGeom prst="roundRect">
              <a:avLst>
                <a:gd name="adj" fmla="val 6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90360" y="3817620"/>
              <a:ext cx="47625" cy="1679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22770" y="38881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13931" y="39238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923722" y="424815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82067" y="42884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13664" y="4261009"/>
              <a:ext cx="37384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原课件把左尾临界值写成 F₀.₉₂₅(3, 3)，应为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F₀.₉₇₅(3, 3)，数值 0.065 没错。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923722" y="483965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982067" y="487999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213664" y="4852511"/>
              <a:ext cx="38737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原课件第一步写乙的均值为 2.6，应为 10.6/4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2.65，第二步用的 2.65 是对的。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3" name="Rectangle 7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511" y="6004084"/>
              <a:ext cx="98154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两个样本方差看起来差了四倍，但每组只有 4 个数据，F(3, 3) 的分位点很分散，这种差距还不足以判定方差不等。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93814" cy="909257"/>
            <a:chOff x="520446" y="342900"/>
            <a:chExt cx="105938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938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 续：方差相等后再检验均值（t 检验），两步都接受才算同一总体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919396" cy="2149412"/>
            <a:chOff x="533400" y="1533525"/>
            <a:chExt cx="4919396" cy="214941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5644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均值的假设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1818322"/>
              <a:ext cx="18746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H₀*：μ₁ = μ₂，H₁*：μ₁ ≠ μ₂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371725"/>
              <a:ext cx="450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第一步已认为 σ₁² = σ₂²，但其值未知，用合并方差的 t 检验，t ~ t(6)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925128"/>
              <a:ext cx="2730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t₀.₀₂₅(6) = 2.4469，W = {|t| ≥ 2.4469}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合并方差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477578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sw² = (3 × 1.5467 + 3 × 6.4367)/6 = 3.9917，sw = 1.998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78"/>
              <p:cNvSpPr txBox="1">
                <a:spLocks noGrp="1"/>
              </p:cNvSpPr>
              <p:nvPr/>
            </p:nvSpPr>
            <p:spPr>
              <a:xfrm>
                <a:off x="533400" y="3844290"/>
                <a:ext cx="584263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3.80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2.65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3.9917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0.814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2.4469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1" name="c1-card-3"/>
          <p:cNvGrpSpPr/>
          <p:nvPr/>
        </p:nvGrpSpPr>
        <p:grpSpPr>
          <a:xfrm>
            <a:off x="533400" y="4420552"/>
            <a:ext cx="5842635" cy="1143952"/>
            <a:chOff x="533400" y="4420552"/>
            <a:chExt cx="5842635" cy="1143952"/>
          </a:xfrm>
        </p:grpSpPr>
        <p:sp>
          <p:nvSpPr>
            <p:cNvPr id="26" name="Rectangle 26"/>
            <p:cNvSpPr/>
            <p:nvPr/>
          </p:nvSpPr>
          <p:spPr>
            <a:xfrm>
              <a:off x="533400" y="4420552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55390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460152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7044" y="46343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计算细节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5998" y="4942046"/>
              <a:ext cx="48653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× 1.5467 = 4.64 是甲组离差平方和，3 × 6.4367 = 19.31 是乙组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的，相加 23.95，除以 6 得 3.9917；√(1/4 + 1/4) = 0.7071。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680835" y="1524000"/>
            <a:ext cx="4977765" cy="1143952"/>
            <a:chOff x="6680835" y="1524000"/>
            <a:chExt cx="4977765" cy="1143952"/>
          </a:xfrm>
        </p:grpSpPr>
        <p:sp>
          <p:nvSpPr>
            <p:cNvPr id="32" name="Rectangle 32"/>
            <p:cNvSpPr/>
            <p:nvPr/>
          </p:nvSpPr>
          <p:spPr>
            <a:xfrm>
              <a:off x="6680835" y="1524000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0360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999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25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3433" y="2045494"/>
              <a:ext cx="4020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 H₀*，认为两个总体的均值相同。综合两步，在 α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 下认为两个样本来自同一总体。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680835" y="2832735"/>
            <a:ext cx="4977765" cy="1143952"/>
            <a:chOff x="6680835" y="2832735"/>
            <a:chExt cx="4977765" cy="1143952"/>
          </a:xfrm>
        </p:grpSpPr>
        <p:sp>
          <p:nvSpPr>
            <p:cNvPr id="38" name="Rectangle 38"/>
            <p:cNvSpPr/>
            <p:nvPr/>
          </p:nvSpPr>
          <p:spPr>
            <a:xfrm>
              <a:off x="6680835" y="2832735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0360" y="296608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99910" y="30137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92582" y="30465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93433" y="3354229"/>
              <a:ext cx="4369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原课件得 |t| = 0.82。按它自己的取整值 1.55、6.44 算也是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0.814，应为 0.81，结论不变。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680835" y="4141470"/>
            <a:ext cx="4977765" cy="1423035"/>
            <a:chOff x="6680835" y="4141470"/>
            <a:chExt cx="4977765" cy="1423035"/>
          </a:xfrm>
        </p:grpSpPr>
        <p:sp>
          <p:nvSpPr>
            <p:cNvPr id="44" name="Rectangle 44"/>
            <p:cNvSpPr/>
            <p:nvPr/>
          </p:nvSpPr>
          <p:spPr>
            <a:xfrm>
              <a:off x="6680835" y="4141470"/>
              <a:ext cx="4977765" cy="1423035"/>
            </a:xfrm>
            <a:prstGeom prst="roundRect">
              <a:avLst>
                <a:gd name="adj" fmla="val 93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4274820"/>
              <a:ext cx="47625" cy="11563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99910" y="432244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81380" y="435530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顺序不能反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93433" y="4662964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合并方差 t 检验以方差相等为前提，所以先做 F 检验。若 F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检验拒绝了方差相等，就已经可以断定两样本不是来自同一总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0" name="Rectangle 5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7611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正态总体由均值和方差两个参数决定，“来自同一总体”等价于两个参数都相等，因此要做两次检验。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两个正态总体的检验汇总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558851" cy="278702"/>
            <a:chOff x="526161" y="1547336"/>
            <a:chExt cx="555885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5588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两样本相互独立，容量 n₁、n₂，样本方差 S₁²、S₂²；δ 常取 0。</a:t>
              </a:r>
            </a:p>
          </p:txBody>
        </p:sp>
      </p:grpSp>
      <p:grpSp>
        <p:nvGrpSpPr>
          <p:cNvPr id="53" name="c1-table-1"/>
          <p:cNvGrpSpPr/>
          <p:nvPr/>
        </p:nvGrpSpPr>
        <p:grpSpPr>
          <a:xfrm>
            <a:off x="533400" y="1941195"/>
            <a:ext cx="11125200" cy="2464118"/>
            <a:chOff x="533400" y="1941195"/>
            <a:chExt cx="11125200" cy="246411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4481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4573" y="2069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91715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7034" y="20697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检验统计量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48688" y="2069782"/>
              <a:ext cx="1386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H₀ 为真时的分布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3950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84880" y="20697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双边拒绝域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17" y="2514600"/>
              <a:ext cx="652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3720" y="251460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σ₁²、σ₂² 已知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08461" y="2514600"/>
              <a:ext cx="323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(两均值之差 − δ)/√(σ₁²/n₁ + σ₂²/n₂)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394" y="2514600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N(0, 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66712" y="2514600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检验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30314" y="2514600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|u| ≥ uα/2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260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830830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8417" y="3078480"/>
              <a:ext cx="652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 − μ₂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60090" y="3078480"/>
              <a:ext cx="1240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 = σ₂² 未知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91223" y="2958465"/>
              <a:ext cx="247402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(两均值之差 − δ)/(Sw√(1/n₁ +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1/n₂))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6218" y="3078480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t(n₁ + n₂ − 2)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442008" y="2840355"/>
              <a:ext cx="982028" cy="6657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66712" y="3078480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检验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71472" y="3078480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|t| ≥ tα/2(n₁ + n₂ − 2)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10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0711" y="3643312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σ₁²/σ₂²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73675" y="3643312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μ₁、μ₂ 已知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62813" y="3643312"/>
              <a:ext cx="3330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[Σ(Xᵢ − μ₁)²/n₁] / [Σ(Yⱼ − μ₂)²/n₂]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9897" y="3643312"/>
              <a:ext cx="883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F(n₁, n₂)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62340" y="3643312"/>
              <a:ext cx="540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检验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19520" y="3643312"/>
              <a:ext cx="1653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F₁₋α/2 或 ≥ Fα/2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557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96049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0711" y="4088130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σ₁²/σ₂²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73675" y="4088130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μ₁、μ₂ 未知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51731" y="4088130"/>
              <a:ext cx="753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S₁²/S₂²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85115" y="4088130"/>
              <a:ext cx="1513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F(n₁ − 1, n₂ − 1)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442008" y="3970020"/>
              <a:ext cx="982028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62340" y="4088130"/>
              <a:ext cx="540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检验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19520" y="4088130"/>
              <a:ext cx="1653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F₁₋α/2 或 ≥ Fα/2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941195"/>
              <a:ext cx="11125200" cy="24631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752600" y="1941195"/>
              <a:ext cx="9525" cy="24631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198495" y="1941195"/>
              <a:ext cx="9525" cy="24631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47498" y="1941195"/>
              <a:ext cx="9525" cy="24631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27720" y="1941195"/>
              <a:ext cx="9525" cy="24631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428798" y="1941195"/>
              <a:ext cx="9525" cy="24631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1-callout-2"/>
          <p:cNvGrpSpPr/>
          <p:nvPr/>
        </p:nvGrpSpPr>
        <p:grpSpPr>
          <a:xfrm>
            <a:off x="533400" y="4579620"/>
            <a:ext cx="11125200" cy="1122998"/>
            <a:chOff x="533400" y="4579620"/>
            <a:chExt cx="11125200" cy="1122998"/>
          </a:xfrm>
        </p:grpSpPr>
        <p:sp>
          <p:nvSpPr>
            <p:cNvPr id="54" name="Rectangle 54"/>
            <p:cNvSpPr/>
            <p:nvPr/>
          </p:nvSpPr>
          <p:spPr>
            <a:xfrm>
              <a:off x="533400" y="4579620"/>
              <a:ext cx="11125200" cy="1122998"/>
            </a:xfrm>
            <a:prstGeom prst="roundRect">
              <a:avLst>
                <a:gd name="adj" fmla="val 1017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041583"/>
              <a:ext cx="200026" cy="200025"/>
              <a:chOff x="738188" y="5041583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0415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50860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51971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5047298"/>
              <a:ext cx="9187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单边检验照单总体的规律改：H₁ 取“&lt;”只留左尾，取“&gt;”只留右尾，α/2 换成 α。F 检验的左尾点用倒数关系换算。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1" name="Rectangle 6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623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表中第二行要求方差相等；方差是否相等没有给出时，先做第四行的 F 检验。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选哪种检验：三个问题定下统计量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533400" y="1574482"/>
            <a:ext cx="6493193" cy="3379471"/>
            <a:chOff x="533400" y="1574482"/>
            <a:chExt cx="6493193" cy="3379471"/>
          </a:xfrm>
        </p:grpSpPr>
        <p:sp>
          <p:nvSpPr>
            <p:cNvPr id="7" name="Freeform 7"/>
            <p:cNvSpPr/>
            <p:nvPr/>
          </p:nvSpPr>
          <p:spPr>
            <a:xfrm>
              <a:off x="4414838" y="1741170"/>
              <a:ext cx="419100" cy="218122"/>
            </a:xfrm>
            <a:custGeom>
              <a:avLst/>
              <a:gdLst/>
              <a:ahLst/>
              <a:cxnLst/>
              <a:rect l="l" t="t" r="r" b="b"/>
              <a:pathLst>
                <a:path w="419100" h="218122">
                  <a:moveTo>
                    <a:pt x="0" y="218122"/>
                  </a:moveTo>
                  <a:lnTo>
                    <a:pt x="209550" y="21812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414838" y="1959292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0"/>
                  </a:moveTo>
                  <a:lnTo>
                    <a:pt x="209550" y="0"/>
                  </a:lnTo>
                  <a:lnTo>
                    <a:pt x="209550" y="217170"/>
                  </a:lnTo>
                  <a:lnTo>
                    <a:pt x="419100" y="2171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414838" y="2611755"/>
              <a:ext cx="419100" cy="218123"/>
            </a:xfrm>
            <a:custGeom>
              <a:avLst/>
              <a:gdLst/>
              <a:ahLst/>
              <a:cxnLst/>
              <a:rect l="l" t="t" r="r" b="b"/>
              <a:pathLst>
                <a:path w="419100" h="218123">
                  <a:moveTo>
                    <a:pt x="0" y="218123"/>
                  </a:moveTo>
                  <a:lnTo>
                    <a:pt x="209550" y="21812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14838" y="2829878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0"/>
                  </a:moveTo>
                  <a:lnTo>
                    <a:pt x="209550" y="0"/>
                  </a:lnTo>
                  <a:lnTo>
                    <a:pt x="209550" y="217170"/>
                  </a:lnTo>
                  <a:lnTo>
                    <a:pt x="419100" y="2171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69908" y="1959292"/>
              <a:ext cx="419100" cy="435293"/>
            </a:xfrm>
            <a:custGeom>
              <a:avLst/>
              <a:gdLst/>
              <a:ahLst/>
              <a:cxnLst/>
              <a:rect l="l" t="t" r="r" b="b"/>
              <a:pathLst>
                <a:path w="419100" h="435293">
                  <a:moveTo>
                    <a:pt x="0" y="435293"/>
                  </a:moveTo>
                  <a:lnTo>
                    <a:pt x="209550" y="43529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69908" y="2394585"/>
              <a:ext cx="419100" cy="435293"/>
            </a:xfrm>
            <a:custGeom>
              <a:avLst/>
              <a:gdLst/>
              <a:ahLst/>
              <a:cxnLst/>
              <a:rect l="l" t="t" r="r" b="b"/>
              <a:pathLst>
                <a:path w="419100" h="435293">
                  <a:moveTo>
                    <a:pt x="0" y="0"/>
                  </a:moveTo>
                  <a:lnTo>
                    <a:pt x="209550" y="0"/>
                  </a:lnTo>
                  <a:lnTo>
                    <a:pt x="209550" y="435293"/>
                  </a:lnTo>
                  <a:lnTo>
                    <a:pt x="419100" y="43529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414838" y="3482340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217170"/>
                  </a:moveTo>
                  <a:lnTo>
                    <a:pt x="209550" y="2171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14838" y="3699510"/>
              <a:ext cx="419100" cy="218123"/>
            </a:xfrm>
            <a:custGeom>
              <a:avLst/>
              <a:gdLst/>
              <a:ahLst/>
              <a:cxnLst/>
              <a:rect l="l" t="t" r="r" b="b"/>
              <a:pathLst>
                <a:path w="419100" h="218123">
                  <a:moveTo>
                    <a:pt x="0" y="0"/>
                  </a:moveTo>
                  <a:lnTo>
                    <a:pt x="209550" y="0"/>
                  </a:lnTo>
                  <a:lnTo>
                    <a:pt x="209550" y="218123"/>
                  </a:lnTo>
                  <a:lnTo>
                    <a:pt x="419100" y="21812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414838" y="4352925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217170"/>
                  </a:moveTo>
                  <a:lnTo>
                    <a:pt x="209550" y="2171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414838" y="4570095"/>
              <a:ext cx="419100" cy="218122"/>
            </a:xfrm>
            <a:custGeom>
              <a:avLst/>
              <a:gdLst/>
              <a:ahLst/>
              <a:cxnLst/>
              <a:rect l="l" t="t" r="r" b="b"/>
              <a:pathLst>
                <a:path w="419100" h="218122">
                  <a:moveTo>
                    <a:pt x="0" y="0"/>
                  </a:moveTo>
                  <a:lnTo>
                    <a:pt x="209550" y="0"/>
                  </a:lnTo>
                  <a:lnTo>
                    <a:pt x="209550" y="218122"/>
                  </a:lnTo>
                  <a:lnTo>
                    <a:pt x="419100" y="21812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069908" y="3699510"/>
              <a:ext cx="419100" cy="435293"/>
            </a:xfrm>
            <a:custGeom>
              <a:avLst/>
              <a:gdLst/>
              <a:ahLst/>
              <a:cxnLst/>
              <a:rect l="l" t="t" r="r" b="b"/>
              <a:pathLst>
                <a:path w="419100" h="435293">
                  <a:moveTo>
                    <a:pt x="0" y="435293"/>
                  </a:moveTo>
                  <a:lnTo>
                    <a:pt x="209550" y="43529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069908" y="4134802"/>
              <a:ext cx="419100" cy="435292"/>
            </a:xfrm>
            <a:custGeom>
              <a:avLst/>
              <a:gdLst/>
              <a:ahLst/>
              <a:cxnLst/>
              <a:rect l="l" t="t" r="r" b="b"/>
              <a:pathLst>
                <a:path w="419100" h="435292">
                  <a:moveTo>
                    <a:pt x="0" y="0"/>
                  </a:moveTo>
                  <a:lnTo>
                    <a:pt x="209550" y="0"/>
                  </a:lnTo>
                  <a:lnTo>
                    <a:pt x="209550" y="435292"/>
                  </a:lnTo>
                  <a:lnTo>
                    <a:pt x="419100" y="4352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859280" y="2394585"/>
              <a:ext cx="419100" cy="870585"/>
            </a:xfrm>
            <a:custGeom>
              <a:avLst/>
              <a:gdLst/>
              <a:ahLst/>
              <a:cxnLst/>
              <a:rect l="l" t="t" r="r" b="b"/>
              <a:pathLst>
                <a:path w="419100" h="870585">
                  <a:moveTo>
                    <a:pt x="0" y="870585"/>
                  </a:moveTo>
                  <a:lnTo>
                    <a:pt x="209550" y="8705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859280" y="3265170"/>
              <a:ext cx="419100" cy="869633"/>
            </a:xfrm>
            <a:custGeom>
              <a:avLst/>
              <a:gdLst/>
              <a:ahLst/>
              <a:cxnLst/>
              <a:rect l="l" t="t" r="r" b="b"/>
              <a:pathLst>
                <a:path w="419100" h="869633">
                  <a:moveTo>
                    <a:pt x="0" y="0"/>
                  </a:moveTo>
                  <a:lnTo>
                    <a:pt x="209550" y="0"/>
                  </a:lnTo>
                  <a:lnTo>
                    <a:pt x="209550" y="869633"/>
                  </a:lnTo>
                  <a:lnTo>
                    <a:pt x="419100" y="86963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33938" y="1574482"/>
              <a:ext cx="219265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33938" y="2009775"/>
              <a:ext cx="219265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89008" y="1792605"/>
              <a:ext cx="925830" cy="333375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833938" y="2445068"/>
              <a:ext cx="219265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833938" y="2880360"/>
              <a:ext cx="219265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89008" y="2662238"/>
              <a:ext cx="925830" cy="333375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78380" y="2227898"/>
              <a:ext cx="792480" cy="333375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833938" y="3315652"/>
              <a:ext cx="219265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33938" y="3750945"/>
              <a:ext cx="219265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489008" y="3532822"/>
              <a:ext cx="925830" cy="333375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833938" y="4185285"/>
              <a:ext cx="219265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33938" y="4620578"/>
              <a:ext cx="219265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489008" y="4403408"/>
              <a:ext cx="925830" cy="333375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78380" y="3968115"/>
              <a:ext cx="792480" cy="333375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097530"/>
              <a:ext cx="1325880" cy="333375"/>
            </a:xfrm>
            <a:prstGeom prst="roundRect">
              <a:avLst>
                <a:gd name="adj" fmla="val 2857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923854" y="1667828"/>
              <a:ext cx="1035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已知：u 检验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23854" y="2103120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未知：t(n − 1)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78924" y="18859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单总体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23854" y="2538412"/>
              <a:ext cx="1120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方差已知：u 检验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23854" y="2973705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方差相等未知：t(n₁+n₂−2)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78924" y="27565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两总体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68296" y="23212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23854" y="3408998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已知：χ²(n)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23854" y="3844290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未知：χ²(n − 1)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78924" y="36261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单总体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23854" y="4279582"/>
              <a:ext cx="1394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均值已知：F(n₁, n₂)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23854" y="4714875"/>
              <a:ext cx="17111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均值未知：F(n₁−1, n₂−1)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78924" y="4496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两总体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368296" y="40614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方差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3316" y="31918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检验什么参数</a:t>
              </a:r>
            </a:p>
          </p:txBody>
        </p:sp>
      </p:grpSp>
      <p:grpSp>
        <p:nvGrpSpPr>
          <p:cNvPr id="65" name="c2-steps-1"/>
          <p:cNvGrpSpPr/>
          <p:nvPr/>
        </p:nvGrpSpPr>
        <p:grpSpPr>
          <a:xfrm>
            <a:off x="7330440" y="1533525"/>
            <a:ext cx="3350400" cy="1596962"/>
            <a:chOff x="7330440" y="1533525"/>
            <a:chExt cx="3350400" cy="1596962"/>
          </a:xfrm>
        </p:grpSpPr>
        <p:sp>
          <p:nvSpPr>
            <p:cNvPr id="52" name="Rectangle 52"/>
            <p:cNvSpPr/>
            <p:nvPr/>
          </p:nvSpPr>
          <p:spPr>
            <a:xfrm>
              <a:off x="7463790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33044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2406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3044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2406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43063" y="15644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检验均值还是方差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44206" y="1818322"/>
              <a:ext cx="19327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均值用 u 或 t，方差用 χ² 或 F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43063" y="21169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一个总体还是两个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44206" y="237172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两个总体看均值差或方差比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43063" y="26703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另一个参数是否已知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44206" y="2925128"/>
              <a:ext cx="29366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未知就用样本量代替，自由度减 1，正态换成 t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7330440" y="3291840"/>
            <a:ext cx="4328160" cy="1185862"/>
            <a:chOff x="7330440" y="3291840"/>
            <a:chExt cx="4328160" cy="1185862"/>
          </a:xfrm>
        </p:grpSpPr>
        <p:sp>
          <p:nvSpPr>
            <p:cNvPr id="66" name="Rectangle 66"/>
            <p:cNvSpPr/>
            <p:nvPr/>
          </p:nvSpPr>
          <p:spPr>
            <a:xfrm>
              <a:off x="7330440" y="3291840"/>
              <a:ext cx="432816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39965" y="342519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549515" y="347281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626934" y="350567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用例题走一遍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559040" y="38652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714488" y="3812381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例4：方差、单总体、μ 未知，χ²(n − 1)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559040" y="41500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714488" y="4098131"/>
              <a:ext cx="32438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例5：均值、两总体、方差相等未知，t(8)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7330440" y="4642485"/>
            <a:ext cx="4328160" cy="937260"/>
            <a:chOff x="7330440" y="4642485"/>
            <a:chExt cx="4328160" cy="937260"/>
          </a:xfrm>
        </p:grpSpPr>
        <p:sp>
          <p:nvSpPr>
            <p:cNvPr id="75" name="Rectangle 75"/>
            <p:cNvSpPr/>
            <p:nvPr/>
          </p:nvSpPr>
          <p:spPr>
            <a:xfrm>
              <a:off x="7330440" y="4642485"/>
              <a:ext cx="4328160" cy="937260"/>
            </a:xfrm>
            <a:prstGeom prst="roundRect">
              <a:avLst>
                <a:gd name="adj" fmla="val 12195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535228" y="5011105"/>
              <a:ext cx="200023" cy="200023"/>
              <a:chOff x="7535228" y="5011105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535228" y="50111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668578" y="50777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7838313" y="4787741"/>
              <a:ext cx="341858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实际问题里另一参数往往未知，最常用的是 t(n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− 1)、t(n₁ + n₂ − 2)、χ²(n − 1)、F(n₁ − 1,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n₂ − 1) 四种。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1" name="Rectangle 8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1273" y="6039326"/>
              <a:ext cx="56900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定下统计量后再看 H₁ 的方向决定双边或单边，最后按 α 查表写出拒绝域。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 · 两个正态总体的参数检验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易错点：单双边、查表、自由度与结论的措辞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0632"/>
            <a:chOff x="533400" y="1524000"/>
            <a:chExt cx="5410200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605915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271" y="1756410"/>
              <a:ext cx="14906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1. 单边、双边的临界值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1713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= 0.05 时双边查 u₀.₀₂₅ = 1.96，单边查 u₀.₀₅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1.645。例2 若误用双边，结论会从拒绝变成接受。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5608"/>
            <a:ext cx="5410200" cy="1250632"/>
            <a:chOff x="533400" y="2955608"/>
            <a:chExt cx="5410200" cy="125063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5608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8895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9620" y="3153728"/>
              <a:ext cx="134493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1202" y="3188018"/>
              <a:ext cx="1221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2. χ²、F 的左尾点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3514249"/>
              <a:ext cx="46852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两个分布都不对称，左尾点要查 χ²₁₋α/2 或用 F₁₋α/2(m,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n) = 1/Fα/2(n, m) 换算，不能写成负数。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6262"/>
            <a:ext cx="5410200" cy="1250632"/>
            <a:chOff x="533400" y="4386262"/>
            <a:chExt cx="5410200" cy="125063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6262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519612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4584382"/>
              <a:ext cx="805815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1274" y="4618672"/>
              <a:ext cx="642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3. 自由度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381" y="4944904"/>
              <a:ext cx="45139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已知的 χ² 检验用 n，μ 未知用 n − 1；两样本 t 检验用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+ n₂ − 2；F 检验分子自由度在前。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0632"/>
            <a:chOff x="6248400" y="1524000"/>
            <a:chExt cx="5410200" cy="125063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84620" y="1722120"/>
              <a:ext cx="1072515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73" y="1756410"/>
              <a:ext cx="925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4. 假设的写法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7381" y="2082641"/>
              <a:ext cx="46762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等号放在 H₀；要证明的结论放在 H₁。“是否提高”写 H₁：μ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μ₀，而不是把它放进 H₀。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5608"/>
            <a:ext cx="5410200" cy="1250632"/>
            <a:chOff x="6248400" y="2955608"/>
            <a:chExt cx="5410200" cy="125063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5608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308895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84620" y="3153728"/>
              <a:ext cx="939165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2274" y="3188018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5. 前提条件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7381" y="3514249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两样本 t 检验要求方差相等且两样本独立。方差未给出时先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 F 检验；成对数据改用差值法。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6262"/>
            <a:ext cx="5410200" cy="1250632"/>
            <a:chOff x="6248400" y="4386262"/>
            <a:chExt cx="5410200" cy="125063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6262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4519612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84620" y="4584382"/>
              <a:ext cx="1072515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8273" y="4618672"/>
              <a:ext cx="925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6. 结论的措辞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7381" y="4944904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写“在显著性水平 α 下拒绝（接受）H₀”，再翻译回实际问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题。接受 H₀ 只是没有足够证据反对它。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3" name="Rectangle 4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11704"/>
              <a:ext cx="70587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同一组数据，α 越小越难拒绝。在 α = 0.05 下接受的，在 α = 0.01 下一定也接受。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自测题（一）：概念与判断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2676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犯第一类错误的概率与显著性水平 α 有什么关系？样本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容量固定时，把 α 调小会怎样？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犯第一类错误的概率不超过 α。α 调小后拒绝域变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小、接受域变大，第二类错误的概率 β 一般会增大。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1937385"/>
            <a:chOff x="533400" y="365188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6767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某厂声称新配方使产品平均强度超过 50，想用数据支持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这个说法，H₀ 和 H₁ 怎样写？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H₀：μ ≤ 50，H₁：μ &gt; 50，右边检验。要证明的结论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放在 H₁。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66296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已知，α = 0.05，算得 u = 1.80。双边检验与右边检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验的结论各是什么？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双边：1.80 &lt; 1.96，接受 H₀；右边：1.80 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1.645，拒绝 H₀。单边的临界值更靠近 0。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937385"/>
            <a:chOff x="6248400" y="36518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57200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α = 0.05 下拒绝了 H₀，在 α = 0.01 下是否一定拒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绝？反过来呢？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不一定，α = 0.01 的拒绝域更小。反过来，α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 下拒绝的，α = 0.05 下一定拒绝。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84854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判断题的关键是拒绝域怎样随 α 和 H₁ 的方向变化：α 变小拒绝域缩小，单边把 α 集中到一侧。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4248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正态总体 σ 未知，n = 16，样本均值 10.5，s = 1.2。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 H₀：μ = 10，H₁：μ ≠ 10（α = 0.05）。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0.5/(1.2/4) = 1.667 &lt; t₀.₀₂₅(15)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2.1314，接受 H₀。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1937385"/>
            <a:chOff x="533400" y="365188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5200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未知，n = 10，s² = 0.09。检验 H₀：σ² ≤ 0.04，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H₁：σ² &gt; 0.04（α = 0.05）。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158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= 9 × 0.09/0.04 = 20.25 ≥ χ²₀.₀₅(9)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16.919，拒绝 H₀，认为方差变大了。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67058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2 已知，n = 25，检验 H₀：μ ≤ 5，H₁：μ &gt; 5（α =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0.05），用样本均值写出拒绝域。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≥ 1.645 等价于样本均值 ≥ 5 + 1.645 × 2/5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5.658。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937385"/>
            <a:chOff x="6248400" y="36518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3000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两独立正态样本 n₁ = n₂ = 10，s₁² = 4.2，s₂² =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1.5，检验方差是否相等（α = 0.05）。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682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2.8，F₀.₀₂₅(9, 9) = 4.03，左尾点 1/4.03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0.248；0.248 &lt; 2.8 &lt; 4.03，接受方差相等。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计算题按四步写全：假设、统计量及其分布、拒绝域、代入数值下结论，最后把结论翻译回实际问题。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假设检验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059805" cy="3050858"/>
            <a:chOff x="533400" y="1524000"/>
            <a:chExt cx="6059805" cy="3050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539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81641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要记住的结论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24481" y="2023110"/>
              <a:ext cx="3397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概率意义下的反证法：H₀ 下小概率事件发生就拒绝 H₀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两类错误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24481" y="2404110"/>
              <a:ext cx="2894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弃真概率 ≤ α，取伪概率 β；n 固定时此消彼长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单双边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24481" y="2785110"/>
              <a:ext cx="24107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H₁：≠ 双边各 α/2，&lt; 左尾，&gt; 右尾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单总体均值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4481" y="3167062"/>
              <a:ext cx="1954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已知 u 检验，未知 t(n − 1)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单总体方差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24481" y="3548062"/>
              <a:ext cx="19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已知 χ²(n)，未知 χ²(n − 1)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807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811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9300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两总体均值差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24481" y="3930015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方差已知 u 检验，相等未知 t(n₁ + n₂ − 2)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89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3110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两总体方差比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24481" y="4311015"/>
              <a:ext cx="16924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检验；左尾点用倒数换算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059805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25040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2"/>
          <p:cNvGrpSpPr/>
          <p:nvPr/>
        </p:nvGrpSpPr>
        <p:grpSpPr>
          <a:xfrm>
            <a:off x="533400" y="4739640"/>
            <a:ext cx="6059805" cy="661988"/>
            <a:chOff x="533400" y="4739640"/>
            <a:chExt cx="6059805" cy="661988"/>
          </a:xfrm>
        </p:grpSpPr>
        <p:sp>
          <p:nvSpPr>
            <p:cNvPr id="36" name="Rectangle 36"/>
            <p:cNvSpPr/>
            <p:nvPr/>
          </p:nvSpPr>
          <p:spPr>
            <a:xfrm>
              <a:off x="533400" y="4739640"/>
              <a:ext cx="6059805" cy="661988"/>
            </a:xfrm>
            <a:prstGeom prst="roundRect">
              <a:avLst>
                <a:gd name="adj" fmla="val 172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4971100"/>
              <a:ext cx="200023" cy="200023"/>
              <a:chOff x="738188" y="497110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49711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5037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1273" y="4982051"/>
              <a:ext cx="52082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四个步骤：提假设、选统计量、按 α 定拒绝域、代入样本值下结论。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898005" y="1524000"/>
            <a:ext cx="4760595" cy="2242185"/>
            <a:chOff x="6898005" y="1524000"/>
            <a:chExt cx="4760595" cy="2242185"/>
          </a:xfrm>
        </p:grpSpPr>
        <p:sp>
          <p:nvSpPr>
            <p:cNvPr id="42" name="Rectangle 42"/>
            <p:cNvSpPr/>
            <p:nvPr/>
          </p:nvSpPr>
          <p:spPr>
            <a:xfrm>
              <a:off x="6898005" y="1524000"/>
              <a:ext cx="4760595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07530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17080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79246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117080" y="203358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68987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6828" y="2045494"/>
              <a:ext cx="3833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灯泡应为右边检验，分子 1575 − 1000 应为 1575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− 1500。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17080" y="25622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68987" y="25968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86828" y="2573179"/>
              <a:ext cx="29595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 又解的 |t| = 0.2177 应为 1.089。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17080" y="284702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68987" y="28826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86828" y="2857976"/>
              <a:ext cx="3524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 的 F₀.₉₂₅ 应为 F₀.₉₇₅，乙的均值 2.6 应为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2.65，|t| = 0.82 应为 0.81。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17080" y="337470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68987" y="341033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86828" y="3385661"/>
              <a:ext cx="4139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引例、例1、例3、例5 的几处末位取整已改为精确值。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898005" y="3930968"/>
            <a:ext cx="4760595" cy="1471612"/>
            <a:chOff x="6898005" y="3930968"/>
            <a:chExt cx="4760595" cy="1471612"/>
          </a:xfrm>
        </p:grpSpPr>
        <p:sp>
          <p:nvSpPr>
            <p:cNvPr id="59" name="Rectangle 59"/>
            <p:cNvSpPr/>
            <p:nvPr/>
          </p:nvSpPr>
          <p:spPr>
            <a:xfrm>
              <a:off x="6898005" y="3930968"/>
              <a:ext cx="476059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07530" y="4064318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17080" y="411194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97598" y="414480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补充的内容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26605" y="450437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82053" y="4451509"/>
              <a:ext cx="3261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两类错误的面积图与 β 随 n、α 变化的计算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26605" y="478917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82053" y="4737259"/>
              <a:ext cx="3261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值、样本均值尺度的拒绝域、单双边对照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126605" y="507396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82053" y="502205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选检验的判断树，全部例题用脚本复核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65537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复习顺序：先会写 H₀、H₁ 并判断单双边，再按判断树选统计量，最后练查表和计算。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第8章 假设检验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b_ch8">
  <a:themeElements>
    <a:clrScheme name="prob_ch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_ch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b_ch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2026-09-23T11:13:47Z</dcterms:created>
  <dcterms:modified xsi:type="dcterms:W3CDTF">2026-09-23T11:13:47Z</dcterms:modified>
  <cp:category/>
  <cp:contentStatus/>
</cp:coreProperties>
</file>