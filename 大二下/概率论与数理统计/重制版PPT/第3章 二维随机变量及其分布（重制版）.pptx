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b_ch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b_ch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e3cd1ef4dfbfbae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0fc2264d2340b23.png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fb8b139bc9e8ea3.png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692140" cy="3437763"/>
            <a:chOff x="666750" y="1619250"/>
            <a:chExt cx="569214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203132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5722" y="1718310"/>
              <a:ext cx="198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概率论与数理统计 · 第三章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692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二维随机变量及其分布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两个随机变量放在一起看，会多出哪些信息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联合分布与边缘分布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独立性的三种判别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条件分布与条件密度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和、最大值与最小值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96454" cy="205359"/>
            <a:chOff x="680466" y="6192202"/>
            <a:chExt cx="469645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96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自学复习版｜据吉林大学《概率论与数理统计》第三章课件整理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316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3114" y="40719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二维随机变量及其分布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联合分布函数、联合分布律、联合概率密度与两种常用分布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边缘分布与独立性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由联合分布求边缘分布，再判断两个变量是否独立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条件分布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固定一个变量的取值，另一个变量怎么分布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二维随机变量函数的分布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和、商、积、最大值、最小值的分布与卷积公式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3256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维随机变量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140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把二维的定义与结论推广到 n 个随机变量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由联合分布函数求出联合概率密度，或反过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来由密度积出分布函数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看到一块平面区域，能写对二重积分的上下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限并算出落在其中的概率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用联合分布律等于边缘乘积、或联合密度等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于边缘密度乘积判断独立性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写出离散型的条件分布律与连续型的条件概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率密度，并用它计算条件概率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用分布函数法或卷积公式求出和、最大值、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最小值的分布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313170" cy="3321367"/>
            <a:chOff x="667512" y="1835468"/>
            <a:chExt cx="6313170" cy="332136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二维随机变量及其分布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把两个随机变量绑成平面上的一个随机点，再用一个二元函数装下它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的概率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31005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联合分布函数 F(x, y) 与四条性质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二维离散型的联合分布律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二维连续型的联合概率密度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二维随机变量及其分布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联合分布函数量的是左下方那一整块的概率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geoA"/>
          <p:cNvGrpSpPr/>
          <p:nvPr/>
        </p:nvGrpSpPr>
        <p:grpSpPr>
          <a:xfrm>
            <a:off x="533400" y="1524000"/>
            <a:ext cx="5524500" cy="4762500"/>
            <a:chOff x="533400" y="1524000"/>
            <a:chExt cx="5524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29719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F(x, y) 量的是左下方那一整块的概率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39444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 (X, Y) 看成平面上的随机点，阴影里的概率就是 F(x, y)。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1352550" y="3079956"/>
              <a:ext cx="2224221" cy="1568244"/>
            </a:xfrm>
            <a:custGeom>
              <a:avLst/>
              <a:gdLst/>
              <a:ahLst/>
              <a:cxnLst/>
              <a:rect l="l" t="t" r="r" b="b"/>
              <a:pathLst>
                <a:path w="2224221" h="1568244">
                  <a:moveTo>
                    <a:pt x="0" y="1568244"/>
                  </a:moveTo>
                  <a:lnTo>
                    <a:pt x="2224221" y="1568244"/>
                  </a:lnTo>
                  <a:lnTo>
                    <a:pt x="22242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FF3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1352550" y="3792798"/>
              <a:ext cx="3095625" cy="9525"/>
            </a:xfrm>
            <a:custGeom>
              <a:avLst/>
              <a:gdLst/>
              <a:ahLst/>
              <a:cxnLst/>
              <a:rect l="l" t="t" r="r" b="b"/>
              <a:pathLst>
                <a:path w="3095625" h="9525">
                  <a:moveTo>
                    <a:pt x="0" y="0"/>
                  </a:moveTo>
                  <a:lnTo>
                    <a:pt x="309562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4448175" y="3762794"/>
              <a:ext cx="66675" cy="60008"/>
            </a:xfrm>
            <a:custGeom>
              <a:avLst/>
              <a:gdLst/>
              <a:ahLst/>
              <a:cxnLst/>
              <a:rect l="l" t="t" r="r" b="b"/>
              <a:pathLst>
                <a:path w="66675" h="60008">
                  <a:moveTo>
                    <a:pt x="66675" y="30004"/>
                  </a:moveTo>
                  <a:lnTo>
                    <a:pt x="0" y="60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2464660" y="2390775"/>
              <a:ext cx="9525" cy="2257425"/>
            </a:xfrm>
            <a:custGeom>
              <a:avLst/>
              <a:gdLst/>
              <a:ahLst/>
              <a:cxnLst/>
              <a:rect l="l" t="t" r="r" b="b"/>
              <a:pathLst>
                <a:path w="9525" h="2257425">
                  <a:moveTo>
                    <a:pt x="0" y="22574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2434657" y="232410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57141" y="37270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35526" y="2229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02659" y="3849472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576771" y="3079956"/>
              <a:ext cx="9525" cy="1568244"/>
            </a:xfrm>
            <a:custGeom>
              <a:avLst/>
              <a:gdLst/>
              <a:ahLst/>
              <a:cxnLst/>
              <a:rect l="l" t="t" r="r" b="b"/>
              <a:pathLst>
                <a:path w="9525" h="1568244">
                  <a:moveTo>
                    <a:pt x="0" y="1568244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2F4B9A"/>
              </a:solidFill>
              <a:custDash>
                <a:ds d="312500" sp="250000"/>
              </a:custDash>
            </a:ln>
          </p:spPr>
        </p:sp>
        <p:sp>
          <p:nvSpPr>
            <p:cNvPr id="19" name="Line 19"/>
            <p:cNvSpPr/>
            <p:nvPr/>
          </p:nvSpPr>
          <p:spPr>
            <a:xfrm>
              <a:off x="1352550" y="3079956"/>
              <a:ext cx="2224221" cy="9525"/>
            </a:xfrm>
            <a:custGeom>
              <a:avLst/>
              <a:gdLst/>
              <a:ahLst/>
              <a:cxnLst/>
              <a:rect l="l" t="t" r="r" b="b"/>
              <a:pathLst>
                <a:path w="2224221" h="9525">
                  <a:moveTo>
                    <a:pt x="0" y="0"/>
                  </a:moveTo>
                  <a:lnTo>
                    <a:pt x="2224221" y="0"/>
                  </a:lnTo>
                </a:path>
              </a:pathLst>
            </a:custGeom>
            <a:noFill/>
            <a:ln w="15240">
              <a:solidFill>
                <a:srgbClr val="2F4B9A"/>
              </a:solidFill>
              <a:custDash>
                <a:ds d="312500" sp="250000"/>
              </a:custDash>
            </a:ln>
          </p:spPr>
        </p:sp>
        <p:sp>
          <p:nvSpPr>
            <p:cNvPr id="20" name="Ellipse 20"/>
            <p:cNvSpPr/>
            <p:nvPr/>
          </p:nvSpPr>
          <p:spPr>
            <a:xfrm>
              <a:off x="3529146" y="3032331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29101" y="2895324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(x, y)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35157" y="4184590"/>
              <a:ext cx="5921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F(x, y)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576771" y="3792798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417035" y="3079956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23900" y="5257800"/>
              <a:ext cx="5143500" cy="8382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33425" y="5362575"/>
              <a:ext cx="47625" cy="6286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95350" y="5362575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96315" y="54159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9826" y="5673804"/>
              <a:ext cx="4143184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F(x, y) = P{X ≤ x, Y ≤ y}：两个不等式同时成立。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阴影向左、向下都伸到无穷远，所以 x、y 一起变大时 F 只增不减。</a:t>
              </a:r>
            </a:p>
          </p:txBody>
        </p:sp>
      </p:grpSp>
      <p:grpSp>
        <p:nvGrpSpPr>
          <p:cNvPr id="60" name="geoB"/>
          <p:cNvGrpSpPr/>
          <p:nvPr/>
        </p:nvGrpSpPr>
        <p:grpSpPr>
          <a:xfrm>
            <a:off x="6210300" y="1524000"/>
            <a:ext cx="5448300" cy="4762500"/>
            <a:chOff x="6210300" y="1524000"/>
            <a:chExt cx="5448300" cy="4762500"/>
          </a:xfrm>
        </p:grpSpPr>
        <p:sp>
          <p:nvSpPr>
            <p:cNvPr id="31" name="Rectangle 31"/>
            <p:cNvSpPr/>
            <p:nvPr/>
          </p:nvSpPr>
          <p:spPr>
            <a:xfrm>
              <a:off x="6210300" y="1524000"/>
              <a:ext cx="54483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94323" y="1662589"/>
              <a:ext cx="24728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矩形区域的概率：四个 F 值加减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95466" y="1925002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两块大区域重叠了一次，所以减两次以后要再加回来一次。</a:t>
              </a:r>
            </a:p>
          </p:txBody>
        </p:sp>
        <p:sp>
          <p:nvSpPr>
            <p:cNvPr id="34" name="Polygon 34"/>
            <p:cNvSpPr/>
            <p:nvPr/>
          </p:nvSpPr>
          <p:spPr>
            <a:xfrm>
              <a:off x="8200158" y="2880360"/>
              <a:ext cx="1260767" cy="843744"/>
            </a:xfrm>
            <a:custGeom>
              <a:avLst/>
              <a:gdLst/>
              <a:ahLst/>
              <a:cxnLst/>
              <a:rect l="l" t="t" r="r" b="b"/>
              <a:pathLst>
                <a:path w="1260767" h="843744">
                  <a:moveTo>
                    <a:pt x="0" y="843744"/>
                  </a:moveTo>
                  <a:lnTo>
                    <a:pt x="1260767" y="843744"/>
                  </a:lnTo>
                  <a:lnTo>
                    <a:pt x="12607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C6AC"/>
            </a:solidFill>
            <a:ln w="15240">
              <a:solidFill>
                <a:srgbClr val="C2410C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7029450" y="4286593"/>
              <a:ext cx="3019425" cy="9525"/>
            </a:xfrm>
            <a:custGeom>
              <a:avLst/>
              <a:gdLst/>
              <a:ahLst/>
              <a:cxnLst/>
              <a:rect l="l" t="t" r="r" b="b"/>
              <a:pathLst>
                <a:path w="3019425" h="9525">
                  <a:moveTo>
                    <a:pt x="0" y="0"/>
                  </a:moveTo>
                  <a:lnTo>
                    <a:pt x="301942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10048875" y="4256589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7524750" y="2390775"/>
              <a:ext cx="9525" cy="2257425"/>
            </a:xfrm>
            <a:custGeom>
              <a:avLst/>
              <a:gdLst/>
              <a:ahLst/>
              <a:cxnLst/>
              <a:rect l="l" t="t" r="r" b="b"/>
              <a:pathLst>
                <a:path w="9525" h="2257425">
                  <a:moveTo>
                    <a:pt x="0" y="22574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7494746" y="232410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157841" y="42208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95616" y="2229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2749" y="4343267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8200158" y="2880360"/>
              <a:ext cx="9525" cy="1406233"/>
            </a:xfrm>
            <a:custGeom>
              <a:avLst/>
              <a:gdLst/>
              <a:ahLst/>
              <a:cxnLst/>
              <a:rect l="l" t="t" r="r" b="b"/>
              <a:pathLst>
                <a:path w="9525" h="1406233">
                  <a:moveTo>
                    <a:pt x="0" y="1406233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  <a:custDash>
                <a:ds d="416667" sp="333333"/>
              </a:custDash>
            </a:ln>
          </p:spPr>
        </p:sp>
        <p:sp>
          <p:nvSpPr>
            <p:cNvPr id="43" name="Line 43"/>
            <p:cNvSpPr/>
            <p:nvPr/>
          </p:nvSpPr>
          <p:spPr>
            <a:xfrm>
              <a:off x="9460925" y="2880360"/>
              <a:ext cx="9525" cy="1406233"/>
            </a:xfrm>
            <a:custGeom>
              <a:avLst/>
              <a:gdLst/>
              <a:ahLst/>
              <a:cxnLst/>
              <a:rect l="l" t="t" r="r" b="b"/>
              <a:pathLst>
                <a:path w="9525" h="1406233">
                  <a:moveTo>
                    <a:pt x="0" y="1406233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  <a:custDash>
                <a:ds d="416667" sp="333333"/>
              </a:custDash>
            </a:ln>
          </p:spPr>
        </p:sp>
        <p:sp>
          <p:nvSpPr>
            <p:cNvPr id="44" name="Line 44"/>
            <p:cNvSpPr/>
            <p:nvPr/>
          </p:nvSpPr>
          <p:spPr>
            <a:xfrm>
              <a:off x="7524750" y="3724104"/>
              <a:ext cx="1936175" cy="9525"/>
            </a:xfrm>
            <a:custGeom>
              <a:avLst/>
              <a:gdLst/>
              <a:ahLst/>
              <a:cxnLst/>
              <a:rect l="l" t="t" r="r" b="b"/>
              <a:pathLst>
                <a:path w="1936175" h="9525">
                  <a:moveTo>
                    <a:pt x="0" y="0"/>
                  </a:moveTo>
                  <a:lnTo>
                    <a:pt x="193617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  <a:custDash>
                <a:ds d="416667" sp="333333"/>
              </a:custDash>
            </a:ln>
          </p:spPr>
        </p:sp>
        <p:sp>
          <p:nvSpPr>
            <p:cNvPr id="45" name="Line 45"/>
            <p:cNvSpPr/>
            <p:nvPr/>
          </p:nvSpPr>
          <p:spPr>
            <a:xfrm>
              <a:off x="7524750" y="2880360"/>
              <a:ext cx="1936175" cy="9525"/>
            </a:xfrm>
            <a:custGeom>
              <a:avLst/>
              <a:gdLst/>
              <a:ahLst/>
              <a:cxnLst/>
              <a:rect l="l" t="t" r="r" b="b"/>
              <a:pathLst>
                <a:path w="1936175" h="9525">
                  <a:moveTo>
                    <a:pt x="0" y="0"/>
                  </a:moveTo>
                  <a:lnTo>
                    <a:pt x="193617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  <a:custDash>
                <a:ds d="416667" sp="333333"/>
              </a:custDash>
            </a:ln>
          </p:spPr>
        </p:sp>
        <p:sp>
          <p:nvSpPr>
            <p:cNvPr id="46" name="Line 46"/>
            <p:cNvSpPr/>
            <p:nvPr/>
          </p:nvSpPr>
          <p:spPr>
            <a:xfrm>
              <a:off x="8200158" y="4286593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122645" y="4362317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9460925" y="4286593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383412" y="4362317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7477125" y="3724104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88952" y="3661715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y₁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7477125" y="288036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288952" y="2817971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82254" y="3261236"/>
              <a:ext cx="69011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要求的概率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00800" y="5257800"/>
              <a:ext cx="5067300" cy="8382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10325" y="5362575"/>
              <a:ext cx="47625" cy="6286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572250" y="5362575"/>
              <a:ext cx="76200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65214" y="54159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四项加减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66726" y="5673804"/>
              <a:ext cx="3444113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P{x₁ &lt; X ≤ x₂, y₁ &lt; Y ≤ y₂}</a:t>
              </a:r>
              <a:br/>
              <a:r>
                <a:rPr lang="en-US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F(x₂, y₂) − F(x₁, y₂) − F(x₂, y₁) + F(x₁, y₁) ≥ 0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二维随机变量及其分布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分布函数的性质：一维的四条，每条都要对两个变量分别说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65558" cy="264033"/>
            <a:chOff x="526542" y="1545907"/>
            <a:chExt cx="606555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65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一维只要盯住一个方向，二维要把每条性质在 x 和 y 两个方向上各说一遍。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28812"/>
            <a:ext cx="4977765" cy="2705100"/>
            <a:chOff x="533400" y="1928812"/>
            <a:chExt cx="4977765" cy="270510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977765" cy="2705100"/>
            </a:xfrm>
            <a:prstGeom prst="roundRect">
              <a:avLst>
                <a:gd name="adj" fmla="val 49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24384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二维随机变量与联合分布函数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43256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设随机试验 E 的样本空间为 Ω，X 和 Y 是定义在 Ω 上的两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个随机变量，由它们构成的向量 (X, Y) 叫做二维随机变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量。对任意实数 x、y 令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6"/>
                <p:cNvSpPr txBox="1">
                  <a:spLocks noGrp="1"/>
                </p:cNvSpPr>
                <p:nvPr/>
              </p:nvSpPr>
              <p:spPr>
                <a:xfrm>
                  <a:off x="758190" y="3268980"/>
                  <a:ext cx="4566285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51332" y="3717608"/>
              <a:ext cx="43256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 F(x, y) 为 (X, Y) 的分布函数，也叫 X 与 Y 的联合分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布函数。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2475" y="4271486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逗号在这里表示两个事件同时发生，是交事件，不是并事件。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803458"/>
            <a:ext cx="4977765" cy="881062"/>
            <a:chOff x="533400" y="4803458"/>
            <a:chExt cx="4977765" cy="881062"/>
          </a:xfrm>
        </p:grpSpPr>
        <p:sp>
          <p:nvSpPr>
            <p:cNvPr id="19" name="Rectangle 19"/>
            <p:cNvSpPr/>
            <p:nvPr/>
          </p:nvSpPr>
          <p:spPr>
            <a:xfrm>
              <a:off x="533400" y="4803458"/>
              <a:ext cx="4977765" cy="881062"/>
            </a:xfrm>
            <a:prstGeom prst="roundRect">
              <a:avLst>
                <a:gd name="adj" fmla="val 12973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144455"/>
              <a:ext cx="200023" cy="200023"/>
              <a:chOff x="738188" y="5144455"/>
              <a:chExt cx="200023" cy="20002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1444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71538" y="52111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5025390"/>
              <a:ext cx="401707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y 取成 +∞ 就回到一维的 F(x)。二维的定义把一维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完全包含在里面。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5815965" y="1928812"/>
            <a:ext cx="5842635" cy="2400301"/>
            <a:chOff x="5815965" y="1928812"/>
            <a:chExt cx="5842635" cy="2400301"/>
          </a:xfrm>
        </p:grpSpPr>
        <p:sp>
          <p:nvSpPr>
            <p:cNvPr id="25" name="Rectangle 25"/>
            <p:cNvSpPr/>
            <p:nvPr/>
          </p:nvSpPr>
          <p:spPr>
            <a:xfrm>
              <a:off x="5815965" y="1928812"/>
              <a:ext cx="5842635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01461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23731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13120" y="25503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取值范围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98042" y="2450306"/>
              <a:ext cx="390169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F ≤ 1；任一变量趋于 −∞ 时 F 趋于 0；两个一起趋于 +∞ 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趋于 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815965" y="29241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815965" y="2928938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13120" y="30503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单调不减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98042" y="3050381"/>
              <a:ext cx="3569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y 时关于 x 单调不减；固定 x 时关于 y 单调不减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15965" y="332422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13120" y="34504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右连续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98042" y="3450431"/>
              <a:ext cx="3249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 + 0, y) = F(x, y)，F(x, y + 0) = F(x, y)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815965" y="37242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15965" y="3729038"/>
              <a:ext cx="584263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13120" y="39504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矩形不等式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98042" y="3850481"/>
              <a:ext cx="365988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&lt; x₂、y₁ &lt; y₂ 时 F(x₂,y₂) − F(x₁,y₂) − F(x₂,y₁) +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F(x₁,y₁) ≥ 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1928812"/>
              <a:ext cx="5842635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096125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rd-2"/>
          <p:cNvGrpSpPr/>
          <p:nvPr/>
        </p:nvGrpSpPr>
        <p:grpSpPr>
          <a:xfrm>
            <a:off x="5815965" y="4498658"/>
            <a:ext cx="5842635" cy="1185862"/>
            <a:chOff x="5815965" y="4498658"/>
            <a:chExt cx="5842635" cy="1185862"/>
          </a:xfrm>
        </p:grpSpPr>
        <p:sp>
          <p:nvSpPr>
            <p:cNvPr id="44" name="Rectangle 44"/>
            <p:cNvSpPr/>
            <p:nvPr/>
          </p:nvSpPr>
          <p:spPr>
            <a:xfrm>
              <a:off x="5815965" y="4498658"/>
              <a:ext cx="584263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825490" y="463200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40755" y="4685348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10072" y="471820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为什么要加第四条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33897" y="5030152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单调不减加右连续还不够：这样的二元函数仍可能让某个矩形算出负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概率。判断是不是分布函数，四条都要验。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0" name="Rectangle 5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892" y="6028373"/>
              <a:ext cx="7560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一维的 P{x₁ &lt; X ≤ x₂} = F(x₂) − F(x₁) 到二维不是简单相减，要按矩形不等式的四项加减。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二维随机变量及其分布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二维离散型：概率全部压在有限多个或可列多个点上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414588"/>
            <a:chOff x="533400" y="1524000"/>
            <a:chExt cx="5410200" cy="24145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14588"/>
            </a:xfrm>
            <a:prstGeom prst="roundRect">
              <a:avLst>
                <a:gd name="adj" fmla="val 55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4788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联合分布律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(X, Y) 所有可能取的值是有限对或可列无穷多对，则称 (X, Y)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为二维离散型随机变量。记所有可能取值为 (xᵢ, yⱼ)，称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9"/>
                <p:cNvSpPr txBox="1">
                  <a:spLocks noGrp="1"/>
                </p:cNvSpPr>
                <p:nvPr/>
              </p:nvSpPr>
              <p:spPr>
                <a:xfrm>
                  <a:off x="752475" y="2567940"/>
                  <a:ext cx="501015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45998" y="2975134"/>
              <a:ext cx="46407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(X, Y) 的联合分布律。它必须满足非负性与规范性两条。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20"/>
                <p:cNvSpPr txBox="1">
                  <a:spLocks noGrp="1"/>
                </p:cNvSpPr>
                <p:nvPr/>
              </p:nvSpPr>
              <p:spPr>
                <a:xfrm>
                  <a:off x="752475" y="3238500"/>
                  <a:ext cx="5010150" cy="502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;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  <m:sup/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3" name="c1-callout-2"/>
          <p:cNvGrpSpPr/>
          <p:nvPr/>
        </p:nvGrpSpPr>
        <p:grpSpPr>
          <a:xfrm>
            <a:off x="533400" y="4103370"/>
            <a:ext cx="5410200" cy="1538288"/>
            <a:chOff x="533400" y="4103370"/>
            <a:chExt cx="5410200" cy="1538288"/>
          </a:xfrm>
        </p:grpSpPr>
        <p:sp>
          <p:nvSpPr>
            <p:cNvPr id="17" name="Rectangle 17"/>
            <p:cNvSpPr/>
            <p:nvPr/>
          </p:nvSpPr>
          <p:spPr>
            <a:xfrm>
              <a:off x="533400" y="4103370"/>
              <a:ext cx="5410200" cy="1538288"/>
            </a:xfrm>
            <a:prstGeom prst="roundRect">
              <a:avLst>
                <a:gd name="adj" fmla="val 743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4772978"/>
              <a:ext cx="200026" cy="200025"/>
              <a:chOff x="738188" y="4772978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47729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7926" y="48174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2642" y="49285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1273" y="4666774"/>
              <a:ext cx="44264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分布函数就是把落在左下方的那些格子加起来，所以 F 是一个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阶梯形曲面。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248400" y="1524000"/>
            <a:ext cx="5410200" cy="2524125"/>
            <a:chOff x="6248400" y="1524000"/>
            <a:chExt cx="5410200" cy="2524125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2524125"/>
            </a:xfrm>
            <a:prstGeom prst="roundRect">
              <a:avLst>
                <a:gd name="adj" fmla="val 52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57925" y="1657350"/>
              <a:ext cx="47625" cy="22574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67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60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33451" y="17445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分布律排成一张表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0998" y="2061686"/>
              <a:ext cx="4524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行标是 X 的取值，列标是 Y 的取值，第 i 行第 j 列填 pᵢⱼ。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67475" y="2325052"/>
              <a:ext cx="501015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84914" y="2442210"/>
              <a:ext cx="418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＼ 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58841" y="24422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12331" y="24422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804731" y="24422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62154" y="28241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14691" y="28241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p₁₁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67228" y="28241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p₁₂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319766" y="28241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7475" y="3083242"/>
              <a:ext cx="501015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67475" y="3088005"/>
              <a:ext cx="501015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62154" y="32051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14691" y="32051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p₂₁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67228" y="32051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p₂₂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19766" y="32051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7475" y="3464242"/>
              <a:ext cx="501015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2154" y="35871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14691" y="35871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67228" y="35871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19766" y="35871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7475" y="2325052"/>
              <a:ext cx="501015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715250" y="232505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967788" y="232505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220325" y="232505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card-2"/>
          <p:cNvGrpSpPr/>
          <p:nvPr/>
        </p:nvGrpSpPr>
        <p:grpSpPr>
          <a:xfrm>
            <a:off x="6248400" y="4212908"/>
            <a:ext cx="5410200" cy="1428750"/>
            <a:chOff x="6248400" y="4212908"/>
            <a:chExt cx="5410200" cy="1428750"/>
          </a:xfrm>
        </p:grpSpPr>
        <p:sp>
          <p:nvSpPr>
            <p:cNvPr id="55" name="Rectangle 55"/>
            <p:cNvSpPr/>
            <p:nvPr/>
          </p:nvSpPr>
          <p:spPr>
            <a:xfrm>
              <a:off x="6248400" y="4212908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29375" y="4393882"/>
              <a:ext cx="1125855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01691" y="4426744"/>
              <a:ext cx="9812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 pᵢⱼ 的两条路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429375" y="472249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81282" y="475811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99123" y="4733449"/>
              <a:ext cx="45321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古典概型：数出满足 X = xᵢ 且 Y = yⱼ 的基本结果数，再除以总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429375" y="525018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481282" y="528580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99123" y="5262086"/>
              <a:ext cx="49110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乘法公式：先算 P{X = xᵢ}，再乘上这个条件下 Y = yⱼ 的概率。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5" name="Rectangle 6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1273" y="6039326"/>
              <a:ext cx="65350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二维的分布律是一张表，不是一行。判断算得对不对，先把整张表加起来看是不是 1。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84468" cy="909257"/>
            <a:chOff x="520446" y="342900"/>
            <a:chExt cx="78844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二维随机变量及其分布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844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　掷两颗骰子：第一颗的点数与两颗的最大点数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991284" cy="264033"/>
            <a:chOff x="526542" y="1545907"/>
            <a:chExt cx="799128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9912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 是第一颗的点数，Y 是两颗中较大的点数。36 个等可能结果，分母统一写成 36 更容易看出计数。</a:t>
              </a:r>
            </a:p>
          </p:txBody>
        </p:sp>
      </p:grpSp>
      <p:grpSp>
        <p:nvGrpSpPr>
          <p:cNvPr id="80" name="c1-table-1"/>
          <p:cNvGrpSpPr/>
          <p:nvPr/>
        </p:nvGrpSpPr>
        <p:grpSpPr>
          <a:xfrm>
            <a:off x="533400" y="1928812"/>
            <a:ext cx="11125200" cy="2669858"/>
            <a:chOff x="533400" y="1928812"/>
            <a:chExt cx="11125200" cy="266985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11125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13729" y="2045970"/>
              <a:ext cx="418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＼ 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45666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03956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61293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1863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75968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33306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8078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323148" y="2319338"/>
              <a:ext cx="153828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408301" y="242697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65638" y="242697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22976" y="242697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80314" y="242697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38604" y="242697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95941" y="242697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1/36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687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269176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08301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880485" y="2701290"/>
              <a:ext cx="153828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65638" y="2808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2/36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22976" y="2808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80314" y="2808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38604" y="2808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195941" y="2808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1/36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068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078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408301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65638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437822" y="3082290"/>
              <a:ext cx="153828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522976" y="3189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3/36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80314" y="3189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38604" y="3189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95941" y="3189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1/36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3449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345376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8078" y="3571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408301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965638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22976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995160" y="3463290"/>
              <a:ext cx="153828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80314" y="3571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4/36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38604" y="3571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195941" y="3571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1/36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38309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8078" y="3952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408301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965638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522976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80314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553450" y="3845242"/>
              <a:ext cx="153828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638604" y="3952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5/36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195941" y="3952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1/36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33400" y="42119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33400" y="4216718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28078" y="4333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408301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965638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522976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080314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638604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110788" y="4226242"/>
              <a:ext cx="153828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195941" y="4333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6/36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33400" y="1928812"/>
              <a:ext cx="11125200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2308860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3866198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5423535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980872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8539162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10096500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6" name="c1-card-2"/>
          <p:cNvGrpSpPr/>
          <p:nvPr/>
        </p:nvGrpSpPr>
        <p:grpSpPr>
          <a:xfrm>
            <a:off x="533400" y="4763452"/>
            <a:ext cx="11125200" cy="960120"/>
            <a:chOff x="533400" y="4763452"/>
            <a:chExt cx="11125200" cy="960120"/>
          </a:xfrm>
        </p:grpSpPr>
        <p:sp>
          <p:nvSpPr>
            <p:cNvPr id="81" name="Rectangle 81"/>
            <p:cNvSpPr/>
            <p:nvPr/>
          </p:nvSpPr>
          <p:spPr>
            <a:xfrm>
              <a:off x="533400" y="4763452"/>
              <a:ext cx="11125200" cy="96012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542925" y="4896802"/>
              <a:ext cx="47625" cy="6934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752475" y="4944428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18693" y="497728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表格为什么长成这样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45998" y="5283994"/>
              <a:ext cx="10316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固定第一颗为 i 后 Y 只能取 i 到 6。第二颗掷出 j &gt; i 时 Y = j，各占 1 份；掷出 j ≤ i 时 Y 一律为 i，这 i 种情况全压在对角线那一格上。</a:t>
              </a:r>
            </a:p>
          </p:txBody>
        </p:sp>
      </p:grpSp>
      <p:grpSp>
        <p:nvGrpSpPr>
          <p:cNvPr id="9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7" name="Rectangle 8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1041273" y="6039326"/>
              <a:ext cx="82236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高亮的对角线是“第二颗没有超过第一颗”的格子，计数恰好等于行号；全表 36 份合计为 1，已用枚举复核。</a:t>
              </a:r>
            </a:p>
          </p:txBody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27749" cy="909257"/>
            <a:chOff x="520446" y="342900"/>
            <a:chExt cx="82277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二维随机变量及其分布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277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　取球两次不放回：先写分布律，再拼出分布函数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403032"/>
            <a:chOff x="533400" y="1524000"/>
            <a:chExt cx="4977765" cy="14030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4481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571" y="1737836"/>
              <a:ext cx="2595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05115" y="1744504"/>
              <a:ext cx="17533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黑 2 白，取后不放回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25577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口袋里有 3 个黑球和 2 个白球，每次任取一个，取后不放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回，取两次。第一次取出白球记 X = 0、黑球记 X = 1，第二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次同样定义 Y。求联合分布律及分布函数。</a:t>
              </a:r>
            </a:p>
          </p:txBody>
        </p:sp>
      </p:grpSp>
      <p:grpSp>
        <p:nvGrpSpPr>
          <p:cNvPr id="18" name="c1-steps-2"/>
          <p:cNvGrpSpPr/>
          <p:nvPr/>
        </p:nvGrpSpPr>
        <p:grpSpPr>
          <a:xfrm>
            <a:off x="533400" y="3101340"/>
            <a:ext cx="4504944" cy="684466"/>
            <a:chOff x="533400" y="3101340"/>
            <a:chExt cx="4504944" cy="684466"/>
          </a:xfrm>
        </p:grpSpPr>
        <p:sp>
          <p:nvSpPr>
            <p:cNvPr id="14" name="Ellipse 14"/>
            <p:cNvSpPr/>
            <p:nvPr/>
          </p:nvSpPr>
          <p:spPr>
            <a:xfrm>
              <a:off x="533400" y="31013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751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023" y="313229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用乘法公式算四个格子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7166" y="3387090"/>
              <a:ext cx="409117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p₀₀ = (2/5)(1/4) = 1/10；p₀₁ = (2/5)(3/4) = 3/10；p₁₀ = p₁₁ =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(3/5)(2/4) = 3/10。四者相加为 1。</a:t>
              </a:r>
            </a:p>
          </p:txBody>
        </p:sp>
      </p:grpSp>
      <p:grpSp>
        <p:nvGrpSpPr>
          <p:cNvPr id="35" name="c1-table-3"/>
          <p:cNvGrpSpPr/>
          <p:nvPr/>
        </p:nvGrpSpPr>
        <p:grpSpPr>
          <a:xfrm>
            <a:off x="528447" y="3947160"/>
            <a:ext cx="4982718" cy="1407509"/>
            <a:chOff x="528447" y="3947160"/>
            <a:chExt cx="4982718" cy="1407509"/>
          </a:xfrm>
        </p:grpSpPr>
        <p:sp>
          <p:nvSpPr>
            <p:cNvPr id="19" name="Rectangle 19"/>
            <p:cNvSpPr/>
            <p:nvPr/>
          </p:nvSpPr>
          <p:spPr>
            <a:xfrm>
              <a:off x="533400" y="3947160"/>
              <a:ext cx="497776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69914" y="4064318"/>
              <a:ext cx="418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＼ 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00898" y="40643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3008" y="40643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8078" y="44453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20671" y="4445318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62781" y="4445318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3/10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70535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710112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48272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20671" y="482727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3/10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62781" y="482727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3/10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947160"/>
              <a:ext cx="4977765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221230" y="394716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863340" y="394716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8447" y="516397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联合分布律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5815965" y="1524000"/>
            <a:ext cx="5842635" cy="1403032"/>
            <a:chOff x="5815965" y="1524000"/>
            <a:chExt cx="5842635" cy="1403032"/>
          </a:xfrm>
        </p:grpSpPr>
        <p:sp>
          <p:nvSpPr>
            <p:cNvPr id="36" name="Rectangle 36"/>
            <p:cNvSpPr/>
            <p:nvPr/>
          </p:nvSpPr>
          <p:spPr>
            <a:xfrm>
              <a:off x="5815965" y="1524000"/>
              <a:ext cx="5842635" cy="1403032"/>
            </a:xfrm>
            <a:prstGeom prst="roundRect">
              <a:avLst>
                <a:gd name="adj" fmla="val 950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996940" y="170497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92711" y="173783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38138" y="174450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分布函数是把左下方的格子累加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90463" y="2061686"/>
              <a:ext cx="52148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F(x, y) = P{X ≤ x, Y ≤ y}，所以只要把落在点 (x, y) 左下方的那些格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子加起来。X 与 Y 都只取 0 和 1，于是整个平面被两条竖线和两条横线切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成四块。</a:t>
              </a:r>
            </a:p>
          </p:txBody>
        </p:sp>
      </p:grpSp>
      <p:grpSp>
        <p:nvGrpSpPr>
          <p:cNvPr id="78" name="c2-table-2"/>
          <p:cNvGrpSpPr/>
          <p:nvPr/>
        </p:nvGrpSpPr>
        <p:grpSpPr>
          <a:xfrm>
            <a:off x="5811012" y="3091815"/>
            <a:ext cx="5847588" cy="2552414"/>
            <a:chOff x="5811012" y="3091815"/>
            <a:chExt cx="5847588" cy="2552414"/>
          </a:xfrm>
        </p:grpSpPr>
        <p:sp>
          <p:nvSpPr>
            <p:cNvPr id="42" name="Rectangle 42"/>
            <p:cNvSpPr/>
            <p:nvPr/>
          </p:nvSpPr>
          <p:spPr>
            <a:xfrm>
              <a:off x="5815965" y="3091815"/>
              <a:ext cx="584263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36567" y="3208973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的范围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38647" y="3208973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 的范围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10274" y="3208973"/>
              <a:ext cx="5550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F(x, y)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177653" y="3208973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加进来的格子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10644" y="3590925"/>
              <a:ext cx="908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&lt; 0 或 y &lt; 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12724" y="35909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14804" y="35909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50159" y="359092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一个格子也够不着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815965" y="385000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815965" y="3854768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10644" y="3971925"/>
              <a:ext cx="596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x &lt; 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12724" y="3971925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y &lt; 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714804" y="397192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50159" y="3971925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p₀₀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815965" y="423100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10644" y="4353878"/>
              <a:ext cx="596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x &lt; 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12724" y="4353878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≥ 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14804" y="4353878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4/10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650159" y="4353878"/>
              <a:ext cx="639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p₀₀ + p₀₁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815965" y="46129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815965" y="4617720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910644" y="4734878"/>
              <a:ext cx="344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≥ 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12724" y="4734878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y &lt; 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714804" y="4734878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4/10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650159" y="4734878"/>
              <a:ext cx="639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p₀₀ + p₁₀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815965" y="49939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910644" y="5115878"/>
              <a:ext cx="344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≥ 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12724" y="5115878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≥ 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714804" y="51158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650159" y="51158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四个格子全加上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815965" y="3091815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213282" y="309181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8615362" y="309181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9550718" y="309181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811012" y="5453539"/>
              <a:ext cx="11937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分段写出的 F(x, y)</a:t>
              </a:r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9" name="Rectangle 7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1273" y="6039326"/>
              <a:ext cx="78915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分段时边界点归哪一段要看清楚。定义里是 X ≤ x，所以 x = 0 这条线上的概率算进来，写成 0 ≤ x &lt; 1。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1456" cy="909257"/>
            <a:chOff x="520446" y="342900"/>
            <a:chExt cx="66014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二维随机变量及其分布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14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二维连续型：概率摊成一层厚薄不均的“云”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558415"/>
            <a:chOff x="533400" y="1524000"/>
            <a:chExt cx="5410200" cy="25584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联合概率密度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01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(X, Y) 的分布函数为 F(x, y)。如果存在非负函数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f(x, y)，使对任意 x、y 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3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4953000" cy="5067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​​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−∞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</m:d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</m:nary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352800"/>
              <a:ext cx="4368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就称 (X, Y) 为二维连续型随机变量，称 f(x, y) 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(X, Y) 的概率密度，或 X 与 Y 的联合概率密度。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272915"/>
            <a:ext cx="5410200" cy="1316355"/>
            <a:chOff x="533400" y="4272915"/>
            <a:chExt cx="5410200" cy="1316355"/>
          </a:xfrm>
        </p:grpSpPr>
        <p:sp>
          <p:nvSpPr>
            <p:cNvPr id="16" name="Rectangle 16"/>
            <p:cNvSpPr/>
            <p:nvPr/>
          </p:nvSpPr>
          <p:spPr>
            <a:xfrm>
              <a:off x="533400" y="4272915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40626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448246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3359" y="45181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几何意义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4859655"/>
              <a:ext cx="4739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z = f(x, y) 画成一张曲面，F(x, y) 就是这张曲面在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左下方无界矩形上方围出的体积，总体积恰好是 1。</a:t>
              </a:r>
            </a:p>
          </p:txBody>
        </p:sp>
      </p:grpSp>
      <p:grpSp>
        <p:nvGrpSpPr>
          <p:cNvPr id="35" name="c2-bullets-1"/>
          <p:cNvGrpSpPr/>
          <p:nvPr/>
        </p:nvGrpSpPr>
        <p:grpSpPr>
          <a:xfrm>
            <a:off x="6240780" y="1548765"/>
            <a:ext cx="5486210" cy="1967865"/>
            <a:chOff x="6240780" y="1548765"/>
            <a:chExt cx="5486210" cy="1967865"/>
          </a:xfrm>
        </p:grpSpPr>
        <p:sp>
          <p:nvSpPr>
            <p:cNvPr id="22" name="TextBox 22"/>
            <p:cNvSpPr txBox="1"/>
            <p:nvPr/>
          </p:nvSpPr>
          <p:spPr>
            <a:xfrm>
              <a:off x="624078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四条性质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248400" y="188976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10249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49390" y="1903095"/>
              <a:ext cx="1085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f(x, y) ≥ 0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248400" y="223456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10249" y="22768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49390" y="2247900"/>
              <a:ext cx="2781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在全平面上的二重积分等于 1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48400" y="257937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10249" y="26216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49390" y="2592705"/>
              <a:ext cx="5177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f 的连续点处，f(x, y) 等于 F 对 x 和 y 各求一次偏导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48400" y="292417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10249" y="29664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49390" y="2937510"/>
              <a:ext cx="4796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 (X, Y) 落在平面区域 G 内的概率等于 f 在 G 上的二重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formula24"/>
              <p:cNvSpPr txBox="1">
                <a:spLocks noGrp="1"/>
              </p:cNvSpPr>
              <p:nvPr/>
            </p:nvSpPr>
            <p:spPr>
              <a:xfrm>
                <a:off x="6248400" y="3648075"/>
                <a:ext cx="541020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∬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sub>
                        <m:sup/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d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42" name="c2-callout-3"/>
          <p:cNvGrpSpPr/>
          <p:nvPr/>
        </p:nvGrpSpPr>
        <p:grpSpPr>
          <a:xfrm>
            <a:off x="6248400" y="4398645"/>
            <a:ext cx="5410200" cy="1190625"/>
            <a:chOff x="6248400" y="4398645"/>
            <a:chExt cx="5410200" cy="1190625"/>
          </a:xfrm>
        </p:grpSpPr>
        <p:sp>
          <p:nvSpPr>
            <p:cNvPr id="37" name="Rectangle 37"/>
            <p:cNvSpPr/>
            <p:nvPr/>
          </p:nvSpPr>
          <p:spPr>
            <a:xfrm>
              <a:off x="6248400" y="4398645"/>
              <a:ext cx="5410200" cy="1190625"/>
            </a:xfrm>
            <a:prstGeom prst="roundRect">
              <a:avLst>
                <a:gd name="adj" fmla="val 960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453188" y="4893947"/>
              <a:ext cx="200023" cy="200023"/>
              <a:chOff x="6453188" y="4893947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453188" y="48939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86538" y="49606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755130" y="4751070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第四条是本章计算量最大的一条。难点不在积分本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身，而在把区域 G 翻译成正确的上下限。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3" name="Rectangle 4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991225"/>
              <a:ext cx="74563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二维连续型里，任何一条曲线上的概率都是 0，所以不等号取不取等于不影响结果。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71030" cy="909257"/>
            <a:chOff x="520446" y="342900"/>
            <a:chExt cx="85710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二维随机变量及其分布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710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　反正切型分布函数：用三条边界条件定出三个常数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760595" cy="1845945"/>
            <a:chOff x="533400" y="1524000"/>
            <a:chExt cx="4760595" cy="18459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845945"/>
            </a:xfrm>
            <a:prstGeom prst="roundRect">
              <a:avLst>
                <a:gd name="adj" fmla="val 7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792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6027" y="1763554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1504" y="1767364"/>
              <a:ext cx="12141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F 反求密度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32367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设二维随机变量 (X, Y) 的分布函数为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9"/>
                <p:cNvSpPr txBox="1">
                  <a:spLocks noGrp="1"/>
                </p:cNvSpPr>
                <p:nvPr/>
              </p:nvSpPr>
              <p:spPr>
                <a:xfrm>
                  <a:off x="775335" y="2415540"/>
                  <a:ext cx="4314825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arctan</m:t>
                                </m:r>
                              </m:fName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num>
                                  <m:den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func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arctan</m:t>
                                </m:r>
                              </m:fName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num>
                                  <m:den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func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8096" y="2943701"/>
              <a:ext cx="40595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(1) 常数 A、B、C；(2) 密度函数 f(x, y)。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554730"/>
            <a:ext cx="4760595" cy="1969770"/>
            <a:chOff x="533400" y="3554730"/>
            <a:chExt cx="4760595" cy="1969770"/>
          </a:xfrm>
        </p:grpSpPr>
        <p:sp>
          <p:nvSpPr>
            <p:cNvPr id="16" name="Rectangle 16"/>
            <p:cNvSpPr/>
            <p:nvPr/>
          </p:nvSpPr>
          <p:spPr>
            <a:xfrm>
              <a:off x="533400" y="3554730"/>
              <a:ext cx="4760595" cy="1969770"/>
            </a:xfrm>
            <a:prstGeom prst="roundRect">
              <a:avLst>
                <a:gd name="adj" fmla="val 67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688080"/>
              <a:ext cx="47625" cy="170307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5335" y="37585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5543" y="37942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8096" y="4132421"/>
              <a:ext cx="39819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三个未知数就要三个方程。分布函数在两个方向上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的极限值正好提供三个条件，而且每个条件只牵涉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一个常数，可以逐个解出来。</a:t>
              </a:r>
            </a:p>
          </p:txBody>
        </p:sp>
      </p:grpSp>
      <p:grpSp>
        <p:nvGrpSpPr>
          <p:cNvPr id="39" name="c2-steps-1"/>
          <p:cNvGrpSpPr/>
          <p:nvPr/>
        </p:nvGrpSpPr>
        <p:grpSpPr>
          <a:xfrm>
            <a:off x="5598795" y="1533525"/>
            <a:ext cx="5836920" cy="2411159"/>
            <a:chOff x="5598795" y="1533525"/>
            <a:chExt cx="5836920" cy="2411159"/>
          </a:xfrm>
        </p:grpSpPr>
        <p:sp>
          <p:nvSpPr>
            <p:cNvPr id="22" name="Rectangle 22"/>
            <p:cNvSpPr/>
            <p:nvPr/>
          </p:nvSpPr>
          <p:spPr>
            <a:xfrm>
              <a:off x="5732145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598795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92419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598795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92419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598795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92419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0656" y="1566386"/>
              <a:ext cx="8278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 x → −∞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1799" y="1846898"/>
              <a:ext cx="47477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arctan(x/2) → −π/2，要求 F → 0 对一切 y 成立，只能 B = π/2。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0656" y="2187416"/>
              <a:ext cx="8278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 y → −∞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1799" y="2467927"/>
              <a:ext cx="29932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同理 arctan(y/3) → −π/2，得 C = π/2。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0656" y="2808446"/>
              <a:ext cx="15719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 x、y 同时 → +∞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11799" y="3088957"/>
              <a:ext cx="4146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两个反正切都趋于 π/2，F → A·π·π = 1，所以 A = 1/π²。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10656" y="3429476"/>
              <a:ext cx="20054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x 和 y 各求一次偏导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11799" y="3709988"/>
              <a:ext cx="5423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两个因子各自求导，导数分别是 (1/2)/(1 + x²/4) 与 (1/3)/(1 + y²/9)。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formula30"/>
              <p:cNvSpPr txBox="1">
                <a:spLocks noGrp="1"/>
              </p:cNvSpPr>
              <p:nvPr/>
            </p:nvSpPr>
            <p:spPr>
              <a:xfrm>
                <a:off x="5598795" y="4120515"/>
                <a:ext cx="6059805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num>
                        <m:den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9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−∞&lt;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&lt;+∞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6" name="c2-callout-3"/>
          <p:cNvGrpSpPr/>
          <p:nvPr/>
        </p:nvGrpSpPr>
        <p:grpSpPr>
          <a:xfrm>
            <a:off x="5598795" y="4769168"/>
            <a:ext cx="6059805" cy="756285"/>
            <a:chOff x="5598795" y="4769168"/>
            <a:chExt cx="6059805" cy="756285"/>
          </a:xfrm>
        </p:grpSpPr>
        <p:sp>
          <p:nvSpPr>
            <p:cNvPr id="41" name="Rectangle 41"/>
            <p:cNvSpPr/>
            <p:nvPr/>
          </p:nvSpPr>
          <p:spPr>
            <a:xfrm>
              <a:off x="5598795" y="4769168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5803583" y="5047298"/>
              <a:ext cx="200026" cy="200026"/>
              <a:chOff x="5803583" y="5047298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5803583" y="50472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870258" y="512508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105906" y="4916329"/>
              <a:ext cx="498284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已用 sympy 复核：这个 f 在全平面上的二重积分等于 1，且对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它两次积分正好还原出原来的 F。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7" name="Rectangle 4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511" y="6004084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源课件只给了题面没有给解答，这一页的过程是本讲义补的。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61004" cy="909257"/>
            <a:chOff x="520446" y="342900"/>
            <a:chExt cx="71610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二维随机变量及其分布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610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　先用归一性定出 k，再积分得到分布函数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869180" cy="1956435"/>
            <a:chOff x="533400" y="1524000"/>
            <a:chExt cx="4869180" cy="1956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742" y="176926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6838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指数型联合密度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101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(X, Y) 的概率密度为 f(x, y) = k·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e^(−3x−4y)（x &gt; 0 且 y &gt; 0），其余地方为 0。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4120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(1) 常数 k；(2) 分布函数 F(x, y)；(3) P{X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Y &lt; 1}；(4) P{X &gt; Y}。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670935"/>
            <a:ext cx="4869180" cy="1705928"/>
            <a:chOff x="533400" y="3670935"/>
            <a:chExt cx="4869180" cy="1705928"/>
          </a:xfrm>
        </p:grpSpPr>
        <p:sp>
          <p:nvSpPr>
            <p:cNvPr id="15" name="Rectangle 15"/>
            <p:cNvSpPr/>
            <p:nvPr/>
          </p:nvSpPr>
          <p:spPr>
            <a:xfrm>
              <a:off x="533400" y="3670935"/>
              <a:ext cx="4869180" cy="1705928"/>
            </a:xfrm>
            <a:prstGeom prst="roundRect">
              <a:avLst>
                <a:gd name="adj" fmla="val 78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804285"/>
              <a:ext cx="47625" cy="143922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38804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39162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425767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指数因子可以按变量拆开，二重积分变成两个一维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积分的乘积，整道题都不需要换序。</a:t>
              </a:r>
            </a:p>
          </p:txBody>
        </p:sp>
      </p:grpSp>
      <p:grpSp>
        <p:nvGrpSpPr>
          <p:cNvPr id="34" name="c2-steps-1"/>
          <p:cNvGrpSpPr/>
          <p:nvPr/>
        </p:nvGrpSpPr>
        <p:grpSpPr>
          <a:xfrm>
            <a:off x="5707380" y="1533525"/>
            <a:ext cx="5725033" cy="2348198"/>
            <a:chOff x="5707380" y="1533525"/>
            <a:chExt cx="5725033" cy="2348198"/>
          </a:xfrm>
        </p:grpSpPr>
        <p:sp>
          <p:nvSpPr>
            <p:cNvPr id="21" name="Rectangle 21"/>
            <p:cNvSpPr/>
            <p:nvPr/>
          </p:nvSpPr>
          <p:spPr>
            <a:xfrm>
              <a:off x="5840730" y="1676400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707380" y="2419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0100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707380" y="330422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0100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18860" y="1567815"/>
              <a:ext cx="1205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由归一性定 k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20003" y="1861661"/>
              <a:ext cx="44752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积分拆成两个独立的一维积分，∫₀^∞ e^(−3x)dx = 1/3，∫₀^∞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e^(−4y)dy = 1/4，于是 k/12 = 1，得 k = 12。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18860" y="2453640"/>
              <a:ext cx="20311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&gt; 0、y &gt; 0 时积出 F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20003" y="2746534"/>
              <a:ext cx="53124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u 从 0 积到 x 得 1 − e^(−3x)，对 v 从 0 积到 y 得 1 − e^(−4y)，相乘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即可。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18860" y="333851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其余区域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20003" y="3632359"/>
              <a:ext cx="45113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≤ 0 或 y ≤ 0 时积分区域上 f 恒为 0，所以 F(x, y) = 0。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32"/>
              <p:cNvSpPr txBox="1">
                <a:spLocks noGrp="1"/>
              </p:cNvSpPr>
              <p:nvPr/>
            </p:nvSpPr>
            <p:spPr>
              <a:xfrm>
                <a:off x="5707380" y="4060508"/>
                <a:ext cx="595122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3x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4y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&gt;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&gt;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1" name="c2-callout-3"/>
          <p:cNvGrpSpPr/>
          <p:nvPr/>
        </p:nvGrpSpPr>
        <p:grpSpPr>
          <a:xfrm>
            <a:off x="5707380" y="4593908"/>
            <a:ext cx="5951220" cy="782955"/>
            <a:chOff x="5707380" y="4593908"/>
            <a:chExt cx="5951220" cy="782955"/>
          </a:xfrm>
        </p:grpSpPr>
        <p:sp>
          <p:nvSpPr>
            <p:cNvPr id="36" name="Rectangle 36"/>
            <p:cNvSpPr/>
            <p:nvPr/>
          </p:nvSpPr>
          <p:spPr>
            <a:xfrm>
              <a:off x="5707380" y="4593908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5912168" y="4885375"/>
              <a:ext cx="200023" cy="200023"/>
              <a:chOff x="5912168" y="4885375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912168" y="4885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045518" y="4952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214110" y="4742498"/>
              <a:ext cx="4996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 正好拆成一个只含 x 的因子乘一个只含 y 的因子，这已经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预示 X 与 Y 相互独立，第二节会正式验证。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2" name="Rectangle 4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130" y="5991225"/>
              <a:ext cx="74563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定常数一律先用归一性列方程。解完记得回头验一次非负性，k 为负数的解要舍掉。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二维随机变量及其分布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区域概率的关键是把二重积分的上下限定对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regA"/>
          <p:cNvGrpSpPr/>
          <p:nvPr/>
        </p:nvGrpSpPr>
        <p:grpSpPr>
          <a:xfrm>
            <a:off x="533400" y="1524000"/>
            <a:ext cx="5524500" cy="4762500"/>
            <a:chOff x="533400" y="1524000"/>
            <a:chExt cx="5524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2050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第 (3) 问：区域 x + y &lt; 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密度只在第一象限非零，所以真正要积的是一个直角三角形。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1811693" y="2887580"/>
              <a:ext cx="1654035" cy="1403680"/>
            </a:xfrm>
            <a:custGeom>
              <a:avLst/>
              <a:gdLst/>
              <a:ahLst/>
              <a:cxnLst/>
              <a:rect l="l" t="t" r="r" b="b"/>
              <a:pathLst>
                <a:path w="1654035" h="1403680">
                  <a:moveTo>
                    <a:pt x="0" y="1403680"/>
                  </a:moveTo>
                  <a:lnTo>
                    <a:pt x="1654035" y="1403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FF3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1447800" y="4291260"/>
              <a:ext cx="2809875" cy="9525"/>
            </a:xfrm>
            <a:custGeom>
              <a:avLst/>
              <a:gdLst/>
              <a:ahLst/>
              <a:cxnLst/>
              <a:rect l="l" t="t" r="r" b="b"/>
              <a:pathLst>
                <a:path w="2809875" h="9525">
                  <a:moveTo>
                    <a:pt x="0" y="0"/>
                  </a:moveTo>
                  <a:lnTo>
                    <a:pt x="28098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4257675" y="4261256"/>
              <a:ext cx="66675" cy="60008"/>
            </a:xfrm>
            <a:custGeom>
              <a:avLst/>
              <a:gdLst/>
              <a:ahLst/>
              <a:cxnLst/>
              <a:rect l="l" t="t" r="r" b="b"/>
              <a:pathLst>
                <a:path w="66675" h="60008">
                  <a:moveTo>
                    <a:pt x="66675" y="30004"/>
                  </a:moveTo>
                  <a:lnTo>
                    <a:pt x="0" y="60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1811693" y="2390775"/>
              <a:ext cx="9525" cy="2181225"/>
            </a:xfrm>
            <a:custGeom>
              <a:avLst/>
              <a:gdLst/>
              <a:ahLst/>
              <a:cxnLst/>
              <a:rect l="l" t="t" r="r" b="b"/>
              <a:pathLst>
                <a:path w="9525" h="2181225">
                  <a:moveTo>
                    <a:pt x="0" y="21812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1781689" y="2324100"/>
              <a:ext cx="60008" cy="66675"/>
            </a:xfrm>
            <a:custGeom>
              <a:avLst/>
              <a:gdLst/>
              <a:ahLst/>
              <a:cxnLst/>
              <a:rect l="l" t="t" r="r" b="b"/>
              <a:pathLst>
                <a:path w="60008" h="66675">
                  <a:moveTo>
                    <a:pt x="30004" y="0"/>
                  </a:moveTo>
                  <a:lnTo>
                    <a:pt x="6000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366641" y="422553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82559" y="2229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49692" y="434793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1613202" y="2719140"/>
              <a:ext cx="2315661" cy="1965150"/>
            </a:xfrm>
            <a:custGeom>
              <a:avLst/>
              <a:gdLst/>
              <a:ahLst/>
              <a:cxnLst/>
              <a:rect l="l" t="t" r="r" b="b"/>
              <a:pathLst>
                <a:path w="2315661" h="1965150">
                  <a:moveTo>
                    <a:pt x="2315661" y="19651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2410C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2506389" y="3477130"/>
              <a:ext cx="9525" cy="814130"/>
            </a:xfrm>
            <a:custGeom>
              <a:avLst/>
              <a:gdLst/>
              <a:ahLst/>
              <a:cxnLst/>
              <a:rect l="l" t="t" r="r" b="b"/>
              <a:pathLst>
                <a:path w="9525" h="814130">
                  <a:moveTo>
                    <a:pt x="0" y="81413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472099" y="3442840"/>
              <a:ext cx="68580" cy="6858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3465728" y="429126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424495" y="436698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1764068" y="288758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648455" y="282519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20614" y="392310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32049" y="2974791"/>
              <a:ext cx="57420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 + y = 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84132" y="3821059"/>
              <a:ext cx="7157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y: 0 → 1 − x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23900" y="5257800"/>
              <a:ext cx="5143500" cy="8382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3425" y="5362575"/>
              <a:ext cx="47625" cy="6286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95350" y="5362575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96315" y="54159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9826" y="5673804"/>
              <a:ext cx="2703513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外层 x 从 0 到 1，内层 y 从 0 到 1 − x。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+ Y &lt; 1} = 1 − 4e⁻³ + 3e⁻⁴ ≈ 0.8558。</a:t>
              </a:r>
            </a:p>
          </p:txBody>
        </p:sp>
      </p:grpSp>
      <p:grpSp>
        <p:nvGrpSpPr>
          <p:cNvPr id="56" name="regB"/>
          <p:cNvGrpSpPr/>
          <p:nvPr/>
        </p:nvGrpSpPr>
        <p:grpSpPr>
          <a:xfrm>
            <a:off x="6210300" y="1524000"/>
            <a:ext cx="5448300" cy="4762500"/>
            <a:chOff x="6210300" y="1524000"/>
            <a:chExt cx="5448300" cy="4762500"/>
          </a:xfrm>
        </p:grpSpPr>
        <p:sp>
          <p:nvSpPr>
            <p:cNvPr id="34" name="Rectangle 34"/>
            <p:cNvSpPr/>
            <p:nvPr/>
          </p:nvSpPr>
          <p:spPr>
            <a:xfrm>
              <a:off x="6210300" y="1524000"/>
              <a:ext cx="54483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94323" y="1662589"/>
              <a:ext cx="1742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第 (4) 问：区域 x &gt; 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95466" y="1925002"/>
              <a:ext cx="33818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这块区域在第一象限里没有上界，x 要一直积到无穷。</a:t>
              </a:r>
            </a:p>
          </p:txBody>
        </p:sp>
        <p:sp>
          <p:nvSpPr>
            <p:cNvPr id="37" name="Polygon 37"/>
            <p:cNvSpPr/>
            <p:nvPr/>
          </p:nvSpPr>
          <p:spPr>
            <a:xfrm>
              <a:off x="7463295" y="2491083"/>
              <a:ext cx="2308593" cy="1817513"/>
            </a:xfrm>
            <a:custGeom>
              <a:avLst/>
              <a:gdLst/>
              <a:ahLst/>
              <a:cxnLst/>
              <a:rect l="l" t="t" r="r" b="b"/>
              <a:pathLst>
                <a:path w="2308593" h="1817513">
                  <a:moveTo>
                    <a:pt x="0" y="1817513"/>
                  </a:moveTo>
                  <a:lnTo>
                    <a:pt x="2308593" y="1817513"/>
                  </a:lnTo>
                  <a:lnTo>
                    <a:pt x="2308593" y="0"/>
                  </a:lnTo>
                  <a:close/>
                </a:path>
              </a:pathLst>
            </a:custGeom>
            <a:solidFill>
              <a:srgbClr val="D6DFF3"/>
            </a:soli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7124700" y="4308596"/>
              <a:ext cx="2771775" cy="9525"/>
            </a:xfrm>
            <a:custGeom>
              <a:avLst/>
              <a:gdLst/>
              <a:ahLst/>
              <a:cxnLst/>
              <a:rect l="l" t="t" r="r" b="b"/>
              <a:pathLst>
                <a:path w="2771775" h="9525">
                  <a:moveTo>
                    <a:pt x="0" y="0"/>
                  </a:moveTo>
                  <a:lnTo>
                    <a:pt x="27717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9896475" y="4278592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7463295" y="2390775"/>
              <a:ext cx="9525" cy="2181225"/>
            </a:xfrm>
            <a:custGeom>
              <a:avLst/>
              <a:gdLst/>
              <a:ahLst/>
              <a:cxnLst/>
              <a:rect l="l" t="t" r="r" b="b"/>
              <a:pathLst>
                <a:path w="9525" h="2181225">
                  <a:moveTo>
                    <a:pt x="0" y="21812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7433291" y="232410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005441" y="42428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34161" y="2229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01294" y="4365269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7309390" y="2438400"/>
              <a:ext cx="2339340" cy="2001898"/>
            </a:xfrm>
            <a:custGeom>
              <a:avLst/>
              <a:gdLst/>
              <a:ahLst/>
              <a:cxnLst/>
              <a:rect l="l" t="t" r="r" b="b"/>
              <a:pathLst>
                <a:path w="2339340" h="2001898">
                  <a:moveTo>
                    <a:pt x="0" y="2001898"/>
                  </a:moveTo>
                  <a:lnTo>
                    <a:pt x="2339340" y="0"/>
                  </a:lnTo>
                </a:path>
              </a:pathLst>
            </a:custGeom>
            <a:noFill/>
            <a:ln w="19050">
              <a:solidFill>
                <a:srgbClr val="C2410C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8925411" y="3057411"/>
              <a:ext cx="9525" cy="1251185"/>
            </a:xfrm>
            <a:custGeom>
              <a:avLst/>
              <a:gdLst/>
              <a:ahLst/>
              <a:cxnLst/>
              <a:rect l="l" t="t" r="r" b="b"/>
              <a:pathLst>
                <a:path w="9525" h="1251185">
                  <a:moveTo>
                    <a:pt x="0" y="125118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8891121" y="3023121"/>
              <a:ext cx="68580" cy="6858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195948" y="396832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66280" y="2697871"/>
              <a:ext cx="33150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y = x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997410" y="3597507"/>
              <a:ext cx="4914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y: 0 → x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00800" y="5257800"/>
              <a:ext cx="5067300" cy="8382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10325" y="5362575"/>
              <a:ext cx="47625" cy="6286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572250" y="5362575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73215" y="54159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定限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66726" y="5673804"/>
              <a:ext cx="2343594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外层 x 从 0 到 +∞，内层 y 从 0 到 x。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&gt; Y} = 4/7 ≈ 0.5714。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62759" cy="909257"/>
            <a:chOff x="520446" y="342900"/>
            <a:chExt cx="69627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二维随机变量及其分布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627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 续　两块区域上的概率，只有积分限不同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870317" cy="293370"/>
            <a:chOff x="525780" y="1548765"/>
            <a:chExt cx="7870317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8703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密度还是 12e^(−3x−4y)，换的只是积分区域。上一页的图给出了限，这里把式子算完。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54530"/>
            <a:ext cx="5410200" cy="3610928"/>
            <a:chOff x="533400" y="1954530"/>
            <a:chExt cx="5410200" cy="361092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3610928"/>
            </a:xfrm>
            <a:prstGeom prst="roundRect">
              <a:avLst>
                <a:gd name="adj" fmla="val 369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37235" y="2158365"/>
              <a:ext cx="133731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8715" y="2194084"/>
              <a:ext cx="12743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(3) P{X + Y &lt; 1}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9996" y="2531269"/>
              <a:ext cx="455002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区域是直角三角形，外层 x 从 0 到 1，内层 y 从 0 到 1 −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41"/>
                <p:cNvSpPr txBox="1">
                  <a:spLocks noGrp="1"/>
                </p:cNvSpPr>
                <p:nvPr/>
              </p:nvSpPr>
              <p:spPr>
                <a:xfrm>
                  <a:off x="737235" y="3099435"/>
                  <a:ext cx="5002530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​​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4y</m:t>
                                    </m:r>
                                  </m:sup>
                                </m:s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nary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3x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29996" y="3641884"/>
              <a:ext cx="459511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前一项积出 1 − e^(−3)，后一项换元后积出 3e^(−4)(e −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1)/1，合并整理得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42"/>
                <p:cNvSpPr txBox="1">
                  <a:spLocks noGrp="1"/>
                </p:cNvSpPr>
                <p:nvPr/>
              </p:nvSpPr>
              <p:spPr>
                <a:xfrm>
                  <a:off x="737235" y="4210050"/>
                  <a:ext cx="500253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0.8558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4" name="c2-card-1"/>
          <p:cNvGrpSpPr/>
          <p:nvPr/>
        </p:nvGrpSpPr>
        <p:grpSpPr>
          <a:xfrm>
            <a:off x="6248400" y="1954530"/>
            <a:ext cx="5410200" cy="2668905"/>
            <a:chOff x="6248400" y="1954530"/>
            <a:chExt cx="5410200" cy="2668905"/>
          </a:xfrm>
        </p:grpSpPr>
        <p:sp>
          <p:nvSpPr>
            <p:cNvPr id="17" name="Rectangle 17"/>
            <p:cNvSpPr/>
            <p:nvPr/>
          </p:nvSpPr>
          <p:spPr>
            <a:xfrm>
              <a:off x="6248400" y="1954530"/>
              <a:ext cx="5410200" cy="2668905"/>
            </a:xfrm>
            <a:prstGeom prst="roundRect">
              <a:avLst>
                <a:gd name="adj" fmla="val 499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52235" y="2158365"/>
              <a:ext cx="10829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99215" y="2194084"/>
              <a:ext cx="9899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(4) P{X &gt; Y}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44996" y="2531269"/>
              <a:ext cx="467626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区域在第一象限里没有上界，外层 x 从 0 到 +∞，内层 y 从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 到 x。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43"/>
                <p:cNvSpPr txBox="1">
                  <a:spLocks noGrp="1"/>
                </p:cNvSpPr>
                <p:nvPr/>
              </p:nvSpPr>
              <p:spPr>
                <a:xfrm>
                  <a:off x="6452235" y="3099435"/>
                  <a:ext cx="5002530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​​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4y</m:t>
                                    </m:r>
                                  </m:sup>
                                </m:s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nary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3x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4x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2" name="TextBox 22"/>
            <p:cNvSpPr txBox="1"/>
            <p:nvPr/>
          </p:nvSpPr>
          <p:spPr>
            <a:xfrm>
              <a:off x="6444996" y="3641884"/>
              <a:ext cx="44302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括号展开后是两个指数积分相减，分别得 1 与 3/7。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44"/>
                <p:cNvSpPr txBox="1">
                  <a:spLocks noGrp="1"/>
                </p:cNvSpPr>
                <p:nvPr/>
              </p:nvSpPr>
              <p:spPr>
                <a:xfrm>
                  <a:off x="6452235" y="3938588"/>
                  <a:ext cx="500253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&gt;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0.5714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0" name="c2-callout-2"/>
          <p:cNvGrpSpPr/>
          <p:nvPr/>
        </p:nvGrpSpPr>
        <p:grpSpPr>
          <a:xfrm>
            <a:off x="6248400" y="4809172"/>
            <a:ext cx="5410200" cy="756285"/>
            <a:chOff x="6248400" y="4809172"/>
            <a:chExt cx="5410200" cy="756285"/>
          </a:xfrm>
        </p:grpSpPr>
        <p:sp>
          <p:nvSpPr>
            <p:cNvPr id="25" name="Rectangle 25"/>
            <p:cNvSpPr/>
            <p:nvPr/>
          </p:nvSpPr>
          <p:spPr>
            <a:xfrm>
              <a:off x="6248400" y="480917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453188" y="5087303"/>
              <a:ext cx="200026" cy="200026"/>
              <a:chOff x="6453188" y="5087303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453188" y="50873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519863" y="516509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755511" y="4956334"/>
              <a:ext cx="426148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两个结果都已用 sympy 的符号积分复核，与原课件一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致。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1" name="Rectangle 31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511" y="6004084"/>
              <a:ext cx="7852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内层积分限里出现外层变量是正常的，出现内层变量自己就一定错了。写完先扫一眼这一点。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二维随机变量及其分布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二维均匀分布：概率就是面积比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956435"/>
            <a:chOff x="533400" y="1524000"/>
            <a:chExt cx="5626418" cy="1956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1699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 D 上的均匀分布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50029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D 是 xOy 平面上的有界区域，面积为 A。如果 (X, Y) 的概率密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度在 D 上恒为 1/A、在 D 外为 0，就称 (X, Y) 在 D 上服从均匀分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49"/>
                <p:cNvSpPr txBox="1">
                  <a:spLocks noGrp="1"/>
                </p:cNvSpPr>
                <p:nvPr/>
              </p:nvSpPr>
              <p:spPr>
                <a:xfrm>
                  <a:off x="763905" y="2885122"/>
                  <a:ext cx="5203508" cy="385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;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∉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0" name="c1-callout-2"/>
          <p:cNvGrpSpPr/>
          <p:nvPr/>
        </p:nvGrpSpPr>
        <p:grpSpPr>
          <a:xfrm>
            <a:off x="533400" y="3655695"/>
            <a:ext cx="5626418" cy="1584008"/>
            <a:chOff x="533400" y="3655695"/>
            <a:chExt cx="5626418" cy="1584008"/>
          </a:xfrm>
        </p:grpSpPr>
        <p:sp>
          <p:nvSpPr>
            <p:cNvPr id="15" name="Rectangle 15"/>
            <p:cNvSpPr/>
            <p:nvPr/>
          </p:nvSpPr>
          <p:spPr>
            <a:xfrm>
              <a:off x="533400" y="3655695"/>
              <a:ext cx="5626418" cy="1584008"/>
            </a:xfrm>
            <a:prstGeom prst="roundRect">
              <a:avLst>
                <a:gd name="adj" fmla="val 721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4347212"/>
              <a:ext cx="200023" cy="200023"/>
              <a:chOff x="738188" y="4347212"/>
              <a:chExt cx="200023" cy="20002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4347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71538" y="4413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892" y="4229100"/>
              <a:ext cx="463429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对任意子区域 G₁，落在 G₁ 里的概率等于 G₁ 的面积除以 D 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面积。第 1 章的几何概型正是它的另一种说法。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464618" y="1524000"/>
            <a:ext cx="5193982" cy="1983105"/>
            <a:chOff x="6464618" y="1524000"/>
            <a:chExt cx="5193982" cy="1983105"/>
          </a:xfrm>
        </p:grpSpPr>
        <p:sp>
          <p:nvSpPr>
            <p:cNvPr id="21" name="Rectangle 21"/>
            <p:cNvSpPr/>
            <p:nvPr/>
          </p:nvSpPr>
          <p:spPr>
            <a:xfrm>
              <a:off x="6464618" y="1524000"/>
              <a:ext cx="5193982" cy="1983105"/>
            </a:xfrm>
            <a:prstGeom prst="roundRect">
              <a:avLst>
                <a:gd name="adj" fmla="val 67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74142" y="1657350"/>
              <a:ext cx="47625" cy="1716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95122" y="171640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70561" y="175069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两个常用特例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703695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59714" y="2072640"/>
              <a:ext cx="38027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矩形区域 a ≤ x ≤ b、c ≤ y ≤ d：密度恒为 1/[(b −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a)(d − c)]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703695" y="268890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59714" y="2632710"/>
              <a:ext cx="35173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圆形区域 x² + y² ≤ R²：密度恒为 1/(πR²)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89408" y="2931319"/>
              <a:ext cx="45915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矩形这一个特例等价于 X ~ U(a, b)、Y ~ U(c, d) 且两者独立，后面会反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复用到。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464618" y="3682365"/>
            <a:ext cx="5193982" cy="1557338"/>
            <a:chOff x="6464618" y="3682365"/>
            <a:chExt cx="5193982" cy="1557338"/>
          </a:xfrm>
        </p:grpSpPr>
        <p:sp>
          <p:nvSpPr>
            <p:cNvPr id="31" name="Rectangle 31"/>
            <p:cNvSpPr/>
            <p:nvPr/>
          </p:nvSpPr>
          <p:spPr>
            <a:xfrm>
              <a:off x="6464618" y="3682365"/>
              <a:ext cx="5193982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4142" y="3815715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95122" y="387477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78562" y="390810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做题顺序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695122" y="421862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50801" y="425700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75920" y="4231005"/>
              <a:ext cx="45777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先把区域 D 画出来，算出它的面积 A，密度就定下来了。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695122" y="452151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50801" y="45599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75920" y="453294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再把所求事件翻译成一块子区域，算它的面积。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95122" y="482346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50801" y="48627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75920" y="4835842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两个面积相除。只有区域形状复杂时才真去做二重积分。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5" name="Rectangle 4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892" y="6023610"/>
              <a:ext cx="5847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均匀分布里“概率正比于面积”，与区域摆在哪里、形状是否规则都无关。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二维随机变量及其分布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两道均匀分布的几何题：先画区域，再比面积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uniA"/>
          <p:cNvGrpSpPr/>
          <p:nvPr/>
        </p:nvGrpSpPr>
        <p:grpSpPr>
          <a:xfrm>
            <a:off x="533400" y="1524000"/>
            <a:ext cx="5524500" cy="4762500"/>
            <a:chOff x="533400" y="1524000"/>
            <a:chExt cx="5524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28066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例：G 上的均匀分布，求 P{Y &gt; X²}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32473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 夹在 y = x 与 x 轴之间，抛物线把它切成了两块。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1903438" y="2756849"/>
              <a:ext cx="1657083" cy="1592237"/>
            </a:xfrm>
            <a:custGeom>
              <a:avLst/>
              <a:gdLst/>
              <a:ahLst/>
              <a:cxnLst/>
              <a:rect l="l" t="t" r="r" b="b"/>
              <a:pathLst>
                <a:path w="1657083" h="1592237">
                  <a:moveTo>
                    <a:pt x="0" y="1592237"/>
                  </a:moveTo>
                  <a:lnTo>
                    <a:pt x="1657083" y="1592237"/>
                  </a:lnTo>
                  <a:lnTo>
                    <a:pt x="1657083" y="0"/>
                  </a:lnTo>
                  <a:close/>
                </a:path>
              </a:pathLst>
            </a:custGeom>
            <a:solidFill>
              <a:srgbClr val="EDF1F9"/>
            </a:solidFill>
            <a:ln>
              <a:noFill/>
            </a:ln>
          </p:spPr>
        </p:sp>
        <p:sp>
          <p:nvSpPr>
            <p:cNvPr id="11" name="Polygon 11"/>
            <p:cNvSpPr/>
            <p:nvPr/>
          </p:nvSpPr>
          <p:spPr>
            <a:xfrm>
              <a:off x="1903438" y="2756849"/>
              <a:ext cx="1657083" cy="1592237"/>
            </a:xfrm>
            <a:custGeom>
              <a:avLst/>
              <a:gdLst/>
              <a:ahLst/>
              <a:cxnLst/>
              <a:rect l="l" t="t" r="r" b="b"/>
              <a:pathLst>
                <a:path w="1657083" h="1592237">
                  <a:moveTo>
                    <a:pt x="0" y="1592237"/>
                  </a:moveTo>
                  <a:lnTo>
                    <a:pt x="41424" y="1552432"/>
                  </a:lnTo>
                  <a:lnTo>
                    <a:pt x="82848" y="1512627"/>
                  </a:lnTo>
                  <a:lnTo>
                    <a:pt x="124282" y="1472822"/>
                  </a:lnTo>
                  <a:lnTo>
                    <a:pt x="165706" y="1433017"/>
                  </a:lnTo>
                  <a:lnTo>
                    <a:pt x="207131" y="1393203"/>
                  </a:lnTo>
                  <a:lnTo>
                    <a:pt x="248564" y="1353398"/>
                  </a:lnTo>
                  <a:lnTo>
                    <a:pt x="289989" y="1313593"/>
                  </a:lnTo>
                  <a:lnTo>
                    <a:pt x="331413" y="1273788"/>
                  </a:lnTo>
                  <a:lnTo>
                    <a:pt x="372837" y="1233983"/>
                  </a:lnTo>
                  <a:lnTo>
                    <a:pt x="414271" y="1194178"/>
                  </a:lnTo>
                  <a:lnTo>
                    <a:pt x="455695" y="1154373"/>
                  </a:lnTo>
                  <a:lnTo>
                    <a:pt x="497119" y="1114568"/>
                  </a:lnTo>
                  <a:lnTo>
                    <a:pt x="538553" y="1074763"/>
                  </a:lnTo>
                  <a:lnTo>
                    <a:pt x="579977" y="1034958"/>
                  </a:lnTo>
                  <a:lnTo>
                    <a:pt x="621401" y="995143"/>
                  </a:lnTo>
                  <a:lnTo>
                    <a:pt x="662835" y="955338"/>
                  </a:lnTo>
                  <a:lnTo>
                    <a:pt x="704259" y="915533"/>
                  </a:lnTo>
                  <a:lnTo>
                    <a:pt x="745684" y="875728"/>
                  </a:lnTo>
                  <a:lnTo>
                    <a:pt x="787117" y="835924"/>
                  </a:lnTo>
                  <a:lnTo>
                    <a:pt x="828542" y="796119"/>
                  </a:lnTo>
                  <a:lnTo>
                    <a:pt x="869966" y="756314"/>
                  </a:lnTo>
                  <a:lnTo>
                    <a:pt x="911400" y="716509"/>
                  </a:lnTo>
                  <a:lnTo>
                    <a:pt x="952824" y="676704"/>
                  </a:lnTo>
                  <a:lnTo>
                    <a:pt x="994248" y="636899"/>
                  </a:lnTo>
                  <a:lnTo>
                    <a:pt x="1035672" y="597084"/>
                  </a:lnTo>
                  <a:lnTo>
                    <a:pt x="1077106" y="557279"/>
                  </a:lnTo>
                  <a:lnTo>
                    <a:pt x="1118530" y="517474"/>
                  </a:lnTo>
                  <a:lnTo>
                    <a:pt x="1159954" y="477669"/>
                  </a:lnTo>
                  <a:lnTo>
                    <a:pt x="1201388" y="437864"/>
                  </a:lnTo>
                  <a:lnTo>
                    <a:pt x="1242812" y="398059"/>
                  </a:lnTo>
                  <a:lnTo>
                    <a:pt x="1284237" y="358254"/>
                  </a:lnTo>
                  <a:lnTo>
                    <a:pt x="1325670" y="318449"/>
                  </a:lnTo>
                  <a:lnTo>
                    <a:pt x="1367095" y="278644"/>
                  </a:lnTo>
                  <a:lnTo>
                    <a:pt x="1408519" y="238830"/>
                  </a:lnTo>
                  <a:lnTo>
                    <a:pt x="1449953" y="199025"/>
                  </a:lnTo>
                  <a:lnTo>
                    <a:pt x="1491377" y="159220"/>
                  </a:lnTo>
                  <a:lnTo>
                    <a:pt x="1532801" y="119415"/>
                  </a:lnTo>
                  <a:lnTo>
                    <a:pt x="1574235" y="79610"/>
                  </a:lnTo>
                  <a:lnTo>
                    <a:pt x="1615659" y="39805"/>
                  </a:lnTo>
                  <a:lnTo>
                    <a:pt x="1657083" y="0"/>
                  </a:lnTo>
                  <a:lnTo>
                    <a:pt x="1657083" y="0"/>
                  </a:lnTo>
                  <a:lnTo>
                    <a:pt x="1615659" y="78619"/>
                  </a:lnTo>
                  <a:lnTo>
                    <a:pt x="1574235" y="155238"/>
                  </a:lnTo>
                  <a:lnTo>
                    <a:pt x="1532801" y="229876"/>
                  </a:lnTo>
                  <a:lnTo>
                    <a:pt x="1491377" y="302524"/>
                  </a:lnTo>
                  <a:lnTo>
                    <a:pt x="1449953" y="373180"/>
                  </a:lnTo>
                  <a:lnTo>
                    <a:pt x="1408519" y="441846"/>
                  </a:lnTo>
                  <a:lnTo>
                    <a:pt x="1367095" y="508521"/>
                  </a:lnTo>
                  <a:lnTo>
                    <a:pt x="1325670" y="573205"/>
                  </a:lnTo>
                  <a:lnTo>
                    <a:pt x="1284237" y="635899"/>
                  </a:lnTo>
                  <a:lnTo>
                    <a:pt x="1242812" y="696601"/>
                  </a:lnTo>
                  <a:lnTo>
                    <a:pt x="1201388" y="755313"/>
                  </a:lnTo>
                  <a:lnTo>
                    <a:pt x="1159954" y="812044"/>
                  </a:lnTo>
                  <a:lnTo>
                    <a:pt x="1118530" y="866775"/>
                  </a:lnTo>
                  <a:lnTo>
                    <a:pt x="1077106" y="919515"/>
                  </a:lnTo>
                  <a:lnTo>
                    <a:pt x="1035672" y="970274"/>
                  </a:lnTo>
                  <a:lnTo>
                    <a:pt x="994248" y="1019032"/>
                  </a:lnTo>
                  <a:lnTo>
                    <a:pt x="952824" y="1065800"/>
                  </a:lnTo>
                  <a:lnTo>
                    <a:pt x="911400" y="1110586"/>
                  </a:lnTo>
                  <a:lnTo>
                    <a:pt x="869966" y="1153373"/>
                  </a:lnTo>
                  <a:lnTo>
                    <a:pt x="828542" y="1194178"/>
                  </a:lnTo>
                  <a:lnTo>
                    <a:pt x="787117" y="1232992"/>
                  </a:lnTo>
                  <a:lnTo>
                    <a:pt x="745684" y="1269806"/>
                  </a:lnTo>
                  <a:lnTo>
                    <a:pt x="704259" y="1304639"/>
                  </a:lnTo>
                  <a:lnTo>
                    <a:pt x="662835" y="1337481"/>
                  </a:lnTo>
                  <a:lnTo>
                    <a:pt x="621401" y="1368333"/>
                  </a:lnTo>
                  <a:lnTo>
                    <a:pt x="579977" y="1397184"/>
                  </a:lnTo>
                  <a:lnTo>
                    <a:pt x="538553" y="1424054"/>
                  </a:lnTo>
                  <a:lnTo>
                    <a:pt x="497119" y="1448933"/>
                  </a:lnTo>
                  <a:lnTo>
                    <a:pt x="455695" y="1471822"/>
                  </a:lnTo>
                  <a:lnTo>
                    <a:pt x="414271" y="1492720"/>
                  </a:lnTo>
                  <a:lnTo>
                    <a:pt x="372837" y="1511627"/>
                  </a:lnTo>
                  <a:lnTo>
                    <a:pt x="331413" y="1528543"/>
                  </a:lnTo>
                  <a:lnTo>
                    <a:pt x="289989" y="1543479"/>
                  </a:lnTo>
                  <a:lnTo>
                    <a:pt x="248564" y="1556414"/>
                  </a:lnTo>
                  <a:lnTo>
                    <a:pt x="207131" y="1567358"/>
                  </a:lnTo>
                  <a:lnTo>
                    <a:pt x="165706" y="1576311"/>
                  </a:lnTo>
                  <a:lnTo>
                    <a:pt x="124282" y="1583284"/>
                  </a:lnTo>
                  <a:lnTo>
                    <a:pt x="82848" y="1588256"/>
                  </a:lnTo>
                  <a:lnTo>
                    <a:pt x="41424" y="1591246"/>
                  </a:lnTo>
                  <a:lnTo>
                    <a:pt x="0" y="1592237"/>
                  </a:lnTo>
                  <a:close/>
                </a:path>
              </a:pathLst>
            </a:custGeom>
            <a:solidFill>
              <a:srgbClr val="A9BBE4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1638300" y="4349086"/>
              <a:ext cx="2466975" cy="9525"/>
            </a:xfrm>
            <a:custGeom>
              <a:avLst/>
              <a:gdLst/>
              <a:ahLst/>
              <a:cxnLst/>
              <a:rect l="l" t="t" r="r" b="b"/>
              <a:pathLst>
                <a:path w="2466975" h="9525">
                  <a:moveTo>
                    <a:pt x="0" y="0"/>
                  </a:moveTo>
                  <a:lnTo>
                    <a:pt x="24669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4105275" y="4319083"/>
              <a:ext cx="66675" cy="60008"/>
            </a:xfrm>
            <a:custGeom>
              <a:avLst/>
              <a:gdLst/>
              <a:ahLst/>
              <a:cxnLst/>
              <a:rect l="l" t="t" r="r" b="b"/>
              <a:pathLst>
                <a:path w="66675" h="60008">
                  <a:moveTo>
                    <a:pt x="66675" y="30004"/>
                  </a:moveTo>
                  <a:lnTo>
                    <a:pt x="0" y="60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1903438" y="2390775"/>
              <a:ext cx="9525" cy="2181225"/>
            </a:xfrm>
            <a:custGeom>
              <a:avLst/>
              <a:gdLst/>
              <a:ahLst/>
              <a:cxnLst/>
              <a:rect l="l" t="t" r="r" b="b"/>
              <a:pathLst>
                <a:path w="9525" h="2181225">
                  <a:moveTo>
                    <a:pt x="0" y="21812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1873434" y="232410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14241" y="4283364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74304" y="2229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41437" y="4405760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903438" y="2565778"/>
              <a:ext cx="1855937" cy="1783309"/>
            </a:xfrm>
            <a:custGeom>
              <a:avLst/>
              <a:gdLst/>
              <a:ahLst/>
              <a:cxnLst/>
              <a:rect l="l" t="t" r="r" b="b"/>
              <a:pathLst>
                <a:path w="1855937" h="1783309">
                  <a:moveTo>
                    <a:pt x="0" y="1783309"/>
                  </a:moveTo>
                  <a:lnTo>
                    <a:pt x="1855937" y="0"/>
                  </a:lnTo>
                </a:path>
              </a:pathLst>
            </a:custGeom>
            <a:noFill/>
            <a:ln w="19050">
              <a:solidFill>
                <a:srgbClr val="C2410C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903438" y="2593648"/>
              <a:ext cx="1739941" cy="1755438"/>
            </a:xfrm>
            <a:custGeom>
              <a:avLst/>
              <a:gdLst/>
              <a:ahLst/>
              <a:cxnLst/>
              <a:rect l="l" t="t" r="r" b="b"/>
              <a:pathLst>
                <a:path w="1739941" h="1755438">
                  <a:moveTo>
                    <a:pt x="0" y="1755438"/>
                  </a:moveTo>
                  <a:lnTo>
                    <a:pt x="27613" y="1755000"/>
                  </a:lnTo>
                  <a:lnTo>
                    <a:pt x="55235" y="1753667"/>
                  </a:lnTo>
                  <a:lnTo>
                    <a:pt x="82848" y="1751457"/>
                  </a:lnTo>
                  <a:lnTo>
                    <a:pt x="110471" y="1748361"/>
                  </a:lnTo>
                  <a:lnTo>
                    <a:pt x="138084" y="1744380"/>
                  </a:lnTo>
                  <a:lnTo>
                    <a:pt x="165706" y="1739513"/>
                  </a:lnTo>
                  <a:lnTo>
                    <a:pt x="193319" y="1733769"/>
                  </a:lnTo>
                  <a:lnTo>
                    <a:pt x="220942" y="1727130"/>
                  </a:lnTo>
                  <a:lnTo>
                    <a:pt x="248564" y="1719615"/>
                  </a:lnTo>
                  <a:lnTo>
                    <a:pt x="276177" y="1711214"/>
                  </a:lnTo>
                  <a:lnTo>
                    <a:pt x="303800" y="1701917"/>
                  </a:lnTo>
                  <a:lnTo>
                    <a:pt x="331413" y="1691745"/>
                  </a:lnTo>
                  <a:lnTo>
                    <a:pt x="359035" y="1680696"/>
                  </a:lnTo>
                  <a:lnTo>
                    <a:pt x="386648" y="1668751"/>
                  </a:lnTo>
                  <a:lnTo>
                    <a:pt x="414271" y="1655921"/>
                  </a:lnTo>
                  <a:lnTo>
                    <a:pt x="441884" y="1642215"/>
                  </a:lnTo>
                  <a:lnTo>
                    <a:pt x="469506" y="1627613"/>
                  </a:lnTo>
                  <a:lnTo>
                    <a:pt x="497119" y="1612135"/>
                  </a:lnTo>
                  <a:lnTo>
                    <a:pt x="524742" y="1595771"/>
                  </a:lnTo>
                  <a:lnTo>
                    <a:pt x="552355" y="1578521"/>
                  </a:lnTo>
                  <a:lnTo>
                    <a:pt x="579977" y="1560386"/>
                  </a:lnTo>
                  <a:lnTo>
                    <a:pt x="607600" y="1541374"/>
                  </a:lnTo>
                  <a:lnTo>
                    <a:pt x="635213" y="1521466"/>
                  </a:lnTo>
                  <a:lnTo>
                    <a:pt x="662835" y="1500683"/>
                  </a:lnTo>
                  <a:lnTo>
                    <a:pt x="690448" y="1479004"/>
                  </a:lnTo>
                  <a:lnTo>
                    <a:pt x="718071" y="1456449"/>
                  </a:lnTo>
                  <a:lnTo>
                    <a:pt x="745684" y="1433008"/>
                  </a:lnTo>
                  <a:lnTo>
                    <a:pt x="773306" y="1408681"/>
                  </a:lnTo>
                  <a:lnTo>
                    <a:pt x="800919" y="1383478"/>
                  </a:lnTo>
                  <a:lnTo>
                    <a:pt x="828542" y="1357379"/>
                  </a:lnTo>
                  <a:lnTo>
                    <a:pt x="856155" y="1330395"/>
                  </a:lnTo>
                  <a:lnTo>
                    <a:pt x="883777" y="1302534"/>
                  </a:lnTo>
                  <a:lnTo>
                    <a:pt x="911400" y="1273788"/>
                  </a:lnTo>
                  <a:lnTo>
                    <a:pt x="939013" y="1244156"/>
                  </a:lnTo>
                  <a:lnTo>
                    <a:pt x="966635" y="1213637"/>
                  </a:lnTo>
                  <a:lnTo>
                    <a:pt x="994248" y="1182233"/>
                  </a:lnTo>
                  <a:lnTo>
                    <a:pt x="1021871" y="1149944"/>
                  </a:lnTo>
                  <a:lnTo>
                    <a:pt x="1049484" y="1116778"/>
                  </a:lnTo>
                  <a:lnTo>
                    <a:pt x="1077106" y="1082716"/>
                  </a:lnTo>
                  <a:lnTo>
                    <a:pt x="1104719" y="1047779"/>
                  </a:lnTo>
                  <a:lnTo>
                    <a:pt x="1132342" y="1011955"/>
                  </a:lnTo>
                  <a:lnTo>
                    <a:pt x="1159954" y="975246"/>
                  </a:lnTo>
                  <a:lnTo>
                    <a:pt x="1187577" y="937651"/>
                  </a:lnTo>
                  <a:lnTo>
                    <a:pt x="1215199" y="899170"/>
                  </a:lnTo>
                  <a:lnTo>
                    <a:pt x="1242812" y="859803"/>
                  </a:lnTo>
                  <a:lnTo>
                    <a:pt x="1270435" y="819560"/>
                  </a:lnTo>
                  <a:lnTo>
                    <a:pt x="1298048" y="778421"/>
                  </a:lnTo>
                  <a:lnTo>
                    <a:pt x="1325670" y="736406"/>
                  </a:lnTo>
                  <a:lnTo>
                    <a:pt x="1353283" y="693506"/>
                  </a:lnTo>
                  <a:lnTo>
                    <a:pt x="1380906" y="649719"/>
                  </a:lnTo>
                  <a:lnTo>
                    <a:pt x="1408519" y="605047"/>
                  </a:lnTo>
                  <a:lnTo>
                    <a:pt x="1436141" y="559489"/>
                  </a:lnTo>
                  <a:lnTo>
                    <a:pt x="1463754" y="513055"/>
                  </a:lnTo>
                  <a:lnTo>
                    <a:pt x="1491377" y="465725"/>
                  </a:lnTo>
                  <a:lnTo>
                    <a:pt x="1518999" y="417519"/>
                  </a:lnTo>
                  <a:lnTo>
                    <a:pt x="1546612" y="368417"/>
                  </a:lnTo>
                  <a:lnTo>
                    <a:pt x="1574235" y="318440"/>
                  </a:lnTo>
                  <a:lnTo>
                    <a:pt x="1601848" y="267576"/>
                  </a:lnTo>
                  <a:lnTo>
                    <a:pt x="1629470" y="215837"/>
                  </a:lnTo>
                  <a:lnTo>
                    <a:pt x="1657083" y="163201"/>
                  </a:lnTo>
                  <a:lnTo>
                    <a:pt x="1684706" y="109680"/>
                  </a:lnTo>
                  <a:lnTo>
                    <a:pt x="1712319" y="55283"/>
                  </a:lnTo>
                  <a:lnTo>
                    <a:pt x="1739941" y="0"/>
                  </a:lnTo>
                </a:path>
              </a:pathLst>
            </a:custGeom>
            <a:noFill/>
            <a:ln w="19050">
              <a:solidFill>
                <a:srgbClr val="0F7A68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560521" y="4349086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519288" y="4424810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1855813" y="2756849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740200" y="269446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91586" y="2651598"/>
              <a:ext cx="321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y = x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26448" y="3989080"/>
              <a:ext cx="3977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y = x²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95414" y="3571046"/>
              <a:ext cx="43265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Y &gt; X²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23900" y="5257800"/>
              <a:ext cx="5143500" cy="8382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3425" y="5362575"/>
              <a:ext cx="47625" cy="6286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95350" y="5362575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96315" y="54159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9826" y="5673804"/>
              <a:ext cx="2931922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的面积 1/2，所以 f(x, y) = 2；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P{Y &gt; X²} = 2∫₀¹(x − x²)dx = 2 × 1/6 = 1/3。</a:t>
              </a:r>
            </a:p>
          </p:txBody>
        </p:sp>
      </p:grpSp>
      <p:grpSp>
        <p:nvGrpSpPr>
          <p:cNvPr id="62" name="uniB"/>
          <p:cNvGrpSpPr/>
          <p:nvPr/>
        </p:nvGrpSpPr>
        <p:grpSpPr>
          <a:xfrm>
            <a:off x="6210300" y="1524000"/>
            <a:ext cx="5448300" cy="4762500"/>
            <a:chOff x="6210300" y="1524000"/>
            <a:chExt cx="5448300" cy="4762500"/>
          </a:xfrm>
        </p:grpSpPr>
        <p:sp>
          <p:nvSpPr>
            <p:cNvPr id="34" name="Rectangle 34"/>
            <p:cNvSpPr/>
            <p:nvPr/>
          </p:nvSpPr>
          <p:spPr>
            <a:xfrm>
              <a:off x="6210300" y="1524000"/>
              <a:ext cx="54483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94323" y="1662589"/>
              <a:ext cx="29504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例：中点两边各取一点，距离小于 a/3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95466" y="1925002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把两个点的位置当成平面上的一个随机点，问题变成面积比。</a:t>
              </a:r>
            </a:p>
          </p:txBody>
        </p:sp>
        <p:sp>
          <p:nvSpPr>
            <p:cNvPr id="37" name="Polygon 37"/>
            <p:cNvSpPr/>
            <p:nvPr/>
          </p:nvSpPr>
          <p:spPr>
            <a:xfrm>
              <a:off x="7334250" y="2766651"/>
              <a:ext cx="1047750" cy="820607"/>
            </a:xfrm>
            <a:custGeom>
              <a:avLst/>
              <a:gdLst/>
              <a:ahLst/>
              <a:cxnLst/>
              <a:rect l="l" t="t" r="r" b="b"/>
              <a:pathLst>
                <a:path w="1047750" h="820607">
                  <a:moveTo>
                    <a:pt x="0" y="820607"/>
                  </a:moveTo>
                  <a:lnTo>
                    <a:pt x="1047750" y="820607"/>
                  </a:lnTo>
                  <a:lnTo>
                    <a:pt x="10477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F1F9"/>
            </a:solidFill>
            <a:ln w="13335">
              <a:solidFill>
                <a:srgbClr val="9FB0D6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7683503" y="3040180"/>
              <a:ext cx="698497" cy="547078"/>
            </a:xfrm>
            <a:custGeom>
              <a:avLst/>
              <a:gdLst/>
              <a:ahLst/>
              <a:cxnLst/>
              <a:rect l="l" t="t" r="r" b="b"/>
              <a:pathLst>
                <a:path w="698497" h="547078">
                  <a:moveTo>
                    <a:pt x="0" y="547078"/>
                  </a:moveTo>
                  <a:lnTo>
                    <a:pt x="698497" y="547078"/>
                  </a:lnTo>
                  <a:lnTo>
                    <a:pt x="698497" y="0"/>
                  </a:lnTo>
                  <a:close/>
                </a:path>
              </a:pathLst>
            </a:custGeom>
            <a:solidFill>
              <a:srgbClr val="A9BBE4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7124700" y="4407875"/>
              <a:ext cx="2771775" cy="9525"/>
            </a:xfrm>
            <a:custGeom>
              <a:avLst/>
              <a:gdLst/>
              <a:ahLst/>
              <a:cxnLst/>
              <a:rect l="l" t="t" r="r" b="b"/>
              <a:pathLst>
                <a:path w="2771775" h="9525">
                  <a:moveTo>
                    <a:pt x="0" y="0"/>
                  </a:moveTo>
                  <a:lnTo>
                    <a:pt x="27717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9896475" y="4377871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7334250" y="2390775"/>
              <a:ext cx="9525" cy="2181225"/>
            </a:xfrm>
            <a:custGeom>
              <a:avLst/>
              <a:gdLst/>
              <a:ahLst/>
              <a:cxnLst/>
              <a:rect l="l" t="t" r="r" b="b"/>
              <a:pathLst>
                <a:path w="9525" h="2181225">
                  <a:moveTo>
                    <a:pt x="0" y="21812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7304246" y="232410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005441" y="43421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05116" y="2229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72249" y="4464548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7515863" y="2843241"/>
              <a:ext cx="1117597" cy="875319"/>
            </a:xfrm>
            <a:custGeom>
              <a:avLst/>
              <a:gdLst/>
              <a:ahLst/>
              <a:cxnLst/>
              <a:rect l="l" t="t" r="r" b="b"/>
              <a:pathLst>
                <a:path w="1117597" h="875319">
                  <a:moveTo>
                    <a:pt x="0" y="875319"/>
                  </a:moveTo>
                  <a:lnTo>
                    <a:pt x="1117597" y="0"/>
                  </a:lnTo>
                </a:path>
              </a:pathLst>
            </a:custGeom>
            <a:noFill/>
            <a:ln w="19050">
              <a:solidFill>
                <a:srgbClr val="C2410C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7683503" y="4407875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69710" y="4483598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a/6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382000" y="4407875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268207" y="4483598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a/2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286625" y="3587258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25891" y="352486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a/2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7286625" y="2766651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71012" y="2704262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38847" y="2513686"/>
              <a:ext cx="709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y = x + a/3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41005" y="3391967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00800" y="5257800"/>
              <a:ext cx="5067300" cy="8382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10325" y="5362575"/>
              <a:ext cx="47625" cy="6286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572250" y="5362575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73215" y="54159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566726" y="5673804"/>
              <a:ext cx="4080891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样本空间是矩形 0 &lt; x &lt; a/2 &lt; y &lt; a，f = 4/a²；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阴影 G 是直角边 a/3 的等腰直角三角形，面积 a²/18，概率 2/9。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69137" cy="909257"/>
            <a:chOff x="520446" y="342900"/>
            <a:chExt cx="72691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二维随机变量及其分布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691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 与例 6　把区域画对，剩下的就是一次积分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202055"/>
            <a:chOff x="533400" y="1524000"/>
            <a:chExt cx="5410200" cy="12020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4481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286" y="1743551"/>
              <a:ext cx="2595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0450" y="1745932"/>
              <a:ext cx="25967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上的均匀分布，求 P{Y &gt; X²}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= {(x, y) | 0 ≤ y ≤ x, 0 ≤ x ≤ 1}，(X, Y) 在 G 上服从均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匀分布。求 f(x, y) 与 P{Y &gt; X²}。</a:t>
              </a:r>
            </a:p>
          </p:txBody>
        </p:sp>
      </p:grpSp>
      <p:grpSp>
        <p:nvGrpSpPr>
          <p:cNvPr id="27" name="c1-steps-2"/>
          <p:cNvGrpSpPr/>
          <p:nvPr/>
        </p:nvGrpSpPr>
        <p:grpSpPr>
          <a:xfrm>
            <a:off x="533400" y="2906078"/>
            <a:ext cx="5199101" cy="1892141"/>
            <a:chOff x="533400" y="2906078"/>
            <a:chExt cx="5199101" cy="1892141"/>
          </a:xfrm>
        </p:grpSpPr>
        <p:sp>
          <p:nvSpPr>
            <p:cNvPr id="14" name="Rectangle 14"/>
            <p:cNvSpPr/>
            <p:nvPr/>
          </p:nvSpPr>
          <p:spPr>
            <a:xfrm>
              <a:off x="666750" y="3048952"/>
              <a:ext cx="19050" cy="1372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29060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29798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69570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7695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2786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3524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293751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求面积定密度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785" y="3205639"/>
              <a:ext cx="47053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是直角边为 1 的等腰直角三角形，面积 1/2，所以 f(x, y) = 2 在 G 上，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其他处为 0。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642" y="372808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785" y="3995261"/>
              <a:ext cx="47857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G 内又要求 y &gt; x²。因为 0 ≤ x ≤ 1 时 x² ≤ x，所以 y 从 x² 积到 x。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642" y="431101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785" y="4578191"/>
              <a:ext cx="3227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2∫₀¹(x − x²)dx = 2 × (1/2 − 1/3) = 1/3。</a:t>
              </a:r>
            </a:p>
          </p:txBody>
        </p:sp>
      </p:grpSp>
      <p:grpSp>
        <p:nvGrpSpPr>
          <p:cNvPr id="33" name="c1-callout-3"/>
          <p:cNvGrpSpPr/>
          <p:nvPr/>
        </p:nvGrpSpPr>
        <p:grpSpPr>
          <a:xfrm>
            <a:off x="533400" y="4962525"/>
            <a:ext cx="5410200" cy="729615"/>
            <a:chOff x="533400" y="4962525"/>
            <a:chExt cx="5410200" cy="729615"/>
          </a:xfrm>
        </p:grpSpPr>
        <p:sp>
          <p:nvSpPr>
            <p:cNvPr id="28" name="Rectangle 28"/>
            <p:cNvSpPr/>
            <p:nvPr/>
          </p:nvSpPr>
          <p:spPr>
            <a:xfrm>
              <a:off x="533400" y="496252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226368"/>
              <a:ext cx="200026" cy="200026"/>
              <a:chOff x="738188" y="5226368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2263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4863" y="530415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892" y="5108258"/>
              <a:ext cx="39827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抛物线把 G 切成两块，上面那块占了三分之一，已用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sympy 复核。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248400" y="1524000"/>
            <a:ext cx="5410200" cy="1202055"/>
            <a:chOff x="6248400" y="1524000"/>
            <a:chExt cx="5410200" cy="1202055"/>
          </a:xfrm>
        </p:grpSpPr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165735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3190" y="1710690"/>
              <a:ext cx="44481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66286" y="1743551"/>
              <a:ext cx="2595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25449" y="1745932"/>
              <a:ext cx="2748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中点两边各取一点，距离小于 a/3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6332" y="2071688"/>
              <a:ext cx="47457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在区间 (0, a) 的中点两边各随机取一点，求两点距离小于 a/3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的概率。</a:t>
              </a:r>
            </a:p>
          </p:txBody>
        </p:sp>
      </p:grpSp>
      <p:grpSp>
        <p:nvGrpSpPr>
          <p:cNvPr id="58" name="c2-steps-2"/>
          <p:cNvGrpSpPr/>
          <p:nvPr/>
        </p:nvGrpSpPr>
        <p:grpSpPr>
          <a:xfrm>
            <a:off x="6248400" y="2906078"/>
            <a:ext cx="5189855" cy="2682716"/>
            <a:chOff x="6248400" y="2906078"/>
            <a:chExt cx="5189855" cy="2682716"/>
          </a:xfrm>
        </p:grpSpPr>
        <p:sp>
          <p:nvSpPr>
            <p:cNvPr id="41" name="Rectangle 41"/>
            <p:cNvSpPr/>
            <p:nvPr/>
          </p:nvSpPr>
          <p:spPr>
            <a:xfrm>
              <a:off x="6381750" y="3048952"/>
              <a:ext cx="19050" cy="216312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248400" y="29060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2024" y="29798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248400" y="369570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2024" y="37695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248400" y="42786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2024" y="43524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248400" y="50692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42024" y="51430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60642" y="293751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建立样本空间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1785" y="3205639"/>
              <a:ext cx="462711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设左边那点为 x、右边那点为 y，则 0 &lt; x &lt; a/2 &lt; y &lt; a。这是一个边长为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a/2 的正方形，面积 a²/4，密度 4/a²。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0642" y="372808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翻译事件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61785" y="3995261"/>
              <a:ext cx="3818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两点距离是 y − x，事件为 y − x &lt; a/3，即 y &lt; x + a/3。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60642" y="431101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算面积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61785" y="4578191"/>
              <a:ext cx="47764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直线 y = x + a/3 与 y = a/2 交于 x = a/6，所求区域是两直角边都为 a/3 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等腰直角三角形，面积 a²/18。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60642" y="510063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相除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61785" y="5368766"/>
              <a:ext cx="27199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(a²/18)/(a²/4) = 2/9 ≈ 0.2222。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9" name="Rectangle 5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892" y="6028373"/>
              <a:ext cx="9645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“中点两边各取一点”已经限定了两点的先后位置，样本空间是正方形而不是整个 (0, a)²，这一步弄错会算成别的答案。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二维随机变量及其分布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二维正态分布：五个参数各管一件事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6059805" cy="4030980"/>
            <a:chOff x="533400" y="1524000"/>
            <a:chExt cx="6059805" cy="40309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30980"/>
            </a:xfrm>
            <a:prstGeom prst="roundRect">
              <a:avLst>
                <a:gd name="adj" fmla="val 33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76428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二维正态分布的密度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520827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(X, Y) 的概率密度为下式，就称 (X, Y) 服从参数为 μ₁、μ₂、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σ₁²、σ₂²、ρ 的二维正态分布。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52"/>
                <p:cNvSpPr txBox="1">
                  <a:spLocks noGrp="1"/>
                </p:cNvSpPr>
                <p:nvPr/>
              </p:nvSpPr>
              <p:spPr>
                <a:xfrm>
                  <a:off x="775335" y="2687002"/>
                  <a:ext cx="5614035" cy="3600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2π</m:t>
                            </m:r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ad>
                              <m:radPr>
                                <m:degHide m:val="on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ρ</m:t>
                                    </m:r>
                                  </m:e>
                                  <m:sup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p>
                                          <m:e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ρ</m:t>
                                            </m:r>
                                          </m:e>
                                          <m:sup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den>
                                </m:f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e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0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0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x</m:t>
                                                </m:r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0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e>
                                                    <m:r>
                                                      <a:rPr lang="zh-CN" sz="105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μ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zh-CN" sz="105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sSubSup>
                                          <m:e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σ</m:t>
                                            </m:r>
                                          </m:e>
                                          <m:sub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den>
                                    </m:f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2ρ</m:t>
                                        </m:r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−</m:t>
                                            </m:r>
                                            <m:sSub>
                                              <m:e>
                                                <m:r>
                                                  <a:rPr lang="zh-CN" sz="10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μ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0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−</m:t>
                                            </m:r>
                                            <m:sSub>
                                              <m:e>
                                                <m:r>
                                                  <a:rPr lang="zh-CN" sz="10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μ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0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num>
                                      <m:den>
                                        <m:sSub>
                                          <m:e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σ</m:t>
                                            </m:r>
                                          </m:e>
                                          <m:sub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b>
                                          <m:e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σ</m:t>
                                            </m:r>
                                          </m:e>
                                          <m:sub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e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0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0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y</m:t>
                                                </m:r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0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e>
                                                    <m:r>
                                                      <a:rPr lang="zh-CN" sz="105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μ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zh-CN" sz="105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sSubSup>
                                          <m:e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σ</m:t>
                                            </m:r>
                                          </m:e>
                                          <m:sub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den>
                                    </m:f>
                                  </m:e>
                                </m:d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8096" y="3163729"/>
              <a:ext cx="535254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记作 (X, Y) ~ N(μ₁, μ₂, σ₁², σ₂², ρ)，其中 σ₁ &gt; 0、σ₂ &gt; 0、−1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ρ &lt; 1。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9239" y="3750945"/>
              <a:ext cx="53690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五个参数里只有 ρ 是二维特有的。把 ρ 取成 0，方括号里的交叉项消失，整个指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数就劈成互不相干的两半。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9239" y="4252912"/>
              <a:ext cx="53461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指数里那个方括号是一个正定二次型，所以密度曲面沿任何方向都向外衰减，不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会跑到无穷大。</a:t>
              </a:r>
            </a:p>
          </p:txBody>
        </p:sp>
      </p:grpSp>
      <p:grpSp>
        <p:nvGrpSpPr>
          <p:cNvPr id="26" name="c2-kv-1"/>
          <p:cNvGrpSpPr/>
          <p:nvPr/>
        </p:nvGrpSpPr>
        <p:grpSpPr>
          <a:xfrm>
            <a:off x="6890766" y="1547336"/>
            <a:ext cx="4767834" cy="1390269"/>
            <a:chOff x="6890766" y="1547336"/>
            <a:chExt cx="4767834" cy="1390269"/>
          </a:xfrm>
        </p:grpSpPr>
        <p:sp>
          <p:nvSpPr>
            <p:cNvPr id="18" name="TextBox 18"/>
            <p:cNvSpPr txBox="1"/>
            <p:nvPr/>
          </p:nvSpPr>
          <p:spPr>
            <a:xfrm>
              <a:off x="6890766" y="1547336"/>
              <a:ext cx="7676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μ₁ 与 μ₂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78508" y="154733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两个方向上的中心位置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898005" y="185356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90766" y="1969294"/>
              <a:ext cx="7676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σ₁ 与 σ₂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78508" y="196929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两个方向上的分散程度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98005" y="227457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90766" y="239125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78508" y="2391251"/>
              <a:ext cx="344093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相关系数，量的是两个变量的线性关联；第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章会给出它的定义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898005" y="3067050"/>
            <a:ext cx="4760595" cy="1545908"/>
            <a:chOff x="6898005" y="3067050"/>
            <a:chExt cx="4760595" cy="1545908"/>
          </a:xfrm>
        </p:grpSpPr>
        <p:sp>
          <p:nvSpPr>
            <p:cNvPr id="27" name="Rectangle 27"/>
            <p:cNvSpPr/>
            <p:nvPr/>
          </p:nvSpPr>
          <p:spPr>
            <a:xfrm>
              <a:off x="6898005" y="3067050"/>
              <a:ext cx="476059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907530" y="320040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139940" y="32708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30148" y="33066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图形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32701" y="3643789"/>
              <a:ext cx="406311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密度曲面是一座钟形山峰，峰顶在 (μ₁, μ₂)。等高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线是一族同心椭圆：ρ = 0 时椭圆的轴与坐标轴平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行，ρ 越接近 ±1 椭圆越扁、倾斜越明显。</a:t>
              </a:r>
            </a:p>
          </p:txBody>
        </p:sp>
      </p:grpSp>
      <p:grpSp>
        <p:nvGrpSpPr>
          <p:cNvPr id="39" name="c2-callout-3"/>
          <p:cNvGrpSpPr/>
          <p:nvPr/>
        </p:nvGrpSpPr>
        <p:grpSpPr>
          <a:xfrm>
            <a:off x="6898005" y="4798695"/>
            <a:ext cx="4760595" cy="756285"/>
            <a:chOff x="6898005" y="4798695"/>
            <a:chExt cx="4760595" cy="756285"/>
          </a:xfrm>
        </p:grpSpPr>
        <p:sp>
          <p:nvSpPr>
            <p:cNvPr id="33" name="Rectangle 33"/>
            <p:cNvSpPr/>
            <p:nvPr/>
          </p:nvSpPr>
          <p:spPr>
            <a:xfrm>
              <a:off x="6898005" y="4798695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102793" y="5076825"/>
              <a:ext cx="200026" cy="200025"/>
              <a:chOff x="7102793" y="507682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102793" y="50768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142531" y="51212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177247" y="52324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405116" y="4945856"/>
              <a:ext cx="387375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ρ 的符号决定椭圆朝哪边倾斜：ρ &gt; 0 时长轴指向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右上方，ρ &lt; 0 时指向左上方。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0" name="Rectangle 4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6004084"/>
              <a:ext cx="85880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本章只用到 ρ = 0 时密度能拆成两个一维正态密度的乘积这一条，它就是二维正态里独立性的判别式。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97906" cy="909257"/>
            <a:chOff x="520446" y="342900"/>
            <a:chExt cx="71979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二维随机变量及其分布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979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7　二维正态落在圆域内的概率：换成极坐标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760595" cy="2209800"/>
            <a:chOff x="533400" y="1524000"/>
            <a:chExt cx="4760595" cy="22098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209800"/>
            </a:xfrm>
            <a:prstGeom prst="roundRect">
              <a:avLst>
                <a:gd name="adj" fmla="val 60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431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742" y="176926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4187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(X, Y) ~ N(0, 0, σ², σ², 0)，即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55"/>
                <p:cNvSpPr txBox="1">
                  <a:spLocks noGrp="1"/>
                </p:cNvSpPr>
                <p:nvPr/>
              </p:nvSpPr>
              <p:spPr>
                <a:xfrm>
                  <a:off x="781050" y="2421255"/>
                  <a:ext cx="4303395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2π</m:t>
                            </m:r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3004185"/>
              <a:ext cx="3701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(X, Y) 落在圆域 G = {(x, y) | x² + y² 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σ²} 内的概率。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924300"/>
            <a:ext cx="4760595" cy="1602105"/>
            <a:chOff x="533400" y="3924300"/>
            <a:chExt cx="4760595" cy="1602105"/>
          </a:xfrm>
        </p:grpSpPr>
        <p:sp>
          <p:nvSpPr>
            <p:cNvPr id="15" name="Rectangle 15"/>
            <p:cNvSpPr/>
            <p:nvPr/>
          </p:nvSpPr>
          <p:spPr>
            <a:xfrm>
              <a:off x="533400" y="3924300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0576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1338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41695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4511040"/>
              <a:ext cx="41395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被积函数只依赖 x² + y²，积分区域又是圆盘，这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正是极坐标最省力的场合。换元后 r 与 θ 完全分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离。</a:t>
              </a:r>
            </a:p>
          </p:txBody>
        </p:sp>
      </p:grpSp>
      <p:grpSp>
        <p:nvGrpSpPr>
          <p:cNvPr id="34" name="c2-steps-1"/>
          <p:cNvGrpSpPr/>
          <p:nvPr/>
        </p:nvGrpSpPr>
        <p:grpSpPr>
          <a:xfrm>
            <a:off x="5598795" y="1533525"/>
            <a:ext cx="5611241" cy="2347246"/>
            <a:chOff x="5598795" y="1533525"/>
            <a:chExt cx="5611241" cy="2347246"/>
          </a:xfrm>
        </p:grpSpPr>
        <p:sp>
          <p:nvSpPr>
            <p:cNvPr id="21" name="Rectangle 21"/>
            <p:cNvSpPr/>
            <p:nvPr/>
          </p:nvSpPr>
          <p:spPr>
            <a:xfrm>
              <a:off x="5732145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598795" y="2419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92419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598795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9241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10275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11418" y="1861661"/>
              <a:ext cx="51904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x = r cos θ、y = r sin θ，面积元 dxdy 变成 r drdθ，区域变成 0 ≤ r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σ、0 ≤ θ &lt; 2π。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0275" y="2453640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先积 θ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1418" y="2746534"/>
              <a:ext cx="45706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被积函数与 θ 无关，直接乘上 2π，与前面的 1/(2π) 约掉。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0275" y="3104198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再积 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1418" y="3397091"/>
              <a:ext cx="51986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剩下 ∫₀^σ r·e^(−r²/(2σ²))dr/σ²，凑微分令 t = r²/(2σ²)，积出 1 −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e^(−1/2)。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56"/>
              <p:cNvSpPr txBox="1">
                <a:spLocks noGrp="1"/>
              </p:cNvSpPr>
              <p:nvPr/>
            </p:nvSpPr>
            <p:spPr>
              <a:xfrm>
                <a:off x="5598795" y="4060508"/>
                <a:ext cx="605980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0.3935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1" name="c2-callout-3"/>
          <p:cNvGrpSpPr/>
          <p:nvPr/>
        </p:nvGrpSpPr>
        <p:grpSpPr>
          <a:xfrm>
            <a:off x="5598795" y="4651058"/>
            <a:ext cx="6059805" cy="875348"/>
            <a:chOff x="5598795" y="4651058"/>
            <a:chExt cx="6059805" cy="875348"/>
          </a:xfrm>
        </p:grpSpPr>
        <p:sp>
          <p:nvSpPr>
            <p:cNvPr id="36" name="Rectangle 36"/>
            <p:cNvSpPr/>
            <p:nvPr/>
          </p:nvSpPr>
          <p:spPr>
            <a:xfrm>
              <a:off x="5598795" y="4651058"/>
              <a:ext cx="6059805" cy="875348"/>
            </a:xfrm>
            <a:prstGeom prst="roundRect">
              <a:avLst>
                <a:gd name="adj" fmla="val 13058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5803583" y="4988243"/>
              <a:ext cx="200026" cy="200026"/>
              <a:chOff x="5803583" y="4988243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803583" y="49882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870258" y="506603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105525" y="4845368"/>
              <a:ext cx="5044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已用 sympy 的极坐标积分复核。σ 在结果里被约掉了：落在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“一倍标准差圆”内的概率与 σ 的大小无关。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2" name="Rectangle 4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130" y="5991225"/>
              <a:ext cx="103035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见到 x² + y² 成对出现、区域是圆或圆环，第一反应就换极坐标；见到区域是矩形或三角形，老老实实用直角坐标。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336792" cy="2997517"/>
            <a:chOff x="667512" y="1835468"/>
            <a:chExt cx="633679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边缘分布与随机变量的独立性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从联合分布退回到单个变量，再问一句这两个变量互不互相影响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边缘分布函数、边缘分布律、边缘概率密度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独立性的定义与三种等价判别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二维正态里独立与不相关是一回事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44599" cy="909257"/>
            <a:chOff x="520446" y="342900"/>
            <a:chExt cx="54445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边缘分布与随机变量的独立性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445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边缘分布：把另一个变量放到 +∞ 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6059805" cy="1618298"/>
            <a:chOff x="533400" y="1524000"/>
            <a:chExt cx="6059805" cy="16182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618298"/>
            </a:xfrm>
            <a:prstGeom prst="roundRect">
              <a:avLst>
                <a:gd name="adj" fmla="val 82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159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边缘分布函数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53372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(X, Y) 的分布函数为 F(x, y)。X 自己的分布函数称为 (X, Y) 关于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的边缘分布函数，把 Y 的那个条件放松到全空间即可得到。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69"/>
                <p:cNvSpPr txBox="1">
                  <a:spLocks noGrp="1"/>
                </p:cNvSpPr>
                <p:nvPr/>
              </p:nvSpPr>
              <p:spPr>
                <a:xfrm>
                  <a:off x="763905" y="2627948"/>
                  <a:ext cx="5636895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,+∞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+∞,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3" name="c1-card-2"/>
          <p:cNvGrpSpPr/>
          <p:nvPr/>
        </p:nvGrpSpPr>
        <p:grpSpPr>
          <a:xfrm>
            <a:off x="533400" y="3317558"/>
            <a:ext cx="6059805" cy="2375535"/>
            <a:chOff x="533400" y="3317558"/>
            <a:chExt cx="6059805" cy="2375535"/>
          </a:xfrm>
        </p:grpSpPr>
        <p:sp>
          <p:nvSpPr>
            <p:cNvPr id="15" name="Rectangle 15"/>
            <p:cNvSpPr/>
            <p:nvPr/>
          </p:nvSpPr>
          <p:spPr>
            <a:xfrm>
              <a:off x="533400" y="3317558"/>
              <a:ext cx="6059805" cy="2375535"/>
            </a:xfrm>
            <a:prstGeom prst="roundRect">
              <a:avLst>
                <a:gd name="adj" fmla="val 56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450908"/>
              <a:ext cx="47625" cy="210883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350996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5345" y="35442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47597" y="3549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相互独立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047" y="3883342"/>
              <a:ext cx="5489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若对一切实数 x、y 都有下式成立，就称随机变量 X 与 Y 相互独立。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70"/>
                <p:cNvSpPr txBox="1">
                  <a:spLocks noGrp="1"/>
                </p:cNvSpPr>
                <p:nvPr/>
              </p:nvSpPr>
              <p:spPr>
                <a:xfrm>
                  <a:off x="763905" y="4164330"/>
                  <a:ext cx="5636895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2" name="TextBox 22"/>
            <p:cNvSpPr txBox="1"/>
            <p:nvPr/>
          </p:nvSpPr>
          <p:spPr>
            <a:xfrm>
              <a:off x="758190" y="4631531"/>
              <a:ext cx="5367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它等价于说：对任意 x、y，事件 {X ≤ x} 与 {Y ≤ y} 总是相互独立的两个事件。</a:t>
              </a:r>
            </a:p>
          </p:txBody>
        </p:sp>
      </p:grpSp>
      <p:grpSp>
        <p:nvGrpSpPr>
          <p:cNvPr id="26" name="c2-image-1"/>
          <p:cNvGrpSpPr/>
          <p:nvPr/>
        </p:nvGrpSpPr>
        <p:grpSpPr>
          <a:xfrm>
            <a:off x="7011353" y="1524000"/>
            <a:ext cx="4533900" cy="2292287"/>
            <a:chOff x="7011353" y="1524000"/>
            <a:chExt cx="4533900" cy="2292287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rcRect l="0" t="6" r="0" b="6"/>
            <a:stretch>
              <a:fillRect/>
            </a:stretch>
          </p:blipFill>
          <p:spPr>
            <a:xfrm>
              <a:off x="7948612" y="1524000"/>
              <a:ext cx="2658428" cy="1993582"/>
            </a:xfrm>
            <a:prstGeom prst="roundRect">
              <a:avLst>
                <a:gd name="adj" fmla="val 6688"/>
              </a:avLst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7011353" y="3610928"/>
              <a:ext cx="45339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两道影子各自记录了一个方向上的分布，却说不清盒子里珠子的真实排布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898005" y="3969068"/>
            <a:ext cx="4760595" cy="1724025"/>
            <a:chOff x="6898005" y="3969068"/>
            <a:chExt cx="4760595" cy="1724025"/>
          </a:xfrm>
        </p:grpSpPr>
        <p:sp>
          <p:nvSpPr>
            <p:cNvPr id="27" name="Rectangle 27"/>
            <p:cNvSpPr/>
            <p:nvPr/>
          </p:nvSpPr>
          <p:spPr>
            <a:xfrm>
              <a:off x="6898005" y="3969068"/>
              <a:ext cx="4760595" cy="1724025"/>
            </a:xfrm>
            <a:prstGeom prst="roundRect">
              <a:avLst>
                <a:gd name="adj" fmla="val 77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907530" y="4102418"/>
              <a:ext cx="47625" cy="14573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128510" y="4161472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91947" y="419576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一条容易忽略的事实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21652" y="4518660"/>
              <a:ext cx="414566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已知联合分布可以求出边缘分布，反过来却不行。边缘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分布相同而联合分布不同的例子很多，后面二维正态那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一页会给出一整族。只有再加上“相互独立”这个条件，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边缘才能唯一地拼回联合。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3" name="Rectangle 3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3610"/>
              <a:ext cx="6138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独立性要对一切 x、y 成立。挑几个点验过就下结论，是本章最常见的错误。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11344" cy="909257"/>
            <a:chOff x="520446" y="342900"/>
            <a:chExt cx="65113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边缘分布与随机变量的独立性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113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8　由分布函数定常数、求边缘、判独立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544378" cy="1671638"/>
            <a:chOff x="533400" y="1524000"/>
            <a:chExt cx="4544378" cy="1671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4481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571" y="1737836"/>
              <a:ext cx="2595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36136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(X, Y) 的分布函数在 x &gt; 0 且 y &gt; 0 时为 k/2 −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e^(−x) − e^(−y) + e^(−x−y)，其余处为 0。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573179"/>
              <a:ext cx="39225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(1) 常数 k；(2) 两个边缘分布函数并判断独立性；</a:t>
              </a:r>
            </a:p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P{1 &lt; X ≤ 2, 4 &lt; Y ≤ 7}。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360420"/>
            <a:ext cx="4544378" cy="2125980"/>
            <a:chOff x="533400" y="3360420"/>
            <a:chExt cx="4544378" cy="2125980"/>
          </a:xfrm>
        </p:grpSpPr>
        <p:sp>
          <p:nvSpPr>
            <p:cNvPr id="14" name="Rectangle 14"/>
            <p:cNvSpPr/>
            <p:nvPr/>
          </p:nvSpPr>
          <p:spPr>
            <a:xfrm>
              <a:off x="533400" y="3360420"/>
              <a:ext cx="4544378" cy="2125980"/>
            </a:xfrm>
            <a:prstGeom prst="roundRect">
              <a:avLst>
                <a:gd name="adj" fmla="val 62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93770"/>
              <a:ext cx="47625" cy="185928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54139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5147" y="35742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998" y="3881914"/>
              <a:ext cx="39143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 k 只需用一条性质：两个变量一起趋于 +∞ 时 F 趋于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1。定完以后先把 F 配成乘积形式，后面两问就都顺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了。</a:t>
              </a:r>
            </a:p>
          </p:txBody>
        </p:sp>
      </p:grpSp>
      <p:grpSp>
        <p:nvGrpSpPr>
          <p:cNvPr id="41" name="c2-steps-1"/>
          <p:cNvGrpSpPr/>
          <p:nvPr/>
        </p:nvGrpSpPr>
        <p:grpSpPr>
          <a:xfrm>
            <a:off x="5382578" y="1533525"/>
            <a:ext cx="6182201" cy="3089529"/>
            <a:chOff x="5382578" y="1533525"/>
            <a:chExt cx="6182201" cy="3089529"/>
          </a:xfrm>
        </p:grpSpPr>
        <p:sp>
          <p:nvSpPr>
            <p:cNvPr id="20" name="Rectangle 20"/>
            <p:cNvSpPr/>
            <p:nvPr/>
          </p:nvSpPr>
          <p:spPr>
            <a:xfrm>
              <a:off x="5515928" y="1676400"/>
              <a:ext cx="19050" cy="24050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382578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47620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82578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76201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82578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476201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382578" y="33861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476201" y="34599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382578" y="393858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76201" y="4012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95201" y="1564481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 k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96344" y="1818322"/>
              <a:ext cx="43491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x、y 同时趋于 +∞ 时三个指数项都趋于 0，F → k/2 = 1，所以 k = 2。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95201" y="21169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配成乘积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96344" y="2371725"/>
              <a:ext cx="5768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F(x, y) = 1 − e^(−x) − e^(−y) + e^(−x−y) = (1 − e^(−x))(1 − e^(−y))，x &gt; 0、y &gt; 0。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95201" y="26703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求边缘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96344" y="2925128"/>
              <a:ext cx="545134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y → +∞ 得 F_X(x) = 1 − e^(−x)（x &gt; 0）；令 x → +∞ 得 F_Y(y) = 1 − e^(−y)（y &gt; 0）。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两个都是参数为 1 的指数分布。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95201" y="341614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判独立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96344" y="3670935"/>
              <a:ext cx="48539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F(x, y) 恒等于 F_X(x)F_Y(y)，对一切 x、y 成立，所以 X 与 Y 相互独立。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795201" y="3969544"/>
              <a:ext cx="5380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 (3)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96344" y="4224338"/>
              <a:ext cx="499795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独立时矩形概率直接拆成两段相乘：(e⁻¹ − e⁻²)(e⁻⁴ − e⁻⁷) ≈ 0.2325 × 0.01740 ≈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0.004047。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5382578" y="4784408"/>
            <a:ext cx="6276022" cy="702945"/>
            <a:chOff x="5382578" y="4784408"/>
            <a:chExt cx="6276022" cy="702945"/>
          </a:xfrm>
        </p:grpSpPr>
        <p:sp>
          <p:nvSpPr>
            <p:cNvPr id="42" name="Rectangle 42"/>
            <p:cNvSpPr/>
            <p:nvPr/>
          </p:nvSpPr>
          <p:spPr>
            <a:xfrm>
              <a:off x="5382578" y="4784408"/>
              <a:ext cx="6276022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5587365" y="5035868"/>
              <a:ext cx="200026" cy="200026"/>
              <a:chOff x="5587365" y="5035868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5587365" y="50358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5654040" y="511365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5890451" y="4929664"/>
              <a:ext cx="5214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也可以不用独立性，直接按矩形不等式做四项加减，结果完全一样，已用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sympy 对照过。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8" name="Rectangle 4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1273" y="6039326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源课件只给了题面没有给解答，这一页的过程是本讲义补的。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边缘分布与随机变量的独立性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离散型的边缘分布律：把表格按行、按列加起来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2617470"/>
            <a:chOff x="533400" y="1524000"/>
            <a:chExt cx="5626418" cy="26174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617470"/>
            </a:xfrm>
            <a:prstGeom prst="roundRect">
              <a:avLst>
                <a:gd name="adj" fmla="val 50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5077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行和与列和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844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(X, Y) 的联合分布律为 pᵢⱼ。把第 i 行加起来就得到 X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xᵢ 的概率，把第 j 列加起来就得到 Y 取 yⱼ 的概率。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74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5169218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  <m:sup/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/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411855"/>
              <a:ext cx="4958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它们分别叫做 (X, Y) 关于 X 和关于 Y 的边缘分布律。圆点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占住的那个下标，就是被加掉的那个。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4331970"/>
            <a:ext cx="5626418" cy="1222058"/>
            <a:chOff x="533400" y="4331970"/>
            <a:chExt cx="5626418" cy="1222058"/>
          </a:xfrm>
        </p:grpSpPr>
        <p:sp>
          <p:nvSpPr>
            <p:cNvPr id="16" name="Rectangle 16"/>
            <p:cNvSpPr/>
            <p:nvPr/>
          </p:nvSpPr>
          <p:spPr>
            <a:xfrm>
              <a:off x="533400" y="4331970"/>
              <a:ext cx="5626418" cy="1222058"/>
            </a:xfrm>
            <a:prstGeom prst="roundRect">
              <a:avLst>
                <a:gd name="adj" fmla="val 9353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842512"/>
              <a:ext cx="200023" cy="200023"/>
              <a:chOff x="738188" y="4842512"/>
              <a:chExt cx="200023" cy="20002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8425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71538" y="49091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4699635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边缘分布律写在表格的最右一列和最下一行，这两条的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和都必须是 1。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6458902" y="1524000"/>
            <a:ext cx="5199698" cy="2091214"/>
            <a:chOff x="6458902" y="1524000"/>
            <a:chExt cx="5199698" cy="2091214"/>
          </a:xfrm>
        </p:grpSpPr>
        <p:sp>
          <p:nvSpPr>
            <p:cNvPr id="22" name="Rectangle 22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80989" y="1659731"/>
              <a:ext cx="5102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＼ 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24564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71387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70066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72441" y="210835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15441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p₁₁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61310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p₁₂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109835" y="1982152"/>
              <a:ext cx="1539240" cy="429578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208133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p₁·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72441" y="25569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15441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p₂₁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61310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p₂₂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109835" y="2430780"/>
              <a:ext cx="1539240" cy="429578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208133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p₂·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74142" y="2880360"/>
              <a:ext cx="1123950" cy="429578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72441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列和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617142" y="2880360"/>
              <a:ext cx="1227772" cy="429578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715441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p·₁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863012" y="2880360"/>
              <a:ext cx="1227772" cy="429578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961310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p·₂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109835" y="2880360"/>
              <a:ext cx="153924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208133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1524000"/>
              <a:ext cx="519398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60285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84872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095548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58902" y="3395186"/>
              <a:ext cx="3795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边缘分布律就写在表格的边上，这也是“边缘”二字的由来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464618" y="3761422"/>
            <a:ext cx="5193982" cy="1792605"/>
            <a:chOff x="6464618" y="3761422"/>
            <a:chExt cx="5193982" cy="1792605"/>
          </a:xfrm>
        </p:grpSpPr>
        <p:sp>
          <p:nvSpPr>
            <p:cNvPr id="54" name="Rectangle 54"/>
            <p:cNvSpPr/>
            <p:nvPr/>
          </p:nvSpPr>
          <p:spPr>
            <a:xfrm>
              <a:off x="6464618" y="3761422"/>
              <a:ext cx="5193982" cy="1792605"/>
            </a:xfrm>
            <a:prstGeom prst="roundRect">
              <a:avLst>
                <a:gd name="adj" fmla="val 74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74142" y="3894772"/>
              <a:ext cx="47625" cy="15259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712268" y="397097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03428" y="40066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判别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13295" y="40062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离散型独立的充要条件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04648" y="4367212"/>
              <a:ext cx="4434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与 Y 相互独立，当且仅当对一切 i、j 都有联合分布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律等于两个边缘分布律的乘积。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formula75"/>
                <p:cNvSpPr txBox="1">
                  <a:spLocks noGrp="1"/>
                </p:cNvSpPr>
                <p:nvPr/>
              </p:nvSpPr>
              <p:spPr>
                <a:xfrm>
                  <a:off x="6712268" y="4963478"/>
                  <a:ext cx="4736782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</m:sub>
                        </m:sSub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6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2" name="Rectangle 6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130" y="599122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判不独立只要找到一个格子不满足就够了；判独立必须每个格子都验一遍，一个也不能漏。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84468" cy="909257"/>
            <a:chOff x="520446" y="342900"/>
            <a:chExt cx="78844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边缘分布与随机变量的独立性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844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9　放回与不放回：边缘分布相同，独立性却相反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345299" cy="293370"/>
            <a:chOff x="525780" y="1548765"/>
            <a:chExt cx="7345299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345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还是 3 黑 2 白取两次。两种取法的边缘分布律一模一样，联合分布律却完全不同。</a:t>
              </a:r>
            </a:p>
          </p:txBody>
        </p:sp>
      </p:grpSp>
      <p:grpSp>
        <p:nvGrpSpPr>
          <p:cNvPr id="41" name="c1-card-1"/>
          <p:cNvGrpSpPr/>
          <p:nvPr/>
        </p:nvGrpSpPr>
        <p:grpSpPr>
          <a:xfrm>
            <a:off x="533400" y="1954530"/>
            <a:ext cx="5410200" cy="3387090"/>
            <a:chOff x="533400" y="1954530"/>
            <a:chExt cx="5410200" cy="3387090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3387090"/>
            </a:xfrm>
            <a:prstGeom prst="roundRect">
              <a:avLst>
                <a:gd name="adj" fmla="val 39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31203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1593" y="21940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不放回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8666" y="2197894"/>
              <a:ext cx="15856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与 Y 不相互独立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75335" y="2526030"/>
              <a:ext cx="496443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57158" y="2657475"/>
              <a:ext cx="4784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＼ 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84731" y="26574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24886" y="26574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52048" y="26574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0681" y="30880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025968" y="2966085"/>
              <a:ext cx="1222058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21789" y="308800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62896" y="308800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3/10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04004" y="308800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75335" y="3382328"/>
              <a:ext cx="496443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75335" y="3387090"/>
              <a:ext cx="496443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0681" y="35175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21789" y="35175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3/10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62896" y="35175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3/10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04004" y="351758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3/5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75335" y="3811905"/>
              <a:ext cx="496443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80681" y="394811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21789" y="394811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62896" y="394811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4004" y="39481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75335" y="2526030"/>
              <a:ext cx="496443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011680" y="25260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252788" y="25260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493895" y="25260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8096" y="4362926"/>
              <a:ext cx="468528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左上角 p₀₀ = 1/10，而 p₀·p·₀ = (2/5)(2/5) = 4/25。两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者不等，所以不独立。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9239" y="4951095"/>
              <a:ext cx="5020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第一次取走一个球会改变第二次的成分，这种影响正是不独立的来源。</a:t>
              </a:r>
            </a:p>
          </p:txBody>
        </p:sp>
      </p:grpSp>
      <p:grpSp>
        <p:nvGrpSpPr>
          <p:cNvPr id="74" name="c2-card-1"/>
          <p:cNvGrpSpPr/>
          <p:nvPr/>
        </p:nvGrpSpPr>
        <p:grpSpPr>
          <a:xfrm>
            <a:off x="6248400" y="1954530"/>
            <a:ext cx="5410200" cy="3387090"/>
            <a:chOff x="6248400" y="1954530"/>
            <a:chExt cx="5410200" cy="3387090"/>
          </a:xfrm>
        </p:grpSpPr>
        <p:sp>
          <p:nvSpPr>
            <p:cNvPr id="42" name="Rectangle 42"/>
            <p:cNvSpPr/>
            <p:nvPr/>
          </p:nvSpPr>
          <p:spPr>
            <a:xfrm>
              <a:off x="6248400" y="1954530"/>
              <a:ext cx="5410200" cy="3387090"/>
            </a:xfrm>
            <a:prstGeom prst="roundRect">
              <a:avLst>
                <a:gd name="adj" fmla="val 39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57925" y="2087880"/>
              <a:ext cx="47625" cy="31203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90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80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放回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91744" y="2197894"/>
              <a:ext cx="1394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与 Y 相互独立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90335" y="2526030"/>
              <a:ext cx="496443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71205" y="2657475"/>
              <a:ext cx="4784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＼ Y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98778" y="26574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39886" y="26574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67047" y="26574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95682" y="30880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740968" y="2966085"/>
              <a:ext cx="122205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836789" y="308800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4/25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77896" y="308800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6/25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19004" y="308800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90335" y="3382328"/>
              <a:ext cx="496443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90335" y="3387090"/>
              <a:ext cx="496443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95682" y="35175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36789" y="35175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6/25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077896" y="35175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9/25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319004" y="351758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3/5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90335" y="3811905"/>
              <a:ext cx="496443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95682" y="394811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836789" y="394811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077896" y="394811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3/5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319004" y="39481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490335" y="2526030"/>
              <a:ext cx="496443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726680" y="25260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967788" y="25260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10208895" y="25260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483096" y="4362926"/>
              <a:ext cx="50668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四个格子都等于对应的行和乘列和，所以 X 与 Y 相互独立。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84239" y="4679632"/>
              <a:ext cx="4858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球放回去以后口袋恢复原样，第二次的试验条件与第一次完全相同。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5" name="Rectangle 7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0511" y="6004084"/>
              <a:ext cx="86358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两张表的边缘分布律完全一样，联合分布律却不同。这正是“边缘不能唯一确定联合”的一个最短例子。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82713" cy="909257"/>
            <a:chOff x="520446" y="342900"/>
            <a:chExt cx="80827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边缘分布与随机变量的独立性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827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10　两个事件的示性变量：条件概率给的信息够用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2223135"/>
            <a:chOff x="533400" y="1524000"/>
            <a:chExt cx="4760595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6102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164" y="1769269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0252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A、B 是两个随机事件，P(A) = 1/4，P(B|A)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1/3，P(A|B) = 1/2。令 A 发生时 X = 1、不发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生时 X = 0，B 发生时 Y = 1、不发生时 Y = 0。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3017520"/>
              <a:ext cx="4120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(1) (X, Y) 的概率分布；(2) 两个边缘分布；</a:t>
              </a: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判断独立性。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937635"/>
            <a:ext cx="4760595" cy="1602105"/>
            <a:chOff x="533400" y="3937635"/>
            <a:chExt cx="4760595" cy="1602105"/>
          </a:xfrm>
        </p:grpSpPr>
        <p:sp>
          <p:nvSpPr>
            <p:cNvPr id="14" name="Rectangle 14"/>
            <p:cNvSpPr/>
            <p:nvPr/>
          </p:nvSpPr>
          <p:spPr>
            <a:xfrm>
              <a:off x="533400" y="3937635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407098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41471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1258" y="41829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4524375"/>
              <a:ext cx="40252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四个格子对应四个事件：AB、A 发生而 B 不发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生、B 发生而 A 不发生、两个都不发生。先用乘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法公式算出 P(AB)，其余三个格子用减法补齐。</a:t>
              </a:r>
            </a:p>
          </p:txBody>
        </p:sp>
      </p:grpSp>
      <p:grpSp>
        <p:nvGrpSpPr>
          <p:cNvPr id="37" name="c2-steps-1"/>
          <p:cNvGrpSpPr/>
          <p:nvPr/>
        </p:nvGrpSpPr>
        <p:grpSpPr>
          <a:xfrm>
            <a:off x="5598795" y="1533525"/>
            <a:ext cx="5703575" cy="3233071"/>
            <a:chOff x="5598795" y="1533525"/>
            <a:chExt cx="5703575" cy="3233071"/>
          </a:xfrm>
        </p:grpSpPr>
        <p:sp>
          <p:nvSpPr>
            <p:cNvPr id="20" name="Rectangle 20"/>
            <p:cNvSpPr/>
            <p:nvPr/>
          </p:nvSpPr>
          <p:spPr>
            <a:xfrm>
              <a:off x="5732145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598795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9241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598795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9241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598795" y="37204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92419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10275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算交事件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1418" y="1861661"/>
              <a:ext cx="49297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P(AB) = P(A)P(B|A) = (1/4)(1/3) = 1/12，即 p₁₁ = 1/12。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0275" y="2218372"/>
              <a:ext cx="979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反求 P(B)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1418" y="2512219"/>
              <a:ext cx="52909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P(A|B) = P(AB)/P(B) = 1/2 得 P(B) = (1/12)/(1/2) = 1/6。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0275" y="28689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补齐另外三格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1418" y="3162776"/>
              <a:ext cx="51173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p₁₀ = P(A) − P(AB) = 1/4 − 1/12 = 1/6；p₀₁ = P(B) − P(AB) = 1/6 −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1/12 = 1/12；p₀₀ = 1 − 1/12 − 1/6 − 1/12 = 2/3。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0275" y="37547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边缘与独立性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11418" y="4048601"/>
              <a:ext cx="521487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取 0、1 的概率是 3/4 与 1/4，Y 取 0、1 的概率是 5/6 与 1/6。p₁₁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1/12，而 p₁·p·₁ = (1/4)(1/6) = 1/24，两者不等，所以 X 与 Y 不独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立。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5598795" y="4945380"/>
            <a:ext cx="6059805" cy="594360"/>
            <a:chOff x="5598795" y="4945380"/>
            <a:chExt cx="6059805" cy="594360"/>
          </a:xfrm>
        </p:grpSpPr>
        <p:sp>
          <p:nvSpPr>
            <p:cNvPr id="38" name="Rectangle 38"/>
            <p:cNvSpPr/>
            <p:nvPr/>
          </p:nvSpPr>
          <p:spPr>
            <a:xfrm>
              <a:off x="5598795" y="4945380"/>
              <a:ext cx="6059805" cy="594360"/>
            </a:xfrm>
            <a:prstGeom prst="roundRect">
              <a:avLst>
                <a:gd name="adj" fmla="val 1923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5803583" y="5142548"/>
              <a:ext cx="200026" cy="200026"/>
              <a:chOff x="5803583" y="5142548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5803583" y="51425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870258" y="522033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105525" y="5137785"/>
              <a:ext cx="42254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四个格子相加正好是 1，已用有理数运算复核。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9505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源课件只给了题面没有给解答，这一页的过程是本讲义补的。事件独立与示性变量独立在这里是同一件事。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边缘分布与随机变量的独立性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连续型的边缘密度：把另一个变量积掉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2245995"/>
            <a:chOff x="533400" y="1524000"/>
            <a:chExt cx="5626418" cy="22459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245995"/>
            </a:xfrm>
            <a:prstGeom prst="roundRect">
              <a:avLst>
                <a:gd name="adj" fmla="val 59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7929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边缘概率密度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825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(X, Y) 的联合概率密度为 f(x, y)。把 y 从 −∞ 积到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∞，剩下的就是 X 自己的密度。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77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5169218" cy="4800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326130"/>
              <a:ext cx="4717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分别称为 (X, Y) 关于 X 和关于 Y 的边缘概率密度。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960495"/>
            <a:ext cx="5626418" cy="1688782"/>
            <a:chOff x="533400" y="3960495"/>
            <a:chExt cx="5626418" cy="1688782"/>
          </a:xfrm>
        </p:grpSpPr>
        <p:sp>
          <p:nvSpPr>
            <p:cNvPr id="16" name="Rectangle 16"/>
            <p:cNvSpPr/>
            <p:nvPr/>
          </p:nvSpPr>
          <p:spPr>
            <a:xfrm>
              <a:off x="533400" y="3960495"/>
              <a:ext cx="5626418" cy="1688782"/>
            </a:xfrm>
            <a:prstGeom prst="roundRect">
              <a:avLst>
                <a:gd name="adj" fmla="val 78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093845"/>
              <a:ext cx="47625" cy="142208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417004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1258" y="42057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判别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82078" y="420528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连续型独立的充要条件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4566285"/>
              <a:ext cx="4482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与 Y 相互独立，当且仅当对一切 x、y 有 f(x, y)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f_X(x)·f_Y(y)（在 f 的连续点处成立即可）。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464618" y="1524000"/>
            <a:ext cx="5193982" cy="1997392"/>
            <a:chOff x="6464618" y="1524000"/>
            <a:chExt cx="5193982" cy="1997392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5193982" cy="1997392"/>
            </a:xfrm>
            <a:prstGeom prst="roundRect">
              <a:avLst>
                <a:gd name="adj" fmla="val 667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74168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47624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判独立的三步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674167" y="209740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36017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75158" y="2110740"/>
              <a:ext cx="39135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 y 积分求 f_X，注意积分限要用 x 表示。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674167" y="243268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36017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75158" y="2446020"/>
              <a:ext cx="16620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 x 积分求 f_Y。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674167" y="276796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36017" y="28102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75158" y="2781300"/>
              <a:ext cx="3680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把两个结果相乘，和原来的 f 逐点比较。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7691" y="311324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相等就独立，有一处不等就不独立。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464618" y="3711892"/>
            <a:ext cx="5193982" cy="1937385"/>
            <a:chOff x="6464618" y="3711892"/>
            <a:chExt cx="5193982" cy="1937385"/>
          </a:xfrm>
        </p:grpSpPr>
        <p:sp>
          <p:nvSpPr>
            <p:cNvPr id="37" name="Rectangle 37"/>
            <p:cNvSpPr/>
            <p:nvPr/>
          </p:nvSpPr>
          <p:spPr>
            <a:xfrm>
              <a:off x="6464618" y="3711892"/>
              <a:ext cx="5193982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4142" y="3845242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12268" y="3921442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72923" y="395716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一眼看穿的两种情形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717983" y="4361498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76098" y="4298632"/>
              <a:ext cx="4225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定义域不是矩形（比如 0 &lt; y &lt; x &lt; 1），那么 x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取值范围依赖 y，一定不独立。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717983" y="4982528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76098" y="4919662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定义域是矩形而且 f 能写成“只含 x 的函数 × 只含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的函数”，那么一定独立，连积分都不必算。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6" name="Rectangle 4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130" y="5991225"/>
              <a:ext cx="6882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积分限是这一步的全部难点。画出区域，竖着切得到 f_X，横着切得到 f_Y。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49222" cy="909257"/>
            <a:chOff x="520446" y="342900"/>
            <a:chExt cx="59492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边缘分布与随机变量的独立性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492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11 与例 12　一个独立，一个不独立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3712845"/>
            <a:chOff x="533400" y="1524000"/>
            <a:chExt cx="5410200" cy="37128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712845"/>
            </a:xfrm>
            <a:prstGeom prst="roundRect">
              <a:avLst>
                <a:gd name="adj" fmla="val 35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4461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6102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164" y="1769269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48752" y="1768792"/>
              <a:ext cx="3779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f(x, y) = 12e^(−3x−4y)，x &gt; 0，y &gt; 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就是例 4 那个密度。对 y 积分得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80"/>
                <p:cNvSpPr txBox="1">
                  <a:spLocks noGrp="1"/>
                </p:cNvSpPr>
                <p:nvPr/>
              </p:nvSpPr>
              <p:spPr>
                <a:xfrm>
                  <a:off x="781050" y="2440305"/>
                  <a:ext cx="4953000" cy="4533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4y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3x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&gt;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013710"/>
              <a:ext cx="4472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同理 f_Y(y) = 4e^(−4y)（y &gt; 0）。两者相乘恰好是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f(x, y)。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81050" y="3609975"/>
              <a:ext cx="4953000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985838" y="3776663"/>
              <a:ext cx="200026" cy="200026"/>
              <a:chOff x="985838" y="3776663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985838" y="37766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52513" y="38544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287780" y="3771900"/>
              <a:ext cx="44554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所以 X 与 Y 相互独立，且 X ~ E(3)、Y ~ E(4)。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248400" y="1524000"/>
            <a:ext cx="5410200" cy="3712845"/>
            <a:chOff x="6248400" y="1524000"/>
            <a:chExt cx="5410200" cy="3712845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3712845"/>
            </a:xfrm>
            <a:prstGeom prst="roundRect">
              <a:avLst>
                <a:gd name="adj" fmla="val 35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57925" y="1657350"/>
              <a:ext cx="47625" cy="34461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96050" y="1733550"/>
              <a:ext cx="56102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84164" y="1769269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8430" y="2110740"/>
              <a:ext cx="40447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f(x, y) = x² + xy/3，0 ≤ x ≤ 1，0 ≤ y ≤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88430" y="2465070"/>
              <a:ext cx="4615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定义域是矩形，但 f 拆不成两个单变量函数的乘积。分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别积分得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81"/>
                <p:cNvSpPr txBox="1">
                  <a:spLocks noGrp="1"/>
                </p:cNvSpPr>
                <p:nvPr/>
              </p:nvSpPr>
              <p:spPr>
                <a:xfrm>
                  <a:off x="6496050" y="3061335"/>
                  <a:ext cx="4953000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2x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den>
                        </m:f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6488430" y="3592830"/>
              <a:ext cx="45967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两者乘积在 x = y = 1 处等于 8/3 × 1/2 = 4/3，而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f(1, 1) = 4/3……再取 x = 1、y = 0，乘积为 8/3 × 1/3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8/9，但 f(1, 0) = 1。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96050" y="4474845"/>
              <a:ext cx="49530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688779" y="4637841"/>
              <a:ext cx="224134" cy="192560"/>
              <a:chOff x="6688779" y="4637841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800850" y="470820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688779" y="463784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800850" y="478599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002780" y="4636770"/>
              <a:ext cx="4140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有一处不等就够了，所以 X 与 Y 不相互独立。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6" name="Rectangle 3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130" y="5991225"/>
              <a:ext cx="7113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定义域是矩形只是独立的必要条件，不是充分条件。还得看 f 本身能不能拆开。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82480" cy="909257"/>
            <a:chOff x="520446" y="342900"/>
            <a:chExt cx="92824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边缘分布与随机变量的独立性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824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13　f(x, y) = x·e^(−x(1+y))：两个边缘长得完全不同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602105"/>
            <a:chOff x="533400" y="1524000"/>
            <a:chExt cx="4977765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6102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164" y="1769269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1871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(X, Y) 的概率密度在 x &gt; 0 且 y &gt; 0 时为 x·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e^(−x(1+y))，其余处为 0。求两个边缘密度并判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断独立性。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316605"/>
            <a:ext cx="4977765" cy="2318385"/>
            <a:chOff x="533400" y="3316605"/>
            <a:chExt cx="4977765" cy="2318385"/>
          </a:xfrm>
        </p:grpSpPr>
        <p:sp>
          <p:nvSpPr>
            <p:cNvPr id="13" name="Rectangle 13"/>
            <p:cNvSpPr/>
            <p:nvPr/>
          </p:nvSpPr>
          <p:spPr>
            <a:xfrm>
              <a:off x="533400" y="3316605"/>
              <a:ext cx="4977765" cy="2318385"/>
            </a:xfrm>
            <a:prstGeom prst="roundRect">
              <a:avLst>
                <a:gd name="adj" fmla="val 5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449955"/>
              <a:ext cx="47625" cy="20516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5261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1258" y="35618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3903345"/>
              <a:ext cx="43110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y 积分时把 x 当常数，指数里 y 的系数是 −x，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积出来有一个 1/x 正好与前面的 x 约掉。对 x 积分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时要用一次分部积分，或直接套 ∫₀^∞ x·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e^(−ax)dx = 1/a²。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5815965" y="1524000"/>
            <a:ext cx="5842635" cy="3137535"/>
            <a:chOff x="5815965" y="1524000"/>
            <a:chExt cx="5842635" cy="3137535"/>
          </a:xfrm>
        </p:grpSpPr>
        <p:sp>
          <p:nvSpPr>
            <p:cNvPr id="19" name="Rectangle 19"/>
            <p:cNvSpPr/>
            <p:nvPr/>
          </p:nvSpPr>
          <p:spPr>
            <a:xfrm>
              <a:off x="5815965" y="1524000"/>
              <a:ext cx="5842635" cy="3137535"/>
            </a:xfrm>
            <a:prstGeom prst="roundRect">
              <a:avLst>
                <a:gd name="adj" fmla="val 425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25515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119673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17895" y="2110740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&gt; 0 时把 y 积掉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84"/>
                <p:cNvSpPr txBox="1">
                  <a:spLocks noGrp="1"/>
                </p:cNvSpPr>
                <p:nvPr/>
              </p:nvSpPr>
              <p:spPr>
                <a:xfrm>
                  <a:off x="6025515" y="2421255"/>
                  <a:ext cx="5423535" cy="4533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4" name="TextBox 24"/>
            <p:cNvSpPr txBox="1"/>
            <p:nvPr/>
          </p:nvSpPr>
          <p:spPr>
            <a:xfrm>
              <a:off x="6017895" y="2994660"/>
              <a:ext cx="34985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 &gt; 0 时把 x 积掉，用 a = 1 + y 套公式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85"/>
                <p:cNvSpPr txBox="1">
                  <a:spLocks noGrp="1"/>
                </p:cNvSpPr>
                <p:nvPr/>
              </p:nvSpPr>
              <p:spPr>
                <a:xfrm>
                  <a:off x="6025515" y="3305175"/>
                  <a:ext cx="5423535" cy="5067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d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6" name="TextBox 26"/>
            <p:cNvSpPr txBox="1"/>
            <p:nvPr/>
          </p:nvSpPr>
          <p:spPr>
            <a:xfrm>
              <a:off x="6017895" y="3931920"/>
              <a:ext cx="5177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乘积 e^(−x)/(1 + y)² 与原来的 x·e^(−x(1+y)) 不相等，所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 X 与 Y 不相互独立。</a:t>
              </a:r>
            </a:p>
          </p:txBody>
        </p:sp>
      </p:grpSp>
      <p:grpSp>
        <p:nvGrpSpPr>
          <p:cNvPr id="33" name="c2-callout-2"/>
          <p:cNvGrpSpPr/>
          <p:nvPr/>
        </p:nvGrpSpPr>
        <p:grpSpPr>
          <a:xfrm>
            <a:off x="5815965" y="4852035"/>
            <a:ext cx="5842635" cy="782955"/>
            <a:chOff x="5815965" y="4852035"/>
            <a:chExt cx="5842635" cy="782955"/>
          </a:xfrm>
        </p:grpSpPr>
        <p:sp>
          <p:nvSpPr>
            <p:cNvPr id="28" name="Rectangle 28"/>
            <p:cNvSpPr/>
            <p:nvPr/>
          </p:nvSpPr>
          <p:spPr>
            <a:xfrm>
              <a:off x="5815965" y="485203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020753" y="5143500"/>
              <a:ext cx="200026" cy="200026"/>
              <a:chOff x="6020753" y="5143500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020753" y="51435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087428" y="522128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322695" y="5000625"/>
              <a:ext cx="45491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两个边缘密度的积分都等于 1，已用 sympy 复核。X ~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E(1)，Y 则是一个尾巴很重的分布。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4" name="Rectangle 3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991225"/>
              <a:ext cx="95151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这道题下一节还要用：它的条件密度 f(y|x) = x·e^(−xy) 说明给定 X = x 后 Y 服从参数为 x 的指数分布。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93768" cy="909257"/>
            <a:chOff x="520446" y="342900"/>
            <a:chExt cx="79937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边缘分布与随机变量的独立性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937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边缘密度的积分方向：竖着切求 f_X，横着切求 f_Y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marA"/>
          <p:cNvGrpSpPr/>
          <p:nvPr/>
        </p:nvGrpSpPr>
        <p:grpSpPr>
          <a:xfrm>
            <a:off x="533400" y="1524000"/>
            <a:ext cx="5524500" cy="4762500"/>
            <a:chOff x="533400" y="1524000"/>
            <a:chExt cx="5524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31509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边缘密度：竖着切求 f_X，横着切求 f_Y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积分限要用另一个变量表示，画一条切线就能读出来。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1903438" y="2756849"/>
              <a:ext cx="1657083" cy="1592237"/>
            </a:xfrm>
            <a:custGeom>
              <a:avLst/>
              <a:gdLst/>
              <a:ahLst/>
              <a:cxnLst/>
              <a:rect l="l" t="t" r="r" b="b"/>
              <a:pathLst>
                <a:path w="1657083" h="1592237">
                  <a:moveTo>
                    <a:pt x="0" y="1592237"/>
                  </a:moveTo>
                  <a:lnTo>
                    <a:pt x="41424" y="1552432"/>
                  </a:lnTo>
                  <a:lnTo>
                    <a:pt x="82848" y="1512627"/>
                  </a:lnTo>
                  <a:lnTo>
                    <a:pt x="124282" y="1472822"/>
                  </a:lnTo>
                  <a:lnTo>
                    <a:pt x="165706" y="1433017"/>
                  </a:lnTo>
                  <a:lnTo>
                    <a:pt x="207131" y="1393203"/>
                  </a:lnTo>
                  <a:lnTo>
                    <a:pt x="248564" y="1353398"/>
                  </a:lnTo>
                  <a:lnTo>
                    <a:pt x="289989" y="1313593"/>
                  </a:lnTo>
                  <a:lnTo>
                    <a:pt x="331413" y="1273788"/>
                  </a:lnTo>
                  <a:lnTo>
                    <a:pt x="372837" y="1233983"/>
                  </a:lnTo>
                  <a:lnTo>
                    <a:pt x="414271" y="1194178"/>
                  </a:lnTo>
                  <a:lnTo>
                    <a:pt x="455695" y="1154373"/>
                  </a:lnTo>
                  <a:lnTo>
                    <a:pt x="497119" y="1114568"/>
                  </a:lnTo>
                  <a:lnTo>
                    <a:pt x="538553" y="1074763"/>
                  </a:lnTo>
                  <a:lnTo>
                    <a:pt x="579977" y="1034958"/>
                  </a:lnTo>
                  <a:lnTo>
                    <a:pt x="621401" y="995143"/>
                  </a:lnTo>
                  <a:lnTo>
                    <a:pt x="662835" y="955338"/>
                  </a:lnTo>
                  <a:lnTo>
                    <a:pt x="704259" y="915533"/>
                  </a:lnTo>
                  <a:lnTo>
                    <a:pt x="745684" y="875728"/>
                  </a:lnTo>
                  <a:lnTo>
                    <a:pt x="787117" y="835924"/>
                  </a:lnTo>
                  <a:lnTo>
                    <a:pt x="828542" y="796119"/>
                  </a:lnTo>
                  <a:lnTo>
                    <a:pt x="869966" y="756314"/>
                  </a:lnTo>
                  <a:lnTo>
                    <a:pt x="911400" y="716509"/>
                  </a:lnTo>
                  <a:lnTo>
                    <a:pt x="952824" y="676704"/>
                  </a:lnTo>
                  <a:lnTo>
                    <a:pt x="994248" y="636899"/>
                  </a:lnTo>
                  <a:lnTo>
                    <a:pt x="1035672" y="597084"/>
                  </a:lnTo>
                  <a:lnTo>
                    <a:pt x="1077106" y="557279"/>
                  </a:lnTo>
                  <a:lnTo>
                    <a:pt x="1118530" y="517474"/>
                  </a:lnTo>
                  <a:lnTo>
                    <a:pt x="1159954" y="477669"/>
                  </a:lnTo>
                  <a:lnTo>
                    <a:pt x="1201388" y="437864"/>
                  </a:lnTo>
                  <a:lnTo>
                    <a:pt x="1242812" y="398059"/>
                  </a:lnTo>
                  <a:lnTo>
                    <a:pt x="1284237" y="358254"/>
                  </a:lnTo>
                  <a:lnTo>
                    <a:pt x="1325670" y="318449"/>
                  </a:lnTo>
                  <a:lnTo>
                    <a:pt x="1367095" y="278644"/>
                  </a:lnTo>
                  <a:lnTo>
                    <a:pt x="1408519" y="238830"/>
                  </a:lnTo>
                  <a:lnTo>
                    <a:pt x="1449953" y="199025"/>
                  </a:lnTo>
                  <a:lnTo>
                    <a:pt x="1491377" y="159220"/>
                  </a:lnTo>
                  <a:lnTo>
                    <a:pt x="1532801" y="119415"/>
                  </a:lnTo>
                  <a:lnTo>
                    <a:pt x="1574235" y="79610"/>
                  </a:lnTo>
                  <a:lnTo>
                    <a:pt x="1615659" y="39805"/>
                  </a:lnTo>
                  <a:lnTo>
                    <a:pt x="1657083" y="0"/>
                  </a:lnTo>
                  <a:lnTo>
                    <a:pt x="1657083" y="0"/>
                  </a:lnTo>
                  <a:lnTo>
                    <a:pt x="1615659" y="78619"/>
                  </a:lnTo>
                  <a:lnTo>
                    <a:pt x="1574235" y="155238"/>
                  </a:lnTo>
                  <a:lnTo>
                    <a:pt x="1532801" y="229876"/>
                  </a:lnTo>
                  <a:lnTo>
                    <a:pt x="1491377" y="302524"/>
                  </a:lnTo>
                  <a:lnTo>
                    <a:pt x="1449953" y="373180"/>
                  </a:lnTo>
                  <a:lnTo>
                    <a:pt x="1408519" y="441846"/>
                  </a:lnTo>
                  <a:lnTo>
                    <a:pt x="1367095" y="508521"/>
                  </a:lnTo>
                  <a:lnTo>
                    <a:pt x="1325670" y="573205"/>
                  </a:lnTo>
                  <a:lnTo>
                    <a:pt x="1284237" y="635899"/>
                  </a:lnTo>
                  <a:lnTo>
                    <a:pt x="1242812" y="696601"/>
                  </a:lnTo>
                  <a:lnTo>
                    <a:pt x="1201388" y="755313"/>
                  </a:lnTo>
                  <a:lnTo>
                    <a:pt x="1159954" y="812044"/>
                  </a:lnTo>
                  <a:lnTo>
                    <a:pt x="1118530" y="866775"/>
                  </a:lnTo>
                  <a:lnTo>
                    <a:pt x="1077106" y="919515"/>
                  </a:lnTo>
                  <a:lnTo>
                    <a:pt x="1035672" y="970274"/>
                  </a:lnTo>
                  <a:lnTo>
                    <a:pt x="994248" y="1019032"/>
                  </a:lnTo>
                  <a:lnTo>
                    <a:pt x="952824" y="1065800"/>
                  </a:lnTo>
                  <a:lnTo>
                    <a:pt x="911400" y="1110586"/>
                  </a:lnTo>
                  <a:lnTo>
                    <a:pt x="869966" y="1153373"/>
                  </a:lnTo>
                  <a:lnTo>
                    <a:pt x="828542" y="1194178"/>
                  </a:lnTo>
                  <a:lnTo>
                    <a:pt x="787117" y="1232992"/>
                  </a:lnTo>
                  <a:lnTo>
                    <a:pt x="745684" y="1269806"/>
                  </a:lnTo>
                  <a:lnTo>
                    <a:pt x="704259" y="1304639"/>
                  </a:lnTo>
                  <a:lnTo>
                    <a:pt x="662835" y="1337481"/>
                  </a:lnTo>
                  <a:lnTo>
                    <a:pt x="621401" y="1368333"/>
                  </a:lnTo>
                  <a:lnTo>
                    <a:pt x="579977" y="1397184"/>
                  </a:lnTo>
                  <a:lnTo>
                    <a:pt x="538553" y="1424054"/>
                  </a:lnTo>
                  <a:lnTo>
                    <a:pt x="497119" y="1448933"/>
                  </a:lnTo>
                  <a:lnTo>
                    <a:pt x="455695" y="1471822"/>
                  </a:lnTo>
                  <a:lnTo>
                    <a:pt x="414271" y="1492720"/>
                  </a:lnTo>
                  <a:lnTo>
                    <a:pt x="372837" y="1511627"/>
                  </a:lnTo>
                  <a:lnTo>
                    <a:pt x="331413" y="1528543"/>
                  </a:lnTo>
                  <a:lnTo>
                    <a:pt x="289989" y="1543479"/>
                  </a:lnTo>
                  <a:lnTo>
                    <a:pt x="248564" y="1556414"/>
                  </a:lnTo>
                  <a:lnTo>
                    <a:pt x="207131" y="1567358"/>
                  </a:lnTo>
                  <a:lnTo>
                    <a:pt x="165706" y="1576311"/>
                  </a:lnTo>
                  <a:lnTo>
                    <a:pt x="124282" y="1583284"/>
                  </a:lnTo>
                  <a:lnTo>
                    <a:pt x="82848" y="1588256"/>
                  </a:lnTo>
                  <a:lnTo>
                    <a:pt x="41424" y="1591246"/>
                  </a:lnTo>
                  <a:lnTo>
                    <a:pt x="0" y="1592237"/>
                  </a:lnTo>
                  <a:close/>
                </a:path>
              </a:pathLst>
            </a:custGeom>
            <a:solidFill>
              <a:srgbClr val="D6DFF3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1638300" y="4349086"/>
              <a:ext cx="2466975" cy="9525"/>
            </a:xfrm>
            <a:custGeom>
              <a:avLst/>
              <a:gdLst/>
              <a:ahLst/>
              <a:cxnLst/>
              <a:rect l="l" t="t" r="r" b="b"/>
              <a:pathLst>
                <a:path w="2466975" h="9525">
                  <a:moveTo>
                    <a:pt x="0" y="0"/>
                  </a:moveTo>
                  <a:lnTo>
                    <a:pt x="24669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4105275" y="4319083"/>
              <a:ext cx="66675" cy="60008"/>
            </a:xfrm>
            <a:custGeom>
              <a:avLst/>
              <a:gdLst/>
              <a:ahLst/>
              <a:cxnLst/>
              <a:rect l="l" t="t" r="r" b="b"/>
              <a:pathLst>
                <a:path w="66675" h="60008">
                  <a:moveTo>
                    <a:pt x="66675" y="30004"/>
                  </a:moveTo>
                  <a:lnTo>
                    <a:pt x="0" y="60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1903438" y="2390775"/>
              <a:ext cx="9525" cy="2181225"/>
            </a:xfrm>
            <a:custGeom>
              <a:avLst/>
              <a:gdLst/>
              <a:ahLst/>
              <a:cxnLst/>
              <a:rect l="l" t="t" r="r" b="b"/>
              <a:pathLst>
                <a:path w="9525" h="2181225">
                  <a:moveTo>
                    <a:pt x="0" y="21812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1873434" y="232410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214241" y="4283364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74304" y="2229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41437" y="4405760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1903438" y="2565778"/>
              <a:ext cx="1855937" cy="1783309"/>
            </a:xfrm>
            <a:custGeom>
              <a:avLst/>
              <a:gdLst/>
              <a:ahLst/>
              <a:cxnLst/>
              <a:rect l="l" t="t" r="r" b="b"/>
              <a:pathLst>
                <a:path w="1855937" h="1783309">
                  <a:moveTo>
                    <a:pt x="0" y="1783309"/>
                  </a:moveTo>
                  <a:lnTo>
                    <a:pt x="1855937" y="0"/>
                  </a:lnTo>
                </a:path>
              </a:pathLst>
            </a:custGeom>
            <a:noFill/>
            <a:ln w="19050">
              <a:solidFill>
                <a:srgbClr val="C2410C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903438" y="2593648"/>
              <a:ext cx="1739941" cy="1755438"/>
            </a:xfrm>
            <a:custGeom>
              <a:avLst/>
              <a:gdLst/>
              <a:ahLst/>
              <a:cxnLst/>
              <a:rect l="l" t="t" r="r" b="b"/>
              <a:pathLst>
                <a:path w="1739941" h="1755438">
                  <a:moveTo>
                    <a:pt x="0" y="1755438"/>
                  </a:moveTo>
                  <a:lnTo>
                    <a:pt x="27613" y="1755000"/>
                  </a:lnTo>
                  <a:lnTo>
                    <a:pt x="55235" y="1753667"/>
                  </a:lnTo>
                  <a:lnTo>
                    <a:pt x="82848" y="1751457"/>
                  </a:lnTo>
                  <a:lnTo>
                    <a:pt x="110471" y="1748361"/>
                  </a:lnTo>
                  <a:lnTo>
                    <a:pt x="138084" y="1744380"/>
                  </a:lnTo>
                  <a:lnTo>
                    <a:pt x="165706" y="1739513"/>
                  </a:lnTo>
                  <a:lnTo>
                    <a:pt x="193319" y="1733769"/>
                  </a:lnTo>
                  <a:lnTo>
                    <a:pt x="220942" y="1727130"/>
                  </a:lnTo>
                  <a:lnTo>
                    <a:pt x="248564" y="1719615"/>
                  </a:lnTo>
                  <a:lnTo>
                    <a:pt x="276177" y="1711214"/>
                  </a:lnTo>
                  <a:lnTo>
                    <a:pt x="303800" y="1701917"/>
                  </a:lnTo>
                  <a:lnTo>
                    <a:pt x="331413" y="1691745"/>
                  </a:lnTo>
                  <a:lnTo>
                    <a:pt x="359035" y="1680696"/>
                  </a:lnTo>
                  <a:lnTo>
                    <a:pt x="386648" y="1668751"/>
                  </a:lnTo>
                  <a:lnTo>
                    <a:pt x="414271" y="1655921"/>
                  </a:lnTo>
                  <a:lnTo>
                    <a:pt x="441884" y="1642215"/>
                  </a:lnTo>
                  <a:lnTo>
                    <a:pt x="469506" y="1627613"/>
                  </a:lnTo>
                  <a:lnTo>
                    <a:pt x="497119" y="1612135"/>
                  </a:lnTo>
                  <a:lnTo>
                    <a:pt x="524742" y="1595771"/>
                  </a:lnTo>
                  <a:lnTo>
                    <a:pt x="552355" y="1578521"/>
                  </a:lnTo>
                  <a:lnTo>
                    <a:pt x="579977" y="1560386"/>
                  </a:lnTo>
                  <a:lnTo>
                    <a:pt x="607600" y="1541374"/>
                  </a:lnTo>
                  <a:lnTo>
                    <a:pt x="635213" y="1521466"/>
                  </a:lnTo>
                  <a:lnTo>
                    <a:pt x="662835" y="1500683"/>
                  </a:lnTo>
                  <a:lnTo>
                    <a:pt x="690448" y="1479004"/>
                  </a:lnTo>
                  <a:lnTo>
                    <a:pt x="718071" y="1456449"/>
                  </a:lnTo>
                  <a:lnTo>
                    <a:pt x="745684" y="1433008"/>
                  </a:lnTo>
                  <a:lnTo>
                    <a:pt x="773306" y="1408681"/>
                  </a:lnTo>
                  <a:lnTo>
                    <a:pt x="800919" y="1383478"/>
                  </a:lnTo>
                  <a:lnTo>
                    <a:pt x="828542" y="1357379"/>
                  </a:lnTo>
                  <a:lnTo>
                    <a:pt x="856155" y="1330395"/>
                  </a:lnTo>
                  <a:lnTo>
                    <a:pt x="883777" y="1302534"/>
                  </a:lnTo>
                  <a:lnTo>
                    <a:pt x="911400" y="1273788"/>
                  </a:lnTo>
                  <a:lnTo>
                    <a:pt x="939013" y="1244156"/>
                  </a:lnTo>
                  <a:lnTo>
                    <a:pt x="966635" y="1213637"/>
                  </a:lnTo>
                  <a:lnTo>
                    <a:pt x="994248" y="1182233"/>
                  </a:lnTo>
                  <a:lnTo>
                    <a:pt x="1021871" y="1149944"/>
                  </a:lnTo>
                  <a:lnTo>
                    <a:pt x="1049484" y="1116778"/>
                  </a:lnTo>
                  <a:lnTo>
                    <a:pt x="1077106" y="1082716"/>
                  </a:lnTo>
                  <a:lnTo>
                    <a:pt x="1104719" y="1047779"/>
                  </a:lnTo>
                  <a:lnTo>
                    <a:pt x="1132342" y="1011955"/>
                  </a:lnTo>
                  <a:lnTo>
                    <a:pt x="1159954" y="975246"/>
                  </a:lnTo>
                  <a:lnTo>
                    <a:pt x="1187577" y="937651"/>
                  </a:lnTo>
                  <a:lnTo>
                    <a:pt x="1215199" y="899170"/>
                  </a:lnTo>
                  <a:lnTo>
                    <a:pt x="1242812" y="859803"/>
                  </a:lnTo>
                  <a:lnTo>
                    <a:pt x="1270435" y="819560"/>
                  </a:lnTo>
                  <a:lnTo>
                    <a:pt x="1298048" y="778421"/>
                  </a:lnTo>
                  <a:lnTo>
                    <a:pt x="1325670" y="736406"/>
                  </a:lnTo>
                  <a:lnTo>
                    <a:pt x="1353283" y="693506"/>
                  </a:lnTo>
                  <a:lnTo>
                    <a:pt x="1380906" y="649719"/>
                  </a:lnTo>
                  <a:lnTo>
                    <a:pt x="1408519" y="605047"/>
                  </a:lnTo>
                  <a:lnTo>
                    <a:pt x="1436141" y="559489"/>
                  </a:lnTo>
                  <a:lnTo>
                    <a:pt x="1463754" y="513055"/>
                  </a:lnTo>
                  <a:lnTo>
                    <a:pt x="1491377" y="465725"/>
                  </a:lnTo>
                  <a:lnTo>
                    <a:pt x="1518999" y="417519"/>
                  </a:lnTo>
                  <a:lnTo>
                    <a:pt x="1546612" y="368417"/>
                  </a:lnTo>
                  <a:lnTo>
                    <a:pt x="1574235" y="318440"/>
                  </a:lnTo>
                  <a:lnTo>
                    <a:pt x="1601848" y="267576"/>
                  </a:lnTo>
                  <a:lnTo>
                    <a:pt x="1629470" y="215837"/>
                  </a:lnTo>
                  <a:lnTo>
                    <a:pt x="1657083" y="163201"/>
                  </a:lnTo>
                  <a:lnTo>
                    <a:pt x="1684706" y="109680"/>
                  </a:lnTo>
                  <a:lnTo>
                    <a:pt x="1712319" y="55283"/>
                  </a:lnTo>
                  <a:lnTo>
                    <a:pt x="1739941" y="0"/>
                  </a:lnTo>
                </a:path>
              </a:pathLst>
            </a:custGeom>
            <a:noFill/>
            <a:ln w="19050">
              <a:solidFill>
                <a:srgbClr val="0F7A68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3096539" y="3202676"/>
              <a:ext cx="9525" cy="320993"/>
            </a:xfrm>
            <a:custGeom>
              <a:avLst/>
              <a:gdLst/>
              <a:ahLst/>
              <a:cxnLst/>
              <a:rect l="l" t="t" r="r" b="b"/>
              <a:pathLst>
                <a:path w="9525" h="320993">
                  <a:moveTo>
                    <a:pt x="0" y="320993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2267998" y="3998795"/>
              <a:ext cx="412680" cy="9525"/>
            </a:xfrm>
            <a:custGeom>
              <a:avLst/>
              <a:gdLst/>
              <a:ahLst/>
              <a:cxnLst/>
              <a:rect l="l" t="t" r="r" b="b"/>
              <a:pathLst>
                <a:path w="412680" h="9525">
                  <a:moveTo>
                    <a:pt x="0" y="0"/>
                  </a:moveTo>
                  <a:lnTo>
                    <a:pt x="412680" y="0"/>
                  </a:lnTo>
                </a:path>
              </a:pathLst>
            </a:custGeom>
            <a:noFill/>
            <a:ln w="24765">
              <a:solidFill>
                <a:srgbClr val="B0348C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3560521" y="4349086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519288" y="4424810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855813" y="2756849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740200" y="269446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92164" y="2619756"/>
              <a:ext cx="321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y = x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90440" y="3511401"/>
              <a:ext cx="3977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y = x²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23900" y="5257800"/>
              <a:ext cx="5143500" cy="8382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3425" y="5362575"/>
              <a:ext cx="47625" cy="6286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95350" y="5362575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96315" y="54159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9826" y="5673804"/>
              <a:ext cx="4537710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竖着切（蓝）：f_X(x) = 6(x − x²)，0 &lt; x &lt; 1；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横着切（紫）：f_Y(y) = 6(√y − y)，0 &lt; y &lt; 1。乘积不是 6，故不独立。</a:t>
              </a:r>
            </a:p>
          </p:txBody>
        </p:sp>
      </p:grpSp>
      <p:grpSp>
        <p:nvGrpSpPr>
          <p:cNvPr id="62" name="marB"/>
          <p:cNvGrpSpPr/>
          <p:nvPr/>
        </p:nvGrpSpPr>
        <p:grpSpPr>
          <a:xfrm>
            <a:off x="6210300" y="1524000"/>
            <a:ext cx="5448300" cy="4762500"/>
            <a:chOff x="6210300" y="1524000"/>
            <a:chExt cx="5448300" cy="4762500"/>
          </a:xfrm>
        </p:grpSpPr>
        <p:sp>
          <p:nvSpPr>
            <p:cNvPr id="34" name="Rectangle 34"/>
            <p:cNvSpPr/>
            <p:nvPr/>
          </p:nvSpPr>
          <p:spPr>
            <a:xfrm>
              <a:off x="6210300" y="1524000"/>
              <a:ext cx="54483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94323" y="1662589"/>
              <a:ext cx="3031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例：两种产品需求量相差不超过 1000 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95466" y="192500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独立加均匀，联合密度是常数，概率又变成面积比。</a:t>
              </a:r>
            </a:p>
          </p:txBody>
        </p:sp>
        <p:sp>
          <p:nvSpPr>
            <p:cNvPr id="37" name="Polygon 37"/>
            <p:cNvSpPr/>
            <p:nvPr/>
          </p:nvSpPr>
          <p:spPr>
            <a:xfrm>
              <a:off x="8359426" y="2887580"/>
              <a:ext cx="1044216" cy="842210"/>
            </a:xfrm>
            <a:custGeom>
              <a:avLst/>
              <a:gdLst/>
              <a:ahLst/>
              <a:cxnLst/>
              <a:rect l="l" t="t" r="r" b="b"/>
              <a:pathLst>
                <a:path w="1044216" h="842210">
                  <a:moveTo>
                    <a:pt x="0" y="842210"/>
                  </a:moveTo>
                  <a:lnTo>
                    <a:pt x="1044216" y="842210"/>
                  </a:lnTo>
                  <a:lnTo>
                    <a:pt x="10442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F1F9"/>
            </a:solidFill>
            <a:ln w="13335">
              <a:solidFill>
                <a:srgbClr val="9FB0D6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8359426" y="3168320"/>
              <a:ext cx="1044216" cy="561470"/>
            </a:xfrm>
            <a:custGeom>
              <a:avLst/>
              <a:gdLst/>
              <a:ahLst/>
              <a:cxnLst/>
              <a:rect l="l" t="t" r="r" b="b"/>
              <a:pathLst>
                <a:path w="1044216" h="561470">
                  <a:moveTo>
                    <a:pt x="0" y="561470"/>
                  </a:moveTo>
                  <a:lnTo>
                    <a:pt x="1044216" y="561470"/>
                  </a:lnTo>
                  <a:lnTo>
                    <a:pt x="1044216" y="0"/>
                  </a:lnTo>
                  <a:close/>
                </a:path>
              </a:pathLst>
            </a:custGeom>
            <a:solidFill>
              <a:srgbClr val="A9BBE4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7315200" y="4572000"/>
              <a:ext cx="2867025" cy="9525"/>
            </a:xfrm>
            <a:custGeom>
              <a:avLst/>
              <a:gdLst/>
              <a:ahLst/>
              <a:cxnLst/>
              <a:rect l="l" t="t" r="r" b="b"/>
              <a:pathLst>
                <a:path w="2867025" h="9525">
                  <a:moveTo>
                    <a:pt x="0" y="0"/>
                  </a:moveTo>
                  <a:lnTo>
                    <a:pt x="286702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10182225" y="45419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7315200" y="2390775"/>
              <a:ext cx="9525" cy="2181225"/>
            </a:xfrm>
            <a:custGeom>
              <a:avLst/>
              <a:gdLst/>
              <a:ahLst/>
              <a:cxnLst/>
              <a:rect l="l" t="t" r="r" b="b"/>
              <a:pathLst>
                <a:path w="9525" h="2181225">
                  <a:moveTo>
                    <a:pt x="0" y="21812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7285196" y="232410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291191" y="45062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86066" y="2229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53199" y="462867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8359426" y="2999870"/>
              <a:ext cx="1357503" cy="729920"/>
            </a:xfrm>
            <a:custGeom>
              <a:avLst/>
              <a:gdLst/>
              <a:ahLst/>
              <a:cxnLst/>
              <a:rect l="l" t="t" r="r" b="b"/>
              <a:pathLst>
                <a:path w="1357503" h="729920">
                  <a:moveTo>
                    <a:pt x="0" y="729920"/>
                  </a:moveTo>
                  <a:lnTo>
                    <a:pt x="1357503" y="0"/>
                  </a:lnTo>
                </a:path>
              </a:pathLst>
            </a:custGeom>
            <a:noFill/>
            <a:ln w="19050">
              <a:solidFill>
                <a:srgbClr val="C2410C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8359426" y="45720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209352" y="4647724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2000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9403642" y="45720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253569" y="4647724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4000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267575" y="372979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34281" y="3667401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3000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7267575" y="288758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34281" y="2825191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6000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77194" y="2814447"/>
              <a:ext cx="7535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y = x + 1000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45293" y="345393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00800" y="5257800"/>
              <a:ext cx="5067300" cy="8382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10325" y="5362575"/>
              <a:ext cx="47625" cy="6286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572250" y="5362575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73215" y="54159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566726" y="5673804"/>
              <a:ext cx="3762502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矩形面积 2000 × 3000 = 6 × 10⁶，f 恒为它的倒数；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阴影三角形两条直角边都是 2000，面积 2 × 10⁶，概率 1/3。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12556" cy="909257"/>
            <a:chOff x="520446" y="342900"/>
            <a:chExt cx="91125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边缘分布与随机变量的独立性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125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14　抛物线与直线围成的区域：边缘密度都不再是均匀的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760595" cy="1316355"/>
            <a:chOff x="533400" y="1524000"/>
            <a:chExt cx="4760595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6102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164" y="1769269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101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(X, Y) 在由曲线 y = x² 与直线 y = x 围成的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 D 上服从均匀分布，判断 X 与 Y 是否独立。</a:t>
              </a:r>
            </a:p>
          </p:txBody>
        </p:sp>
      </p:grpSp>
      <p:grpSp>
        <p:nvGrpSpPr>
          <p:cNvPr id="26" name="c1-steps-2"/>
          <p:cNvGrpSpPr/>
          <p:nvPr/>
        </p:nvGrpSpPr>
        <p:grpSpPr>
          <a:xfrm>
            <a:off x="533400" y="3040380"/>
            <a:ext cx="4440809" cy="2348198"/>
            <a:chOff x="533400" y="3040380"/>
            <a:chExt cx="4440809" cy="2348198"/>
          </a:xfrm>
        </p:grpSpPr>
        <p:sp>
          <p:nvSpPr>
            <p:cNvPr id="13" name="Rectangle 13"/>
            <p:cNvSpPr/>
            <p:nvPr/>
          </p:nvSpPr>
          <p:spPr>
            <a:xfrm>
              <a:off x="666750" y="3183255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0403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41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262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000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8110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8848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07467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定密度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68516"/>
              <a:ext cx="37599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的面积 = ∫₀¹(x − x²)dx = 1/2 − 1/3 = 1/6，所以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f(x, y) = 6 在 D 上，其他处为 0。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96049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竖着切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253389"/>
              <a:ext cx="40281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&lt; x &lt; 1 时 y 从 x² 变到 x，f_X(x) = 6(x − x²)。x 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1) 外时 f_X(x) = 0。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484536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横着切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5139214"/>
              <a:ext cx="39676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&lt; y &lt; 1 时 x 从 y 变到 √y，f_Y(y) = 6(√y − y)。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5598795" y="1524000"/>
            <a:ext cx="6059805" cy="2712720"/>
            <a:chOff x="5598795" y="1524000"/>
            <a:chExt cx="6059805" cy="2712720"/>
          </a:xfrm>
        </p:grpSpPr>
        <p:sp>
          <p:nvSpPr>
            <p:cNvPr id="27" name="Rectangle 27"/>
            <p:cNvSpPr/>
            <p:nvPr/>
          </p:nvSpPr>
          <p:spPr>
            <a:xfrm>
              <a:off x="5598795" y="1524000"/>
              <a:ext cx="6059805" cy="2712720"/>
            </a:xfrm>
            <a:prstGeom prst="roundRect">
              <a:avLst>
                <a:gd name="adj" fmla="val 491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808345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94603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判独立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00725" y="211074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两个边缘密度的乘积是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87"/>
                <p:cNvSpPr txBox="1">
                  <a:spLocks noGrp="1"/>
                </p:cNvSpPr>
                <p:nvPr/>
              </p:nvSpPr>
              <p:spPr>
                <a:xfrm>
                  <a:off x="5808345" y="2421255"/>
                  <a:ext cx="5640705" cy="4343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36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2" name="TextBox 32"/>
            <p:cNvSpPr txBox="1"/>
            <p:nvPr/>
          </p:nvSpPr>
          <p:spPr>
            <a:xfrm>
              <a:off x="5800725" y="2975610"/>
              <a:ext cx="5330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它是一个随 x、y 连续变化的函数，而 f(x, y) 在 D 上恒为 6，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两者显然不相等。所以 X 与 Y 不相互独立。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801868" y="3593306"/>
              <a:ext cx="54343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更直接的理由：D 不是矩形，知道 X = 0.9 就把 Y 逼到 (0.81, 0.9) 这个很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窄的区间里。</a:t>
              </a:r>
            </a:p>
          </p:txBody>
        </p:sp>
      </p:grpSp>
      <p:grpSp>
        <p:nvGrpSpPr>
          <p:cNvPr id="40" name="c2-callout-2"/>
          <p:cNvGrpSpPr/>
          <p:nvPr/>
        </p:nvGrpSpPr>
        <p:grpSpPr>
          <a:xfrm>
            <a:off x="5598795" y="4427220"/>
            <a:ext cx="6059805" cy="949642"/>
            <a:chOff x="5598795" y="4427220"/>
            <a:chExt cx="6059805" cy="949642"/>
          </a:xfrm>
        </p:grpSpPr>
        <p:sp>
          <p:nvSpPr>
            <p:cNvPr id="35" name="Rectangle 35"/>
            <p:cNvSpPr/>
            <p:nvPr/>
          </p:nvSpPr>
          <p:spPr>
            <a:xfrm>
              <a:off x="5598795" y="4427220"/>
              <a:ext cx="6059805" cy="949642"/>
            </a:xfrm>
            <a:prstGeom prst="roundRect">
              <a:avLst>
                <a:gd name="adj" fmla="val 1203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803583" y="4801553"/>
              <a:ext cx="200026" cy="200026"/>
              <a:chOff x="5803583" y="4801553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5803583" y="48015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870258" y="487934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105525" y="4796790"/>
              <a:ext cx="4538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两个边缘密度的积分都等于 1，已用 sympy 复核。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1" name="Rectangle 4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130" y="5991225"/>
              <a:ext cx="8698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均匀分布的边缘分布一般不是均匀分布。只有区域是矩形时，边缘才会退化成两个一维均匀分布。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95470" cy="909257"/>
            <a:chOff x="520446" y="342900"/>
            <a:chExt cx="86954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边缘分布与随机变量的独立性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954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15 与例 16　独立性怎么用：把联合密度直接写成乘积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483995"/>
            <a:chOff x="533400" y="1524000"/>
            <a:chExt cx="5410200" cy="14839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3911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560" y="1750695"/>
              <a:ext cx="359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10462" y="175641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两种产品的需求量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77145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甲种产品需求量 X ~ U(2000, 4000)，乙种产品需求量 Y ~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U(3000, 6000)，单位 t，两者相互独立。求需求量相差不超过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t 的概率。</a:t>
              </a:r>
            </a:p>
          </p:txBody>
        </p:sp>
      </p:grpSp>
      <p:grpSp>
        <p:nvGrpSpPr>
          <p:cNvPr id="27" name="c1-steps-2"/>
          <p:cNvGrpSpPr/>
          <p:nvPr/>
        </p:nvGrpSpPr>
        <p:grpSpPr>
          <a:xfrm>
            <a:off x="533400" y="3192780"/>
            <a:ext cx="5104511" cy="2315051"/>
            <a:chOff x="533400" y="3192780"/>
            <a:chExt cx="5104511" cy="2315051"/>
          </a:xfrm>
        </p:grpSpPr>
        <p:sp>
          <p:nvSpPr>
            <p:cNvPr id="14" name="Rectangle 14"/>
            <p:cNvSpPr/>
            <p:nvPr/>
          </p:nvSpPr>
          <p:spPr>
            <a:xfrm>
              <a:off x="666750" y="3335655"/>
              <a:ext cx="19050" cy="15878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9871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0609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7805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8544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322421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写联合密度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785" y="3492341"/>
              <a:ext cx="42430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独立，所以 f(x, y) = f_X(x)f_Y(y) = 1/(2000 × 3000) = 1/(6 ×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10⁶)，在那个矩形上恒为常数。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642" y="401859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定区域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785" y="4285774"/>
              <a:ext cx="469112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矩形里 y − x 最小为 −1000，所以 |x − y| ≤ 1000 只剩下 y ≤ x + 1000 这一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个约束。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642" y="481298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算面积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785" y="5080159"/>
              <a:ext cx="446354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所求区域是两条直角边都为 2000 的直角三角形，面积 2 × 10⁶，概率 =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2/6 = 1/3。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524000"/>
            <a:ext cx="5410200" cy="1226820"/>
            <a:chOff x="6248400" y="1524000"/>
            <a:chExt cx="5410200" cy="1226820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165735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8905" y="1716405"/>
              <a:ext cx="53911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68560" y="1750695"/>
              <a:ext cx="359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25462" y="175641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均匀与指数，各取一个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72047" y="209073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U(0, 2)，Y 的密度为 e^(−y)（y &gt; 0），两者独立。求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P{−1 &lt; X &lt; 1, 0 &lt; Y &lt; 2} 与 P{X + Y &gt; 1}。</a:t>
              </a:r>
            </a:p>
          </p:txBody>
        </p:sp>
      </p:grpSp>
      <p:grpSp>
        <p:nvGrpSpPr>
          <p:cNvPr id="48" name="c2-steps-2"/>
          <p:cNvGrpSpPr/>
          <p:nvPr/>
        </p:nvGrpSpPr>
        <p:grpSpPr>
          <a:xfrm>
            <a:off x="6248400" y="2935605"/>
            <a:ext cx="4983607" cy="2107407"/>
            <a:chOff x="6248400" y="2935605"/>
            <a:chExt cx="4983607" cy="2107407"/>
          </a:xfrm>
        </p:grpSpPr>
        <p:sp>
          <p:nvSpPr>
            <p:cNvPr id="35" name="Rectangle 35"/>
            <p:cNvSpPr/>
            <p:nvPr/>
          </p:nvSpPr>
          <p:spPr>
            <a:xfrm>
              <a:off x="6381750" y="3078480"/>
              <a:ext cx="19050" cy="15878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248400" y="29356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2024" y="30094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248400" y="37299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2024" y="38038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248400" y="452342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2024" y="45972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0642" y="296703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1785" y="3235166"/>
              <a:ext cx="429996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独立时矩形概率直接拆开：P{−1 &lt; X &lt; 1}·P{0 &lt; Y &lt; 2} = (1/2)(1 −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e^(−2)) ≈ 0.4323。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60642" y="376142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第二问先算反面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1785" y="4028599"/>
              <a:ext cx="457022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联合密度 (1/2)e^(−y) 在 0 &lt; x &lt; 2、y &gt; 0 上。P{X + Y ≤ 1} = ∫₀¹dx∫₀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^(1−x)(1/2)e^(−y)dy = 1/(2e)。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60642" y="455580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1785" y="4822984"/>
              <a:ext cx="2708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+ Y &gt; 1} = 1 − 1/(2e) ≈ 0.8161。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9" name="Rectangle 4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892" y="6023610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独立是个很强的条件：它让联合密度直接写出来，二维的题目立刻退回成两个一维问题。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03073" cy="909257"/>
            <a:chOff x="520446" y="342900"/>
            <a:chExt cx="49030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边缘分布与随机变量的独立性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030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二维正态的边缘分布与 ρ 的角色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842635" cy="2358390"/>
            <a:chOff x="533400" y="1524000"/>
            <a:chExt cx="5842635" cy="23583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358390"/>
            </a:xfrm>
            <a:prstGeom prst="roundRect">
              <a:avLst>
                <a:gd name="adj" fmla="val 56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916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593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8666" y="176736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边缘分布一定是一维正态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519925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(X, Y) ~ N(μ₁, μ₂, σ₁², σ₂², ρ)，把指数里的二次型对 x 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方后对 y 积分，得到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90"/>
                <p:cNvSpPr txBox="1">
                  <a:spLocks noGrp="1"/>
                </p:cNvSpPr>
                <p:nvPr/>
              </p:nvSpPr>
              <p:spPr>
                <a:xfrm>
                  <a:off x="775335" y="2687002"/>
                  <a:ext cx="539686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8096" y="3184684"/>
              <a:ext cx="515416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两个边缘分布与 ρ 完全无关。所以 ρ 取遍 (−1, 1) 得到的一整族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二维正态分布，边缘分布全都一样。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4067175"/>
            <a:ext cx="5842635" cy="1343978"/>
            <a:chOff x="533400" y="4067175"/>
            <a:chExt cx="5842635" cy="1343978"/>
          </a:xfrm>
        </p:grpSpPr>
        <p:sp>
          <p:nvSpPr>
            <p:cNvPr id="16" name="Rectangle 16"/>
            <p:cNvSpPr/>
            <p:nvPr/>
          </p:nvSpPr>
          <p:spPr>
            <a:xfrm>
              <a:off x="533400" y="4067175"/>
              <a:ext cx="5842635" cy="1343978"/>
            </a:xfrm>
            <a:prstGeom prst="roundRect">
              <a:avLst>
                <a:gd name="adj" fmla="val 850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26129" y="4635936"/>
              <a:ext cx="224134" cy="192560"/>
              <a:chOff x="726129" y="4635936"/>
              <a:chExt cx="224134" cy="19256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38200" y="47063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26129" y="46359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47840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511" y="4508659"/>
              <a:ext cx="490169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这就是“边缘不能唯一确定联合”最有名的反例。反过来，两个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边缘都是正态也推不出联合是二维正态。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680835" y="1524000"/>
            <a:ext cx="4977765" cy="2156460"/>
            <a:chOff x="6680835" y="1524000"/>
            <a:chExt cx="4977765" cy="2156460"/>
          </a:xfrm>
        </p:grpSpPr>
        <p:sp>
          <p:nvSpPr>
            <p:cNvPr id="23" name="Rectangle 23"/>
            <p:cNvSpPr/>
            <p:nvPr/>
          </p:nvSpPr>
          <p:spPr>
            <a:xfrm>
              <a:off x="6680835" y="1524000"/>
              <a:ext cx="4977765" cy="2156460"/>
            </a:xfrm>
            <a:prstGeom prst="roundRect">
              <a:avLst>
                <a:gd name="adj" fmla="val 61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90360" y="1657350"/>
              <a:ext cx="47625" cy="188976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922770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09028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66101" y="1767364"/>
              <a:ext cx="26709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与 Y 独立的充要条件是 ρ = 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15531" y="2119789"/>
              <a:ext cx="414426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 = 0 时密度里的交叉项消失，指数正好劈成两半，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f(x, y) 变成两个一维正态密度的乘积，所以独立。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15531" y="2711291"/>
              <a:ext cx="420738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反过来若独立，取 x = μ₁、y = μ₂ 代入 f(x, y)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f_X(x)f_Y(y)，左边是 1/(2πσ₁σ₂√(1−ρ²))，右边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1/(2πσ₁σ₂)，比较得 √(1 − ρ²) = 1，即 ρ = 0。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680835" y="3865245"/>
            <a:ext cx="4977765" cy="1545908"/>
            <a:chOff x="6680835" y="3865245"/>
            <a:chExt cx="4977765" cy="1545908"/>
          </a:xfrm>
        </p:grpSpPr>
        <p:sp>
          <p:nvSpPr>
            <p:cNvPr id="31" name="Rectangle 31"/>
            <p:cNvSpPr/>
            <p:nvPr/>
          </p:nvSpPr>
          <p:spPr>
            <a:xfrm>
              <a:off x="6680835" y="3865245"/>
              <a:ext cx="4977765" cy="1545908"/>
            </a:xfrm>
            <a:prstGeom prst="roundRect">
              <a:avLst>
                <a:gd name="adj" fmla="val 862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84670" y="40690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75831" y="41047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77431" y="4442936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一般的随机变量里，不相关推不出独立；但在二维正态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这一族里，独立与 ρ = 0 完全是一回事。第 4 章讲相关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系数时会再用到这条。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6" name="Rectangle 3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511" y="6004084"/>
              <a:ext cx="79285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考到二维正态先看 ρ。ρ = 0 就把题目当成两个一维正态来做，其余情形本章只要求会写密度。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39432" cy="909257"/>
            <a:chOff x="520446" y="342900"/>
            <a:chExt cx="77394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边缘分布与随机变量的独立性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394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17　已知两个边缘分布且独立，反求联合分布律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522095"/>
            <a:chOff x="533400" y="1524000"/>
            <a:chExt cx="4977765" cy="15220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53911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9275" y="1756410"/>
              <a:ext cx="359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25246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X 取 0、1、2 的概率分别为 1/2、1/3、1/6，Y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0、1、2 的概率都是 1/3，且 X 与 Y 相互独立。求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(X, Y) 的联合概率分布。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227070"/>
            <a:ext cx="4977765" cy="1522095"/>
            <a:chOff x="533400" y="3227070"/>
            <a:chExt cx="4977765" cy="1522095"/>
          </a:xfrm>
        </p:grpSpPr>
        <p:sp>
          <p:nvSpPr>
            <p:cNvPr id="13" name="Rectangle 13"/>
            <p:cNvSpPr/>
            <p:nvPr/>
          </p:nvSpPr>
          <p:spPr>
            <a:xfrm>
              <a:off x="533400" y="3227070"/>
              <a:ext cx="4977765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36042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9620" y="34251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1060" y="34594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381" y="3785711"/>
              <a:ext cx="436067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独立时联合分布律就是两个边缘分布律的乘积表，每个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格子填行概率乘列概率。这是上一节“边缘推不回联合”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的唯一例外情形。</a:t>
              </a:r>
            </a:p>
          </p:txBody>
        </p:sp>
      </p:grpSp>
      <p:grpSp>
        <p:nvGrpSpPr>
          <p:cNvPr id="24" name="c1-callout-3"/>
          <p:cNvGrpSpPr/>
          <p:nvPr/>
        </p:nvGrpSpPr>
        <p:grpSpPr>
          <a:xfrm>
            <a:off x="533400" y="4929188"/>
            <a:ext cx="4977765" cy="756285"/>
            <a:chOff x="533400" y="4929188"/>
            <a:chExt cx="4977765" cy="756285"/>
          </a:xfrm>
        </p:grpSpPr>
        <p:sp>
          <p:nvSpPr>
            <p:cNvPr id="19" name="Rectangle 19"/>
            <p:cNvSpPr/>
            <p:nvPr/>
          </p:nvSpPr>
          <p:spPr>
            <a:xfrm>
              <a:off x="533400" y="4929188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207318"/>
              <a:ext cx="200026" cy="200026"/>
              <a:chOff x="738188" y="5207318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2073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4863" y="528510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511" y="5076349"/>
              <a:ext cx="386473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九个格子相加 = (1/2 + 1/3 + 1/6)(1/3 + 1/3 +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1/3) = 1，已复核。</a:t>
              </a:r>
            </a:p>
          </p:txBody>
        </p:sp>
      </p:grpSp>
      <p:grpSp>
        <p:nvGrpSpPr>
          <p:cNvPr id="62" name="c2-table-1"/>
          <p:cNvGrpSpPr/>
          <p:nvPr/>
        </p:nvGrpSpPr>
        <p:grpSpPr>
          <a:xfrm>
            <a:off x="5810631" y="1524000"/>
            <a:ext cx="5847969" cy="2401824"/>
            <a:chOff x="5810631" y="1524000"/>
            <a:chExt cx="5847969" cy="2401824"/>
          </a:xfrm>
        </p:grpSpPr>
        <p:sp>
          <p:nvSpPr>
            <p:cNvPr id="25" name="Rectangle 25"/>
            <p:cNvSpPr/>
            <p:nvPr/>
          </p:nvSpPr>
          <p:spPr>
            <a:xfrm>
              <a:off x="5815965" y="1524000"/>
              <a:ext cx="5842635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60640" y="1652588"/>
              <a:ext cx="4784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＼ 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1582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84541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53258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0707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18454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86219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54936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23654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92372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23679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15965" y="2372678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18454" y="2501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86219" y="250126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1/9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54936" y="250126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23654" y="250126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92372" y="250126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279273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18454" y="29260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86219" y="292608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54936" y="292608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23654" y="292608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592372" y="292608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15965" y="32165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815965" y="3221355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18454" y="33499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86219" y="334994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54936" y="334994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23654" y="334994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592372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815965" y="1524000"/>
              <a:ext cx="5842635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978968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147685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316402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485120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810631" y="3720465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每格 = 行概率 × 列概率</a:t>
              </a:r>
            </a:p>
          </p:txBody>
        </p:sp>
      </p:grpSp>
      <p:grpSp>
        <p:nvGrpSpPr>
          <p:cNvPr id="68" name="c2-card-2"/>
          <p:cNvGrpSpPr/>
          <p:nvPr/>
        </p:nvGrpSpPr>
        <p:grpSpPr>
          <a:xfrm>
            <a:off x="5815965" y="4065270"/>
            <a:ext cx="5842635" cy="1620202"/>
            <a:chOff x="5815965" y="4065270"/>
            <a:chExt cx="5842635" cy="1620202"/>
          </a:xfrm>
        </p:grpSpPr>
        <p:sp>
          <p:nvSpPr>
            <p:cNvPr id="63" name="Rectangle 63"/>
            <p:cNvSpPr/>
            <p:nvPr/>
          </p:nvSpPr>
          <p:spPr>
            <a:xfrm>
              <a:off x="5815965" y="4065270"/>
              <a:ext cx="5842635" cy="1620202"/>
            </a:xfrm>
            <a:prstGeom prst="roundRect">
              <a:avLst>
                <a:gd name="adj" fmla="val 82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825490" y="4198620"/>
              <a:ext cx="47625" cy="135350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052185" y="426339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135624" y="429768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反过来想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044946" y="4623911"/>
              <a:ext cx="510006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如果题目不给“独立”两个字，这九个格子就有无穷多种填法。只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要保证每行的和是 1/2、1/3、1/6，每列的和都是 1/3，就都符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合已知的边缘分布。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9" name="Rectangle 6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511" y="6011704"/>
              <a:ext cx="55581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源课件只给了题面没有给解答，这一页的表和说明是本讲义补的。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023991" cy="2997517"/>
            <a:chOff x="667512" y="1835468"/>
            <a:chExt cx="602399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条件分布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把一个变量的取值固定下来，另一个变量剩下的分布长什么样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离散型的条件分布律与乘法公式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连续型为什么要用极限来定义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条件概率密度的公式与用法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条件分布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离散型条件分布：把一行或一列单独拿出来归一化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842635" cy="2695575"/>
            <a:chOff x="533400" y="1524000"/>
            <a:chExt cx="5842635" cy="26955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695575"/>
            </a:xfrm>
            <a:prstGeom prst="roundRect">
              <a:avLst>
                <a:gd name="adj" fmla="val 4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288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条件概率分布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97382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对固定的 i，若 pᵢ· &gt; 0，称下式为在条件 X = xᵢ 下随机变量 Y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的条件概率分布。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97"/>
                <p:cNvSpPr txBox="1">
                  <a:spLocks noGrp="1"/>
                </p:cNvSpPr>
                <p:nvPr/>
              </p:nvSpPr>
              <p:spPr>
                <a:xfrm>
                  <a:off x="775335" y="2687002"/>
                  <a:ext cx="5396865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⋅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9239" y="3236595"/>
              <a:ext cx="45758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就是第 1 章的条件概率公式，只是把事件换成了“取到某个值”。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8096" y="3521869"/>
              <a:ext cx="490169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同理对固定的 j，若 p·ⱼ &gt; 0 就能定义在 Y = yⱼ 下 X 的条件分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4405312"/>
            <a:ext cx="5842635" cy="1231582"/>
            <a:chOff x="533400" y="4405312"/>
            <a:chExt cx="5842635" cy="1231582"/>
          </a:xfrm>
        </p:grpSpPr>
        <p:sp>
          <p:nvSpPr>
            <p:cNvPr id="17" name="Rectangle 17"/>
            <p:cNvSpPr/>
            <p:nvPr/>
          </p:nvSpPr>
          <p:spPr>
            <a:xfrm>
              <a:off x="533400" y="4405312"/>
              <a:ext cx="5842635" cy="1231582"/>
            </a:xfrm>
            <a:prstGeom prst="roundRect">
              <a:avLst>
                <a:gd name="adj" fmla="val 108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538662"/>
              <a:ext cx="47625" cy="96488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75335" y="460914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7644" y="46448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乘法公式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98"/>
                <p:cNvSpPr txBox="1">
                  <a:spLocks noGrp="1"/>
                </p:cNvSpPr>
                <p:nvPr/>
              </p:nvSpPr>
              <p:spPr>
                <a:xfrm>
                  <a:off x="775335" y="4958715"/>
                  <a:ext cx="5396865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d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5" name="c2-image-1"/>
          <p:cNvGrpSpPr/>
          <p:nvPr/>
        </p:nvGrpSpPr>
        <p:grpSpPr>
          <a:xfrm>
            <a:off x="6762920" y="1524000"/>
            <a:ext cx="4813595" cy="2347437"/>
            <a:chOff x="6762920" y="1524000"/>
            <a:chExt cx="4813595" cy="2347437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rcRect l="6" t="0" r="6" b="0"/>
            <a:stretch>
              <a:fillRect/>
            </a:stretch>
          </p:blipFill>
          <p:spPr>
            <a:xfrm>
              <a:off x="7815262" y="1524000"/>
              <a:ext cx="2709862" cy="2032635"/>
            </a:xfrm>
            <a:prstGeom prst="roundRect">
              <a:avLst>
                <a:gd name="adj" fmla="val 6560"/>
              </a:avLst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762920" y="3651409"/>
              <a:ext cx="4813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条件分布就是只看框里这一条，再把这一条上的概率重新放大到总和为 1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680835" y="4031932"/>
            <a:ext cx="4977765" cy="1604962"/>
            <a:chOff x="6680835" y="4031932"/>
            <a:chExt cx="4977765" cy="1604962"/>
          </a:xfrm>
        </p:grpSpPr>
        <p:sp>
          <p:nvSpPr>
            <p:cNvPr id="26" name="Rectangle 26"/>
            <p:cNvSpPr/>
            <p:nvPr/>
          </p:nvSpPr>
          <p:spPr>
            <a:xfrm>
              <a:off x="6680835" y="4031932"/>
              <a:ext cx="4977765" cy="1604962"/>
            </a:xfrm>
            <a:prstGeom prst="roundRect">
              <a:avLst>
                <a:gd name="adj" fmla="val 830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84670" y="4235768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45325" y="427148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两条必然成立的性质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892290" y="466820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48881" y="460867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每一项都非负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892290" y="498824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48881" y="4928711"/>
              <a:ext cx="30443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同一行里所有条件概率加起来等于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78574" y="5244465"/>
              <a:ext cx="3267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算完一行先加一遍，不等于 1 就一定算错了。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5" name="Rectangle 3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511" y="6004084"/>
              <a:ext cx="72498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条件分布的分母是边缘概率，不是整张表的和 1。除错分母是这一节最常见的失分点。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36465" cy="909257"/>
            <a:chOff x="520446" y="342900"/>
            <a:chExt cx="53364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条件分布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364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18　由联合分布律求条件分布律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992417" cy="264033"/>
            <a:chOff x="526542" y="1545907"/>
            <a:chExt cx="699241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9924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还是那个 3 黑 2 白不放回的例子，现在问“已知第一次取到白球”以后第二次怎么分布。</a:t>
              </a:r>
            </a:p>
          </p:txBody>
        </p:sp>
      </p:grpSp>
      <p:grpSp>
        <p:nvGrpSpPr>
          <p:cNvPr id="41" name="c1-card-1"/>
          <p:cNvGrpSpPr/>
          <p:nvPr/>
        </p:nvGrpSpPr>
        <p:grpSpPr>
          <a:xfrm>
            <a:off x="533400" y="1928812"/>
            <a:ext cx="5193982" cy="3623310"/>
            <a:chOff x="533400" y="1928812"/>
            <a:chExt cx="5193982" cy="362331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193982" cy="3623310"/>
            </a:xfrm>
            <a:prstGeom prst="roundRect">
              <a:avLst>
                <a:gd name="adj" fmla="val 36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33566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5172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719" y="2142649"/>
              <a:ext cx="335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18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2449354"/>
              <a:ext cx="4679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(X, Y) 的分布律如下表，求 X = 0 条件下 Y 的分布律。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52475" y="2713672"/>
              <a:ext cx="4793932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42291" y="2830830"/>
              <a:ext cx="418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＼ 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03693" y="28308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01938" y="28308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00600" y="283083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行和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3104198"/>
              <a:ext cx="117919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7154" y="32127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960245" y="3104198"/>
              <a:ext cx="117919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45398" y="321278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43644" y="321278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3/10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357688" y="3104198"/>
              <a:ext cx="117919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42841" y="321278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2/5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52475" y="3471862"/>
              <a:ext cx="479393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2475" y="3476625"/>
              <a:ext cx="479393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7154" y="35937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45398" y="359378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3/10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43644" y="359378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3/10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42841" y="359378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52475" y="3852862"/>
              <a:ext cx="479393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7154" y="39747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45398" y="397478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43644" y="397478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42841" y="39747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52475" y="2713672"/>
              <a:ext cx="4793932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945958" y="271367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144202" y="271367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343400" y="271367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steps-1"/>
          <p:cNvGrpSpPr/>
          <p:nvPr/>
        </p:nvGrpSpPr>
        <p:grpSpPr>
          <a:xfrm>
            <a:off x="6032182" y="1938338"/>
            <a:ext cx="5053679" cy="1596009"/>
            <a:chOff x="6032182" y="1938338"/>
            <a:chExt cx="5053679" cy="1596009"/>
          </a:xfrm>
        </p:grpSpPr>
        <p:sp>
          <p:nvSpPr>
            <p:cNvPr id="42" name="Rectangle 42"/>
            <p:cNvSpPr/>
            <p:nvPr/>
          </p:nvSpPr>
          <p:spPr>
            <a:xfrm>
              <a:off x="6165532" y="2081212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032182" y="19383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25806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032182" y="249078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25806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032182" y="30441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25806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44806" y="19683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取出分母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45948" y="2223135"/>
              <a:ext cx="32205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0} = p₀· = 2/5，大于 0，条件分布有定义。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44806" y="25217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逐格相除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45948" y="2776538"/>
              <a:ext cx="46399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第一行两格分别除以 2/5：(1/10)/(2/5) = 1/4，(3/10)/(2/5) = 3/4。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44806" y="30751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验规范性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45948" y="3328988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 + 3/4 = 1，这一行的条件概率加起来是 1。</a:t>
              </a:r>
            </a:p>
          </p:txBody>
        </p:sp>
      </p:grpSp>
      <p:grpSp>
        <p:nvGrpSpPr>
          <p:cNvPr id="67" name="c2-table-2"/>
          <p:cNvGrpSpPr/>
          <p:nvPr/>
        </p:nvGrpSpPr>
        <p:grpSpPr>
          <a:xfrm>
            <a:off x="6027230" y="3696652"/>
            <a:ext cx="5631370" cy="1026509"/>
            <a:chOff x="6027230" y="3696652"/>
            <a:chExt cx="5631370" cy="1026509"/>
          </a:xfrm>
        </p:grpSpPr>
        <p:sp>
          <p:nvSpPr>
            <p:cNvPr id="56" name="Rectangle 56"/>
            <p:cNvSpPr/>
            <p:nvPr/>
          </p:nvSpPr>
          <p:spPr>
            <a:xfrm>
              <a:off x="6032182" y="3696652"/>
              <a:ext cx="5626418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40033" y="381381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27341" y="38138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683763" y="38138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26861" y="4194810"/>
              <a:ext cx="1062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P{Y = j | X = 0}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39481" y="41948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896856" y="41948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3/4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032182" y="3696652"/>
              <a:ext cx="5626418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940040" y="369665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797415" y="3696652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027230" y="4532471"/>
              <a:ext cx="14491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 = 0 条件下 Y 的分布律</a:t>
              </a:r>
            </a:p>
          </p:txBody>
        </p:sp>
      </p:grpSp>
      <p:grpSp>
        <p:nvGrpSpPr>
          <p:cNvPr id="73" name="c2-callout-3"/>
          <p:cNvGrpSpPr/>
          <p:nvPr/>
        </p:nvGrpSpPr>
        <p:grpSpPr>
          <a:xfrm>
            <a:off x="6032182" y="4849178"/>
            <a:ext cx="5626418" cy="702945"/>
            <a:chOff x="6032182" y="4849178"/>
            <a:chExt cx="5626418" cy="702945"/>
          </a:xfrm>
        </p:grpSpPr>
        <p:sp>
          <p:nvSpPr>
            <p:cNvPr id="68" name="Rectangle 68"/>
            <p:cNvSpPr/>
            <p:nvPr/>
          </p:nvSpPr>
          <p:spPr>
            <a:xfrm>
              <a:off x="6032182" y="4849178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236970" y="5100640"/>
              <a:ext cx="200023" cy="200023"/>
              <a:chOff x="6236970" y="5100640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236970" y="51006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370320" y="51673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540056" y="4994434"/>
              <a:ext cx="45971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无条件时 Y 取 0 的概率是 2/5，有条件以后变成 1/4。条件概率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与边缘概率不等，正说明这两个变量不独立。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4" name="Rectangle 7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1273" y="6039326"/>
              <a:ext cx="81547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也可以直接用古典概型验证：第一次取走一个白球后，袋里剩 3 黑 1 白，第二次取到白球的概率就是 1/4。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55837" cy="909257"/>
            <a:chOff x="520446" y="342900"/>
            <a:chExt cx="94558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条件分布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558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19　射手打到击中两次为止：联合分布律与两个条件分布律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760595" cy="1817370"/>
            <a:chOff x="533400" y="1524000"/>
            <a:chExt cx="4760595" cy="18173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6102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449" y="1763554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153281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一射手连续射击，直到击中目标两次为止，每次击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中的概率为 p（0 &lt; p &lt; 1）。设 X 表示首次击中目标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所用的射击次数，Y 表示总共射击的次数。求联合分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布律与两个条件分布律。记 q = 1 − p。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527108"/>
            <a:ext cx="4760595" cy="2012632"/>
            <a:chOff x="533400" y="3527108"/>
            <a:chExt cx="4760595" cy="2012632"/>
          </a:xfrm>
        </p:grpSpPr>
        <p:sp>
          <p:nvSpPr>
            <p:cNvPr id="13" name="Rectangle 13"/>
            <p:cNvSpPr/>
            <p:nvPr/>
          </p:nvSpPr>
          <p:spPr>
            <a:xfrm>
              <a:off x="533400" y="3527108"/>
              <a:ext cx="4760595" cy="2012632"/>
            </a:xfrm>
            <a:prstGeom prst="roundRect">
              <a:avLst>
                <a:gd name="adj" fmla="val 6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660458"/>
              <a:ext cx="47625" cy="17459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75335" y="373094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5543" y="37666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096" y="4103846"/>
              <a:ext cx="39819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 {X = m, Y = n} 说的是：第 m 次和第 n 次击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中，其余 n − 2 次都没中。这 n 次的结果被完全确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定了，概率是 p²q^(n−2)，与 m 具体是几无关。</a:t>
              </a:r>
            </a:p>
          </p:txBody>
        </p:sp>
      </p:grpSp>
      <p:grpSp>
        <p:nvGrpSpPr>
          <p:cNvPr id="36" name="c2-steps-1"/>
          <p:cNvGrpSpPr/>
          <p:nvPr/>
        </p:nvGrpSpPr>
        <p:grpSpPr>
          <a:xfrm>
            <a:off x="5598795" y="1533525"/>
            <a:ext cx="5640210" cy="3074099"/>
            <a:chOff x="5598795" y="1533525"/>
            <a:chExt cx="5640210" cy="3074099"/>
          </a:xfrm>
        </p:grpSpPr>
        <p:sp>
          <p:nvSpPr>
            <p:cNvPr id="19" name="Rectangle 19"/>
            <p:cNvSpPr/>
            <p:nvPr/>
          </p:nvSpPr>
          <p:spPr>
            <a:xfrm>
              <a:off x="5732145" y="1676400"/>
              <a:ext cx="19050" cy="23040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598795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92419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598795" y="29965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92419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598795" y="383762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92419" y="39114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10656" y="15663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联合分布律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11799" y="1846898"/>
              <a:ext cx="5227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m, Y = n} = p²q^(n−2)，其中 m = 1, 2, …, n − 1，n = 2, 3, …。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0656" y="2187416"/>
              <a:ext cx="10804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P{Y = n}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1799" y="2467927"/>
              <a:ext cx="44394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n，m 有 n − 1 种取法，每种概率相同，所以 P{Y = n} = (n −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1)p²q^(n−2)，n ≥ 2。这就是帕斯卡分布。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0656" y="3029426"/>
              <a:ext cx="11221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P{X = m}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1799" y="3309938"/>
              <a:ext cx="5193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m 对 n 从 m + 1 加到 ∞，是首项 p²q^(m−1)、公比 q 的等比级数，和为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pq^(m−1)，m ≥ 1。X 服从几何分布，这符合直觉。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0656" y="387143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两个条件分布律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1799" y="4151948"/>
              <a:ext cx="45689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m | Y = n} = 1/(n − 1)，m = 1, …, n − 1；P{Y = n | X = m}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pq^(n−m−1)，n = m + 1, m + 2, …。</a:t>
              </a:r>
            </a:p>
          </p:txBody>
        </p:sp>
      </p:grpSp>
      <p:grpSp>
        <p:nvGrpSpPr>
          <p:cNvPr id="42" name="c2-callout-2"/>
          <p:cNvGrpSpPr/>
          <p:nvPr/>
        </p:nvGrpSpPr>
        <p:grpSpPr>
          <a:xfrm>
            <a:off x="5598795" y="4783455"/>
            <a:ext cx="6059805" cy="756285"/>
            <a:chOff x="5598795" y="4783455"/>
            <a:chExt cx="6059805" cy="756285"/>
          </a:xfrm>
        </p:grpSpPr>
        <p:sp>
          <p:nvSpPr>
            <p:cNvPr id="37" name="Rectangle 37"/>
            <p:cNvSpPr/>
            <p:nvPr/>
          </p:nvSpPr>
          <p:spPr>
            <a:xfrm>
              <a:off x="5598795" y="4783455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5803583" y="5061585"/>
              <a:ext cx="200026" cy="200026"/>
              <a:chOff x="5803583" y="5061585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5803583" y="50615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870258" y="513937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105906" y="4930616"/>
              <a:ext cx="496481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已用 p = 0.3、截断到 4000 项的枚举复核：联合分布律求和为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1，两个边缘与两个条件分布律都与公式吻合。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3" name="Rectangle 4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511" y="6004084"/>
              <a:ext cx="89990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第一个条件分布律是均匀的：已知总共打了 n 次，首次命中出现在前 n − 1 次里的哪一次，机会完全均等。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42261" cy="909257"/>
            <a:chOff x="520446" y="342900"/>
            <a:chExt cx="86422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条件分布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422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连续型条件分布：直接除会出现 0 除以 0，所以要取极限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4026218"/>
            <a:chOff x="533400" y="1524000"/>
            <a:chExt cx="5410200" cy="40262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26218"/>
            </a:xfrm>
            <a:prstGeom prst="roundRect">
              <a:avLst>
                <a:gd name="adj" fmla="val 33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75951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741" y="1763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问题出在哪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75742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X、Y 都是连续型时 P{Y = y} = 0，所以条件概率 P{X ≤ x |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y} 的分母是 0，公式失效。补救办法是先把“Y = y”放宽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成一个小区间，算完再让区间收缩。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04"/>
                <p:cNvSpPr txBox="1">
                  <a:spLocks noGrp="1"/>
                </p:cNvSpPr>
                <p:nvPr/>
              </p:nvSpPr>
              <p:spPr>
                <a:xfrm>
                  <a:off x="775335" y="2940368"/>
                  <a:ext cx="4964430" cy="4133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</m:t>
                                </m:r>
                                <m:sSup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</m:sup>
                                </m:sSup>
                              </m:lim>
                            </m:limLow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{"/>
                                    <m:sepChr m:val=""/>
                                    <m:endChr m:val="}"/>
                                    <m:grow m:val="on"/>
                                    <m:ctrl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≤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 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ε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&lt;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≤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ε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{"/>
                                    <m:sepChr m:val=""/>
                                    <m:endChr m:val="}"/>
                                    <m:grow m:val="on"/>
                                    <m:ctrl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ε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&lt;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≤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ε</m:t>
                                    </m:r>
                                  </m:e>
                                </m:d>
                              </m:den>
                            </m:f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8096" y="346948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若这个极限存在，就称它为在 Y = y 条件下 X 的条件分布函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9239" y="4057650"/>
              <a:ext cx="47670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换个说法：用“落在一条细带里”的概率去逼近“落在一条线上”的概率。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细带的宽度 2ε 在上下同时出现，约掉以后就留下了密度之比。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2143125"/>
            <a:chOff x="6248400" y="1524000"/>
            <a:chExt cx="5410200" cy="2143125"/>
          </a:xfrm>
        </p:grpSpPr>
        <p:sp>
          <p:nvSpPr>
            <p:cNvPr id="16" name="Rectangle 16"/>
            <p:cNvSpPr/>
            <p:nvPr/>
          </p:nvSpPr>
          <p:spPr>
            <a:xfrm>
              <a:off x="6248400" y="1524000"/>
              <a:ext cx="5410200" cy="2143125"/>
            </a:xfrm>
            <a:prstGeom prst="roundRect">
              <a:avLst>
                <a:gd name="adj" fmla="val 62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57925" y="1657350"/>
              <a:ext cx="47625" cy="18764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90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80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91744" y="176736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条件概率密度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83096" y="211978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上下同除 2ε 再取极限，分子变成 F 对 y 的偏导，分母变成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f_Y(y)。当 f(x, y) 连续、f_Y(y) &gt; 0 时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105"/>
                <p:cNvSpPr txBox="1">
                  <a:spLocks noGrp="1"/>
                </p:cNvSpPr>
                <p:nvPr/>
              </p:nvSpPr>
              <p:spPr>
                <a:xfrm>
                  <a:off x="6490335" y="2687002"/>
                  <a:ext cx="4964430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num>
                          <m:den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num>
                          <m:den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3" name="TextBox 23"/>
            <p:cNvSpPr txBox="1"/>
            <p:nvPr/>
          </p:nvSpPr>
          <p:spPr>
            <a:xfrm>
              <a:off x="6483096" y="3240881"/>
              <a:ext cx="43251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对应的条件分布函数就是把条件密度从 −∞ 积到 x。</a:t>
              </a:r>
            </a:p>
          </p:txBody>
        </p:sp>
      </p:grpSp>
      <p:grpSp>
        <p:nvGrpSpPr>
          <p:cNvPr id="30" name="c2-callout-2"/>
          <p:cNvGrpSpPr/>
          <p:nvPr/>
        </p:nvGrpSpPr>
        <p:grpSpPr>
          <a:xfrm>
            <a:off x="6248400" y="3851910"/>
            <a:ext cx="5410200" cy="756285"/>
            <a:chOff x="6248400" y="3851910"/>
            <a:chExt cx="5410200" cy="7562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85191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453188" y="4130042"/>
              <a:ext cx="200023" cy="200023"/>
              <a:chOff x="6453188" y="4130042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453188" y="41300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586538" y="41967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755511" y="4000024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形式和离散型完全一样：联合除以边缘。区别只在于分子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分母都从概率换成了密度。</a:t>
              </a:r>
            </a:p>
          </p:txBody>
        </p:sp>
      </p:grpSp>
      <p:grpSp>
        <p:nvGrpSpPr>
          <p:cNvPr id="36" name="c2-callout-3"/>
          <p:cNvGrpSpPr/>
          <p:nvPr/>
        </p:nvGrpSpPr>
        <p:grpSpPr>
          <a:xfrm>
            <a:off x="6248400" y="4793932"/>
            <a:ext cx="5410200" cy="756285"/>
            <a:chOff x="6248400" y="4793932"/>
            <a:chExt cx="5410200" cy="756285"/>
          </a:xfrm>
        </p:grpSpPr>
        <p:sp>
          <p:nvSpPr>
            <p:cNvPr id="31" name="Rectangle 31"/>
            <p:cNvSpPr/>
            <p:nvPr/>
          </p:nvSpPr>
          <p:spPr>
            <a:xfrm>
              <a:off x="6248400" y="479393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453188" y="5072063"/>
              <a:ext cx="200026" cy="200026"/>
              <a:chOff x="6453188" y="5072063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453188" y="50720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519863" y="51498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755511" y="4941094"/>
              <a:ext cx="448691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固定 y 以后，f(x|y) 作为 x 的函数非负，且对 x 的积分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等于 1，所以它确实是一个概率密度。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7" name="Rectangle 3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511" y="6004084"/>
              <a:ext cx="88126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乘法公式在连续型里写成 f(x, y) = f_X(x)·f(y|x)，下一节的两步抽样例题就靠它把联合密度拼出来。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25994" cy="909257"/>
            <a:chOff x="520446" y="342900"/>
            <a:chExt cx="84259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条件分布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259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20　条件密度一算出来，条件概率就是一次一维积分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760595" cy="1466850"/>
            <a:chOff x="533400" y="1524000"/>
            <a:chExt cx="4760595" cy="1466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3911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560" y="1750695"/>
              <a:ext cx="359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1285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(X, Y) 的概率密度在 x &gt; 0、y &gt; 0 时为 x·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e^(−x(1+y))。求两个条件概率密度以及 P{Y &gt; 1 | X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3}。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66110"/>
            <a:ext cx="4760595" cy="2517458"/>
            <a:chOff x="533400" y="3166110"/>
            <a:chExt cx="4760595" cy="2517458"/>
          </a:xfrm>
        </p:grpSpPr>
        <p:sp>
          <p:nvSpPr>
            <p:cNvPr id="13" name="Rectangle 13"/>
            <p:cNvSpPr/>
            <p:nvPr/>
          </p:nvSpPr>
          <p:spPr>
            <a:xfrm>
              <a:off x="533400" y="3166110"/>
              <a:ext cx="4760595" cy="2517458"/>
            </a:xfrm>
            <a:prstGeom prst="roundRect">
              <a:avLst>
                <a:gd name="adj" fmla="val 52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299460"/>
              <a:ext cx="47625" cy="22507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335851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5345" y="33928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3714750"/>
              <a:ext cx="38627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边缘密度在例 13 已经算过了，f_X(x) = e^(−x)、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f_Y(y) = 1/(1 + y)²，直接拿来做分母即可。</a:t>
              </a:r>
            </a:p>
          </p:txBody>
        </p:sp>
      </p:grpSp>
      <p:grpSp>
        <p:nvGrpSpPr>
          <p:cNvPr id="32" name="c2-steps-1"/>
          <p:cNvGrpSpPr/>
          <p:nvPr/>
        </p:nvGrpSpPr>
        <p:grpSpPr>
          <a:xfrm>
            <a:off x="5598795" y="1533525"/>
            <a:ext cx="5588127" cy="2108358"/>
            <a:chOff x="5598795" y="1533525"/>
            <a:chExt cx="5588127" cy="2108358"/>
          </a:xfrm>
        </p:grpSpPr>
        <p:sp>
          <p:nvSpPr>
            <p:cNvPr id="19" name="Rectangle 19"/>
            <p:cNvSpPr/>
            <p:nvPr/>
          </p:nvSpPr>
          <p:spPr>
            <a:xfrm>
              <a:off x="5732145" y="1676400"/>
              <a:ext cx="19050" cy="1381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598795" y="232791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92419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598795" y="29146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92419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11037" y="1564957"/>
              <a:ext cx="1836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x 条件下 Y 的密度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12180" y="1833086"/>
              <a:ext cx="517474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f(y|x) = x·e^(−x(1+y)) / e^(−x) = x·e^(−xy)，y &gt; 0。这是参数为 x 的指数分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11037" y="2359342"/>
              <a:ext cx="1836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y 条件下 X 的密度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12180" y="2627471"/>
              <a:ext cx="31249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f(x|y) = x·e^(−x(1+y)) × (1 + y)²，x &gt; 0。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1037" y="294608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算条件概率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2180" y="3214211"/>
              <a:ext cx="51676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x = 3，条件密度是 3e^(−3y)，于是 P{Y &gt; 1 | X = 3} = ∫₁^(+∞) 3e^(−3y)dy =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e^(−3) ≈ 0.0498。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5598795" y="3810000"/>
            <a:ext cx="6059805" cy="488632"/>
            <a:chOff x="5598795" y="3810000"/>
            <a:chExt cx="6059805" cy="488632"/>
          </a:xfrm>
        </p:grpSpPr>
        <p:sp>
          <p:nvSpPr>
            <p:cNvPr id="33" name="Rectangle 33"/>
            <p:cNvSpPr/>
            <p:nvPr/>
          </p:nvSpPr>
          <p:spPr>
            <a:xfrm>
              <a:off x="5598795" y="3810000"/>
              <a:ext cx="6059805" cy="488632"/>
            </a:xfrm>
            <a:prstGeom prst="roundRect">
              <a:avLst>
                <a:gd name="adj" fmla="val 2339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5803583" y="3954780"/>
              <a:ext cx="200026" cy="200026"/>
              <a:chOff x="5803583" y="3954780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5803583" y="39547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870258" y="403256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106287" y="3960495"/>
              <a:ext cx="51750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两个条件密度关于各自变量的积分都等于 1，已用 sympy 复核。</a:t>
              </a:r>
            </a:p>
          </p:txBody>
        </p:sp>
      </p:grpSp>
      <p:grpSp>
        <p:nvGrpSpPr>
          <p:cNvPr id="44" name="c2-card-3"/>
          <p:cNvGrpSpPr/>
          <p:nvPr/>
        </p:nvGrpSpPr>
        <p:grpSpPr>
          <a:xfrm>
            <a:off x="5598795" y="4473892"/>
            <a:ext cx="6059805" cy="1209675"/>
            <a:chOff x="5598795" y="4473892"/>
            <a:chExt cx="6059805" cy="1209675"/>
          </a:xfrm>
        </p:grpSpPr>
        <p:sp>
          <p:nvSpPr>
            <p:cNvPr id="39" name="Rectangle 39"/>
            <p:cNvSpPr/>
            <p:nvPr/>
          </p:nvSpPr>
          <p:spPr>
            <a:xfrm>
              <a:off x="5598795" y="4473892"/>
              <a:ext cx="605980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608320" y="4607242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29300" y="4666298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00738" y="470058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读一读这个结果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822442" y="5022533"/>
              <a:ext cx="52858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 X = x 后 Y ~ E(x)：X 取得越大，Y 的分布越集中在 0 附近。X 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之间的这种牵连，正是它们不独立的具体形式。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5" name="Rectangle 4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892" y="6023610"/>
              <a:ext cx="8010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写条件密度一定要带上取值范围。范围通常依赖被固定的那个变量，丢掉它后面积分就会积错区间。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条件分布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两道条件分布题：区域一画出来，积分限就跟着出来了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ndA"/>
          <p:cNvGrpSpPr/>
          <p:nvPr/>
        </p:nvGrpSpPr>
        <p:grpSpPr>
          <a:xfrm>
            <a:off x="533400" y="1524000"/>
            <a:ext cx="5524500" cy="4762500"/>
            <a:chOff x="533400" y="1524000"/>
            <a:chExt cx="5524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例：三角形域上的均匀分布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4110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先横着切求 f_Y，再把这一条上的密度归一化，就得到条件密度。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1924050" y="2827744"/>
              <a:ext cx="1587503" cy="1557376"/>
            </a:xfrm>
            <a:custGeom>
              <a:avLst/>
              <a:gdLst/>
              <a:ahLst/>
              <a:cxnLst/>
              <a:rect l="l" t="t" r="r" b="b"/>
              <a:pathLst>
                <a:path w="1587503" h="1557376">
                  <a:moveTo>
                    <a:pt x="0" y="1557376"/>
                  </a:moveTo>
                  <a:lnTo>
                    <a:pt x="1587503" y="1557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FF3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1638300" y="4385120"/>
              <a:ext cx="2428875" cy="9525"/>
            </a:xfrm>
            <a:custGeom>
              <a:avLst/>
              <a:gdLst/>
              <a:ahLst/>
              <a:cxnLst/>
              <a:rect l="l" t="t" r="r" b="b"/>
              <a:pathLst>
                <a:path w="2428875" h="9525">
                  <a:moveTo>
                    <a:pt x="0" y="0"/>
                  </a:moveTo>
                  <a:lnTo>
                    <a:pt x="24288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4067175" y="435511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1924050" y="2390775"/>
              <a:ext cx="9525" cy="2181225"/>
            </a:xfrm>
            <a:custGeom>
              <a:avLst/>
              <a:gdLst/>
              <a:ahLst/>
              <a:cxnLst/>
              <a:rect l="l" t="t" r="r" b="b"/>
              <a:pathLst>
                <a:path w="9525" h="2181225">
                  <a:moveTo>
                    <a:pt x="0" y="21812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1894046" y="2324100"/>
              <a:ext cx="60008" cy="66675"/>
            </a:xfrm>
            <a:custGeom>
              <a:avLst/>
              <a:gdLst/>
              <a:ahLst/>
              <a:cxnLst/>
              <a:rect l="l" t="t" r="r" b="b"/>
              <a:pathLst>
                <a:path w="60008" h="66675">
                  <a:moveTo>
                    <a:pt x="30004" y="0"/>
                  </a:moveTo>
                  <a:lnTo>
                    <a:pt x="6000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76141" y="4319397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94916" y="2229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62049" y="4441793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1828800" y="2734304"/>
              <a:ext cx="1873253" cy="1837696"/>
            </a:xfrm>
            <a:custGeom>
              <a:avLst/>
              <a:gdLst/>
              <a:ahLst/>
              <a:cxnLst/>
              <a:rect l="l" t="t" r="r" b="b"/>
              <a:pathLst>
                <a:path w="1873253" h="1837696">
                  <a:moveTo>
                    <a:pt x="1873253" y="1837696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2410C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924050" y="352856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604135" y="3494275"/>
              <a:ext cx="68580" cy="6858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3511553" y="438512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470320" y="4460843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1876425" y="2827744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760812" y="2765355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93844" y="3563474"/>
              <a:ext cx="709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 + y/2 = 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13034" y="3349485"/>
              <a:ext cx="86653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x: 0 → 1 − y/2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23900" y="5257800"/>
              <a:ext cx="5143500" cy="8382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33425" y="5362575"/>
              <a:ext cx="47625" cy="6286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95350" y="5362575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96315" y="54159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9826" y="5673804"/>
              <a:ext cx="3506407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三角形面积为 1，所以 f(x, y) = 1，f_Y(y) = 1 − y/2；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条件密度 f(x|y) = 2/(2 − y)，在这一整条上是常数。</a:t>
              </a:r>
            </a:p>
          </p:txBody>
        </p:sp>
      </p:grpSp>
      <p:grpSp>
        <p:nvGrpSpPr>
          <p:cNvPr id="61" name="cndB"/>
          <p:cNvGrpSpPr/>
          <p:nvPr/>
        </p:nvGrpSpPr>
        <p:grpSpPr>
          <a:xfrm>
            <a:off x="6210300" y="1524000"/>
            <a:ext cx="5448300" cy="4762500"/>
            <a:chOff x="6210300" y="1524000"/>
            <a:chExt cx="5448300" cy="4762500"/>
          </a:xfrm>
        </p:grpSpPr>
        <p:sp>
          <p:nvSpPr>
            <p:cNvPr id="33" name="Rectangle 33"/>
            <p:cNvSpPr/>
            <p:nvPr/>
          </p:nvSpPr>
          <p:spPr>
            <a:xfrm>
              <a:off x="6210300" y="1524000"/>
              <a:ext cx="54483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94323" y="1662589"/>
              <a:ext cx="349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例：先取 X ~ U(0, 1)，再在 (0, X) 上取 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95466" y="1925002"/>
              <a:ext cx="29578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两步抽样把样本点压在 y &lt; x 这半个正方形里。</a:t>
              </a:r>
            </a:p>
          </p:txBody>
        </p:sp>
        <p:sp>
          <p:nvSpPr>
            <p:cNvPr id="36" name="Polygon 36"/>
            <p:cNvSpPr/>
            <p:nvPr/>
          </p:nvSpPr>
          <p:spPr>
            <a:xfrm>
              <a:off x="7497232" y="2756849"/>
              <a:ext cx="1733026" cy="1592237"/>
            </a:xfrm>
            <a:custGeom>
              <a:avLst/>
              <a:gdLst/>
              <a:ahLst/>
              <a:cxnLst/>
              <a:rect l="l" t="t" r="r" b="b"/>
              <a:pathLst>
                <a:path w="1733026" h="1592237">
                  <a:moveTo>
                    <a:pt x="0" y="1592237"/>
                  </a:moveTo>
                  <a:lnTo>
                    <a:pt x="1733026" y="1592237"/>
                  </a:lnTo>
                  <a:lnTo>
                    <a:pt x="1733026" y="0"/>
                  </a:lnTo>
                  <a:close/>
                </a:path>
              </a:pathLst>
            </a:custGeom>
            <a:solidFill>
              <a:srgbClr val="EDF1F9"/>
            </a:solidFill>
            <a:ln w="12382">
              <a:solidFill>
                <a:srgbClr val="9FB0D6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8363741" y="2756849"/>
              <a:ext cx="866518" cy="1592237"/>
            </a:xfrm>
            <a:custGeom>
              <a:avLst/>
              <a:gdLst/>
              <a:ahLst/>
              <a:cxnLst/>
              <a:rect l="l" t="t" r="r" b="b"/>
              <a:pathLst>
                <a:path w="866518" h="1592237">
                  <a:moveTo>
                    <a:pt x="0" y="796119"/>
                  </a:moveTo>
                  <a:lnTo>
                    <a:pt x="866518" y="1592237"/>
                  </a:lnTo>
                  <a:lnTo>
                    <a:pt x="866518" y="0"/>
                  </a:lnTo>
                  <a:close/>
                </a:path>
              </a:pathLst>
            </a:custGeom>
            <a:solidFill>
              <a:srgbClr val="A9BBE4"/>
            </a:soli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7219950" y="4349086"/>
              <a:ext cx="2543175" cy="9525"/>
            </a:xfrm>
            <a:custGeom>
              <a:avLst/>
              <a:gdLst/>
              <a:ahLst/>
              <a:cxnLst/>
              <a:rect l="l" t="t" r="r" b="b"/>
              <a:pathLst>
                <a:path w="2543175" h="9525">
                  <a:moveTo>
                    <a:pt x="0" y="0"/>
                  </a:moveTo>
                  <a:lnTo>
                    <a:pt x="25431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9763125" y="4319083"/>
              <a:ext cx="66675" cy="60008"/>
            </a:xfrm>
            <a:custGeom>
              <a:avLst/>
              <a:gdLst/>
              <a:ahLst/>
              <a:cxnLst/>
              <a:rect l="l" t="t" r="r" b="b"/>
              <a:pathLst>
                <a:path w="66675" h="60008">
                  <a:moveTo>
                    <a:pt x="66675" y="30004"/>
                  </a:moveTo>
                  <a:lnTo>
                    <a:pt x="0" y="60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7497232" y="2390775"/>
              <a:ext cx="9525" cy="2181225"/>
            </a:xfrm>
            <a:custGeom>
              <a:avLst/>
              <a:gdLst/>
              <a:ahLst/>
              <a:cxnLst/>
              <a:rect l="l" t="t" r="r" b="b"/>
              <a:pathLst>
                <a:path w="9525" h="2181225">
                  <a:moveTo>
                    <a:pt x="0" y="21812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7467229" y="232410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872091" y="4283364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68098" y="2229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35231" y="4405760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7497232" y="2533936"/>
              <a:ext cx="1975647" cy="1815151"/>
            </a:xfrm>
            <a:custGeom>
              <a:avLst/>
              <a:gdLst/>
              <a:ahLst/>
              <a:cxnLst/>
              <a:rect l="l" t="t" r="r" b="b"/>
              <a:pathLst>
                <a:path w="1975647" h="1815151">
                  <a:moveTo>
                    <a:pt x="0" y="1815151"/>
                  </a:moveTo>
                  <a:lnTo>
                    <a:pt x="1975647" y="0"/>
                  </a:lnTo>
                </a:path>
              </a:pathLst>
            </a:custGeom>
            <a:noFill/>
            <a:ln w="19050">
              <a:solidFill>
                <a:srgbClr val="C2410C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601217" y="2852385"/>
              <a:ext cx="1871662" cy="1719615"/>
            </a:xfrm>
            <a:custGeom>
              <a:avLst/>
              <a:gdLst/>
              <a:ahLst/>
              <a:cxnLst/>
              <a:rect l="l" t="t" r="r" b="b"/>
              <a:pathLst>
                <a:path w="1871662" h="1719615">
                  <a:moveTo>
                    <a:pt x="0" y="0"/>
                  </a:moveTo>
                  <a:lnTo>
                    <a:pt x="1871662" y="1719615"/>
                  </a:lnTo>
                </a:path>
              </a:pathLst>
            </a:custGeom>
            <a:noFill/>
            <a:ln w="19050">
              <a:solidFill>
                <a:srgbClr val="0F7A68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8363741" y="4349086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249947" y="4424810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9230258" y="4349086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189025" y="4424810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449607" y="2756849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33994" y="269446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93449" y="2587904"/>
              <a:ext cx="321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y = x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30925" y="2970047"/>
              <a:ext cx="5570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 + y = 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09568" y="3579143"/>
              <a:ext cx="56406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X + Y &gt; 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00800" y="5257800"/>
              <a:ext cx="5067300" cy="8382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10325" y="5362575"/>
              <a:ext cx="47625" cy="6286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572250" y="5362575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73215" y="54159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566726" y="5673804"/>
              <a:ext cx="3160332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f(x, y) = 1/x（0 &lt; y &lt; x &lt; 1），f_Y(y) = −ln y；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+ Y &gt; 1} = 1 − ln 2 ≈ 0.3069。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92503" cy="909257"/>
            <a:chOff x="520446" y="342900"/>
            <a:chExt cx="62925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条件分布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925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21 与例 22　条件密度的两种典型用法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202055"/>
            <a:chOff x="533400" y="1524000"/>
            <a:chExt cx="5193982" cy="12020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5172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434" y="1743551"/>
              <a:ext cx="335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840" y="174593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三角形域上的均匀分布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(X, Y) 在由 x 轴、y 轴与直线 x + y/2 = 1 围成的三角形域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上服从均匀分布，求 f(x|y)。</a:t>
              </a:r>
            </a:p>
          </p:txBody>
        </p:sp>
      </p:grpSp>
      <p:grpSp>
        <p:nvGrpSpPr>
          <p:cNvPr id="27" name="c1-steps-2"/>
          <p:cNvGrpSpPr/>
          <p:nvPr/>
        </p:nvGrpSpPr>
        <p:grpSpPr>
          <a:xfrm>
            <a:off x="533400" y="2906078"/>
            <a:ext cx="4940935" cy="1892141"/>
            <a:chOff x="533400" y="2906078"/>
            <a:chExt cx="4940935" cy="1892141"/>
          </a:xfrm>
        </p:grpSpPr>
        <p:sp>
          <p:nvSpPr>
            <p:cNvPr id="14" name="Rectangle 14"/>
            <p:cNvSpPr/>
            <p:nvPr/>
          </p:nvSpPr>
          <p:spPr>
            <a:xfrm>
              <a:off x="666750" y="3048952"/>
              <a:ext cx="19050" cy="1372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29060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29798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69570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7695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2786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3524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293751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定密度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785" y="3205639"/>
              <a:ext cx="45275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三角形两条直角边为 1 和 2，面积 1，所以 f(x, y) = 1 在域内，其他处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0。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642" y="372808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求边缘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785" y="3995261"/>
              <a:ext cx="4401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&lt; y &lt; 2 时横着切，x 从 0 到 1 − y/2，所以 f_Y(y) = 1 − y/2。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642" y="431101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785" y="4578191"/>
              <a:ext cx="44441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f(x|y) = 1/(1 − y/2) = 2/(2 − y)，取值范围是 0 &lt; x &lt; 1 − y/2。</a:t>
              </a:r>
            </a:p>
          </p:txBody>
        </p:sp>
      </p:grpSp>
      <p:grpSp>
        <p:nvGrpSpPr>
          <p:cNvPr id="33" name="c1-callout-3"/>
          <p:cNvGrpSpPr/>
          <p:nvPr/>
        </p:nvGrpSpPr>
        <p:grpSpPr>
          <a:xfrm>
            <a:off x="533400" y="4962525"/>
            <a:ext cx="5193982" cy="729615"/>
            <a:chOff x="533400" y="4962525"/>
            <a:chExt cx="5193982" cy="729615"/>
          </a:xfrm>
        </p:grpSpPr>
        <p:sp>
          <p:nvSpPr>
            <p:cNvPr id="28" name="Rectangle 28"/>
            <p:cNvSpPr/>
            <p:nvPr/>
          </p:nvSpPr>
          <p:spPr>
            <a:xfrm>
              <a:off x="533400" y="4962525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226370"/>
              <a:ext cx="200023" cy="200023"/>
              <a:chOff x="738188" y="5226370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22637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52930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892" y="5108258"/>
              <a:ext cx="41713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条件密度在那一条上是常数，说明固定 y 以后 X 在 (0,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1 − y/2) 上仍服从均匀分布。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032182" y="1524000"/>
            <a:ext cx="5626418" cy="1202055"/>
            <a:chOff x="6032182" y="1524000"/>
            <a:chExt cx="5626418" cy="1202055"/>
          </a:xfrm>
        </p:grpSpPr>
        <p:sp>
          <p:nvSpPr>
            <p:cNvPr id="34" name="Rectangle 34"/>
            <p:cNvSpPr/>
            <p:nvPr/>
          </p:nvSpPr>
          <p:spPr>
            <a:xfrm>
              <a:off x="6032182" y="1524000"/>
              <a:ext cx="5626418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41708" y="165735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6972" y="1710690"/>
              <a:ext cx="5172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7216" y="1743551"/>
              <a:ext cx="335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81622" y="174593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两步抽样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50114" y="2071688"/>
              <a:ext cx="47114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U(0, 1)；在 X = x（0 &lt; x &lt; 1）的条件下 Y ~ U(0, x)。求</a:t>
              </a:r>
            </a:p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联合密度；(2) f_Y(y)；(3) P{X + Y &gt; 1}。</a:t>
              </a:r>
            </a:p>
          </p:txBody>
        </p:sp>
      </p:grpSp>
      <p:grpSp>
        <p:nvGrpSpPr>
          <p:cNvPr id="54" name="c2-steps-2"/>
          <p:cNvGrpSpPr/>
          <p:nvPr/>
        </p:nvGrpSpPr>
        <p:grpSpPr>
          <a:xfrm>
            <a:off x="6032182" y="2906078"/>
            <a:ext cx="5289423" cy="2099785"/>
            <a:chOff x="6032182" y="2906078"/>
            <a:chExt cx="5289423" cy="2099785"/>
          </a:xfrm>
        </p:grpSpPr>
        <p:sp>
          <p:nvSpPr>
            <p:cNvPr id="41" name="Rectangle 41"/>
            <p:cNvSpPr/>
            <p:nvPr/>
          </p:nvSpPr>
          <p:spPr>
            <a:xfrm>
              <a:off x="6165532" y="3048952"/>
              <a:ext cx="19050" cy="13735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032182" y="29060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25806" y="29798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032182" y="34890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25806" y="35628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032182" y="42786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25806" y="43524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44424" y="293751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用乘法公式拼联合密度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45567" y="3205639"/>
              <a:ext cx="4851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f(x, y) = f_X(x)·f(y|x) = 1 × (1/x) = 1/x，取值范围 0 &lt; y &lt; x &lt; 1。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44424" y="352044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求边缘密度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45567" y="3788569"/>
              <a:ext cx="480491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y，x 从 y 积到 1：f_Y(y) = ∫_y¹ (1/x)dx = −ln y，0 &lt; y &lt; 1。它在 y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 0 时趋于 +∞，但积分仍然是 1。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44424" y="431101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算概率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45567" y="4578191"/>
              <a:ext cx="487603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区域再加上 x + y &gt; 1，x 从 1/2 到 1、y 从 1 − x 到 x。P = ∫_{1/2}^1 (2x −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1)/x dx = 1 − ln 2 ≈ 0.3069。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5" name="Rectangle 55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28373"/>
              <a:ext cx="86759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两步抽样是条件密度最常见的用法：题目直接告诉你 f_X 和 f(y|x)，相乘就得到联合密度，之后一切照旧。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67528" cy="2997517"/>
            <a:chOff x="667512" y="1835468"/>
            <a:chExt cx="536752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二维随机变量函数的分布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607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已知 (X, Y) 的分布，求 Z = g(X, Y) 的分布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离散型把取值相同的概率合并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连续型用分布函数法或卷积公式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和、最大值、最小值三类常见函数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25994" cy="909257"/>
            <a:chOff x="520446" y="342900"/>
            <a:chExt cx="84259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二维随机变量函数的分布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259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23　离散型：算出每一格的函数值，再把相同的合并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907960" cy="264033"/>
            <a:chOff x="526542" y="1545907"/>
            <a:chExt cx="790796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907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方法很直接。Z = g(X, Y) 的取值就是把每个格子的 (xᵢ, yⱼ) 代进 g，取值相同的格子概率相加。</a:t>
              </a:r>
            </a:p>
          </p:txBody>
        </p:sp>
      </p:grpSp>
      <p:grpSp>
        <p:nvGrpSpPr>
          <p:cNvPr id="33" name="c1-card-1"/>
          <p:cNvGrpSpPr/>
          <p:nvPr/>
        </p:nvGrpSpPr>
        <p:grpSpPr>
          <a:xfrm>
            <a:off x="533400" y="1928812"/>
            <a:ext cx="4111942" cy="2869882"/>
            <a:chOff x="533400" y="1928812"/>
            <a:chExt cx="4111942" cy="286988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111942" cy="2869882"/>
            </a:xfrm>
            <a:prstGeom prst="roundRect">
              <a:avLst>
                <a:gd name="adj" fmla="val 46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26031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5172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8434" y="2148364"/>
              <a:ext cx="335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332" y="2459355"/>
              <a:ext cx="31855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(X, Y) 的概率分布如下表，求 X + Y 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Y/X 的概率分布。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58190" y="2994660"/>
              <a:ext cx="3700462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63555" y="3116104"/>
              <a:ext cx="446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＼ 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34208" y="311610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98849" y="31161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5345" y="351615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13598" y="351615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34702" y="351615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8190" y="3789998"/>
              <a:ext cx="37004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8190" y="3794760"/>
              <a:ext cx="370046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5345" y="3916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13598" y="391620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34702" y="391620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1/8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58190" y="4190048"/>
              <a:ext cx="37004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5345" y="43162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13598" y="431625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34702" y="431625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58190" y="2994660"/>
              <a:ext cx="3700462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011680" y="299466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232785" y="299466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llout-2"/>
          <p:cNvGrpSpPr/>
          <p:nvPr/>
        </p:nvGrpSpPr>
        <p:grpSpPr>
          <a:xfrm>
            <a:off x="533400" y="4968240"/>
            <a:ext cx="4111942" cy="729615"/>
            <a:chOff x="533400" y="4968240"/>
            <a:chExt cx="4111942" cy="729615"/>
          </a:xfrm>
        </p:grpSpPr>
        <p:sp>
          <p:nvSpPr>
            <p:cNvPr id="34" name="Rectangle 34"/>
            <p:cNvSpPr/>
            <p:nvPr/>
          </p:nvSpPr>
          <p:spPr>
            <a:xfrm>
              <a:off x="533400" y="4968240"/>
              <a:ext cx="4111942" cy="729615"/>
            </a:xfrm>
            <a:prstGeom prst="roundRect">
              <a:avLst>
                <a:gd name="adj" fmla="val 1566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233037"/>
              <a:ext cx="200023" cy="200023"/>
              <a:chOff x="738188" y="5233037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2330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1538" y="52997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5113973"/>
              <a:ext cx="29969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Y/X 有三格都取 0，合并得 1/6 + 1/8 +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1/12 = 11/24。</a:t>
              </a:r>
            </a:p>
          </p:txBody>
        </p:sp>
      </p:grpSp>
      <p:grpSp>
        <p:nvGrpSpPr>
          <p:cNvPr id="79" name="c2-table-1"/>
          <p:cNvGrpSpPr/>
          <p:nvPr/>
        </p:nvGrpSpPr>
        <p:grpSpPr>
          <a:xfrm>
            <a:off x="4950142" y="1928812"/>
            <a:ext cx="6708458" cy="1600200"/>
            <a:chOff x="4950142" y="1928812"/>
            <a:chExt cx="6708458" cy="1600200"/>
          </a:xfrm>
        </p:grpSpPr>
        <p:sp>
          <p:nvSpPr>
            <p:cNvPr id="40" name="Rectangle 40"/>
            <p:cNvSpPr/>
            <p:nvPr/>
          </p:nvSpPr>
          <p:spPr>
            <a:xfrm>
              <a:off x="4950142" y="1928812"/>
              <a:ext cx="6708458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25592" y="2050256"/>
              <a:ext cx="521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(X, Y)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82725" y="2050256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(−1,−1)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65426" y="2050256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(−1,0)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04591" y="2050256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(1,−1)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87292" y="205025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(1,0)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82921" y="2050256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(2,−1)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65622" y="205025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(2,0)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47298" y="24503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120765" y="24503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59930" y="24503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99095" y="24503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938260" y="24503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1/8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877425" y="24503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816590" y="2450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950142" y="272415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950142" y="2728912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047298" y="2850356"/>
              <a:ext cx="387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+ Y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120765" y="2850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59930" y="2850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99095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938260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877425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816590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950142" y="312420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047298" y="325040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Y/X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120765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059930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99095" y="32504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938260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877425" y="32504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−1/2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816590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4950142" y="1928812"/>
              <a:ext cx="6708458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018848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958012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897178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8836342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9775508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10714672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9" name="c2-table-2"/>
          <p:cNvGrpSpPr/>
          <p:nvPr/>
        </p:nvGrpSpPr>
        <p:grpSpPr>
          <a:xfrm>
            <a:off x="4950142" y="3698558"/>
            <a:ext cx="6708458" cy="800100"/>
            <a:chOff x="4950142" y="3698558"/>
            <a:chExt cx="6708458" cy="800100"/>
          </a:xfrm>
        </p:grpSpPr>
        <p:sp>
          <p:nvSpPr>
            <p:cNvPr id="80" name="Rectangle 80"/>
            <p:cNvSpPr/>
            <p:nvPr/>
          </p:nvSpPr>
          <p:spPr>
            <a:xfrm>
              <a:off x="4950142" y="3698558"/>
              <a:ext cx="6708458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426804" y="3820001"/>
              <a:ext cx="387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+ Y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735685" y="382000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809153" y="382000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926156" y="38200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999624" y="38200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073091" y="38200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5047298" y="422005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388417" y="422005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461885" y="422005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535352" y="422005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608820" y="422005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682288" y="422005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1/12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4950142" y="3698558"/>
              <a:ext cx="6708458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6286500" y="369855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7359968" y="369855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8433435" y="369855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9506902" y="369855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10580370" y="369855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6" name="c2-table-3"/>
          <p:cNvGrpSpPr/>
          <p:nvPr/>
        </p:nvGrpSpPr>
        <p:grpSpPr>
          <a:xfrm>
            <a:off x="4950142" y="4669155"/>
            <a:ext cx="6708458" cy="800100"/>
            <a:chOff x="4950142" y="4669155"/>
            <a:chExt cx="6708458" cy="800100"/>
          </a:xfrm>
        </p:grpSpPr>
        <p:sp>
          <p:nvSpPr>
            <p:cNvPr id="100" name="Rectangle 100"/>
            <p:cNvSpPr/>
            <p:nvPr/>
          </p:nvSpPr>
          <p:spPr>
            <a:xfrm>
              <a:off x="4950142" y="4669155"/>
              <a:ext cx="6708458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5476986" y="4790599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Y/X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869988" y="479059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124036" y="479059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−1/2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596716" y="4790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0938789" y="4790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5047298" y="519064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388417" y="519064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730490" y="519064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1/8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072562" y="519064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11/24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0413683" y="519064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4950142" y="4669155"/>
              <a:ext cx="6708458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6286500" y="466915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7628572" y="466915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8970645" y="466915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10311765" y="466915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2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17" name="Rectangle 11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21" name="Group 121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19" name="Freeform 119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20" name="Freeform 120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22" name="TextBox 122"/>
            <p:cNvSpPr txBox="1"/>
            <p:nvPr/>
          </p:nvSpPr>
          <p:spPr>
            <a:xfrm>
              <a:off x="1040892" y="6028373"/>
              <a:ext cx="8045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合并这一步最容易漏。X + Y = 1 由两个格子贡献，Y/X = 0 由三个格子贡献，落下一个就凑不够 1。</a:t>
              </a:r>
            </a:p>
          </p:txBody>
        </p:sp>
      </p:grpSp>
      <p:grpSp>
        <p:nvGrpSpPr>
          <p:cNvPr id="12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4" name="TextBox 124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09589" cy="909257"/>
            <a:chOff x="520446" y="342900"/>
            <a:chExt cx="67095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二维随机变量函数的分布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095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24　独立同类分布相加，常常还是同一类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4108132"/>
            <a:chOff x="533400" y="1524000"/>
            <a:chExt cx="5410200" cy="41081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108132"/>
            </a:xfrm>
            <a:prstGeom prst="roundRect">
              <a:avLst>
                <a:gd name="adj" fmla="val 3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8414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172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19" y="1737836"/>
              <a:ext cx="335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7506" y="174450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两个独立泊松变量之和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749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~ π(λ₁)、Y ~ π(λ₂) 且相互独立，求 Z = X + Y 的分布。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2346484"/>
              <a:ext cx="47028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可取 0, 1, 2, …。把 {Z = k} 按 X 的取值拆成 k + 1 个互不相容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的事件再用独立性：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18"/>
                <p:cNvSpPr txBox="1">
                  <a:spLocks noGrp="1"/>
                </p:cNvSpPr>
                <p:nvPr/>
              </p:nvSpPr>
              <p:spPr>
                <a:xfrm>
                  <a:off x="752475" y="2852738"/>
                  <a:ext cx="5010150" cy="4086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9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  <m:r>
                              <m:rPr>
                                <m:sty m:val="p"/>
                              </m:rP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9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Sup>
                                  <m:e>
                                    <m: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p>
                                </m:sSubSup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9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a:rPr lang="zh-CN" sz="9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</m:num>
                              <m:den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!</m:t>
                                </m:r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lang="zh-CN" sz="9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p>
                            </m:sSub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sup>
                            </m:sSup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45998" y="3363754"/>
              <a:ext cx="44508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提出 e^(−λ₁−λ₂)/k! 后，剩下的和正是二项式定理里的 (λ₁ +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λ₂)ᵏ。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119"/>
                <p:cNvSpPr txBox="1">
                  <a:spLocks noGrp="1"/>
                </p:cNvSpPr>
                <p:nvPr/>
              </p:nvSpPr>
              <p:spPr>
                <a:xfrm>
                  <a:off x="752475" y="3870960"/>
                  <a:ext cx="5010150" cy="385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8" name="c2-table-1"/>
          <p:cNvGrpSpPr/>
          <p:nvPr/>
        </p:nvGrpSpPr>
        <p:grpSpPr>
          <a:xfrm>
            <a:off x="6243447" y="1524000"/>
            <a:ext cx="5415153" cy="2162841"/>
            <a:chOff x="6243447" y="1524000"/>
            <a:chExt cx="5415153" cy="2162841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5132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2772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42816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和的分布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43079" y="211645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二项分布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41336" y="2023110"/>
              <a:ext cx="151752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B(n₁, p)，Y ~ B(n₂,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p)，同一个 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97784" y="2116455"/>
              <a:ext cx="1435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+ Y ~ B(n₁ + n₂, p)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248400" y="2468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48400" y="247364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43079" y="25908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泊松分布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41336" y="2590800"/>
              <a:ext cx="14337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π(λ₁)，Y ~ π(λ₂)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97784" y="2590800"/>
              <a:ext cx="12249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+ Y ~ π(λ₁ + λ₂)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2849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3079" y="306514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正态分布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41336" y="2971800"/>
              <a:ext cx="166420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N(μ₁, σ₁²)，Y ~ N(μ₂,</a:t>
              </a:r>
              <a:br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σ₂²)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97784" y="2971800"/>
              <a:ext cx="150418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+ Y ~ N(μ₁ + μ₂, σ₁² +</a:t>
              </a:r>
              <a:br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σ₂²)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1899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541895" y="1524000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598342" y="1524000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43447" y="3496151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三个具有可加性的常用分布（都要求相互独立）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248400" y="3812858"/>
            <a:ext cx="5410200" cy="1185862"/>
            <a:chOff x="6248400" y="3812858"/>
            <a:chExt cx="5410200" cy="1185862"/>
          </a:xfrm>
        </p:grpSpPr>
        <p:sp>
          <p:nvSpPr>
            <p:cNvPr id="39" name="Rectangle 39"/>
            <p:cNvSpPr/>
            <p:nvPr/>
          </p:nvSpPr>
          <p:spPr>
            <a:xfrm>
              <a:off x="6248400" y="3812858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394620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67475" y="399383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2044" y="402669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两个限制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77000" y="438721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32448" y="4334351"/>
              <a:ext cx="4174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二项分布要求两个的 p 相同，否则和不再是二项分布。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77000" y="467201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32448" y="461914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均匀分布和指数分布都没有可加性。</a:t>
              </a:r>
            </a:p>
          </p:txBody>
        </p:sp>
      </p:grpSp>
      <p:grpSp>
        <p:nvGrpSpPr>
          <p:cNvPr id="53" name="c2-callout-3"/>
          <p:cNvGrpSpPr/>
          <p:nvPr/>
        </p:nvGrpSpPr>
        <p:grpSpPr>
          <a:xfrm>
            <a:off x="6248400" y="5164455"/>
            <a:ext cx="5410200" cy="467678"/>
            <a:chOff x="6248400" y="5164455"/>
            <a:chExt cx="5410200" cy="467678"/>
          </a:xfrm>
        </p:grpSpPr>
        <p:sp>
          <p:nvSpPr>
            <p:cNvPr id="48" name="Rectangle 48"/>
            <p:cNvSpPr/>
            <p:nvPr/>
          </p:nvSpPr>
          <p:spPr>
            <a:xfrm>
              <a:off x="6248400" y="5164455"/>
              <a:ext cx="5410200" cy="467678"/>
            </a:xfrm>
            <a:prstGeom prst="roundRect">
              <a:avLst>
                <a:gd name="adj" fmla="val 2444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453188" y="5297805"/>
              <a:ext cx="200026" cy="200026"/>
              <a:chOff x="6453188" y="5297805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453188" y="52978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519863" y="537559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756273" y="5308759"/>
              <a:ext cx="35109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泊松与二项的可加性已用 mpmath 逐项核对。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4" name="Rectangle 5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1273" y="6039326"/>
              <a:ext cx="59405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看到“独立 + 同类型 + 求和”，先想可加性。能套上就不必做卷积，一行写完。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79065" cy="909257"/>
            <a:chOff x="520446" y="342900"/>
            <a:chExt cx="69790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二维随机变量函数的分布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790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25 与例 26　最大最小值，以及反过来填表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card-1"/>
          <p:cNvGrpSpPr/>
          <p:nvPr/>
        </p:nvGrpSpPr>
        <p:grpSpPr>
          <a:xfrm>
            <a:off x="533400" y="1524000"/>
            <a:ext cx="5410200" cy="4010978"/>
            <a:chOff x="533400" y="1524000"/>
            <a:chExt cx="5410200" cy="40109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10978"/>
            </a:xfrm>
            <a:prstGeom prst="roundRect">
              <a:avLst>
                <a:gd name="adj" fmla="val 33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7442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3911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560" y="1750695"/>
              <a:ext cx="359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10462" y="1756410"/>
              <a:ext cx="2893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max(X, Y) 与 N = min(X, Y)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6771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与 Y 独立同分布，都以 1/3 的概率取 1、2、3。先写出联合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分布律：九个格子每格都是 1/9。再逐格代入 max 与 min。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3905" y="2627948"/>
              <a:ext cx="498729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05598" y="27522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09189" y="27522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06481" y="27522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03774" y="27522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3918" y="3158014"/>
              <a:ext cx="685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P{M = k}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60282" y="315801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57575" y="315801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3/9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53915" y="315801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5/9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3905" y="3434715"/>
              <a:ext cx="498729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3905" y="3439478"/>
              <a:ext cx="498729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3918" y="3563779"/>
              <a:ext cx="652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P{N = k}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60282" y="356377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5/9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57575" y="356377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3/9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53915" y="356377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1/9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3905" y="2627948"/>
              <a:ext cx="4987290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155508" y="262794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352800" y="262794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549140" y="262794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8190" y="3950494"/>
              <a:ext cx="47409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 = 3 对应五个格子（第 3 行三个加第 3 列两个），M = 2 对应三个，M = 1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只有一个。min 的分布恰好是它的镜像。</a:t>
              </a:r>
            </a:p>
          </p:txBody>
        </p:sp>
      </p:grpSp>
      <p:grpSp>
        <p:nvGrpSpPr>
          <p:cNvPr id="70" name="c2-card-1"/>
          <p:cNvGrpSpPr/>
          <p:nvPr/>
        </p:nvGrpSpPr>
        <p:grpSpPr>
          <a:xfrm>
            <a:off x="6248400" y="1524000"/>
            <a:ext cx="5410200" cy="4010978"/>
            <a:chOff x="6248400" y="1524000"/>
            <a:chExt cx="5410200" cy="4010978"/>
          </a:xfrm>
        </p:grpSpPr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4010978"/>
            </a:xfrm>
            <a:prstGeom prst="roundRect">
              <a:avLst>
                <a:gd name="adj" fmla="val 33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1657350"/>
              <a:ext cx="47625" cy="37442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8905" y="1716405"/>
              <a:ext cx="53911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68560" y="1750695"/>
              <a:ext cx="359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25462" y="1756410"/>
              <a:ext cx="3122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X、Y、XY 的分布，反求联合分布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2047" y="2090738"/>
              <a:ext cx="472001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取 0、1、2 的概率为 1/2、1/3、1/6；Y 取 0、1、2 的概率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都是 1/3；XY 取 0、1、2、4 的概率为 7/12、1/3、0、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1/12。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2047" y="2907030"/>
              <a:ext cx="457428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P{XY = 2} = 0 得 p₁₂ = p₂₁ = 0；由 P{XY = 4} = 1/12 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p₂₂ = 1/12；由 P{XY = 1} = 1/3 得 p₁₁ = 1/3。行和列和一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补，整张表就定死了。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78905" y="3701415"/>
              <a:ext cx="498729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54730" y="3825716"/>
              <a:ext cx="446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＼ 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26031" y="38257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23299" y="38257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920566" y="38257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10596" y="38257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78917" y="4231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76185" y="423148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73452" y="42314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71672" y="423148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568940" y="423148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78905" y="4508182"/>
              <a:ext cx="498729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78905" y="4512945"/>
              <a:ext cx="498729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78917" y="46372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76185" y="463724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73452" y="463724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71672" y="463724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568940" y="463724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78905" y="4913948"/>
              <a:ext cx="498729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78917" y="50430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76185" y="504301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73452" y="504301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571672" y="504301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568940" y="504301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478905" y="3701415"/>
              <a:ext cx="498729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471410" y="370141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468678" y="370141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466898" y="370141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10464165" y="370141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1" name="Rectangle 7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892" y="6023610"/>
              <a:ext cx="86455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26 源课件只给了题面没有给解答，这张表与推理是本讲义补的，已用行和、列和与 XY 的分布三重复核。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52870" cy="909257"/>
            <a:chOff x="520446" y="342900"/>
            <a:chExt cx="70528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二维随机变量函数的分布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528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27　连续型的通法：先算分布函数，再求导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977765" cy="3718560"/>
            <a:chOff x="533400" y="1524000"/>
            <a:chExt cx="4977765" cy="37185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718560"/>
            </a:xfrm>
            <a:prstGeom prst="roundRect">
              <a:avLst>
                <a:gd name="adj" fmla="val 35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45186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分布函数法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253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(X, Y) 为连续型，联合密度 f(x, y) 已知，Z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g(X, Y)。先把事件 {Z ≤ z} 翻译成平面上的区域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22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4520565" cy="4533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∬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299460"/>
              <a:ext cx="4234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再对 z 求导得到密度。难点还是那个老问题：把区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域 D_z 随 z 的变化分段描述清楚。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5815965" y="1524000"/>
            <a:ext cx="5842635" cy="2994660"/>
            <a:chOff x="5815965" y="1524000"/>
            <a:chExt cx="5842635" cy="2994660"/>
          </a:xfrm>
        </p:grpSpPr>
        <p:sp>
          <p:nvSpPr>
            <p:cNvPr id="16" name="Rectangle 16"/>
            <p:cNvSpPr/>
            <p:nvPr/>
          </p:nvSpPr>
          <p:spPr>
            <a:xfrm>
              <a:off x="5815965" y="1524000"/>
              <a:ext cx="5842635" cy="2994660"/>
            </a:xfrm>
            <a:prstGeom prst="roundRect">
              <a:avLst>
                <a:gd name="adj" fmla="val 44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825490" y="1657350"/>
              <a:ext cx="47625" cy="27279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63615" y="1733550"/>
              <a:ext cx="56102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51729" y="1769269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27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30365" y="1768792"/>
              <a:ext cx="41460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= √(X² + Y²)，X 与 Y 独立同为 N(0, σ²)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55995" y="2129790"/>
              <a:ext cx="4977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联合密度 f(x, y) = e^(−(x²+y²)/(2σ²))/(2πσ²)。z ≤ 0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 {Z ≤ z} 是不可能事件，F_Z(z) = 0。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55995" y="2750820"/>
              <a:ext cx="5177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&gt; 0 时区域是半径为 z 的圆盘，换极坐标后 θ 积出 2π，r 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一段凑微分得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123"/>
                <p:cNvSpPr txBox="1">
                  <a:spLocks noGrp="1"/>
                </p:cNvSpPr>
                <p:nvPr/>
              </p:nvSpPr>
              <p:spPr>
                <a:xfrm>
                  <a:off x="6063615" y="3347085"/>
                  <a:ext cx="5385435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z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&gt;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4" name="TextBox 24"/>
            <p:cNvSpPr txBox="1"/>
            <p:nvPr/>
          </p:nvSpPr>
          <p:spPr>
            <a:xfrm>
              <a:off x="6057138" y="3875246"/>
              <a:ext cx="50766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这个分布叫瑞利分布，描述平面上射击落点到靶心的距离，参数 σ 就是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单个坐标的标准差。</a:t>
              </a:r>
            </a:p>
          </p:txBody>
        </p:sp>
      </p:grpSp>
      <p:grpSp>
        <p:nvGrpSpPr>
          <p:cNvPr id="31" name="c2-callout-2"/>
          <p:cNvGrpSpPr/>
          <p:nvPr/>
        </p:nvGrpSpPr>
        <p:grpSpPr>
          <a:xfrm>
            <a:off x="5815965" y="4709160"/>
            <a:ext cx="5842635" cy="533400"/>
            <a:chOff x="5815965" y="4709160"/>
            <a:chExt cx="5842635" cy="533400"/>
          </a:xfrm>
        </p:grpSpPr>
        <p:sp>
          <p:nvSpPr>
            <p:cNvPr id="26" name="Rectangle 26"/>
            <p:cNvSpPr/>
            <p:nvPr/>
          </p:nvSpPr>
          <p:spPr>
            <a:xfrm>
              <a:off x="5815965" y="4709160"/>
              <a:ext cx="5842635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020753" y="4875848"/>
              <a:ext cx="200026" cy="200026"/>
              <a:chOff x="6020753" y="4875848"/>
              <a:chExt cx="200026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020753" y="48758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087428" y="495363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6322695" y="4871085"/>
              <a:ext cx="3559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已用 sympy 的极坐标积分与求导复核。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2" name="Rectangle 3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991225"/>
              <a:ext cx="96993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分布函数法对任何 g 都能用，代价是要分段讨论。碰上 Z = X + Y 这种常见情形，下一页的卷积公式更省事。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92909" cy="909257"/>
            <a:chOff x="520446" y="342900"/>
            <a:chExt cx="59929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二维随机变量函数的分布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929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= X + Y：从半平面的概率到卷积公式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nvA"/>
          <p:cNvGrpSpPr/>
          <p:nvPr/>
        </p:nvGrpSpPr>
        <p:grpSpPr>
          <a:xfrm>
            <a:off x="533400" y="1524000"/>
            <a:ext cx="5524500" cy="4762500"/>
            <a:chOff x="533400" y="1524000"/>
            <a:chExt cx="5524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30081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Z = X + Y：先算半平面的概率，再求导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4008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直线 x + y = z 把平面切成两半，F_Z(z) 就是左下那半的概率。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1543050" y="2438400"/>
              <a:ext cx="2518829" cy="2133600"/>
            </a:xfrm>
            <a:custGeom>
              <a:avLst/>
              <a:gdLst/>
              <a:ahLst/>
              <a:cxnLst/>
              <a:rect l="l" t="t" r="r" b="b"/>
              <a:pathLst>
                <a:path w="2518829" h="2133600">
                  <a:moveTo>
                    <a:pt x="0" y="0"/>
                  </a:moveTo>
                  <a:lnTo>
                    <a:pt x="2518829" y="2133600"/>
                  </a:lnTo>
                  <a:lnTo>
                    <a:pt x="0" y="2133600"/>
                  </a:lnTo>
                  <a:close/>
                </a:path>
              </a:pathLst>
            </a:custGeom>
            <a:solidFill>
              <a:srgbClr val="D6DFF3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1543050" y="3567951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4257675" y="3537947"/>
              <a:ext cx="66675" cy="60008"/>
            </a:xfrm>
            <a:custGeom>
              <a:avLst/>
              <a:gdLst/>
              <a:ahLst/>
              <a:cxnLst/>
              <a:rect l="l" t="t" r="r" b="b"/>
              <a:pathLst>
                <a:path w="66675" h="60008">
                  <a:moveTo>
                    <a:pt x="66675" y="30004"/>
                  </a:moveTo>
                  <a:lnTo>
                    <a:pt x="0" y="60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2802465" y="2390775"/>
              <a:ext cx="9525" cy="2181225"/>
            </a:xfrm>
            <a:custGeom>
              <a:avLst/>
              <a:gdLst/>
              <a:ahLst/>
              <a:cxnLst/>
              <a:rect l="l" t="t" r="r" b="b"/>
              <a:pathLst>
                <a:path w="9525" h="2181225">
                  <a:moveTo>
                    <a:pt x="0" y="21812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2772461" y="2324100"/>
              <a:ext cx="60008" cy="66675"/>
            </a:xfrm>
            <a:custGeom>
              <a:avLst/>
              <a:gdLst/>
              <a:ahLst/>
              <a:cxnLst/>
              <a:rect l="l" t="t" r="r" b="b"/>
              <a:pathLst>
                <a:path w="60008" h="66675">
                  <a:moveTo>
                    <a:pt x="30004" y="0"/>
                  </a:moveTo>
                  <a:lnTo>
                    <a:pt x="6000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366641" y="35022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73331" y="2229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40463" y="362462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1543050" y="2438400"/>
              <a:ext cx="2518829" cy="2133600"/>
            </a:xfrm>
            <a:custGeom>
              <a:avLst/>
              <a:gdLst/>
              <a:ahLst/>
              <a:cxnLst/>
              <a:rect l="l" t="t" r="r" b="b"/>
              <a:pathLst>
                <a:path w="2518829" h="2133600">
                  <a:moveTo>
                    <a:pt x="0" y="0"/>
                  </a:moveTo>
                  <a:lnTo>
                    <a:pt x="2518829" y="2133600"/>
                  </a:lnTo>
                </a:path>
              </a:pathLst>
            </a:custGeom>
            <a:noFill/>
            <a:ln w="19050">
              <a:solidFill>
                <a:srgbClr val="C2410C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2357971" y="3128686"/>
              <a:ext cx="9525" cy="1380563"/>
            </a:xfrm>
            <a:custGeom>
              <a:avLst/>
              <a:gdLst/>
              <a:ahLst/>
              <a:cxnLst/>
              <a:rect l="l" t="t" r="r" b="b"/>
              <a:pathLst>
                <a:path w="9525" h="1380563">
                  <a:moveTo>
                    <a:pt x="0" y="1380563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323681" y="3094396"/>
              <a:ext cx="68580" cy="6858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648844" y="4239016"/>
              <a:ext cx="596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 + y ≤ z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04997" y="3650961"/>
              <a:ext cx="5570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 + y = z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54287" y="3811895"/>
              <a:ext cx="53436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y → z − x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23900" y="5257800"/>
              <a:ext cx="5143500" cy="8382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33425" y="5362575"/>
              <a:ext cx="47625" cy="6286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95350" y="5362575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96315" y="54159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9826" y="5673804"/>
              <a:ext cx="3762502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先固定 x，对 y 积到 z − x，再换元 y = u − x 交换积分次序；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z 求导即得 f_Z(z) = ∫ f(x, z − x)dx。</a:t>
              </a:r>
            </a:p>
          </p:txBody>
        </p:sp>
      </p:grpSp>
      <p:grpSp>
        <p:nvGrpSpPr>
          <p:cNvPr id="68" name="cnvB"/>
          <p:cNvGrpSpPr/>
          <p:nvPr/>
        </p:nvGrpSpPr>
        <p:grpSpPr>
          <a:xfrm>
            <a:off x="6210300" y="1524000"/>
            <a:ext cx="5448300" cy="4762500"/>
            <a:chOff x="6210300" y="1524000"/>
            <a:chExt cx="5448300" cy="4762500"/>
          </a:xfrm>
        </p:grpSpPr>
        <p:sp>
          <p:nvSpPr>
            <p:cNvPr id="30" name="Rectangle 30"/>
            <p:cNvSpPr/>
            <p:nvPr/>
          </p:nvSpPr>
          <p:spPr>
            <a:xfrm>
              <a:off x="6210300" y="1524000"/>
              <a:ext cx="54483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94323" y="1662589"/>
              <a:ext cx="25390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两个 U(0, 1) 之和：定限与结果</a:t>
              </a:r>
            </a:p>
          </p:txBody>
        </p:sp>
        <p:sp>
          <p:nvSpPr>
            <p:cNvPr id="32" name="Polygon 32"/>
            <p:cNvSpPr/>
            <p:nvPr/>
          </p:nvSpPr>
          <p:spPr>
            <a:xfrm>
              <a:off x="7651404" y="2465718"/>
              <a:ext cx="1287161" cy="690115"/>
            </a:xfrm>
            <a:custGeom>
              <a:avLst/>
              <a:gdLst/>
              <a:ahLst/>
              <a:cxnLst/>
              <a:rect l="l" t="t" r="r" b="b"/>
              <a:pathLst>
                <a:path w="1287161" h="690115">
                  <a:moveTo>
                    <a:pt x="0" y="690115"/>
                  </a:moveTo>
                  <a:lnTo>
                    <a:pt x="1287161" y="345053"/>
                  </a:lnTo>
                  <a:lnTo>
                    <a:pt x="1287161" y="0"/>
                  </a:lnTo>
                  <a:lnTo>
                    <a:pt x="0" y="345053"/>
                  </a:lnTo>
                  <a:close/>
                </a:path>
              </a:pathLst>
            </a:custGeom>
            <a:solidFill>
              <a:srgbClr val="D6DFF3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7200900" y="3155833"/>
              <a:ext cx="2409825" cy="9525"/>
            </a:xfrm>
            <a:custGeom>
              <a:avLst/>
              <a:gdLst/>
              <a:ahLst/>
              <a:cxnLst/>
              <a:rect l="l" t="t" r="r" b="b"/>
              <a:pathLst>
                <a:path w="2409825" h="9525">
                  <a:moveTo>
                    <a:pt x="0" y="0"/>
                  </a:moveTo>
                  <a:lnTo>
                    <a:pt x="240982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9610725" y="3125829"/>
              <a:ext cx="66675" cy="60008"/>
            </a:xfrm>
            <a:custGeom>
              <a:avLst/>
              <a:gdLst/>
              <a:ahLst/>
              <a:cxnLst/>
              <a:rect l="l" t="t" r="r" b="b"/>
              <a:pathLst>
                <a:path w="66675" h="60008">
                  <a:moveTo>
                    <a:pt x="66675" y="30004"/>
                  </a:moveTo>
                  <a:lnTo>
                    <a:pt x="0" y="60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7651404" y="2333625"/>
              <a:ext cx="9525" cy="942975"/>
            </a:xfrm>
            <a:custGeom>
              <a:avLst/>
              <a:gdLst/>
              <a:ahLst/>
              <a:cxnLst/>
              <a:rect l="l" t="t" r="r" b="b"/>
              <a:pathLst>
                <a:path w="9525" h="942975">
                  <a:moveTo>
                    <a:pt x="0" y="9429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7621400" y="226695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719691" y="3090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22270" y="21726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89403" y="3212506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7393972" y="2707253"/>
              <a:ext cx="1930746" cy="517588"/>
            </a:xfrm>
            <a:custGeom>
              <a:avLst/>
              <a:gdLst/>
              <a:ahLst/>
              <a:cxnLst/>
              <a:rect l="l" t="t" r="r" b="b"/>
              <a:pathLst>
                <a:path w="1930746" h="517588">
                  <a:moveTo>
                    <a:pt x="0" y="517588"/>
                  </a:moveTo>
                  <a:lnTo>
                    <a:pt x="1930746" y="0"/>
                  </a:lnTo>
                </a:path>
              </a:pathLst>
            </a:custGeom>
            <a:noFill/>
            <a:ln w="17145">
              <a:solidFill>
                <a:srgbClr val="C2410C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393972" y="2362200"/>
              <a:ext cx="1930746" cy="517588"/>
            </a:xfrm>
            <a:custGeom>
              <a:avLst/>
              <a:gdLst/>
              <a:ahLst/>
              <a:cxnLst/>
              <a:rect l="l" t="t" r="r" b="b"/>
              <a:pathLst>
                <a:path w="1930746" h="517588">
                  <a:moveTo>
                    <a:pt x="0" y="517588"/>
                  </a:moveTo>
                  <a:lnTo>
                    <a:pt x="1930746" y="0"/>
                  </a:lnTo>
                </a:path>
              </a:pathLst>
            </a:custGeom>
            <a:noFill/>
            <a:ln w="17145">
              <a:solidFill>
                <a:srgbClr val="0F7A68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8938565" y="3155833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897332" y="323155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7603779" y="2465718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88166" y="240332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36777" y="2810237"/>
              <a:ext cx="2957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z = x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44684" y="2361657"/>
              <a:ext cx="51202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z = x + 1</a:t>
              </a:r>
            </a:p>
          </p:txBody>
        </p:sp>
        <p:sp>
          <p:nvSpPr>
            <p:cNvPr id="48" name="Polygon 48"/>
            <p:cNvSpPr/>
            <p:nvPr/>
          </p:nvSpPr>
          <p:spPr>
            <a:xfrm>
              <a:off x="7460675" y="4236472"/>
              <a:ext cx="1731816" cy="565356"/>
            </a:xfrm>
            <a:custGeom>
              <a:avLst/>
              <a:gdLst/>
              <a:ahLst/>
              <a:cxnLst/>
              <a:rect l="l" t="t" r="r" b="b"/>
              <a:pathLst>
                <a:path w="1731816" h="565356">
                  <a:moveTo>
                    <a:pt x="0" y="565356"/>
                  </a:moveTo>
                  <a:lnTo>
                    <a:pt x="865908" y="0"/>
                  </a:lnTo>
                  <a:lnTo>
                    <a:pt x="1731816" y="565356"/>
                  </a:lnTo>
                  <a:close/>
                </a:path>
              </a:pathLst>
            </a:custGeom>
            <a:solidFill>
              <a:srgbClr val="A9BBE4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7200900" y="4801829"/>
              <a:ext cx="2409825" cy="9525"/>
            </a:xfrm>
            <a:custGeom>
              <a:avLst/>
              <a:gdLst/>
              <a:ahLst/>
              <a:cxnLst/>
              <a:rect l="l" t="t" r="r" b="b"/>
              <a:pathLst>
                <a:path w="2409825" h="9525">
                  <a:moveTo>
                    <a:pt x="0" y="0"/>
                  </a:moveTo>
                  <a:lnTo>
                    <a:pt x="240982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9610725" y="4771825"/>
              <a:ext cx="66675" cy="60008"/>
            </a:xfrm>
            <a:custGeom>
              <a:avLst/>
              <a:gdLst/>
              <a:ahLst/>
              <a:cxnLst/>
              <a:rect l="l" t="t" r="r" b="b"/>
              <a:pathLst>
                <a:path w="66675" h="60008">
                  <a:moveTo>
                    <a:pt x="66675" y="30004"/>
                  </a:moveTo>
                  <a:lnTo>
                    <a:pt x="0" y="60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51" name="Line 51"/>
            <p:cNvSpPr/>
            <p:nvPr/>
          </p:nvSpPr>
          <p:spPr>
            <a:xfrm>
              <a:off x="7460675" y="4010025"/>
              <a:ext cx="9525" cy="904875"/>
            </a:xfrm>
            <a:custGeom>
              <a:avLst/>
              <a:gdLst/>
              <a:ahLst/>
              <a:cxnLst/>
              <a:rect l="l" t="t" r="r" b="b"/>
              <a:pathLst>
                <a:path w="9525" h="904875">
                  <a:moveTo>
                    <a:pt x="0" y="9048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7430672" y="394335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719691" y="4736106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31541" y="3849052"/>
              <a:ext cx="2504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f_Z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98674" y="4858502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7460675" y="4236472"/>
              <a:ext cx="1731816" cy="565356"/>
            </a:xfrm>
            <a:custGeom>
              <a:avLst/>
              <a:gdLst/>
              <a:ahLst/>
              <a:cxnLst/>
              <a:rect l="l" t="t" r="r" b="b"/>
              <a:pathLst>
                <a:path w="1731816" h="565356">
                  <a:moveTo>
                    <a:pt x="0" y="565356"/>
                  </a:moveTo>
                  <a:lnTo>
                    <a:pt x="865908" y="0"/>
                  </a:lnTo>
                  <a:lnTo>
                    <a:pt x="1731816" y="565356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8326584" y="4801829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285350" y="4877552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9192492" y="4801829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151259" y="4877552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7413050" y="4236472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297437" y="417408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00800" y="5295900"/>
              <a:ext cx="5067300" cy="800100"/>
            </a:xfrm>
            <a:prstGeom prst="roundRect">
              <a:avLst>
                <a:gd name="adj" fmla="val 119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10325" y="5400675"/>
              <a:ext cx="47625" cy="5905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572250" y="5400675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73215" y="54540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66726" y="5711904"/>
              <a:ext cx="3444113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z &lt; 1 时 f_Z(z) = z；1 ≤ z &lt; 2 时 f_Z(z) = 2 − z；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两段拼成一个等腰三角形，这就是辛普森分布。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79746" cy="909257"/>
            <a:chOff x="520446" y="342900"/>
            <a:chExt cx="56797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二维随机变量函数的分布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797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28　卷积公式与两个均匀分布之和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977765" cy="3880485"/>
            <a:chOff x="533400" y="1524000"/>
            <a:chExt cx="4977765" cy="38804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880485"/>
            </a:xfrm>
            <a:prstGeom prst="roundRect">
              <a:avLst>
                <a:gd name="adj" fmla="val 34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61378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和的密度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2947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对一般的 (X, Y)，Z = X + Y 的密度为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36"/>
                <p:cNvSpPr txBox="1">
                  <a:spLocks noGrp="1"/>
                </p:cNvSpPr>
                <p:nvPr/>
              </p:nvSpPr>
              <p:spPr>
                <a:xfrm>
                  <a:off x="752475" y="2325052"/>
                  <a:ext cx="4577715" cy="373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45998" y="2800826"/>
              <a:ext cx="4567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 X 与 Y 相互独立时联合密度可以拆开，上式变成卷积公式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37"/>
                <p:cNvSpPr txBox="1">
                  <a:spLocks noGrp="1"/>
                </p:cNvSpPr>
                <p:nvPr/>
              </p:nvSpPr>
              <p:spPr>
                <a:xfrm>
                  <a:off x="752475" y="3064192"/>
                  <a:ext cx="4577715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45998" y="3593306"/>
              <a:ext cx="4361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记作 f_X ∗ f_Y。两个位置对称，哪个函数好积就把哪个留作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f_Y。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5815965" y="1524000"/>
            <a:ext cx="5842635" cy="3012758"/>
            <a:chOff x="5815965" y="1524000"/>
            <a:chExt cx="5842635" cy="3012758"/>
          </a:xfrm>
        </p:grpSpPr>
        <p:sp>
          <p:nvSpPr>
            <p:cNvPr id="18" name="Rectangle 18"/>
            <p:cNvSpPr/>
            <p:nvPr/>
          </p:nvSpPr>
          <p:spPr>
            <a:xfrm>
              <a:off x="5815965" y="1524000"/>
              <a:ext cx="5842635" cy="3012758"/>
            </a:xfrm>
            <a:prstGeom prst="roundRect">
              <a:avLst>
                <a:gd name="adj" fmla="val 44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825490" y="1657350"/>
              <a:ext cx="47625" cy="27460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35040" y="1704975"/>
              <a:ext cx="5172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125284" y="1737836"/>
              <a:ext cx="335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59118" y="1744504"/>
              <a:ext cx="23470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与 Y 独立且都服从 U(0, 1)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28563" y="2061686"/>
              <a:ext cx="5092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被积函数 f_X(x)f_Y(z − x) 非零要求 0 &lt; x &lt; 1 且 0 &lt; z − x &lt; 1，即 x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同时落在 (0, 1) 与 (z − 1, z) 里。按 z 分三段：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35040" y="2567940"/>
              <a:ext cx="544258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70894" y="2685098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 的范围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50926" y="2685098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的积分限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52195" y="2685098"/>
              <a:ext cx="5096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f_Z(z)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29719" y="3067050"/>
              <a:ext cx="908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&lt; 0 或 z ≥ 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62304" y="30670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两区间不相交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30181" y="30670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35040" y="3326130"/>
              <a:ext cx="544258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35040" y="3330892"/>
              <a:ext cx="544258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9719" y="3448050"/>
              <a:ext cx="596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z &lt; 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62304" y="3448050"/>
              <a:ext cx="3923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到 z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30181" y="34480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35040" y="3707130"/>
              <a:ext cx="544258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29719" y="3830002"/>
              <a:ext cx="596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≤ z &lt; 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62304" y="3830002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− 1 到 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30181" y="3830002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2 − z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35040" y="2567940"/>
              <a:ext cx="5442585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62862" y="256794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730740" y="256794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29706" y="4191952"/>
              <a:ext cx="50074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密度是 [0, 2] 上的等腰三角形，在 z = 1 处取到最大值 1，这就是辛普森分布。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5815965" y="4701540"/>
            <a:ext cx="5842635" cy="702945"/>
            <a:chOff x="5815965" y="4701540"/>
            <a:chExt cx="5842635" cy="702945"/>
          </a:xfrm>
        </p:grpSpPr>
        <p:sp>
          <p:nvSpPr>
            <p:cNvPr id="45" name="Rectangle 45"/>
            <p:cNvSpPr/>
            <p:nvPr/>
          </p:nvSpPr>
          <p:spPr>
            <a:xfrm>
              <a:off x="5815965" y="4701540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020753" y="4953000"/>
              <a:ext cx="200026" cy="200026"/>
              <a:chOff x="6020753" y="4953000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020753" y="49530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087428" y="503078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323838" y="4846796"/>
              <a:ext cx="48653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分布函数法的结果完全一致：0 ≤ z &lt; 1 时 F_Z(z) = z²/2，1 ≤ z &lt;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 时 F_Z(z) = 1 − (2 − z)²/2，求导即得上表，已用 sympy 复核。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1" name="Rectangle 5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1273" y="6039326"/>
              <a:ext cx="79910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卷积公式的全部工作量都在定限。把两个非零条件写成关于 x 的不等式组，再按 z 分段，顺序千万别乱。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二维随机变量函数的分布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正态分布的可加性与线性组合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2347912"/>
            <a:chOff x="533400" y="1524000"/>
            <a:chExt cx="5626418" cy="23479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347912"/>
            </a:xfrm>
            <a:prstGeom prst="roundRect">
              <a:avLst>
                <a:gd name="adj" fmla="val 56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812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推导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两个标准正态之和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80250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X、Y 独立且都服从 N(0, 1)。代入卷积公式，指数里把 x² +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(z − x)² 配方成 2(x − z/2)² + z²/2：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41"/>
                <p:cNvSpPr txBox="1">
                  <a:spLocks noGrp="1"/>
                </p:cNvSpPr>
                <p:nvPr/>
              </p:nvSpPr>
              <p:spPr>
                <a:xfrm>
                  <a:off x="769620" y="2666048"/>
                  <a:ext cx="5192078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2π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den>
                            </m:f>
                          </m:sup>
                        </m:sSup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/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e>
                            </m:rad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den>
                            </m:f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2381" y="3179921"/>
              <a:ext cx="424345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对照正态密度可知 Z ~ N(0, 2)。积分那一步用的是 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e^(−t²)dt = √π。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4051935"/>
            <a:ext cx="5626418" cy="1579245"/>
            <a:chOff x="533400" y="4051935"/>
            <a:chExt cx="5626418" cy="1579245"/>
          </a:xfrm>
        </p:grpSpPr>
        <p:sp>
          <p:nvSpPr>
            <p:cNvPr id="16" name="Rectangle 16"/>
            <p:cNvSpPr/>
            <p:nvPr/>
          </p:nvSpPr>
          <p:spPr>
            <a:xfrm>
              <a:off x="533400" y="4051935"/>
              <a:ext cx="5626418" cy="1579245"/>
            </a:xfrm>
            <a:prstGeom prst="roundRect">
              <a:avLst>
                <a:gd name="adj" fmla="val 7238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741547"/>
              <a:ext cx="200023" cy="200023"/>
              <a:chOff x="738188" y="4741547"/>
              <a:chExt cx="200023" cy="20002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7415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71538" y="4808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511" y="4610576"/>
              <a:ext cx="473036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配方是这一步的关键：把含 x 的部分凑成完全平方，剩下的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只含 z，就能提到积分号外面。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464618" y="1524000"/>
            <a:ext cx="5193982" cy="2675572"/>
            <a:chOff x="6464618" y="1524000"/>
            <a:chExt cx="5193982" cy="2675572"/>
          </a:xfrm>
        </p:grpSpPr>
        <p:sp>
          <p:nvSpPr>
            <p:cNvPr id="22" name="Rectangle 22"/>
            <p:cNvSpPr/>
            <p:nvPr/>
          </p:nvSpPr>
          <p:spPr>
            <a:xfrm>
              <a:off x="6464618" y="1524000"/>
              <a:ext cx="5193982" cy="2675572"/>
            </a:xfrm>
            <a:prstGeom prst="roundRect">
              <a:avLst>
                <a:gd name="adj" fmla="val 49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74142" y="1657350"/>
              <a:ext cx="47625" cy="240887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700838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92278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84148" y="175688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三条可以直接引用的结果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701790" y="208883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60135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91731" y="2100739"/>
              <a:ext cx="411721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N(μ₁, σ₁²)、Y ~ N(μ₂, σ₂²) 且独立，则 X + Y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~ N(μ₁ + μ₂, σ₁² + σ₂²)。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701790" y="2677477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60135" y="27178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91731" y="2690336"/>
              <a:ext cx="390080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更一般地 c₁X + c₂Y ~ N(c₁μ₁ + c₂μ₂, c₁²σ₁² +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c₂²σ₂²)。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701790" y="326707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60135" y="330646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91731" y="3278981"/>
              <a:ext cx="44133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单个正态的线性变换 aX + b ~ N(aμ₁ + b, a²σ₁²)。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94742" y="3592830"/>
              <a:ext cx="45841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有限个独立正态的任何线性组合仍然是正态，只要把均值和方差按上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面的规则算出来即可。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464618" y="4379595"/>
            <a:ext cx="5193982" cy="1250632"/>
            <a:chOff x="6464618" y="4379595"/>
            <a:chExt cx="5193982" cy="1250632"/>
          </a:xfrm>
        </p:grpSpPr>
        <p:sp>
          <p:nvSpPr>
            <p:cNvPr id="38" name="Rectangle 38"/>
            <p:cNvSpPr/>
            <p:nvPr/>
          </p:nvSpPr>
          <p:spPr>
            <a:xfrm>
              <a:off x="6464618" y="4379595"/>
              <a:ext cx="5193982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4142" y="4512945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700838" y="457771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68274" y="461200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方差不是直接相加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93598" y="493918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系数要平方。X − Y 的方差是 σ₁² + σ₂² 而不是 σ₁²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σ₂²，因为 c₂ = −1 平方后是 +1。差的方差也是相加的。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4" name="Rectangle 44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511" y="6011704"/>
              <a:ext cx="73359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这三条在第 5 章的中心极限定理和第 6 章的抽样分布里会不断使用，值得直接背下来。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09589" cy="909257"/>
            <a:chOff x="520446" y="342900"/>
            <a:chExt cx="67095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二维随机变量函数的分布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095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29　均匀加指数：定限画图法把分段找齐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143952"/>
            <a:chOff x="533400" y="1524000"/>
            <a:chExt cx="4977765" cy="11439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172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19" y="1737836"/>
              <a:ext cx="335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1582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与 Y 相互独立，X 的密度为 1（0 &lt; x &lt; 1），Y 的密度为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e^(−y)（y &gt; 0）。求 Z = X + Y 的概率密度。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832735"/>
            <a:ext cx="4977765" cy="2829878"/>
            <a:chOff x="533400" y="2832735"/>
            <a:chExt cx="4977765" cy="2829878"/>
          </a:xfrm>
        </p:grpSpPr>
        <p:sp>
          <p:nvSpPr>
            <p:cNvPr id="13" name="Rectangle 13"/>
            <p:cNvSpPr/>
            <p:nvPr/>
          </p:nvSpPr>
          <p:spPr>
            <a:xfrm>
              <a:off x="533400" y="2832735"/>
              <a:ext cx="4977765" cy="2829878"/>
            </a:xfrm>
            <a:prstGeom prst="roundRect">
              <a:avLst>
                <a:gd name="adj" fmla="val 47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2966085"/>
              <a:ext cx="47625" cy="256317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2475" y="301371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3946" y="304657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定限画图法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5998" y="3354229"/>
              <a:ext cx="4393946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x-z 平面上画出两个非零条件：0 &lt; x &lt; 1 是一条竖直带，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&lt; z − x 即 z &gt; x 是直线 z = x 上方的半平面。两者的公共部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分是一条斜向上的带子，用水平线 z = 常数去截它，截出的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区间就是积分限。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5811012" y="1524000"/>
            <a:ext cx="5847588" cy="1789461"/>
            <a:chOff x="5811012" y="1524000"/>
            <a:chExt cx="5847588" cy="1789461"/>
          </a:xfrm>
        </p:grpSpPr>
        <p:sp>
          <p:nvSpPr>
            <p:cNvPr id="19" name="Rectangle 19"/>
            <p:cNvSpPr/>
            <p:nvPr/>
          </p:nvSpPr>
          <p:spPr>
            <a:xfrm>
              <a:off x="5815965" y="1524000"/>
              <a:ext cx="584263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77512" y="1641157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 的范围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50814" y="1641157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的积分限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3312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被积函数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644612" y="1641157"/>
              <a:ext cx="5096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f_Z(z)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10644" y="2023110"/>
              <a:ext cx="344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≤ 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95566" y="2023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无交集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97646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34041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815965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815965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10644" y="2404110"/>
              <a:ext cx="596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&lt; z &lt; 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95566" y="2404110"/>
              <a:ext cx="3923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到 z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97646" y="2404110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e^(−(z−x))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34041" y="2404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 e^(−z)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15965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10644" y="2785110"/>
              <a:ext cx="344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≥ 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95566" y="2785110"/>
              <a:ext cx="3923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到 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97646" y="2785110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e^(−(z−x))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234041" y="2785110"/>
              <a:ext cx="9506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(e − 1)e^(−z)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1524000"/>
              <a:ext cx="5842635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096125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498205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134600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11012" y="3122771"/>
              <a:ext cx="10851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 z 的位置分三段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5815965" y="3439478"/>
            <a:ext cx="5842635" cy="1355408"/>
            <a:chOff x="5815965" y="3439478"/>
            <a:chExt cx="5842635" cy="1355408"/>
          </a:xfrm>
        </p:grpSpPr>
        <p:sp>
          <p:nvSpPr>
            <p:cNvPr id="45" name="Rectangle 45"/>
            <p:cNvSpPr/>
            <p:nvPr/>
          </p:nvSpPr>
          <p:spPr>
            <a:xfrm>
              <a:off x="5815965" y="3439478"/>
              <a:ext cx="5842635" cy="1355408"/>
            </a:xfrm>
            <a:prstGeom prst="roundRect">
              <a:avLst>
                <a:gd name="adj" fmla="val 983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996940" y="3620452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070308" y="365331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中间一段的算式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formula148"/>
                <p:cNvSpPr txBox="1">
                  <a:spLocks noGrp="1"/>
                </p:cNvSpPr>
                <p:nvPr/>
              </p:nvSpPr>
              <p:spPr>
                <a:xfrm>
                  <a:off x="5996940" y="3939540"/>
                  <a:ext cx="5480685" cy="373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p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p>
                        </m:sSup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p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9" name="TextBox 49"/>
            <p:cNvSpPr txBox="1"/>
            <p:nvPr/>
          </p:nvSpPr>
          <p:spPr>
            <a:xfrm>
              <a:off x="5990463" y="4415314"/>
              <a:ext cx="33472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 ≥ 1 时上限换成 1，积出 e^(−z)(e − 1)。</a:t>
              </a:r>
            </a:p>
          </p:txBody>
        </p:sp>
      </p:grpSp>
      <p:grpSp>
        <p:nvGrpSpPr>
          <p:cNvPr id="56" name="c2-callout-3"/>
          <p:cNvGrpSpPr/>
          <p:nvPr/>
        </p:nvGrpSpPr>
        <p:grpSpPr>
          <a:xfrm>
            <a:off x="5815965" y="4960620"/>
            <a:ext cx="5842635" cy="702945"/>
            <a:chOff x="5815965" y="4960620"/>
            <a:chExt cx="5842635" cy="702945"/>
          </a:xfrm>
        </p:grpSpPr>
        <p:sp>
          <p:nvSpPr>
            <p:cNvPr id="51" name="Rectangle 51"/>
            <p:cNvSpPr/>
            <p:nvPr/>
          </p:nvSpPr>
          <p:spPr>
            <a:xfrm>
              <a:off x="5815965" y="4960620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020753" y="5211128"/>
              <a:ext cx="200026" cy="200026"/>
              <a:chOff x="6020753" y="5211128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020753" y="52111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087428" y="528891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323838" y="5104924"/>
              <a:ext cx="47922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两段密度合起来的积分等于 1，已用 sympy 复核。用分布函数法做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同一道题，求导后结果完全相同。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7" name="Rectangle 5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1273" y="6039326"/>
              <a:ext cx="69744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分段点是由两个非零条件的交界决定的，不是随便挑的。这道题的分段点是 z = 0 和 z = 1。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27210" cy="909257"/>
            <a:chOff x="520446" y="342900"/>
            <a:chExt cx="81272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二维随机变量函数的分布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272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30　一般的 Z = g(X, Y)：解出一个变量再代回去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193982" cy="4023360"/>
            <a:chOff x="533400" y="1524000"/>
            <a:chExt cx="5193982" cy="40233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023360"/>
            </a:xfrm>
            <a:prstGeom prst="roundRect">
              <a:avLst>
                <a:gd name="adj" fmla="val 33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75666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751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z = g(x, y) 解出 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32007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若由 z = g(x, y) 能解出 y = h(x, z)，则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61"/>
                <p:cNvSpPr txBox="1">
                  <a:spLocks noGrp="1"/>
                </p:cNvSpPr>
                <p:nvPr/>
              </p:nvSpPr>
              <p:spPr>
                <a:xfrm>
                  <a:off x="752475" y="2325052"/>
                  <a:ext cx="4793932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</m:d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∂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∂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45998" y="282749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两个常用的特例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62"/>
                <p:cNvSpPr txBox="1">
                  <a:spLocks noGrp="1"/>
                </p:cNvSpPr>
                <p:nvPr/>
              </p:nvSpPr>
              <p:spPr>
                <a:xfrm>
                  <a:off x="752475" y="3090862"/>
                  <a:ext cx="4793932" cy="3200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9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9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9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9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9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9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9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xz</m:t>
                                </m:r>
                              </m:e>
                            </m:d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9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9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XY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9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9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9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9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9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​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9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9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9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9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9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num>
                                  <m:den>
                                    <m:r>
                                      <a:rPr lang="zh-CN" sz="9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9" name="c2-card-1"/>
          <p:cNvGrpSpPr/>
          <p:nvPr/>
        </p:nvGrpSpPr>
        <p:grpSpPr>
          <a:xfrm>
            <a:off x="6032182" y="1524000"/>
            <a:ext cx="5626418" cy="3156585"/>
            <a:chOff x="6032182" y="1524000"/>
            <a:chExt cx="5626418" cy="3156585"/>
          </a:xfrm>
        </p:grpSpPr>
        <p:sp>
          <p:nvSpPr>
            <p:cNvPr id="17" name="Rectangle 17"/>
            <p:cNvSpPr/>
            <p:nvPr/>
          </p:nvSpPr>
          <p:spPr>
            <a:xfrm>
              <a:off x="6032182" y="1524000"/>
              <a:ext cx="5626418" cy="3156585"/>
            </a:xfrm>
            <a:prstGeom prst="roundRect">
              <a:avLst>
                <a:gd name="adj" fmla="val 42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41708" y="1657350"/>
              <a:ext cx="47625" cy="28898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51258" y="1704975"/>
              <a:ext cx="5172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41501" y="1737836"/>
              <a:ext cx="335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30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76288" y="1744504"/>
              <a:ext cx="8732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= 2X − 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44780" y="2061686"/>
              <a:ext cx="49547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(X, Y) 的联合密度在 0 &lt; x &lt; 1、0 &lt; y &lt; 2x 上为 1，其余处为 0。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f_Z(z)。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44780" y="2589371"/>
              <a:ext cx="497916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z = 2x − y 解出 y = 2x − z，|∂y/∂z| = 1，所以 f_Z(z) = 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f(x, 2x − z)dx。非零要求 0 &lt; x &lt; 1 且 0 &lt; 2x − z &lt; 2x，后者等价于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&gt; 0 且 x &gt; z/2。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51258" y="3338512"/>
              <a:ext cx="5226368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07114" y="3456623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 的范围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09029" y="3456623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的积分限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81710" y="3456623"/>
              <a:ext cx="5096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f_Z(z)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45936" y="3837623"/>
              <a:ext cx="908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&lt; 0 或 z ≥ 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18526" y="383762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无交集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91116" y="38376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51258" y="4096702"/>
              <a:ext cx="522636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1258" y="4101465"/>
              <a:ext cx="522636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5936" y="4218622"/>
              <a:ext cx="596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z &lt; 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18526" y="4218622"/>
              <a:ext cx="5478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z/2 到 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91116" y="421862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 z/2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51258" y="3338512"/>
              <a:ext cx="5226368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919085" y="33385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591675" y="33385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2-callout-2"/>
          <p:cNvGrpSpPr/>
          <p:nvPr/>
        </p:nvGrpSpPr>
        <p:grpSpPr>
          <a:xfrm>
            <a:off x="6032182" y="4845368"/>
            <a:ext cx="5626418" cy="702945"/>
            <a:chOff x="6032182" y="4845368"/>
            <a:chExt cx="5626418" cy="702945"/>
          </a:xfrm>
        </p:grpSpPr>
        <p:sp>
          <p:nvSpPr>
            <p:cNvPr id="40" name="Rectangle 40"/>
            <p:cNvSpPr/>
            <p:nvPr/>
          </p:nvSpPr>
          <p:spPr>
            <a:xfrm>
              <a:off x="6032182" y="4845368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236970" y="5095875"/>
              <a:ext cx="200026" cy="200026"/>
              <a:chOff x="6236970" y="5095875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236970" y="50958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303645" y="51736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540056" y="4989671"/>
              <a:ext cx="44752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该密度在区域上的二重积分为 1，f_Z 在 [0, 2) 上的积分也是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1，已用 sympy 复核。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6" name="Rectangle 4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1273" y="6039326"/>
              <a:ext cx="82840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这类题的动作固定：解出被替换掉的变量、求那一个偏导的绝对值、把非零条件写成关于积分变量的不等式。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69275" cy="909257"/>
            <a:chOff x="520446" y="342900"/>
            <a:chExt cx="87692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二维随机变量函数的分布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692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31　一个离散加一个连续：按离散那个的取值分类讨论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760595" cy="1545908"/>
            <a:chOff x="533400" y="1524000"/>
            <a:chExt cx="4760595" cy="15459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6102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449" y="1763554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31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14426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与 Y 相互独立，X 以 1/3 的概率取 −1、0、1，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的密度为 1（0 &lt; y &lt; 1）。令 Z = X + Y，求 P{Z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1/2 | X = 0} 与 f_Z(z)。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255645"/>
            <a:ext cx="4760595" cy="2284095"/>
            <a:chOff x="533400" y="3255645"/>
            <a:chExt cx="4760595" cy="2284095"/>
          </a:xfrm>
        </p:grpSpPr>
        <p:sp>
          <p:nvSpPr>
            <p:cNvPr id="13" name="Rectangle 13"/>
            <p:cNvSpPr/>
            <p:nvPr/>
          </p:nvSpPr>
          <p:spPr>
            <a:xfrm>
              <a:off x="533400" y="3255645"/>
              <a:ext cx="4760595" cy="2284095"/>
            </a:xfrm>
            <a:prstGeom prst="roundRect">
              <a:avLst>
                <a:gd name="adj" fmla="val 58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388995"/>
              <a:ext cx="47625" cy="20173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75335" y="34594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5543" y="34951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096" y="3832384"/>
              <a:ext cx="400900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卷积公式要求两个都是连续型，这里用不上。正确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做法是用全概率公式按 X 的三个取值拆开，每一支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 Z 都只是 Y 平移了一段。</a:t>
              </a:r>
            </a:p>
          </p:txBody>
        </p:sp>
      </p:grpSp>
      <p:grpSp>
        <p:nvGrpSpPr>
          <p:cNvPr id="36" name="c2-steps-1"/>
          <p:cNvGrpSpPr/>
          <p:nvPr/>
        </p:nvGrpSpPr>
        <p:grpSpPr>
          <a:xfrm>
            <a:off x="5598795" y="1533525"/>
            <a:ext cx="5614416" cy="3074099"/>
            <a:chOff x="5598795" y="1533525"/>
            <a:chExt cx="5614416" cy="3074099"/>
          </a:xfrm>
        </p:grpSpPr>
        <p:sp>
          <p:nvSpPr>
            <p:cNvPr id="19" name="Rectangle 19"/>
            <p:cNvSpPr/>
            <p:nvPr/>
          </p:nvSpPr>
          <p:spPr>
            <a:xfrm>
              <a:off x="5732145" y="1676400"/>
              <a:ext cx="19050" cy="25250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598795" y="237553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92419" y="2449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598795" y="32175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92419" y="32913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598795" y="405860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92419" y="41324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10656" y="15663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11799" y="1846898"/>
              <a:ext cx="50109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X = 0 的条件下 Z = Y，且 X 与 Y 独立，所以 P{Z ≤ 1/2 | X = 0} = P{Y ≤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1/2} = 1/2。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0656" y="2408396"/>
              <a:ext cx="8318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X 拆开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1799" y="2688907"/>
              <a:ext cx="52014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F_Z(z) = Σᵢ P{X = i}·P{Y ≤ z − i} = (1/3)[F_Y(z + 1) + F_Y(z) + F_Y(z −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1)]。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0656" y="325040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求导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1799" y="3530918"/>
              <a:ext cx="51785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f_Z(z) = (1/3)[f_Y(z + 1) + f_Y(z) + f_Y(z − 1)]。三个指示函数分别在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(−1, 0)、(0, 1)、(1, 2) 上取 1，互不重叠。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0656" y="409241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1799" y="4372928"/>
              <a:ext cx="50302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f_Z(z) = 1/3（−1 &lt; z &lt; 2），其余处为 0。也就是说 Z ~ U(−1, 2)。</a:t>
              </a:r>
            </a:p>
          </p:txBody>
        </p:sp>
      </p:grpSp>
      <p:grpSp>
        <p:nvGrpSpPr>
          <p:cNvPr id="42" name="c2-callout-2"/>
          <p:cNvGrpSpPr/>
          <p:nvPr/>
        </p:nvGrpSpPr>
        <p:grpSpPr>
          <a:xfrm>
            <a:off x="5598795" y="4783455"/>
            <a:ext cx="6059805" cy="756285"/>
            <a:chOff x="5598795" y="4783455"/>
            <a:chExt cx="6059805" cy="756285"/>
          </a:xfrm>
        </p:grpSpPr>
        <p:sp>
          <p:nvSpPr>
            <p:cNvPr id="37" name="Rectangle 37"/>
            <p:cNvSpPr/>
            <p:nvPr/>
          </p:nvSpPr>
          <p:spPr>
            <a:xfrm>
              <a:off x="5598795" y="4783455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5803583" y="5061585"/>
              <a:ext cx="200026" cy="200026"/>
              <a:chOff x="5803583" y="5061585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5803583" y="50615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870258" y="513937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105906" y="4930616"/>
              <a:ext cx="500087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在 (−1, 2) 上积分得 3 × (1/3) = 1，结果自洽。三段平移后的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均匀密度恰好首尾相接，拼成了一整段均匀分布。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3" name="Rectangle 4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511" y="6004084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源课件只给了题面没有给解答，这一页的过程是本讲义补的。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271510" cy="909257"/>
            <a:chOff x="520446" y="342900"/>
            <a:chExt cx="102715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二维随机变量函数的分布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2715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max(X, Y) 与 N = min(X, Y)：独立时一步就能写出分布函数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830705"/>
            <a:chOff x="533400" y="1524000"/>
            <a:chExt cx="5410200" cy="18307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30705"/>
            </a:xfrm>
            <a:prstGeom prst="roundRect">
              <a:avLst>
                <a:gd name="adj" fmla="val 72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640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最大值的分布函数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606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 {M ≤ z} 等价于“两个都不超过 z”，独立时直接相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66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49530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rd-2"/>
          <p:cNvGrpSpPr/>
          <p:nvPr/>
        </p:nvGrpSpPr>
        <p:grpSpPr>
          <a:xfrm>
            <a:off x="533400" y="3545205"/>
            <a:ext cx="5410200" cy="1575435"/>
            <a:chOff x="533400" y="3545205"/>
            <a:chExt cx="5410200" cy="1575435"/>
          </a:xfrm>
        </p:grpSpPr>
        <p:sp>
          <p:nvSpPr>
            <p:cNvPr id="15" name="Rectangle 15"/>
            <p:cNvSpPr/>
            <p:nvPr/>
          </p:nvSpPr>
          <p:spPr>
            <a:xfrm>
              <a:off x="533400" y="3545205"/>
              <a:ext cx="5410200" cy="1575435"/>
            </a:xfrm>
            <a:prstGeom prst="roundRect">
              <a:avLst>
                <a:gd name="adj" fmla="val 84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678555"/>
              <a:ext cx="47625" cy="130873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37547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37904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2078" y="378999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最小值的分布函数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4150995"/>
              <a:ext cx="48639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 {N &gt; z} 等价于“两个都超过 z”，先算它再取补。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167"/>
                <p:cNvSpPr txBox="1">
                  <a:spLocks noGrp="1"/>
                </p:cNvSpPr>
                <p:nvPr/>
              </p:nvSpPr>
              <p:spPr>
                <a:xfrm>
                  <a:off x="781050" y="4461510"/>
                  <a:ext cx="4953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e>
                            </m:d>
                          </m:e>
                        </m:d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8" name="c2-card-1"/>
          <p:cNvGrpSpPr/>
          <p:nvPr/>
        </p:nvGrpSpPr>
        <p:grpSpPr>
          <a:xfrm>
            <a:off x="6248400" y="1524000"/>
            <a:ext cx="5410200" cy="1468755"/>
            <a:chOff x="6248400" y="1524000"/>
            <a:chExt cx="5410200" cy="146875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1468755"/>
            </a:xfrm>
            <a:prstGeom prst="roundRect">
              <a:avLst>
                <a:gd name="adj" fmla="val 907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57950" y="1733550"/>
              <a:ext cx="950595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34954" y="1769269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推广到 n 个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50330" y="2110740"/>
              <a:ext cx="4576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X₁, …, Xₙ 相互独立且有相同的分布函数 F(x)，则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168"/>
                <p:cNvSpPr txBox="1">
                  <a:spLocks noGrp="1"/>
                </p:cNvSpPr>
                <p:nvPr/>
              </p:nvSpPr>
              <p:spPr>
                <a:xfrm>
                  <a:off x="6457950" y="2421255"/>
                  <a:ext cx="49911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max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min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7" name="c2-card-2"/>
          <p:cNvGrpSpPr/>
          <p:nvPr/>
        </p:nvGrpSpPr>
        <p:grpSpPr>
          <a:xfrm>
            <a:off x="6248400" y="3183255"/>
            <a:ext cx="5410200" cy="1937385"/>
            <a:chOff x="6248400" y="3183255"/>
            <a:chExt cx="5410200" cy="1937385"/>
          </a:xfrm>
        </p:grpSpPr>
        <p:sp>
          <p:nvSpPr>
            <p:cNvPr id="29" name="Rectangle 29"/>
            <p:cNvSpPr/>
            <p:nvPr/>
          </p:nvSpPr>
          <p:spPr>
            <a:xfrm>
              <a:off x="6248400" y="318325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3316605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96050" y="339280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78359" y="34285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两点提醒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501765" y="383286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59880" y="376999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这两条公式只在独立时成立，不独立时必须回到二重积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分。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501765" y="44538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59880" y="4391025"/>
              <a:ext cx="4311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别把 max 写成“两个分布函数取大者”。相乘的是概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率，不是分布函数在比大小。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8" name="Rectangle 3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991225"/>
              <a:ext cx="6553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一句话记法：最大值对分布函数相乘，最小值对生存函数（1 − F）相乘。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39432" cy="909257"/>
            <a:chOff x="520446" y="342900"/>
            <a:chExt cx="77394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二维随机变量函数的分布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394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32　串联、并联、备用：三种接法对应三种运算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983587" cy="308039"/>
            <a:chOff x="525399" y="1550194"/>
            <a:chExt cx="998358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9835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 L 由相互独立的元件 L₁、L₂ 组成，寿命 X₁ ~ E(λ₁)、X₂ ~ E(λ₂)，求三种接法下系统寿命的密度。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67865"/>
            <a:ext cx="3575685" cy="3049905"/>
            <a:chOff x="533400" y="1967865"/>
            <a:chExt cx="3575685" cy="304990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3575685" cy="3049905"/>
            </a:xfrm>
            <a:prstGeom prst="roundRect">
              <a:avLst>
                <a:gd name="adj" fmla="val 43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27832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串联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16395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= min(X₁, X₂)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任何一个元件失效系统就停，所以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系统寿命是两者的较小值。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75"/>
                <p:cNvSpPr txBox="1">
                  <a:spLocks noGrp="1"/>
                </p:cNvSpPr>
                <p:nvPr/>
              </p:nvSpPr>
              <p:spPr>
                <a:xfrm>
                  <a:off x="781050" y="3169920"/>
                  <a:ext cx="3118485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z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&gt;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176"/>
                <p:cNvSpPr txBox="1">
                  <a:spLocks noGrp="1"/>
                </p:cNvSpPr>
                <p:nvPr/>
              </p:nvSpPr>
              <p:spPr>
                <a:xfrm>
                  <a:off x="781050" y="3550920"/>
                  <a:ext cx="3118485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74573" y="3952399"/>
              <a:ext cx="29390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仍是指数分布，参数相加。串联系统比任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何单个元件都更容易坏。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4413885" y="1967865"/>
            <a:ext cx="3469958" cy="3049905"/>
            <a:chOff x="4413885" y="1967865"/>
            <a:chExt cx="3469958" cy="3049905"/>
          </a:xfrm>
        </p:grpSpPr>
        <p:sp>
          <p:nvSpPr>
            <p:cNvPr id="19" name="Rectangle 19"/>
            <p:cNvSpPr/>
            <p:nvPr/>
          </p:nvSpPr>
          <p:spPr>
            <a:xfrm>
              <a:off x="4413885" y="1967865"/>
              <a:ext cx="3469958" cy="3049905"/>
            </a:xfrm>
            <a:prstGeom prst="roundRect">
              <a:avLst>
                <a:gd name="adj" fmla="val 43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23410" y="2101215"/>
              <a:ext cx="47625" cy="27832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661535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51743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并联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61610" y="2212658"/>
              <a:ext cx="1694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= max(X₁, X₂)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53915" y="257365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两个元件都失效系统才停，所以系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统寿命是两者的较大值。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177"/>
                <p:cNvSpPr txBox="1">
                  <a:spLocks noGrp="1"/>
                </p:cNvSpPr>
                <p:nvPr/>
              </p:nvSpPr>
              <p:spPr>
                <a:xfrm>
                  <a:off x="4661535" y="3169920"/>
                  <a:ext cx="3012758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178"/>
                <p:cNvSpPr txBox="1">
                  <a:spLocks noGrp="1"/>
                </p:cNvSpPr>
                <p:nvPr/>
              </p:nvSpPr>
              <p:spPr>
                <a:xfrm>
                  <a:off x="4661535" y="3531870"/>
                  <a:ext cx="3012758" cy="247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9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9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9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e>
                                    <m: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7" name="TextBox 27"/>
            <p:cNvSpPr txBox="1"/>
            <p:nvPr/>
          </p:nvSpPr>
          <p:spPr>
            <a:xfrm>
              <a:off x="4655058" y="3895249"/>
              <a:ext cx="27764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不再是指数分布，三项加减是展开乘积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后求导的结果。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88642" y="1967865"/>
            <a:ext cx="3469958" cy="3049905"/>
            <a:chOff x="8188642" y="1967865"/>
            <a:chExt cx="3469958" cy="3049905"/>
          </a:xfrm>
        </p:grpSpPr>
        <p:sp>
          <p:nvSpPr>
            <p:cNvPr id="29" name="Rectangle 29"/>
            <p:cNvSpPr/>
            <p:nvPr/>
          </p:nvSpPr>
          <p:spPr>
            <a:xfrm>
              <a:off x="8188642" y="1967865"/>
              <a:ext cx="3469958" cy="3049905"/>
            </a:xfrm>
            <a:prstGeom prst="roundRect">
              <a:avLst>
                <a:gd name="adj" fmla="val 43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198168" y="2101215"/>
              <a:ext cx="47625" cy="27832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436292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26501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备用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36368" y="2212658"/>
              <a:ext cx="11465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= X₁ + X₂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28672" y="2573655"/>
              <a:ext cx="28917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L₁ 失效后 L₂ 才开始工作，两段寿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命相加，用卷积公式（设 λ₁ 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λ₂）。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formula179"/>
                <p:cNvSpPr txBox="1">
                  <a:spLocks noGrp="1"/>
                </p:cNvSpPr>
                <p:nvPr/>
              </p:nvSpPr>
              <p:spPr>
                <a:xfrm>
                  <a:off x="8436292" y="3455670"/>
                  <a:ext cx="3012758" cy="3467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9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p>
                          <m:e>
                            <m:sSub>
                              <m:e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formula180"/>
                <p:cNvSpPr txBox="1">
                  <a:spLocks noGrp="1"/>
                </p:cNvSpPr>
                <p:nvPr/>
              </p:nvSpPr>
              <p:spPr>
                <a:xfrm>
                  <a:off x="8436292" y="3897630"/>
                  <a:ext cx="3012758" cy="3600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7" name="TextBox 37"/>
            <p:cNvSpPr txBox="1"/>
            <p:nvPr/>
          </p:nvSpPr>
          <p:spPr>
            <a:xfrm>
              <a:off x="8429816" y="4373404"/>
              <a:ext cx="28902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λ₁ = λ₂ = λ 时极限是 λ²z·e^(−λz)，即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伽玛分布。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9" name="Rectangle 3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130" y="5991225"/>
              <a:ext cx="88698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三种接法对应 min、max、加法三种运算。判断题目属于哪一种，只要问“系统什么时候停止工作”。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90940" cy="2997517"/>
            <a:chOff x="667512" y="1835468"/>
            <a:chExt cx="539094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89227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维随机变量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810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二维的每一个定义与结论，换成 n 个变量后都照样成立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13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维分布函数、分布律与概率密度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7610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维边缘分布：把其余变量放到 +∞ 或积掉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08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维独立性与正态线性组合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71030" cy="909257"/>
            <a:chOff x="520446" y="342900"/>
            <a:chExt cx="85710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412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690" y="407194"/>
              <a:ext cx="24226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n 维随机变量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710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维随机变量：定义和二维一模一样，只是多了几个下标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375535"/>
            <a:chOff x="533400" y="1524000"/>
            <a:chExt cx="5410200" cy="23755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75535"/>
            </a:xfrm>
            <a:prstGeom prst="roundRect">
              <a:avLst>
                <a:gd name="adj" fmla="val 56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0883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2147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维随机变量与分布函数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6158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X₁, X₂, …, Xₙ 是定义在同一个样本空间上的 n 个随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机变量，由它们构成的向量叫做 n 维随机变量。对任意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个实数，n 元函数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84"/>
                <p:cNvSpPr txBox="1">
                  <a:spLocks noGrp="1"/>
                </p:cNvSpPr>
                <p:nvPr/>
              </p:nvSpPr>
              <p:spPr>
                <a:xfrm>
                  <a:off x="781050" y="3011805"/>
                  <a:ext cx="4953000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…,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45567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称为它们的联合分布函数。</a:t>
              </a:r>
            </a:p>
          </p:txBody>
        </p:sp>
      </p:grpSp>
      <p:grpSp>
        <p:nvGrpSpPr>
          <p:cNvPr id="21" name="c1-kv-2"/>
          <p:cNvGrpSpPr/>
          <p:nvPr/>
        </p:nvGrpSpPr>
        <p:grpSpPr>
          <a:xfrm>
            <a:off x="525780" y="4114800"/>
            <a:ext cx="5417820" cy="1297305"/>
            <a:chOff x="525780" y="4114800"/>
            <a:chExt cx="5417820" cy="1297305"/>
          </a:xfrm>
        </p:grpSpPr>
        <p:sp>
          <p:nvSpPr>
            <p:cNvPr id="16" name="TextBox 16"/>
            <p:cNvSpPr txBox="1"/>
            <p:nvPr/>
          </p:nvSpPr>
          <p:spPr>
            <a:xfrm>
              <a:off x="525780" y="41148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 维离散型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44028" y="4114800"/>
              <a:ext cx="36633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所有可能取值是有限个或可列无限个 n 元数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组，概率分布写成带 n 个下标的一串数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7167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4836795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 维连续型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44028" y="4836795"/>
              <a:ext cx="37204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存在非负函数 f 使分布函数等于 f 的 n 重积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分，f 就是联合概率密度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524000"/>
            <a:ext cx="5410200" cy="3829050"/>
            <a:chOff x="6248400" y="1524000"/>
            <a:chExt cx="5410200" cy="3829050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3829050"/>
            </a:xfrm>
            <a:prstGeom prst="roundRect">
              <a:avLst>
                <a:gd name="adj" fmla="val 34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7925" y="1657350"/>
              <a:ext cx="47625" cy="35623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96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78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边缘分布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80923" y="176879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保留想要的，处理掉其余的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88430" y="2129790"/>
              <a:ext cx="4672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k 维边缘分布函数：在 F 里保留那 k 个位置，其余变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量全部趋于 +∞。例如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185"/>
                <p:cNvSpPr txBox="1">
                  <a:spLocks noGrp="1"/>
                </p:cNvSpPr>
                <p:nvPr/>
              </p:nvSpPr>
              <p:spPr>
                <a:xfrm>
                  <a:off x="6496050" y="2726055"/>
                  <a:ext cx="49530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,+∞,…,+∞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488430" y="318897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k 维边缘概率密度：对其余 n − k 个变量在整条实轴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上积分。例如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186"/>
                <p:cNvSpPr txBox="1">
                  <a:spLocks noGrp="1"/>
                </p:cNvSpPr>
                <p:nvPr/>
              </p:nvSpPr>
              <p:spPr>
                <a:xfrm>
                  <a:off x="6496050" y="3785235"/>
                  <a:ext cx="49530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​​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⋯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​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−∞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,…,</m:t>
                                    </m:r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6488430" y="430530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离散型则是对其余下标全部求和。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3" name="Rectangle 3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991225"/>
              <a:ext cx="8819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记法很统一：分布函数里“扔掉一个变量”就是让它趋于 +∞，密度里“扔掉一个变量”就是对它积分。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51658" cy="909257"/>
            <a:chOff x="520446" y="342900"/>
            <a:chExt cx="44516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412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690" y="407194"/>
              <a:ext cx="24226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 · n 维随机变量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516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维的独立性与两条常用结论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836420"/>
            <a:chOff x="533400" y="1524000"/>
            <a:chExt cx="5410200" cy="18364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36420"/>
            </a:xfrm>
            <a:prstGeom prst="roundRect">
              <a:avLst>
                <a:gd name="adj" fmla="val 7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6972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9055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个随机变量相互独立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30369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若对任意 n 个实数都有 F(x₁, …, xₙ) 等于 n 个边缘分布函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数的乘积，就称 X₁, …, Xₙ 相互独立。离散型的充要条件是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联合分布律等于 n 个边缘分布律的乘积，连续型的充要条件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是联合密度等于 n 个边缘密度的乘积。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545205"/>
            <a:ext cx="5410200" cy="2037398"/>
            <a:chOff x="533400" y="3545205"/>
            <a:chExt cx="5410200" cy="2037398"/>
          </a:xfrm>
        </p:grpSpPr>
        <p:sp>
          <p:nvSpPr>
            <p:cNvPr id="14" name="Rectangle 14"/>
            <p:cNvSpPr/>
            <p:nvPr/>
          </p:nvSpPr>
          <p:spPr>
            <a:xfrm>
              <a:off x="533400" y="3545205"/>
              <a:ext cx="5410200" cy="2037398"/>
            </a:xfrm>
            <a:prstGeom prst="roundRect">
              <a:avLst>
                <a:gd name="adj" fmla="val 65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678555"/>
              <a:ext cx="47625" cy="17706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5335" y="374904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4842" y="378475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两组变量的独立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8096" y="4122896"/>
              <a:ext cx="4757420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(X₁, …, Xₘ) 与 (Y₁, …, Yₙ) 的联合分布函数等于两组各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自分布函数的乘积，就称这两个随机向量相互独立。此时任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Xᵢ 与 Yⱼ 也相互独立；更进一步，若 h、g 是连续函数，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 h(X₁, …, Xₘ) 与 g(Y₁, …, Yₙ) 也相互独立。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248400" y="1524000"/>
            <a:ext cx="5410200" cy="1952625"/>
            <a:chOff x="6248400" y="1524000"/>
            <a:chExt cx="5410200" cy="1952625"/>
          </a:xfrm>
        </p:grpSpPr>
        <p:sp>
          <p:nvSpPr>
            <p:cNvPr id="20" name="Rectangle 20"/>
            <p:cNvSpPr/>
            <p:nvPr/>
          </p:nvSpPr>
          <p:spPr>
            <a:xfrm>
              <a:off x="6248400" y="1524000"/>
              <a:ext cx="5410200" cy="1952625"/>
            </a:xfrm>
            <a:prstGeom prst="roundRect">
              <a:avLst>
                <a:gd name="adj" fmla="val 68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57925" y="1657350"/>
              <a:ext cx="47625" cy="16859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90335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76593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33666" y="176736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独立正态的线性组合还是正态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3096" y="2119789"/>
              <a:ext cx="471233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 ~ N(μᵢ, σᵢ²)（i = 1, …, n）相互独立，c₁, …, cₙ 是常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191"/>
                <p:cNvSpPr txBox="1">
                  <a:spLocks noGrp="1"/>
                </p:cNvSpPr>
                <p:nvPr/>
              </p:nvSpPr>
              <p:spPr>
                <a:xfrm>
                  <a:off x="6490335" y="2687002"/>
                  <a:ext cx="4964430" cy="5667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​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sSub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6" name="c2-card-2"/>
          <p:cNvGrpSpPr/>
          <p:nvPr/>
        </p:nvGrpSpPr>
        <p:grpSpPr>
          <a:xfrm>
            <a:off x="6248400" y="3661410"/>
            <a:ext cx="5410200" cy="1921192"/>
            <a:chOff x="6248400" y="3661410"/>
            <a:chExt cx="5410200" cy="1921192"/>
          </a:xfrm>
        </p:grpSpPr>
        <p:sp>
          <p:nvSpPr>
            <p:cNvPr id="28" name="Rectangle 28"/>
            <p:cNvSpPr/>
            <p:nvPr/>
          </p:nvSpPr>
          <p:spPr>
            <a:xfrm>
              <a:off x="6248400" y="3661410"/>
              <a:ext cx="5410200" cy="1921192"/>
            </a:xfrm>
            <a:prstGeom prst="roundRect">
              <a:avLst>
                <a:gd name="adj" fmla="val 69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3794760"/>
              <a:ext cx="47625" cy="165449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0335" y="386524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76593" y="390096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33666" y="390572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独立同分布时的最值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3096" y="4257199"/>
              <a:ext cx="43327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X₁, …, Xₙ 相互独立且有相同的分布函数 F(x)，则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ormula192"/>
                <p:cNvSpPr txBox="1">
                  <a:spLocks noGrp="1"/>
                </p:cNvSpPr>
                <p:nvPr/>
              </p:nvSpPr>
              <p:spPr>
                <a:xfrm>
                  <a:off x="6490335" y="4553902"/>
                  <a:ext cx="496443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max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min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5" name="TextBox 35"/>
            <p:cNvSpPr txBox="1"/>
            <p:nvPr/>
          </p:nvSpPr>
          <p:spPr>
            <a:xfrm>
              <a:off x="6484239" y="4971098"/>
              <a:ext cx="47670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 cᵢ = 1/n 就得到样本均值的分布 N(μ, σ²/n)，这是第 6 章抽样分布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的起点。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7" name="Rectangle 3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511" y="6004084"/>
              <a:ext cx="83968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维这一节没有新方法，全部结论都是二维那几条的直接推广。复习时记住推广方式比背公式管用。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316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3114" y="40719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自测题（一）联合分布、边缘分布与独立性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400300"/>
            <a:chOff x="533400" y="1524000"/>
            <a:chExt cx="3505200" cy="24003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400300"/>
            </a:xfrm>
            <a:prstGeom prst="roundRect">
              <a:avLst>
                <a:gd name="adj" fmla="val 555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302194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F(x, y)，怎么判断 X 与 Y 是否相互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573179"/>
              <a:ext cx="2874010" cy="1220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先求两个边缘分布函数 F_X(x)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F(x, +∞)、F_Y(y) = F(+∞, y)，再看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F(x, y) 是不是对一切 x、y 都等于两者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的乘积。只在几个点上验证相等是不够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089082"/>
            <a:ext cx="3505200" cy="2157412"/>
            <a:chOff x="533400" y="4089082"/>
            <a:chExt cx="3505200" cy="2157412"/>
          </a:xfrm>
        </p:grpSpPr>
        <p:sp>
          <p:nvSpPr>
            <p:cNvPr id="13" name="Rectangle 13"/>
            <p:cNvSpPr/>
            <p:nvPr/>
          </p:nvSpPr>
          <p:spPr>
            <a:xfrm>
              <a:off x="533400" y="4089082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427005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832" y="430291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4610576"/>
              <a:ext cx="2858567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X、Y 独立且都服从 U(0, 1)，求 P{X +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&lt; 1/2}。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5138261"/>
              <a:ext cx="291465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联合密度恒为 1，所求区域是直角边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1/2 的等腰直角三角形，面积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(1/2)(1/2)(1/2) = 1/8，所以概率是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1/8。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157412"/>
            <a:chOff x="4343400" y="1524000"/>
            <a:chExt cx="3505200" cy="2157412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2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1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7898" y="2045494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联合分布能唯一确定边缘分布吗？反过来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能不能？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7898" y="2573179"/>
              <a:ext cx="297967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能；反过来不能。二维正态 N(0, 0,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1, ρ) 对任何 ρ 的边缘都是 N(0, 1)，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但联合密度各不相同。只有再加上“相互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独立”，边缘才能唯一拼回联合。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846195"/>
            <a:ext cx="3505200" cy="2400300"/>
            <a:chOff x="4343400" y="3846195"/>
            <a:chExt cx="3505200" cy="2400300"/>
          </a:xfrm>
        </p:grpSpPr>
        <p:sp>
          <p:nvSpPr>
            <p:cNvPr id="25" name="Rectangle 25"/>
            <p:cNvSpPr/>
            <p:nvPr/>
          </p:nvSpPr>
          <p:spPr>
            <a:xfrm>
              <a:off x="4343400" y="3846195"/>
              <a:ext cx="3505200" cy="2400300"/>
            </a:xfrm>
            <a:prstGeom prst="roundRect">
              <a:avLst>
                <a:gd name="adj" fmla="val 555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24375" y="402717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3832" y="406003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7898" y="4367689"/>
              <a:ext cx="287360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f(x, y) = 8xy 在 0 &lt; y &lt; x &lt; 1 上，其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余为 0。X 与 Y 独立吗？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17898" y="4895374"/>
              <a:ext cx="295529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不独立。虽然 8xy 能拆成 8x 与 y 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乘积，但取值区域不是矩形。实际算出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f_X(x) = 4x³、f_Y(y) = 4y(1 − y²)，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乘积是 16x³y(1 − y²)，与 8xy 不等。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1914525"/>
            <a:chOff x="8153400" y="1524000"/>
            <a:chExt cx="3505200" cy="191452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3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27898" y="2045494"/>
              <a:ext cx="2698039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(X, Y) 在单位圆上服从均匀分布，求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P{X² + Y² ≤ 1/4}。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27898" y="2573179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均匀分布下概率就是面积比。小圆半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径 1/2，面积 π/4；大圆面积 π。所以概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率是 1/4。注意它不等于半径比 1/2。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603308"/>
            <a:ext cx="3505200" cy="2643188"/>
            <a:chOff x="8153400" y="3603308"/>
            <a:chExt cx="3505200" cy="2643188"/>
          </a:xfrm>
        </p:grpSpPr>
        <p:sp>
          <p:nvSpPr>
            <p:cNvPr id="37" name="Rectangle 37"/>
            <p:cNvSpPr/>
            <p:nvPr/>
          </p:nvSpPr>
          <p:spPr>
            <a:xfrm>
              <a:off x="8153400" y="3603308"/>
              <a:ext cx="3505200" cy="2643188"/>
            </a:xfrm>
            <a:prstGeom prst="roundRect">
              <a:avLst>
                <a:gd name="adj" fmla="val 50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34375" y="37842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23832" y="38171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7898" y="4124801"/>
              <a:ext cx="2921559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联合分布律表里某个格子是 0，能不能断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 X 与 Y 不独立？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27898" y="4652486"/>
              <a:ext cx="3020314" cy="1220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只要那个格子所在的行和与列和都大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 0，就能断定不独立，因为乘积 pᵢ·p</a:t>
              </a:r>
            </a:p>
            <a:p>
              <a:pPr algn="l" marL="138176" indent="-138176">
                <a:lnSpc>
                  <a:spcPts val="1912"/>
                </a:lnSpc>
                <a:buClr>
                  <a:srgbClr val="1F2937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ⱼ 大于 0 而 pᵢⱼ = 0。若整行或整列全是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0，那个取值本来就取不到，不能作为依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316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3114" y="40719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自测题（二）条件分布与函数的分布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157412"/>
            <a:chOff x="533400" y="1524000"/>
            <a:chExt cx="3505200" cy="21574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296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条件分布律 P{Y = yⱼ | X = xᵢ} 的分母是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什么？为什么要求它大于 0？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573179"/>
              <a:ext cx="294716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分母是边缘概率 pᵢ·，也就是联合分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布律表里第 i 行的行和。它等于 0 时条件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事件是零概率事件，条件概率没有定义，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这一行的条件分布也就无从谈起。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846195"/>
            <a:ext cx="3505200" cy="2400300"/>
            <a:chOff x="533400" y="3846195"/>
            <a:chExt cx="3505200" cy="2400300"/>
          </a:xfrm>
        </p:grpSpPr>
        <p:sp>
          <p:nvSpPr>
            <p:cNvPr id="13" name="Rectangle 13"/>
            <p:cNvSpPr/>
            <p:nvPr/>
          </p:nvSpPr>
          <p:spPr>
            <a:xfrm>
              <a:off x="533400" y="3846195"/>
              <a:ext cx="3505200" cy="2400300"/>
            </a:xfrm>
            <a:prstGeom prst="roundRect">
              <a:avLst>
                <a:gd name="adj" fmla="val 555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402717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832" y="406003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4367689"/>
              <a:ext cx="2960167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N(1, 4)，Y ~ N(2, 9)，相互独立，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P{X + Y &gt; 6}。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4895374"/>
              <a:ext cx="291465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由可加性 X + Y ~ N(3, 13)。标准化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(6 − 3)/√13 = 0.8321，P = 1 −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Φ(0.8321) ≈ 0.2027；查表取 Φ(0.83)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0.7967 则得 0.2033。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157412"/>
            <a:chOff x="4343400" y="1524000"/>
            <a:chExt cx="3505200" cy="2157412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2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1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7898" y="2045494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连续型为什么不能直接用条件概率的定义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写条件分布？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7898" y="2573179"/>
              <a:ext cx="293903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因为连续型随机变量取任何单点的概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率都是 0，分母为 0。补救办法是先把条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件放宽成 y − ε &lt; Y ≤ y + ε，算完比值再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 ε 趋于 0，极限就是条件分布函数。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846195"/>
            <a:ext cx="3505200" cy="2400300"/>
            <a:chOff x="4343400" y="3846195"/>
            <a:chExt cx="3505200" cy="2400300"/>
          </a:xfrm>
        </p:grpSpPr>
        <p:sp>
          <p:nvSpPr>
            <p:cNvPr id="25" name="Rectangle 25"/>
            <p:cNvSpPr/>
            <p:nvPr/>
          </p:nvSpPr>
          <p:spPr>
            <a:xfrm>
              <a:off x="4343400" y="3846195"/>
              <a:ext cx="3505200" cy="2400300"/>
            </a:xfrm>
            <a:prstGeom prst="roundRect">
              <a:avLst>
                <a:gd name="adj" fmla="val 555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24375" y="402717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3832" y="406003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7898" y="436768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两个独立均匀分布之和还是均匀分布吗？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17898" y="4652486"/>
              <a:ext cx="302031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不是。U(0, 1) 与 U(0, 1) 之和的密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度是 [0, 2] 上的等腰三角形，在 z = 1 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最大。有可加性的是二项（同 p）、泊松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和正态三种。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157412"/>
            <a:chOff x="8153400" y="1524000"/>
            <a:chExt cx="3505200" cy="2157412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3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27898" y="2045494"/>
              <a:ext cx="272404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X、Y 独立且都服从参数为 1 的指数分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布，求 N = min(X, Y) 的分布。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27898" y="2573179"/>
              <a:ext cx="289839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P{N &gt; z} = P{X &gt; z}P{Y &gt; z}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e^(−z)·e^(−z) = e^(−2z)，所以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F_N(z) = 1 − e^(−2z)，即 N ~ E(2)。n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个独立指数取最小值时参数相加。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846195"/>
            <a:ext cx="3505200" cy="2400300"/>
            <a:chOff x="8153400" y="3846195"/>
            <a:chExt cx="3505200" cy="2400300"/>
          </a:xfrm>
        </p:grpSpPr>
        <p:sp>
          <p:nvSpPr>
            <p:cNvPr id="37" name="Rectangle 37"/>
            <p:cNvSpPr/>
            <p:nvPr/>
          </p:nvSpPr>
          <p:spPr>
            <a:xfrm>
              <a:off x="8153400" y="3846195"/>
              <a:ext cx="3505200" cy="2400300"/>
            </a:xfrm>
            <a:prstGeom prst="roundRect">
              <a:avLst>
                <a:gd name="adj" fmla="val 555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34375" y="402717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23832" y="406003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7898" y="4367689"/>
              <a:ext cx="27764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用卷积公式求和的密度时，积分限怎么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27898" y="4895374"/>
              <a:ext cx="2963418" cy="1220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把被积函数 f_X(x)f_Y(z − x) 的两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个非零条件联立成关于 x 的不等式组，再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z 分段取交集。画定限图最稳：横轴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x、纵轴 z，两条边界直线把平面切成几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块，用水平线去截。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544574" cy="909257"/>
            <a:chOff x="520446" y="342900"/>
            <a:chExt cx="15445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316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3114" y="40719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二维随机变量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6059805" cy="2474595"/>
            <a:chOff x="533400" y="1524000"/>
            <a:chExt cx="6059805" cy="24745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2114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看到什么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34946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用哪个工具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68774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核心式子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两个变量一起出现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61578" y="2023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联合分布函数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15094" y="2023110"/>
              <a:ext cx="29907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F(x, y) = P{X ≤ x, Y ≤ y}，矩形概率四项加减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只关心其中一个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61578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边缘分布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15094" y="240411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离散型按行列求和，连续型把另一个变量积掉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87845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问互不互相影响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61578" y="287845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15094" y="2785110"/>
              <a:ext cx="284435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pᵢⱼ = pᵢ·p·ⱼ 或 f = f_X·f_Y，须对一切取值成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318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3659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3537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固定一个变量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61578" y="3353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条件分布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15094" y="3353752"/>
              <a:ext cx="26572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联合除以边缘：f(x|y) = f(x, y)/f_Y(y)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6128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734752"/>
              <a:ext cx="1018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Z = g(X, Y)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61578" y="37347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分布函数法与卷积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15094" y="3734752"/>
              <a:ext cx="28464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{Z ≤ z} 画成区域再求导；求和用卷积公式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059805" cy="2474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862138" y="1524000"/>
              <a:ext cx="9525" cy="2474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315652" y="1524000"/>
              <a:ext cx="9525" cy="2474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card-2"/>
          <p:cNvGrpSpPr/>
          <p:nvPr/>
        </p:nvGrpSpPr>
        <p:grpSpPr>
          <a:xfrm>
            <a:off x="533400" y="4163378"/>
            <a:ext cx="6059805" cy="1519238"/>
            <a:chOff x="533400" y="4163378"/>
            <a:chExt cx="6059805" cy="1519238"/>
          </a:xfrm>
        </p:grpSpPr>
        <p:sp>
          <p:nvSpPr>
            <p:cNvPr id="36" name="Rectangle 36"/>
            <p:cNvSpPr/>
            <p:nvPr/>
          </p:nvSpPr>
          <p:spPr>
            <a:xfrm>
              <a:off x="533400" y="4163378"/>
              <a:ext cx="6059805" cy="1519238"/>
            </a:xfrm>
            <a:prstGeom prst="roundRect">
              <a:avLst>
                <a:gd name="adj" fmla="val 87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296728"/>
              <a:ext cx="47625" cy="12525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52475" y="434435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3440" y="437721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本讲义对原课件的更正与补充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5998" y="4684871"/>
              <a:ext cx="5418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章节编号按目录应是 §3、§4、§5（原课件两处都标成 §4、n 维标成 §6）；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六道只给题面未给解答的例题已补全过程，全章 119 项数值已复核。</a:t>
              </a:r>
            </a:p>
          </p:txBody>
        </p:sp>
      </p:grpSp>
      <p:grpSp>
        <p:nvGrpSpPr>
          <p:cNvPr id="57" name="c2-bullets-1"/>
          <p:cNvGrpSpPr/>
          <p:nvPr/>
        </p:nvGrpSpPr>
        <p:grpSpPr>
          <a:xfrm>
            <a:off x="6898005" y="1533525"/>
            <a:ext cx="4509262" cy="2161508"/>
            <a:chOff x="6898005" y="1533525"/>
            <a:chExt cx="4509262" cy="2161508"/>
          </a:xfrm>
        </p:grpSpPr>
        <p:sp>
          <p:nvSpPr>
            <p:cNvPr id="42" name="Ellipse 42"/>
            <p:cNvSpPr/>
            <p:nvPr/>
          </p:nvSpPr>
          <p:spPr>
            <a:xfrm>
              <a:off x="6898005" y="153352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49912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67753" y="1545431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二维问题的第一步永远是画区域，积分限比被积函数更容易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出错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898005" y="206978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49912" y="2105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67753" y="2080736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独立性要对一切取值成立；找一个反例就能否定，肯定则必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须全验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898005" y="260604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49912" y="26416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67753" y="2616994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定义域不是矩形时一定不独立，这条能省下大量计算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898005" y="289845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49912" y="29340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67753" y="2910364"/>
              <a:ext cx="41826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条件分布就是联合除以边缘，离散与连续只差“概率”与“密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度”两个字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898005" y="343471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949912" y="34703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67753" y="344566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求和优先想可加性，套不上再用卷积公式并老实分段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898005" y="3810000"/>
            <a:ext cx="4760595" cy="1872615"/>
            <a:chOff x="6898005" y="3810000"/>
            <a:chExt cx="4760595" cy="1872615"/>
          </a:xfrm>
        </p:grpSpPr>
        <p:sp>
          <p:nvSpPr>
            <p:cNvPr id="58" name="Rectangle 58"/>
            <p:cNvSpPr/>
            <p:nvPr/>
          </p:nvSpPr>
          <p:spPr>
            <a:xfrm>
              <a:off x="6898005" y="3810000"/>
              <a:ext cx="4760595" cy="1872615"/>
            </a:xfrm>
            <a:prstGeom prst="roundRect">
              <a:avLst>
                <a:gd name="adj" fmla="val 7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907530" y="3943350"/>
              <a:ext cx="47625" cy="16059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117080" y="399097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190448" y="402383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与前后章的衔接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10603" y="4331494"/>
              <a:ext cx="4125722" cy="1220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章的条件概率和事件独立性，在本章升级成了条件分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布与随机变量独立性。第 4 章会用联合分布算期望、方差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与相关系数，把本章的 ρ 补上定义；第 5 章的大数定律与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中心极限定理则建立在 n 个独立随机变量求和之上，用的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正是本节的可加性。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4" name="Rectangle 6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1273" y="6039326"/>
              <a:ext cx="103517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拿到一道题先答三句：是离散还是连续，给的是联合还是边缘，要求的量能不能翻译成平面上的一块区域。三句答完，方法基本就定了。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第3章 二维随机变量及其分布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b_ch3">
  <a:themeElements>
    <a:clrScheme name="prob_ch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_ch3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b_ch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2026-09-19T14:59:37Z</dcterms:created>
  <dcterms:modified xsi:type="dcterms:W3CDTF">2026-09-19T14:59:37Z</dcterms:modified>
  <cp:category/>
  <cp:contentStatus/>
</cp:coreProperties>
</file>