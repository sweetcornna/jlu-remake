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b_ch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b_ch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42929b998b5ec9e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174ae7f8f7f055c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9fcf362095a97a0.png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843778" cy="3437763"/>
            <a:chOff x="666750" y="1619250"/>
            <a:chExt cx="5843778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203132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5722" y="1718310"/>
              <a:ext cx="198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概率论与数理统计 · 第六章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1267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数理统计的基本知识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从样本推断总体之前，先认清样本、统计量和抽样分布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总体、样本与统计量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直方图与样本分布函数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5672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χ²、t、F 三大分布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正态总体的抽样定理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696454" cy="205359"/>
            <a:chOff x="680466" y="6192202"/>
            <a:chExt cx="469645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696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自学复习版｜据吉林大学《概率论与数理统计》第六章课件整理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总体与样本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总体为什么是一个随机变量，简单随机样本的两个条件，样本的联合分布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直方图与样本分布函数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用数据画出总体分布的轮廓，格利文科定理保证它越画越准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样本均值、样本方差、样本矩、最大最小值，以及它们的期望和分布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正态总体的样本均值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6573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样本均值服从正态分布，标准正态的上 α 分位点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三大抽样分布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49321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χ²、t、F 的构造、性质、分位点，以及正态总体的八个抽样结论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判断一个样本函数是不是统计量，写出简单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随机样本的联合密度或联合分布律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按五个步骤由一组数据作出频率直方图，写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出样本分布函数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计算样本均值、样本方差和样本矩，说明 S²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为什么除以 n − 1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用样本均值的正态分布求概率、反解样本容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由正态样本凑出 χ²、t、F 分布，并会查表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求上 α 分位点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279432" cy="2997517"/>
            <a:chOff x="667512" y="1835468"/>
            <a:chExt cx="627943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总体与样本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695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研究对象用一个随机变量表示，手里的数据是它的 n 次独立观测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数理统计要做的事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总体、个体与样本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简单随机样本与联合分布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总体与样本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数理统计做的事：由部分数据推断整体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564958"/>
            <a:chOff x="533400" y="1524000"/>
            <a:chExt cx="5193982" cy="15649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数理统计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以概率论为理论基础，根据试验或观测得到的数据，研究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怎样有效地整理、分析这些数据并据此推断，从而对研究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对象的性质和统计规律作出合理的估计与判断。</a:t>
              </a:r>
            </a:p>
          </p:txBody>
        </p:sp>
      </p:grpSp>
      <p:grpSp>
        <p:nvGrpSpPr>
          <p:cNvPr id="30" name="c1-compare-2"/>
          <p:cNvGrpSpPr/>
          <p:nvPr/>
        </p:nvGrpSpPr>
        <p:grpSpPr>
          <a:xfrm>
            <a:off x="533400" y="3273742"/>
            <a:ext cx="5193030" cy="2378392"/>
            <a:chOff x="533400" y="3273742"/>
            <a:chExt cx="5193030" cy="2378392"/>
          </a:xfrm>
        </p:grpSpPr>
        <p:sp>
          <p:nvSpPr>
            <p:cNvPr id="14" name="Rectangle 14"/>
            <p:cNvSpPr/>
            <p:nvPr/>
          </p:nvSpPr>
          <p:spPr>
            <a:xfrm>
              <a:off x="533400" y="3273742"/>
              <a:ext cx="2386965" cy="2378392"/>
            </a:xfrm>
            <a:prstGeom prst="roundRect">
              <a:avLst>
                <a:gd name="adj" fmla="val 56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07092"/>
              <a:ext cx="47625" cy="21116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8096" y="350186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概率论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2955" y="390048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9546" y="384000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分布已知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2955" y="422052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9546" y="4160044"/>
              <a:ext cx="14571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求事件的概率、期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望、方差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339465" y="3273742"/>
              <a:ext cx="2386965" cy="2378392"/>
            </a:xfrm>
            <a:prstGeom prst="roundRect">
              <a:avLst>
                <a:gd name="adj" fmla="val 56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348990" y="3407092"/>
              <a:ext cx="47625" cy="211169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574161" y="350186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数理统计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3589020" y="390048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745611" y="3840004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分布未知或含未知参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3589020" y="449199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745611" y="4431506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由观测数据反推分布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或参数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2967990" y="430149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038330" y="439769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1" name="c2-flow-1"/>
          <p:cNvGrpSpPr/>
          <p:nvPr/>
        </p:nvGrpSpPr>
        <p:grpSpPr>
          <a:xfrm>
            <a:off x="6165532" y="1753552"/>
            <a:ext cx="5359719" cy="1576388"/>
            <a:chOff x="6165532" y="1753552"/>
            <a:chExt cx="5359719" cy="1576388"/>
          </a:xfrm>
        </p:grpSpPr>
        <p:sp>
          <p:nvSpPr>
            <p:cNvPr id="31" name="Freeform 31"/>
            <p:cNvSpPr/>
            <p:nvPr/>
          </p:nvSpPr>
          <p:spPr>
            <a:xfrm>
              <a:off x="7774305" y="205549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936230" y="20031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9649778" y="205549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811702" y="20031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10720388" y="2357438"/>
              <a:ext cx="9525" cy="442912"/>
            </a:xfrm>
            <a:custGeom>
              <a:avLst/>
              <a:gdLst/>
              <a:ahLst/>
              <a:cxnLst/>
              <a:rect l="l" t="t" r="r" b="b"/>
              <a:pathLst>
                <a:path w="9525" h="442912">
                  <a:moveTo>
                    <a:pt x="0" y="0"/>
                  </a:moveTo>
                  <a:lnTo>
                    <a:pt x="0" y="4429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668000" y="28003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879080" y="3117532"/>
              <a:ext cx="2037397" cy="9525"/>
            </a:xfrm>
            <a:custGeom>
              <a:avLst/>
              <a:gdLst/>
              <a:ahLst/>
              <a:cxnLst/>
              <a:rect l="l" t="t" r="r" b="b"/>
              <a:pathLst>
                <a:path w="2037397" h="9525">
                  <a:moveTo>
                    <a:pt x="2037397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774305" y="30651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6969442" y="2462212"/>
              <a:ext cx="9525" cy="442912"/>
            </a:xfrm>
            <a:custGeom>
              <a:avLst/>
              <a:gdLst/>
              <a:ahLst/>
              <a:cxnLst/>
              <a:rect l="l" t="t" r="r" b="b"/>
              <a:pathLst>
                <a:path w="9525" h="442912">
                  <a:moveTo>
                    <a:pt x="0" y="44291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6917055" y="23574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165532" y="1753552"/>
              <a:ext cx="1608772" cy="60388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041005" y="1843088"/>
              <a:ext cx="160877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916478" y="1753552"/>
              <a:ext cx="1608773" cy="603885"/>
            </a:xfrm>
            <a:custGeom>
              <a:avLst/>
              <a:gdLst/>
              <a:ahLst/>
              <a:cxnLst/>
              <a:rect l="l" t="t" r="r" b="b"/>
              <a:pathLst>
                <a:path w="1608773" h="603885">
                  <a:moveTo>
                    <a:pt x="133350" y="0"/>
                  </a:moveTo>
                  <a:lnTo>
                    <a:pt x="1608773" y="0"/>
                  </a:lnTo>
                  <a:lnTo>
                    <a:pt x="1475423" y="603885"/>
                  </a:lnTo>
                  <a:lnTo>
                    <a:pt x="0" y="603885"/>
                  </a:lnTo>
                  <a:close/>
                </a:path>
              </a:pathLst>
            </a:custGeom>
            <a:solidFill>
              <a:srgbClr val="E8EDF8"/>
            </a:solidFill>
            <a:ln w="13335">
              <a:solidFill>
                <a:srgbClr val="2F4B9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165532" y="2905125"/>
              <a:ext cx="1608772" cy="424815"/>
            </a:xfrm>
            <a:prstGeom prst="roundRect">
              <a:avLst>
                <a:gd name="adj" fmla="val 22422"/>
              </a:avLst>
            </a:prstGeom>
            <a:solidFill>
              <a:srgbClr val="E8EDF8"/>
            </a:solidFill>
            <a:ln w="19050">
              <a:solidFill>
                <a:srgbClr val="2F4B9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9916478" y="2905125"/>
              <a:ext cx="1608772" cy="424815"/>
            </a:xfrm>
            <a:prstGeom prst="roundRect">
              <a:avLst>
                <a:gd name="adj" fmla="val 22422"/>
              </a:avLst>
            </a:prstGeom>
            <a:solidFill>
              <a:srgbClr val="E8EDF8"/>
            </a:solidFill>
            <a:ln w="19050">
              <a:solidFill>
                <a:srgbClr val="2F4B9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06147" y="1868805"/>
              <a:ext cx="9265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总体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（理论分布）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77275" y="19716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409491" y="1868805"/>
              <a:ext cx="6217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样本值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（数据）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97942" y="303371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有关总体的结论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471975" y="303371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统计量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593330" y="2405062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619619" y="243173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选择个体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602152" y="2405062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636442" y="243173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观测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748962" y="2539365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772204" y="256603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数据处理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463915" y="2901315"/>
              <a:ext cx="7620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486204" y="292798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加工成结论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998018" y="2539365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21259" y="25660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推断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032182" y="3834765"/>
            <a:ext cx="5626418" cy="1817370"/>
            <a:chOff x="6032182" y="3834765"/>
            <a:chExt cx="5626418" cy="1817370"/>
          </a:xfrm>
        </p:grpSpPr>
        <p:sp>
          <p:nvSpPr>
            <p:cNvPr id="62" name="Rectangle 62"/>
            <p:cNvSpPr/>
            <p:nvPr/>
          </p:nvSpPr>
          <p:spPr>
            <a:xfrm>
              <a:off x="6032182" y="3834765"/>
              <a:ext cx="5626418" cy="1817370"/>
            </a:xfrm>
            <a:prstGeom prst="roundRect">
              <a:avLst>
                <a:gd name="adj" fmla="val 7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041708" y="3968115"/>
              <a:ext cx="47625" cy="15506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274118" y="40386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64326" y="40743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来历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266879" y="4411504"/>
              <a:ext cx="488365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结绳计事、《二十四史》里关于钱粮、户口、地震、水灾的记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载都是古代的统计行为。十九世纪末二十世纪初，随着近代数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学和概率论的发展，数理统计才成为一门学科。今天常用的统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计软件有 SAS、SPSS 等。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8" name="Rectangle 68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511" y="6004084"/>
              <a:ext cx="82343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总体分布决定了样本取值的概率规律，所以能用样本值反过来推断总体，样本是联系两者的桥梁。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53223" cy="909257"/>
            <a:chOff x="520446" y="342900"/>
            <a:chExt cx="76532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总体与样本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532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总体就是一个随机变量 X，总体分布就是 X 的分布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kv-1"/>
          <p:cNvGrpSpPr/>
          <p:nvPr/>
        </p:nvGrpSpPr>
        <p:grpSpPr>
          <a:xfrm>
            <a:off x="525780" y="1548765"/>
            <a:ext cx="5417820" cy="2053590"/>
            <a:chOff x="525780" y="1548765"/>
            <a:chExt cx="5417820" cy="205359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总体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66862" y="15487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研究对象的全体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688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198882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个体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66862" y="198882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总体中的每个元素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088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4288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总体容量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66862" y="24288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总体中所含个体的数目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7489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有限总体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66862" y="2868930"/>
              <a:ext cx="27816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容量有限，如一批 10 万只灯泡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1889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33089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无限总体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66862" y="330898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容量无限，如某台机床将来生产的全部零件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733800"/>
            <a:ext cx="5410200" cy="1602105"/>
            <a:chOff x="533400" y="3733800"/>
            <a:chExt cx="5410200" cy="1602105"/>
          </a:xfrm>
        </p:grpSpPr>
        <p:sp>
          <p:nvSpPr>
            <p:cNvPr id="22" name="Rectangle 22"/>
            <p:cNvSpPr/>
            <p:nvPr/>
          </p:nvSpPr>
          <p:spPr>
            <a:xfrm>
              <a:off x="533400" y="3733800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38671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81050" y="39433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3359" y="39790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处理办法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3430" y="432054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有限总体所含个体相当多时，可以把它当作无限总体处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理。抽走几个个体几乎不改变其余个体的分布，后面的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独立性假设才站得住。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248400" y="1524000"/>
            <a:ext cx="5410200" cy="1866900"/>
            <a:chOff x="6248400" y="1524000"/>
            <a:chExt cx="5410200" cy="1866900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18669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1657350"/>
              <a:ext cx="47625" cy="160020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约定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97078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用随机变量表示总体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8430" y="2129790"/>
              <a:ext cx="4615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我们关心的是个体的某个数量指标。以随机变量 X 表示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这个指标，X 的分布函数 F(x) 就称为总体的分布。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89573" y="2747486"/>
              <a:ext cx="44833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以后说“总体 X”“总体服从 N(μ, σ²)”，指的都是这个数量指标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X。</a:t>
              </a:r>
            </a:p>
          </p:txBody>
        </p:sp>
      </p:grpSp>
      <p:grpSp>
        <p:nvGrpSpPr>
          <p:cNvPr id="51" name="c2-table-2"/>
          <p:cNvGrpSpPr/>
          <p:nvPr/>
        </p:nvGrpSpPr>
        <p:grpSpPr>
          <a:xfrm>
            <a:off x="6248400" y="3581400"/>
            <a:ext cx="5410200" cy="1346835"/>
            <a:chOff x="6248400" y="3581400"/>
            <a:chExt cx="5410200" cy="1346835"/>
          </a:xfrm>
        </p:grpSpPr>
        <p:sp>
          <p:nvSpPr>
            <p:cNvPr id="36" name="Rectangle 36"/>
            <p:cNvSpPr/>
            <p:nvPr/>
          </p:nvSpPr>
          <p:spPr>
            <a:xfrm>
              <a:off x="6248400" y="3581400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89724" y="37161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61946" y="371617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关心的指标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334041" y="37161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总体记作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56223" y="416575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检测一批灯泡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95501" y="41657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寿命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18560" y="4165759"/>
              <a:ext cx="7830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或 F(x)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44738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48400" y="44786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56223" y="461438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中学生营养状况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95501" y="46143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身高与体重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818560" y="4614386"/>
              <a:ext cx="147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(X, Y) 或 F(x, y)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3581400"/>
              <a:ext cx="541020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082915" y="35814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705975" y="35814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2" name="Rectangle 5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130" y="5991225"/>
              <a:ext cx="73411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关心两个指标时总体是二维随机变量，它的联合分布函数 F(x, y) 就是总体分布。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总体与样本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样本：抽样之前是随机变量，抽样之后是一组数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626418" cy="1831658"/>
            <a:chOff x="533400" y="1524000"/>
            <a:chExt cx="5626418" cy="18316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样本、样本容量、样本观测值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14693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090738"/>
              <a:ext cx="46685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：从总体中抽取的待测个体的集合，容量为 n 的样本记为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(X₁, X₂, …, Xₙ)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270605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2649855"/>
              <a:ext cx="27125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样本容量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：样本所含个体的数目 n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2478" y="300894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8497" y="2952750"/>
              <a:ext cx="4884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样本观测值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：抽样后得到的确切数值，记为 (x₁, x₂, …, xₙ)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530918"/>
            <a:ext cx="5626418" cy="1737360"/>
            <a:chOff x="533400" y="3530918"/>
            <a:chExt cx="5626418" cy="1737360"/>
          </a:xfrm>
        </p:grpSpPr>
        <p:sp>
          <p:nvSpPr>
            <p:cNvPr id="19" name="Rectangle 19"/>
            <p:cNvSpPr/>
            <p:nvPr/>
          </p:nvSpPr>
          <p:spPr>
            <a:xfrm>
              <a:off x="533400" y="3530918"/>
              <a:ext cx="5626418" cy="1737360"/>
            </a:xfrm>
            <a:prstGeom prst="roundRect">
              <a:avLst>
                <a:gd name="adj" fmla="val 76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664268"/>
              <a:ext cx="47625" cy="14706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3905" y="3723322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1342" y="375761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为什么不全部检测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7047" y="4079558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观测每个个体都要付出人力、物力和财力，有些试验还带破坏性，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灯泡测完寿命就报废了。所以只能抽一部分来观测。</a:t>
              </a:r>
            </a:p>
          </p:txBody>
        </p:sp>
      </p:grpSp>
      <p:grpSp>
        <p:nvGrpSpPr>
          <p:cNvPr id="45" name="c2-compare-1"/>
          <p:cNvGrpSpPr/>
          <p:nvPr/>
        </p:nvGrpSpPr>
        <p:grpSpPr>
          <a:xfrm>
            <a:off x="6464618" y="1524000"/>
            <a:ext cx="5193982" cy="1800225"/>
            <a:chOff x="6464618" y="1524000"/>
            <a:chExt cx="5193982" cy="1800225"/>
          </a:xfrm>
        </p:grpSpPr>
        <p:sp>
          <p:nvSpPr>
            <p:cNvPr id="25" name="Rectangle 25"/>
            <p:cNvSpPr/>
            <p:nvPr/>
          </p:nvSpPr>
          <p:spPr>
            <a:xfrm>
              <a:off x="6464618" y="1524000"/>
              <a:ext cx="2295525" cy="1800225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74142" y="1657350"/>
              <a:ext cx="47625" cy="153352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88264" y="173831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抽样之前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703695" y="211455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59714" y="2058352"/>
              <a:ext cx="12893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大写 X₁, …, Xₙ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703695" y="241744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59714" y="2361248"/>
              <a:ext cx="15053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Xᵢ 都是随机变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703695" y="297656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59714" y="292036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讨论它的分布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363075" y="1524000"/>
              <a:ext cx="2295525" cy="1800225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372600" y="1657350"/>
              <a:ext cx="47625" cy="15335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586722" y="173831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抽样之后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9602152" y="211455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758172" y="2058352"/>
              <a:ext cx="12404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小写 x₁, …, xₙ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9602152" y="241744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758172" y="236124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一组确定的数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9602152" y="271938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758172" y="266319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代入公式算数值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8808720" y="2170748"/>
              <a:ext cx="506730" cy="50673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859241" y="236362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二重性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464618" y="3499485"/>
            <a:ext cx="5193982" cy="1768792"/>
            <a:chOff x="6464618" y="3499485"/>
            <a:chExt cx="5193982" cy="1768792"/>
          </a:xfrm>
        </p:grpSpPr>
        <p:sp>
          <p:nvSpPr>
            <p:cNvPr id="46" name="Rectangle 46"/>
            <p:cNvSpPr/>
            <p:nvPr/>
          </p:nvSpPr>
          <p:spPr>
            <a:xfrm>
              <a:off x="6464618" y="3499485"/>
              <a:ext cx="5193982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4142" y="3632835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695122" y="3691890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62560" y="372618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课件中的两个例子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95122" y="403574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50801" y="40741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75920" y="4048125"/>
              <a:ext cx="42656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工厂有十万只出厂灯泡，随机抽取 1000 只检测寿命：总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体是 10 万个寿命值，样本容量 n = 1000。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695122" y="459581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50801" y="463419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75920" y="4608195"/>
              <a:ext cx="42056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统计全国中学生营养状况，每个地区随机抽取 1% 的学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生：关心身高、体重时，每个样本是一对数 (Xᵢ, Yᵢ)。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7" name="Rectangle 5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892" y="6023610"/>
              <a:ext cx="94640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公式里的大写字母是随机变量，可以谈期望和分布；小写字母是观测值，只是数。两者混写是本章最常见的书写错误。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总体与样本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简单随机样本：与总体同分布，并且相互独立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842635" cy="2253615"/>
            <a:chOff x="533400" y="1524000"/>
            <a:chExt cx="5842635" cy="22536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253615"/>
            </a:xfrm>
            <a:prstGeom prst="roundRect">
              <a:avLst>
                <a:gd name="adj" fmla="val 59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8691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简单随机样本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9002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由简单随机抽样得到的样本 (X₁, X₂, …, Xₙ) 满足两条：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5335" y="2426970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3680" y="246730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66228" y="2439829"/>
              <a:ext cx="47159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X₁, X₂, …, Xₙ 都与总体 X 有相同的分布，这叫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代表性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5335" y="2747010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3680" y="278734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66228" y="2759869"/>
              <a:ext cx="33367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X₁, X₂, …, Xₙ 相互独立，这叫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独立性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8096" y="3079909"/>
              <a:ext cx="491070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所以简单随机样本就是与总体同分布的 n 个相互独立的随机变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量。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962400"/>
            <a:ext cx="5842635" cy="1646872"/>
            <a:chOff x="533400" y="3962400"/>
            <a:chExt cx="5842635" cy="1646872"/>
          </a:xfrm>
        </p:grpSpPr>
        <p:sp>
          <p:nvSpPr>
            <p:cNvPr id="21" name="Rectangle 21"/>
            <p:cNvSpPr/>
            <p:nvPr/>
          </p:nvSpPr>
          <p:spPr>
            <a:xfrm>
              <a:off x="533400" y="3962400"/>
              <a:ext cx="5842635" cy="1646872"/>
            </a:xfrm>
            <a:prstGeom prst="roundRect">
              <a:avLst>
                <a:gd name="adj" fmla="val 80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095750"/>
              <a:ext cx="47625" cy="138017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75335" y="4166235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2040" y="420195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怎样才算简单随机抽样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8096" y="4540091"/>
              <a:ext cx="509104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有放回地随机抽取，两条都严格成立。无放回抽取时各次不独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立，但总体容量远大于 n 时差别可以忽略，当作简单随机样本处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理。</a:t>
              </a:r>
            </a:p>
          </p:txBody>
        </p:sp>
      </p:grpSp>
      <p:grpSp>
        <p:nvGrpSpPr>
          <p:cNvPr id="29" name="c2-image-1"/>
          <p:cNvGrpSpPr/>
          <p:nvPr/>
        </p:nvGrpSpPr>
        <p:grpSpPr>
          <a:xfrm>
            <a:off x="6680835" y="1524000"/>
            <a:ext cx="4977765" cy="4110514"/>
            <a:chOff x="6680835" y="1524000"/>
            <a:chExt cx="4977765" cy="4110514"/>
          </a:xfrm>
        </p:grpSpPr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rcRect l="0" t="10395" r="0" b="10395"/>
            <a:stretch>
              <a:fillRect/>
            </a:stretch>
          </p:blipFill>
          <p:spPr>
            <a:xfrm>
              <a:off x="6680835" y="1524000"/>
              <a:ext cx="4977765" cy="3603308"/>
            </a:xfrm>
            <a:prstGeom prst="roundRect">
              <a:avLst>
                <a:gd name="adj" fmla="val 3700"/>
              </a:avLst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6817042" y="5222081"/>
              <a:ext cx="470535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汤搅匀了，舀一勺就能尝出整锅咸淡。搅匀对应代表性，每勺互不影响对应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独立性</a:t>
              </a:r>
            </a:p>
          </p:txBody>
        </p:sp>
      </p:grpSp>
      <p:grpSp>
        <p:nvGrpSpPr>
          <p:cNvPr id="3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0" name="Rectangle 3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511" y="6004084"/>
              <a:ext cx="48126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以后各章说“样本”，没有特别说明时都指简单随机样本。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总体与样本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样本的联合分布：独立同分布，直接连乘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951220" cy="3923348"/>
            <a:chOff x="533400" y="1524000"/>
            <a:chExt cx="5951220" cy="39233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923348"/>
            </a:xfrm>
            <a:prstGeom prst="roundRect">
              <a:avLst>
                <a:gd name="adj" fmla="val 33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65664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63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设总体 X 的分布函数为 F(x)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37627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 (X₁, X₂, …, Xₙ) 的联合分布函数为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7"/>
                <p:cNvSpPr txBox="1">
                  <a:spLocks noGrp="1"/>
                </p:cNvSpPr>
                <p:nvPr/>
              </p:nvSpPr>
              <p:spPr>
                <a:xfrm>
                  <a:off x="781050" y="2440305"/>
                  <a:ext cx="5494020" cy="6600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,⋯,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∏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220402"/>
              <a:ext cx="40134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连续总体有密度 f(x) 时，样本的联合密度为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8"/>
                <p:cNvSpPr txBox="1">
                  <a:spLocks noGrp="1"/>
                </p:cNvSpPr>
                <p:nvPr/>
              </p:nvSpPr>
              <p:spPr>
                <a:xfrm>
                  <a:off x="781050" y="3530918"/>
                  <a:ext cx="5494020" cy="6600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,⋯,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∏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73430" y="43110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离散总体时，样本的联合分布律为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9"/>
                <p:cNvSpPr txBox="1">
                  <a:spLocks noGrp="1"/>
                </p:cNvSpPr>
                <p:nvPr/>
              </p:nvSpPr>
              <p:spPr>
                <a:xfrm>
                  <a:off x="781050" y="4621530"/>
                  <a:ext cx="5494020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,⋯,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∏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8" name="c2-steps-1"/>
          <p:cNvGrpSpPr/>
          <p:nvPr/>
        </p:nvGrpSpPr>
        <p:grpSpPr>
          <a:xfrm>
            <a:off x="6789420" y="1533525"/>
            <a:ext cx="4733417" cy="1462374"/>
            <a:chOff x="6789420" y="1533525"/>
            <a:chExt cx="4733417" cy="1462374"/>
          </a:xfrm>
        </p:grpSpPr>
        <p:sp>
          <p:nvSpPr>
            <p:cNvPr id="19" name="Rectangle 19"/>
            <p:cNvSpPr/>
            <p:nvPr/>
          </p:nvSpPr>
          <p:spPr>
            <a:xfrm>
              <a:off x="6922770" y="1676400"/>
              <a:ext cx="19050" cy="6505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678942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8304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78942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8304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0090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用独立性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02043" y="1861661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相互独立的随机变量，联合分布等于各自边缘分布的乘积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00900" y="22183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用同分布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02043" y="2512219"/>
              <a:ext cx="40038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Xₖ 的边缘分布都是总体分布 F，于是每个因子都是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F(xₖ)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789420" y="3174682"/>
            <a:ext cx="4869180" cy="2272665"/>
            <a:chOff x="6789420" y="3174682"/>
            <a:chExt cx="4869180" cy="2272665"/>
          </a:xfrm>
        </p:grpSpPr>
        <p:sp>
          <p:nvSpPr>
            <p:cNvPr id="29" name="Rectangle 29"/>
            <p:cNvSpPr/>
            <p:nvPr/>
          </p:nvSpPr>
          <p:spPr>
            <a:xfrm>
              <a:off x="6789420" y="3174682"/>
              <a:ext cx="4869180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798945" y="3308032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037070" y="338423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27278" y="34199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29450" y="3761422"/>
              <a:ext cx="41586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原课件离散情形写作 P{X = x₁, X = x₂, …, X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xₙ} = ∏pₖ。左边应是 X₁ = x₁, …, Xₙ = xₙ；右边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个因子是 X 取 xₖ 的概率 P{X = xₖ}，不是分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布律里排第 k 的那个 pₖ。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5" name="Rectangle 3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130" y="5991225"/>
              <a:ext cx="65173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三个公式都只用了“独立”和“同分布”两条，这正是简单随机样本的定义。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44737" cy="909257"/>
            <a:chOff x="520446" y="342900"/>
            <a:chExt cx="69447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总体与样本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447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例1、例2：写出样本的联合密度与联合分布律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928812"/>
            <a:chOff x="533400" y="1524000"/>
            <a:chExt cx="5410200" cy="19288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28812"/>
            </a:xfrm>
            <a:prstGeom prst="roundRect">
              <a:avLst>
                <a:gd name="adj" fmla="val 69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621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2005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6630" y="1750695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91400" y="175641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指数总体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7971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设总体 X 服从期望为 1/λ（λ &gt; 0）的指数分布（课件说成“参数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1/λ”），求样本 (X₁, …, Xₙ) 的联合密度。总体密度为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2"/>
                <p:cNvSpPr txBox="1">
                  <a:spLocks noGrp="1"/>
                </p:cNvSpPr>
                <p:nvPr/>
              </p:nvSpPr>
              <p:spPr>
                <a:xfrm>
                  <a:off x="763905" y="2627948"/>
                  <a:ext cx="4987290" cy="6153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λx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&gt;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formula23"/>
              <p:cNvSpPr txBox="1">
                <a:spLocks noGrp="1"/>
              </p:cNvSpPr>
              <p:nvPr/>
            </p:nvSpPr>
            <p:spPr>
              <a:xfrm>
                <a:off x="533400" y="3628072"/>
                <a:ext cx="5410200" cy="754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,⋯,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p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  <m:sup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</m:sSup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  <m:nary>
                                    <m:naryPr>
                                      <m:chr m:val="∑"/>
                                      <m:limLoc m:val="undOvr"/>
                                      <m:grow m:val="off"/>
                                      <m:subHide m:val="off"/>
                                      <m:supHide m:val="off"/>
                                      <m:ctrl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=</m:t>
                                      </m:r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sup>
                                    <m:e>
                                      <m:sSub>
                                        <m:e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nary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,⋯,</m:t>
                              </m:r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&gt;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nor m:val="on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其它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2" name="c1-callout-3"/>
          <p:cNvGrpSpPr/>
          <p:nvPr/>
        </p:nvGrpSpPr>
        <p:grpSpPr>
          <a:xfrm>
            <a:off x="533400" y="4557712"/>
            <a:ext cx="5410200" cy="729615"/>
            <a:chOff x="533400" y="4557712"/>
            <a:chExt cx="5410200" cy="729615"/>
          </a:xfrm>
        </p:grpSpPr>
        <p:sp>
          <p:nvSpPr>
            <p:cNvPr id="16" name="Rectangle 16"/>
            <p:cNvSpPr/>
            <p:nvPr/>
          </p:nvSpPr>
          <p:spPr>
            <a:xfrm>
              <a:off x="533400" y="455771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26129" y="4818816"/>
              <a:ext cx="224134" cy="192560"/>
              <a:chOff x="726129" y="4818816"/>
              <a:chExt cx="224134" cy="19256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38200" y="48891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26129" y="48188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49669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892" y="4703445"/>
              <a:ext cx="443712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条件是 n 个 xᵢ 同时大于 0；只要有一个 xᵢ ≤ 0，对应因子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 0，整个乘积就是 0。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248400" y="1524000"/>
            <a:ext cx="5410200" cy="969645"/>
            <a:chOff x="6248400" y="1524000"/>
            <a:chExt cx="5410200" cy="969645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969645"/>
            </a:xfrm>
            <a:prstGeom prst="roundRect">
              <a:avLst>
                <a:gd name="adj" fmla="val 13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7029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78905" y="1716405"/>
              <a:ext cx="42005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71630" y="1750695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06399" y="175641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泊松总体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2047" y="2090738"/>
              <a:ext cx="45166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设总体 X ~ π(λ)，求样本 (X₁, …, Xₙ) 的联合分布律。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formula24"/>
              <p:cNvSpPr txBox="1">
                <a:spLocks noGrp="1"/>
              </p:cNvSpPr>
              <p:nvPr/>
            </p:nvSpPr>
            <p:spPr>
              <a:xfrm>
                <a:off x="6248400" y="2668905"/>
                <a:ext cx="5410200" cy="471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b>
                            <m:e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,⋯,</m:t>
                          </m:r>
                          <m:sSub>
                            <m:e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b>
                            <m:e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p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  <m:sup>
                                  <m:sSub>
                                    <m:e>
                                      <m: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sup>
                              </m:sSup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sup>
                              </m:sSup>
                            </m:num>
                            <m:den>
                              <m:sSub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λ</m:t>
                              </m:r>
                            </m:e>
                            <m:sup>
                              <m:nary>
                                <m:naryPr>
                                  <m:chr m:val="∑"/>
                                  <m:limLoc m:val="undOvr"/>
                                  <m:grow m:val="off"/>
                                  <m:subHide m:val="off"/>
                                  <m:supHide m:val="off"/>
                                  <m:ctrl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=</m:t>
                                  </m:r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  <m:e>
                                  <m:sSub>
                                    <m:e>
                                      <m: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nary>
                            </m:sup>
                          </m:sSup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nλ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∏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2" name="c2-text-3"/>
          <p:cNvGrpSpPr/>
          <p:nvPr/>
        </p:nvGrpSpPr>
        <p:grpSpPr>
          <a:xfrm>
            <a:off x="6242685" y="3334226"/>
            <a:ext cx="4609054" cy="220028"/>
            <a:chOff x="6242685" y="3334226"/>
            <a:chExt cx="4609054" cy="220028"/>
          </a:xfrm>
        </p:grpSpPr>
        <p:sp>
          <p:nvSpPr>
            <p:cNvPr id="31" name="TextBox 31"/>
            <p:cNvSpPr txBox="1"/>
            <p:nvPr/>
          </p:nvSpPr>
          <p:spPr>
            <a:xfrm>
              <a:off x="6242685" y="3334226"/>
              <a:ext cx="46090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其中每个 xᵢ 取 0, 1, 2, …；原课件式中的“L”是省略号的排版错误。</a:t>
              </a:r>
            </a:p>
          </p:txBody>
        </p:sp>
      </p:grpSp>
      <p:grpSp>
        <p:nvGrpSpPr>
          <p:cNvPr id="38" name="c2-card-4"/>
          <p:cNvGrpSpPr/>
          <p:nvPr/>
        </p:nvGrpSpPr>
        <p:grpSpPr>
          <a:xfrm>
            <a:off x="6248400" y="3684270"/>
            <a:ext cx="5410200" cy="1602105"/>
            <a:chOff x="6248400" y="3684270"/>
            <a:chExt cx="5410200" cy="1602105"/>
          </a:xfrm>
        </p:grpSpPr>
        <p:sp>
          <p:nvSpPr>
            <p:cNvPr id="33" name="Rectangle 33"/>
            <p:cNvSpPr/>
            <p:nvPr/>
          </p:nvSpPr>
          <p:spPr>
            <a:xfrm>
              <a:off x="6248400" y="3684270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381762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8905" y="387667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54343" y="391096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代一组数试试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72047" y="4233862"/>
              <a:ext cx="44371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= 2，n = 3，样本值 (1, 0, 2)：Σxᵢ = 3，∏xᵢ! = 1 × 1 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= 2，概率为 2³e⁻⁶/2 = 4e⁻⁶ ≈ 0.00991。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9" name="Rectangle 3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892" y="6023610"/>
              <a:ext cx="81100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连乘之后把同底的幂合并成一项。第7章求最大似然估计时，这个联合密度（分布律）就是似然函数。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882896" cy="2997517"/>
            <a:chOff x="667512" y="1835468"/>
            <a:chExt cx="488289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直方图与样本分布函数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先把数据画出来，看看总体分布大概长什么样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频率直方图的五步作法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225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例：120 人考试成绩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样本分布函数与格利文科定理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直方图与样本分布函数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频率直方图的作法：分组、数频数、画矩形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284089" cy="264033"/>
            <a:chOff x="526542" y="1545907"/>
            <a:chExt cx="528408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由样本观测值 x₁, x₂, …, xₙ 作频率直方图，一般按下面五步走。</a:t>
              </a:r>
            </a:p>
          </p:txBody>
        </p:sp>
      </p:grpSp>
      <p:grpSp>
        <p:nvGrpSpPr>
          <p:cNvPr id="30" name="c1-steps-1"/>
          <p:cNvGrpSpPr/>
          <p:nvPr/>
        </p:nvGrpSpPr>
        <p:grpSpPr>
          <a:xfrm>
            <a:off x="533400" y="1938338"/>
            <a:ext cx="5641609" cy="2851309"/>
            <a:chOff x="533400" y="1938338"/>
            <a:chExt cx="5641609" cy="2851309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2331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2126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5950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041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780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6871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7609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27005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3438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196977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定范围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237899"/>
              <a:ext cx="52282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找出最小值 x₍₁₎ 与最大值 x₍ₙ₎，取略小于 x₍₁₎ 的数 a、略大于 x₍ₙ₎ 的数 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255270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定组数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2820829"/>
              <a:ext cx="4896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按样本容量定组数 k，容量小组数少些、容量大组数多些，一般取 8 到 16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13563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选分点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3403759"/>
              <a:ext cx="4587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a = t₀ &lt; t₁ &lt; … &lt; tₖ = b，把 (a, b) 分成 k 个子区间 (tᵢ₋₁, tᵢ]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371856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数频数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3986689"/>
              <a:ext cx="3652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数出落在每个子区间内的个数 nᵢ，算出频率 fᵢ = nᵢ/n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642" y="430149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画矩形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785" y="4569619"/>
              <a:ext cx="32134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以各子区间为底、以 yᵢ = fᵢ/Δtᵢ 为高作小矩形</a:t>
              </a:r>
            </a:p>
          </p:txBody>
        </p:sp>
      </p:grpSp>
      <p:grpSp>
        <p:nvGrpSpPr>
          <p:cNvPr id="37" name="c1-callout-2"/>
          <p:cNvGrpSpPr/>
          <p:nvPr/>
        </p:nvGrpSpPr>
        <p:grpSpPr>
          <a:xfrm>
            <a:off x="533400" y="4953000"/>
            <a:ext cx="5842635" cy="729615"/>
            <a:chOff x="533400" y="4953000"/>
            <a:chExt cx="5842635" cy="729615"/>
          </a:xfrm>
        </p:grpSpPr>
        <p:sp>
          <p:nvSpPr>
            <p:cNvPr id="31" name="Rectangle 31"/>
            <p:cNvSpPr/>
            <p:nvPr/>
          </p:nvSpPr>
          <p:spPr>
            <a:xfrm>
              <a:off x="533400" y="4953000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217795"/>
              <a:ext cx="200026" cy="200025"/>
              <a:chOff x="738188" y="5217795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2177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77926" y="52622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12642" y="53733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892" y="5098733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组数 k 太小，细节被抹平；k 太大，每组只落一两个数据，矩形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高低乱跳。两种情况都看不出分布的形状。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formula40"/>
              <p:cNvSpPr txBox="1">
                <a:spLocks noGrp="1"/>
              </p:cNvSpPr>
              <p:nvPr/>
            </p:nvSpPr>
            <p:spPr>
              <a:xfrm>
                <a:off x="6680835" y="1928812"/>
                <a:ext cx="4977765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,⋯,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5" name="c2-card-2"/>
          <p:cNvGrpSpPr/>
          <p:nvPr/>
        </p:nvGrpSpPr>
        <p:grpSpPr>
          <a:xfrm>
            <a:off x="6680835" y="2441258"/>
            <a:ext cx="4977765" cy="1475422"/>
            <a:chOff x="6680835" y="2441258"/>
            <a:chExt cx="4977765" cy="1475422"/>
          </a:xfrm>
        </p:grpSpPr>
        <p:sp>
          <p:nvSpPr>
            <p:cNvPr id="39" name="Rectangle 39"/>
            <p:cNvSpPr/>
            <p:nvPr/>
          </p:nvSpPr>
          <p:spPr>
            <a:xfrm>
              <a:off x="6680835" y="2441258"/>
              <a:ext cx="4977765" cy="1475422"/>
            </a:xfrm>
            <a:prstGeom prst="roundRect">
              <a:avLst>
                <a:gd name="adj" fmla="val 90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90360" y="2574608"/>
              <a:ext cx="47625" cy="120872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05625" y="262794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91147" y="266080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等距分组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98767" y="297275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各子区间长度相等时，组距和分点为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formula41"/>
                <p:cNvSpPr txBox="1">
                  <a:spLocks noGrp="1"/>
                </p:cNvSpPr>
                <p:nvPr/>
              </p:nvSpPr>
              <p:spPr>
                <a:xfrm>
                  <a:off x="6905625" y="3249930"/>
                  <a:ext cx="4566285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Δ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Δ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formula42"/>
              <p:cNvSpPr txBox="1">
                <a:spLocks noGrp="1"/>
              </p:cNvSpPr>
              <p:nvPr/>
            </p:nvSpPr>
            <p:spPr>
              <a:xfrm>
                <a:off x="6680835" y="4086225"/>
                <a:ext cx="4977765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53" name="c2-callout-4"/>
          <p:cNvGrpSpPr/>
          <p:nvPr/>
        </p:nvGrpSpPr>
        <p:grpSpPr>
          <a:xfrm>
            <a:off x="6680835" y="4719638"/>
            <a:ext cx="4977765" cy="962978"/>
            <a:chOff x="6680835" y="4719638"/>
            <a:chExt cx="4977765" cy="962978"/>
          </a:xfrm>
        </p:grpSpPr>
        <p:sp>
          <p:nvSpPr>
            <p:cNvPr id="47" name="Rectangle 47"/>
            <p:cNvSpPr/>
            <p:nvPr/>
          </p:nvSpPr>
          <p:spPr>
            <a:xfrm>
              <a:off x="6680835" y="4719638"/>
              <a:ext cx="4977765" cy="962978"/>
            </a:xfrm>
            <a:prstGeom prst="roundRect">
              <a:avLst>
                <a:gd name="adj" fmla="val 1186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873564" y="5096946"/>
              <a:ext cx="224134" cy="192560"/>
              <a:chOff x="6873564" y="5096946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985635" y="51673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873564" y="509694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985635" y="52451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7188327" y="4982528"/>
              <a:ext cx="407708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分点 tᵢ 要比观测值多取一位小数，这样没有数据恰好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落在分点上，每个数据该算进哪一组不会有歧义。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4" name="Rectangle 54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892" y="6028373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高取频率除以组距，是为了让矩形面积等于频率；这样直方图才能和密度曲线直接比较。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89674" cy="909257"/>
            <a:chOff x="520446" y="342900"/>
            <a:chExt cx="53896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直方图与样本分布函数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896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例3：120 人的考试成绩，先看数据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912800" cy="278702"/>
            <a:chOff x="526161" y="1547336"/>
            <a:chExt cx="991280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9128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某门课程 120 人的考试成绩 X 如下（表头是列号），试作直方图并估计 X 的分布。高亮的是最小值 64 与最大值 95。</a:t>
              </a:r>
            </a:p>
          </p:txBody>
        </p:sp>
      </p:grpSp>
      <p:grpSp>
        <p:nvGrpSpPr>
          <p:cNvPr id="177" name="c1-table-1"/>
          <p:cNvGrpSpPr/>
          <p:nvPr/>
        </p:nvGrpSpPr>
        <p:grpSpPr>
          <a:xfrm>
            <a:off x="533400" y="1941195"/>
            <a:ext cx="11125200" cy="2840355"/>
            <a:chOff x="533400" y="1941195"/>
            <a:chExt cx="11125200" cy="284035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1112520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279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539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74799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31059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87319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43579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99839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56099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12359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25083" y="20654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81343" y="20654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37603" y="20654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93863" y="20654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50123" y="20654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06383" y="20654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62643" y="20654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618903" y="20654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75163" y="20654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31423" y="20654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87683" y="20654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2889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79149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835409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391669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947929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04189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60449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79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16709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172969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729229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85489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41749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218045" y="2356485"/>
              <a:ext cx="53721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98009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54269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10529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66789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623049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179309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735569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77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91829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27479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2889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279149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87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835409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391669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947929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504189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060449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87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616709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172969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77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729229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85489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77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41749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98009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77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954269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77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510529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77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066789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71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443085" y="2762250"/>
              <a:ext cx="53721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623049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95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179309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735569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291829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79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33400" y="31537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22889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279149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77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835409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76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2391669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2947929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3504189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4060449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84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4616709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79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172969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729229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285489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79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841749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398009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79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954269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86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510529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76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066789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623049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179309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735569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291829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533400" y="3559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22889" y="3688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73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279149" y="3688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835409" y="3688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2391669" y="3688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2947929" y="3688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3504189" y="3688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89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4060449" y="3688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4616709" y="3688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86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5172969" y="3688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5729229" y="3688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285489" y="3688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841749" y="3688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84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398009" y="3688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84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954269" y="3688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84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8510529" y="3688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9066789" y="3688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9623049" y="3688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74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0179309" y="3688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0735569" y="3688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291829" y="3688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533400" y="39652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722889" y="40943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74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279149" y="40943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835409" y="40943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2391669" y="40943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79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2947929" y="40943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85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3504189" y="40943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4060449" y="40943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74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4616709" y="40943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71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5172969" y="40943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88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5729229" y="40943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6285489" y="40943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76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6841749" y="40943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85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7398009" y="40943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73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7954269" y="40943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8510529" y="40943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9066789" y="40943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79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9623049" y="40943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77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10179309" y="40943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10735569" y="40943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11291829" y="40943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87</a:t>
              </a:r>
            </a:p>
          </p:txBody>
        </p:sp>
        <p:sp>
          <p:nvSpPr>
            <p:cNvPr id="136" name="Rectangle 136"/>
            <p:cNvSpPr/>
            <p:nvPr/>
          </p:nvSpPr>
          <p:spPr>
            <a:xfrm>
              <a:off x="533400" y="43710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722889" y="45000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1279149" y="45000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1835409" y="45000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2391669" y="45000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2947929" y="45000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85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3504189" y="45000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4060449" y="45000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77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4616709" y="45000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5172969" y="45000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5729229" y="45000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84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6285489" y="45000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85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6841749" y="45000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84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7398009" y="45000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7954269" y="45000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85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8510529" y="45000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84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9066789" y="45000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9623049" y="45000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85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10179309" y="45000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84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10735569" y="45000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11291829" y="45000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157" name="Rectangle 157"/>
            <p:cNvSpPr/>
            <p:nvPr/>
          </p:nvSpPr>
          <p:spPr>
            <a:xfrm>
              <a:off x="533400" y="1941195"/>
              <a:ext cx="11125200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58" name="Rectangle 158"/>
            <p:cNvSpPr/>
            <p:nvPr/>
          </p:nvSpPr>
          <p:spPr>
            <a:xfrm>
              <a:off x="1084898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9" name="Rectangle 159"/>
            <p:cNvSpPr/>
            <p:nvPr/>
          </p:nvSpPr>
          <p:spPr>
            <a:xfrm>
              <a:off x="1641158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0" name="Rectangle 160"/>
            <p:cNvSpPr/>
            <p:nvPr/>
          </p:nvSpPr>
          <p:spPr>
            <a:xfrm>
              <a:off x="2197418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1" name="Rectangle 161"/>
            <p:cNvSpPr/>
            <p:nvPr/>
          </p:nvSpPr>
          <p:spPr>
            <a:xfrm>
              <a:off x="2753678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2" name="Rectangle 162"/>
            <p:cNvSpPr/>
            <p:nvPr/>
          </p:nvSpPr>
          <p:spPr>
            <a:xfrm>
              <a:off x="3309938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3" name="Rectangle 163"/>
            <p:cNvSpPr/>
            <p:nvPr/>
          </p:nvSpPr>
          <p:spPr>
            <a:xfrm>
              <a:off x="3866198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4" name="Rectangle 164"/>
            <p:cNvSpPr/>
            <p:nvPr/>
          </p:nvSpPr>
          <p:spPr>
            <a:xfrm>
              <a:off x="4422458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5" name="Rectangle 165"/>
            <p:cNvSpPr/>
            <p:nvPr/>
          </p:nvSpPr>
          <p:spPr>
            <a:xfrm>
              <a:off x="4978718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6" name="Rectangle 166"/>
            <p:cNvSpPr/>
            <p:nvPr/>
          </p:nvSpPr>
          <p:spPr>
            <a:xfrm>
              <a:off x="5534978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7" name="Rectangle 167"/>
            <p:cNvSpPr/>
            <p:nvPr/>
          </p:nvSpPr>
          <p:spPr>
            <a:xfrm>
              <a:off x="6091238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8" name="Rectangle 168"/>
            <p:cNvSpPr/>
            <p:nvPr/>
          </p:nvSpPr>
          <p:spPr>
            <a:xfrm>
              <a:off x="6647498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9" name="Rectangle 169"/>
            <p:cNvSpPr/>
            <p:nvPr/>
          </p:nvSpPr>
          <p:spPr>
            <a:xfrm>
              <a:off x="7203758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0" name="Rectangle 170"/>
            <p:cNvSpPr/>
            <p:nvPr/>
          </p:nvSpPr>
          <p:spPr>
            <a:xfrm>
              <a:off x="7760018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1" name="Rectangle 171"/>
            <p:cNvSpPr/>
            <p:nvPr/>
          </p:nvSpPr>
          <p:spPr>
            <a:xfrm>
              <a:off x="8316278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2" name="Rectangle 172"/>
            <p:cNvSpPr/>
            <p:nvPr/>
          </p:nvSpPr>
          <p:spPr>
            <a:xfrm>
              <a:off x="8872538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3" name="Rectangle 173"/>
            <p:cNvSpPr/>
            <p:nvPr/>
          </p:nvSpPr>
          <p:spPr>
            <a:xfrm>
              <a:off x="9428798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4" name="Rectangle 174"/>
            <p:cNvSpPr/>
            <p:nvPr/>
          </p:nvSpPr>
          <p:spPr>
            <a:xfrm>
              <a:off x="9985058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5" name="Rectangle 175"/>
            <p:cNvSpPr/>
            <p:nvPr/>
          </p:nvSpPr>
          <p:spPr>
            <a:xfrm>
              <a:off x="10541318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6" name="Rectangle 176"/>
            <p:cNvSpPr/>
            <p:nvPr/>
          </p:nvSpPr>
          <p:spPr>
            <a:xfrm>
              <a:off x="11097578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88" name="c1-card-2"/>
          <p:cNvGrpSpPr/>
          <p:nvPr/>
        </p:nvGrpSpPr>
        <p:grpSpPr>
          <a:xfrm>
            <a:off x="533400" y="4956810"/>
            <a:ext cx="11125200" cy="1405890"/>
            <a:chOff x="533400" y="4956810"/>
            <a:chExt cx="11125200" cy="1405890"/>
          </a:xfrm>
        </p:grpSpPr>
        <p:sp>
          <p:nvSpPr>
            <p:cNvPr id="178" name="Rectangle 178"/>
            <p:cNvSpPr/>
            <p:nvPr/>
          </p:nvSpPr>
          <p:spPr>
            <a:xfrm>
              <a:off x="533400" y="4956810"/>
              <a:ext cx="11125200" cy="1405890"/>
            </a:xfrm>
            <a:prstGeom prst="roundRect">
              <a:avLst>
                <a:gd name="adj" fmla="val 94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9" name="Rectangle 179"/>
            <p:cNvSpPr/>
            <p:nvPr/>
          </p:nvSpPr>
          <p:spPr>
            <a:xfrm>
              <a:off x="542925" y="5090160"/>
              <a:ext cx="47625" cy="113919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0" name="Rectangle 180"/>
            <p:cNvSpPr/>
            <p:nvPr/>
          </p:nvSpPr>
          <p:spPr>
            <a:xfrm>
              <a:off x="763905" y="5149215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1" name="TextBox 181"/>
            <p:cNvSpPr txBox="1"/>
            <p:nvPr/>
          </p:nvSpPr>
          <p:spPr>
            <a:xfrm>
              <a:off x="827341" y="518350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频率直方图说明什么</a:t>
              </a:r>
            </a:p>
          </p:txBody>
        </p:sp>
        <p:sp>
          <p:nvSpPr>
            <p:cNvPr id="182" name="Ellipse 182"/>
            <p:cNvSpPr/>
            <p:nvPr/>
          </p:nvSpPr>
          <p:spPr>
            <a:xfrm>
              <a:off x="763905" y="549402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3" name="TextBox 183"/>
            <p:cNvSpPr txBox="1"/>
            <p:nvPr/>
          </p:nvSpPr>
          <p:spPr>
            <a:xfrm>
              <a:off x="819583" y="55324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4" name="TextBox 184"/>
            <p:cNvSpPr txBox="1"/>
            <p:nvPr/>
          </p:nvSpPr>
          <p:spPr>
            <a:xfrm>
              <a:off x="1044702" y="5506402"/>
              <a:ext cx="77490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个小矩形的面积 yᵢΔtᵢ 等于样本值落在该子区间内的频率 fᵢ，所有小矩形的面积之和等于 1</a:t>
              </a:r>
            </a:p>
          </p:txBody>
        </p:sp>
        <p:sp>
          <p:nvSpPr>
            <p:cNvPr id="185" name="Ellipse 185"/>
            <p:cNvSpPr/>
            <p:nvPr/>
          </p:nvSpPr>
          <p:spPr>
            <a:xfrm>
              <a:off x="763905" y="579596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6" name="TextBox 186"/>
            <p:cNvSpPr txBox="1"/>
            <p:nvPr/>
          </p:nvSpPr>
          <p:spPr>
            <a:xfrm>
              <a:off x="819583" y="583530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7" name="TextBox 187"/>
            <p:cNvSpPr txBox="1"/>
            <p:nvPr/>
          </p:nvSpPr>
          <p:spPr>
            <a:xfrm>
              <a:off x="1044702" y="5808345"/>
              <a:ext cx="90786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充分大时频率近似等于概率，面积 fᵢ 近似等于 P{tᵢ₋₁ &lt; X ≤ tᵢ}，所以直方图的轮廓大致反映总体的密度曲线</a:t>
              </a:r>
            </a:p>
          </p:txBody>
        </p:sp>
      </p:grpSp>
      <p:grpSp>
        <p:nvGrpSpPr>
          <p:cNvPr id="1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89" name="TextBox 18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190" name="TextBox 1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00636" cy="909257"/>
            <a:chOff x="520446" y="342900"/>
            <a:chExt cx="640063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直方图与样本分布函数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006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 解：取 16 组、组距 2，数出每组频数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0" name="c1-table-1"/>
          <p:cNvGrpSpPr/>
          <p:nvPr/>
        </p:nvGrpSpPr>
        <p:grpSpPr>
          <a:xfrm>
            <a:off x="533400" y="1524000"/>
            <a:ext cx="5626418" cy="3871912"/>
            <a:chOff x="533400" y="1524000"/>
            <a:chExt cx="5626418" cy="38719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8976" y="1655445"/>
              <a:ext cx="12766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分组 (tᵢ₋₁, tᵢ]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97783" y="1655445"/>
              <a:ext cx="57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频数 nᵢ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52661" y="1655445"/>
              <a:ext cx="12766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分组 (tᵢ₋₁, tᵢ]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10515" y="1655445"/>
              <a:ext cx="57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频数 nᵢ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0520" y="2085022"/>
              <a:ext cx="9535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63.5 ~ 65.5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33637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36619" y="2085022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79.5 ~ 81.5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044440" y="1964055"/>
              <a:ext cx="1105852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501945" y="208502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3793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384108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0520" y="2515552"/>
              <a:ext cx="9535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65.5 ~ 67.5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3363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36619" y="2515552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81.5 ~ 83.5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01945" y="25155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8098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0520" y="2946082"/>
              <a:ext cx="9535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67.5 ~ 69.5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33637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36619" y="2946082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83.5 ~ 85.5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01945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23945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244215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0520" y="3375660"/>
              <a:ext cx="9535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69.5 ~ 71.5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33637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36619" y="3375660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85.5 ~ 87.5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46369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6699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0520" y="3806190"/>
              <a:ext cx="9535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71.5 ~ 73.5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33637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36619" y="3806190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87.5 ~ 89.5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546369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1005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4105275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0520" y="4235768"/>
              <a:ext cx="9535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73.5 ~ 75.5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733637" y="42357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736619" y="4235768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89.5 ~ 91.5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546369" y="42357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5300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00520" y="4666298"/>
              <a:ext cx="9535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75.5 ~ 77.5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689212" y="466629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736619" y="4666298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91.5 ~ 93.5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546369" y="466629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496062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4965382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00520" y="5096828"/>
              <a:ext cx="9535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77.5 ~ 79.5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689212" y="509682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736619" y="5096828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93.5 ~ 95.5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546369" y="509682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1524000"/>
              <a:ext cx="5626418" cy="38709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2216468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3342322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030152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8" name="c2-steps-1"/>
          <p:cNvGrpSpPr/>
          <p:nvPr/>
        </p:nvGrpSpPr>
        <p:grpSpPr>
          <a:xfrm>
            <a:off x="6464618" y="1533525"/>
            <a:ext cx="4213403" cy="2411159"/>
            <a:chOff x="6464618" y="1533525"/>
            <a:chExt cx="4213403" cy="2411159"/>
          </a:xfrm>
        </p:grpSpPr>
        <p:sp>
          <p:nvSpPr>
            <p:cNvPr id="61" name="Rectangle 61"/>
            <p:cNvSpPr/>
            <p:nvPr/>
          </p:nvSpPr>
          <p:spPr>
            <a:xfrm>
              <a:off x="6597968" y="167640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464618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58241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464618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558241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464618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558241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876479" y="156638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定范围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877622" y="1846898"/>
              <a:ext cx="35823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x₍₁₎ = 64，x₍₁₂₀₎ = 95，取 a = 63.5，b = 95.5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876479" y="218741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定组数与组距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877622" y="2467927"/>
              <a:ext cx="26609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16，Δt = (95.5 − 63.5)/16 = 2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876479" y="280844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分点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877622" y="3088957"/>
              <a:ext cx="38003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t₀ = 63.5，t₁ = 65.5，…，t₁₅ = 93.5，t₁₆ = 95.5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876479" y="342947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矩形的高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877622" y="3709988"/>
              <a:ext cx="20799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yᵢ = nᵢ/(120 × 2) = nᵢ/240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formula45"/>
              <p:cNvSpPr txBox="1">
                <a:spLocks noGrp="1"/>
              </p:cNvSpPr>
              <p:nvPr/>
            </p:nvSpPr>
            <p:spPr>
              <a:xfrm>
                <a:off x="6464618" y="4120515"/>
                <a:ext cx="5193982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240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85" name="c2-callout-3"/>
          <p:cNvGrpSpPr/>
          <p:nvPr/>
        </p:nvGrpSpPr>
        <p:grpSpPr>
          <a:xfrm>
            <a:off x="6464618" y="4820602"/>
            <a:ext cx="5193982" cy="756285"/>
            <a:chOff x="6464618" y="4820602"/>
            <a:chExt cx="5193982" cy="756285"/>
          </a:xfrm>
        </p:grpSpPr>
        <p:sp>
          <p:nvSpPr>
            <p:cNvPr id="80" name="Rectangle 80"/>
            <p:cNvSpPr/>
            <p:nvPr/>
          </p:nvSpPr>
          <p:spPr>
            <a:xfrm>
              <a:off x="6464618" y="4820602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6669405" y="5098733"/>
              <a:ext cx="200026" cy="200026"/>
              <a:chOff x="6669405" y="5098733"/>
              <a:chExt cx="200026" cy="200026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6669405" y="50987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6736080" y="517652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6971729" y="4967764"/>
              <a:ext cx="419836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16 组频数之和为 120，面积之和为 1；频数已用脚本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重新分组核对，与课件一致。</a:t>
              </a:r>
            </a:p>
          </p:txBody>
        </p:sp>
      </p:grpSp>
      <p:grpSp>
        <p:nvGrpSpPr>
          <p:cNvPr id="9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86" name="Rectangle 8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1040511" y="6004084"/>
              <a:ext cx="55485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分点取到 0.5，而成绩都是整数，每个成绩落在哪一组是确定的。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94939" cy="909257"/>
            <a:chOff x="520446" y="342900"/>
            <a:chExt cx="47949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直方图与样本分布函数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949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 的直方图：单峰、近似对称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5" name="histA"/>
          <p:cNvGrpSpPr/>
          <p:nvPr/>
        </p:nvGrpSpPr>
        <p:grpSpPr>
          <a:xfrm>
            <a:off x="533400" y="1524000"/>
            <a:ext cx="7162800" cy="4762500"/>
            <a:chOff x="533400" y="1524000"/>
            <a:chExt cx="71628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71628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1662589"/>
              <a:ext cx="19165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120 人成绩的频率直方图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566" y="1925002"/>
              <a:ext cx="4751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组距 Δt = 2，第 i 个矩形的高 yᵢ = nᵢ/240，面积就是该组的频率 nᵢ/120。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352550" y="5045392"/>
              <a:ext cx="351472" cy="212408"/>
            </a:xfrm>
            <a:prstGeom prst="rect">
              <a:avLst/>
            </a:prstGeom>
            <a:solidFill>
              <a:srgbClr val="D6DFF3"/>
            </a:solidFill>
            <a:ln w="10478">
              <a:solidFill>
                <a:srgbClr val="8EA3D6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406015" y="5045392"/>
              <a:ext cx="351472" cy="212408"/>
            </a:xfrm>
            <a:prstGeom prst="rect">
              <a:avLst/>
            </a:prstGeom>
            <a:solidFill>
              <a:srgbClr val="D6DFF3"/>
            </a:solidFill>
            <a:ln w="10478">
              <a:solidFill>
                <a:srgbClr val="8EA3D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757488" y="5045392"/>
              <a:ext cx="351472" cy="212408"/>
            </a:xfrm>
            <a:prstGeom prst="rect">
              <a:avLst/>
            </a:prstGeom>
            <a:solidFill>
              <a:srgbClr val="D6DFF3"/>
            </a:solidFill>
            <a:ln w="10478">
              <a:solidFill>
                <a:srgbClr val="8EA3D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108960" y="4407218"/>
              <a:ext cx="351472" cy="850582"/>
            </a:xfrm>
            <a:prstGeom prst="rect">
              <a:avLst/>
            </a:prstGeom>
            <a:solidFill>
              <a:srgbClr val="D6DFF3"/>
            </a:solidFill>
            <a:ln w="10478">
              <a:solidFill>
                <a:srgbClr val="8EA3D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59480" y="3875722"/>
              <a:ext cx="351472" cy="1382078"/>
            </a:xfrm>
            <a:prstGeom prst="rect">
              <a:avLst/>
            </a:prstGeom>
            <a:solidFill>
              <a:srgbClr val="D6DFF3"/>
            </a:solidFill>
            <a:ln w="10478">
              <a:solidFill>
                <a:srgbClr val="8EA3D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810952" y="2812732"/>
              <a:ext cx="351472" cy="2445068"/>
            </a:xfrm>
            <a:prstGeom prst="rect">
              <a:avLst/>
            </a:prstGeom>
            <a:solidFill>
              <a:srgbClr val="D6DFF3"/>
            </a:solidFill>
            <a:ln w="10478">
              <a:solidFill>
                <a:srgbClr val="8EA3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62425" y="2706052"/>
              <a:ext cx="351472" cy="2551748"/>
            </a:xfrm>
            <a:prstGeom prst="rect">
              <a:avLst/>
            </a:prstGeom>
            <a:solidFill>
              <a:srgbClr val="D6DFF3"/>
            </a:solidFill>
            <a:ln w="10478">
              <a:solidFill>
                <a:srgbClr val="8EA3D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513898" y="3025140"/>
              <a:ext cx="351472" cy="2232660"/>
            </a:xfrm>
            <a:prstGeom prst="rect">
              <a:avLst/>
            </a:prstGeom>
            <a:solidFill>
              <a:srgbClr val="D6DFF3"/>
            </a:solidFill>
            <a:ln w="10478">
              <a:solidFill>
                <a:srgbClr val="8EA3D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865370" y="3769995"/>
              <a:ext cx="351472" cy="1487805"/>
            </a:xfrm>
            <a:prstGeom prst="rect">
              <a:avLst/>
            </a:prstGeom>
            <a:solidFill>
              <a:srgbClr val="D6DFF3"/>
            </a:solidFill>
            <a:ln w="10478">
              <a:solidFill>
                <a:srgbClr val="8EA3D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215890" y="4619625"/>
              <a:ext cx="351472" cy="638175"/>
            </a:xfrm>
            <a:prstGeom prst="rect">
              <a:avLst/>
            </a:prstGeom>
            <a:solidFill>
              <a:srgbClr val="D6DFF3"/>
            </a:solidFill>
            <a:ln w="10478">
              <a:solidFill>
                <a:srgbClr val="8EA3D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567362" y="5045392"/>
              <a:ext cx="351472" cy="212408"/>
            </a:xfrm>
            <a:prstGeom prst="rect">
              <a:avLst/>
            </a:prstGeom>
            <a:solidFill>
              <a:srgbClr val="D6DFF3"/>
            </a:solidFill>
            <a:ln w="10478">
              <a:solidFill>
                <a:srgbClr val="8EA3D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918835" y="5045392"/>
              <a:ext cx="351472" cy="212408"/>
            </a:xfrm>
            <a:prstGeom prst="rect">
              <a:avLst/>
            </a:prstGeom>
            <a:solidFill>
              <a:srgbClr val="D6DFF3"/>
            </a:solidFill>
            <a:ln w="10478">
              <a:solidFill>
                <a:srgbClr val="8EA3D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20828" y="5151120"/>
              <a:ext cx="351472" cy="106680"/>
            </a:xfrm>
            <a:prstGeom prst="rect">
              <a:avLst/>
            </a:prstGeom>
            <a:solidFill>
              <a:srgbClr val="D6DFF3"/>
            </a:solidFill>
            <a:ln w="10478">
              <a:solidFill>
                <a:srgbClr val="8EA3D6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352550" y="2995612"/>
              <a:ext cx="5619750" cy="2260282"/>
            </a:xfrm>
            <a:custGeom>
              <a:avLst/>
              <a:gdLst/>
              <a:ahLst/>
              <a:cxnLst/>
              <a:rect l="l" t="t" r="r" b="b"/>
              <a:pathLst>
                <a:path w="5619750" h="2260282">
                  <a:moveTo>
                    <a:pt x="0" y="2260282"/>
                  </a:moveTo>
                  <a:lnTo>
                    <a:pt x="27623" y="2259330"/>
                  </a:lnTo>
                  <a:lnTo>
                    <a:pt x="56198" y="2259330"/>
                  </a:lnTo>
                  <a:lnTo>
                    <a:pt x="83820" y="2259330"/>
                  </a:lnTo>
                  <a:lnTo>
                    <a:pt x="112395" y="2258378"/>
                  </a:lnTo>
                  <a:lnTo>
                    <a:pt x="140017" y="2258378"/>
                  </a:lnTo>
                  <a:lnTo>
                    <a:pt x="168592" y="2257425"/>
                  </a:lnTo>
                  <a:lnTo>
                    <a:pt x="197167" y="2256472"/>
                  </a:lnTo>
                  <a:lnTo>
                    <a:pt x="224790" y="2256472"/>
                  </a:lnTo>
                  <a:lnTo>
                    <a:pt x="252412" y="2255520"/>
                  </a:lnTo>
                  <a:lnTo>
                    <a:pt x="280988" y="2254568"/>
                  </a:lnTo>
                  <a:lnTo>
                    <a:pt x="309562" y="2253615"/>
                  </a:lnTo>
                  <a:lnTo>
                    <a:pt x="337185" y="2252662"/>
                  </a:lnTo>
                  <a:lnTo>
                    <a:pt x="364808" y="2250757"/>
                  </a:lnTo>
                  <a:lnTo>
                    <a:pt x="393383" y="2249805"/>
                  </a:lnTo>
                  <a:lnTo>
                    <a:pt x="421958" y="2247900"/>
                  </a:lnTo>
                  <a:lnTo>
                    <a:pt x="449580" y="2246948"/>
                  </a:lnTo>
                  <a:lnTo>
                    <a:pt x="477202" y="2245043"/>
                  </a:lnTo>
                  <a:lnTo>
                    <a:pt x="505777" y="2243138"/>
                  </a:lnTo>
                  <a:lnTo>
                    <a:pt x="534352" y="2240280"/>
                  </a:lnTo>
                  <a:lnTo>
                    <a:pt x="561975" y="2238375"/>
                  </a:lnTo>
                  <a:lnTo>
                    <a:pt x="589598" y="2235518"/>
                  </a:lnTo>
                  <a:lnTo>
                    <a:pt x="618172" y="2232660"/>
                  </a:lnTo>
                  <a:lnTo>
                    <a:pt x="646748" y="2228850"/>
                  </a:lnTo>
                  <a:lnTo>
                    <a:pt x="674370" y="2225040"/>
                  </a:lnTo>
                  <a:lnTo>
                    <a:pt x="702945" y="2221230"/>
                  </a:lnTo>
                  <a:lnTo>
                    <a:pt x="730567" y="2217420"/>
                  </a:lnTo>
                  <a:lnTo>
                    <a:pt x="758190" y="2212657"/>
                  </a:lnTo>
                  <a:lnTo>
                    <a:pt x="786765" y="2206943"/>
                  </a:lnTo>
                  <a:lnTo>
                    <a:pt x="815340" y="2202180"/>
                  </a:lnTo>
                  <a:lnTo>
                    <a:pt x="842962" y="2195512"/>
                  </a:lnTo>
                  <a:lnTo>
                    <a:pt x="870585" y="2188845"/>
                  </a:lnTo>
                  <a:lnTo>
                    <a:pt x="899160" y="2182178"/>
                  </a:lnTo>
                  <a:lnTo>
                    <a:pt x="927735" y="2174557"/>
                  </a:lnTo>
                  <a:lnTo>
                    <a:pt x="955358" y="2165985"/>
                  </a:lnTo>
                  <a:lnTo>
                    <a:pt x="982980" y="2157412"/>
                  </a:lnTo>
                  <a:lnTo>
                    <a:pt x="1011555" y="2147888"/>
                  </a:lnTo>
                  <a:lnTo>
                    <a:pt x="1040130" y="2137410"/>
                  </a:lnTo>
                  <a:lnTo>
                    <a:pt x="1067752" y="2125980"/>
                  </a:lnTo>
                  <a:lnTo>
                    <a:pt x="1095375" y="2114550"/>
                  </a:lnTo>
                  <a:lnTo>
                    <a:pt x="1123950" y="2102168"/>
                  </a:lnTo>
                  <a:lnTo>
                    <a:pt x="1152525" y="2087880"/>
                  </a:lnTo>
                  <a:lnTo>
                    <a:pt x="1180147" y="2073593"/>
                  </a:lnTo>
                  <a:lnTo>
                    <a:pt x="1207770" y="2058353"/>
                  </a:lnTo>
                  <a:lnTo>
                    <a:pt x="1236345" y="2042160"/>
                  </a:lnTo>
                  <a:lnTo>
                    <a:pt x="1264920" y="2024062"/>
                  </a:lnTo>
                  <a:lnTo>
                    <a:pt x="1292542" y="2005965"/>
                  </a:lnTo>
                  <a:lnTo>
                    <a:pt x="1320165" y="1985962"/>
                  </a:lnTo>
                  <a:lnTo>
                    <a:pt x="1348740" y="1965960"/>
                  </a:lnTo>
                  <a:lnTo>
                    <a:pt x="1377315" y="1944053"/>
                  </a:lnTo>
                  <a:lnTo>
                    <a:pt x="1404938" y="1921193"/>
                  </a:lnTo>
                  <a:lnTo>
                    <a:pt x="1432560" y="1896428"/>
                  </a:lnTo>
                  <a:lnTo>
                    <a:pt x="1461135" y="1871662"/>
                  </a:lnTo>
                  <a:lnTo>
                    <a:pt x="1489710" y="1844992"/>
                  </a:lnTo>
                  <a:lnTo>
                    <a:pt x="1517332" y="1816418"/>
                  </a:lnTo>
                  <a:lnTo>
                    <a:pt x="1544955" y="1787842"/>
                  </a:lnTo>
                  <a:lnTo>
                    <a:pt x="1573530" y="1757362"/>
                  </a:lnTo>
                  <a:lnTo>
                    <a:pt x="1602105" y="1724978"/>
                  </a:lnTo>
                  <a:lnTo>
                    <a:pt x="1629728" y="1692592"/>
                  </a:lnTo>
                  <a:lnTo>
                    <a:pt x="1657350" y="1658303"/>
                  </a:lnTo>
                  <a:lnTo>
                    <a:pt x="1685925" y="1622108"/>
                  </a:lnTo>
                  <a:lnTo>
                    <a:pt x="1714500" y="1585912"/>
                  </a:lnTo>
                  <a:lnTo>
                    <a:pt x="1742122" y="1547812"/>
                  </a:lnTo>
                  <a:lnTo>
                    <a:pt x="1769745" y="1508760"/>
                  </a:lnTo>
                  <a:lnTo>
                    <a:pt x="1798320" y="1467803"/>
                  </a:lnTo>
                  <a:lnTo>
                    <a:pt x="1826895" y="1426845"/>
                  </a:lnTo>
                  <a:lnTo>
                    <a:pt x="1854518" y="1383982"/>
                  </a:lnTo>
                  <a:lnTo>
                    <a:pt x="1882140" y="1341120"/>
                  </a:lnTo>
                  <a:lnTo>
                    <a:pt x="1910715" y="1296353"/>
                  </a:lnTo>
                  <a:lnTo>
                    <a:pt x="1938338" y="1251585"/>
                  </a:lnTo>
                  <a:lnTo>
                    <a:pt x="1966912" y="1204912"/>
                  </a:lnTo>
                  <a:lnTo>
                    <a:pt x="1994535" y="1158240"/>
                  </a:lnTo>
                  <a:lnTo>
                    <a:pt x="2023110" y="1110615"/>
                  </a:lnTo>
                  <a:lnTo>
                    <a:pt x="2051685" y="1062990"/>
                  </a:lnTo>
                  <a:lnTo>
                    <a:pt x="2079308" y="1015365"/>
                  </a:lnTo>
                  <a:lnTo>
                    <a:pt x="2106930" y="966788"/>
                  </a:lnTo>
                  <a:lnTo>
                    <a:pt x="2135505" y="918210"/>
                  </a:lnTo>
                  <a:lnTo>
                    <a:pt x="2163128" y="868680"/>
                  </a:lnTo>
                  <a:lnTo>
                    <a:pt x="2191702" y="820103"/>
                  </a:lnTo>
                  <a:lnTo>
                    <a:pt x="2220278" y="771525"/>
                  </a:lnTo>
                  <a:lnTo>
                    <a:pt x="2247900" y="722947"/>
                  </a:lnTo>
                  <a:lnTo>
                    <a:pt x="2276475" y="675322"/>
                  </a:lnTo>
                  <a:lnTo>
                    <a:pt x="2304098" y="628650"/>
                  </a:lnTo>
                  <a:lnTo>
                    <a:pt x="2332672" y="581978"/>
                  </a:lnTo>
                  <a:lnTo>
                    <a:pt x="2360295" y="536258"/>
                  </a:lnTo>
                  <a:lnTo>
                    <a:pt x="2387918" y="491490"/>
                  </a:lnTo>
                  <a:lnTo>
                    <a:pt x="2416492" y="447675"/>
                  </a:lnTo>
                  <a:lnTo>
                    <a:pt x="2445068" y="405765"/>
                  </a:lnTo>
                  <a:lnTo>
                    <a:pt x="2472690" y="364808"/>
                  </a:lnTo>
                  <a:lnTo>
                    <a:pt x="2500312" y="325755"/>
                  </a:lnTo>
                  <a:lnTo>
                    <a:pt x="2528888" y="288608"/>
                  </a:lnTo>
                  <a:lnTo>
                    <a:pt x="2557462" y="252412"/>
                  </a:lnTo>
                  <a:lnTo>
                    <a:pt x="2585085" y="219075"/>
                  </a:lnTo>
                  <a:lnTo>
                    <a:pt x="2612708" y="186690"/>
                  </a:lnTo>
                  <a:lnTo>
                    <a:pt x="2641282" y="157162"/>
                  </a:lnTo>
                  <a:lnTo>
                    <a:pt x="2669858" y="130492"/>
                  </a:lnTo>
                  <a:lnTo>
                    <a:pt x="2697480" y="104775"/>
                  </a:lnTo>
                  <a:lnTo>
                    <a:pt x="2725102" y="82867"/>
                  </a:lnTo>
                  <a:lnTo>
                    <a:pt x="2753678" y="62865"/>
                  </a:lnTo>
                  <a:lnTo>
                    <a:pt x="2782252" y="45720"/>
                  </a:lnTo>
                  <a:lnTo>
                    <a:pt x="2809875" y="31433"/>
                  </a:lnTo>
                  <a:lnTo>
                    <a:pt x="2837498" y="19050"/>
                  </a:lnTo>
                  <a:lnTo>
                    <a:pt x="2866072" y="10478"/>
                  </a:lnTo>
                  <a:lnTo>
                    <a:pt x="2894648" y="3810"/>
                  </a:lnTo>
                  <a:lnTo>
                    <a:pt x="2922270" y="0"/>
                  </a:lnTo>
                  <a:lnTo>
                    <a:pt x="2949892" y="0"/>
                  </a:lnTo>
                  <a:lnTo>
                    <a:pt x="2978468" y="1905"/>
                  </a:lnTo>
                  <a:lnTo>
                    <a:pt x="3007042" y="7620"/>
                  </a:lnTo>
                  <a:lnTo>
                    <a:pt x="3034665" y="15240"/>
                  </a:lnTo>
                  <a:lnTo>
                    <a:pt x="3062288" y="26670"/>
                  </a:lnTo>
                  <a:lnTo>
                    <a:pt x="3090862" y="40005"/>
                  </a:lnTo>
                  <a:lnTo>
                    <a:pt x="3119438" y="56197"/>
                  </a:lnTo>
                  <a:lnTo>
                    <a:pt x="3147060" y="75247"/>
                  </a:lnTo>
                  <a:lnTo>
                    <a:pt x="3174682" y="96203"/>
                  </a:lnTo>
                  <a:lnTo>
                    <a:pt x="3203258" y="120015"/>
                  </a:lnTo>
                  <a:lnTo>
                    <a:pt x="3231832" y="146685"/>
                  </a:lnTo>
                  <a:lnTo>
                    <a:pt x="3259455" y="175260"/>
                  </a:lnTo>
                  <a:lnTo>
                    <a:pt x="3287078" y="206692"/>
                  </a:lnTo>
                  <a:lnTo>
                    <a:pt x="3315652" y="240030"/>
                  </a:lnTo>
                  <a:lnTo>
                    <a:pt x="3343275" y="274320"/>
                  </a:lnTo>
                  <a:lnTo>
                    <a:pt x="3371850" y="311467"/>
                  </a:lnTo>
                  <a:lnTo>
                    <a:pt x="3399472" y="350520"/>
                  </a:lnTo>
                  <a:lnTo>
                    <a:pt x="3428048" y="390525"/>
                  </a:lnTo>
                  <a:lnTo>
                    <a:pt x="3456622" y="432435"/>
                  </a:lnTo>
                  <a:lnTo>
                    <a:pt x="3484245" y="475297"/>
                  </a:lnTo>
                  <a:lnTo>
                    <a:pt x="3512820" y="519112"/>
                  </a:lnTo>
                  <a:lnTo>
                    <a:pt x="3540443" y="564833"/>
                  </a:lnTo>
                  <a:lnTo>
                    <a:pt x="3568065" y="610553"/>
                  </a:lnTo>
                  <a:lnTo>
                    <a:pt x="3596640" y="658178"/>
                  </a:lnTo>
                  <a:lnTo>
                    <a:pt x="3624262" y="705803"/>
                  </a:lnTo>
                  <a:lnTo>
                    <a:pt x="3652838" y="753428"/>
                  </a:lnTo>
                  <a:lnTo>
                    <a:pt x="3681412" y="802005"/>
                  </a:lnTo>
                  <a:lnTo>
                    <a:pt x="3709035" y="850583"/>
                  </a:lnTo>
                  <a:lnTo>
                    <a:pt x="3737610" y="899160"/>
                  </a:lnTo>
                  <a:lnTo>
                    <a:pt x="3765232" y="948690"/>
                  </a:lnTo>
                  <a:lnTo>
                    <a:pt x="3792855" y="997267"/>
                  </a:lnTo>
                  <a:lnTo>
                    <a:pt x="3821430" y="1044892"/>
                  </a:lnTo>
                  <a:lnTo>
                    <a:pt x="3850005" y="1093470"/>
                  </a:lnTo>
                  <a:lnTo>
                    <a:pt x="3877628" y="1141095"/>
                  </a:lnTo>
                  <a:lnTo>
                    <a:pt x="3905250" y="1187768"/>
                  </a:lnTo>
                  <a:lnTo>
                    <a:pt x="3933825" y="1234440"/>
                  </a:lnTo>
                  <a:lnTo>
                    <a:pt x="3962400" y="1279208"/>
                  </a:lnTo>
                  <a:lnTo>
                    <a:pt x="3990022" y="1323975"/>
                  </a:lnTo>
                  <a:lnTo>
                    <a:pt x="4017645" y="1367790"/>
                  </a:lnTo>
                  <a:lnTo>
                    <a:pt x="4046220" y="1410653"/>
                  </a:lnTo>
                  <a:lnTo>
                    <a:pt x="4074795" y="1452562"/>
                  </a:lnTo>
                  <a:lnTo>
                    <a:pt x="4102418" y="1493520"/>
                  </a:lnTo>
                  <a:lnTo>
                    <a:pt x="4130040" y="1532572"/>
                  </a:lnTo>
                  <a:lnTo>
                    <a:pt x="4158615" y="1571625"/>
                  </a:lnTo>
                  <a:lnTo>
                    <a:pt x="4187190" y="1608772"/>
                  </a:lnTo>
                  <a:lnTo>
                    <a:pt x="4214812" y="1644968"/>
                  </a:lnTo>
                  <a:lnTo>
                    <a:pt x="4242435" y="1679258"/>
                  </a:lnTo>
                  <a:lnTo>
                    <a:pt x="4271010" y="1712595"/>
                  </a:lnTo>
                  <a:lnTo>
                    <a:pt x="4299585" y="1744980"/>
                  </a:lnTo>
                  <a:lnTo>
                    <a:pt x="4327208" y="1776412"/>
                  </a:lnTo>
                  <a:lnTo>
                    <a:pt x="4354830" y="1805940"/>
                  </a:lnTo>
                  <a:lnTo>
                    <a:pt x="4383405" y="1834515"/>
                  </a:lnTo>
                  <a:lnTo>
                    <a:pt x="4411980" y="1861185"/>
                  </a:lnTo>
                  <a:lnTo>
                    <a:pt x="4439602" y="1886903"/>
                  </a:lnTo>
                  <a:lnTo>
                    <a:pt x="4467225" y="1911668"/>
                  </a:lnTo>
                  <a:lnTo>
                    <a:pt x="4495800" y="1935480"/>
                  </a:lnTo>
                  <a:lnTo>
                    <a:pt x="4524375" y="1957388"/>
                  </a:lnTo>
                  <a:lnTo>
                    <a:pt x="4551998" y="1978343"/>
                  </a:lnTo>
                  <a:lnTo>
                    <a:pt x="4579620" y="1998345"/>
                  </a:lnTo>
                  <a:lnTo>
                    <a:pt x="4608195" y="2017395"/>
                  </a:lnTo>
                  <a:lnTo>
                    <a:pt x="4636770" y="2035493"/>
                  </a:lnTo>
                  <a:lnTo>
                    <a:pt x="4664392" y="2052638"/>
                  </a:lnTo>
                  <a:lnTo>
                    <a:pt x="4692015" y="2067878"/>
                  </a:lnTo>
                  <a:lnTo>
                    <a:pt x="4720590" y="2083118"/>
                  </a:lnTo>
                  <a:lnTo>
                    <a:pt x="4748212" y="2096453"/>
                  </a:lnTo>
                  <a:lnTo>
                    <a:pt x="4776788" y="2109788"/>
                  </a:lnTo>
                  <a:lnTo>
                    <a:pt x="4805362" y="2122170"/>
                  </a:lnTo>
                  <a:lnTo>
                    <a:pt x="4832985" y="2133600"/>
                  </a:lnTo>
                  <a:lnTo>
                    <a:pt x="4861560" y="2144078"/>
                  </a:lnTo>
                  <a:lnTo>
                    <a:pt x="4889182" y="2153602"/>
                  </a:lnTo>
                  <a:lnTo>
                    <a:pt x="4916805" y="2163128"/>
                  </a:lnTo>
                  <a:lnTo>
                    <a:pt x="4945380" y="2171700"/>
                  </a:lnTo>
                  <a:lnTo>
                    <a:pt x="4973002" y="2179320"/>
                  </a:lnTo>
                  <a:lnTo>
                    <a:pt x="5001578" y="2186940"/>
                  </a:lnTo>
                  <a:lnTo>
                    <a:pt x="5029200" y="2193607"/>
                  </a:lnTo>
                  <a:lnTo>
                    <a:pt x="5057775" y="2199322"/>
                  </a:lnTo>
                  <a:lnTo>
                    <a:pt x="5086350" y="2205038"/>
                  </a:lnTo>
                  <a:lnTo>
                    <a:pt x="5113972" y="2210752"/>
                  </a:lnTo>
                  <a:lnTo>
                    <a:pt x="5142548" y="2215515"/>
                  </a:lnTo>
                  <a:lnTo>
                    <a:pt x="5170170" y="2220278"/>
                  </a:lnTo>
                  <a:lnTo>
                    <a:pt x="5197792" y="2224088"/>
                  </a:lnTo>
                  <a:lnTo>
                    <a:pt x="5226368" y="2227898"/>
                  </a:lnTo>
                  <a:lnTo>
                    <a:pt x="5253990" y="2230755"/>
                  </a:lnTo>
                  <a:lnTo>
                    <a:pt x="5282565" y="2234565"/>
                  </a:lnTo>
                  <a:lnTo>
                    <a:pt x="5310188" y="2236470"/>
                  </a:lnTo>
                  <a:lnTo>
                    <a:pt x="5338762" y="2239328"/>
                  </a:lnTo>
                  <a:lnTo>
                    <a:pt x="5367338" y="2242185"/>
                  </a:lnTo>
                  <a:lnTo>
                    <a:pt x="5394960" y="2244090"/>
                  </a:lnTo>
                  <a:lnTo>
                    <a:pt x="5422582" y="2245995"/>
                  </a:lnTo>
                  <a:lnTo>
                    <a:pt x="5451158" y="2247900"/>
                  </a:lnTo>
                  <a:lnTo>
                    <a:pt x="5478780" y="2248852"/>
                  </a:lnTo>
                  <a:lnTo>
                    <a:pt x="5507355" y="2250757"/>
                  </a:lnTo>
                  <a:lnTo>
                    <a:pt x="5534978" y="2251710"/>
                  </a:lnTo>
                  <a:lnTo>
                    <a:pt x="5563552" y="2252662"/>
                  </a:lnTo>
                  <a:lnTo>
                    <a:pt x="5592128" y="2253615"/>
                  </a:lnTo>
                  <a:lnTo>
                    <a:pt x="5619750" y="2254568"/>
                  </a:lnTo>
                </a:path>
              </a:pathLst>
            </a:custGeom>
            <a:noFill/>
            <a:ln w="20955">
              <a:solidFill>
                <a:srgbClr val="F26B3A"/>
              </a:solidFill>
              <a:custDash>
                <a:ds d="272727" sp="181818"/>
              </a:custDash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486870" y="4877314"/>
              <a:ext cx="8260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38095" y="5089922"/>
              <a:ext cx="8260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89339" y="5089922"/>
              <a:ext cx="8260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40564" y="4877314"/>
              <a:ext cx="8260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91808" y="4877314"/>
              <a:ext cx="8260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43033" y="4239473"/>
              <a:ext cx="8260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57737" y="3707949"/>
              <a:ext cx="15568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08962" y="2644892"/>
              <a:ext cx="15568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60206" y="2538584"/>
              <a:ext cx="15568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11431" y="2857500"/>
              <a:ext cx="15568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62675" y="3601641"/>
              <a:ext cx="15568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50439" y="4452090"/>
              <a:ext cx="8260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01683" y="4877314"/>
              <a:ext cx="8260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52908" y="4877314"/>
              <a:ext cx="8260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04151" y="5089922"/>
              <a:ext cx="8260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55376" y="4983613"/>
              <a:ext cx="8260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1352550" y="5257800"/>
              <a:ext cx="5686425" cy="9525"/>
            </a:xfrm>
            <a:custGeom>
              <a:avLst/>
              <a:gdLst/>
              <a:ahLst/>
              <a:cxnLst/>
              <a:rect l="l" t="t" r="r" b="b"/>
              <a:pathLst>
                <a:path w="5686425" h="9525">
                  <a:moveTo>
                    <a:pt x="0" y="0"/>
                  </a:moveTo>
                  <a:lnTo>
                    <a:pt x="568642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41" name="Polygon 41"/>
            <p:cNvSpPr/>
            <p:nvPr/>
          </p:nvSpPr>
          <p:spPr>
            <a:xfrm>
              <a:off x="7038975" y="522779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1352550" y="2390775"/>
              <a:ext cx="9525" cy="2867025"/>
            </a:xfrm>
            <a:custGeom>
              <a:avLst/>
              <a:gdLst/>
              <a:ahLst/>
              <a:cxnLst/>
              <a:rect l="l" t="t" r="r" b="b"/>
              <a:pathLst>
                <a:path w="9525" h="2867025">
                  <a:moveTo>
                    <a:pt x="0" y="28670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43" name="Polygon 43"/>
            <p:cNvSpPr/>
            <p:nvPr/>
          </p:nvSpPr>
          <p:spPr>
            <a:xfrm>
              <a:off x="1322546" y="2324100"/>
              <a:ext cx="60008" cy="66675"/>
            </a:xfrm>
            <a:custGeom>
              <a:avLst/>
              <a:gdLst/>
              <a:ahLst/>
              <a:cxnLst/>
              <a:rect l="l" t="t" r="r" b="b"/>
              <a:pathLst>
                <a:path w="60008" h="66675">
                  <a:moveTo>
                    <a:pt x="30004" y="0"/>
                  </a:moveTo>
                  <a:lnTo>
                    <a:pt x="60008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86206" y="5053251"/>
              <a:ext cx="28221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成绩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423606" y="2310051"/>
              <a:ext cx="86007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频率/组距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1352550" y="52578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208590" y="5337572"/>
              <a:ext cx="28791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63.5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2055495" y="52578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911059" y="5337572"/>
              <a:ext cx="28791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67.5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2757488" y="52578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613528" y="5337572"/>
              <a:ext cx="28791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71.5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3459480" y="52578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315997" y="5337572"/>
              <a:ext cx="28791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75.5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4162425" y="52578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018465" y="5337572"/>
              <a:ext cx="28791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79.5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4865370" y="52578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720934" y="5337572"/>
              <a:ext cx="28791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83.5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5567362" y="52578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423403" y="5337572"/>
              <a:ext cx="28791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87.5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6269355" y="52578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125872" y="5337572"/>
              <a:ext cx="28791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91.5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6972300" y="52578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828340" y="5337572"/>
              <a:ext cx="28791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95.5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1304925" y="3982402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26511" y="3919738"/>
              <a:ext cx="4452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12/240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1352550" y="3982402"/>
              <a:ext cx="5619750" cy="9525"/>
            </a:xfrm>
            <a:custGeom>
              <a:avLst/>
              <a:gdLst/>
              <a:ahLst/>
              <a:cxnLst/>
              <a:rect l="l" t="t" r="r" b="b"/>
              <a:pathLst>
                <a:path w="5619750" h="9525">
                  <a:moveTo>
                    <a:pt x="0" y="0"/>
                  </a:moveTo>
                  <a:lnTo>
                    <a:pt x="56197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500000" sp="400000"/>
              </a:custDash>
            </a:ln>
          </p:spPr>
        </p:sp>
        <p:sp>
          <p:nvSpPr>
            <p:cNvPr id="67" name="Line 67"/>
            <p:cNvSpPr/>
            <p:nvPr/>
          </p:nvSpPr>
          <p:spPr>
            <a:xfrm>
              <a:off x="1304925" y="2706052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26511" y="2644073"/>
              <a:ext cx="4452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24/240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1352550" y="2706052"/>
              <a:ext cx="5619750" cy="9525"/>
            </a:xfrm>
            <a:custGeom>
              <a:avLst/>
              <a:gdLst/>
              <a:ahLst/>
              <a:cxnLst/>
              <a:rect l="l" t="t" r="r" b="b"/>
              <a:pathLst>
                <a:path w="5619750" h="9525">
                  <a:moveTo>
                    <a:pt x="0" y="0"/>
                  </a:moveTo>
                  <a:lnTo>
                    <a:pt x="56197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500000" sp="400000"/>
              </a:custDash>
            </a:ln>
          </p:spPr>
        </p:sp>
        <p:sp>
          <p:nvSpPr>
            <p:cNvPr id="70" name="Rectangle 70"/>
            <p:cNvSpPr/>
            <p:nvPr/>
          </p:nvSpPr>
          <p:spPr>
            <a:xfrm>
              <a:off x="1447800" y="5629275"/>
              <a:ext cx="209550" cy="133350"/>
            </a:xfrm>
            <a:prstGeom prst="rect">
              <a:avLst/>
            </a:prstGeom>
            <a:solidFill>
              <a:srgbClr val="D6DFF3"/>
            </a:solidFill>
            <a:ln w="10478">
              <a:solidFill>
                <a:srgbClr val="8EA3D6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728406" y="5634276"/>
              <a:ext cx="132915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矩形：高 = 频率/组距</a:t>
              </a:r>
            </a:p>
          </p:txBody>
        </p:sp>
        <p:sp>
          <p:nvSpPr>
            <p:cNvPr id="72" name="Line 72"/>
            <p:cNvSpPr/>
            <p:nvPr/>
          </p:nvSpPr>
          <p:spPr>
            <a:xfrm>
              <a:off x="3390900" y="56959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4765">
              <a:solidFill>
                <a:srgbClr val="F26B3A"/>
              </a:solidFill>
              <a:custDash>
                <a:ds d="230769" sp="153846"/>
              </a:custDash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3690556" y="5634276"/>
              <a:ext cx="174655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N(80.25, 4.50²) 密度曲线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442656" y="5929551"/>
              <a:ext cx="382413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柱顶的数字是各组频数 nᵢ；最高一组 (79.5, 81.5] 有 24 人。</a:t>
              </a:r>
            </a:p>
          </p:txBody>
        </p:sp>
      </p:grpSp>
      <p:grpSp>
        <p:nvGrpSpPr>
          <p:cNvPr id="91" name="histB"/>
          <p:cNvGrpSpPr/>
          <p:nvPr/>
        </p:nvGrpSpPr>
        <p:grpSpPr>
          <a:xfrm>
            <a:off x="7848600" y="1524000"/>
            <a:ext cx="3810000" cy="4762500"/>
            <a:chOff x="7848600" y="1524000"/>
            <a:chExt cx="3810000" cy="4762500"/>
          </a:xfrm>
        </p:grpSpPr>
        <p:sp>
          <p:nvSpPr>
            <p:cNvPr id="76" name="Rectangle 76"/>
            <p:cNvSpPr/>
            <p:nvPr/>
          </p:nvSpPr>
          <p:spPr>
            <a:xfrm>
              <a:off x="7848600" y="1524000"/>
              <a:ext cx="3810000" cy="1562100"/>
            </a:xfrm>
            <a:prstGeom prst="roundRect">
              <a:avLst>
                <a:gd name="adj" fmla="val 60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7858125" y="1628775"/>
              <a:ext cx="47625" cy="13525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8020050" y="1628775"/>
              <a:ext cx="49530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121015" y="16821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014526" y="1940004"/>
              <a:ext cx="1672209" cy="812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单峰，峰在 80 分附近，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左右大体对称，两头各有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零星几个远离中心的分数。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形状像正态密度曲线。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7848600" y="3219450"/>
              <a:ext cx="3810000" cy="1562100"/>
            </a:xfrm>
            <a:prstGeom prst="roundRect">
              <a:avLst>
                <a:gd name="adj" fmla="val 60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7858125" y="3324225"/>
              <a:ext cx="47625" cy="13525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8020050" y="3324225"/>
              <a:ext cx="12954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097012" y="337756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由直方图估计分布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014526" y="3635454"/>
              <a:ext cx="1969834" cy="812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猜测成绩近似服从正态分布。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用样本算得均值 80.25、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样本标准差 4.50，于是取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近似服从 N(80.25, 4.50²)。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7848600" y="4914900"/>
              <a:ext cx="3810000" cy="1371600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7858125" y="5019675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8020050" y="5019675"/>
              <a:ext cx="49530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8121015" y="50730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014526" y="5330904"/>
              <a:ext cx="1886776" cy="612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这只是看图的猜测。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形状是否真是正态，要到第8章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用分布拟合检验来判定。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06040" cy="909257"/>
            <a:chOff x="520446" y="342900"/>
            <a:chExt cx="73060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直方图与样本分布函数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060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样本分布函数：把 n 个观测值当成一个离散分布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6059805" cy="4104322"/>
            <a:chOff x="533400" y="1524000"/>
            <a:chExt cx="6059805" cy="41043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104322"/>
            </a:xfrm>
            <a:prstGeom prst="roundRect">
              <a:avLst>
                <a:gd name="adj" fmla="val 32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83762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8918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样本分布函数 Fₙ(x)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2254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样本观测值 x₁, …, xₙ 中有 k 个互不相同的值，从小到大记为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x₍₁₎ &lt; x₍₂₎ &lt; … &lt; x₍ₖ₎（k ≤ n）。设 x₍ᵢ₎ 出现 nᵢ 次，频率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fᵢ = nᵢ/n，则 Σnᵢ = n、Σfᵢ = 1。称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47"/>
                <p:cNvSpPr txBox="1">
                  <a:spLocks noGrp="1"/>
                </p:cNvSpPr>
                <p:nvPr/>
              </p:nvSpPr>
              <p:spPr>
                <a:xfrm>
                  <a:off x="781050" y="3011805"/>
                  <a:ext cx="5602605" cy="1219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p>
                                  <m:e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f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,⋯,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≥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4351020"/>
              <a:ext cx="42992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为总体 X 的样本分布函数，也叫经验分布函数。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4573" y="4682966"/>
              <a:ext cx="55923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记号 x₍ᵢ₎ 表示排好序后的第 i 个不同值，Fₙ 在每个 x₍ᵢ₎ 处向上跳 fᵢ。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898005" y="1524000"/>
            <a:ext cx="4760595" cy="4104322"/>
            <a:chOff x="6898005" y="1524000"/>
            <a:chExt cx="4760595" cy="4104322"/>
          </a:xfrm>
        </p:grpSpPr>
        <p:sp>
          <p:nvSpPr>
            <p:cNvPr id="17" name="Rectangle 17"/>
            <p:cNvSpPr/>
            <p:nvPr/>
          </p:nvSpPr>
          <p:spPr>
            <a:xfrm>
              <a:off x="6898005" y="1524000"/>
              <a:ext cx="4760595" cy="4104322"/>
            </a:xfrm>
            <a:prstGeom prst="roundRect">
              <a:avLst>
                <a:gd name="adj" fmla="val 32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907530" y="1657350"/>
              <a:ext cx="47625" cy="383762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145655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31913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38035" y="2110740"/>
              <a:ext cx="3920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样本值 3, 1, 2, 2, 4（n = 5），排序后 1, 2,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3, 4。2 出现两次，在 x = 2 处跳 2/5。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145655" y="2707005"/>
              <a:ext cx="430339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051588" y="2842736"/>
              <a:ext cx="683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的范围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82832" y="2842736"/>
              <a:ext cx="524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Fₙ(x)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83408" y="3291364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&lt; 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91264" y="329136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145655" y="3599498"/>
              <a:ext cx="43033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45655" y="3604260"/>
              <a:ext cx="43033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029618" y="3739991"/>
              <a:ext cx="7276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≤ x &lt; 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96492" y="373999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145655" y="4049078"/>
              <a:ext cx="43033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29618" y="4188619"/>
              <a:ext cx="7276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≤ x &lt; 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96492" y="418861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145655" y="4497705"/>
              <a:ext cx="43033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145655" y="4502468"/>
              <a:ext cx="43033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029618" y="4637246"/>
              <a:ext cx="7276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≤ x &lt; 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396492" y="463724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4/5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145655" y="4946332"/>
              <a:ext cx="43033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183408" y="5086826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≥ 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91264" y="508682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145655" y="2707005"/>
              <a:ext cx="4303395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636442" y="270700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4" name="Rectangle 4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991225"/>
              <a:ext cx="85665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Fₙ(x) 等于观测值中不超过 x 的个数除以 n，也就是事件 {X ≤ x} 在这 n 次观测中发生的频率。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74863" cy="909257"/>
            <a:chOff x="520446" y="342900"/>
            <a:chExt cx="74748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直方图与样本分布函数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748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样本分布函数是一条阶梯，样本越大越贴近 F(x)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ecdfA"/>
          <p:cNvGrpSpPr/>
          <p:nvPr/>
        </p:nvGrpSpPr>
        <p:grpSpPr>
          <a:xfrm>
            <a:off x="533400" y="1524000"/>
            <a:ext cx="5524500" cy="4762500"/>
            <a:chOff x="533400" y="1524000"/>
            <a:chExt cx="55245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524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1662589"/>
              <a:ext cx="20621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5 个观测值的样本分布函数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566" y="1925002"/>
              <a:ext cx="3996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样本值 3, 1, 2, 2, 4 排序后为 1, 2, 2, 3, 4，每个点跳一次。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257300" y="4743450"/>
              <a:ext cx="4048125" cy="9525"/>
            </a:xfrm>
            <a:custGeom>
              <a:avLst/>
              <a:gdLst/>
              <a:ahLst/>
              <a:cxnLst/>
              <a:rect l="l" t="t" r="r" b="b"/>
              <a:pathLst>
                <a:path w="4048125" h="9525">
                  <a:moveTo>
                    <a:pt x="0" y="0"/>
                  </a:moveTo>
                  <a:lnTo>
                    <a:pt x="404812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5305425" y="471344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1533201" y="2333625"/>
              <a:ext cx="9525" cy="2409825"/>
            </a:xfrm>
            <a:custGeom>
              <a:avLst/>
              <a:gdLst/>
              <a:ahLst/>
              <a:cxnLst/>
              <a:rect l="l" t="t" r="r" b="b"/>
              <a:pathLst>
                <a:path w="9525" h="2409825">
                  <a:moveTo>
                    <a:pt x="0" y="24098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1503197" y="2266950"/>
              <a:ext cx="60008" cy="66675"/>
            </a:xfrm>
            <a:custGeom>
              <a:avLst/>
              <a:gdLst/>
              <a:ahLst/>
              <a:cxnLst/>
              <a:rect l="l" t="t" r="r" b="b"/>
              <a:pathLst>
                <a:path w="60008" h="66675">
                  <a:moveTo>
                    <a:pt x="30004" y="0"/>
                  </a:moveTo>
                  <a:lnTo>
                    <a:pt x="60008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414391" y="46777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04067" y="2172652"/>
              <a:ext cx="4103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Fₙ(x)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71200" y="480012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257300" y="4743450"/>
              <a:ext cx="965835" cy="9525"/>
            </a:xfrm>
            <a:custGeom>
              <a:avLst/>
              <a:gdLst/>
              <a:ahLst/>
              <a:cxnLst/>
              <a:rect l="l" t="t" r="r" b="b"/>
              <a:pathLst>
                <a:path w="965835" h="9525">
                  <a:moveTo>
                    <a:pt x="0" y="0"/>
                  </a:moveTo>
                  <a:lnTo>
                    <a:pt x="965835" y="0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2223135" y="4318635"/>
              <a:ext cx="689610" cy="9525"/>
            </a:xfrm>
            <a:custGeom>
              <a:avLst/>
              <a:gdLst/>
              <a:ahLst/>
              <a:cxnLst/>
              <a:rect l="l" t="t" r="r" b="b"/>
              <a:pathLst>
                <a:path w="689610" h="9525">
                  <a:moveTo>
                    <a:pt x="0" y="0"/>
                  </a:moveTo>
                  <a:lnTo>
                    <a:pt x="689610" y="0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2912745" y="3468052"/>
              <a:ext cx="689610" cy="9525"/>
            </a:xfrm>
            <a:custGeom>
              <a:avLst/>
              <a:gdLst/>
              <a:ahLst/>
              <a:cxnLst/>
              <a:rect l="l" t="t" r="r" b="b"/>
              <a:pathLst>
                <a:path w="689610" h="9525">
                  <a:moveTo>
                    <a:pt x="0" y="0"/>
                  </a:moveTo>
                  <a:lnTo>
                    <a:pt x="689610" y="0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3602355" y="3042285"/>
              <a:ext cx="689610" cy="9525"/>
            </a:xfrm>
            <a:custGeom>
              <a:avLst/>
              <a:gdLst/>
              <a:ahLst/>
              <a:cxnLst/>
              <a:rect l="l" t="t" r="r" b="b"/>
              <a:pathLst>
                <a:path w="689610" h="9525">
                  <a:moveTo>
                    <a:pt x="0" y="0"/>
                  </a:moveTo>
                  <a:lnTo>
                    <a:pt x="689610" y="0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291965" y="2617470"/>
              <a:ext cx="965835" cy="9525"/>
            </a:xfrm>
            <a:custGeom>
              <a:avLst/>
              <a:gdLst/>
              <a:ahLst/>
              <a:cxnLst/>
              <a:rect l="l" t="t" r="r" b="b"/>
              <a:pathLst>
                <a:path w="965835" h="9525">
                  <a:moveTo>
                    <a:pt x="0" y="0"/>
                  </a:moveTo>
                  <a:lnTo>
                    <a:pt x="965835" y="0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2179320" y="4274820"/>
              <a:ext cx="87630" cy="876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2868930" y="3424238"/>
              <a:ext cx="87630" cy="876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3558540" y="2998470"/>
              <a:ext cx="87630" cy="876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4248150" y="2573655"/>
              <a:ext cx="87630" cy="876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181225" y="4701540"/>
              <a:ext cx="83820" cy="8382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2870835" y="4276725"/>
              <a:ext cx="83820" cy="8382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3560445" y="3426143"/>
              <a:ext cx="83820" cy="8382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250055" y="3000375"/>
              <a:ext cx="83820" cy="8382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2223135" y="47434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181702" y="48191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2912745" y="47434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871445" y="48191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3602355" y="47434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561189" y="48191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4291965" y="47434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250932" y="48191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1485900" y="431863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224843" y="4255837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1485900" y="3468052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224843" y="3405388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0.6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1485900" y="304228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224843" y="2980172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1485900" y="2617470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369963" y="2554948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2912745" y="3468052"/>
              <a:ext cx="9525" cy="850582"/>
            </a:xfrm>
            <a:custGeom>
              <a:avLst/>
              <a:gdLst/>
              <a:ahLst/>
              <a:cxnLst/>
              <a:rect l="l" t="t" r="r" b="b"/>
              <a:pathLst>
                <a:path w="9525" h="850582">
                  <a:moveTo>
                    <a:pt x="0" y="850582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C2410C"/>
              </a:solidFill>
              <a:custDash>
                <a:ds d="357143" sp="285714"/>
              </a:custDash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990498" y="3851539"/>
              <a:ext cx="14248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 = 2 出现两次，跳 0.4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23900" y="5067300"/>
              <a:ext cx="5143500" cy="1028700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33425" y="5172075"/>
              <a:ext cx="47625" cy="8191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95350" y="5172075"/>
              <a:ext cx="89535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84314" y="522541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看图记性质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89826" y="5483304"/>
              <a:ext cx="3471799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实心点在台阶左端：Fₙ 右连续；每个观测值处向上跳，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跳多高等于它出现的频率；台阶只升不降，从 0 升到 1。</a:t>
              </a:r>
            </a:p>
          </p:txBody>
        </p:sp>
      </p:grpSp>
      <p:grpSp>
        <p:nvGrpSpPr>
          <p:cNvPr id="87" name="ecdfB"/>
          <p:cNvGrpSpPr/>
          <p:nvPr/>
        </p:nvGrpSpPr>
        <p:grpSpPr>
          <a:xfrm>
            <a:off x="6210300" y="1524000"/>
            <a:ext cx="5448300" cy="4762500"/>
            <a:chOff x="6210300" y="1524000"/>
            <a:chExt cx="5448300" cy="4762500"/>
          </a:xfrm>
        </p:grpSpPr>
        <p:sp>
          <p:nvSpPr>
            <p:cNvPr id="54" name="Rectangle 54"/>
            <p:cNvSpPr/>
            <p:nvPr/>
          </p:nvSpPr>
          <p:spPr>
            <a:xfrm>
              <a:off x="6210300" y="1524000"/>
              <a:ext cx="54483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94323" y="166258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样本越大，阶梯越贴近总体分布函数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395466" y="1925002"/>
              <a:ext cx="41339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总体为 N(0, 1)，模拟抽样 n = 10 与 n = 100（固定随机种子）。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6819900" y="4724400"/>
              <a:ext cx="4219575" cy="9525"/>
            </a:xfrm>
            <a:custGeom>
              <a:avLst/>
              <a:gdLst/>
              <a:ahLst/>
              <a:cxnLst/>
              <a:rect l="l" t="t" r="r" b="b"/>
              <a:pathLst>
                <a:path w="4219575" h="9525">
                  <a:moveTo>
                    <a:pt x="0" y="0"/>
                  </a:moveTo>
                  <a:lnTo>
                    <a:pt x="42195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58" name="Polygon 58"/>
            <p:cNvSpPr/>
            <p:nvPr/>
          </p:nvSpPr>
          <p:spPr>
            <a:xfrm>
              <a:off x="11039475" y="469439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59" name="Line 59"/>
            <p:cNvSpPr/>
            <p:nvPr/>
          </p:nvSpPr>
          <p:spPr>
            <a:xfrm>
              <a:off x="8915400" y="2466975"/>
              <a:ext cx="9525" cy="2257425"/>
            </a:xfrm>
            <a:custGeom>
              <a:avLst/>
              <a:gdLst/>
              <a:ahLst/>
              <a:cxnLst/>
              <a:rect l="l" t="t" r="r" b="b"/>
              <a:pathLst>
                <a:path w="9525" h="2257425">
                  <a:moveTo>
                    <a:pt x="0" y="22574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60" name="Polygon 60"/>
            <p:cNvSpPr/>
            <p:nvPr/>
          </p:nvSpPr>
          <p:spPr>
            <a:xfrm>
              <a:off x="8885396" y="240030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1138916" y="46586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7605712" y="47244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528199" y="480012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-2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8260080" y="47244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183043" y="480012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9570720" y="47244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529011" y="480012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10225088" y="47244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183854" y="480012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8867775" y="2643188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752162" y="2580618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2" name="Line 72"/>
            <p:cNvSpPr/>
            <p:nvPr/>
          </p:nvSpPr>
          <p:spPr>
            <a:xfrm>
              <a:off x="6819900" y="2643188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500000" sp="400000"/>
              </a:custDash>
            </a:ln>
          </p:spPr>
        </p:sp>
        <p:sp>
          <p:nvSpPr>
            <p:cNvPr id="73" name="Freeform 73"/>
            <p:cNvSpPr/>
            <p:nvPr/>
          </p:nvSpPr>
          <p:spPr>
            <a:xfrm>
              <a:off x="6819900" y="2643188"/>
              <a:ext cx="4191000" cy="2081212"/>
            </a:xfrm>
            <a:custGeom>
              <a:avLst/>
              <a:gdLst/>
              <a:ahLst/>
              <a:cxnLst/>
              <a:rect l="l" t="t" r="r" b="b"/>
              <a:pathLst>
                <a:path w="4191000" h="2081212">
                  <a:moveTo>
                    <a:pt x="0" y="2081212"/>
                  </a:moveTo>
                  <a:lnTo>
                    <a:pt x="800100" y="2081212"/>
                  </a:lnTo>
                  <a:lnTo>
                    <a:pt x="800100" y="1872615"/>
                  </a:lnTo>
                  <a:lnTo>
                    <a:pt x="1288732" y="1872615"/>
                  </a:lnTo>
                  <a:lnTo>
                    <a:pt x="1288732" y="1664970"/>
                  </a:lnTo>
                  <a:lnTo>
                    <a:pt x="1423035" y="1664970"/>
                  </a:lnTo>
                  <a:lnTo>
                    <a:pt x="1423035" y="1456372"/>
                  </a:lnTo>
                  <a:lnTo>
                    <a:pt x="1600200" y="1456372"/>
                  </a:lnTo>
                  <a:lnTo>
                    <a:pt x="1600200" y="1248728"/>
                  </a:lnTo>
                  <a:lnTo>
                    <a:pt x="1999297" y="1248728"/>
                  </a:lnTo>
                  <a:lnTo>
                    <a:pt x="1999297" y="1040130"/>
                  </a:lnTo>
                  <a:lnTo>
                    <a:pt x="2266950" y="1040130"/>
                  </a:lnTo>
                  <a:lnTo>
                    <a:pt x="2266950" y="832485"/>
                  </a:lnTo>
                  <a:lnTo>
                    <a:pt x="2375535" y="832485"/>
                  </a:lnTo>
                  <a:lnTo>
                    <a:pt x="2375535" y="623888"/>
                  </a:lnTo>
                  <a:lnTo>
                    <a:pt x="2467928" y="623888"/>
                  </a:lnTo>
                  <a:lnTo>
                    <a:pt x="2467928" y="416242"/>
                  </a:lnTo>
                  <a:lnTo>
                    <a:pt x="2622232" y="416242"/>
                  </a:lnTo>
                  <a:lnTo>
                    <a:pt x="2622232" y="207645"/>
                  </a:lnTo>
                  <a:lnTo>
                    <a:pt x="2662238" y="207645"/>
                  </a:lnTo>
                  <a:lnTo>
                    <a:pt x="2662238" y="0"/>
                  </a:ln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6455092" y="2643188"/>
              <a:ext cx="4555808" cy="2081212"/>
            </a:xfrm>
            <a:custGeom>
              <a:avLst/>
              <a:gdLst/>
              <a:ahLst/>
              <a:cxnLst/>
              <a:rect l="l" t="t" r="r" b="b"/>
              <a:pathLst>
                <a:path w="4555808" h="2081212">
                  <a:moveTo>
                    <a:pt x="364807" y="2081212"/>
                  </a:moveTo>
                  <a:lnTo>
                    <a:pt x="0" y="2081212"/>
                  </a:lnTo>
                  <a:lnTo>
                    <a:pt x="0" y="2060258"/>
                  </a:lnTo>
                  <a:lnTo>
                    <a:pt x="836295" y="2060258"/>
                  </a:lnTo>
                  <a:lnTo>
                    <a:pt x="836295" y="2039303"/>
                  </a:lnTo>
                  <a:lnTo>
                    <a:pt x="985838" y="2039303"/>
                  </a:lnTo>
                  <a:lnTo>
                    <a:pt x="985838" y="2018347"/>
                  </a:lnTo>
                  <a:lnTo>
                    <a:pt x="1002030" y="2018347"/>
                  </a:lnTo>
                  <a:lnTo>
                    <a:pt x="1002030" y="1998345"/>
                  </a:lnTo>
                  <a:lnTo>
                    <a:pt x="1111567" y="1998345"/>
                  </a:lnTo>
                  <a:lnTo>
                    <a:pt x="1111567" y="1977390"/>
                  </a:lnTo>
                  <a:lnTo>
                    <a:pt x="1238250" y="1977390"/>
                  </a:lnTo>
                  <a:lnTo>
                    <a:pt x="1238250" y="1956435"/>
                  </a:lnTo>
                  <a:lnTo>
                    <a:pt x="1317307" y="1956435"/>
                  </a:lnTo>
                  <a:lnTo>
                    <a:pt x="1317307" y="1935480"/>
                  </a:lnTo>
                  <a:lnTo>
                    <a:pt x="1348740" y="1935480"/>
                  </a:lnTo>
                  <a:lnTo>
                    <a:pt x="1348740" y="1914525"/>
                  </a:lnTo>
                  <a:lnTo>
                    <a:pt x="1553527" y="1914525"/>
                  </a:lnTo>
                  <a:lnTo>
                    <a:pt x="1553527" y="1893570"/>
                  </a:lnTo>
                  <a:lnTo>
                    <a:pt x="1573530" y="1893570"/>
                  </a:lnTo>
                  <a:lnTo>
                    <a:pt x="1573530" y="1872615"/>
                  </a:lnTo>
                  <a:lnTo>
                    <a:pt x="1589722" y="1872615"/>
                  </a:lnTo>
                  <a:lnTo>
                    <a:pt x="1589722" y="1852612"/>
                  </a:lnTo>
                  <a:lnTo>
                    <a:pt x="1630680" y="1852612"/>
                  </a:lnTo>
                  <a:lnTo>
                    <a:pt x="1630680" y="1831658"/>
                  </a:lnTo>
                  <a:lnTo>
                    <a:pt x="1655445" y="1831658"/>
                  </a:lnTo>
                  <a:lnTo>
                    <a:pt x="1655445" y="1810703"/>
                  </a:lnTo>
                  <a:lnTo>
                    <a:pt x="1678305" y="1810703"/>
                  </a:lnTo>
                  <a:lnTo>
                    <a:pt x="1678305" y="1789747"/>
                  </a:lnTo>
                  <a:lnTo>
                    <a:pt x="1690688" y="1789747"/>
                  </a:lnTo>
                  <a:lnTo>
                    <a:pt x="1690688" y="1768792"/>
                  </a:lnTo>
                  <a:lnTo>
                    <a:pt x="1691640" y="1768792"/>
                  </a:lnTo>
                  <a:lnTo>
                    <a:pt x="1691640" y="1747838"/>
                  </a:lnTo>
                  <a:lnTo>
                    <a:pt x="1724977" y="1747838"/>
                  </a:lnTo>
                  <a:lnTo>
                    <a:pt x="1724977" y="1727835"/>
                  </a:lnTo>
                  <a:lnTo>
                    <a:pt x="1727835" y="1727835"/>
                  </a:lnTo>
                  <a:lnTo>
                    <a:pt x="1727835" y="1706880"/>
                  </a:lnTo>
                  <a:lnTo>
                    <a:pt x="1744980" y="1706880"/>
                  </a:lnTo>
                  <a:lnTo>
                    <a:pt x="1744980" y="1685925"/>
                  </a:lnTo>
                  <a:lnTo>
                    <a:pt x="1749742" y="1685925"/>
                  </a:lnTo>
                  <a:lnTo>
                    <a:pt x="1749742" y="1664970"/>
                  </a:lnTo>
                  <a:lnTo>
                    <a:pt x="1780222" y="1664970"/>
                  </a:lnTo>
                  <a:lnTo>
                    <a:pt x="1780222" y="1644015"/>
                  </a:lnTo>
                  <a:lnTo>
                    <a:pt x="1800225" y="1644015"/>
                  </a:lnTo>
                  <a:lnTo>
                    <a:pt x="1800225" y="1623060"/>
                  </a:lnTo>
                  <a:lnTo>
                    <a:pt x="1856422" y="1623060"/>
                  </a:lnTo>
                  <a:lnTo>
                    <a:pt x="1856422" y="1602105"/>
                  </a:lnTo>
                  <a:lnTo>
                    <a:pt x="1856422" y="1602105"/>
                  </a:lnTo>
                  <a:lnTo>
                    <a:pt x="1856422" y="1582103"/>
                  </a:lnTo>
                  <a:lnTo>
                    <a:pt x="1865947" y="1582103"/>
                  </a:lnTo>
                  <a:lnTo>
                    <a:pt x="1865947" y="1561147"/>
                  </a:lnTo>
                  <a:lnTo>
                    <a:pt x="1877377" y="1561147"/>
                  </a:lnTo>
                  <a:lnTo>
                    <a:pt x="1877377" y="1540192"/>
                  </a:lnTo>
                  <a:lnTo>
                    <a:pt x="1929765" y="1540192"/>
                  </a:lnTo>
                  <a:lnTo>
                    <a:pt x="1929765" y="1519238"/>
                  </a:lnTo>
                  <a:lnTo>
                    <a:pt x="1947862" y="1519238"/>
                  </a:lnTo>
                  <a:lnTo>
                    <a:pt x="1947862" y="1498282"/>
                  </a:lnTo>
                  <a:lnTo>
                    <a:pt x="1961197" y="1498282"/>
                  </a:lnTo>
                  <a:lnTo>
                    <a:pt x="1961197" y="1477328"/>
                  </a:lnTo>
                  <a:lnTo>
                    <a:pt x="1966912" y="1477328"/>
                  </a:lnTo>
                  <a:lnTo>
                    <a:pt x="1966912" y="1456372"/>
                  </a:lnTo>
                  <a:lnTo>
                    <a:pt x="1968817" y="1456372"/>
                  </a:lnTo>
                  <a:lnTo>
                    <a:pt x="1968817" y="1436370"/>
                  </a:lnTo>
                  <a:lnTo>
                    <a:pt x="1990725" y="1436370"/>
                  </a:lnTo>
                  <a:lnTo>
                    <a:pt x="1990725" y="1415415"/>
                  </a:lnTo>
                  <a:lnTo>
                    <a:pt x="2010727" y="1415415"/>
                  </a:lnTo>
                  <a:lnTo>
                    <a:pt x="2010727" y="1394460"/>
                  </a:lnTo>
                  <a:lnTo>
                    <a:pt x="2065972" y="1394460"/>
                  </a:lnTo>
                  <a:lnTo>
                    <a:pt x="2065972" y="1373505"/>
                  </a:lnTo>
                  <a:lnTo>
                    <a:pt x="2068830" y="1373505"/>
                  </a:lnTo>
                  <a:lnTo>
                    <a:pt x="2068830" y="1352550"/>
                  </a:lnTo>
                  <a:lnTo>
                    <a:pt x="2125980" y="1352550"/>
                  </a:lnTo>
                  <a:lnTo>
                    <a:pt x="2125980" y="1331595"/>
                  </a:lnTo>
                  <a:lnTo>
                    <a:pt x="2188845" y="1331595"/>
                  </a:lnTo>
                  <a:lnTo>
                    <a:pt x="2188845" y="1310640"/>
                  </a:lnTo>
                  <a:lnTo>
                    <a:pt x="2200275" y="1310640"/>
                  </a:lnTo>
                  <a:lnTo>
                    <a:pt x="2200275" y="1290638"/>
                  </a:lnTo>
                  <a:lnTo>
                    <a:pt x="2203132" y="1290638"/>
                  </a:lnTo>
                  <a:lnTo>
                    <a:pt x="2203132" y="1269682"/>
                  </a:lnTo>
                  <a:lnTo>
                    <a:pt x="2223135" y="1269682"/>
                  </a:lnTo>
                  <a:lnTo>
                    <a:pt x="2223135" y="1248728"/>
                  </a:lnTo>
                  <a:lnTo>
                    <a:pt x="2224088" y="1248728"/>
                  </a:lnTo>
                  <a:lnTo>
                    <a:pt x="2224088" y="1227772"/>
                  </a:lnTo>
                  <a:lnTo>
                    <a:pt x="2261235" y="1227772"/>
                  </a:lnTo>
                  <a:lnTo>
                    <a:pt x="2261235" y="1206818"/>
                  </a:lnTo>
                  <a:lnTo>
                    <a:pt x="2270760" y="1206818"/>
                  </a:lnTo>
                  <a:lnTo>
                    <a:pt x="2270760" y="1185862"/>
                  </a:lnTo>
                  <a:lnTo>
                    <a:pt x="2270760" y="1185862"/>
                  </a:lnTo>
                  <a:lnTo>
                    <a:pt x="2270760" y="1165860"/>
                  </a:lnTo>
                  <a:lnTo>
                    <a:pt x="2308860" y="1165860"/>
                  </a:lnTo>
                  <a:lnTo>
                    <a:pt x="2308860" y="1144905"/>
                  </a:lnTo>
                  <a:lnTo>
                    <a:pt x="2312670" y="1144905"/>
                  </a:lnTo>
                  <a:lnTo>
                    <a:pt x="2312670" y="1123950"/>
                  </a:lnTo>
                  <a:lnTo>
                    <a:pt x="2324100" y="1123950"/>
                  </a:lnTo>
                  <a:lnTo>
                    <a:pt x="2324100" y="1102995"/>
                  </a:lnTo>
                  <a:lnTo>
                    <a:pt x="2330767" y="1102995"/>
                  </a:lnTo>
                  <a:lnTo>
                    <a:pt x="2330767" y="1082040"/>
                  </a:lnTo>
                  <a:lnTo>
                    <a:pt x="2373630" y="1082040"/>
                  </a:lnTo>
                  <a:lnTo>
                    <a:pt x="2373630" y="1061085"/>
                  </a:lnTo>
                  <a:lnTo>
                    <a:pt x="2391727" y="1061085"/>
                  </a:lnTo>
                  <a:lnTo>
                    <a:pt x="2391727" y="1040130"/>
                  </a:lnTo>
                  <a:lnTo>
                    <a:pt x="2412682" y="1040130"/>
                  </a:lnTo>
                  <a:lnTo>
                    <a:pt x="2412682" y="1020128"/>
                  </a:lnTo>
                  <a:lnTo>
                    <a:pt x="2423160" y="1020128"/>
                  </a:lnTo>
                  <a:lnTo>
                    <a:pt x="2423160" y="999172"/>
                  </a:lnTo>
                  <a:lnTo>
                    <a:pt x="2438400" y="999172"/>
                  </a:lnTo>
                  <a:lnTo>
                    <a:pt x="2438400" y="978217"/>
                  </a:lnTo>
                  <a:lnTo>
                    <a:pt x="2440305" y="978217"/>
                  </a:lnTo>
                  <a:lnTo>
                    <a:pt x="2440305" y="957262"/>
                  </a:lnTo>
                  <a:lnTo>
                    <a:pt x="2443162" y="957262"/>
                  </a:lnTo>
                  <a:lnTo>
                    <a:pt x="2443162" y="936308"/>
                  </a:lnTo>
                  <a:lnTo>
                    <a:pt x="2461260" y="936308"/>
                  </a:lnTo>
                  <a:lnTo>
                    <a:pt x="2461260" y="915353"/>
                  </a:lnTo>
                  <a:lnTo>
                    <a:pt x="2466022" y="915353"/>
                  </a:lnTo>
                  <a:lnTo>
                    <a:pt x="2466022" y="894397"/>
                  </a:lnTo>
                  <a:lnTo>
                    <a:pt x="2491740" y="894397"/>
                  </a:lnTo>
                  <a:lnTo>
                    <a:pt x="2491740" y="874395"/>
                  </a:lnTo>
                  <a:lnTo>
                    <a:pt x="2513648" y="874395"/>
                  </a:lnTo>
                  <a:lnTo>
                    <a:pt x="2513648" y="853440"/>
                  </a:lnTo>
                  <a:lnTo>
                    <a:pt x="2515552" y="853440"/>
                  </a:lnTo>
                  <a:lnTo>
                    <a:pt x="2515552" y="832485"/>
                  </a:lnTo>
                  <a:lnTo>
                    <a:pt x="2517457" y="832485"/>
                  </a:lnTo>
                  <a:lnTo>
                    <a:pt x="2517457" y="811530"/>
                  </a:lnTo>
                  <a:lnTo>
                    <a:pt x="2542222" y="811530"/>
                  </a:lnTo>
                  <a:lnTo>
                    <a:pt x="2542222" y="790575"/>
                  </a:lnTo>
                  <a:lnTo>
                    <a:pt x="2557462" y="790575"/>
                  </a:lnTo>
                  <a:lnTo>
                    <a:pt x="2557462" y="769620"/>
                  </a:lnTo>
                  <a:lnTo>
                    <a:pt x="2583180" y="769620"/>
                  </a:lnTo>
                  <a:lnTo>
                    <a:pt x="2583180" y="748665"/>
                  </a:lnTo>
                  <a:lnTo>
                    <a:pt x="2628900" y="748665"/>
                  </a:lnTo>
                  <a:lnTo>
                    <a:pt x="2628900" y="728662"/>
                  </a:lnTo>
                  <a:lnTo>
                    <a:pt x="2632710" y="728662"/>
                  </a:lnTo>
                  <a:lnTo>
                    <a:pt x="2632710" y="707708"/>
                  </a:lnTo>
                  <a:lnTo>
                    <a:pt x="2640330" y="707708"/>
                  </a:lnTo>
                  <a:lnTo>
                    <a:pt x="2640330" y="686753"/>
                  </a:lnTo>
                  <a:lnTo>
                    <a:pt x="2658427" y="686753"/>
                  </a:lnTo>
                  <a:lnTo>
                    <a:pt x="2658427" y="665797"/>
                  </a:lnTo>
                  <a:lnTo>
                    <a:pt x="2667000" y="665797"/>
                  </a:lnTo>
                  <a:lnTo>
                    <a:pt x="2667000" y="644842"/>
                  </a:lnTo>
                  <a:lnTo>
                    <a:pt x="2683192" y="644842"/>
                  </a:lnTo>
                  <a:lnTo>
                    <a:pt x="2683192" y="623888"/>
                  </a:lnTo>
                  <a:lnTo>
                    <a:pt x="2690812" y="623888"/>
                  </a:lnTo>
                  <a:lnTo>
                    <a:pt x="2690812" y="603885"/>
                  </a:lnTo>
                  <a:lnTo>
                    <a:pt x="2698432" y="603885"/>
                  </a:lnTo>
                  <a:lnTo>
                    <a:pt x="2698432" y="582930"/>
                  </a:lnTo>
                  <a:lnTo>
                    <a:pt x="2758440" y="582930"/>
                  </a:lnTo>
                  <a:lnTo>
                    <a:pt x="2758440" y="561975"/>
                  </a:lnTo>
                  <a:lnTo>
                    <a:pt x="2769870" y="561975"/>
                  </a:lnTo>
                  <a:lnTo>
                    <a:pt x="2769870" y="541020"/>
                  </a:lnTo>
                  <a:lnTo>
                    <a:pt x="2770822" y="541020"/>
                  </a:lnTo>
                  <a:lnTo>
                    <a:pt x="2770822" y="520065"/>
                  </a:lnTo>
                  <a:lnTo>
                    <a:pt x="2800350" y="520065"/>
                  </a:lnTo>
                  <a:lnTo>
                    <a:pt x="2800350" y="499110"/>
                  </a:lnTo>
                  <a:lnTo>
                    <a:pt x="2834640" y="499110"/>
                  </a:lnTo>
                  <a:lnTo>
                    <a:pt x="2834640" y="478155"/>
                  </a:lnTo>
                  <a:lnTo>
                    <a:pt x="2943225" y="478155"/>
                  </a:lnTo>
                  <a:lnTo>
                    <a:pt x="2943225" y="458153"/>
                  </a:lnTo>
                  <a:lnTo>
                    <a:pt x="2955607" y="458153"/>
                  </a:lnTo>
                  <a:lnTo>
                    <a:pt x="2955607" y="437197"/>
                  </a:lnTo>
                  <a:lnTo>
                    <a:pt x="2980372" y="437197"/>
                  </a:lnTo>
                  <a:lnTo>
                    <a:pt x="2980372" y="416242"/>
                  </a:lnTo>
                  <a:lnTo>
                    <a:pt x="3039427" y="416242"/>
                  </a:lnTo>
                  <a:lnTo>
                    <a:pt x="3039427" y="395288"/>
                  </a:lnTo>
                  <a:lnTo>
                    <a:pt x="3040380" y="395288"/>
                  </a:lnTo>
                  <a:lnTo>
                    <a:pt x="3040380" y="374333"/>
                  </a:lnTo>
                  <a:lnTo>
                    <a:pt x="3128962" y="374333"/>
                  </a:lnTo>
                  <a:lnTo>
                    <a:pt x="3128962" y="353378"/>
                  </a:lnTo>
                  <a:lnTo>
                    <a:pt x="3142298" y="353378"/>
                  </a:lnTo>
                  <a:lnTo>
                    <a:pt x="3142298" y="332422"/>
                  </a:lnTo>
                  <a:lnTo>
                    <a:pt x="3153727" y="332422"/>
                  </a:lnTo>
                  <a:lnTo>
                    <a:pt x="3153727" y="312420"/>
                  </a:lnTo>
                  <a:lnTo>
                    <a:pt x="3159442" y="312420"/>
                  </a:lnTo>
                  <a:lnTo>
                    <a:pt x="3159442" y="291465"/>
                  </a:lnTo>
                  <a:lnTo>
                    <a:pt x="3165157" y="291465"/>
                  </a:lnTo>
                  <a:lnTo>
                    <a:pt x="3165157" y="270510"/>
                  </a:lnTo>
                  <a:lnTo>
                    <a:pt x="3189922" y="270510"/>
                  </a:lnTo>
                  <a:lnTo>
                    <a:pt x="3189922" y="249555"/>
                  </a:lnTo>
                  <a:lnTo>
                    <a:pt x="3213735" y="249555"/>
                  </a:lnTo>
                  <a:lnTo>
                    <a:pt x="3213735" y="228600"/>
                  </a:lnTo>
                  <a:lnTo>
                    <a:pt x="3233738" y="228600"/>
                  </a:lnTo>
                  <a:lnTo>
                    <a:pt x="3233738" y="207645"/>
                  </a:lnTo>
                  <a:lnTo>
                    <a:pt x="3276600" y="207645"/>
                  </a:lnTo>
                  <a:lnTo>
                    <a:pt x="3276600" y="186690"/>
                  </a:lnTo>
                  <a:lnTo>
                    <a:pt x="3348038" y="186690"/>
                  </a:lnTo>
                  <a:lnTo>
                    <a:pt x="3348038" y="166688"/>
                  </a:lnTo>
                  <a:lnTo>
                    <a:pt x="3362325" y="166688"/>
                  </a:lnTo>
                  <a:lnTo>
                    <a:pt x="3362325" y="145733"/>
                  </a:lnTo>
                  <a:lnTo>
                    <a:pt x="3386138" y="145733"/>
                  </a:lnTo>
                  <a:lnTo>
                    <a:pt x="3386138" y="124778"/>
                  </a:lnTo>
                  <a:lnTo>
                    <a:pt x="3434715" y="124778"/>
                  </a:lnTo>
                  <a:lnTo>
                    <a:pt x="3434715" y="103822"/>
                  </a:lnTo>
                  <a:lnTo>
                    <a:pt x="3491865" y="103822"/>
                  </a:lnTo>
                  <a:lnTo>
                    <a:pt x="3491865" y="82867"/>
                  </a:lnTo>
                  <a:lnTo>
                    <a:pt x="3692843" y="82867"/>
                  </a:lnTo>
                  <a:lnTo>
                    <a:pt x="3692843" y="61912"/>
                  </a:lnTo>
                  <a:lnTo>
                    <a:pt x="3794760" y="61912"/>
                  </a:lnTo>
                  <a:lnTo>
                    <a:pt x="3794760" y="41910"/>
                  </a:lnTo>
                  <a:lnTo>
                    <a:pt x="3955732" y="41910"/>
                  </a:lnTo>
                  <a:lnTo>
                    <a:pt x="3955732" y="20955"/>
                  </a:lnTo>
                  <a:lnTo>
                    <a:pt x="4207192" y="20955"/>
                  </a:lnTo>
                  <a:lnTo>
                    <a:pt x="4207192" y="0"/>
                  </a:lnTo>
                  <a:lnTo>
                    <a:pt x="4555808" y="0"/>
                  </a:lnTo>
                </a:path>
              </a:pathLst>
            </a:custGeom>
            <a:noFill/>
            <a:ln w="15240">
              <a:solidFill>
                <a:srgbClr val="14A38B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6819900" y="2644140"/>
              <a:ext cx="4191000" cy="2078355"/>
            </a:xfrm>
            <a:custGeom>
              <a:avLst/>
              <a:gdLst/>
              <a:ahLst/>
              <a:cxnLst/>
              <a:rect l="l" t="t" r="r" b="b"/>
              <a:pathLst>
                <a:path w="4191000" h="2078355">
                  <a:moveTo>
                    <a:pt x="0" y="2078355"/>
                  </a:moveTo>
                  <a:lnTo>
                    <a:pt x="26670" y="2078355"/>
                  </a:lnTo>
                  <a:lnTo>
                    <a:pt x="52388" y="2078355"/>
                  </a:lnTo>
                  <a:lnTo>
                    <a:pt x="78105" y="2078355"/>
                  </a:lnTo>
                  <a:lnTo>
                    <a:pt x="104775" y="2077402"/>
                  </a:lnTo>
                  <a:lnTo>
                    <a:pt x="131445" y="2077402"/>
                  </a:lnTo>
                  <a:lnTo>
                    <a:pt x="157162" y="2077402"/>
                  </a:lnTo>
                  <a:lnTo>
                    <a:pt x="182880" y="2076450"/>
                  </a:lnTo>
                  <a:lnTo>
                    <a:pt x="209550" y="2076450"/>
                  </a:lnTo>
                  <a:lnTo>
                    <a:pt x="236220" y="2075497"/>
                  </a:lnTo>
                  <a:lnTo>
                    <a:pt x="261938" y="2074545"/>
                  </a:lnTo>
                  <a:lnTo>
                    <a:pt x="287655" y="2074545"/>
                  </a:lnTo>
                  <a:lnTo>
                    <a:pt x="314325" y="2073592"/>
                  </a:lnTo>
                  <a:lnTo>
                    <a:pt x="340995" y="2072640"/>
                  </a:lnTo>
                  <a:lnTo>
                    <a:pt x="366712" y="2071688"/>
                  </a:lnTo>
                  <a:lnTo>
                    <a:pt x="392430" y="2070735"/>
                  </a:lnTo>
                  <a:lnTo>
                    <a:pt x="419100" y="2069782"/>
                  </a:lnTo>
                  <a:lnTo>
                    <a:pt x="445770" y="2067877"/>
                  </a:lnTo>
                  <a:lnTo>
                    <a:pt x="471488" y="2066925"/>
                  </a:lnTo>
                  <a:lnTo>
                    <a:pt x="497205" y="2065020"/>
                  </a:lnTo>
                  <a:lnTo>
                    <a:pt x="523875" y="2063115"/>
                  </a:lnTo>
                  <a:lnTo>
                    <a:pt x="550545" y="2061210"/>
                  </a:lnTo>
                  <a:lnTo>
                    <a:pt x="576262" y="2059305"/>
                  </a:lnTo>
                  <a:lnTo>
                    <a:pt x="601980" y="2056447"/>
                  </a:lnTo>
                  <a:lnTo>
                    <a:pt x="628650" y="2054542"/>
                  </a:lnTo>
                  <a:lnTo>
                    <a:pt x="655320" y="2051685"/>
                  </a:lnTo>
                  <a:lnTo>
                    <a:pt x="681038" y="2047875"/>
                  </a:lnTo>
                  <a:lnTo>
                    <a:pt x="706755" y="2045018"/>
                  </a:lnTo>
                  <a:lnTo>
                    <a:pt x="733425" y="2041207"/>
                  </a:lnTo>
                  <a:lnTo>
                    <a:pt x="760095" y="2037397"/>
                  </a:lnTo>
                  <a:lnTo>
                    <a:pt x="785812" y="2032635"/>
                  </a:lnTo>
                  <a:lnTo>
                    <a:pt x="811530" y="2027872"/>
                  </a:lnTo>
                  <a:lnTo>
                    <a:pt x="838200" y="2023110"/>
                  </a:lnTo>
                  <a:lnTo>
                    <a:pt x="864870" y="2017395"/>
                  </a:lnTo>
                  <a:lnTo>
                    <a:pt x="890588" y="2011680"/>
                  </a:lnTo>
                  <a:lnTo>
                    <a:pt x="916305" y="2005012"/>
                  </a:lnTo>
                  <a:lnTo>
                    <a:pt x="942975" y="1998345"/>
                  </a:lnTo>
                  <a:lnTo>
                    <a:pt x="969645" y="1991677"/>
                  </a:lnTo>
                  <a:lnTo>
                    <a:pt x="995362" y="1983105"/>
                  </a:lnTo>
                  <a:lnTo>
                    <a:pt x="1021080" y="1975485"/>
                  </a:lnTo>
                  <a:lnTo>
                    <a:pt x="1047750" y="1965960"/>
                  </a:lnTo>
                  <a:lnTo>
                    <a:pt x="1074420" y="1956435"/>
                  </a:lnTo>
                  <a:lnTo>
                    <a:pt x="1100138" y="1946910"/>
                  </a:lnTo>
                  <a:lnTo>
                    <a:pt x="1125855" y="1935480"/>
                  </a:lnTo>
                  <a:lnTo>
                    <a:pt x="1152525" y="1924050"/>
                  </a:lnTo>
                  <a:lnTo>
                    <a:pt x="1179195" y="1912620"/>
                  </a:lnTo>
                  <a:lnTo>
                    <a:pt x="1204912" y="1899285"/>
                  </a:lnTo>
                  <a:lnTo>
                    <a:pt x="1230630" y="1885950"/>
                  </a:lnTo>
                  <a:lnTo>
                    <a:pt x="1257300" y="1871662"/>
                  </a:lnTo>
                  <a:lnTo>
                    <a:pt x="1283970" y="1856422"/>
                  </a:lnTo>
                  <a:lnTo>
                    <a:pt x="1309688" y="1841182"/>
                  </a:lnTo>
                  <a:lnTo>
                    <a:pt x="1335405" y="1824038"/>
                  </a:lnTo>
                  <a:lnTo>
                    <a:pt x="1362075" y="1806892"/>
                  </a:lnTo>
                  <a:lnTo>
                    <a:pt x="1388745" y="1788795"/>
                  </a:lnTo>
                  <a:lnTo>
                    <a:pt x="1414462" y="1769745"/>
                  </a:lnTo>
                  <a:lnTo>
                    <a:pt x="1440180" y="1749742"/>
                  </a:lnTo>
                  <a:lnTo>
                    <a:pt x="1466850" y="1729740"/>
                  </a:lnTo>
                  <a:lnTo>
                    <a:pt x="1493520" y="1707832"/>
                  </a:lnTo>
                  <a:lnTo>
                    <a:pt x="1519238" y="1685925"/>
                  </a:lnTo>
                  <a:lnTo>
                    <a:pt x="1544955" y="1663065"/>
                  </a:lnTo>
                  <a:lnTo>
                    <a:pt x="1571625" y="1639252"/>
                  </a:lnTo>
                  <a:lnTo>
                    <a:pt x="1598295" y="1614488"/>
                  </a:lnTo>
                  <a:lnTo>
                    <a:pt x="1624012" y="1589722"/>
                  </a:lnTo>
                  <a:lnTo>
                    <a:pt x="1649730" y="1564005"/>
                  </a:lnTo>
                  <a:lnTo>
                    <a:pt x="1676400" y="1536382"/>
                  </a:lnTo>
                  <a:lnTo>
                    <a:pt x="1703070" y="1509712"/>
                  </a:lnTo>
                  <a:lnTo>
                    <a:pt x="1728788" y="1481138"/>
                  </a:lnTo>
                  <a:lnTo>
                    <a:pt x="1754505" y="1452562"/>
                  </a:lnTo>
                  <a:lnTo>
                    <a:pt x="1781175" y="1423035"/>
                  </a:lnTo>
                  <a:lnTo>
                    <a:pt x="1807845" y="1393507"/>
                  </a:lnTo>
                  <a:lnTo>
                    <a:pt x="1833562" y="1363027"/>
                  </a:lnTo>
                  <a:lnTo>
                    <a:pt x="1859280" y="1332547"/>
                  </a:lnTo>
                  <a:lnTo>
                    <a:pt x="1885950" y="1301115"/>
                  </a:lnTo>
                  <a:lnTo>
                    <a:pt x="1912620" y="1268730"/>
                  </a:lnTo>
                  <a:lnTo>
                    <a:pt x="1938338" y="1237297"/>
                  </a:lnTo>
                  <a:lnTo>
                    <a:pt x="1964055" y="1204912"/>
                  </a:lnTo>
                  <a:lnTo>
                    <a:pt x="1990725" y="1171575"/>
                  </a:lnTo>
                  <a:lnTo>
                    <a:pt x="2017395" y="1139190"/>
                  </a:lnTo>
                  <a:lnTo>
                    <a:pt x="2043112" y="1105852"/>
                  </a:lnTo>
                  <a:lnTo>
                    <a:pt x="2068830" y="1072515"/>
                  </a:lnTo>
                  <a:lnTo>
                    <a:pt x="2095500" y="1039177"/>
                  </a:lnTo>
                  <a:lnTo>
                    <a:pt x="2122170" y="1006792"/>
                  </a:lnTo>
                  <a:lnTo>
                    <a:pt x="2147888" y="973455"/>
                  </a:lnTo>
                  <a:lnTo>
                    <a:pt x="2173605" y="940117"/>
                  </a:lnTo>
                  <a:lnTo>
                    <a:pt x="2200275" y="907732"/>
                  </a:lnTo>
                  <a:lnTo>
                    <a:pt x="2226945" y="874395"/>
                  </a:lnTo>
                  <a:lnTo>
                    <a:pt x="2252662" y="842010"/>
                  </a:lnTo>
                  <a:lnTo>
                    <a:pt x="2278380" y="809625"/>
                  </a:lnTo>
                  <a:lnTo>
                    <a:pt x="2305050" y="778192"/>
                  </a:lnTo>
                  <a:lnTo>
                    <a:pt x="2331720" y="746760"/>
                  </a:lnTo>
                  <a:lnTo>
                    <a:pt x="2357438" y="716280"/>
                  </a:lnTo>
                  <a:lnTo>
                    <a:pt x="2383155" y="685800"/>
                  </a:lnTo>
                  <a:lnTo>
                    <a:pt x="2409825" y="655320"/>
                  </a:lnTo>
                  <a:lnTo>
                    <a:pt x="2436495" y="626745"/>
                  </a:lnTo>
                  <a:lnTo>
                    <a:pt x="2462212" y="598170"/>
                  </a:lnTo>
                  <a:lnTo>
                    <a:pt x="2487930" y="569595"/>
                  </a:lnTo>
                  <a:lnTo>
                    <a:pt x="2514600" y="541972"/>
                  </a:lnTo>
                  <a:lnTo>
                    <a:pt x="2541270" y="515302"/>
                  </a:lnTo>
                  <a:lnTo>
                    <a:pt x="2566988" y="489585"/>
                  </a:lnTo>
                  <a:lnTo>
                    <a:pt x="2592705" y="463867"/>
                  </a:lnTo>
                  <a:lnTo>
                    <a:pt x="2619375" y="440055"/>
                  </a:lnTo>
                  <a:lnTo>
                    <a:pt x="2646045" y="416242"/>
                  </a:lnTo>
                  <a:lnTo>
                    <a:pt x="2671762" y="393382"/>
                  </a:lnTo>
                  <a:lnTo>
                    <a:pt x="2697480" y="370522"/>
                  </a:lnTo>
                  <a:lnTo>
                    <a:pt x="2724150" y="349567"/>
                  </a:lnTo>
                  <a:lnTo>
                    <a:pt x="2750820" y="329565"/>
                  </a:lnTo>
                  <a:lnTo>
                    <a:pt x="2776538" y="309562"/>
                  </a:lnTo>
                  <a:lnTo>
                    <a:pt x="2802255" y="290512"/>
                  </a:lnTo>
                  <a:lnTo>
                    <a:pt x="2828925" y="272415"/>
                  </a:lnTo>
                  <a:lnTo>
                    <a:pt x="2855595" y="255270"/>
                  </a:lnTo>
                  <a:lnTo>
                    <a:pt x="2881312" y="238125"/>
                  </a:lnTo>
                  <a:lnTo>
                    <a:pt x="2907030" y="222885"/>
                  </a:lnTo>
                  <a:lnTo>
                    <a:pt x="2933700" y="207645"/>
                  </a:lnTo>
                  <a:lnTo>
                    <a:pt x="2960370" y="193357"/>
                  </a:lnTo>
                  <a:lnTo>
                    <a:pt x="2986088" y="180022"/>
                  </a:lnTo>
                  <a:lnTo>
                    <a:pt x="3011805" y="166688"/>
                  </a:lnTo>
                  <a:lnTo>
                    <a:pt x="3038475" y="155257"/>
                  </a:lnTo>
                  <a:lnTo>
                    <a:pt x="3065145" y="143827"/>
                  </a:lnTo>
                  <a:lnTo>
                    <a:pt x="3090862" y="132397"/>
                  </a:lnTo>
                  <a:lnTo>
                    <a:pt x="3116580" y="122872"/>
                  </a:lnTo>
                  <a:lnTo>
                    <a:pt x="3143250" y="113347"/>
                  </a:lnTo>
                  <a:lnTo>
                    <a:pt x="3169920" y="103822"/>
                  </a:lnTo>
                  <a:lnTo>
                    <a:pt x="3195638" y="95250"/>
                  </a:lnTo>
                  <a:lnTo>
                    <a:pt x="3221355" y="87630"/>
                  </a:lnTo>
                  <a:lnTo>
                    <a:pt x="3248025" y="80010"/>
                  </a:lnTo>
                  <a:lnTo>
                    <a:pt x="3274695" y="73342"/>
                  </a:lnTo>
                  <a:lnTo>
                    <a:pt x="3300412" y="67627"/>
                  </a:lnTo>
                  <a:lnTo>
                    <a:pt x="3326130" y="60960"/>
                  </a:lnTo>
                  <a:lnTo>
                    <a:pt x="3352800" y="56197"/>
                  </a:lnTo>
                  <a:lnTo>
                    <a:pt x="3379470" y="50482"/>
                  </a:lnTo>
                  <a:lnTo>
                    <a:pt x="3405188" y="46672"/>
                  </a:lnTo>
                  <a:lnTo>
                    <a:pt x="3430905" y="41910"/>
                  </a:lnTo>
                  <a:lnTo>
                    <a:pt x="3457575" y="38100"/>
                  </a:lnTo>
                  <a:lnTo>
                    <a:pt x="3484245" y="34290"/>
                  </a:lnTo>
                  <a:lnTo>
                    <a:pt x="3509962" y="30480"/>
                  </a:lnTo>
                  <a:lnTo>
                    <a:pt x="3535680" y="27622"/>
                  </a:lnTo>
                  <a:lnTo>
                    <a:pt x="3562350" y="24765"/>
                  </a:lnTo>
                  <a:lnTo>
                    <a:pt x="3589020" y="22860"/>
                  </a:lnTo>
                  <a:lnTo>
                    <a:pt x="3614738" y="20002"/>
                  </a:lnTo>
                  <a:lnTo>
                    <a:pt x="3640455" y="18097"/>
                  </a:lnTo>
                  <a:lnTo>
                    <a:pt x="3667125" y="16192"/>
                  </a:lnTo>
                  <a:lnTo>
                    <a:pt x="3693795" y="14288"/>
                  </a:lnTo>
                  <a:lnTo>
                    <a:pt x="3719512" y="12382"/>
                  </a:lnTo>
                  <a:lnTo>
                    <a:pt x="3745230" y="11430"/>
                  </a:lnTo>
                  <a:lnTo>
                    <a:pt x="3771900" y="9525"/>
                  </a:lnTo>
                  <a:lnTo>
                    <a:pt x="3798570" y="8572"/>
                  </a:lnTo>
                  <a:lnTo>
                    <a:pt x="3824288" y="7620"/>
                  </a:lnTo>
                  <a:lnTo>
                    <a:pt x="3850005" y="6667"/>
                  </a:lnTo>
                  <a:lnTo>
                    <a:pt x="3876675" y="5715"/>
                  </a:lnTo>
                  <a:lnTo>
                    <a:pt x="3903345" y="4762"/>
                  </a:lnTo>
                  <a:lnTo>
                    <a:pt x="3929062" y="3810"/>
                  </a:lnTo>
                  <a:lnTo>
                    <a:pt x="3954780" y="3810"/>
                  </a:lnTo>
                  <a:lnTo>
                    <a:pt x="3981450" y="2857"/>
                  </a:lnTo>
                  <a:lnTo>
                    <a:pt x="4008120" y="2857"/>
                  </a:lnTo>
                  <a:lnTo>
                    <a:pt x="4033838" y="1905"/>
                  </a:lnTo>
                  <a:lnTo>
                    <a:pt x="4059555" y="1905"/>
                  </a:lnTo>
                  <a:lnTo>
                    <a:pt x="4086225" y="952"/>
                  </a:lnTo>
                  <a:lnTo>
                    <a:pt x="4112895" y="952"/>
                  </a:lnTo>
                  <a:lnTo>
                    <a:pt x="4138612" y="952"/>
                  </a:lnTo>
                  <a:lnTo>
                    <a:pt x="4164330" y="952"/>
                  </a:lnTo>
                  <a:lnTo>
                    <a:pt x="419100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  <a:custDash>
                <a:ds d="250000" sp="166667"/>
              </a:custDash>
            </a:ln>
          </p:spPr>
        </p:sp>
        <p:sp>
          <p:nvSpPr>
            <p:cNvPr id="76" name="Line 76"/>
            <p:cNvSpPr/>
            <p:nvPr/>
          </p:nvSpPr>
          <p:spPr>
            <a:xfrm>
              <a:off x="6591300" y="510540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4765">
              <a:solidFill>
                <a:srgbClr val="F26B3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890956" y="5043726"/>
              <a:ext cx="39099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10</a:t>
              </a:r>
            </a:p>
          </p:txBody>
        </p:sp>
        <p:sp>
          <p:nvSpPr>
            <p:cNvPr id="78" name="Line 78"/>
            <p:cNvSpPr/>
            <p:nvPr/>
          </p:nvSpPr>
          <p:spPr>
            <a:xfrm>
              <a:off x="7464809" y="510540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4765">
              <a:solidFill>
                <a:srgbClr val="14A38B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764466" y="5043726"/>
              <a:ext cx="46577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100</a:t>
              </a:r>
            </a:p>
          </p:txBody>
        </p:sp>
        <p:sp>
          <p:nvSpPr>
            <p:cNvPr id="80" name="Line 80"/>
            <p:cNvSpPr/>
            <p:nvPr/>
          </p:nvSpPr>
          <p:spPr>
            <a:xfrm>
              <a:off x="8408860" y="510540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4765">
              <a:solidFill>
                <a:srgbClr val="2F4B9A"/>
              </a:solidFill>
              <a:custDash>
                <a:ds d="230769" sp="153846"/>
              </a:custDash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708517" y="5043726"/>
              <a:ext cx="110013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 F(x) = Φ(x)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400800" y="5295900"/>
              <a:ext cx="5067300" cy="800100"/>
            </a:xfrm>
            <a:prstGeom prst="roundRect">
              <a:avLst>
                <a:gd name="adj" fmla="val 119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6410325" y="5400675"/>
              <a:ext cx="47625" cy="5905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6572250" y="5400675"/>
              <a:ext cx="76200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665214" y="54540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最大偏差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566726" y="5711904"/>
              <a:ext cx="3920075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sup |Fₙ(x) − F(x)|：n = 10 时 0.193，n = 100 时 0.084。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5491" cy="909257"/>
            <a:chOff x="520446" y="342900"/>
            <a:chExt cx="75754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直方图与样本分布函数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54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格利文科定理：样本大了，Fₙ(x) 处处贴近 F(x)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card-1"/>
          <p:cNvGrpSpPr/>
          <p:nvPr/>
        </p:nvGrpSpPr>
        <p:grpSpPr>
          <a:xfrm>
            <a:off x="533400" y="1524000"/>
            <a:ext cx="4977765" cy="2537460"/>
            <a:chOff x="533400" y="1524000"/>
            <a:chExt cx="4977765" cy="25374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537460"/>
            </a:xfrm>
            <a:prstGeom prst="roundRect">
              <a:avLst>
                <a:gd name="adj" fmla="val 52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7076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5630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样本分布函数 Fₙ(x) 的性质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11645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129790"/>
              <a:ext cx="12922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≤ Fₙ(x) ≤ 1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45173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2465070"/>
              <a:ext cx="14562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Fₙ(x) 单调不减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278701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2800350"/>
              <a:ext cx="3930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Fₙ(x) 处处右连续；x₍ᵢ₎ 是跳跃间断点，跳跃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度为频率 fᵢ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4573" y="3418046"/>
              <a:ext cx="42964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这三条正是分布函数的性质，所以 Fₙ(x) 本身是一个离散分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布的分布函数。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4251960"/>
            <a:ext cx="4977765" cy="1059180"/>
            <a:chOff x="533400" y="4251960"/>
            <a:chExt cx="4977765" cy="1059180"/>
          </a:xfrm>
        </p:grpSpPr>
        <p:sp>
          <p:nvSpPr>
            <p:cNvPr id="23" name="Rectangle 23"/>
            <p:cNvSpPr/>
            <p:nvPr/>
          </p:nvSpPr>
          <p:spPr>
            <a:xfrm>
              <a:off x="533400" y="4251960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4681538"/>
              <a:ext cx="200026" cy="200025"/>
              <a:chOff x="738188" y="4681538"/>
              <a:chExt cx="200026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46815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7926" y="47259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2642" y="48371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130" y="4400550"/>
              <a:ext cx="39109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对固定的 x，Fₙ(x) 是 n 次独立试验中事件 {X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≤ x} 的频率，由伯努利大数定律，它依概率收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敛于 F(x)。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5815965" y="1524000"/>
            <a:ext cx="5842635" cy="1991678"/>
            <a:chOff x="5815965" y="1524000"/>
            <a:chExt cx="5842635" cy="1991678"/>
          </a:xfrm>
        </p:grpSpPr>
        <p:sp>
          <p:nvSpPr>
            <p:cNvPr id="30" name="Rectangle 30"/>
            <p:cNvSpPr/>
            <p:nvPr/>
          </p:nvSpPr>
          <p:spPr>
            <a:xfrm>
              <a:off x="5815965" y="1524000"/>
              <a:ext cx="5842635" cy="1991678"/>
            </a:xfrm>
            <a:prstGeom prst="roundRect">
              <a:avLst>
                <a:gd name="adj" fmla="val 66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825490" y="1657350"/>
              <a:ext cx="47625" cy="172497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6361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53823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3690" y="1768792"/>
              <a:ext cx="28114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格利文科（W. Glivenko）定理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55995" y="2129790"/>
              <a:ext cx="49491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对任一实数 x，当 n → ∞ 时，样本分布函数 Fₙ(x) 以概率 1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关于 x 一致收敛于总体分布函数 F(x)，即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formula49"/>
                <p:cNvSpPr txBox="1">
                  <a:spLocks noGrp="1"/>
                </p:cNvSpPr>
                <p:nvPr/>
              </p:nvSpPr>
              <p:spPr>
                <a:xfrm>
                  <a:off x="6063615" y="2726055"/>
                  <a:ext cx="5385435" cy="5610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unc>
                              <m:funcPr/>
                              <m:fName>
                                <m:limLow>
                                  <m:limLowPr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lim</m:t>
                                    </m:r>
                                  </m:e>
                                  <m:lim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→∞</m:t>
                                    </m:r>
                                  </m:lim>
                                </m:limLow>
                              </m:fNam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func>
                                  <m:funcPr/>
                                  <m:fName>
                                    <m:limLow>
                                      <m:limLowPr/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sup</m:t>
                                        </m:r>
                                      </m:e>
                                      <m:lim>
                                        <m:r>
                                          <m:rPr>
                                            <m:sty m:val="p"/>
                                          </m:r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−∞&lt;</m:t>
                                        </m:r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&lt;+∞</m:t>
                                        </m:r>
                                      </m:lim>
                                    </m:limLow>
                                  </m:fName>
                                  <m:e>
                                    <m:d>
                                      <m:dPr>
                                        <m:begChr m:val="|"/>
                                        <m:sepChr m:val=""/>
                                        <m:endChr m:val="|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F</m:t>
                                            </m:r>
                                          </m:e>
                                          <m:sub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n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</m:d>
                                        <m:r>
                                          <m:rPr>
                                            <m:sty m:val="p"/>
                                          </m:r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F</m:t>
                                        </m:r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func>
                              </m:e>
                            </m:func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2" name="c2-card-2"/>
          <p:cNvGrpSpPr/>
          <p:nvPr/>
        </p:nvGrpSpPr>
        <p:grpSpPr>
          <a:xfrm>
            <a:off x="5815965" y="3706178"/>
            <a:ext cx="5842635" cy="1604962"/>
            <a:chOff x="5815965" y="3706178"/>
            <a:chExt cx="5842635" cy="1604962"/>
          </a:xfrm>
        </p:grpSpPr>
        <p:sp>
          <p:nvSpPr>
            <p:cNvPr id="38" name="Rectangle 38"/>
            <p:cNvSpPr/>
            <p:nvPr/>
          </p:nvSpPr>
          <p:spPr>
            <a:xfrm>
              <a:off x="5815965" y="3706178"/>
              <a:ext cx="5842635" cy="1604962"/>
            </a:xfrm>
            <a:prstGeom prst="roundRect">
              <a:avLst>
                <a:gd name="adj" fmla="val 830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25515" y="391572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15723" y="395144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意义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17895" y="4292918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这是数理统计中依据样本推断总体特征的理论依据：只要样本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足够大，样本的分布就能把总体的分布描绘得任意精确。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3" name="Rectangle 4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991225"/>
              <a:ext cx="84514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左边那条只说每个固定的 x 各自收敛；格利文科定理更强，要求最大偏差 sup|Fₙ − F| 趋于 0。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135499" cy="2997517"/>
            <a:chOff x="667512" y="1835468"/>
            <a:chExt cx="5135499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把样本加工成一个不含未知参数的量，才能用来推断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统计量的定义与判断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样本均值、样本方差与样本矩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最大值、最小值及其分布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统计量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统计量：不含任何未知参数的样本函数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544378" cy="2156460"/>
            <a:chOff x="533400" y="1524000"/>
            <a:chExt cx="4544378" cy="21564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2156460"/>
            </a:xfrm>
            <a:prstGeom prst="roundRect">
              <a:avLst>
                <a:gd name="adj" fmla="val 61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8976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样本函数与统计量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3927856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X₁, …, Xₙ 是来自总体 X 的样本，x₁, …, xₙ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是样本观测值。若 g(x₁, …, xₙ) 是已知的 n 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函数，则称 g(X₁, …, Xₙ) 为样本函数，它是一个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随机变量；g(x₁, …, xₙ) 称为样本函数观测值。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096" y="3254216"/>
              <a:ext cx="37038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不含任何未知参数的样本函数称为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统计量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3865245"/>
            <a:ext cx="4544378" cy="1713548"/>
            <a:chOff x="533400" y="3865245"/>
            <a:chExt cx="4544378" cy="1713548"/>
          </a:xfrm>
        </p:grpSpPr>
        <p:sp>
          <p:nvSpPr>
            <p:cNvPr id="15" name="Rectangle 15"/>
            <p:cNvSpPr/>
            <p:nvPr/>
          </p:nvSpPr>
          <p:spPr>
            <a:xfrm>
              <a:off x="533400" y="3865245"/>
              <a:ext cx="4544378" cy="1713548"/>
            </a:xfrm>
            <a:prstGeom prst="roundRect">
              <a:avLst>
                <a:gd name="adj" fmla="val 667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4622483"/>
              <a:ext cx="200026" cy="200025"/>
              <a:chOff x="738188" y="4622483"/>
              <a:chExt cx="200026" cy="2000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46224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77926" y="46669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12642" y="47780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511" y="4491514"/>
              <a:ext cx="36212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判断方法：把样本值代进去，看能不能算出一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个具体的数。算得出来就是统计量。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5382578" y="1524000"/>
            <a:ext cx="6276022" cy="2595562"/>
            <a:chOff x="5382578" y="1524000"/>
            <a:chExt cx="6276022" cy="2595562"/>
          </a:xfrm>
        </p:grpSpPr>
        <p:sp>
          <p:nvSpPr>
            <p:cNvPr id="22" name="Rectangle 22"/>
            <p:cNvSpPr/>
            <p:nvPr/>
          </p:nvSpPr>
          <p:spPr>
            <a:xfrm>
              <a:off x="5382578" y="1524000"/>
              <a:ext cx="6276022" cy="2595562"/>
            </a:xfrm>
            <a:prstGeom prst="roundRect">
              <a:avLst>
                <a:gd name="adj" fmla="val 5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92102" y="1657350"/>
              <a:ext cx="47625" cy="23288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624512" y="172783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719623" y="176355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83998" y="1767364"/>
              <a:ext cx="30363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样本来自 N(μ, σ²)，μ、σ² 都未知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17274" y="211978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是统计量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（只含样本）：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54"/>
                <p:cNvSpPr txBox="1">
                  <a:spLocks noGrp="1"/>
                </p:cNvSpPr>
                <p:nvPr/>
              </p:nvSpPr>
              <p:spPr>
                <a:xfrm>
                  <a:off x="5624512" y="2415540"/>
                  <a:ext cx="5830252" cy="5343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bar>
                          <m:barPr>
                            <m:pos m:val="top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ba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bar>
                                  </m:e>
                                </m:d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,⋯,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5617274" y="3066574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不是统计量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（含未知的 μ 或 σ）：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55"/>
                <p:cNvSpPr txBox="1">
                  <a:spLocks noGrp="1"/>
                </p:cNvSpPr>
                <p:nvPr/>
              </p:nvSpPr>
              <p:spPr>
                <a:xfrm>
                  <a:off x="5624512" y="3362325"/>
                  <a:ext cx="5830252" cy="5343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num>
                              <m:den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den>
                            </m:f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2μ</m:t>
                        </m:r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7" name="c2-card-2"/>
          <p:cNvGrpSpPr/>
          <p:nvPr/>
        </p:nvGrpSpPr>
        <p:grpSpPr>
          <a:xfrm>
            <a:off x="5382578" y="4304348"/>
            <a:ext cx="6276022" cy="1274445"/>
            <a:chOff x="5382578" y="4304348"/>
            <a:chExt cx="6276022" cy="1274445"/>
          </a:xfrm>
        </p:grpSpPr>
        <p:sp>
          <p:nvSpPr>
            <p:cNvPr id="32" name="Rectangle 32"/>
            <p:cNvSpPr/>
            <p:nvPr/>
          </p:nvSpPr>
          <p:spPr>
            <a:xfrm>
              <a:off x="5382578" y="4304348"/>
              <a:ext cx="6276022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92102" y="4437698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624512" y="450818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715673" y="45439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17274" y="4882039"/>
              <a:ext cx="56050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统计量不含未知参数，但它的分布一般含未知参数。例如样本均值是统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计量，而它服从 N(μ, σ²/n)，分布里有 μ 和 σ²。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8" name="Rectangle 38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511" y="6004084"/>
              <a:ext cx="75531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同一个式子是否算统计量取决于参数是否已知。μ 已知时 (1/n)Σ(Xᵢ − μ)² 就是统计量。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52051" cy="909257"/>
            <a:chOff x="520446" y="342900"/>
            <a:chExt cx="68520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统计量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520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样本均值与样本方差：分母分别是 n 和 n − 1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951220" cy="4023360"/>
            <a:chOff x="533400" y="1524000"/>
            <a:chExt cx="5951220" cy="40233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023360"/>
            </a:xfrm>
            <a:prstGeom prst="roundRect">
              <a:avLst>
                <a:gd name="adj" fmla="val 33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75666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样本均值、样本方差、样本标准差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61"/>
                <p:cNvSpPr txBox="1">
                  <a:spLocks noGrp="1"/>
                </p:cNvSpPr>
                <p:nvPr/>
              </p:nvSpPr>
              <p:spPr>
                <a:xfrm>
                  <a:off x="781050" y="2105025"/>
                  <a:ext cx="5494020" cy="6600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bar>
                          <m:barPr>
                            <m:pos m:val="top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ba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62"/>
                <p:cNvSpPr txBox="1">
                  <a:spLocks noGrp="1"/>
                </p:cNvSpPr>
                <p:nvPr/>
              </p:nvSpPr>
              <p:spPr>
                <a:xfrm>
                  <a:off x="781050" y="2860358"/>
                  <a:ext cx="5494020" cy="7000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bar>
                                  </m:e>
                                </m:d>
                              </m:e>
                              <m:sup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63"/>
                <p:cNvSpPr txBox="1">
                  <a:spLocks noGrp="1"/>
                </p:cNvSpPr>
                <p:nvPr/>
              </p:nvSpPr>
              <p:spPr>
                <a:xfrm>
                  <a:off x="781050" y="3655695"/>
                  <a:ext cx="5494020" cy="666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bar>
                                          <m:barPr>
                                            <m:pos m:val="top"/>
                                            <m:ctrlP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barPr>
                                          <m:e>
                                            <m:r>
                                              <a:rPr lang="zh-CN" sz="15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</m:bar>
                                      </m:e>
                                    </m:d>
                                  </m:e>
                                  <m:sup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ra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74573" y="4439126"/>
              <a:ext cx="5214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样本均值反映总体均值的信息，样本方差和样本标准差反映总体方差和标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准差的信息。</a:t>
              </a:r>
            </a:p>
          </p:txBody>
        </p:sp>
      </p:grpSp>
      <p:grpSp>
        <p:nvGrpSpPr>
          <p:cNvPr id="23" name="c2-card-1"/>
          <p:cNvGrpSpPr/>
          <p:nvPr/>
        </p:nvGrpSpPr>
        <p:grpSpPr>
          <a:xfrm>
            <a:off x="6789420" y="1524000"/>
            <a:ext cx="4869180" cy="2040255"/>
            <a:chOff x="6789420" y="1524000"/>
            <a:chExt cx="4869180" cy="2040255"/>
          </a:xfrm>
        </p:grpSpPr>
        <p:sp>
          <p:nvSpPr>
            <p:cNvPr id="17" name="Rectangle 17"/>
            <p:cNvSpPr/>
            <p:nvPr/>
          </p:nvSpPr>
          <p:spPr>
            <a:xfrm>
              <a:off x="6789420" y="1524000"/>
              <a:ext cx="4869180" cy="2040255"/>
            </a:xfrm>
            <a:prstGeom prst="roundRect">
              <a:avLst>
                <a:gd name="adj" fmla="val 65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798945" y="1657350"/>
              <a:ext cx="47625" cy="17735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03707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2332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观测值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29450" y="211074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把大写换成小写就是观测值，样本方差的观测值记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s²，例如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64"/>
                <p:cNvSpPr txBox="1">
                  <a:spLocks noGrp="1"/>
                </p:cNvSpPr>
                <p:nvPr/>
              </p:nvSpPr>
              <p:spPr>
                <a:xfrm>
                  <a:off x="7037070" y="2707005"/>
                  <a:ext cx="4411980" cy="628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bar>
                                  </m:e>
                                </m:d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0" name="c2-card-2"/>
          <p:cNvGrpSpPr/>
          <p:nvPr/>
        </p:nvGrpSpPr>
        <p:grpSpPr>
          <a:xfrm>
            <a:off x="6789420" y="3754755"/>
            <a:ext cx="4869180" cy="1792605"/>
            <a:chOff x="6789420" y="3754755"/>
            <a:chExt cx="4869180" cy="1792605"/>
          </a:xfrm>
        </p:grpSpPr>
        <p:sp>
          <p:nvSpPr>
            <p:cNvPr id="24" name="Rectangle 24"/>
            <p:cNvSpPr/>
            <p:nvPr/>
          </p:nvSpPr>
          <p:spPr>
            <a:xfrm>
              <a:off x="6789420" y="3754755"/>
              <a:ext cx="4869180" cy="1792605"/>
            </a:xfrm>
            <a:prstGeom prst="roundRect">
              <a:avLst>
                <a:gd name="adj" fmla="val 74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798945" y="3888105"/>
              <a:ext cx="47625" cy="15259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037070" y="396430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119379" y="40000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计算公式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29450" y="434149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展开平方可得常用的简便算法：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65"/>
                <p:cNvSpPr txBox="1">
                  <a:spLocks noGrp="1"/>
                </p:cNvSpPr>
                <p:nvPr/>
              </p:nvSpPr>
              <p:spPr>
                <a:xfrm>
                  <a:off x="7037070" y="4652010"/>
                  <a:ext cx="4411980" cy="666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Sup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  <m:sup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sSup>
                              <m:e>
                                <m:bar>
                                  <m:barPr>
                                    <m:pos m:val="top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barPr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ba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1" name="Rectangle 3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130" y="5991225"/>
              <a:ext cx="69675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样本方差的分母是 n − 1，下一页说明原因：这样取，S² 的期望恰好等于 σ²。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24101" cy="909257"/>
            <a:chOff x="520446" y="342900"/>
            <a:chExt cx="71241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统计量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241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样本均值与样本方差的期望：为什么除以 n − 1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4760595" cy="3056572"/>
            <a:chOff x="533400" y="1524000"/>
            <a:chExt cx="4760595" cy="30565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3056572"/>
            </a:xfrm>
            <a:prstGeom prst="roundRect">
              <a:avLst>
                <a:gd name="adj" fmla="val 4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78987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21985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E(X) = μ，D(X) = σ²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74"/>
                <p:cNvSpPr txBox="1">
                  <a:spLocks noGrp="1"/>
                </p:cNvSpPr>
                <p:nvPr/>
              </p:nvSpPr>
              <p:spPr>
                <a:xfrm>
                  <a:off x="775335" y="2095500"/>
                  <a:ext cx="4314825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75"/>
                <p:cNvSpPr txBox="1">
                  <a:spLocks noGrp="1"/>
                </p:cNvSpPr>
                <p:nvPr/>
              </p:nvSpPr>
              <p:spPr>
                <a:xfrm>
                  <a:off x="775335" y="2702242"/>
                  <a:ext cx="4314825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8096" y="3199924"/>
              <a:ext cx="413524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由辛钦大数定律，样本均值依概率收敛于 μ，即对任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意 ε &gt; 0 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76"/>
                <p:cNvSpPr txBox="1">
                  <a:spLocks noGrp="1"/>
                </p:cNvSpPr>
                <p:nvPr/>
              </p:nvSpPr>
              <p:spPr>
                <a:xfrm>
                  <a:off x="775335" y="3767138"/>
                  <a:ext cx="4314825" cy="5905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bar>
                                      <m:barPr>
                                        <m:pos m:val="top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ba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3" name="c1-callout-2"/>
          <p:cNvGrpSpPr/>
          <p:nvPr/>
        </p:nvGrpSpPr>
        <p:grpSpPr>
          <a:xfrm>
            <a:off x="533400" y="4765358"/>
            <a:ext cx="4760595" cy="756285"/>
            <a:chOff x="533400" y="4765358"/>
            <a:chExt cx="4760595" cy="756285"/>
          </a:xfrm>
        </p:grpSpPr>
        <p:sp>
          <p:nvSpPr>
            <p:cNvPr id="17" name="Rectangle 17"/>
            <p:cNvSpPr/>
            <p:nvPr/>
          </p:nvSpPr>
          <p:spPr>
            <a:xfrm>
              <a:off x="533400" y="4765358"/>
              <a:ext cx="476059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043488"/>
              <a:ext cx="200026" cy="200025"/>
              <a:chOff x="738188" y="5043488"/>
              <a:chExt cx="200026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50434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77926" y="50879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12642" y="51990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511" y="4913471"/>
              <a:ext cx="381965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平均 n 个独立观测，方差缩小为 1/n，这就是多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次测量取平均更准的原因。</a:t>
              </a:r>
            </a:p>
          </p:txBody>
        </p:sp>
      </p:grpSp>
      <p:grpSp>
        <p:nvGrpSpPr>
          <p:cNvPr id="41" name="c2-steps-1"/>
          <p:cNvGrpSpPr/>
          <p:nvPr/>
        </p:nvGrpSpPr>
        <p:grpSpPr>
          <a:xfrm>
            <a:off x="5598795" y="1533525"/>
            <a:ext cx="4832490" cy="2411159"/>
            <a:chOff x="5598795" y="1533525"/>
            <a:chExt cx="4832490" cy="2411159"/>
          </a:xfrm>
        </p:grpSpPr>
        <p:sp>
          <p:nvSpPr>
            <p:cNvPr id="24" name="Rectangle 24"/>
            <p:cNvSpPr/>
            <p:nvPr/>
          </p:nvSpPr>
          <p:spPr>
            <a:xfrm>
              <a:off x="5732145" y="167640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598795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92419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598795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92419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598795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692419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0656" y="156638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先算平方和的期望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11799" y="1846898"/>
              <a:ext cx="44194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E(Xᵢ²) = D(Xᵢ) + [E(Xᵢ)]² = σ² + μ²，求和得 n(σ² + μ²)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0656" y="218741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再算均值平方的期望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11799" y="2467927"/>
              <a:ext cx="32773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E(样本均值²) = σ²/n + μ²，乘 n 得 σ² + nμ²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10656" y="280844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11799" y="3088957"/>
              <a:ext cx="43957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E(ΣXᵢ² − n·样本均值²) = nσ² + nμ² − σ² − nμ² = (n − 1)σ²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10656" y="3429476"/>
              <a:ext cx="9086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除以 n − 1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11799" y="3709988"/>
              <a:ext cx="33238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E(S²) = σ²（补充的证明，课件只给结论）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formula77"/>
              <p:cNvSpPr txBox="1">
                <a:spLocks noGrp="1"/>
              </p:cNvSpPr>
              <p:nvPr/>
            </p:nvSpPr>
            <p:spPr>
              <a:xfrm>
                <a:off x="5598795" y="4120515"/>
                <a:ext cx="6059805" cy="6334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bar>
                                        <m:barPr>
                                          <m:pos m:val="top"/>
                                          <m:ctrl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</m:bar>
                                    </m:e>
                                  </m:d>
                                </m:e>
                                <m:sup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4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3" name="Rectangle 4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511" y="6004084"/>
              <a:ext cx="86071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若分母取 n，期望是 (n − 1)σ²/n，总比 σ² 小一点。减去均值用掉了一个自由度，所以要除以 n − 1。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82627" cy="909257"/>
            <a:chOff x="520446" y="342900"/>
            <a:chExt cx="49826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统计量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826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样本矩：原点矩 Aₖ 与中心矩 Bₖ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3103245"/>
            <a:chOff x="533400" y="1524000"/>
            <a:chExt cx="5410200" cy="31032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103245"/>
            </a:xfrm>
            <a:prstGeom prst="roundRect">
              <a:avLst>
                <a:gd name="adj" fmla="val 42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83654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0281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1, 2, 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35127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 k 阶原点矩，反映总体 k 阶矩的信息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88"/>
                <p:cNvSpPr txBox="1">
                  <a:spLocks noGrp="1"/>
                </p:cNvSpPr>
                <p:nvPr/>
              </p:nvSpPr>
              <p:spPr>
                <a:xfrm>
                  <a:off x="775335" y="2415540"/>
                  <a:ext cx="4964430" cy="628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</m:sSub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8096" y="3160871"/>
              <a:ext cx="38950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 k 阶中心矩，反映总体 k 阶中心矩的信息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89"/>
                <p:cNvSpPr txBox="1">
                  <a:spLocks noGrp="1"/>
                </p:cNvSpPr>
                <p:nvPr/>
              </p:nvSpPr>
              <p:spPr>
                <a:xfrm>
                  <a:off x="775335" y="3456622"/>
                  <a:ext cx="4964430" cy="666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bar>
                                  </m:e>
                                </m:d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69239" y="4235768"/>
              <a:ext cx="3080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观测值记为 aₖ、bₖ，把 Xᵢ 换成 xᵢ 即可。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812982"/>
            <a:ext cx="5410200" cy="756285"/>
            <a:chOff x="533400" y="4812982"/>
            <a:chExt cx="5410200" cy="756285"/>
          </a:xfrm>
        </p:grpSpPr>
        <p:sp>
          <p:nvSpPr>
            <p:cNvPr id="18" name="Rectangle 18"/>
            <p:cNvSpPr/>
            <p:nvPr/>
          </p:nvSpPr>
          <p:spPr>
            <a:xfrm>
              <a:off x="533400" y="4812982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091113"/>
              <a:ext cx="200026" cy="200025"/>
              <a:chOff x="738188" y="5091113"/>
              <a:chExt cx="200026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0911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7926" y="51355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12642" y="52466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511" y="4960144"/>
              <a:ext cx="442379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常用关系 B₂ = A₂ − A₁²：二阶中心矩等于平方的均值减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去均值的平方，例4 就用它复核。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248400" y="1524000"/>
            <a:ext cx="5410200" cy="4044315"/>
            <a:chOff x="6248400" y="1524000"/>
            <a:chExt cx="5410200" cy="4044315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4044315"/>
            </a:xfrm>
            <a:prstGeom prst="roundRect">
              <a:avLst>
                <a:gd name="adj" fmla="val 32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57925" y="1657350"/>
              <a:ext cx="47625" cy="377761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90335" y="172783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85445" y="176355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注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90"/>
                <p:cNvSpPr txBox="1">
                  <a:spLocks noGrp="1"/>
                </p:cNvSpPr>
                <p:nvPr/>
              </p:nvSpPr>
              <p:spPr>
                <a:xfrm>
                  <a:off x="6490335" y="2077402"/>
                  <a:ext cx="496443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bar>
                          <m:barPr>
                            <m:pos m:val="top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ba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91"/>
                <p:cNvSpPr txBox="1">
                  <a:spLocks noGrp="1"/>
                </p:cNvSpPr>
                <p:nvPr/>
              </p:nvSpPr>
              <p:spPr>
                <a:xfrm>
                  <a:off x="6490335" y="2658428"/>
                  <a:ext cx="496443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1" name="TextBox 31"/>
            <p:cNvSpPr txBox="1"/>
            <p:nvPr/>
          </p:nvSpPr>
          <p:spPr>
            <a:xfrm>
              <a:off x="6483096" y="3262789"/>
              <a:ext cx="461314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若总体 k 阶矩 E(Xᵏ) = μₖ 存在，则 E(Xᵢᵏ) = μₖ（i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…, n），并由辛钦定理，样本 k 阶原点矩依概率收敛于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μₖ：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92"/>
                <p:cNvSpPr txBox="1">
                  <a:spLocks noGrp="1"/>
                </p:cNvSpPr>
                <p:nvPr/>
              </p:nvSpPr>
              <p:spPr>
                <a:xfrm>
                  <a:off x="6490335" y="4102418"/>
                  <a:ext cx="4964430" cy="5610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μ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3" name="TextBox 33"/>
            <p:cNvSpPr txBox="1"/>
            <p:nvPr/>
          </p:nvSpPr>
          <p:spPr>
            <a:xfrm>
              <a:off x="6483096" y="4779169"/>
              <a:ext cx="473036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另一方面 B₂ 的期望比 σ² 小一个因子 (n − 1)/n，所以估计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总体方差时用 S²，不直接用 B₂。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5" name="Rectangle 35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511" y="6004084"/>
              <a:ext cx="54721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样本矩依概率收敛于总体的同阶矩，这是第7章矩估计法的依据。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77991" cy="909257"/>
            <a:chOff x="520446" y="342900"/>
            <a:chExt cx="58779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统计量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779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例4：10 件毛坯的均值、方差与二阶矩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card-1"/>
          <p:cNvGrpSpPr/>
          <p:nvPr/>
        </p:nvGrpSpPr>
        <p:grpSpPr>
          <a:xfrm>
            <a:off x="533400" y="1524000"/>
            <a:ext cx="4977765" cy="2777490"/>
            <a:chOff x="533400" y="1524000"/>
            <a:chExt cx="4977765" cy="27774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777490"/>
            </a:xfrm>
            <a:prstGeom prst="roundRect">
              <a:avLst>
                <a:gd name="adj" fmla="val 48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5107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3582" y="176926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2070" y="1768792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求均值、方差、二阶原点矩与二阶中心矩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149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从一批机器零件毛坯中随机抽取 10 件，测得重量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（公斤）为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81050" y="2726055"/>
              <a:ext cx="452056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77255" y="28617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81177" y="28617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85100" y="28617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89022" y="28617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92945" y="28617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4852" y="33104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88774" y="33104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92697" y="33104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96619" y="33104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00542" y="33104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215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81050" y="3618548"/>
              <a:ext cx="45205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1050" y="3623310"/>
              <a:ext cx="45205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84852" y="37590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88774" y="37590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92697" y="37590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96619" y="37590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00542" y="37590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81050" y="2726055"/>
              <a:ext cx="4520565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680210" y="272605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584132" y="272605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488055" y="272605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391978" y="272605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card-2"/>
          <p:cNvGrpSpPr/>
          <p:nvPr/>
        </p:nvGrpSpPr>
        <p:grpSpPr>
          <a:xfrm>
            <a:off x="533400" y="4491990"/>
            <a:ext cx="4977765" cy="1602105"/>
            <a:chOff x="533400" y="4491990"/>
            <a:chExt cx="4977765" cy="1602105"/>
          </a:xfrm>
        </p:grpSpPr>
        <p:sp>
          <p:nvSpPr>
            <p:cNvPr id="37" name="Rectangle 37"/>
            <p:cNvSpPr/>
            <p:nvPr/>
          </p:nvSpPr>
          <p:spPr>
            <a:xfrm>
              <a:off x="533400" y="4491990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42925" y="462534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81050" y="470154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1258" y="473725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3430" y="5078730"/>
              <a:ext cx="4339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先求均值；方差按定义逐项算离差平方，或用 a₂ 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去均值的平方求 b₂，再乘 10/9 得 s²。两条路算出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来要一致，正好用来自查。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formula97"/>
              <p:cNvSpPr txBox="1">
                <a:spLocks noGrp="1"/>
              </p:cNvSpPr>
              <p:nvPr/>
            </p:nvSpPr>
            <p:spPr>
              <a:xfrm>
                <a:off x="5815965" y="1524000"/>
                <a:ext cx="5842635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bar>
                        <m:barPr>
                          <m:pos m:val="top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ba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10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230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243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+⋯+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199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2171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10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217.1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formula98"/>
              <p:cNvSpPr txBox="1">
                <a:spLocks noGrp="1"/>
              </p:cNvSpPr>
              <p:nvPr/>
            </p:nvSpPr>
            <p:spPr>
              <a:xfrm>
                <a:off x="5815965" y="2203132"/>
                <a:ext cx="5842635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9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10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bar>
                                    <m:barPr>
                                      <m:pos m:val="top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bar>
                                </m:e>
                              </m:d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3900.9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9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433.43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formula99"/>
              <p:cNvSpPr txBox="1">
                <a:spLocks noGrp="1"/>
              </p:cNvSpPr>
              <p:nvPr/>
            </p:nvSpPr>
            <p:spPr>
              <a:xfrm>
                <a:off x="5815965" y="2990850"/>
                <a:ext cx="5842635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10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10</m:t>
                          </m:r>
                        </m:sup>
                        <m:e>
                          <m:sSub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475225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10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47522.5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formula100"/>
              <p:cNvSpPr txBox="1">
                <a:spLocks noGrp="1"/>
              </p:cNvSpPr>
              <p:nvPr/>
            </p:nvSpPr>
            <p:spPr>
              <a:xfrm>
                <a:off x="5815965" y="3778568"/>
                <a:ext cx="5842635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9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10</m:t>
                          </m:r>
                        </m:den>
                      </m:f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p>
                        <m:e>
                          <m:bar>
                            <m:barPr>
                              <m:pos m:val="top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ba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47522.5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217.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390.09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52" name="c2-card-5"/>
          <p:cNvGrpSpPr/>
          <p:nvPr/>
        </p:nvGrpSpPr>
        <p:grpSpPr>
          <a:xfrm>
            <a:off x="5815965" y="4457700"/>
            <a:ext cx="5842635" cy="1636395"/>
            <a:chOff x="5815965" y="4457700"/>
            <a:chExt cx="5842635" cy="1636395"/>
          </a:xfrm>
        </p:grpSpPr>
        <p:sp>
          <p:nvSpPr>
            <p:cNvPr id="47" name="Rectangle 47"/>
            <p:cNvSpPr/>
            <p:nvPr/>
          </p:nvSpPr>
          <p:spPr>
            <a:xfrm>
              <a:off x="5815965" y="4457700"/>
              <a:ext cx="5842635" cy="1636395"/>
            </a:xfrm>
            <a:prstGeom prst="roundRect">
              <a:avLst>
                <a:gd name="adj" fmla="val 81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5825490" y="4591050"/>
              <a:ext cx="47625" cy="13696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063615" y="46672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53823" y="47029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55995" y="5044440"/>
              <a:ext cx="489489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原课件写 B₂ = 390.0。由 3900.9/10 精确得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390.09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 − 217.1² = 47522.5 − 47132.41 复核结果相同。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58175" cy="909257"/>
            <a:chOff x="520446" y="342900"/>
            <a:chExt cx="62581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统计量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581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最大值与最小值的分布：化成“每一个都”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316355"/>
            <a:chOff x="533400" y="1524000"/>
            <a:chExt cx="5626418" cy="1316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853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样本最大值 X₍ₙ₎ = max(X₁, …, Xₙ)，样本最小值 X₍₁₎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min(X₁, …, Xₙ)。设总体分布函数为 F(x)。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104"/>
              <p:cNvSpPr txBox="1">
                <a:spLocks noGrp="1"/>
              </p:cNvSpPr>
              <p:nvPr/>
            </p:nvSpPr>
            <p:spPr>
              <a:xfrm>
                <a:off x="533400" y="3030855"/>
                <a:ext cx="5626418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,⋯,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105"/>
              <p:cNvSpPr txBox="1">
                <a:spLocks noGrp="1"/>
              </p:cNvSpPr>
              <p:nvPr/>
            </p:nvSpPr>
            <p:spPr>
              <a:xfrm>
                <a:off x="533400" y="3583305"/>
                <a:ext cx="5626418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min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&gt;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,⋯,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&gt;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p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20" name="c1-card-4"/>
          <p:cNvGrpSpPr/>
          <p:nvPr/>
        </p:nvGrpSpPr>
        <p:grpSpPr>
          <a:xfrm>
            <a:off x="533400" y="4135755"/>
            <a:ext cx="5626418" cy="1114425"/>
            <a:chOff x="533400" y="4135755"/>
            <a:chExt cx="5626418" cy="1114425"/>
          </a:xfrm>
        </p:grpSpPr>
        <p:sp>
          <p:nvSpPr>
            <p:cNvPr id="15" name="Rectangle 15"/>
            <p:cNvSpPr/>
            <p:nvPr/>
          </p:nvSpPr>
          <p:spPr>
            <a:xfrm>
              <a:off x="533400" y="4135755"/>
              <a:ext cx="5626418" cy="1114425"/>
            </a:xfrm>
            <a:prstGeom prst="roundRect">
              <a:avLst>
                <a:gd name="adj" fmla="val 119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269105"/>
              <a:ext cx="47625" cy="8477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4345305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7755" y="438102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补充：连续总体的密度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106"/>
                <p:cNvSpPr txBox="1">
                  <a:spLocks noGrp="1"/>
                </p:cNvSpPr>
                <p:nvPr/>
              </p:nvSpPr>
              <p:spPr>
                <a:xfrm>
                  <a:off x="781050" y="4697730"/>
                  <a:ext cx="5169218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max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min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4" name="c2-steps-1"/>
          <p:cNvGrpSpPr/>
          <p:nvPr/>
        </p:nvGrpSpPr>
        <p:grpSpPr>
          <a:xfrm>
            <a:off x="6464618" y="1533525"/>
            <a:ext cx="3983203" cy="1878615"/>
            <a:chOff x="6464618" y="1533525"/>
            <a:chExt cx="3983203" cy="1878615"/>
          </a:xfrm>
        </p:grpSpPr>
        <p:sp>
          <p:nvSpPr>
            <p:cNvPr id="21" name="Rectangle 21"/>
            <p:cNvSpPr/>
            <p:nvPr/>
          </p:nvSpPr>
          <p:spPr>
            <a:xfrm>
              <a:off x="6597968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464618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58241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464618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58241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76098" y="1567815"/>
              <a:ext cx="14070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最大值不超过 x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77241" y="1861661"/>
              <a:ext cx="21920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等价于每一个 Xᵢ 都不超过 x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76098" y="2218372"/>
              <a:ext cx="1205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最小值大于 x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77241" y="2512219"/>
              <a:ext cx="35705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等价于每一个 Xᵢ 都大于 x，所以先求对立事件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76098" y="28689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用独立同分布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77241" y="3162776"/>
              <a:ext cx="33299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“每一个都”的概率拆成 n 个相同因子的乘积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6464618" y="3590925"/>
            <a:ext cx="5193982" cy="1659255"/>
            <a:chOff x="6464618" y="3590925"/>
            <a:chExt cx="5193982" cy="1659255"/>
          </a:xfrm>
        </p:grpSpPr>
        <p:sp>
          <p:nvSpPr>
            <p:cNvPr id="35" name="Rectangle 35"/>
            <p:cNvSpPr/>
            <p:nvPr/>
          </p:nvSpPr>
          <p:spPr>
            <a:xfrm>
              <a:off x="6464618" y="3590925"/>
              <a:ext cx="5193982" cy="1659255"/>
            </a:xfrm>
            <a:prstGeom prst="roundRect">
              <a:avLst>
                <a:gd name="adj" fmla="val 80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74142" y="3724275"/>
              <a:ext cx="47625" cy="13925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712268" y="380047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03428" y="3836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04648" y="4177665"/>
              <a:ext cx="43776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 1 − P{X₁ ≥ x}⋯P{Xₙ ≥ x}。最小值大于 x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对应的是 Xᵢ &gt; x，应写 P{Xᵢ &gt; x} = 1 − F(x)；写成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 时，离散总体在跳跃点上会算错。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1" name="Rectangle 4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130" y="5991225"/>
              <a:ext cx="69717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最小值的事件要先取对立：min &gt; x 才能拆成 n 个“都大于”，min ≤ x 拆不开。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86801" cy="909257"/>
            <a:chOff x="520446" y="342900"/>
            <a:chExt cx="65868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统计量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868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例5：均匀总体 U[0, θ] 的最大值与最小值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977765" cy="1316355"/>
            <a:chOff x="533400" y="1524000"/>
            <a:chExt cx="4977765" cy="1316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3582" y="176926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82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设总体 ξ 服从区间 [0, θ] 上的均匀分布，(ξ₁, …,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ξₙ) 为样本，求 ξ₍₁₎ 与 ξ₍ₙ₎ 的分布。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111"/>
              <p:cNvSpPr txBox="1">
                <a:spLocks noGrp="1"/>
              </p:cNvSpPr>
              <p:nvPr/>
            </p:nvSpPr>
            <p:spPr>
              <a:xfrm>
                <a:off x="533400" y="3030855"/>
                <a:ext cx="4977765" cy="6877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nor m:val="on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其他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112"/>
              <p:cNvSpPr txBox="1">
                <a:spLocks noGrp="1"/>
              </p:cNvSpPr>
              <p:nvPr/>
            </p:nvSpPr>
            <p:spPr>
              <a:xfrm>
                <a:off x="533400" y="3909060"/>
                <a:ext cx="4977765" cy="9505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&lt;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&gt;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formula113"/>
              <p:cNvSpPr txBox="1">
                <a:spLocks noGrp="1"/>
              </p:cNvSpPr>
              <p:nvPr/>
            </p:nvSpPr>
            <p:spPr>
              <a:xfrm>
                <a:off x="5815965" y="1524000"/>
                <a:ext cx="5842635" cy="7972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ξ</m:t>
                              </m:r>
                            </m:e>
                            <m: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d>
                            </m:sub>
                          </m:sSub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num>
                                <m:den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θ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num>
                                <m:den>
                                  <m:s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  <m:sup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sup>
                                  </m:sSup>
                                </m:den>
                              </m:f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nor m:val="on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其他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formula114"/>
              <p:cNvSpPr txBox="1">
                <a:spLocks noGrp="1"/>
              </p:cNvSpPr>
              <p:nvPr/>
            </p:nvSpPr>
            <p:spPr>
              <a:xfrm>
                <a:off x="5815965" y="2511742"/>
                <a:ext cx="5842635" cy="7972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ξ</m:t>
                              </m:r>
                            </m:e>
                            <m: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</m:sub>
                          </m:sSub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num>
                                <m:den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θ</m:t>
                                  </m:r>
                                </m:den>
                              </m:f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type m:val="bar"/>
                                          <m:ctrl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num>
                                        <m:den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θ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nor m:val="on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其他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2" name="c2-card-3"/>
          <p:cNvGrpSpPr/>
          <p:nvPr/>
        </p:nvGrpSpPr>
        <p:grpSpPr>
          <a:xfrm>
            <a:off x="5815965" y="3499485"/>
            <a:ext cx="5842635" cy="1602105"/>
            <a:chOff x="5815965" y="3499485"/>
            <a:chExt cx="5842635" cy="1602105"/>
          </a:xfrm>
        </p:grpSpPr>
        <p:sp>
          <p:nvSpPr>
            <p:cNvPr id="17" name="Rectangle 17"/>
            <p:cNvSpPr/>
            <p:nvPr/>
          </p:nvSpPr>
          <p:spPr>
            <a:xfrm>
              <a:off x="5815965" y="3499485"/>
              <a:ext cx="584263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825490" y="363283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63615" y="370903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132170" y="374475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补充：直观检验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55995" y="4086225"/>
              <a:ext cx="50920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由密度可算得 E(ξ₍ₙ₎) = nθ/(n + 1)，E(ξ₍₁₎) = θ/(n +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1)。n 越大，最大值越靠近 θ、最小值越靠近 0，与直觉一致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（sympy 复核）。</a:t>
              </a:r>
            </a:p>
          </p:txBody>
        </p:sp>
      </p:grpSp>
      <p:grpSp>
        <p:nvGrpSpPr>
          <p:cNvPr id="2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23" name="Rectangle 2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130" y="5991225"/>
              <a:ext cx="70714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直接套最大值的密度公式 n[F(x)]ⁿ⁻¹f(x) 即可，注意只在 0 ≤ x ≤ θ 上非零。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55095" cy="909257"/>
            <a:chOff x="520446" y="342900"/>
            <a:chExt cx="88550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统计量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550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例6：抽多少个，才能让最大值以 15/16 的概率超过 π/12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2185988"/>
            <a:chOff x="533400" y="1524000"/>
            <a:chExt cx="4977765" cy="21859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185988"/>
            </a:xfrm>
            <a:prstGeom prst="roundRect">
              <a:avLst>
                <a:gd name="adj" fmla="val 61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192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3582" y="176926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538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设总体 X 的密度为 f(x) = 2cos 2x（0 ≤ x 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π/4），其他处为 0。从中抽取样本 X₁, …, Xₙ，求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样本容量 n，使得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18"/>
                <p:cNvSpPr txBox="1">
                  <a:spLocks noGrp="1"/>
                </p:cNvSpPr>
                <p:nvPr/>
              </p:nvSpPr>
              <p:spPr>
                <a:xfrm>
                  <a:off x="781050" y="2992755"/>
                  <a:ext cx="4520565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fName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,⋯,</m:t>
                                    </m:r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&gt;</m:t>
                            </m:r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15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16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119"/>
              <p:cNvSpPr txBox="1">
                <a:spLocks noGrp="1"/>
              </p:cNvSpPr>
              <p:nvPr/>
            </p:nvSpPr>
            <p:spPr>
              <a:xfrm>
                <a:off x="533400" y="3900488"/>
                <a:ext cx="4977765" cy="9505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&lt;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func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π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e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&gt;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π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0" name="c1-card-3"/>
          <p:cNvGrpSpPr/>
          <p:nvPr/>
        </p:nvGrpSpPr>
        <p:grpSpPr>
          <a:xfrm>
            <a:off x="533400" y="5040630"/>
            <a:ext cx="4977765" cy="1316355"/>
            <a:chOff x="533400" y="5040630"/>
            <a:chExt cx="4977765" cy="1316355"/>
          </a:xfrm>
        </p:grpSpPr>
        <p:sp>
          <p:nvSpPr>
            <p:cNvPr id="15" name="Rectangle 15"/>
            <p:cNvSpPr/>
            <p:nvPr/>
          </p:nvSpPr>
          <p:spPr>
            <a:xfrm>
              <a:off x="533400" y="5040630"/>
              <a:ext cx="497776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517398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525018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1258" y="52868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5628322"/>
              <a:ext cx="4282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“最大值大于 π/12”不好直接算，它的对立事件是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“每一个都不超过 π/12”，概率就是 [F(π/12)]ⁿ。</a:t>
              </a:r>
            </a:p>
          </p:txBody>
        </p:sp>
      </p:grpSp>
      <p:grpSp>
        <p:nvGrpSpPr>
          <p:cNvPr id="38" name="c2-steps-1"/>
          <p:cNvGrpSpPr/>
          <p:nvPr/>
        </p:nvGrpSpPr>
        <p:grpSpPr>
          <a:xfrm>
            <a:off x="5815965" y="1533525"/>
            <a:ext cx="4285402" cy="2529173"/>
            <a:chOff x="5815965" y="1533525"/>
            <a:chExt cx="4285402" cy="2529173"/>
          </a:xfrm>
        </p:grpSpPr>
        <p:sp>
          <p:nvSpPr>
            <p:cNvPr id="21" name="Rectangle 21"/>
            <p:cNvSpPr/>
            <p:nvPr/>
          </p:nvSpPr>
          <p:spPr>
            <a:xfrm>
              <a:off x="5949315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815965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0958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815965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09589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815965" y="34861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09589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27445" y="15678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求分布函数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28588" y="1861661"/>
              <a:ext cx="25287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2cos 2t 从 0 积到 x 得 sin 2x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27445" y="221837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取对立事件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8588" y="2512219"/>
              <a:ext cx="26744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P{max &gt; π/12} = 1 − [F(π/12)]ⁿ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27445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28588" y="3162776"/>
              <a:ext cx="20915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F(π/12) = sin(π/6) = 1/2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27445" y="35204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解不等式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8588" y="3813334"/>
              <a:ext cx="38727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 (1/2)ⁿ ≥ 15/16，即 (1/2)ⁿ ≤ 1/16，得 n ≥ 4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formula120"/>
              <p:cNvSpPr txBox="1">
                <a:spLocks noGrp="1"/>
              </p:cNvSpPr>
              <p:nvPr/>
            </p:nvSpPr>
            <p:spPr>
              <a:xfrm>
                <a:off x="5815965" y="4241482"/>
                <a:ext cx="5842635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p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π</m:t>
                                      </m:r>
                                    </m:num>
                                    <m:den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15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16</m:t>
                          </m:r>
                        </m:den>
                      </m:f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⟹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5" name="c2-callout-3"/>
          <p:cNvGrpSpPr/>
          <p:nvPr/>
        </p:nvGrpSpPr>
        <p:grpSpPr>
          <a:xfrm>
            <a:off x="5815965" y="4920615"/>
            <a:ext cx="5842635" cy="1437322"/>
            <a:chOff x="5815965" y="4920615"/>
            <a:chExt cx="5842635" cy="1437322"/>
          </a:xfrm>
        </p:grpSpPr>
        <p:sp>
          <p:nvSpPr>
            <p:cNvPr id="40" name="Rectangle 40"/>
            <p:cNvSpPr/>
            <p:nvPr/>
          </p:nvSpPr>
          <p:spPr>
            <a:xfrm>
              <a:off x="5815965" y="4920615"/>
              <a:ext cx="5842635" cy="1437322"/>
            </a:xfrm>
            <a:prstGeom prst="roundRect">
              <a:avLst>
                <a:gd name="adj" fmla="val 795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020753" y="5538788"/>
              <a:ext cx="200026" cy="200026"/>
              <a:chOff x="6020753" y="5538788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020753" y="55387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087428" y="56165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322695" y="5395912"/>
              <a:ext cx="4606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验算：n = 4 时概率恰为 15/16；n = 3 时只有 7/8，不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够。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统计量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偏度、峰度与样本协方差、相关系数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191578"/>
            <a:chOff x="533400" y="1524000"/>
            <a:chExt cx="5410200" cy="11915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191578"/>
            </a:xfrm>
            <a:prstGeom prst="roundRect">
              <a:avLst>
                <a:gd name="adj" fmla="val 111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2487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形状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样本偏度与样本峰度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36"/>
                <p:cNvSpPr txBox="1">
                  <a:spLocks noGrp="1"/>
                </p:cNvSpPr>
                <p:nvPr/>
              </p:nvSpPr>
              <p:spPr>
                <a:xfrm>
                  <a:off x="758190" y="2049780"/>
                  <a:ext cx="499872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γ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γ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sub>
                            </m:sSub>
                          </m:num>
                          <m:den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9" name="c1-table-2"/>
          <p:cNvGrpSpPr/>
          <p:nvPr/>
        </p:nvGrpSpPr>
        <p:grpSpPr>
          <a:xfrm>
            <a:off x="533400" y="2886075"/>
            <a:ext cx="5410200" cy="1800225"/>
            <a:chOff x="533400" y="2886075"/>
            <a:chExt cx="5410200" cy="1800225"/>
          </a:xfrm>
        </p:grpSpPr>
        <p:sp>
          <p:nvSpPr>
            <p:cNvPr id="14" name="Rectangle 14"/>
            <p:cNvSpPr/>
            <p:nvPr/>
          </p:nvSpPr>
          <p:spPr>
            <a:xfrm>
              <a:off x="533400" y="2886075"/>
              <a:ext cx="5410200" cy="60007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0248" y="3007519"/>
              <a:ext cx="2959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统计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87271" y="31075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反映什么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18343" y="31075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0555" y="37076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γ₁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80160" y="37076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密度曲线的对称性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03220" y="3607594"/>
              <a:ext cx="274243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γ₁ &gt; 0 右边拖长尾（右偏），γ₁ &lt; 0 左偏，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对称时为 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0814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4086225"/>
              <a:ext cx="541020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0555" y="43076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γ₂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80160" y="4307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峰值附近的陡峭程度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03220" y="4207669"/>
              <a:ext cx="274243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γ₂ &gt; 0 比正态更尖，γ₂ &lt; 0 更平；正态分布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2886075"/>
              <a:ext cx="5410200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178242" y="288607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2801302" y="288607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rd-3"/>
          <p:cNvGrpSpPr/>
          <p:nvPr/>
        </p:nvGrpSpPr>
        <p:grpSpPr>
          <a:xfrm>
            <a:off x="533400" y="4855845"/>
            <a:ext cx="5410200" cy="1443038"/>
            <a:chOff x="533400" y="4855845"/>
            <a:chExt cx="5410200" cy="1443038"/>
          </a:xfrm>
        </p:grpSpPr>
        <p:sp>
          <p:nvSpPr>
            <p:cNvPr id="30" name="Rectangle 30"/>
            <p:cNvSpPr/>
            <p:nvPr/>
          </p:nvSpPr>
          <p:spPr>
            <a:xfrm>
              <a:off x="533400" y="4855845"/>
              <a:ext cx="5410200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4989195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58190" y="504253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2759" y="507539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两个细节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1332" y="5386388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B₂ 的 3/2 次方是（除以 n 的）样本标准差的三次方，这样 γ₁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不带单位。峰度减 3 是为了让正态分布的峰度恰好为 0，便于和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正态比较。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248400" y="1524000"/>
            <a:ext cx="5410200" cy="2443162"/>
            <a:chOff x="6248400" y="1524000"/>
            <a:chExt cx="5410200" cy="2443162"/>
          </a:xfrm>
        </p:grpSpPr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2443162"/>
            </a:xfrm>
            <a:prstGeom prst="roundRect">
              <a:avLst>
                <a:gd name="adj" fmla="val 54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57925" y="1657350"/>
              <a:ext cx="47625" cy="217646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31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577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二维样本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88339" y="1745932"/>
              <a:ext cx="2564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 (X₁, Y₁), …, (Xₙ, Yₙ)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66332" y="207168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样本协方差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formula137"/>
                <p:cNvSpPr txBox="1">
                  <a:spLocks noGrp="1"/>
                </p:cNvSpPr>
                <p:nvPr/>
              </p:nvSpPr>
              <p:spPr>
                <a:xfrm>
                  <a:off x="6473190" y="2349818"/>
                  <a:ext cx="4998720" cy="5667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XY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bar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ba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bar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</m:bar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3" name="TextBox 43"/>
            <p:cNvSpPr txBox="1"/>
            <p:nvPr/>
          </p:nvSpPr>
          <p:spPr>
            <a:xfrm>
              <a:off x="6466332" y="3022282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样本相关系数，分母是两个分量各自的样本标准差之积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formula138"/>
                <p:cNvSpPr txBox="1">
                  <a:spLocks noGrp="1"/>
                </p:cNvSpPr>
                <p:nvPr/>
              </p:nvSpPr>
              <p:spPr>
                <a:xfrm>
                  <a:off x="6473190" y="3300412"/>
                  <a:ext cx="499872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ρ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XY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XY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sub>
                            </m:s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2" name="c2-card-2"/>
          <p:cNvGrpSpPr/>
          <p:nvPr/>
        </p:nvGrpSpPr>
        <p:grpSpPr>
          <a:xfrm>
            <a:off x="6248400" y="4136708"/>
            <a:ext cx="5410200" cy="2162175"/>
            <a:chOff x="6248400" y="4136708"/>
            <a:chExt cx="5410200" cy="2162175"/>
          </a:xfrm>
        </p:grpSpPr>
        <p:sp>
          <p:nvSpPr>
            <p:cNvPr id="46" name="Rectangle 46"/>
            <p:cNvSpPr/>
            <p:nvPr/>
          </p:nvSpPr>
          <p:spPr>
            <a:xfrm>
              <a:off x="6248400" y="4136708"/>
              <a:ext cx="5410200" cy="2162175"/>
            </a:xfrm>
            <a:prstGeom prst="roundRect">
              <a:avLst>
                <a:gd name="adj" fmla="val 61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57925" y="4270058"/>
              <a:ext cx="47625" cy="18954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3190" y="432339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57759" y="435625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记号说明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66332" y="466725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原课件把样本协方差的记号写成带平方的形式。协方差可以取负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值，不是某个量的平方，本讲义去掉了平方，公式本身不变。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66332" y="5225415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样本协方差为正，说明两个分量倾向于同时偏大或同时偏小；为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负则一个偏大时另一个偏小。样本相关系数总在 −1 到 1 之间，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绝对值越接近 1，线性关系越强。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统计量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常用统计量一览：每个样本量对应一个总体量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749290" cy="278702"/>
            <a:chOff x="526161" y="1547336"/>
            <a:chExt cx="574929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7492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左边是用样本算出来的统计量，右边是它要估计或反映的总体特征。</a:t>
              </a:r>
            </a:p>
          </p:txBody>
        </p:sp>
      </p:grpSp>
      <p:grpSp>
        <p:nvGrpSpPr>
          <p:cNvPr id="63" name="c1-table-1"/>
          <p:cNvGrpSpPr/>
          <p:nvPr/>
        </p:nvGrpSpPr>
        <p:grpSpPr>
          <a:xfrm>
            <a:off x="533400" y="1941195"/>
            <a:ext cx="11125200" cy="3651885"/>
            <a:chOff x="533400" y="1941195"/>
            <a:chExt cx="11125200" cy="365188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1112520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02601" y="20654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统计量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70731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73367" y="20654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对应的总体量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93999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关键性质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24712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35568" y="2471261"/>
              <a:ext cx="699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(1/n)ΣXᵢ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18898" y="2471261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 μ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553450" y="2356485"/>
              <a:ext cx="309562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43938" y="2471261"/>
              <a:ext cx="1270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 μ，方差 σ²/n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479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75272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2877026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样本方差 S²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35568" y="2877026"/>
              <a:ext cx="16005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Σ(Xᵢ − 均值)²/(n − 1)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18898" y="2877026"/>
              <a:ext cx="524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 σ²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553450" y="2762250"/>
              <a:ext cx="309562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43938" y="2877026"/>
              <a:ext cx="7937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E(S²) = σ²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1537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3282791"/>
              <a:ext cx="13323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 k 阶原点矩 Aₖ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35568" y="3282791"/>
              <a:ext cx="7859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(1/n)ΣXᵢᵏ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18898" y="3282791"/>
              <a:ext cx="927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阶矩 E(Xᵏ)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43938" y="3282791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依概率收敛于总体 k 阶矩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559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56425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3412" y="3688556"/>
              <a:ext cx="13323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 k 阶中心矩 Bₖ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35568" y="3688556"/>
              <a:ext cx="14332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(1/n)Σ(Xᵢ − 均值)ᵏ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18898" y="3688556"/>
              <a:ext cx="742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阶中心矩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43938" y="3688556"/>
              <a:ext cx="12207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B₂ = (n − 1)S²/n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9652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412" y="4094321"/>
              <a:ext cx="8819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最大值 X₍ₙ₎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635568" y="4094321"/>
              <a:ext cx="11524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max(X₁, …, Xₙ)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18898" y="40943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取值上端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43938" y="4094321"/>
              <a:ext cx="12579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分布函数 [F(x)]ⁿ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3710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437578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3412" y="4500086"/>
              <a:ext cx="8819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最小值 X₍₁₎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635568" y="4500086"/>
              <a:ext cx="1113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min(X₁, …, Xₙ)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18898" y="450008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取值下端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43938" y="4500086"/>
              <a:ext cx="17850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分布函数 1 − [1 − F(x)]ⁿ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47767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3412" y="4905851"/>
              <a:ext cx="1256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偏度 γ₁ 与峰度 γ₂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635568" y="4905851"/>
              <a:ext cx="1386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B₂、B₃、B₄ 算出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18898" y="490585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曲线的形状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643938" y="4905851"/>
              <a:ext cx="1195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正态分布时都为 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51825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33400" y="518731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3412" y="531161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样本相关系数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635568" y="531161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样本协方差除以两个样本标准差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18898" y="5311616"/>
              <a:ext cx="742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相关系数 ρ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643938" y="5311616"/>
              <a:ext cx="1345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取值在 −1 到 1 之间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1941195"/>
              <a:ext cx="11125200" cy="36518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2530792" y="1941195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314122" y="1941195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539162" y="1941195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4" name="Rectangle 6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892" y="6023610"/>
              <a:ext cx="73013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表中的“均值”指样本均值。考试最常考前两行：样本均值与样本方差的定义、期望和方差。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801868" cy="2997517"/>
            <a:chOff x="667512" y="1835468"/>
            <a:chExt cx="580186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正态总体的样本均值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正态总体下样本均值仍然服从正态分布，标准化后就能查表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单个与两个正态总体的结论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三道求概率与样本容量的例题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68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标准正态分布的上 α 分位点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正态总体的样本均值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正态总体：样本均值仍服从正态分布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977765" cy="1720215"/>
            <a:chOff x="533400" y="1524000"/>
            <a:chExt cx="4977765" cy="17202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720215"/>
            </a:xfrm>
            <a:prstGeom prst="roundRect">
              <a:avLst>
                <a:gd name="adj" fmla="val 7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5351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94" y="17378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单个正态总体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16608" y="1744504"/>
              <a:ext cx="26986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N(μ, σ²)，X₁, …, Xₙ 是样本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63"/>
                <p:cNvSpPr txBox="1">
                  <a:spLocks noGrp="1"/>
                </p:cNvSpPr>
                <p:nvPr/>
              </p:nvSpPr>
              <p:spPr>
                <a:xfrm>
                  <a:off x="752475" y="2040255"/>
                  <a:ext cx="4577715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bar>
                          <m:barPr>
                            <m:pos m:val="top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ba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64"/>
                <p:cNvSpPr txBox="1">
                  <a:spLocks noGrp="1"/>
                </p:cNvSpPr>
                <p:nvPr/>
              </p:nvSpPr>
              <p:spPr>
                <a:xfrm>
                  <a:off x="752475" y="2584132"/>
                  <a:ext cx="4577715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bar>
                              <m:barPr>
                                <m:pos m:val="top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ad>
                              <m:radPr>
                                <m:degHide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0" name="c1-card-2"/>
          <p:cNvGrpSpPr/>
          <p:nvPr/>
        </p:nvGrpSpPr>
        <p:grpSpPr>
          <a:xfrm>
            <a:off x="533400" y="3408998"/>
            <a:ext cx="4977765" cy="2139315"/>
            <a:chOff x="533400" y="3408998"/>
            <a:chExt cx="4977765" cy="2139315"/>
          </a:xfrm>
        </p:grpSpPr>
        <p:sp>
          <p:nvSpPr>
            <p:cNvPr id="15" name="Rectangle 15"/>
            <p:cNvSpPr/>
            <p:nvPr/>
          </p:nvSpPr>
          <p:spPr>
            <a:xfrm>
              <a:off x="533400" y="3408998"/>
              <a:ext cx="4977765" cy="2139315"/>
            </a:xfrm>
            <a:prstGeom prst="roundRect">
              <a:avLst>
                <a:gd name="adj" fmla="val 62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542348"/>
              <a:ext cx="47625" cy="187261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2475" y="358997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1096" y="362283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5998" y="3930491"/>
              <a:ext cx="429641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独立正态变量的线性组合仍服从正态分布。样本均值的期望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μ、方差 σ²/n 由上一节的性质给出，而正态分布由期望和方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差完全确定。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5815965" y="1524000"/>
            <a:ext cx="5842635" cy="2715578"/>
            <a:chOff x="5815965" y="1524000"/>
            <a:chExt cx="5842635" cy="2715578"/>
          </a:xfrm>
        </p:grpSpPr>
        <p:sp>
          <p:nvSpPr>
            <p:cNvPr id="21" name="Rectangle 21"/>
            <p:cNvSpPr/>
            <p:nvPr/>
          </p:nvSpPr>
          <p:spPr>
            <a:xfrm>
              <a:off x="5815965" y="1524000"/>
              <a:ext cx="5842635" cy="2715578"/>
            </a:xfrm>
            <a:prstGeom prst="roundRect">
              <a:avLst>
                <a:gd name="adj" fmla="val 49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825490" y="1657350"/>
              <a:ext cx="47625" cy="244887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35040" y="170497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12459" y="17378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两个正态总体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28563" y="2045494"/>
              <a:ext cx="50026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N(μ₁, σ₁²)、Y ~ N(μ₂, σ₂²) 相互独立，样本容量 n₁、n₂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28563" y="2346484"/>
              <a:ext cx="50035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两个样本均值分别服从 N(μ₁, σ₁²/n₁) 与 N(μ₂, σ₂²/n₂)，且相互独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立，于是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165"/>
                <p:cNvSpPr txBox="1">
                  <a:spLocks noGrp="1"/>
                </p:cNvSpPr>
                <p:nvPr/>
              </p:nvSpPr>
              <p:spPr>
                <a:xfrm>
                  <a:off x="6035040" y="2852738"/>
                  <a:ext cx="5442585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bar>
                          <m:barPr>
                            <m:pos m:val="top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ba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bar>
                          <m:barPr>
                            <m:pos m:val="top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ba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Sup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Sup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8" name="TextBox 28"/>
            <p:cNvSpPr txBox="1"/>
            <p:nvPr/>
          </p:nvSpPr>
          <p:spPr>
            <a:xfrm>
              <a:off x="6028563" y="336661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标准化得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166"/>
                <p:cNvSpPr txBox="1">
                  <a:spLocks noGrp="1"/>
                </p:cNvSpPr>
                <p:nvPr/>
              </p:nvSpPr>
              <p:spPr>
                <a:xfrm>
                  <a:off x="6035040" y="3630930"/>
                  <a:ext cx="5442585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bar>
                              <m:barPr>
                                <m:pos m:val="top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bar>
                              <m:barPr>
                                <m:pos m:val="top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sSubSup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Sup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6" name="c2-card-2"/>
          <p:cNvGrpSpPr/>
          <p:nvPr/>
        </p:nvGrpSpPr>
        <p:grpSpPr>
          <a:xfrm>
            <a:off x="5815965" y="4404360"/>
            <a:ext cx="5842635" cy="1143952"/>
            <a:chOff x="5815965" y="4404360"/>
            <a:chExt cx="5842635" cy="1143952"/>
          </a:xfrm>
        </p:grpSpPr>
        <p:sp>
          <p:nvSpPr>
            <p:cNvPr id="31" name="Rectangle 31"/>
            <p:cNvSpPr/>
            <p:nvPr/>
          </p:nvSpPr>
          <p:spPr>
            <a:xfrm>
              <a:off x="5815965" y="4404360"/>
              <a:ext cx="584263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825490" y="453771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35040" y="45853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26759" y="46181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28563" y="4924901"/>
              <a:ext cx="52392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这些结论要求总体服从正态分布。总体不是正态时，只有 n 较大才能借中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心极限定理近似使用。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7" name="Rectangle 3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1273" y="6039326"/>
              <a:ext cx="49669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两个样本均值相减，方差是相加：σ₁²/n₁ + σ₂²/n₂，不是相减。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48579" cy="909257"/>
            <a:chOff x="520446" y="342900"/>
            <a:chExt cx="70485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正态总体的样本均值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485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例7：样本均值落在 50.8 到 53.8 之间的概率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544378" cy="1602105"/>
            <a:chOff x="533400" y="1524000"/>
            <a:chExt cx="4544378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3582" y="176926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例7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825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在总体 N(52, 6.3²) 中随机抽取一个容量为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 的样本，求样本均值落在 50.8 到 53.8 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间的概率。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316605"/>
            <a:ext cx="4544378" cy="2265998"/>
            <a:chOff x="533400" y="3316605"/>
            <a:chExt cx="4544378" cy="2265998"/>
          </a:xfrm>
        </p:grpSpPr>
        <p:sp>
          <p:nvSpPr>
            <p:cNvPr id="13" name="Rectangle 13"/>
            <p:cNvSpPr/>
            <p:nvPr/>
          </p:nvSpPr>
          <p:spPr>
            <a:xfrm>
              <a:off x="533400" y="3316605"/>
              <a:ext cx="4544378" cy="2265998"/>
            </a:xfrm>
            <a:prstGeom prst="roundRect">
              <a:avLst>
                <a:gd name="adj" fmla="val 58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449955"/>
              <a:ext cx="47625" cy="199929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5261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1258" y="35618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3903345"/>
              <a:ext cx="38728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样本均值服从 N(52, 6.3²/36)，标准差是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6.3/6 = 1.05。把两个端点标准化，化成 Φ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formula171"/>
              <p:cNvSpPr txBox="1">
                <a:spLocks noGrp="1"/>
              </p:cNvSpPr>
              <p:nvPr/>
            </p:nvSpPr>
            <p:spPr>
              <a:xfrm>
                <a:off x="5382578" y="1524000"/>
                <a:ext cx="6276022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bar>
                        <m:barPr>
                          <m:pos m:val="top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ba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52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6.</m:t>
                              </m:r>
                              <m:sSup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36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formula172"/>
              <p:cNvSpPr txBox="1">
                <a:spLocks noGrp="1"/>
              </p:cNvSpPr>
              <p:nvPr/>
            </p:nvSpPr>
            <p:spPr>
              <a:xfrm>
                <a:off x="5382578" y="2228850"/>
                <a:ext cx="6276022" cy="437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50.8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bar>
                            <m:barPr>
                              <m:pos m:val="top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ba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53.8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50.8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52</m:t>
                              </m:r>
                            </m:num>
                            <m:den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6.3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f>
                            <m:fPr>
                              <m:type m:val="bar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bar>
                                <m:barPr>
                                  <m:pos m:val="top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barP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ba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52</m:t>
                              </m:r>
                            </m:num>
                            <m:den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6.3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f>
                            <m:fPr>
                              <m:type m:val="bar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53.8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52</m:t>
                              </m:r>
                            </m:num>
                            <m:den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6.3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173"/>
              <p:cNvSpPr txBox="1">
                <a:spLocks noGrp="1"/>
              </p:cNvSpPr>
              <p:nvPr/>
            </p:nvSpPr>
            <p:spPr>
              <a:xfrm>
                <a:off x="5382578" y="2856548"/>
                <a:ext cx="6276022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=Φ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1.7143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−Φ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1.1429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formula174"/>
              <p:cNvSpPr txBox="1">
                <a:spLocks noGrp="1"/>
              </p:cNvSpPr>
              <p:nvPr/>
            </p:nvSpPr>
            <p:spPr>
              <a:xfrm>
                <a:off x="5382578" y="3428048"/>
                <a:ext cx="6276022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≈Φ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1.71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−Φ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1.14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0.9564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0.1271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0.8293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8" name="c2-card-5"/>
          <p:cNvGrpSpPr/>
          <p:nvPr/>
        </p:nvGrpSpPr>
        <p:grpSpPr>
          <a:xfrm>
            <a:off x="5382578" y="3980498"/>
            <a:ext cx="6276022" cy="1602105"/>
            <a:chOff x="5382578" y="3980498"/>
            <a:chExt cx="6276022" cy="1602105"/>
          </a:xfrm>
        </p:grpSpPr>
        <p:sp>
          <p:nvSpPr>
            <p:cNvPr id="23" name="Rectangle 23"/>
            <p:cNvSpPr/>
            <p:nvPr/>
          </p:nvSpPr>
          <p:spPr>
            <a:xfrm>
              <a:off x="5382578" y="3980498"/>
              <a:ext cx="627602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92102" y="4113848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630228" y="419004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21388" y="42257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22608" y="4567238"/>
              <a:ext cx="54444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原课件结果写作 0.8239，是 0.8293 的两位数字颠倒。查表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Φ(1.71) = 0.9564、Φ(1.14) = 0.8729，得 0.9564 − 0.1271 =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0.8293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；不取整的精确值 0.8302。</a:t>
              </a:r>
            </a:p>
          </p:txBody>
        </p:sp>
      </p:grpSp>
      <p:grpSp>
        <p:nvGrpSpPr>
          <p:cNvPr id="3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29" name="Rectangle 2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5991225"/>
              <a:ext cx="64366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标准化时除的是样本均值的标准差 σ/√n = 1.05，不是总体标准差 6.3。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42843" cy="909257"/>
            <a:chOff x="520446" y="342900"/>
            <a:chExt cx="56428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正态总体的样本均值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428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例8：保温瓶 24 小时后的温度（一）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760595" cy="2071688"/>
            <a:chOff x="533400" y="1524000"/>
            <a:chExt cx="4760595" cy="20716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071688"/>
            </a:xfrm>
            <a:prstGeom prst="roundRect">
              <a:avLst>
                <a:gd name="adj" fmla="val 64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049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2005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6630" y="1750695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0256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检验保温瓶的保暖性能：灌入沸水，24 小时后测定温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 T，已知 T ~ N(62, 5²)。求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632710"/>
              <a:ext cx="43572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随机抽取 20 只测定，样本均值低于 60° 的概率；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935605"/>
              <a:ext cx="40170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独立进行两次抽样测试，分别抽 20 只和 12 只，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两个样本均值之差的绝对值大于 1° 的概率。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770948"/>
            <a:ext cx="4760595" cy="1553528"/>
            <a:chOff x="533400" y="3770948"/>
            <a:chExt cx="4760595" cy="1553528"/>
          </a:xfrm>
        </p:grpSpPr>
        <p:sp>
          <p:nvSpPr>
            <p:cNvPr id="15" name="Rectangle 15"/>
            <p:cNvSpPr/>
            <p:nvPr/>
          </p:nvSpPr>
          <p:spPr>
            <a:xfrm>
              <a:off x="533400" y="3770948"/>
              <a:ext cx="4760595" cy="1553528"/>
            </a:xfrm>
            <a:prstGeom prst="roundRect">
              <a:avLst>
                <a:gd name="adj" fmla="val 85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904298"/>
              <a:ext cx="47625" cy="12868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3963352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7341" y="3997643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对照：抽的只数不同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4319588"/>
              <a:ext cx="417995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单只保温瓶低于 60° 的概率是 Φ(−0.4) = 0.3446；抽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只时方差 5，概率 Φ(−0.89) = 0.1867；抽 20 只时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只剩 0.0367。样本越大，样本均值越集中在 62 附近。</a:t>
              </a:r>
            </a:p>
          </p:txBody>
        </p:sp>
      </p:grpSp>
      <p:grpSp>
        <p:nvGrpSpPr>
          <p:cNvPr id="34" name="c2-steps-1"/>
          <p:cNvGrpSpPr/>
          <p:nvPr/>
        </p:nvGrpSpPr>
        <p:grpSpPr>
          <a:xfrm>
            <a:off x="5598795" y="1533525"/>
            <a:ext cx="3881816" cy="1693069"/>
            <a:chOff x="5598795" y="1533525"/>
            <a:chExt cx="3881816" cy="1693069"/>
          </a:xfrm>
        </p:grpSpPr>
        <p:sp>
          <p:nvSpPr>
            <p:cNvPr id="21" name="Rectangle 21"/>
            <p:cNvSpPr/>
            <p:nvPr/>
          </p:nvSpPr>
          <p:spPr>
            <a:xfrm>
              <a:off x="5732145" y="1676400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598795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92419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598795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92419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11037" y="1564957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样本均值的分布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12180" y="1833086"/>
              <a:ext cx="2928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 5²/20 = 1.25，标准差 √1.25 ≈ 1.118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1037" y="215265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12180" y="2419826"/>
              <a:ext cx="1767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(60 − 62)/1.118 ≈ −1.79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11037" y="273939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2180" y="3006566"/>
              <a:ext cx="3468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Φ(−1.79) = 1 − Φ(1.79) = 1 − 0.9633 = 0.0367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183"/>
              <p:cNvSpPr txBox="1">
                <a:spLocks noGrp="1"/>
              </p:cNvSpPr>
              <p:nvPr/>
            </p:nvSpPr>
            <p:spPr>
              <a:xfrm>
                <a:off x="5598795" y="3395662"/>
                <a:ext cx="6059805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bar>
                        <m:barPr>
                          <m:pos m:val="top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ba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62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f>
                            <m:fPr>
                              <m:type m:val="bar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20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62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1.25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formula184"/>
              <p:cNvSpPr txBox="1">
                <a:spLocks noGrp="1"/>
              </p:cNvSpPr>
              <p:nvPr/>
            </p:nvSpPr>
            <p:spPr>
              <a:xfrm>
                <a:off x="5598795" y="4033838"/>
                <a:ext cx="6059805" cy="385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</m:ba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60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bar>
                                <m:barPr>
                                  <m:pos m:val="top"/>
                                  <m:ctrl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barP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e>
                              </m:bar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62</m:t>
                              </m:r>
                            </m:num>
                            <m:den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1.118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f>
                            <m:fPr>
                              <m:type m:val="bar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60</m:t>
                              </m:r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62</m:t>
                              </m:r>
                            </m:num>
                            <m:den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1.118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=Φ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1.79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0.0367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3" name="c2-callout-4"/>
          <p:cNvGrpSpPr/>
          <p:nvPr/>
        </p:nvGrpSpPr>
        <p:grpSpPr>
          <a:xfrm>
            <a:off x="5598795" y="4594860"/>
            <a:ext cx="6059805" cy="729615"/>
            <a:chOff x="5598795" y="4594860"/>
            <a:chExt cx="6059805" cy="729615"/>
          </a:xfrm>
        </p:grpSpPr>
        <p:sp>
          <p:nvSpPr>
            <p:cNvPr id="37" name="Rectangle 37"/>
            <p:cNvSpPr/>
            <p:nvPr/>
          </p:nvSpPr>
          <p:spPr>
            <a:xfrm>
              <a:off x="5598795" y="4594860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5803583" y="4858703"/>
              <a:ext cx="200026" cy="200025"/>
              <a:chOff x="5803583" y="4858703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5803583" y="48587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843321" y="49031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878037" y="50142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106287" y="4740592"/>
              <a:ext cx="500291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第（1）问是单个总体，第（2）问是两个独立样本均值之差，都先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写出样本均值的分布。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4" name="Rectangle 4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892" y="6023610"/>
              <a:ext cx="5547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不取整时 z = −1.7889，精确概率 0.0368，与查表结果只差万分位。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42843" cy="909257"/>
            <a:chOff x="520446" y="342900"/>
            <a:chExt cx="56428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正态总体的样本均值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428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例8：保温瓶 24 小时后的温度（二）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4523537" cy="2411159"/>
            <a:chOff x="533400" y="1533525"/>
            <a:chExt cx="4523537" cy="241115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56638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两个样本均值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1846898"/>
              <a:ext cx="4110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分别服从 N(62, 5²/20) 与 N(62, 5²/12)，且相互独立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1874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差的分布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467927"/>
              <a:ext cx="33480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 62 − 62 = 0，方差 25/20 + 25/12 = 10/3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80844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088957"/>
              <a:ext cx="2249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1/√(10/3) = √(3/10) ≈ 0.548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42947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化成对立事件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709988"/>
              <a:ext cx="35015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P{|差| &gt; 1} = 1 − P{|差| ≤ 1} = 2 − 2Φ(0.548)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120515"/>
            <a:ext cx="4977765" cy="1491615"/>
            <a:chOff x="533400" y="4120515"/>
            <a:chExt cx="4977765" cy="1491615"/>
          </a:xfrm>
        </p:grpSpPr>
        <p:sp>
          <p:nvSpPr>
            <p:cNvPr id="25" name="Rectangle 25"/>
            <p:cNvSpPr/>
            <p:nvPr/>
          </p:nvSpPr>
          <p:spPr>
            <a:xfrm>
              <a:off x="533400" y="4120515"/>
              <a:ext cx="4977765" cy="1491615"/>
            </a:xfrm>
            <a:prstGeom prst="roundRect">
              <a:avLst>
                <a:gd name="adj" fmla="val 766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4766310"/>
              <a:ext cx="200026" cy="200025"/>
              <a:chOff x="738188" y="4766310"/>
              <a:chExt cx="200026" cy="2000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47663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77926" y="48107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12642" y="49218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511" y="4635341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两次抽样相互独立，两个样本均值才相互独立，差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的方差才能直接相加。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formula193"/>
              <p:cNvSpPr txBox="1">
                <a:spLocks noGrp="1"/>
              </p:cNvSpPr>
              <p:nvPr/>
            </p:nvSpPr>
            <p:spPr>
              <a:xfrm>
                <a:off x="5815965" y="1524000"/>
                <a:ext cx="5842635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bar>
                            <m:barPr>
                              <m:pos m:val="top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</m:ba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bar>
                            <m:barPr>
                              <m:pos m:val="top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</m:ba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f>
                            <m:fPr>
                              <m:type m:val="bar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p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20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p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formula194"/>
              <p:cNvSpPr txBox="1">
                <a:spLocks noGrp="1"/>
              </p:cNvSpPr>
              <p:nvPr/>
            </p:nvSpPr>
            <p:spPr>
              <a:xfrm>
                <a:off x="5815965" y="2198370"/>
                <a:ext cx="5842635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bar>
                                <m:barPr>
                                  <m:pos m:val="top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bar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e>
                              </m:ba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bar>
                                <m:barPr>
                                  <m:pos m:val="top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bar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e>
                              </m:ba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25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20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25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formula195"/>
              <p:cNvSpPr txBox="1">
                <a:spLocks noGrp="1"/>
              </p:cNvSpPr>
              <p:nvPr/>
            </p:nvSpPr>
            <p:spPr>
              <a:xfrm>
                <a:off x="5815965" y="2871788"/>
                <a:ext cx="5842635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T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T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&gt;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sepChr m:val=""/>
                                  <m:endChr m:val="|"/>
                                  <m:grow m:val="on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bar>
                                        <m:barPr>
                                          <m:pos m:val="top"/>
                                          <m:ctrlP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T</m:t>
                                          </m:r>
                                        </m:e>
                                      </m:bar>
                                    </m:e>
                                    <m:sub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bar>
                                        <m:barPr>
                                          <m:pos m:val="top"/>
                                          <m:ctrlP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T</m:t>
                                          </m:r>
                                        </m:e>
                                      </m:bar>
                                    </m:e>
                                    <m:sub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</m:rad>
                            </m:den>
                          </m:f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f>
                            <m:fPr>
                              <m:type m:val="bar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196"/>
              <p:cNvSpPr txBox="1">
                <a:spLocks noGrp="1"/>
              </p:cNvSpPr>
              <p:nvPr/>
            </p:nvSpPr>
            <p:spPr>
              <a:xfrm>
                <a:off x="5815965" y="3469005"/>
                <a:ext cx="5842635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Φ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10</m:t>
                              </m:r>
                            </m:e>
                          </m:rad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Φ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0.548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0.5824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1" name="c2-card-5"/>
          <p:cNvGrpSpPr/>
          <p:nvPr/>
        </p:nvGrpSpPr>
        <p:grpSpPr>
          <a:xfrm>
            <a:off x="5815965" y="4065270"/>
            <a:ext cx="5842635" cy="1545908"/>
            <a:chOff x="5815965" y="4065270"/>
            <a:chExt cx="5842635" cy="1545908"/>
          </a:xfrm>
        </p:grpSpPr>
        <p:sp>
          <p:nvSpPr>
            <p:cNvPr id="36" name="Rectangle 36"/>
            <p:cNvSpPr/>
            <p:nvPr/>
          </p:nvSpPr>
          <p:spPr>
            <a:xfrm>
              <a:off x="5815965" y="4065270"/>
              <a:ext cx="5842635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25490" y="419862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57900" y="426910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39256" y="43048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关于末位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50661" y="4642961"/>
              <a:ext cx="515416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课件答案 0.5824 是把 0.548 取成 0.55、查 Φ(0.55) = 0.7088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得到的。按 0.5477 精确计算为 0.5839，两者都可以接受，考试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按查表的写法即可。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2" name="Rectangle 42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511" y="6004084"/>
              <a:ext cx="58728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P{|Z| &gt; c} = 2 − 2Φ(c)，不是 1 − 2Φ(c)。两条尾巴各占 1 − Φ(c)。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000244" cy="909257"/>
            <a:chOff x="520446" y="342900"/>
            <a:chExt cx="40002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正态总体的样本均值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0002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例9：样本容量至少取多大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760595" cy="1466850"/>
            <a:chOff x="533400" y="1524000"/>
            <a:chExt cx="4760595" cy="14668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2005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6630" y="1750695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11137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设总体 X ~ N(30, 16)，从中抽取容量为 n 的样本。要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使样本均值与 30 的偏差小于 1 的概率不小于 0.95，n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至少应取多大？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166110"/>
            <a:ext cx="4760595" cy="2534602"/>
            <a:chOff x="533400" y="3166110"/>
            <a:chExt cx="4760595" cy="2534602"/>
          </a:xfrm>
        </p:grpSpPr>
        <p:sp>
          <p:nvSpPr>
            <p:cNvPr id="13" name="Rectangle 13"/>
            <p:cNvSpPr/>
            <p:nvPr/>
          </p:nvSpPr>
          <p:spPr>
            <a:xfrm>
              <a:off x="533400" y="3166110"/>
              <a:ext cx="4760595" cy="2534602"/>
            </a:xfrm>
            <a:prstGeom prst="roundRect">
              <a:avLst>
                <a:gd name="adj" fmla="val 526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35851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244" y="339280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一般公式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714750"/>
              <a:ext cx="41027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要使样本均值与 μ 的偏差小于 δ 的概率不小于 1 − α，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需要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217"/>
                <p:cNvSpPr txBox="1">
                  <a:spLocks noGrp="1"/>
                </p:cNvSpPr>
                <p:nvPr/>
              </p:nvSpPr>
              <p:spPr>
                <a:xfrm>
                  <a:off x="725805" y="4251960"/>
                  <a:ext cx="4375785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u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α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/</m:t>
                                        </m:r>
                                        <m: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num>
                                  <m:den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δ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8" name="TextBox 18"/>
            <p:cNvSpPr txBox="1"/>
            <p:nvPr/>
          </p:nvSpPr>
          <p:spPr>
            <a:xfrm>
              <a:off x="718947" y="4850130"/>
              <a:ext cx="36741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本题 σ = 4、δ = 1、u₀.₀₂₅ = 1.96，得 7.84² =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61.4656。</a:t>
              </a:r>
            </a:p>
          </p:txBody>
        </p:sp>
      </p:grpSp>
      <p:grpSp>
        <p:nvGrpSpPr>
          <p:cNvPr id="25" name="c2-card-1"/>
          <p:cNvGrpSpPr/>
          <p:nvPr/>
        </p:nvGrpSpPr>
        <p:grpSpPr>
          <a:xfrm>
            <a:off x="5598795" y="1524000"/>
            <a:ext cx="6059805" cy="1209675"/>
            <a:chOff x="5598795" y="1524000"/>
            <a:chExt cx="6059805" cy="1209675"/>
          </a:xfrm>
        </p:grpSpPr>
        <p:sp>
          <p:nvSpPr>
            <p:cNvPr id="20" name="Rectangle 20"/>
            <p:cNvSpPr/>
            <p:nvPr/>
          </p:nvSpPr>
          <p:spPr>
            <a:xfrm>
              <a:off x="5598795" y="1524000"/>
              <a:ext cx="605980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608320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829300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20740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22442" y="2072640"/>
              <a:ext cx="520007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样本均值的标准差是 4/√n。把概率写成 2Φ(·) − 1，再与 Φ(1.96)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0.975 比较，得到关于 √n 的不等式。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formula218"/>
              <p:cNvSpPr txBox="1">
                <a:spLocks noGrp="1"/>
              </p:cNvSpPr>
              <p:nvPr/>
            </p:nvSpPr>
            <p:spPr>
              <a:xfrm>
                <a:off x="5598795" y="2908935"/>
                <a:ext cx="6059805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ba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30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219"/>
              <p:cNvSpPr txBox="1">
                <a:spLocks noGrp="1"/>
              </p:cNvSpPr>
              <p:nvPr/>
            </p:nvSpPr>
            <p:spPr>
              <a:xfrm>
                <a:off x="5598795" y="3546158"/>
                <a:ext cx="6059805" cy="385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bar>
                                <m:barPr>
                                  <m:pos m:val="top"/>
                                  <m:ctrl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barP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bar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30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bar>
                                    <m:barPr>
                                      <m:pos m:val="top"/>
                                      <m:ctrlP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bar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30</m:t>
                                  </m:r>
                                </m:num>
                                <m:den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d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f>
                            <m:fPr>
                              <m:type m:val="bar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Φ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0.25</m:t>
                          </m:r>
                          <m:rad>
                            <m:radPr>
                              <m:degHide m:val="on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rad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formula220"/>
              <p:cNvSpPr txBox="1">
                <a:spLocks noGrp="1"/>
              </p:cNvSpPr>
              <p:nvPr/>
            </p:nvSpPr>
            <p:spPr>
              <a:xfrm>
                <a:off x="5598795" y="4107180"/>
                <a:ext cx="605980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Φ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0.25</m:t>
                          </m:r>
                          <m:rad>
                            <m:radPr>
                              <m:degHide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rad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0.95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⟹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Φ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0.25</m:t>
                          </m:r>
                          <m:rad>
                            <m:radPr>
                              <m:degHide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rad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0.975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=Φ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1.96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formula221"/>
              <p:cNvSpPr txBox="1">
                <a:spLocks noGrp="1"/>
              </p:cNvSpPr>
              <p:nvPr/>
            </p:nvSpPr>
            <p:spPr>
              <a:xfrm>
                <a:off x="5598795" y="4648200"/>
                <a:ext cx="6059805" cy="3886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0.25</m:t>
                      </m:r>
                      <m:rad>
                        <m:radPr>
                          <m:degHide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ra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1.96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⟹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61.4656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min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62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5" name="c2-callout-6"/>
          <p:cNvGrpSpPr/>
          <p:nvPr/>
        </p:nvGrpSpPr>
        <p:grpSpPr>
          <a:xfrm>
            <a:off x="5598795" y="5212080"/>
            <a:ext cx="6059805" cy="488632"/>
            <a:chOff x="5598795" y="5212080"/>
            <a:chExt cx="6059805" cy="488632"/>
          </a:xfrm>
        </p:grpSpPr>
        <p:sp>
          <p:nvSpPr>
            <p:cNvPr id="30" name="Rectangle 30"/>
            <p:cNvSpPr/>
            <p:nvPr/>
          </p:nvSpPr>
          <p:spPr>
            <a:xfrm>
              <a:off x="5598795" y="5212080"/>
              <a:ext cx="6059805" cy="488632"/>
            </a:xfrm>
            <a:prstGeom prst="roundRect">
              <a:avLst>
                <a:gd name="adj" fmla="val 2339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5803583" y="5355908"/>
              <a:ext cx="200026" cy="200026"/>
              <a:chOff x="5803583" y="5355908"/>
              <a:chExt cx="200026" cy="20002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5803583" y="53559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870258" y="543369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106287" y="5361623"/>
              <a:ext cx="5429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验算：n = 62 时概率 0.9510，n = 61 时 0.9491，确实要取到 62。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6" name="Rectangle 3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892" y="6023610"/>
              <a:ext cx="59383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 必须是整数，61.4656 要向上取整成 62；向下取成 61 就达不到 0.95。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216511" cy="909257"/>
            <a:chOff x="520446" y="342900"/>
            <a:chExt cx="42165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正态总体的样本均值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2165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标准正态分布的上 α 分位点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2023110"/>
            <a:chOff x="533400" y="1524000"/>
            <a:chExt cx="5626418" cy="20231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023110"/>
            </a:xfrm>
            <a:prstGeom prst="roundRect">
              <a:avLst>
                <a:gd name="adj" fmla="val 65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5641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269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~ N(0, 1)，给定 α（0 &lt; α &lt; 1），若点 uα 满足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32"/>
                <p:cNvSpPr txBox="1">
                  <a:spLocks noGrp="1"/>
                </p:cNvSpPr>
                <p:nvPr/>
              </p:nvSpPr>
              <p:spPr>
                <a:xfrm>
                  <a:off x="758190" y="2332672"/>
                  <a:ext cx="5214938" cy="4533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≥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2π</m:t>
                                </m:r>
                              </m:e>
                            </m:rad>
                          </m:den>
                        </m:f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sub>
                            </m:sSub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1332" y="2892742"/>
              <a:ext cx="49600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则称 uα 为标准正态分布的上 α 分位点。它右边的尾巴面积恰好是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formula233"/>
              <p:cNvSpPr txBox="1">
                <a:spLocks noGrp="1"/>
              </p:cNvSpPr>
              <p:nvPr/>
            </p:nvSpPr>
            <p:spPr>
              <a:xfrm>
                <a:off x="533400" y="3716655"/>
                <a:ext cx="5626418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Φ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22" name="c1-callout-3"/>
          <p:cNvGrpSpPr/>
          <p:nvPr/>
        </p:nvGrpSpPr>
        <p:grpSpPr>
          <a:xfrm>
            <a:off x="533400" y="4230052"/>
            <a:ext cx="5626418" cy="1463040"/>
            <a:chOff x="533400" y="4230052"/>
            <a:chExt cx="5626418" cy="1463040"/>
          </a:xfrm>
        </p:grpSpPr>
        <p:sp>
          <p:nvSpPr>
            <p:cNvPr id="16" name="Rectangle 16"/>
            <p:cNvSpPr/>
            <p:nvPr/>
          </p:nvSpPr>
          <p:spPr>
            <a:xfrm>
              <a:off x="533400" y="4230052"/>
              <a:ext cx="5626418" cy="1463040"/>
            </a:xfrm>
            <a:prstGeom prst="roundRect">
              <a:avLst>
                <a:gd name="adj" fmla="val 781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4861560"/>
              <a:ext cx="200026" cy="200025"/>
              <a:chOff x="738188" y="4861560"/>
              <a:chExt cx="200026" cy="20002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48615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77926" y="49060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12642" y="50171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892" y="4742498"/>
              <a:ext cx="460000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双侧用法：|X| 超过上 α/2 分位点的概率是 α。α = 0.05 时两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侧各 0.025，界点就是 u₀.₀₂₅ = 1.96。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6464618" y="1524000"/>
            <a:ext cx="5193982" cy="1200150"/>
            <a:chOff x="6464618" y="1524000"/>
            <a:chExt cx="5193982" cy="1200150"/>
          </a:xfrm>
        </p:grpSpPr>
        <p:sp>
          <p:nvSpPr>
            <p:cNvPr id="23" name="Rectangle 23"/>
            <p:cNvSpPr/>
            <p:nvPr/>
          </p:nvSpPr>
          <p:spPr>
            <a:xfrm>
              <a:off x="6464618" y="1524000"/>
              <a:ext cx="5193982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48754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α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6552" y="164544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48838" y="164544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0.05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71124" y="1645444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0.025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80483" y="164544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0.01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02769" y="1645444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0.005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05218" y="20454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uα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49845" y="20454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1.282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205788" y="1933575"/>
              <a:ext cx="846772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5668" y="20454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1.645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071610" y="1933575"/>
              <a:ext cx="846772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81490" y="20454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1.960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47313" y="20454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2.326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13135" y="20454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2.576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64618" y="23193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64618" y="23241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70502" y="2445544"/>
              <a:ext cx="4550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Φ(uα)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91308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57131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81490" y="24455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0.975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188776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13135" y="24455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0.995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1524000"/>
              <a:ext cx="5193982" cy="1200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325678" y="1524000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191500" y="1524000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057322" y="1524000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922192" y="1524000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788015" y="1524000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2-card-2"/>
          <p:cNvGrpSpPr/>
          <p:nvPr/>
        </p:nvGrpSpPr>
        <p:grpSpPr>
          <a:xfrm>
            <a:off x="6464618" y="2893695"/>
            <a:ext cx="5193982" cy="1443038"/>
            <a:chOff x="6464618" y="2893695"/>
            <a:chExt cx="5193982" cy="1443038"/>
          </a:xfrm>
        </p:grpSpPr>
        <p:sp>
          <p:nvSpPr>
            <p:cNvPr id="53" name="Rectangle 53"/>
            <p:cNvSpPr/>
            <p:nvPr/>
          </p:nvSpPr>
          <p:spPr>
            <a:xfrm>
              <a:off x="6464618" y="2893695"/>
              <a:ext cx="5193982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74142" y="3027045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689408" y="308038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78028" y="311324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怎么查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82549" y="3425190"/>
              <a:ext cx="450570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正态分布表给的是 Φ(x)。求 uα 就是反查：在表里找函数值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 α，读出对应的 x。例如 1 − 0.025 = 0.975，对应 x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1.96。</a:t>
              </a:r>
            </a:p>
          </p:txBody>
        </p:sp>
      </p:grpSp>
      <p:grpSp>
        <p:nvGrpSpPr>
          <p:cNvPr id="64" name="c2-card-3"/>
          <p:cNvGrpSpPr/>
          <p:nvPr/>
        </p:nvGrpSpPr>
        <p:grpSpPr>
          <a:xfrm>
            <a:off x="6464618" y="4507230"/>
            <a:ext cx="5193982" cy="1185862"/>
            <a:chOff x="6464618" y="4507230"/>
            <a:chExt cx="5193982" cy="1185862"/>
          </a:xfrm>
        </p:grpSpPr>
        <p:sp>
          <p:nvSpPr>
            <p:cNvPr id="59" name="Rectangle 59"/>
            <p:cNvSpPr/>
            <p:nvPr/>
          </p:nvSpPr>
          <p:spPr>
            <a:xfrm>
              <a:off x="6464618" y="4507230"/>
              <a:ext cx="5193982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74142" y="464058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689408" y="469392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782079" y="472678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别混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82549" y="5037773"/>
              <a:ext cx="44371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uα 是“右尾面积为 α”的点，所以 α 越小 uα 越大。u₀.₀₅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1.645 是单侧界点，1.96 是 α = 0.05 时的双侧界点。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5" name="Rectangle 65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892" y="6028373"/>
              <a:ext cx="7519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课件常用的两个数：u₀.₀₂₅ = 1.96，u₀.₀₅ = 1.645。后面区间估计和假设检验会反复用到。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246114" cy="3351847"/>
            <a:chOff x="667512" y="1835468"/>
            <a:chExt cx="624611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三大抽样分布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三个分布都由标准正态变量搭出来，正态样本的统计量服从它们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 分布与两个定理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分布与 t 统计量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081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分布与方差比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八个抽样分布结论汇总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29405" cy="909257"/>
            <a:chOff x="520446" y="342900"/>
            <a:chExt cx="63294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三大抽样分布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294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 分布：n 个独立标准正态变量的平方和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951220" cy="1880235"/>
            <a:chOff x="533400" y="1524000"/>
            <a:chExt cx="5951220" cy="18802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880235"/>
            </a:xfrm>
            <a:prstGeom prst="roundRect">
              <a:avLst>
                <a:gd name="adj" fmla="val 70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1353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52318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X₁, X₂, …, Xₙ 是来自总体 N(0, 1) 的样本，称统计量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37"/>
                <p:cNvSpPr txBox="1">
                  <a:spLocks noGrp="1"/>
                </p:cNvSpPr>
                <p:nvPr/>
              </p:nvSpPr>
              <p:spPr>
                <a:xfrm>
                  <a:off x="781050" y="2421255"/>
                  <a:ext cx="549402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+⋯+</m:t>
                        </m:r>
                        <m:sSub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3430" y="2960370"/>
              <a:ext cx="42860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服从自由度为 n 的 χ² 分布，记作 χ² ~ χ²(n)。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594735"/>
            <a:ext cx="5951220" cy="2346960"/>
            <a:chOff x="533400" y="3594735"/>
            <a:chExt cx="5951220" cy="2346960"/>
          </a:xfrm>
        </p:grpSpPr>
        <p:sp>
          <p:nvSpPr>
            <p:cNvPr id="15" name="Rectangle 15"/>
            <p:cNvSpPr/>
            <p:nvPr/>
          </p:nvSpPr>
          <p:spPr>
            <a:xfrm>
              <a:off x="533400" y="3594735"/>
              <a:ext cx="5951220" cy="2346960"/>
            </a:xfrm>
            <a:prstGeom prst="roundRect">
              <a:avLst>
                <a:gd name="adj" fmla="val 56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728085"/>
              <a:ext cx="47625" cy="20802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380428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3359" y="38400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概率密度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238"/>
                <p:cNvSpPr txBox="1">
                  <a:spLocks noGrp="1"/>
                </p:cNvSpPr>
                <p:nvPr/>
              </p:nvSpPr>
              <p:spPr>
                <a:xfrm>
                  <a:off x="781050" y="4156710"/>
                  <a:ext cx="5494020" cy="7972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/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Γ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/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den>
                                </m:f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f>
                                      <m:fPr>
                                        <m:type m:val="bar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num>
                                      <m:den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num>
                                      <m:den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&gt;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239"/>
                <p:cNvSpPr txBox="1">
                  <a:spLocks noGrp="1"/>
                </p:cNvSpPr>
                <p:nvPr/>
              </p:nvSpPr>
              <p:spPr>
                <a:xfrm>
                  <a:off x="781050" y="5049202"/>
                  <a:ext cx="5494020" cy="4800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Γ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sup>
                            </m:s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 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&gt;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7" name="c2-card-1"/>
          <p:cNvGrpSpPr/>
          <p:nvPr/>
        </p:nvGrpSpPr>
        <p:grpSpPr>
          <a:xfrm>
            <a:off x="6789420" y="1524000"/>
            <a:ext cx="4869180" cy="1602105"/>
            <a:chOff x="6789420" y="1524000"/>
            <a:chExt cx="4869180" cy="1602105"/>
          </a:xfrm>
        </p:grpSpPr>
        <p:sp>
          <p:nvSpPr>
            <p:cNvPr id="22" name="Rectangle 22"/>
            <p:cNvSpPr/>
            <p:nvPr/>
          </p:nvSpPr>
          <p:spPr>
            <a:xfrm>
              <a:off x="6789420" y="1524000"/>
              <a:ext cx="486918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79894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03707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1052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自由度是什么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29450" y="2110740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自由度 n 就是和式中独立平方项的个数。n 个平方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项里若有一个线性约束（比如减去样本均值），自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由度就少 1。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789420" y="3316605"/>
            <a:ext cx="4869180" cy="1651635"/>
            <a:chOff x="6789420" y="3316605"/>
            <a:chExt cx="4869180" cy="1651635"/>
          </a:xfrm>
        </p:grpSpPr>
        <p:sp>
          <p:nvSpPr>
            <p:cNvPr id="28" name="Rectangle 28"/>
            <p:cNvSpPr/>
            <p:nvPr/>
          </p:nvSpPr>
          <p:spPr>
            <a:xfrm>
              <a:off x="6789420" y="3316605"/>
              <a:ext cx="4869180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798945" y="3449955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037070" y="352615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19379" y="356187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两个条件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042785" y="396621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00900" y="3903345"/>
              <a:ext cx="3939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每一项都是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标准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正态：不标准的要先减期望、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除标准差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042785" y="458724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00900" y="4524375"/>
              <a:ext cx="41951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各项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相互独立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：不独立的平方和一般不服从 χ²</a:t>
              </a:r>
            </a:p>
          </p:txBody>
        </p:sp>
      </p:grpSp>
      <p:grpSp>
        <p:nvGrpSpPr>
          <p:cNvPr id="42" name="c2-callout-3"/>
          <p:cNvGrpSpPr/>
          <p:nvPr/>
        </p:nvGrpSpPr>
        <p:grpSpPr>
          <a:xfrm>
            <a:off x="6789420" y="5158740"/>
            <a:ext cx="4869180" cy="782955"/>
            <a:chOff x="6789420" y="5158740"/>
            <a:chExt cx="4869180" cy="782955"/>
          </a:xfrm>
        </p:grpSpPr>
        <p:sp>
          <p:nvSpPr>
            <p:cNvPr id="37" name="Rectangle 37"/>
            <p:cNvSpPr/>
            <p:nvPr/>
          </p:nvSpPr>
          <p:spPr>
            <a:xfrm>
              <a:off x="6789420" y="5158740"/>
              <a:ext cx="4869180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994208" y="5450207"/>
              <a:ext cx="200023" cy="200023"/>
              <a:chOff x="6994208" y="5450207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994208" y="54502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127558" y="55168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7296150" y="5307330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密度公式不必背，记住构造和性质；考试考的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是认出 χ² 结构和查表。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377853" cy="909257"/>
            <a:chOff x="520446" y="342900"/>
            <a:chExt cx="43778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三大抽样分布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3778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 分布的图像与上 α 分位点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hiA"/>
          <p:cNvGrpSpPr/>
          <p:nvPr/>
        </p:nvGrpSpPr>
        <p:grpSpPr>
          <a:xfrm>
            <a:off x="533400" y="1524000"/>
            <a:ext cx="5524500" cy="4762500"/>
            <a:chOff x="533400" y="1524000"/>
            <a:chExt cx="55245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524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1662589"/>
              <a:ext cx="29586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χ²(n) 的密度：n 越大越往右、越矮胖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566" y="1925002"/>
              <a:ext cx="3996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只在 x &gt; 0 上取值；期望是 n，峰值出现在 x = n − 2（n ≥ 2）。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200150" y="4743450"/>
              <a:ext cx="4238625" cy="9525"/>
            </a:xfrm>
            <a:custGeom>
              <a:avLst/>
              <a:gdLst/>
              <a:ahLst/>
              <a:cxnLst/>
              <a:rect l="l" t="t" r="r" b="b"/>
              <a:pathLst>
                <a:path w="4238625" h="9525">
                  <a:moveTo>
                    <a:pt x="0" y="0"/>
                  </a:moveTo>
                  <a:lnTo>
                    <a:pt x="423862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5438775" y="471344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1200150" y="2333625"/>
              <a:ext cx="9525" cy="2409825"/>
            </a:xfrm>
            <a:custGeom>
              <a:avLst/>
              <a:gdLst/>
              <a:ahLst/>
              <a:cxnLst/>
              <a:rect l="l" t="t" r="r" b="b"/>
              <a:pathLst>
                <a:path w="9525" h="2409825">
                  <a:moveTo>
                    <a:pt x="0" y="24098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1170146" y="2266950"/>
              <a:ext cx="60008" cy="66675"/>
            </a:xfrm>
            <a:custGeom>
              <a:avLst/>
              <a:gdLst/>
              <a:ahLst/>
              <a:cxnLst/>
              <a:rect l="l" t="t" r="r" b="b"/>
              <a:pathLst>
                <a:path w="60008" h="66675">
                  <a:moveTo>
                    <a:pt x="30004" y="0"/>
                  </a:moveTo>
                  <a:lnTo>
                    <a:pt x="60008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547741" y="46777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71016" y="217265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8149" y="480012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343025" y="2566035"/>
              <a:ext cx="4048125" cy="2177415"/>
            </a:xfrm>
            <a:custGeom>
              <a:avLst/>
              <a:gdLst/>
              <a:ahLst/>
              <a:cxnLst/>
              <a:rect l="l" t="t" r="r" b="b"/>
              <a:pathLst>
                <a:path w="4048125" h="2177415">
                  <a:moveTo>
                    <a:pt x="0" y="0"/>
                  </a:moveTo>
                  <a:lnTo>
                    <a:pt x="14288" y="180975"/>
                  </a:lnTo>
                  <a:lnTo>
                    <a:pt x="28575" y="339090"/>
                  </a:lnTo>
                  <a:lnTo>
                    <a:pt x="41910" y="479108"/>
                  </a:lnTo>
                  <a:lnTo>
                    <a:pt x="56198" y="603885"/>
                  </a:lnTo>
                  <a:lnTo>
                    <a:pt x="69533" y="715328"/>
                  </a:lnTo>
                  <a:lnTo>
                    <a:pt x="83820" y="817245"/>
                  </a:lnTo>
                  <a:lnTo>
                    <a:pt x="98108" y="908685"/>
                  </a:lnTo>
                  <a:lnTo>
                    <a:pt x="111442" y="992505"/>
                  </a:lnTo>
                  <a:lnTo>
                    <a:pt x="125730" y="1068705"/>
                  </a:lnTo>
                  <a:lnTo>
                    <a:pt x="140017" y="1138238"/>
                  </a:lnTo>
                  <a:lnTo>
                    <a:pt x="153352" y="1203008"/>
                  </a:lnTo>
                  <a:lnTo>
                    <a:pt x="167640" y="1263015"/>
                  </a:lnTo>
                  <a:lnTo>
                    <a:pt x="181927" y="1317308"/>
                  </a:lnTo>
                  <a:lnTo>
                    <a:pt x="195262" y="1368743"/>
                  </a:lnTo>
                  <a:lnTo>
                    <a:pt x="209550" y="1415415"/>
                  </a:lnTo>
                  <a:lnTo>
                    <a:pt x="223838" y="1459230"/>
                  </a:lnTo>
                  <a:lnTo>
                    <a:pt x="237173" y="1500188"/>
                  </a:lnTo>
                  <a:lnTo>
                    <a:pt x="251460" y="1538288"/>
                  </a:lnTo>
                  <a:lnTo>
                    <a:pt x="265748" y="1574482"/>
                  </a:lnTo>
                  <a:lnTo>
                    <a:pt x="279083" y="1607820"/>
                  </a:lnTo>
                  <a:lnTo>
                    <a:pt x="293370" y="1638300"/>
                  </a:lnTo>
                  <a:lnTo>
                    <a:pt x="307658" y="1667828"/>
                  </a:lnTo>
                  <a:lnTo>
                    <a:pt x="320992" y="1695450"/>
                  </a:lnTo>
                  <a:lnTo>
                    <a:pt x="335280" y="1721168"/>
                  </a:lnTo>
                  <a:lnTo>
                    <a:pt x="349567" y="1744980"/>
                  </a:lnTo>
                  <a:lnTo>
                    <a:pt x="362902" y="1767840"/>
                  </a:lnTo>
                  <a:lnTo>
                    <a:pt x="377190" y="1788795"/>
                  </a:lnTo>
                  <a:lnTo>
                    <a:pt x="391477" y="1809750"/>
                  </a:lnTo>
                  <a:lnTo>
                    <a:pt x="404812" y="1827848"/>
                  </a:lnTo>
                  <a:lnTo>
                    <a:pt x="419100" y="1845945"/>
                  </a:lnTo>
                  <a:lnTo>
                    <a:pt x="432435" y="1863090"/>
                  </a:lnTo>
                  <a:lnTo>
                    <a:pt x="446723" y="1879282"/>
                  </a:lnTo>
                  <a:lnTo>
                    <a:pt x="461010" y="1893570"/>
                  </a:lnTo>
                  <a:lnTo>
                    <a:pt x="474345" y="1907858"/>
                  </a:lnTo>
                  <a:lnTo>
                    <a:pt x="488633" y="1921193"/>
                  </a:lnTo>
                  <a:lnTo>
                    <a:pt x="502920" y="1934528"/>
                  </a:lnTo>
                  <a:lnTo>
                    <a:pt x="516255" y="1945958"/>
                  </a:lnTo>
                  <a:lnTo>
                    <a:pt x="530542" y="1957388"/>
                  </a:lnTo>
                  <a:lnTo>
                    <a:pt x="544830" y="1968818"/>
                  </a:lnTo>
                  <a:lnTo>
                    <a:pt x="558165" y="1978343"/>
                  </a:lnTo>
                  <a:lnTo>
                    <a:pt x="572452" y="1987868"/>
                  </a:lnTo>
                  <a:lnTo>
                    <a:pt x="586740" y="1997393"/>
                  </a:lnTo>
                  <a:lnTo>
                    <a:pt x="600075" y="2005965"/>
                  </a:lnTo>
                  <a:lnTo>
                    <a:pt x="614362" y="2014538"/>
                  </a:lnTo>
                  <a:lnTo>
                    <a:pt x="628650" y="2022158"/>
                  </a:lnTo>
                  <a:lnTo>
                    <a:pt x="641985" y="2029778"/>
                  </a:lnTo>
                  <a:lnTo>
                    <a:pt x="656272" y="2036445"/>
                  </a:lnTo>
                  <a:lnTo>
                    <a:pt x="670560" y="2043112"/>
                  </a:lnTo>
                  <a:lnTo>
                    <a:pt x="683895" y="2049780"/>
                  </a:lnTo>
                  <a:lnTo>
                    <a:pt x="698183" y="2055495"/>
                  </a:lnTo>
                  <a:lnTo>
                    <a:pt x="712470" y="2061210"/>
                  </a:lnTo>
                  <a:lnTo>
                    <a:pt x="725805" y="2066925"/>
                  </a:lnTo>
                  <a:lnTo>
                    <a:pt x="740092" y="2071688"/>
                  </a:lnTo>
                  <a:lnTo>
                    <a:pt x="754380" y="2077403"/>
                  </a:lnTo>
                  <a:lnTo>
                    <a:pt x="767715" y="2081212"/>
                  </a:lnTo>
                  <a:lnTo>
                    <a:pt x="782002" y="2085975"/>
                  </a:lnTo>
                  <a:lnTo>
                    <a:pt x="796290" y="2090738"/>
                  </a:lnTo>
                  <a:lnTo>
                    <a:pt x="809625" y="2094548"/>
                  </a:lnTo>
                  <a:lnTo>
                    <a:pt x="823912" y="2098358"/>
                  </a:lnTo>
                  <a:lnTo>
                    <a:pt x="837248" y="2102168"/>
                  </a:lnTo>
                  <a:lnTo>
                    <a:pt x="851535" y="2105025"/>
                  </a:lnTo>
                  <a:lnTo>
                    <a:pt x="865822" y="2108835"/>
                  </a:lnTo>
                  <a:lnTo>
                    <a:pt x="879158" y="2111693"/>
                  </a:lnTo>
                  <a:lnTo>
                    <a:pt x="893445" y="2114550"/>
                  </a:lnTo>
                  <a:lnTo>
                    <a:pt x="907733" y="2117408"/>
                  </a:lnTo>
                  <a:lnTo>
                    <a:pt x="921067" y="2120265"/>
                  </a:lnTo>
                  <a:lnTo>
                    <a:pt x="935355" y="2123123"/>
                  </a:lnTo>
                  <a:lnTo>
                    <a:pt x="949642" y="2125028"/>
                  </a:lnTo>
                  <a:lnTo>
                    <a:pt x="962978" y="2127885"/>
                  </a:lnTo>
                  <a:lnTo>
                    <a:pt x="977265" y="2129790"/>
                  </a:lnTo>
                  <a:lnTo>
                    <a:pt x="991552" y="2131695"/>
                  </a:lnTo>
                  <a:lnTo>
                    <a:pt x="1004888" y="2134552"/>
                  </a:lnTo>
                  <a:lnTo>
                    <a:pt x="1019175" y="2136458"/>
                  </a:lnTo>
                  <a:lnTo>
                    <a:pt x="1033462" y="2138362"/>
                  </a:lnTo>
                  <a:lnTo>
                    <a:pt x="1046798" y="2139315"/>
                  </a:lnTo>
                  <a:lnTo>
                    <a:pt x="1061085" y="2141220"/>
                  </a:lnTo>
                  <a:lnTo>
                    <a:pt x="1075372" y="2143125"/>
                  </a:lnTo>
                  <a:lnTo>
                    <a:pt x="1088708" y="2145030"/>
                  </a:lnTo>
                  <a:lnTo>
                    <a:pt x="1102995" y="2145982"/>
                  </a:lnTo>
                  <a:lnTo>
                    <a:pt x="1117282" y="2147888"/>
                  </a:lnTo>
                  <a:lnTo>
                    <a:pt x="1130618" y="2148840"/>
                  </a:lnTo>
                  <a:lnTo>
                    <a:pt x="1144905" y="2149793"/>
                  </a:lnTo>
                  <a:lnTo>
                    <a:pt x="1159192" y="2151698"/>
                  </a:lnTo>
                  <a:lnTo>
                    <a:pt x="1172528" y="2152650"/>
                  </a:lnTo>
                  <a:lnTo>
                    <a:pt x="1186815" y="2153602"/>
                  </a:lnTo>
                  <a:lnTo>
                    <a:pt x="1200150" y="2154555"/>
                  </a:lnTo>
                  <a:lnTo>
                    <a:pt x="1214438" y="2155508"/>
                  </a:lnTo>
                  <a:lnTo>
                    <a:pt x="1228725" y="2156460"/>
                  </a:lnTo>
                  <a:lnTo>
                    <a:pt x="1242060" y="2157412"/>
                  </a:lnTo>
                  <a:lnTo>
                    <a:pt x="1256347" y="2158365"/>
                  </a:lnTo>
                  <a:lnTo>
                    <a:pt x="1270635" y="2159318"/>
                  </a:lnTo>
                  <a:lnTo>
                    <a:pt x="1283970" y="2160270"/>
                  </a:lnTo>
                  <a:lnTo>
                    <a:pt x="1298258" y="2160270"/>
                  </a:lnTo>
                  <a:lnTo>
                    <a:pt x="1312545" y="2161223"/>
                  </a:lnTo>
                  <a:lnTo>
                    <a:pt x="1325880" y="2162175"/>
                  </a:lnTo>
                  <a:lnTo>
                    <a:pt x="1340168" y="2163128"/>
                  </a:lnTo>
                  <a:lnTo>
                    <a:pt x="1354455" y="2163128"/>
                  </a:lnTo>
                  <a:lnTo>
                    <a:pt x="1367790" y="2164080"/>
                  </a:lnTo>
                  <a:lnTo>
                    <a:pt x="1382078" y="2165032"/>
                  </a:lnTo>
                  <a:lnTo>
                    <a:pt x="1396365" y="2165032"/>
                  </a:lnTo>
                  <a:lnTo>
                    <a:pt x="1409700" y="2165985"/>
                  </a:lnTo>
                  <a:lnTo>
                    <a:pt x="1423988" y="2165985"/>
                  </a:lnTo>
                  <a:lnTo>
                    <a:pt x="1438275" y="2166938"/>
                  </a:lnTo>
                  <a:lnTo>
                    <a:pt x="1451610" y="2166938"/>
                  </a:lnTo>
                  <a:lnTo>
                    <a:pt x="1465897" y="2167890"/>
                  </a:lnTo>
                  <a:lnTo>
                    <a:pt x="1480185" y="2167890"/>
                  </a:lnTo>
                  <a:lnTo>
                    <a:pt x="1493520" y="2168843"/>
                  </a:lnTo>
                  <a:lnTo>
                    <a:pt x="1507808" y="2168843"/>
                  </a:lnTo>
                  <a:lnTo>
                    <a:pt x="1522095" y="2168843"/>
                  </a:lnTo>
                  <a:lnTo>
                    <a:pt x="1535430" y="2169795"/>
                  </a:lnTo>
                  <a:lnTo>
                    <a:pt x="1549718" y="2169795"/>
                  </a:lnTo>
                  <a:lnTo>
                    <a:pt x="1564005" y="2169795"/>
                  </a:lnTo>
                  <a:lnTo>
                    <a:pt x="1577340" y="2170748"/>
                  </a:lnTo>
                  <a:lnTo>
                    <a:pt x="1591628" y="2170748"/>
                  </a:lnTo>
                  <a:lnTo>
                    <a:pt x="1604962" y="2170748"/>
                  </a:lnTo>
                  <a:lnTo>
                    <a:pt x="1619250" y="2171700"/>
                  </a:lnTo>
                  <a:lnTo>
                    <a:pt x="1633538" y="2171700"/>
                  </a:lnTo>
                  <a:lnTo>
                    <a:pt x="1646872" y="2171700"/>
                  </a:lnTo>
                  <a:lnTo>
                    <a:pt x="1661160" y="2171700"/>
                  </a:lnTo>
                  <a:lnTo>
                    <a:pt x="1675447" y="2172652"/>
                  </a:lnTo>
                  <a:lnTo>
                    <a:pt x="1688782" y="2172652"/>
                  </a:lnTo>
                  <a:lnTo>
                    <a:pt x="1703070" y="2172652"/>
                  </a:lnTo>
                  <a:lnTo>
                    <a:pt x="1717358" y="2172652"/>
                  </a:lnTo>
                  <a:lnTo>
                    <a:pt x="1730692" y="2173605"/>
                  </a:lnTo>
                  <a:lnTo>
                    <a:pt x="1744980" y="2173605"/>
                  </a:lnTo>
                  <a:lnTo>
                    <a:pt x="1759268" y="2173605"/>
                  </a:lnTo>
                  <a:lnTo>
                    <a:pt x="1772603" y="2173605"/>
                  </a:lnTo>
                  <a:lnTo>
                    <a:pt x="1786890" y="2173605"/>
                  </a:lnTo>
                  <a:lnTo>
                    <a:pt x="1801178" y="2173605"/>
                  </a:lnTo>
                  <a:lnTo>
                    <a:pt x="1814512" y="2174558"/>
                  </a:lnTo>
                  <a:lnTo>
                    <a:pt x="1828800" y="2174558"/>
                  </a:lnTo>
                  <a:lnTo>
                    <a:pt x="1843088" y="2174558"/>
                  </a:lnTo>
                  <a:lnTo>
                    <a:pt x="1856422" y="2174558"/>
                  </a:lnTo>
                  <a:lnTo>
                    <a:pt x="1870710" y="2174558"/>
                  </a:lnTo>
                  <a:lnTo>
                    <a:pt x="1884997" y="2174558"/>
                  </a:lnTo>
                  <a:lnTo>
                    <a:pt x="1898332" y="2174558"/>
                  </a:lnTo>
                  <a:lnTo>
                    <a:pt x="1912620" y="2174558"/>
                  </a:lnTo>
                  <a:lnTo>
                    <a:pt x="1926908" y="2175510"/>
                  </a:lnTo>
                  <a:lnTo>
                    <a:pt x="1940242" y="2175510"/>
                  </a:lnTo>
                  <a:lnTo>
                    <a:pt x="1954530" y="2175510"/>
                  </a:lnTo>
                  <a:lnTo>
                    <a:pt x="1967865" y="2175510"/>
                  </a:lnTo>
                  <a:lnTo>
                    <a:pt x="1982153" y="2175510"/>
                  </a:lnTo>
                  <a:lnTo>
                    <a:pt x="1996440" y="2175510"/>
                  </a:lnTo>
                  <a:lnTo>
                    <a:pt x="2009775" y="2175510"/>
                  </a:lnTo>
                  <a:lnTo>
                    <a:pt x="2024062" y="2175510"/>
                  </a:lnTo>
                  <a:lnTo>
                    <a:pt x="2038350" y="2175510"/>
                  </a:lnTo>
                  <a:lnTo>
                    <a:pt x="2051685" y="2175510"/>
                  </a:lnTo>
                  <a:lnTo>
                    <a:pt x="2065972" y="2175510"/>
                  </a:lnTo>
                  <a:lnTo>
                    <a:pt x="2080260" y="2175510"/>
                  </a:lnTo>
                  <a:lnTo>
                    <a:pt x="2093595" y="2176462"/>
                  </a:lnTo>
                  <a:lnTo>
                    <a:pt x="2107882" y="2176462"/>
                  </a:lnTo>
                  <a:lnTo>
                    <a:pt x="2122170" y="2176462"/>
                  </a:lnTo>
                  <a:lnTo>
                    <a:pt x="2135505" y="2176462"/>
                  </a:lnTo>
                  <a:lnTo>
                    <a:pt x="2149792" y="2176462"/>
                  </a:lnTo>
                  <a:lnTo>
                    <a:pt x="2164080" y="2176462"/>
                  </a:lnTo>
                  <a:lnTo>
                    <a:pt x="2177415" y="2176462"/>
                  </a:lnTo>
                  <a:lnTo>
                    <a:pt x="2191702" y="2176462"/>
                  </a:lnTo>
                  <a:lnTo>
                    <a:pt x="2205990" y="2176462"/>
                  </a:lnTo>
                  <a:lnTo>
                    <a:pt x="2219325" y="2176462"/>
                  </a:lnTo>
                  <a:lnTo>
                    <a:pt x="2233612" y="2176462"/>
                  </a:lnTo>
                  <a:lnTo>
                    <a:pt x="2247900" y="2176462"/>
                  </a:lnTo>
                  <a:lnTo>
                    <a:pt x="2261235" y="2176462"/>
                  </a:lnTo>
                  <a:lnTo>
                    <a:pt x="2275522" y="2176462"/>
                  </a:lnTo>
                  <a:lnTo>
                    <a:pt x="2289810" y="2176462"/>
                  </a:lnTo>
                  <a:lnTo>
                    <a:pt x="2303145" y="2176462"/>
                  </a:lnTo>
                  <a:lnTo>
                    <a:pt x="2317432" y="2176462"/>
                  </a:lnTo>
                  <a:lnTo>
                    <a:pt x="2331720" y="2176462"/>
                  </a:lnTo>
                  <a:lnTo>
                    <a:pt x="2345055" y="2176462"/>
                  </a:lnTo>
                  <a:lnTo>
                    <a:pt x="2359342" y="2176462"/>
                  </a:lnTo>
                  <a:lnTo>
                    <a:pt x="2372678" y="2176462"/>
                  </a:lnTo>
                  <a:lnTo>
                    <a:pt x="2386965" y="2176462"/>
                  </a:lnTo>
                  <a:lnTo>
                    <a:pt x="2401252" y="2176462"/>
                  </a:lnTo>
                  <a:lnTo>
                    <a:pt x="2414588" y="2176462"/>
                  </a:lnTo>
                  <a:lnTo>
                    <a:pt x="2428875" y="2176462"/>
                  </a:lnTo>
                  <a:lnTo>
                    <a:pt x="2443162" y="2177415"/>
                  </a:lnTo>
                  <a:lnTo>
                    <a:pt x="2456498" y="2177415"/>
                  </a:lnTo>
                  <a:lnTo>
                    <a:pt x="2470785" y="2177415"/>
                  </a:lnTo>
                  <a:lnTo>
                    <a:pt x="2485072" y="2177415"/>
                  </a:lnTo>
                  <a:lnTo>
                    <a:pt x="2498408" y="2177415"/>
                  </a:lnTo>
                  <a:lnTo>
                    <a:pt x="2512695" y="2177415"/>
                  </a:lnTo>
                  <a:lnTo>
                    <a:pt x="2526982" y="2177415"/>
                  </a:lnTo>
                  <a:lnTo>
                    <a:pt x="2540318" y="2177415"/>
                  </a:lnTo>
                  <a:lnTo>
                    <a:pt x="2554605" y="2177415"/>
                  </a:lnTo>
                  <a:lnTo>
                    <a:pt x="2568892" y="2177415"/>
                  </a:lnTo>
                  <a:lnTo>
                    <a:pt x="2582228" y="2177415"/>
                  </a:lnTo>
                  <a:lnTo>
                    <a:pt x="2596515" y="2177415"/>
                  </a:lnTo>
                  <a:lnTo>
                    <a:pt x="2610802" y="2177415"/>
                  </a:lnTo>
                  <a:lnTo>
                    <a:pt x="2624138" y="2177415"/>
                  </a:lnTo>
                  <a:lnTo>
                    <a:pt x="2638425" y="2177415"/>
                  </a:lnTo>
                  <a:lnTo>
                    <a:pt x="2652712" y="2177415"/>
                  </a:lnTo>
                  <a:lnTo>
                    <a:pt x="2666048" y="2177415"/>
                  </a:lnTo>
                  <a:lnTo>
                    <a:pt x="2680335" y="2177415"/>
                  </a:lnTo>
                  <a:lnTo>
                    <a:pt x="2694622" y="2177415"/>
                  </a:lnTo>
                  <a:lnTo>
                    <a:pt x="2707958" y="2177415"/>
                  </a:lnTo>
                  <a:lnTo>
                    <a:pt x="2722245" y="2177415"/>
                  </a:lnTo>
                  <a:lnTo>
                    <a:pt x="2735580" y="2177415"/>
                  </a:lnTo>
                  <a:lnTo>
                    <a:pt x="2749868" y="2177415"/>
                  </a:lnTo>
                  <a:lnTo>
                    <a:pt x="2764155" y="2177415"/>
                  </a:lnTo>
                  <a:lnTo>
                    <a:pt x="2777490" y="2177415"/>
                  </a:lnTo>
                  <a:lnTo>
                    <a:pt x="2791778" y="2177415"/>
                  </a:lnTo>
                  <a:lnTo>
                    <a:pt x="2806065" y="2177415"/>
                  </a:lnTo>
                  <a:lnTo>
                    <a:pt x="2819400" y="2177415"/>
                  </a:lnTo>
                  <a:lnTo>
                    <a:pt x="2833688" y="2177415"/>
                  </a:lnTo>
                  <a:lnTo>
                    <a:pt x="2847975" y="2177415"/>
                  </a:lnTo>
                  <a:lnTo>
                    <a:pt x="2861310" y="2177415"/>
                  </a:lnTo>
                  <a:lnTo>
                    <a:pt x="2875598" y="2177415"/>
                  </a:lnTo>
                  <a:lnTo>
                    <a:pt x="2889885" y="2177415"/>
                  </a:lnTo>
                  <a:lnTo>
                    <a:pt x="2903220" y="2177415"/>
                  </a:lnTo>
                  <a:lnTo>
                    <a:pt x="2917508" y="2177415"/>
                  </a:lnTo>
                  <a:lnTo>
                    <a:pt x="2931795" y="2177415"/>
                  </a:lnTo>
                  <a:lnTo>
                    <a:pt x="2945130" y="2177415"/>
                  </a:lnTo>
                  <a:lnTo>
                    <a:pt x="2959418" y="2177415"/>
                  </a:lnTo>
                  <a:lnTo>
                    <a:pt x="2973705" y="2177415"/>
                  </a:lnTo>
                  <a:lnTo>
                    <a:pt x="2987040" y="2177415"/>
                  </a:lnTo>
                  <a:lnTo>
                    <a:pt x="3001328" y="2177415"/>
                  </a:lnTo>
                  <a:lnTo>
                    <a:pt x="3015615" y="2177415"/>
                  </a:lnTo>
                  <a:lnTo>
                    <a:pt x="3028950" y="2177415"/>
                  </a:lnTo>
                  <a:lnTo>
                    <a:pt x="3043238" y="2177415"/>
                  </a:lnTo>
                  <a:lnTo>
                    <a:pt x="3057525" y="2177415"/>
                  </a:lnTo>
                  <a:lnTo>
                    <a:pt x="3070860" y="2177415"/>
                  </a:lnTo>
                  <a:lnTo>
                    <a:pt x="3085148" y="2177415"/>
                  </a:lnTo>
                  <a:lnTo>
                    <a:pt x="3098482" y="2177415"/>
                  </a:lnTo>
                  <a:lnTo>
                    <a:pt x="3112770" y="2177415"/>
                  </a:lnTo>
                  <a:lnTo>
                    <a:pt x="3127058" y="2177415"/>
                  </a:lnTo>
                  <a:lnTo>
                    <a:pt x="3140392" y="2177415"/>
                  </a:lnTo>
                  <a:lnTo>
                    <a:pt x="3154680" y="2177415"/>
                  </a:lnTo>
                  <a:lnTo>
                    <a:pt x="3168968" y="2177415"/>
                  </a:lnTo>
                  <a:lnTo>
                    <a:pt x="3182302" y="2177415"/>
                  </a:lnTo>
                  <a:lnTo>
                    <a:pt x="3196590" y="2177415"/>
                  </a:lnTo>
                  <a:lnTo>
                    <a:pt x="3210878" y="2177415"/>
                  </a:lnTo>
                  <a:lnTo>
                    <a:pt x="3224212" y="2177415"/>
                  </a:lnTo>
                  <a:lnTo>
                    <a:pt x="3238500" y="2177415"/>
                  </a:lnTo>
                  <a:lnTo>
                    <a:pt x="3252788" y="2177415"/>
                  </a:lnTo>
                  <a:lnTo>
                    <a:pt x="3266122" y="2177415"/>
                  </a:lnTo>
                  <a:lnTo>
                    <a:pt x="3280410" y="2177415"/>
                  </a:lnTo>
                  <a:lnTo>
                    <a:pt x="3294698" y="2177415"/>
                  </a:lnTo>
                  <a:lnTo>
                    <a:pt x="3308032" y="2177415"/>
                  </a:lnTo>
                  <a:lnTo>
                    <a:pt x="3322320" y="2177415"/>
                  </a:lnTo>
                  <a:lnTo>
                    <a:pt x="3336608" y="2177415"/>
                  </a:lnTo>
                  <a:lnTo>
                    <a:pt x="3349942" y="2177415"/>
                  </a:lnTo>
                  <a:lnTo>
                    <a:pt x="3364230" y="2177415"/>
                  </a:lnTo>
                  <a:lnTo>
                    <a:pt x="3378518" y="2177415"/>
                  </a:lnTo>
                  <a:lnTo>
                    <a:pt x="3391852" y="2177415"/>
                  </a:lnTo>
                  <a:lnTo>
                    <a:pt x="3406140" y="2177415"/>
                  </a:lnTo>
                  <a:lnTo>
                    <a:pt x="3420428" y="2177415"/>
                  </a:lnTo>
                  <a:lnTo>
                    <a:pt x="3433762" y="2177415"/>
                  </a:lnTo>
                  <a:lnTo>
                    <a:pt x="3448050" y="2177415"/>
                  </a:lnTo>
                  <a:lnTo>
                    <a:pt x="3462338" y="2177415"/>
                  </a:lnTo>
                  <a:lnTo>
                    <a:pt x="3475672" y="2177415"/>
                  </a:lnTo>
                  <a:lnTo>
                    <a:pt x="3489960" y="2177415"/>
                  </a:lnTo>
                  <a:lnTo>
                    <a:pt x="3503295" y="2177415"/>
                  </a:lnTo>
                  <a:lnTo>
                    <a:pt x="3517582" y="2177415"/>
                  </a:lnTo>
                  <a:lnTo>
                    <a:pt x="3531870" y="2177415"/>
                  </a:lnTo>
                  <a:lnTo>
                    <a:pt x="3545205" y="2177415"/>
                  </a:lnTo>
                  <a:lnTo>
                    <a:pt x="3559493" y="2177415"/>
                  </a:lnTo>
                  <a:lnTo>
                    <a:pt x="3573780" y="2177415"/>
                  </a:lnTo>
                  <a:lnTo>
                    <a:pt x="3587115" y="2177415"/>
                  </a:lnTo>
                  <a:lnTo>
                    <a:pt x="3601402" y="2177415"/>
                  </a:lnTo>
                  <a:lnTo>
                    <a:pt x="3615690" y="2177415"/>
                  </a:lnTo>
                  <a:lnTo>
                    <a:pt x="3629025" y="2177415"/>
                  </a:lnTo>
                  <a:lnTo>
                    <a:pt x="3643312" y="2177415"/>
                  </a:lnTo>
                  <a:lnTo>
                    <a:pt x="3657600" y="2177415"/>
                  </a:lnTo>
                  <a:lnTo>
                    <a:pt x="3670935" y="2177415"/>
                  </a:lnTo>
                  <a:lnTo>
                    <a:pt x="3685222" y="2177415"/>
                  </a:lnTo>
                  <a:lnTo>
                    <a:pt x="3699510" y="2177415"/>
                  </a:lnTo>
                  <a:lnTo>
                    <a:pt x="3712845" y="2177415"/>
                  </a:lnTo>
                  <a:lnTo>
                    <a:pt x="3727132" y="2177415"/>
                  </a:lnTo>
                  <a:lnTo>
                    <a:pt x="3741420" y="2177415"/>
                  </a:lnTo>
                  <a:lnTo>
                    <a:pt x="3754755" y="2177415"/>
                  </a:lnTo>
                  <a:lnTo>
                    <a:pt x="3769043" y="2177415"/>
                  </a:lnTo>
                  <a:lnTo>
                    <a:pt x="3783330" y="2177415"/>
                  </a:lnTo>
                  <a:lnTo>
                    <a:pt x="3796665" y="2177415"/>
                  </a:lnTo>
                  <a:lnTo>
                    <a:pt x="3810952" y="2177415"/>
                  </a:lnTo>
                  <a:lnTo>
                    <a:pt x="3825240" y="2177415"/>
                  </a:lnTo>
                  <a:lnTo>
                    <a:pt x="3838575" y="2177415"/>
                  </a:lnTo>
                  <a:lnTo>
                    <a:pt x="3852862" y="2177415"/>
                  </a:lnTo>
                  <a:lnTo>
                    <a:pt x="3866198" y="2177415"/>
                  </a:lnTo>
                  <a:lnTo>
                    <a:pt x="3880485" y="2177415"/>
                  </a:lnTo>
                  <a:lnTo>
                    <a:pt x="3894772" y="2177415"/>
                  </a:lnTo>
                  <a:lnTo>
                    <a:pt x="3908107" y="2177415"/>
                  </a:lnTo>
                  <a:lnTo>
                    <a:pt x="3922395" y="2177415"/>
                  </a:lnTo>
                  <a:lnTo>
                    <a:pt x="3936682" y="2177415"/>
                  </a:lnTo>
                  <a:lnTo>
                    <a:pt x="3950018" y="2177415"/>
                  </a:lnTo>
                  <a:lnTo>
                    <a:pt x="3964305" y="2177415"/>
                  </a:lnTo>
                  <a:lnTo>
                    <a:pt x="3978593" y="2177415"/>
                  </a:lnTo>
                  <a:lnTo>
                    <a:pt x="3991928" y="2177415"/>
                  </a:lnTo>
                  <a:lnTo>
                    <a:pt x="4006215" y="2177415"/>
                  </a:lnTo>
                  <a:lnTo>
                    <a:pt x="4020502" y="2177415"/>
                  </a:lnTo>
                  <a:lnTo>
                    <a:pt x="4033838" y="2177415"/>
                  </a:lnTo>
                  <a:lnTo>
                    <a:pt x="4048125" y="2177415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203960" y="3374708"/>
              <a:ext cx="4187190" cy="1368742"/>
            </a:xfrm>
            <a:custGeom>
              <a:avLst/>
              <a:gdLst/>
              <a:ahLst/>
              <a:cxnLst/>
              <a:rect l="l" t="t" r="r" b="b"/>
              <a:pathLst>
                <a:path w="4187190" h="1368742">
                  <a:moveTo>
                    <a:pt x="0" y="1331595"/>
                  </a:moveTo>
                  <a:lnTo>
                    <a:pt x="13335" y="1191577"/>
                  </a:lnTo>
                  <a:lnTo>
                    <a:pt x="27623" y="1062990"/>
                  </a:lnTo>
                  <a:lnTo>
                    <a:pt x="41910" y="943927"/>
                  </a:lnTo>
                  <a:lnTo>
                    <a:pt x="55245" y="835342"/>
                  </a:lnTo>
                  <a:lnTo>
                    <a:pt x="69532" y="735330"/>
                  </a:lnTo>
                  <a:lnTo>
                    <a:pt x="83820" y="644842"/>
                  </a:lnTo>
                  <a:lnTo>
                    <a:pt x="97155" y="561975"/>
                  </a:lnTo>
                  <a:lnTo>
                    <a:pt x="111442" y="486727"/>
                  </a:lnTo>
                  <a:lnTo>
                    <a:pt x="125730" y="418147"/>
                  </a:lnTo>
                  <a:lnTo>
                    <a:pt x="139065" y="357188"/>
                  </a:lnTo>
                  <a:lnTo>
                    <a:pt x="153352" y="301942"/>
                  </a:lnTo>
                  <a:lnTo>
                    <a:pt x="167640" y="252412"/>
                  </a:lnTo>
                  <a:lnTo>
                    <a:pt x="180975" y="208597"/>
                  </a:lnTo>
                  <a:lnTo>
                    <a:pt x="195262" y="169545"/>
                  </a:lnTo>
                  <a:lnTo>
                    <a:pt x="208598" y="136208"/>
                  </a:lnTo>
                  <a:lnTo>
                    <a:pt x="222885" y="106680"/>
                  </a:lnTo>
                  <a:lnTo>
                    <a:pt x="237173" y="80962"/>
                  </a:lnTo>
                  <a:lnTo>
                    <a:pt x="250507" y="60008"/>
                  </a:lnTo>
                  <a:lnTo>
                    <a:pt x="264795" y="42862"/>
                  </a:lnTo>
                  <a:lnTo>
                    <a:pt x="279082" y="28575"/>
                  </a:lnTo>
                  <a:lnTo>
                    <a:pt x="292417" y="17145"/>
                  </a:lnTo>
                  <a:lnTo>
                    <a:pt x="306705" y="8572"/>
                  </a:lnTo>
                  <a:lnTo>
                    <a:pt x="320992" y="3810"/>
                  </a:lnTo>
                  <a:lnTo>
                    <a:pt x="334327" y="952"/>
                  </a:lnTo>
                  <a:lnTo>
                    <a:pt x="348615" y="0"/>
                  </a:lnTo>
                  <a:lnTo>
                    <a:pt x="362902" y="1905"/>
                  </a:lnTo>
                  <a:lnTo>
                    <a:pt x="376238" y="4762"/>
                  </a:lnTo>
                  <a:lnTo>
                    <a:pt x="390525" y="10477"/>
                  </a:lnTo>
                  <a:lnTo>
                    <a:pt x="404812" y="17145"/>
                  </a:lnTo>
                  <a:lnTo>
                    <a:pt x="418148" y="25717"/>
                  </a:lnTo>
                  <a:lnTo>
                    <a:pt x="432435" y="36195"/>
                  </a:lnTo>
                  <a:lnTo>
                    <a:pt x="446723" y="47625"/>
                  </a:lnTo>
                  <a:lnTo>
                    <a:pt x="460057" y="60008"/>
                  </a:lnTo>
                  <a:lnTo>
                    <a:pt x="474345" y="73342"/>
                  </a:lnTo>
                  <a:lnTo>
                    <a:pt x="488632" y="87630"/>
                  </a:lnTo>
                  <a:lnTo>
                    <a:pt x="501967" y="102870"/>
                  </a:lnTo>
                  <a:lnTo>
                    <a:pt x="516255" y="119062"/>
                  </a:lnTo>
                  <a:lnTo>
                    <a:pt x="530542" y="135255"/>
                  </a:lnTo>
                  <a:lnTo>
                    <a:pt x="543878" y="152400"/>
                  </a:lnTo>
                  <a:lnTo>
                    <a:pt x="558165" y="170497"/>
                  </a:lnTo>
                  <a:lnTo>
                    <a:pt x="571500" y="189547"/>
                  </a:lnTo>
                  <a:lnTo>
                    <a:pt x="585788" y="207645"/>
                  </a:lnTo>
                  <a:lnTo>
                    <a:pt x="600075" y="226695"/>
                  </a:lnTo>
                  <a:lnTo>
                    <a:pt x="613410" y="246697"/>
                  </a:lnTo>
                  <a:lnTo>
                    <a:pt x="627698" y="265747"/>
                  </a:lnTo>
                  <a:lnTo>
                    <a:pt x="641985" y="285750"/>
                  </a:lnTo>
                  <a:lnTo>
                    <a:pt x="655320" y="305752"/>
                  </a:lnTo>
                  <a:lnTo>
                    <a:pt x="669607" y="325755"/>
                  </a:lnTo>
                  <a:lnTo>
                    <a:pt x="683895" y="345758"/>
                  </a:lnTo>
                  <a:lnTo>
                    <a:pt x="697230" y="365760"/>
                  </a:lnTo>
                  <a:lnTo>
                    <a:pt x="711517" y="385762"/>
                  </a:lnTo>
                  <a:lnTo>
                    <a:pt x="725805" y="405765"/>
                  </a:lnTo>
                  <a:lnTo>
                    <a:pt x="739140" y="425767"/>
                  </a:lnTo>
                  <a:lnTo>
                    <a:pt x="753428" y="445770"/>
                  </a:lnTo>
                  <a:lnTo>
                    <a:pt x="767715" y="465772"/>
                  </a:lnTo>
                  <a:lnTo>
                    <a:pt x="781050" y="485775"/>
                  </a:lnTo>
                  <a:lnTo>
                    <a:pt x="795338" y="504825"/>
                  </a:lnTo>
                  <a:lnTo>
                    <a:pt x="809625" y="523875"/>
                  </a:lnTo>
                  <a:lnTo>
                    <a:pt x="822960" y="543877"/>
                  </a:lnTo>
                  <a:lnTo>
                    <a:pt x="837248" y="561975"/>
                  </a:lnTo>
                  <a:lnTo>
                    <a:pt x="851535" y="581025"/>
                  </a:lnTo>
                  <a:lnTo>
                    <a:pt x="864870" y="600075"/>
                  </a:lnTo>
                  <a:lnTo>
                    <a:pt x="879157" y="618172"/>
                  </a:lnTo>
                  <a:lnTo>
                    <a:pt x="893445" y="636270"/>
                  </a:lnTo>
                  <a:lnTo>
                    <a:pt x="906780" y="653415"/>
                  </a:lnTo>
                  <a:lnTo>
                    <a:pt x="921067" y="671512"/>
                  </a:lnTo>
                  <a:lnTo>
                    <a:pt x="935355" y="688658"/>
                  </a:lnTo>
                  <a:lnTo>
                    <a:pt x="948690" y="704850"/>
                  </a:lnTo>
                  <a:lnTo>
                    <a:pt x="962978" y="721995"/>
                  </a:lnTo>
                  <a:lnTo>
                    <a:pt x="976312" y="738188"/>
                  </a:lnTo>
                  <a:lnTo>
                    <a:pt x="990600" y="754380"/>
                  </a:lnTo>
                  <a:lnTo>
                    <a:pt x="1004888" y="770572"/>
                  </a:lnTo>
                  <a:lnTo>
                    <a:pt x="1018222" y="785812"/>
                  </a:lnTo>
                  <a:lnTo>
                    <a:pt x="1032510" y="801052"/>
                  </a:lnTo>
                  <a:lnTo>
                    <a:pt x="1046798" y="815340"/>
                  </a:lnTo>
                  <a:lnTo>
                    <a:pt x="1060132" y="830580"/>
                  </a:lnTo>
                  <a:lnTo>
                    <a:pt x="1074420" y="844867"/>
                  </a:lnTo>
                  <a:lnTo>
                    <a:pt x="1088707" y="859155"/>
                  </a:lnTo>
                  <a:lnTo>
                    <a:pt x="1102042" y="872490"/>
                  </a:lnTo>
                  <a:lnTo>
                    <a:pt x="1116330" y="885825"/>
                  </a:lnTo>
                  <a:lnTo>
                    <a:pt x="1130618" y="899160"/>
                  </a:lnTo>
                  <a:lnTo>
                    <a:pt x="1143952" y="911542"/>
                  </a:lnTo>
                  <a:lnTo>
                    <a:pt x="1158240" y="924877"/>
                  </a:lnTo>
                  <a:lnTo>
                    <a:pt x="1172528" y="936308"/>
                  </a:lnTo>
                  <a:lnTo>
                    <a:pt x="1185862" y="948690"/>
                  </a:lnTo>
                  <a:lnTo>
                    <a:pt x="1200150" y="960120"/>
                  </a:lnTo>
                  <a:lnTo>
                    <a:pt x="1214438" y="971550"/>
                  </a:lnTo>
                  <a:lnTo>
                    <a:pt x="1227772" y="982980"/>
                  </a:lnTo>
                  <a:lnTo>
                    <a:pt x="1242060" y="994410"/>
                  </a:lnTo>
                  <a:lnTo>
                    <a:pt x="1256348" y="1004888"/>
                  </a:lnTo>
                  <a:lnTo>
                    <a:pt x="1269682" y="1015365"/>
                  </a:lnTo>
                  <a:lnTo>
                    <a:pt x="1283970" y="1024890"/>
                  </a:lnTo>
                  <a:lnTo>
                    <a:pt x="1298257" y="1035367"/>
                  </a:lnTo>
                  <a:lnTo>
                    <a:pt x="1311593" y="1044892"/>
                  </a:lnTo>
                  <a:lnTo>
                    <a:pt x="1325880" y="1054418"/>
                  </a:lnTo>
                  <a:lnTo>
                    <a:pt x="1339215" y="1062990"/>
                  </a:lnTo>
                  <a:lnTo>
                    <a:pt x="1353502" y="1072515"/>
                  </a:lnTo>
                  <a:lnTo>
                    <a:pt x="1367790" y="1081088"/>
                  </a:lnTo>
                  <a:lnTo>
                    <a:pt x="1381125" y="1089660"/>
                  </a:lnTo>
                  <a:lnTo>
                    <a:pt x="1395412" y="1097280"/>
                  </a:lnTo>
                  <a:lnTo>
                    <a:pt x="1409700" y="1105852"/>
                  </a:lnTo>
                  <a:lnTo>
                    <a:pt x="1423035" y="1113472"/>
                  </a:lnTo>
                  <a:lnTo>
                    <a:pt x="1437322" y="1121092"/>
                  </a:lnTo>
                  <a:lnTo>
                    <a:pt x="1451610" y="1128712"/>
                  </a:lnTo>
                  <a:lnTo>
                    <a:pt x="1464945" y="1135380"/>
                  </a:lnTo>
                  <a:lnTo>
                    <a:pt x="1479232" y="1143000"/>
                  </a:lnTo>
                  <a:lnTo>
                    <a:pt x="1493520" y="1149668"/>
                  </a:lnTo>
                  <a:lnTo>
                    <a:pt x="1506855" y="1156335"/>
                  </a:lnTo>
                  <a:lnTo>
                    <a:pt x="1521143" y="1162050"/>
                  </a:lnTo>
                  <a:lnTo>
                    <a:pt x="1535430" y="1168718"/>
                  </a:lnTo>
                  <a:lnTo>
                    <a:pt x="1548765" y="1174432"/>
                  </a:lnTo>
                  <a:lnTo>
                    <a:pt x="1563052" y="1181100"/>
                  </a:lnTo>
                  <a:lnTo>
                    <a:pt x="1577340" y="1186815"/>
                  </a:lnTo>
                  <a:lnTo>
                    <a:pt x="1590675" y="1192530"/>
                  </a:lnTo>
                  <a:lnTo>
                    <a:pt x="1604962" y="1197292"/>
                  </a:lnTo>
                  <a:lnTo>
                    <a:pt x="1619250" y="1203008"/>
                  </a:lnTo>
                  <a:lnTo>
                    <a:pt x="1632585" y="1207770"/>
                  </a:lnTo>
                  <a:lnTo>
                    <a:pt x="1646872" y="1212532"/>
                  </a:lnTo>
                  <a:lnTo>
                    <a:pt x="1661160" y="1217295"/>
                  </a:lnTo>
                  <a:lnTo>
                    <a:pt x="1674495" y="1222058"/>
                  </a:lnTo>
                  <a:lnTo>
                    <a:pt x="1688782" y="1226820"/>
                  </a:lnTo>
                  <a:lnTo>
                    <a:pt x="1703070" y="1231582"/>
                  </a:lnTo>
                  <a:lnTo>
                    <a:pt x="1716405" y="1235392"/>
                  </a:lnTo>
                  <a:lnTo>
                    <a:pt x="1730693" y="1240155"/>
                  </a:lnTo>
                  <a:lnTo>
                    <a:pt x="1744028" y="1243965"/>
                  </a:lnTo>
                  <a:lnTo>
                    <a:pt x="1758315" y="1247775"/>
                  </a:lnTo>
                  <a:lnTo>
                    <a:pt x="1772602" y="1251585"/>
                  </a:lnTo>
                  <a:lnTo>
                    <a:pt x="1785937" y="1255395"/>
                  </a:lnTo>
                  <a:lnTo>
                    <a:pt x="1800225" y="1259205"/>
                  </a:lnTo>
                  <a:lnTo>
                    <a:pt x="1814512" y="1262062"/>
                  </a:lnTo>
                  <a:lnTo>
                    <a:pt x="1827848" y="1265872"/>
                  </a:lnTo>
                  <a:lnTo>
                    <a:pt x="1842135" y="1268730"/>
                  </a:lnTo>
                  <a:lnTo>
                    <a:pt x="1856422" y="1272540"/>
                  </a:lnTo>
                  <a:lnTo>
                    <a:pt x="1869757" y="1275397"/>
                  </a:lnTo>
                  <a:lnTo>
                    <a:pt x="1884045" y="1278255"/>
                  </a:lnTo>
                  <a:lnTo>
                    <a:pt x="1898332" y="1281112"/>
                  </a:lnTo>
                  <a:lnTo>
                    <a:pt x="1911668" y="1283970"/>
                  </a:lnTo>
                  <a:lnTo>
                    <a:pt x="1925955" y="1286827"/>
                  </a:lnTo>
                  <a:lnTo>
                    <a:pt x="1940243" y="1289685"/>
                  </a:lnTo>
                  <a:lnTo>
                    <a:pt x="1953578" y="1291590"/>
                  </a:lnTo>
                  <a:lnTo>
                    <a:pt x="1967865" y="1294447"/>
                  </a:lnTo>
                  <a:lnTo>
                    <a:pt x="1982152" y="1297305"/>
                  </a:lnTo>
                  <a:lnTo>
                    <a:pt x="1995487" y="1299210"/>
                  </a:lnTo>
                  <a:lnTo>
                    <a:pt x="2009775" y="1301115"/>
                  </a:lnTo>
                  <a:lnTo>
                    <a:pt x="2024062" y="1303972"/>
                  </a:lnTo>
                  <a:lnTo>
                    <a:pt x="2037398" y="1305877"/>
                  </a:lnTo>
                  <a:lnTo>
                    <a:pt x="2051685" y="1307782"/>
                  </a:lnTo>
                  <a:lnTo>
                    <a:pt x="2065972" y="1309688"/>
                  </a:lnTo>
                  <a:lnTo>
                    <a:pt x="2079307" y="1311592"/>
                  </a:lnTo>
                  <a:lnTo>
                    <a:pt x="2093595" y="1313497"/>
                  </a:lnTo>
                  <a:lnTo>
                    <a:pt x="2106930" y="1315402"/>
                  </a:lnTo>
                  <a:lnTo>
                    <a:pt x="2121218" y="1317308"/>
                  </a:lnTo>
                  <a:lnTo>
                    <a:pt x="2135505" y="1319212"/>
                  </a:lnTo>
                  <a:lnTo>
                    <a:pt x="2148840" y="1320165"/>
                  </a:lnTo>
                  <a:lnTo>
                    <a:pt x="2163128" y="1322070"/>
                  </a:lnTo>
                  <a:lnTo>
                    <a:pt x="2177415" y="1323975"/>
                  </a:lnTo>
                  <a:lnTo>
                    <a:pt x="2190750" y="1324927"/>
                  </a:lnTo>
                  <a:lnTo>
                    <a:pt x="2205037" y="1326832"/>
                  </a:lnTo>
                  <a:lnTo>
                    <a:pt x="2219325" y="1327785"/>
                  </a:lnTo>
                  <a:lnTo>
                    <a:pt x="2232660" y="1329690"/>
                  </a:lnTo>
                  <a:lnTo>
                    <a:pt x="2246948" y="1330642"/>
                  </a:lnTo>
                  <a:lnTo>
                    <a:pt x="2261235" y="1331595"/>
                  </a:lnTo>
                  <a:lnTo>
                    <a:pt x="2274570" y="1333500"/>
                  </a:lnTo>
                  <a:lnTo>
                    <a:pt x="2288858" y="1334452"/>
                  </a:lnTo>
                  <a:lnTo>
                    <a:pt x="2303145" y="1335405"/>
                  </a:lnTo>
                  <a:lnTo>
                    <a:pt x="2316480" y="1336358"/>
                  </a:lnTo>
                  <a:lnTo>
                    <a:pt x="2330768" y="1337310"/>
                  </a:lnTo>
                  <a:lnTo>
                    <a:pt x="2345055" y="1338262"/>
                  </a:lnTo>
                  <a:lnTo>
                    <a:pt x="2358390" y="1340168"/>
                  </a:lnTo>
                  <a:lnTo>
                    <a:pt x="2372678" y="1341120"/>
                  </a:lnTo>
                  <a:lnTo>
                    <a:pt x="2386965" y="1342072"/>
                  </a:lnTo>
                  <a:lnTo>
                    <a:pt x="2400300" y="1342072"/>
                  </a:lnTo>
                  <a:lnTo>
                    <a:pt x="2414587" y="1343025"/>
                  </a:lnTo>
                  <a:lnTo>
                    <a:pt x="2428875" y="1343977"/>
                  </a:lnTo>
                  <a:lnTo>
                    <a:pt x="2442210" y="1344930"/>
                  </a:lnTo>
                  <a:lnTo>
                    <a:pt x="2456498" y="1345882"/>
                  </a:lnTo>
                  <a:lnTo>
                    <a:pt x="2470785" y="1346835"/>
                  </a:lnTo>
                  <a:lnTo>
                    <a:pt x="2484120" y="1347788"/>
                  </a:lnTo>
                  <a:lnTo>
                    <a:pt x="2498407" y="1347788"/>
                  </a:lnTo>
                  <a:lnTo>
                    <a:pt x="2511743" y="1348740"/>
                  </a:lnTo>
                  <a:lnTo>
                    <a:pt x="2526030" y="1349692"/>
                  </a:lnTo>
                  <a:lnTo>
                    <a:pt x="2540318" y="1349692"/>
                  </a:lnTo>
                  <a:lnTo>
                    <a:pt x="2553652" y="1350645"/>
                  </a:lnTo>
                  <a:lnTo>
                    <a:pt x="2567940" y="1351597"/>
                  </a:lnTo>
                  <a:lnTo>
                    <a:pt x="2582228" y="1351597"/>
                  </a:lnTo>
                  <a:lnTo>
                    <a:pt x="2595562" y="1352550"/>
                  </a:lnTo>
                  <a:lnTo>
                    <a:pt x="2609850" y="1353502"/>
                  </a:lnTo>
                  <a:lnTo>
                    <a:pt x="2624138" y="1353502"/>
                  </a:lnTo>
                  <a:lnTo>
                    <a:pt x="2637472" y="1354455"/>
                  </a:lnTo>
                  <a:lnTo>
                    <a:pt x="2651760" y="1354455"/>
                  </a:lnTo>
                  <a:lnTo>
                    <a:pt x="2666048" y="1355408"/>
                  </a:lnTo>
                  <a:lnTo>
                    <a:pt x="2679382" y="1355408"/>
                  </a:lnTo>
                  <a:lnTo>
                    <a:pt x="2693670" y="1356360"/>
                  </a:lnTo>
                  <a:lnTo>
                    <a:pt x="2707957" y="1356360"/>
                  </a:lnTo>
                  <a:lnTo>
                    <a:pt x="2721293" y="1357312"/>
                  </a:lnTo>
                  <a:lnTo>
                    <a:pt x="2735580" y="1357312"/>
                  </a:lnTo>
                  <a:lnTo>
                    <a:pt x="2749868" y="1357312"/>
                  </a:lnTo>
                  <a:lnTo>
                    <a:pt x="2763202" y="1358265"/>
                  </a:lnTo>
                  <a:lnTo>
                    <a:pt x="2777490" y="1358265"/>
                  </a:lnTo>
                  <a:lnTo>
                    <a:pt x="2791778" y="1359218"/>
                  </a:lnTo>
                  <a:lnTo>
                    <a:pt x="2805112" y="1359218"/>
                  </a:lnTo>
                  <a:lnTo>
                    <a:pt x="2819400" y="1359218"/>
                  </a:lnTo>
                  <a:lnTo>
                    <a:pt x="2833688" y="1360170"/>
                  </a:lnTo>
                  <a:lnTo>
                    <a:pt x="2847022" y="1360170"/>
                  </a:lnTo>
                  <a:lnTo>
                    <a:pt x="2861310" y="1360170"/>
                  </a:lnTo>
                  <a:lnTo>
                    <a:pt x="2874645" y="1361122"/>
                  </a:lnTo>
                  <a:lnTo>
                    <a:pt x="2888932" y="1361122"/>
                  </a:lnTo>
                  <a:lnTo>
                    <a:pt x="2903220" y="1361122"/>
                  </a:lnTo>
                  <a:lnTo>
                    <a:pt x="2916555" y="1361122"/>
                  </a:lnTo>
                  <a:lnTo>
                    <a:pt x="2930843" y="1362075"/>
                  </a:lnTo>
                  <a:lnTo>
                    <a:pt x="2945130" y="1362075"/>
                  </a:lnTo>
                  <a:lnTo>
                    <a:pt x="2958465" y="1362075"/>
                  </a:lnTo>
                  <a:lnTo>
                    <a:pt x="2972752" y="1362075"/>
                  </a:lnTo>
                  <a:lnTo>
                    <a:pt x="2987040" y="1363027"/>
                  </a:lnTo>
                  <a:lnTo>
                    <a:pt x="3000375" y="1363027"/>
                  </a:lnTo>
                  <a:lnTo>
                    <a:pt x="3014662" y="1363027"/>
                  </a:lnTo>
                  <a:lnTo>
                    <a:pt x="3028950" y="1363027"/>
                  </a:lnTo>
                  <a:lnTo>
                    <a:pt x="3042285" y="1363027"/>
                  </a:lnTo>
                  <a:lnTo>
                    <a:pt x="3056572" y="1363980"/>
                  </a:lnTo>
                  <a:lnTo>
                    <a:pt x="3070860" y="1363980"/>
                  </a:lnTo>
                  <a:lnTo>
                    <a:pt x="3084195" y="1363980"/>
                  </a:lnTo>
                  <a:lnTo>
                    <a:pt x="3098482" y="1363980"/>
                  </a:lnTo>
                  <a:lnTo>
                    <a:pt x="3112770" y="1363980"/>
                  </a:lnTo>
                  <a:lnTo>
                    <a:pt x="3126105" y="1364932"/>
                  </a:lnTo>
                  <a:lnTo>
                    <a:pt x="3140393" y="1364932"/>
                  </a:lnTo>
                  <a:lnTo>
                    <a:pt x="3154680" y="1364932"/>
                  </a:lnTo>
                  <a:lnTo>
                    <a:pt x="3168015" y="1364932"/>
                  </a:lnTo>
                  <a:lnTo>
                    <a:pt x="3182302" y="1364932"/>
                  </a:lnTo>
                  <a:lnTo>
                    <a:pt x="3196590" y="1364932"/>
                  </a:lnTo>
                  <a:lnTo>
                    <a:pt x="3209925" y="1364932"/>
                  </a:lnTo>
                  <a:lnTo>
                    <a:pt x="3224212" y="1365885"/>
                  </a:lnTo>
                  <a:lnTo>
                    <a:pt x="3237548" y="1365885"/>
                  </a:lnTo>
                  <a:lnTo>
                    <a:pt x="3251835" y="1365885"/>
                  </a:lnTo>
                  <a:lnTo>
                    <a:pt x="3266122" y="1365885"/>
                  </a:lnTo>
                  <a:lnTo>
                    <a:pt x="3279457" y="1365885"/>
                  </a:lnTo>
                  <a:lnTo>
                    <a:pt x="3293745" y="1365885"/>
                  </a:lnTo>
                  <a:lnTo>
                    <a:pt x="3308032" y="1365885"/>
                  </a:lnTo>
                  <a:lnTo>
                    <a:pt x="3321368" y="1365885"/>
                  </a:lnTo>
                  <a:lnTo>
                    <a:pt x="3335655" y="1365885"/>
                  </a:lnTo>
                  <a:lnTo>
                    <a:pt x="3349943" y="1365885"/>
                  </a:lnTo>
                  <a:lnTo>
                    <a:pt x="3363278" y="1366838"/>
                  </a:lnTo>
                  <a:lnTo>
                    <a:pt x="3377565" y="1366838"/>
                  </a:lnTo>
                  <a:lnTo>
                    <a:pt x="3391852" y="1366838"/>
                  </a:lnTo>
                  <a:lnTo>
                    <a:pt x="3405188" y="1366838"/>
                  </a:lnTo>
                  <a:lnTo>
                    <a:pt x="3419475" y="1366838"/>
                  </a:lnTo>
                  <a:lnTo>
                    <a:pt x="3433762" y="1366838"/>
                  </a:lnTo>
                  <a:lnTo>
                    <a:pt x="3447098" y="1366838"/>
                  </a:lnTo>
                  <a:lnTo>
                    <a:pt x="3461385" y="1366838"/>
                  </a:lnTo>
                  <a:lnTo>
                    <a:pt x="3475672" y="1366838"/>
                  </a:lnTo>
                  <a:lnTo>
                    <a:pt x="3489007" y="1366838"/>
                  </a:lnTo>
                  <a:lnTo>
                    <a:pt x="3503295" y="1366838"/>
                  </a:lnTo>
                  <a:lnTo>
                    <a:pt x="3517582" y="1366838"/>
                  </a:lnTo>
                  <a:lnTo>
                    <a:pt x="3530918" y="1366838"/>
                  </a:lnTo>
                  <a:lnTo>
                    <a:pt x="3545205" y="1366838"/>
                  </a:lnTo>
                  <a:lnTo>
                    <a:pt x="3559493" y="1367790"/>
                  </a:lnTo>
                  <a:lnTo>
                    <a:pt x="3572828" y="1367790"/>
                  </a:lnTo>
                  <a:lnTo>
                    <a:pt x="3587115" y="1367790"/>
                  </a:lnTo>
                  <a:lnTo>
                    <a:pt x="3601402" y="1367790"/>
                  </a:lnTo>
                  <a:lnTo>
                    <a:pt x="3614738" y="1367790"/>
                  </a:lnTo>
                  <a:lnTo>
                    <a:pt x="3629025" y="1367790"/>
                  </a:lnTo>
                  <a:lnTo>
                    <a:pt x="3642360" y="1367790"/>
                  </a:lnTo>
                  <a:lnTo>
                    <a:pt x="3656648" y="1367790"/>
                  </a:lnTo>
                  <a:lnTo>
                    <a:pt x="3670935" y="1367790"/>
                  </a:lnTo>
                  <a:lnTo>
                    <a:pt x="3684270" y="1367790"/>
                  </a:lnTo>
                  <a:lnTo>
                    <a:pt x="3698558" y="1367790"/>
                  </a:lnTo>
                  <a:lnTo>
                    <a:pt x="3712845" y="1367790"/>
                  </a:lnTo>
                  <a:lnTo>
                    <a:pt x="3726180" y="1367790"/>
                  </a:lnTo>
                  <a:lnTo>
                    <a:pt x="3740468" y="1367790"/>
                  </a:lnTo>
                  <a:lnTo>
                    <a:pt x="3754755" y="1367790"/>
                  </a:lnTo>
                  <a:lnTo>
                    <a:pt x="3768090" y="1367790"/>
                  </a:lnTo>
                  <a:lnTo>
                    <a:pt x="3782378" y="1367790"/>
                  </a:lnTo>
                  <a:lnTo>
                    <a:pt x="3796665" y="1367790"/>
                  </a:lnTo>
                  <a:lnTo>
                    <a:pt x="3810000" y="1367790"/>
                  </a:lnTo>
                  <a:lnTo>
                    <a:pt x="3824288" y="1367790"/>
                  </a:lnTo>
                  <a:lnTo>
                    <a:pt x="3838575" y="1367790"/>
                  </a:lnTo>
                  <a:lnTo>
                    <a:pt x="3851910" y="1367790"/>
                  </a:lnTo>
                  <a:lnTo>
                    <a:pt x="3866198" y="1367790"/>
                  </a:lnTo>
                  <a:lnTo>
                    <a:pt x="3880485" y="1367790"/>
                  </a:lnTo>
                  <a:lnTo>
                    <a:pt x="3893820" y="1367790"/>
                  </a:lnTo>
                  <a:lnTo>
                    <a:pt x="3908108" y="1367790"/>
                  </a:lnTo>
                  <a:lnTo>
                    <a:pt x="3922395" y="1367790"/>
                  </a:lnTo>
                  <a:lnTo>
                    <a:pt x="3935730" y="1367790"/>
                  </a:lnTo>
                  <a:lnTo>
                    <a:pt x="3950018" y="1367790"/>
                  </a:lnTo>
                  <a:lnTo>
                    <a:pt x="3964305" y="1367790"/>
                  </a:lnTo>
                  <a:lnTo>
                    <a:pt x="3977640" y="1368742"/>
                  </a:lnTo>
                  <a:lnTo>
                    <a:pt x="3991928" y="1368742"/>
                  </a:lnTo>
                  <a:lnTo>
                    <a:pt x="4005262" y="1368742"/>
                  </a:lnTo>
                  <a:lnTo>
                    <a:pt x="4019550" y="1368742"/>
                  </a:lnTo>
                  <a:lnTo>
                    <a:pt x="4033838" y="1368742"/>
                  </a:lnTo>
                  <a:lnTo>
                    <a:pt x="4047172" y="1368742"/>
                  </a:lnTo>
                  <a:lnTo>
                    <a:pt x="4061460" y="1368742"/>
                  </a:lnTo>
                  <a:lnTo>
                    <a:pt x="4075748" y="1368742"/>
                  </a:lnTo>
                  <a:lnTo>
                    <a:pt x="4089083" y="1368742"/>
                  </a:lnTo>
                  <a:lnTo>
                    <a:pt x="4103370" y="1368742"/>
                  </a:lnTo>
                  <a:lnTo>
                    <a:pt x="4117658" y="1368742"/>
                  </a:lnTo>
                  <a:lnTo>
                    <a:pt x="4130993" y="1368742"/>
                  </a:lnTo>
                  <a:lnTo>
                    <a:pt x="4145280" y="1368742"/>
                  </a:lnTo>
                  <a:lnTo>
                    <a:pt x="4159568" y="1368742"/>
                  </a:lnTo>
                  <a:lnTo>
                    <a:pt x="4172902" y="1368742"/>
                  </a:lnTo>
                  <a:lnTo>
                    <a:pt x="4187190" y="1368742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203960" y="4016692"/>
              <a:ext cx="4187190" cy="726758"/>
            </a:xfrm>
            <a:custGeom>
              <a:avLst/>
              <a:gdLst/>
              <a:ahLst/>
              <a:cxnLst/>
              <a:rect l="l" t="t" r="r" b="b"/>
              <a:pathLst>
                <a:path w="4187190" h="726758">
                  <a:moveTo>
                    <a:pt x="0" y="726758"/>
                  </a:moveTo>
                  <a:lnTo>
                    <a:pt x="13335" y="726758"/>
                  </a:lnTo>
                  <a:lnTo>
                    <a:pt x="27623" y="726758"/>
                  </a:lnTo>
                  <a:lnTo>
                    <a:pt x="41910" y="726758"/>
                  </a:lnTo>
                  <a:lnTo>
                    <a:pt x="55245" y="726758"/>
                  </a:lnTo>
                  <a:lnTo>
                    <a:pt x="69532" y="726758"/>
                  </a:lnTo>
                  <a:lnTo>
                    <a:pt x="83820" y="726758"/>
                  </a:lnTo>
                  <a:lnTo>
                    <a:pt x="97155" y="725805"/>
                  </a:lnTo>
                  <a:lnTo>
                    <a:pt x="111442" y="725805"/>
                  </a:lnTo>
                  <a:lnTo>
                    <a:pt x="125730" y="724853"/>
                  </a:lnTo>
                  <a:lnTo>
                    <a:pt x="139065" y="723900"/>
                  </a:lnTo>
                  <a:lnTo>
                    <a:pt x="153352" y="722948"/>
                  </a:lnTo>
                  <a:lnTo>
                    <a:pt x="167640" y="721042"/>
                  </a:lnTo>
                  <a:lnTo>
                    <a:pt x="180975" y="719138"/>
                  </a:lnTo>
                  <a:lnTo>
                    <a:pt x="195262" y="717233"/>
                  </a:lnTo>
                  <a:lnTo>
                    <a:pt x="208598" y="715328"/>
                  </a:lnTo>
                  <a:lnTo>
                    <a:pt x="222885" y="712470"/>
                  </a:lnTo>
                  <a:lnTo>
                    <a:pt x="237173" y="709612"/>
                  </a:lnTo>
                  <a:lnTo>
                    <a:pt x="250507" y="705803"/>
                  </a:lnTo>
                  <a:lnTo>
                    <a:pt x="264795" y="701992"/>
                  </a:lnTo>
                  <a:lnTo>
                    <a:pt x="279082" y="697230"/>
                  </a:lnTo>
                  <a:lnTo>
                    <a:pt x="292417" y="692467"/>
                  </a:lnTo>
                  <a:lnTo>
                    <a:pt x="306705" y="686753"/>
                  </a:lnTo>
                  <a:lnTo>
                    <a:pt x="320992" y="681038"/>
                  </a:lnTo>
                  <a:lnTo>
                    <a:pt x="334327" y="675323"/>
                  </a:lnTo>
                  <a:lnTo>
                    <a:pt x="348615" y="667703"/>
                  </a:lnTo>
                  <a:lnTo>
                    <a:pt x="362902" y="661035"/>
                  </a:lnTo>
                  <a:lnTo>
                    <a:pt x="376238" y="653415"/>
                  </a:lnTo>
                  <a:lnTo>
                    <a:pt x="390525" y="644842"/>
                  </a:lnTo>
                  <a:lnTo>
                    <a:pt x="404812" y="637223"/>
                  </a:lnTo>
                  <a:lnTo>
                    <a:pt x="418148" y="627698"/>
                  </a:lnTo>
                  <a:lnTo>
                    <a:pt x="432435" y="618173"/>
                  </a:lnTo>
                  <a:lnTo>
                    <a:pt x="446723" y="608648"/>
                  </a:lnTo>
                  <a:lnTo>
                    <a:pt x="460057" y="599123"/>
                  </a:lnTo>
                  <a:lnTo>
                    <a:pt x="474345" y="588645"/>
                  </a:lnTo>
                  <a:lnTo>
                    <a:pt x="488632" y="577215"/>
                  </a:lnTo>
                  <a:lnTo>
                    <a:pt x="501967" y="566738"/>
                  </a:lnTo>
                  <a:lnTo>
                    <a:pt x="516255" y="555308"/>
                  </a:lnTo>
                  <a:lnTo>
                    <a:pt x="530542" y="542925"/>
                  </a:lnTo>
                  <a:lnTo>
                    <a:pt x="543878" y="531495"/>
                  </a:lnTo>
                  <a:lnTo>
                    <a:pt x="558165" y="519112"/>
                  </a:lnTo>
                  <a:lnTo>
                    <a:pt x="571500" y="506730"/>
                  </a:lnTo>
                  <a:lnTo>
                    <a:pt x="585788" y="493395"/>
                  </a:lnTo>
                  <a:lnTo>
                    <a:pt x="600075" y="481012"/>
                  </a:lnTo>
                  <a:lnTo>
                    <a:pt x="613410" y="467678"/>
                  </a:lnTo>
                  <a:lnTo>
                    <a:pt x="627698" y="455295"/>
                  </a:lnTo>
                  <a:lnTo>
                    <a:pt x="641985" y="441960"/>
                  </a:lnTo>
                  <a:lnTo>
                    <a:pt x="655320" y="428625"/>
                  </a:lnTo>
                  <a:lnTo>
                    <a:pt x="669607" y="415290"/>
                  </a:lnTo>
                  <a:lnTo>
                    <a:pt x="683895" y="401955"/>
                  </a:lnTo>
                  <a:lnTo>
                    <a:pt x="697230" y="388620"/>
                  </a:lnTo>
                  <a:lnTo>
                    <a:pt x="711517" y="375285"/>
                  </a:lnTo>
                  <a:lnTo>
                    <a:pt x="725805" y="360998"/>
                  </a:lnTo>
                  <a:lnTo>
                    <a:pt x="739140" y="347662"/>
                  </a:lnTo>
                  <a:lnTo>
                    <a:pt x="753428" y="335280"/>
                  </a:lnTo>
                  <a:lnTo>
                    <a:pt x="767715" y="321945"/>
                  </a:lnTo>
                  <a:lnTo>
                    <a:pt x="781050" y="308610"/>
                  </a:lnTo>
                  <a:lnTo>
                    <a:pt x="795338" y="295275"/>
                  </a:lnTo>
                  <a:lnTo>
                    <a:pt x="809625" y="282892"/>
                  </a:lnTo>
                  <a:lnTo>
                    <a:pt x="822960" y="270510"/>
                  </a:lnTo>
                  <a:lnTo>
                    <a:pt x="837248" y="258128"/>
                  </a:lnTo>
                  <a:lnTo>
                    <a:pt x="851535" y="245745"/>
                  </a:lnTo>
                  <a:lnTo>
                    <a:pt x="864870" y="233362"/>
                  </a:lnTo>
                  <a:lnTo>
                    <a:pt x="879157" y="220980"/>
                  </a:lnTo>
                  <a:lnTo>
                    <a:pt x="893445" y="209550"/>
                  </a:lnTo>
                  <a:lnTo>
                    <a:pt x="906780" y="198120"/>
                  </a:lnTo>
                  <a:lnTo>
                    <a:pt x="921067" y="187642"/>
                  </a:lnTo>
                  <a:lnTo>
                    <a:pt x="935355" y="176212"/>
                  </a:lnTo>
                  <a:lnTo>
                    <a:pt x="948690" y="165735"/>
                  </a:lnTo>
                  <a:lnTo>
                    <a:pt x="962978" y="155258"/>
                  </a:lnTo>
                  <a:lnTo>
                    <a:pt x="976312" y="145733"/>
                  </a:lnTo>
                  <a:lnTo>
                    <a:pt x="990600" y="135255"/>
                  </a:lnTo>
                  <a:lnTo>
                    <a:pt x="1004888" y="126683"/>
                  </a:lnTo>
                  <a:lnTo>
                    <a:pt x="1018222" y="117158"/>
                  </a:lnTo>
                  <a:lnTo>
                    <a:pt x="1032510" y="108585"/>
                  </a:lnTo>
                  <a:lnTo>
                    <a:pt x="1046798" y="100012"/>
                  </a:lnTo>
                  <a:lnTo>
                    <a:pt x="1060132" y="91440"/>
                  </a:lnTo>
                  <a:lnTo>
                    <a:pt x="1074420" y="83820"/>
                  </a:lnTo>
                  <a:lnTo>
                    <a:pt x="1088707" y="77153"/>
                  </a:lnTo>
                  <a:lnTo>
                    <a:pt x="1102042" y="69533"/>
                  </a:lnTo>
                  <a:lnTo>
                    <a:pt x="1116330" y="62865"/>
                  </a:lnTo>
                  <a:lnTo>
                    <a:pt x="1130618" y="56198"/>
                  </a:lnTo>
                  <a:lnTo>
                    <a:pt x="1143952" y="50483"/>
                  </a:lnTo>
                  <a:lnTo>
                    <a:pt x="1158240" y="44767"/>
                  </a:lnTo>
                  <a:lnTo>
                    <a:pt x="1172528" y="39053"/>
                  </a:lnTo>
                  <a:lnTo>
                    <a:pt x="1185862" y="34290"/>
                  </a:lnTo>
                  <a:lnTo>
                    <a:pt x="1200150" y="29528"/>
                  </a:lnTo>
                  <a:lnTo>
                    <a:pt x="1214438" y="25717"/>
                  </a:lnTo>
                  <a:lnTo>
                    <a:pt x="1227772" y="21908"/>
                  </a:lnTo>
                  <a:lnTo>
                    <a:pt x="1242060" y="18098"/>
                  </a:lnTo>
                  <a:lnTo>
                    <a:pt x="1256348" y="14288"/>
                  </a:lnTo>
                  <a:lnTo>
                    <a:pt x="1269682" y="11430"/>
                  </a:lnTo>
                  <a:lnTo>
                    <a:pt x="1283970" y="9525"/>
                  </a:lnTo>
                  <a:lnTo>
                    <a:pt x="1298257" y="6667"/>
                  </a:lnTo>
                  <a:lnTo>
                    <a:pt x="1311593" y="4762"/>
                  </a:lnTo>
                  <a:lnTo>
                    <a:pt x="1325880" y="3810"/>
                  </a:lnTo>
                  <a:lnTo>
                    <a:pt x="1339215" y="1905"/>
                  </a:lnTo>
                  <a:lnTo>
                    <a:pt x="1353502" y="953"/>
                  </a:lnTo>
                  <a:lnTo>
                    <a:pt x="1367790" y="0"/>
                  </a:lnTo>
                  <a:lnTo>
                    <a:pt x="1381125" y="0"/>
                  </a:lnTo>
                  <a:lnTo>
                    <a:pt x="1395412" y="0"/>
                  </a:lnTo>
                  <a:lnTo>
                    <a:pt x="1409700" y="0"/>
                  </a:lnTo>
                  <a:lnTo>
                    <a:pt x="1423035" y="953"/>
                  </a:lnTo>
                  <a:lnTo>
                    <a:pt x="1437322" y="953"/>
                  </a:lnTo>
                  <a:lnTo>
                    <a:pt x="1451610" y="1905"/>
                  </a:lnTo>
                  <a:lnTo>
                    <a:pt x="1464945" y="3810"/>
                  </a:lnTo>
                  <a:lnTo>
                    <a:pt x="1479232" y="4762"/>
                  </a:lnTo>
                  <a:lnTo>
                    <a:pt x="1493520" y="6667"/>
                  </a:lnTo>
                  <a:lnTo>
                    <a:pt x="1506855" y="8573"/>
                  </a:lnTo>
                  <a:lnTo>
                    <a:pt x="1521143" y="11430"/>
                  </a:lnTo>
                  <a:lnTo>
                    <a:pt x="1535430" y="13335"/>
                  </a:lnTo>
                  <a:lnTo>
                    <a:pt x="1548765" y="16192"/>
                  </a:lnTo>
                  <a:lnTo>
                    <a:pt x="1563052" y="19050"/>
                  </a:lnTo>
                  <a:lnTo>
                    <a:pt x="1577340" y="22860"/>
                  </a:lnTo>
                  <a:lnTo>
                    <a:pt x="1590675" y="25717"/>
                  </a:lnTo>
                  <a:lnTo>
                    <a:pt x="1604962" y="29528"/>
                  </a:lnTo>
                  <a:lnTo>
                    <a:pt x="1619250" y="33338"/>
                  </a:lnTo>
                  <a:lnTo>
                    <a:pt x="1632585" y="37148"/>
                  </a:lnTo>
                  <a:lnTo>
                    <a:pt x="1646872" y="40958"/>
                  </a:lnTo>
                  <a:lnTo>
                    <a:pt x="1661160" y="45720"/>
                  </a:lnTo>
                  <a:lnTo>
                    <a:pt x="1674495" y="50483"/>
                  </a:lnTo>
                  <a:lnTo>
                    <a:pt x="1688782" y="55245"/>
                  </a:lnTo>
                  <a:lnTo>
                    <a:pt x="1703070" y="60008"/>
                  </a:lnTo>
                  <a:lnTo>
                    <a:pt x="1716405" y="64770"/>
                  </a:lnTo>
                  <a:lnTo>
                    <a:pt x="1730693" y="69533"/>
                  </a:lnTo>
                  <a:lnTo>
                    <a:pt x="1744028" y="74295"/>
                  </a:lnTo>
                  <a:lnTo>
                    <a:pt x="1758315" y="80010"/>
                  </a:lnTo>
                  <a:lnTo>
                    <a:pt x="1772602" y="85725"/>
                  </a:lnTo>
                  <a:lnTo>
                    <a:pt x="1785937" y="90488"/>
                  </a:lnTo>
                  <a:lnTo>
                    <a:pt x="1800225" y="96203"/>
                  </a:lnTo>
                  <a:lnTo>
                    <a:pt x="1814512" y="101917"/>
                  </a:lnTo>
                  <a:lnTo>
                    <a:pt x="1827848" y="107633"/>
                  </a:lnTo>
                  <a:lnTo>
                    <a:pt x="1842135" y="114300"/>
                  </a:lnTo>
                  <a:lnTo>
                    <a:pt x="1856422" y="120015"/>
                  </a:lnTo>
                  <a:lnTo>
                    <a:pt x="1869757" y="125730"/>
                  </a:lnTo>
                  <a:lnTo>
                    <a:pt x="1884045" y="132398"/>
                  </a:lnTo>
                  <a:lnTo>
                    <a:pt x="1898332" y="138112"/>
                  </a:lnTo>
                  <a:lnTo>
                    <a:pt x="1911668" y="144780"/>
                  </a:lnTo>
                  <a:lnTo>
                    <a:pt x="1925955" y="151448"/>
                  </a:lnTo>
                  <a:lnTo>
                    <a:pt x="1940243" y="157162"/>
                  </a:lnTo>
                  <a:lnTo>
                    <a:pt x="1953578" y="163830"/>
                  </a:lnTo>
                  <a:lnTo>
                    <a:pt x="1967865" y="170498"/>
                  </a:lnTo>
                  <a:lnTo>
                    <a:pt x="1982152" y="177165"/>
                  </a:lnTo>
                  <a:lnTo>
                    <a:pt x="1995487" y="182880"/>
                  </a:lnTo>
                  <a:lnTo>
                    <a:pt x="2009775" y="189548"/>
                  </a:lnTo>
                  <a:lnTo>
                    <a:pt x="2024062" y="196215"/>
                  </a:lnTo>
                  <a:lnTo>
                    <a:pt x="2037398" y="202883"/>
                  </a:lnTo>
                  <a:lnTo>
                    <a:pt x="2051685" y="209550"/>
                  </a:lnTo>
                  <a:lnTo>
                    <a:pt x="2065972" y="216217"/>
                  </a:lnTo>
                  <a:lnTo>
                    <a:pt x="2079307" y="222885"/>
                  </a:lnTo>
                  <a:lnTo>
                    <a:pt x="2093595" y="229553"/>
                  </a:lnTo>
                  <a:lnTo>
                    <a:pt x="2106930" y="236220"/>
                  </a:lnTo>
                  <a:lnTo>
                    <a:pt x="2121218" y="242888"/>
                  </a:lnTo>
                  <a:lnTo>
                    <a:pt x="2135505" y="249555"/>
                  </a:lnTo>
                  <a:lnTo>
                    <a:pt x="2148840" y="256223"/>
                  </a:lnTo>
                  <a:lnTo>
                    <a:pt x="2163128" y="262890"/>
                  </a:lnTo>
                  <a:lnTo>
                    <a:pt x="2177415" y="269558"/>
                  </a:lnTo>
                  <a:lnTo>
                    <a:pt x="2190750" y="276225"/>
                  </a:lnTo>
                  <a:lnTo>
                    <a:pt x="2205037" y="281940"/>
                  </a:lnTo>
                  <a:lnTo>
                    <a:pt x="2219325" y="288608"/>
                  </a:lnTo>
                  <a:lnTo>
                    <a:pt x="2232660" y="295275"/>
                  </a:lnTo>
                  <a:lnTo>
                    <a:pt x="2246948" y="301942"/>
                  </a:lnTo>
                  <a:lnTo>
                    <a:pt x="2261235" y="308610"/>
                  </a:lnTo>
                  <a:lnTo>
                    <a:pt x="2274570" y="314325"/>
                  </a:lnTo>
                  <a:lnTo>
                    <a:pt x="2288858" y="320992"/>
                  </a:lnTo>
                  <a:lnTo>
                    <a:pt x="2303145" y="327660"/>
                  </a:lnTo>
                  <a:lnTo>
                    <a:pt x="2316480" y="333375"/>
                  </a:lnTo>
                  <a:lnTo>
                    <a:pt x="2330768" y="340042"/>
                  </a:lnTo>
                  <a:lnTo>
                    <a:pt x="2345055" y="345758"/>
                  </a:lnTo>
                  <a:lnTo>
                    <a:pt x="2358390" y="352425"/>
                  </a:lnTo>
                  <a:lnTo>
                    <a:pt x="2372678" y="358140"/>
                  </a:lnTo>
                  <a:lnTo>
                    <a:pt x="2386965" y="363855"/>
                  </a:lnTo>
                  <a:lnTo>
                    <a:pt x="2400300" y="370523"/>
                  </a:lnTo>
                  <a:lnTo>
                    <a:pt x="2414587" y="376238"/>
                  </a:lnTo>
                  <a:lnTo>
                    <a:pt x="2428875" y="381953"/>
                  </a:lnTo>
                  <a:lnTo>
                    <a:pt x="2442210" y="387667"/>
                  </a:lnTo>
                  <a:lnTo>
                    <a:pt x="2456498" y="393383"/>
                  </a:lnTo>
                  <a:lnTo>
                    <a:pt x="2470785" y="399098"/>
                  </a:lnTo>
                  <a:lnTo>
                    <a:pt x="2484120" y="404812"/>
                  </a:lnTo>
                  <a:lnTo>
                    <a:pt x="2498407" y="410528"/>
                  </a:lnTo>
                  <a:lnTo>
                    <a:pt x="2511743" y="416242"/>
                  </a:lnTo>
                  <a:lnTo>
                    <a:pt x="2526030" y="421958"/>
                  </a:lnTo>
                  <a:lnTo>
                    <a:pt x="2540318" y="426720"/>
                  </a:lnTo>
                  <a:lnTo>
                    <a:pt x="2553652" y="432435"/>
                  </a:lnTo>
                  <a:lnTo>
                    <a:pt x="2567940" y="438150"/>
                  </a:lnTo>
                  <a:lnTo>
                    <a:pt x="2582228" y="442912"/>
                  </a:lnTo>
                  <a:lnTo>
                    <a:pt x="2595562" y="448628"/>
                  </a:lnTo>
                  <a:lnTo>
                    <a:pt x="2609850" y="453390"/>
                  </a:lnTo>
                  <a:lnTo>
                    <a:pt x="2624138" y="458153"/>
                  </a:lnTo>
                  <a:lnTo>
                    <a:pt x="2637472" y="463867"/>
                  </a:lnTo>
                  <a:lnTo>
                    <a:pt x="2651760" y="468630"/>
                  </a:lnTo>
                  <a:lnTo>
                    <a:pt x="2666048" y="473392"/>
                  </a:lnTo>
                  <a:lnTo>
                    <a:pt x="2679382" y="478155"/>
                  </a:lnTo>
                  <a:lnTo>
                    <a:pt x="2693670" y="482917"/>
                  </a:lnTo>
                  <a:lnTo>
                    <a:pt x="2707957" y="487680"/>
                  </a:lnTo>
                  <a:lnTo>
                    <a:pt x="2721293" y="492442"/>
                  </a:lnTo>
                  <a:lnTo>
                    <a:pt x="2735580" y="496253"/>
                  </a:lnTo>
                  <a:lnTo>
                    <a:pt x="2749868" y="501015"/>
                  </a:lnTo>
                  <a:lnTo>
                    <a:pt x="2763202" y="505778"/>
                  </a:lnTo>
                  <a:lnTo>
                    <a:pt x="2777490" y="509588"/>
                  </a:lnTo>
                  <a:lnTo>
                    <a:pt x="2791778" y="514350"/>
                  </a:lnTo>
                  <a:lnTo>
                    <a:pt x="2805112" y="518160"/>
                  </a:lnTo>
                  <a:lnTo>
                    <a:pt x="2819400" y="522923"/>
                  </a:lnTo>
                  <a:lnTo>
                    <a:pt x="2833688" y="526733"/>
                  </a:lnTo>
                  <a:lnTo>
                    <a:pt x="2847022" y="530542"/>
                  </a:lnTo>
                  <a:lnTo>
                    <a:pt x="2861310" y="534353"/>
                  </a:lnTo>
                  <a:lnTo>
                    <a:pt x="2874645" y="538162"/>
                  </a:lnTo>
                  <a:lnTo>
                    <a:pt x="2888932" y="541973"/>
                  </a:lnTo>
                  <a:lnTo>
                    <a:pt x="2903220" y="545783"/>
                  </a:lnTo>
                  <a:lnTo>
                    <a:pt x="2916555" y="549592"/>
                  </a:lnTo>
                  <a:lnTo>
                    <a:pt x="2930843" y="553403"/>
                  </a:lnTo>
                  <a:lnTo>
                    <a:pt x="2945130" y="557212"/>
                  </a:lnTo>
                  <a:lnTo>
                    <a:pt x="2958465" y="561023"/>
                  </a:lnTo>
                  <a:lnTo>
                    <a:pt x="2972752" y="563880"/>
                  </a:lnTo>
                  <a:lnTo>
                    <a:pt x="2987040" y="567690"/>
                  </a:lnTo>
                  <a:lnTo>
                    <a:pt x="3000375" y="570548"/>
                  </a:lnTo>
                  <a:lnTo>
                    <a:pt x="3014662" y="574358"/>
                  </a:lnTo>
                  <a:lnTo>
                    <a:pt x="3028950" y="577215"/>
                  </a:lnTo>
                  <a:lnTo>
                    <a:pt x="3042285" y="581025"/>
                  </a:lnTo>
                  <a:lnTo>
                    <a:pt x="3056572" y="583883"/>
                  </a:lnTo>
                  <a:lnTo>
                    <a:pt x="3070860" y="586740"/>
                  </a:lnTo>
                  <a:lnTo>
                    <a:pt x="3084195" y="589598"/>
                  </a:lnTo>
                  <a:lnTo>
                    <a:pt x="3098482" y="592455"/>
                  </a:lnTo>
                  <a:lnTo>
                    <a:pt x="3112770" y="595312"/>
                  </a:lnTo>
                  <a:lnTo>
                    <a:pt x="3126105" y="598170"/>
                  </a:lnTo>
                  <a:lnTo>
                    <a:pt x="3140393" y="601028"/>
                  </a:lnTo>
                  <a:lnTo>
                    <a:pt x="3154680" y="603885"/>
                  </a:lnTo>
                  <a:lnTo>
                    <a:pt x="3168015" y="606742"/>
                  </a:lnTo>
                  <a:lnTo>
                    <a:pt x="3182302" y="609600"/>
                  </a:lnTo>
                  <a:lnTo>
                    <a:pt x="3196590" y="612458"/>
                  </a:lnTo>
                  <a:lnTo>
                    <a:pt x="3209925" y="614362"/>
                  </a:lnTo>
                  <a:lnTo>
                    <a:pt x="3224212" y="617220"/>
                  </a:lnTo>
                  <a:lnTo>
                    <a:pt x="3237548" y="620078"/>
                  </a:lnTo>
                  <a:lnTo>
                    <a:pt x="3251835" y="621983"/>
                  </a:lnTo>
                  <a:lnTo>
                    <a:pt x="3266122" y="624840"/>
                  </a:lnTo>
                  <a:lnTo>
                    <a:pt x="3279457" y="626745"/>
                  </a:lnTo>
                  <a:lnTo>
                    <a:pt x="3293745" y="628650"/>
                  </a:lnTo>
                  <a:lnTo>
                    <a:pt x="3308032" y="631508"/>
                  </a:lnTo>
                  <a:lnTo>
                    <a:pt x="3321368" y="633412"/>
                  </a:lnTo>
                  <a:lnTo>
                    <a:pt x="3335655" y="635317"/>
                  </a:lnTo>
                  <a:lnTo>
                    <a:pt x="3349943" y="637223"/>
                  </a:lnTo>
                  <a:lnTo>
                    <a:pt x="3363278" y="640080"/>
                  </a:lnTo>
                  <a:lnTo>
                    <a:pt x="3377565" y="641985"/>
                  </a:lnTo>
                  <a:lnTo>
                    <a:pt x="3391852" y="643890"/>
                  </a:lnTo>
                  <a:lnTo>
                    <a:pt x="3405188" y="645795"/>
                  </a:lnTo>
                  <a:lnTo>
                    <a:pt x="3419475" y="647700"/>
                  </a:lnTo>
                  <a:lnTo>
                    <a:pt x="3433762" y="649605"/>
                  </a:lnTo>
                  <a:lnTo>
                    <a:pt x="3447098" y="651510"/>
                  </a:lnTo>
                  <a:lnTo>
                    <a:pt x="3461385" y="653415"/>
                  </a:lnTo>
                  <a:lnTo>
                    <a:pt x="3475672" y="654367"/>
                  </a:lnTo>
                  <a:lnTo>
                    <a:pt x="3489007" y="656273"/>
                  </a:lnTo>
                  <a:lnTo>
                    <a:pt x="3503295" y="658178"/>
                  </a:lnTo>
                  <a:lnTo>
                    <a:pt x="3517582" y="660083"/>
                  </a:lnTo>
                  <a:lnTo>
                    <a:pt x="3530918" y="661035"/>
                  </a:lnTo>
                  <a:lnTo>
                    <a:pt x="3545205" y="662940"/>
                  </a:lnTo>
                  <a:lnTo>
                    <a:pt x="3559493" y="664845"/>
                  </a:lnTo>
                  <a:lnTo>
                    <a:pt x="3572828" y="665798"/>
                  </a:lnTo>
                  <a:lnTo>
                    <a:pt x="3587115" y="667703"/>
                  </a:lnTo>
                  <a:lnTo>
                    <a:pt x="3601402" y="668655"/>
                  </a:lnTo>
                  <a:lnTo>
                    <a:pt x="3614738" y="670560"/>
                  </a:lnTo>
                  <a:lnTo>
                    <a:pt x="3629025" y="671512"/>
                  </a:lnTo>
                  <a:lnTo>
                    <a:pt x="3642360" y="673417"/>
                  </a:lnTo>
                  <a:lnTo>
                    <a:pt x="3656648" y="674370"/>
                  </a:lnTo>
                  <a:lnTo>
                    <a:pt x="3670935" y="675323"/>
                  </a:lnTo>
                  <a:lnTo>
                    <a:pt x="3684270" y="677228"/>
                  </a:lnTo>
                  <a:lnTo>
                    <a:pt x="3698558" y="678180"/>
                  </a:lnTo>
                  <a:lnTo>
                    <a:pt x="3712845" y="679133"/>
                  </a:lnTo>
                  <a:lnTo>
                    <a:pt x="3726180" y="680085"/>
                  </a:lnTo>
                  <a:lnTo>
                    <a:pt x="3740468" y="681990"/>
                  </a:lnTo>
                  <a:lnTo>
                    <a:pt x="3754755" y="682942"/>
                  </a:lnTo>
                  <a:lnTo>
                    <a:pt x="3768090" y="683895"/>
                  </a:lnTo>
                  <a:lnTo>
                    <a:pt x="3782378" y="684848"/>
                  </a:lnTo>
                  <a:lnTo>
                    <a:pt x="3796665" y="685800"/>
                  </a:lnTo>
                  <a:lnTo>
                    <a:pt x="3810000" y="686753"/>
                  </a:lnTo>
                  <a:lnTo>
                    <a:pt x="3824288" y="687705"/>
                  </a:lnTo>
                  <a:lnTo>
                    <a:pt x="3838575" y="688658"/>
                  </a:lnTo>
                  <a:lnTo>
                    <a:pt x="3851910" y="689610"/>
                  </a:lnTo>
                  <a:lnTo>
                    <a:pt x="3866198" y="690562"/>
                  </a:lnTo>
                  <a:lnTo>
                    <a:pt x="3880485" y="691515"/>
                  </a:lnTo>
                  <a:lnTo>
                    <a:pt x="3893820" y="692467"/>
                  </a:lnTo>
                  <a:lnTo>
                    <a:pt x="3908108" y="693420"/>
                  </a:lnTo>
                  <a:lnTo>
                    <a:pt x="3922395" y="694373"/>
                  </a:lnTo>
                  <a:lnTo>
                    <a:pt x="3935730" y="695325"/>
                  </a:lnTo>
                  <a:lnTo>
                    <a:pt x="3950018" y="696278"/>
                  </a:lnTo>
                  <a:lnTo>
                    <a:pt x="3964305" y="696278"/>
                  </a:lnTo>
                  <a:lnTo>
                    <a:pt x="3977640" y="697230"/>
                  </a:lnTo>
                  <a:lnTo>
                    <a:pt x="3991928" y="698183"/>
                  </a:lnTo>
                  <a:lnTo>
                    <a:pt x="4005262" y="699135"/>
                  </a:lnTo>
                  <a:lnTo>
                    <a:pt x="4019550" y="700088"/>
                  </a:lnTo>
                  <a:lnTo>
                    <a:pt x="4033838" y="700088"/>
                  </a:lnTo>
                  <a:lnTo>
                    <a:pt x="4047172" y="701040"/>
                  </a:lnTo>
                  <a:lnTo>
                    <a:pt x="4061460" y="701992"/>
                  </a:lnTo>
                  <a:lnTo>
                    <a:pt x="4075748" y="701992"/>
                  </a:lnTo>
                  <a:lnTo>
                    <a:pt x="4089083" y="702945"/>
                  </a:lnTo>
                  <a:lnTo>
                    <a:pt x="4103370" y="703898"/>
                  </a:lnTo>
                  <a:lnTo>
                    <a:pt x="4117658" y="703898"/>
                  </a:lnTo>
                  <a:lnTo>
                    <a:pt x="4130993" y="704850"/>
                  </a:lnTo>
                  <a:lnTo>
                    <a:pt x="4145280" y="705803"/>
                  </a:lnTo>
                  <a:lnTo>
                    <a:pt x="4159568" y="705803"/>
                  </a:lnTo>
                  <a:lnTo>
                    <a:pt x="4172902" y="706755"/>
                  </a:lnTo>
                  <a:lnTo>
                    <a:pt x="4187190" y="706755"/>
                  </a:lnTo>
                </a:path>
              </a:pathLst>
            </a:custGeom>
            <a:noFill/>
            <a:ln w="22860">
              <a:solidFill>
                <a:srgbClr val="14A38B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2073592" y="47434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032045" y="48191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2946082" y="47434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868884" y="481917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3819525" y="47434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742012" y="481917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692968" y="47434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15140" y="481917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1152525" y="3999548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91791" y="3936921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1152525" y="325564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91791" y="3192780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1152525" y="2510790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91791" y="244863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22016" y="2624966"/>
              <a:ext cx="33150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 = 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71269" y="3220279"/>
              <a:ext cx="33150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n = 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76182" y="3800713"/>
              <a:ext cx="41002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n = 10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23900" y="5067300"/>
              <a:ext cx="5143500" cy="1028700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33425" y="5172075"/>
              <a:ext cx="47625" cy="8191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895350" y="5172075"/>
              <a:ext cx="102870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0313" y="522541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为什么往右移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9826" y="5483304"/>
              <a:ext cx="4032440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χ²(n) 是 n 个标准正态的平方和，每加一项期望加 1、方差加 2，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所以中心在 n、宽度按 √(2n) 增长；n 大时逐渐对称，接近正态。</a:t>
              </a:r>
            </a:p>
          </p:txBody>
        </p:sp>
      </p:grpSp>
      <p:grpSp>
        <p:nvGrpSpPr>
          <p:cNvPr id="74" name="chiB"/>
          <p:cNvGrpSpPr/>
          <p:nvPr/>
        </p:nvGrpSpPr>
        <p:grpSpPr>
          <a:xfrm>
            <a:off x="6210300" y="1524000"/>
            <a:ext cx="5448300" cy="4762500"/>
            <a:chOff x="6210300" y="1524000"/>
            <a:chExt cx="5448300" cy="4762500"/>
          </a:xfrm>
        </p:grpSpPr>
        <p:sp>
          <p:nvSpPr>
            <p:cNvPr id="43" name="Rectangle 43"/>
            <p:cNvSpPr/>
            <p:nvPr/>
          </p:nvSpPr>
          <p:spPr>
            <a:xfrm>
              <a:off x="6210300" y="1524000"/>
              <a:ext cx="54483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94323" y="1662589"/>
              <a:ext cx="2442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上 α 分位点：右尾面积恰好是 α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95466" y="1925002"/>
              <a:ext cx="40038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 χ²(7) 为例，α = 0.05 时 χ²₀.₀₅(7) = 14.067（查附表）。</a:t>
              </a:r>
            </a:p>
          </p:txBody>
        </p:sp>
        <p:sp>
          <p:nvSpPr>
            <p:cNvPr id="46" name="Polygon 46"/>
            <p:cNvSpPr/>
            <p:nvPr/>
          </p:nvSpPr>
          <p:spPr>
            <a:xfrm>
              <a:off x="9499282" y="4369118"/>
              <a:ext cx="1511618" cy="279083"/>
            </a:xfrm>
            <a:custGeom>
              <a:avLst/>
              <a:gdLst/>
              <a:ahLst/>
              <a:cxnLst/>
              <a:rect l="l" t="t" r="r" b="b"/>
              <a:pathLst>
                <a:path w="1511618" h="279083">
                  <a:moveTo>
                    <a:pt x="0" y="279083"/>
                  </a:moveTo>
                  <a:lnTo>
                    <a:pt x="0" y="0"/>
                  </a:lnTo>
                  <a:lnTo>
                    <a:pt x="19050" y="8573"/>
                  </a:lnTo>
                  <a:lnTo>
                    <a:pt x="38100" y="17145"/>
                  </a:lnTo>
                  <a:lnTo>
                    <a:pt x="57150" y="25717"/>
                  </a:lnTo>
                  <a:lnTo>
                    <a:pt x="76200" y="33338"/>
                  </a:lnTo>
                  <a:lnTo>
                    <a:pt x="95250" y="40958"/>
                  </a:lnTo>
                  <a:lnTo>
                    <a:pt x="113348" y="48578"/>
                  </a:lnTo>
                  <a:lnTo>
                    <a:pt x="132398" y="56198"/>
                  </a:lnTo>
                  <a:lnTo>
                    <a:pt x="151448" y="63817"/>
                  </a:lnTo>
                  <a:lnTo>
                    <a:pt x="170498" y="70485"/>
                  </a:lnTo>
                  <a:lnTo>
                    <a:pt x="189548" y="77153"/>
                  </a:lnTo>
                  <a:lnTo>
                    <a:pt x="208598" y="83820"/>
                  </a:lnTo>
                  <a:lnTo>
                    <a:pt x="226695" y="90488"/>
                  </a:lnTo>
                  <a:lnTo>
                    <a:pt x="245745" y="96203"/>
                  </a:lnTo>
                  <a:lnTo>
                    <a:pt x="264795" y="102870"/>
                  </a:lnTo>
                  <a:lnTo>
                    <a:pt x="283845" y="108585"/>
                  </a:lnTo>
                  <a:lnTo>
                    <a:pt x="302895" y="114300"/>
                  </a:lnTo>
                  <a:lnTo>
                    <a:pt x="321945" y="119062"/>
                  </a:lnTo>
                  <a:lnTo>
                    <a:pt x="340043" y="124778"/>
                  </a:lnTo>
                  <a:lnTo>
                    <a:pt x="359093" y="129540"/>
                  </a:lnTo>
                  <a:lnTo>
                    <a:pt x="378143" y="135255"/>
                  </a:lnTo>
                  <a:lnTo>
                    <a:pt x="397193" y="140017"/>
                  </a:lnTo>
                  <a:lnTo>
                    <a:pt x="416243" y="144780"/>
                  </a:lnTo>
                  <a:lnTo>
                    <a:pt x="435293" y="148590"/>
                  </a:lnTo>
                  <a:lnTo>
                    <a:pt x="453390" y="153353"/>
                  </a:lnTo>
                  <a:lnTo>
                    <a:pt x="472440" y="158115"/>
                  </a:lnTo>
                  <a:lnTo>
                    <a:pt x="491490" y="161925"/>
                  </a:lnTo>
                  <a:lnTo>
                    <a:pt x="510540" y="165735"/>
                  </a:lnTo>
                  <a:lnTo>
                    <a:pt x="529590" y="169545"/>
                  </a:lnTo>
                  <a:lnTo>
                    <a:pt x="548640" y="173355"/>
                  </a:lnTo>
                  <a:lnTo>
                    <a:pt x="566738" y="177165"/>
                  </a:lnTo>
                  <a:lnTo>
                    <a:pt x="585788" y="180975"/>
                  </a:lnTo>
                  <a:lnTo>
                    <a:pt x="604838" y="183833"/>
                  </a:lnTo>
                  <a:lnTo>
                    <a:pt x="623888" y="187642"/>
                  </a:lnTo>
                  <a:lnTo>
                    <a:pt x="642938" y="190500"/>
                  </a:lnTo>
                  <a:lnTo>
                    <a:pt x="661988" y="193358"/>
                  </a:lnTo>
                  <a:lnTo>
                    <a:pt x="680085" y="196215"/>
                  </a:lnTo>
                  <a:lnTo>
                    <a:pt x="699135" y="199073"/>
                  </a:lnTo>
                  <a:lnTo>
                    <a:pt x="718185" y="201930"/>
                  </a:lnTo>
                  <a:lnTo>
                    <a:pt x="737235" y="204788"/>
                  </a:lnTo>
                  <a:lnTo>
                    <a:pt x="756285" y="207645"/>
                  </a:lnTo>
                  <a:lnTo>
                    <a:pt x="775335" y="210503"/>
                  </a:lnTo>
                  <a:lnTo>
                    <a:pt x="793432" y="212408"/>
                  </a:lnTo>
                  <a:lnTo>
                    <a:pt x="812482" y="215265"/>
                  </a:lnTo>
                  <a:lnTo>
                    <a:pt x="831532" y="217170"/>
                  </a:lnTo>
                  <a:lnTo>
                    <a:pt x="850582" y="219075"/>
                  </a:lnTo>
                  <a:lnTo>
                    <a:pt x="869632" y="220980"/>
                  </a:lnTo>
                  <a:lnTo>
                    <a:pt x="888682" y="223838"/>
                  </a:lnTo>
                  <a:lnTo>
                    <a:pt x="906780" y="225742"/>
                  </a:lnTo>
                  <a:lnTo>
                    <a:pt x="925830" y="227648"/>
                  </a:lnTo>
                  <a:lnTo>
                    <a:pt x="944880" y="229553"/>
                  </a:lnTo>
                  <a:lnTo>
                    <a:pt x="963930" y="231458"/>
                  </a:lnTo>
                  <a:lnTo>
                    <a:pt x="982980" y="232410"/>
                  </a:lnTo>
                  <a:lnTo>
                    <a:pt x="1002030" y="234315"/>
                  </a:lnTo>
                  <a:lnTo>
                    <a:pt x="1020128" y="236220"/>
                  </a:lnTo>
                  <a:lnTo>
                    <a:pt x="1039178" y="237173"/>
                  </a:lnTo>
                  <a:lnTo>
                    <a:pt x="1058228" y="239078"/>
                  </a:lnTo>
                  <a:lnTo>
                    <a:pt x="1077278" y="240983"/>
                  </a:lnTo>
                  <a:lnTo>
                    <a:pt x="1096328" y="241935"/>
                  </a:lnTo>
                  <a:lnTo>
                    <a:pt x="1115378" y="242888"/>
                  </a:lnTo>
                  <a:lnTo>
                    <a:pt x="1133475" y="244792"/>
                  </a:lnTo>
                  <a:lnTo>
                    <a:pt x="1152525" y="245745"/>
                  </a:lnTo>
                  <a:lnTo>
                    <a:pt x="1171575" y="246698"/>
                  </a:lnTo>
                  <a:lnTo>
                    <a:pt x="1190625" y="248603"/>
                  </a:lnTo>
                  <a:lnTo>
                    <a:pt x="1209675" y="249555"/>
                  </a:lnTo>
                  <a:lnTo>
                    <a:pt x="1228725" y="250508"/>
                  </a:lnTo>
                  <a:lnTo>
                    <a:pt x="1246823" y="251460"/>
                  </a:lnTo>
                  <a:lnTo>
                    <a:pt x="1265873" y="252412"/>
                  </a:lnTo>
                  <a:lnTo>
                    <a:pt x="1284923" y="253365"/>
                  </a:lnTo>
                  <a:lnTo>
                    <a:pt x="1303973" y="254317"/>
                  </a:lnTo>
                  <a:lnTo>
                    <a:pt x="1323023" y="255270"/>
                  </a:lnTo>
                  <a:lnTo>
                    <a:pt x="1342073" y="256223"/>
                  </a:lnTo>
                  <a:lnTo>
                    <a:pt x="1360170" y="257175"/>
                  </a:lnTo>
                  <a:lnTo>
                    <a:pt x="1379220" y="258128"/>
                  </a:lnTo>
                  <a:lnTo>
                    <a:pt x="1398270" y="259080"/>
                  </a:lnTo>
                  <a:lnTo>
                    <a:pt x="1417320" y="259080"/>
                  </a:lnTo>
                  <a:lnTo>
                    <a:pt x="1436370" y="260033"/>
                  </a:lnTo>
                  <a:lnTo>
                    <a:pt x="1455420" y="260985"/>
                  </a:lnTo>
                  <a:lnTo>
                    <a:pt x="1473518" y="261938"/>
                  </a:lnTo>
                  <a:lnTo>
                    <a:pt x="1492568" y="261938"/>
                  </a:lnTo>
                  <a:lnTo>
                    <a:pt x="1511618" y="262890"/>
                  </a:lnTo>
                  <a:lnTo>
                    <a:pt x="1511618" y="279083"/>
                  </a:lnTo>
                  <a:close/>
                </a:path>
              </a:pathLst>
            </a:custGeom>
            <a:solidFill>
              <a:srgbClr val="F6C6AC"/>
            </a:solidFill>
            <a:ln>
              <a:noFill/>
            </a:ln>
          </p:spPr>
        </p:sp>
        <p:sp>
          <p:nvSpPr>
            <p:cNvPr id="47" name="Line 47"/>
            <p:cNvSpPr/>
            <p:nvPr/>
          </p:nvSpPr>
          <p:spPr>
            <a:xfrm>
              <a:off x="6819900" y="4648200"/>
              <a:ext cx="4238625" cy="9525"/>
            </a:xfrm>
            <a:custGeom>
              <a:avLst/>
              <a:gdLst/>
              <a:ahLst/>
              <a:cxnLst/>
              <a:rect l="l" t="t" r="r" b="b"/>
              <a:pathLst>
                <a:path w="4238625" h="9525">
                  <a:moveTo>
                    <a:pt x="0" y="0"/>
                  </a:moveTo>
                  <a:lnTo>
                    <a:pt x="423862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11058525" y="461819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6819900" y="2371725"/>
              <a:ext cx="9525" cy="2276475"/>
            </a:xfrm>
            <a:custGeom>
              <a:avLst/>
              <a:gdLst/>
              <a:ahLst/>
              <a:cxnLst/>
              <a:rect l="l" t="t" r="r" b="b"/>
              <a:pathLst>
                <a:path w="9525" h="2276475">
                  <a:moveTo>
                    <a:pt x="0" y="227647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6789896" y="230505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167491" y="45824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90766" y="221075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57899" y="470487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6821805" y="2688908"/>
              <a:ext cx="4189095" cy="1959292"/>
            </a:xfrm>
            <a:custGeom>
              <a:avLst/>
              <a:gdLst/>
              <a:ahLst/>
              <a:cxnLst/>
              <a:rect l="l" t="t" r="r" b="b"/>
              <a:pathLst>
                <a:path w="4189095" h="1959292">
                  <a:moveTo>
                    <a:pt x="0" y="1959292"/>
                  </a:moveTo>
                  <a:lnTo>
                    <a:pt x="16192" y="1958340"/>
                  </a:lnTo>
                  <a:lnTo>
                    <a:pt x="32385" y="1953577"/>
                  </a:lnTo>
                  <a:lnTo>
                    <a:pt x="48577" y="1945958"/>
                  </a:lnTo>
                  <a:lnTo>
                    <a:pt x="64770" y="1933575"/>
                  </a:lnTo>
                  <a:lnTo>
                    <a:pt x="80962" y="1916430"/>
                  </a:lnTo>
                  <a:lnTo>
                    <a:pt x="96202" y="1895475"/>
                  </a:lnTo>
                  <a:lnTo>
                    <a:pt x="112395" y="1870710"/>
                  </a:lnTo>
                  <a:lnTo>
                    <a:pt x="128588" y="1841182"/>
                  </a:lnTo>
                  <a:lnTo>
                    <a:pt x="144780" y="1807845"/>
                  </a:lnTo>
                  <a:lnTo>
                    <a:pt x="160972" y="1770697"/>
                  </a:lnTo>
                  <a:lnTo>
                    <a:pt x="177165" y="1730692"/>
                  </a:lnTo>
                  <a:lnTo>
                    <a:pt x="193357" y="1686877"/>
                  </a:lnTo>
                  <a:lnTo>
                    <a:pt x="209550" y="1641158"/>
                  </a:lnTo>
                  <a:lnTo>
                    <a:pt x="225742" y="1593532"/>
                  </a:lnTo>
                  <a:lnTo>
                    <a:pt x="241935" y="1543050"/>
                  </a:lnTo>
                  <a:lnTo>
                    <a:pt x="258127" y="1490662"/>
                  </a:lnTo>
                  <a:lnTo>
                    <a:pt x="274320" y="1437322"/>
                  </a:lnTo>
                  <a:lnTo>
                    <a:pt x="289560" y="1382077"/>
                  </a:lnTo>
                  <a:lnTo>
                    <a:pt x="305752" y="1326832"/>
                  </a:lnTo>
                  <a:lnTo>
                    <a:pt x="321945" y="1270635"/>
                  </a:lnTo>
                  <a:lnTo>
                    <a:pt x="338138" y="1213485"/>
                  </a:lnTo>
                  <a:lnTo>
                    <a:pt x="354330" y="1157288"/>
                  </a:lnTo>
                  <a:lnTo>
                    <a:pt x="370522" y="1100138"/>
                  </a:lnTo>
                  <a:lnTo>
                    <a:pt x="386715" y="1043940"/>
                  </a:lnTo>
                  <a:lnTo>
                    <a:pt x="402907" y="987742"/>
                  </a:lnTo>
                  <a:lnTo>
                    <a:pt x="419100" y="933450"/>
                  </a:lnTo>
                  <a:lnTo>
                    <a:pt x="435292" y="878205"/>
                  </a:lnTo>
                  <a:lnTo>
                    <a:pt x="451485" y="824865"/>
                  </a:lnTo>
                  <a:lnTo>
                    <a:pt x="467677" y="772477"/>
                  </a:lnTo>
                  <a:lnTo>
                    <a:pt x="482917" y="721995"/>
                  </a:lnTo>
                  <a:lnTo>
                    <a:pt x="499110" y="672465"/>
                  </a:lnTo>
                  <a:lnTo>
                    <a:pt x="515302" y="623888"/>
                  </a:lnTo>
                  <a:lnTo>
                    <a:pt x="531495" y="577215"/>
                  </a:lnTo>
                  <a:lnTo>
                    <a:pt x="547688" y="532447"/>
                  </a:lnTo>
                  <a:lnTo>
                    <a:pt x="563880" y="488633"/>
                  </a:lnTo>
                  <a:lnTo>
                    <a:pt x="580072" y="446722"/>
                  </a:lnTo>
                  <a:lnTo>
                    <a:pt x="596265" y="407670"/>
                  </a:lnTo>
                  <a:lnTo>
                    <a:pt x="612457" y="369570"/>
                  </a:lnTo>
                  <a:lnTo>
                    <a:pt x="628650" y="333375"/>
                  </a:lnTo>
                  <a:lnTo>
                    <a:pt x="644842" y="299085"/>
                  </a:lnTo>
                  <a:lnTo>
                    <a:pt x="661035" y="266700"/>
                  </a:lnTo>
                  <a:lnTo>
                    <a:pt x="676275" y="236220"/>
                  </a:lnTo>
                  <a:lnTo>
                    <a:pt x="692467" y="207645"/>
                  </a:lnTo>
                  <a:lnTo>
                    <a:pt x="708660" y="181927"/>
                  </a:lnTo>
                  <a:lnTo>
                    <a:pt x="724852" y="157162"/>
                  </a:lnTo>
                  <a:lnTo>
                    <a:pt x="741045" y="134302"/>
                  </a:lnTo>
                  <a:lnTo>
                    <a:pt x="757238" y="113347"/>
                  </a:lnTo>
                  <a:lnTo>
                    <a:pt x="773430" y="94297"/>
                  </a:lnTo>
                  <a:lnTo>
                    <a:pt x="789622" y="77152"/>
                  </a:lnTo>
                  <a:lnTo>
                    <a:pt x="805815" y="61912"/>
                  </a:lnTo>
                  <a:lnTo>
                    <a:pt x="822007" y="48577"/>
                  </a:lnTo>
                  <a:lnTo>
                    <a:pt x="838200" y="37147"/>
                  </a:lnTo>
                  <a:lnTo>
                    <a:pt x="854392" y="26670"/>
                  </a:lnTo>
                  <a:lnTo>
                    <a:pt x="869632" y="18097"/>
                  </a:lnTo>
                  <a:lnTo>
                    <a:pt x="885825" y="11430"/>
                  </a:lnTo>
                  <a:lnTo>
                    <a:pt x="902017" y="6667"/>
                  </a:lnTo>
                  <a:lnTo>
                    <a:pt x="918210" y="2858"/>
                  </a:lnTo>
                  <a:lnTo>
                    <a:pt x="934402" y="0"/>
                  </a:lnTo>
                  <a:lnTo>
                    <a:pt x="950595" y="0"/>
                  </a:lnTo>
                  <a:lnTo>
                    <a:pt x="966788" y="0"/>
                  </a:lnTo>
                  <a:lnTo>
                    <a:pt x="982980" y="2858"/>
                  </a:lnTo>
                  <a:lnTo>
                    <a:pt x="999172" y="5715"/>
                  </a:lnTo>
                  <a:lnTo>
                    <a:pt x="1015365" y="10477"/>
                  </a:lnTo>
                  <a:lnTo>
                    <a:pt x="1031557" y="16192"/>
                  </a:lnTo>
                  <a:lnTo>
                    <a:pt x="1046797" y="22860"/>
                  </a:lnTo>
                  <a:lnTo>
                    <a:pt x="1062990" y="31433"/>
                  </a:lnTo>
                  <a:lnTo>
                    <a:pt x="1079182" y="40958"/>
                  </a:lnTo>
                  <a:lnTo>
                    <a:pt x="1095375" y="50483"/>
                  </a:lnTo>
                  <a:lnTo>
                    <a:pt x="1111567" y="61912"/>
                  </a:lnTo>
                  <a:lnTo>
                    <a:pt x="1127760" y="74295"/>
                  </a:lnTo>
                  <a:lnTo>
                    <a:pt x="1143952" y="86677"/>
                  </a:lnTo>
                  <a:lnTo>
                    <a:pt x="1160145" y="100965"/>
                  </a:lnTo>
                  <a:lnTo>
                    <a:pt x="1176338" y="115252"/>
                  </a:lnTo>
                  <a:lnTo>
                    <a:pt x="1192530" y="130492"/>
                  </a:lnTo>
                  <a:lnTo>
                    <a:pt x="1208722" y="146685"/>
                  </a:lnTo>
                  <a:lnTo>
                    <a:pt x="1224915" y="162877"/>
                  </a:lnTo>
                  <a:lnTo>
                    <a:pt x="1240155" y="180022"/>
                  </a:lnTo>
                  <a:lnTo>
                    <a:pt x="1256347" y="198120"/>
                  </a:lnTo>
                  <a:lnTo>
                    <a:pt x="1272540" y="216217"/>
                  </a:lnTo>
                  <a:lnTo>
                    <a:pt x="1288732" y="235267"/>
                  </a:lnTo>
                  <a:lnTo>
                    <a:pt x="1304925" y="254317"/>
                  </a:lnTo>
                  <a:lnTo>
                    <a:pt x="1321117" y="274320"/>
                  </a:lnTo>
                  <a:lnTo>
                    <a:pt x="1337310" y="294322"/>
                  </a:lnTo>
                  <a:lnTo>
                    <a:pt x="1353502" y="315277"/>
                  </a:lnTo>
                  <a:lnTo>
                    <a:pt x="1369695" y="336233"/>
                  </a:lnTo>
                  <a:lnTo>
                    <a:pt x="1385888" y="357188"/>
                  </a:lnTo>
                  <a:lnTo>
                    <a:pt x="1402080" y="378142"/>
                  </a:lnTo>
                  <a:lnTo>
                    <a:pt x="1418272" y="400050"/>
                  </a:lnTo>
                  <a:lnTo>
                    <a:pt x="1433512" y="421958"/>
                  </a:lnTo>
                  <a:lnTo>
                    <a:pt x="1449705" y="443865"/>
                  </a:lnTo>
                  <a:lnTo>
                    <a:pt x="1465897" y="465772"/>
                  </a:lnTo>
                  <a:lnTo>
                    <a:pt x="1482090" y="488633"/>
                  </a:lnTo>
                  <a:lnTo>
                    <a:pt x="1498282" y="510540"/>
                  </a:lnTo>
                  <a:lnTo>
                    <a:pt x="1514475" y="532447"/>
                  </a:lnTo>
                  <a:lnTo>
                    <a:pt x="1530667" y="555308"/>
                  </a:lnTo>
                  <a:lnTo>
                    <a:pt x="1546860" y="578167"/>
                  </a:lnTo>
                  <a:lnTo>
                    <a:pt x="1563052" y="600075"/>
                  </a:lnTo>
                  <a:lnTo>
                    <a:pt x="1579245" y="622935"/>
                  </a:lnTo>
                  <a:lnTo>
                    <a:pt x="1595438" y="644842"/>
                  </a:lnTo>
                  <a:lnTo>
                    <a:pt x="1611630" y="667702"/>
                  </a:lnTo>
                  <a:lnTo>
                    <a:pt x="1626870" y="689610"/>
                  </a:lnTo>
                  <a:lnTo>
                    <a:pt x="1643062" y="712470"/>
                  </a:lnTo>
                  <a:lnTo>
                    <a:pt x="1659255" y="734377"/>
                  </a:lnTo>
                  <a:lnTo>
                    <a:pt x="1675447" y="756285"/>
                  </a:lnTo>
                  <a:lnTo>
                    <a:pt x="1691640" y="778192"/>
                  </a:lnTo>
                  <a:lnTo>
                    <a:pt x="1707832" y="800100"/>
                  </a:lnTo>
                  <a:lnTo>
                    <a:pt x="1724025" y="822008"/>
                  </a:lnTo>
                  <a:lnTo>
                    <a:pt x="1740217" y="842962"/>
                  </a:lnTo>
                  <a:lnTo>
                    <a:pt x="1756410" y="864870"/>
                  </a:lnTo>
                  <a:lnTo>
                    <a:pt x="1772602" y="885825"/>
                  </a:lnTo>
                  <a:lnTo>
                    <a:pt x="1788795" y="906780"/>
                  </a:lnTo>
                  <a:lnTo>
                    <a:pt x="1804988" y="927735"/>
                  </a:lnTo>
                  <a:lnTo>
                    <a:pt x="1820227" y="947738"/>
                  </a:lnTo>
                  <a:lnTo>
                    <a:pt x="1836420" y="967740"/>
                  </a:lnTo>
                  <a:lnTo>
                    <a:pt x="1852612" y="988695"/>
                  </a:lnTo>
                  <a:lnTo>
                    <a:pt x="1868805" y="1007745"/>
                  </a:lnTo>
                  <a:lnTo>
                    <a:pt x="1884997" y="1027747"/>
                  </a:lnTo>
                  <a:lnTo>
                    <a:pt x="1901190" y="1046797"/>
                  </a:lnTo>
                  <a:lnTo>
                    <a:pt x="1917382" y="1065847"/>
                  </a:lnTo>
                  <a:lnTo>
                    <a:pt x="1933575" y="1084897"/>
                  </a:lnTo>
                  <a:lnTo>
                    <a:pt x="1949767" y="1103947"/>
                  </a:lnTo>
                  <a:lnTo>
                    <a:pt x="1965960" y="1122045"/>
                  </a:lnTo>
                  <a:lnTo>
                    <a:pt x="1982152" y="1140142"/>
                  </a:lnTo>
                  <a:lnTo>
                    <a:pt x="1998345" y="1158240"/>
                  </a:lnTo>
                  <a:lnTo>
                    <a:pt x="2013585" y="1175385"/>
                  </a:lnTo>
                  <a:lnTo>
                    <a:pt x="2029777" y="1193482"/>
                  </a:lnTo>
                  <a:lnTo>
                    <a:pt x="2045970" y="1210627"/>
                  </a:lnTo>
                  <a:lnTo>
                    <a:pt x="2062162" y="1226820"/>
                  </a:lnTo>
                  <a:lnTo>
                    <a:pt x="2078355" y="1243965"/>
                  </a:lnTo>
                  <a:lnTo>
                    <a:pt x="2094547" y="1260158"/>
                  </a:lnTo>
                  <a:lnTo>
                    <a:pt x="2110740" y="1276350"/>
                  </a:lnTo>
                  <a:lnTo>
                    <a:pt x="2126932" y="1291590"/>
                  </a:lnTo>
                  <a:lnTo>
                    <a:pt x="2143125" y="1306830"/>
                  </a:lnTo>
                  <a:lnTo>
                    <a:pt x="2159317" y="1322070"/>
                  </a:lnTo>
                  <a:lnTo>
                    <a:pt x="2175510" y="1337310"/>
                  </a:lnTo>
                  <a:lnTo>
                    <a:pt x="2190750" y="1351597"/>
                  </a:lnTo>
                  <a:lnTo>
                    <a:pt x="2206942" y="1365885"/>
                  </a:lnTo>
                  <a:lnTo>
                    <a:pt x="2223135" y="1380172"/>
                  </a:lnTo>
                  <a:lnTo>
                    <a:pt x="2239327" y="1394460"/>
                  </a:lnTo>
                  <a:lnTo>
                    <a:pt x="2255520" y="1407795"/>
                  </a:lnTo>
                  <a:lnTo>
                    <a:pt x="2271712" y="1421130"/>
                  </a:lnTo>
                  <a:lnTo>
                    <a:pt x="2287905" y="1434465"/>
                  </a:lnTo>
                  <a:lnTo>
                    <a:pt x="2304098" y="1446847"/>
                  </a:lnTo>
                  <a:lnTo>
                    <a:pt x="2320290" y="1460182"/>
                  </a:lnTo>
                  <a:lnTo>
                    <a:pt x="2336482" y="1471612"/>
                  </a:lnTo>
                  <a:lnTo>
                    <a:pt x="2352675" y="1483995"/>
                  </a:lnTo>
                  <a:lnTo>
                    <a:pt x="2368867" y="1496377"/>
                  </a:lnTo>
                  <a:lnTo>
                    <a:pt x="2384107" y="1507808"/>
                  </a:lnTo>
                  <a:lnTo>
                    <a:pt x="2400300" y="1519238"/>
                  </a:lnTo>
                  <a:lnTo>
                    <a:pt x="2416492" y="1529715"/>
                  </a:lnTo>
                  <a:lnTo>
                    <a:pt x="2432685" y="1541145"/>
                  </a:lnTo>
                  <a:lnTo>
                    <a:pt x="2448877" y="1551622"/>
                  </a:lnTo>
                  <a:lnTo>
                    <a:pt x="2465070" y="1562100"/>
                  </a:lnTo>
                  <a:lnTo>
                    <a:pt x="2481262" y="1572577"/>
                  </a:lnTo>
                  <a:lnTo>
                    <a:pt x="2497455" y="1582102"/>
                  </a:lnTo>
                  <a:lnTo>
                    <a:pt x="2513648" y="1591627"/>
                  </a:lnTo>
                  <a:lnTo>
                    <a:pt x="2529840" y="1601152"/>
                  </a:lnTo>
                  <a:lnTo>
                    <a:pt x="2546032" y="1610677"/>
                  </a:lnTo>
                  <a:lnTo>
                    <a:pt x="2562225" y="1620202"/>
                  </a:lnTo>
                  <a:lnTo>
                    <a:pt x="2577465" y="1628775"/>
                  </a:lnTo>
                  <a:lnTo>
                    <a:pt x="2593657" y="1637347"/>
                  </a:lnTo>
                  <a:lnTo>
                    <a:pt x="2609850" y="1645920"/>
                  </a:lnTo>
                  <a:lnTo>
                    <a:pt x="2626042" y="1654492"/>
                  </a:lnTo>
                  <a:lnTo>
                    <a:pt x="2642235" y="1662112"/>
                  </a:lnTo>
                  <a:lnTo>
                    <a:pt x="2658427" y="1670685"/>
                  </a:lnTo>
                  <a:lnTo>
                    <a:pt x="2674620" y="1678305"/>
                  </a:lnTo>
                  <a:lnTo>
                    <a:pt x="2690812" y="1685925"/>
                  </a:lnTo>
                  <a:lnTo>
                    <a:pt x="2707005" y="1693545"/>
                  </a:lnTo>
                  <a:lnTo>
                    <a:pt x="2723198" y="1700212"/>
                  </a:lnTo>
                  <a:lnTo>
                    <a:pt x="2739390" y="1707832"/>
                  </a:lnTo>
                  <a:lnTo>
                    <a:pt x="2755582" y="1714500"/>
                  </a:lnTo>
                  <a:lnTo>
                    <a:pt x="2770822" y="1721168"/>
                  </a:lnTo>
                  <a:lnTo>
                    <a:pt x="2787015" y="1727835"/>
                  </a:lnTo>
                  <a:lnTo>
                    <a:pt x="2803207" y="1733550"/>
                  </a:lnTo>
                  <a:lnTo>
                    <a:pt x="2819400" y="1740218"/>
                  </a:lnTo>
                  <a:lnTo>
                    <a:pt x="2835592" y="1745932"/>
                  </a:lnTo>
                  <a:lnTo>
                    <a:pt x="2851785" y="1751647"/>
                  </a:lnTo>
                  <a:lnTo>
                    <a:pt x="2867977" y="1758315"/>
                  </a:lnTo>
                  <a:lnTo>
                    <a:pt x="2884170" y="1763077"/>
                  </a:lnTo>
                  <a:lnTo>
                    <a:pt x="2900362" y="1768792"/>
                  </a:lnTo>
                  <a:lnTo>
                    <a:pt x="2916555" y="1774508"/>
                  </a:lnTo>
                  <a:lnTo>
                    <a:pt x="2932747" y="1779270"/>
                  </a:lnTo>
                  <a:lnTo>
                    <a:pt x="2948940" y="1784985"/>
                  </a:lnTo>
                  <a:lnTo>
                    <a:pt x="2964180" y="1789747"/>
                  </a:lnTo>
                  <a:lnTo>
                    <a:pt x="2980372" y="1794510"/>
                  </a:lnTo>
                  <a:lnTo>
                    <a:pt x="2996565" y="1799272"/>
                  </a:lnTo>
                  <a:lnTo>
                    <a:pt x="3012757" y="1804035"/>
                  </a:lnTo>
                  <a:lnTo>
                    <a:pt x="3028950" y="1807845"/>
                  </a:lnTo>
                  <a:lnTo>
                    <a:pt x="3045143" y="1812608"/>
                  </a:lnTo>
                  <a:lnTo>
                    <a:pt x="3061335" y="1816418"/>
                  </a:lnTo>
                  <a:lnTo>
                    <a:pt x="3077527" y="1820227"/>
                  </a:lnTo>
                  <a:lnTo>
                    <a:pt x="3093720" y="1824990"/>
                  </a:lnTo>
                  <a:lnTo>
                    <a:pt x="3109912" y="1828800"/>
                  </a:lnTo>
                  <a:lnTo>
                    <a:pt x="3126105" y="1832610"/>
                  </a:lnTo>
                  <a:lnTo>
                    <a:pt x="3141345" y="1836420"/>
                  </a:lnTo>
                  <a:lnTo>
                    <a:pt x="3157538" y="1839277"/>
                  </a:lnTo>
                  <a:lnTo>
                    <a:pt x="3173730" y="1843088"/>
                  </a:lnTo>
                  <a:lnTo>
                    <a:pt x="3189922" y="1846897"/>
                  </a:lnTo>
                  <a:lnTo>
                    <a:pt x="3206115" y="1849755"/>
                  </a:lnTo>
                  <a:lnTo>
                    <a:pt x="3222307" y="1852612"/>
                  </a:lnTo>
                  <a:lnTo>
                    <a:pt x="3238500" y="1856422"/>
                  </a:lnTo>
                  <a:lnTo>
                    <a:pt x="3254693" y="1859280"/>
                  </a:lnTo>
                  <a:lnTo>
                    <a:pt x="3270885" y="1862138"/>
                  </a:lnTo>
                  <a:lnTo>
                    <a:pt x="3287077" y="1864995"/>
                  </a:lnTo>
                  <a:lnTo>
                    <a:pt x="3303270" y="1867852"/>
                  </a:lnTo>
                  <a:lnTo>
                    <a:pt x="3319462" y="1870710"/>
                  </a:lnTo>
                  <a:lnTo>
                    <a:pt x="3334702" y="1873568"/>
                  </a:lnTo>
                  <a:lnTo>
                    <a:pt x="3350895" y="1875472"/>
                  </a:lnTo>
                  <a:lnTo>
                    <a:pt x="3367088" y="1878330"/>
                  </a:lnTo>
                  <a:lnTo>
                    <a:pt x="3383280" y="1880235"/>
                  </a:lnTo>
                  <a:lnTo>
                    <a:pt x="3399472" y="1883092"/>
                  </a:lnTo>
                  <a:lnTo>
                    <a:pt x="3415665" y="1884997"/>
                  </a:lnTo>
                  <a:lnTo>
                    <a:pt x="3431857" y="1887855"/>
                  </a:lnTo>
                  <a:lnTo>
                    <a:pt x="3448050" y="1889760"/>
                  </a:lnTo>
                  <a:lnTo>
                    <a:pt x="3464243" y="1891665"/>
                  </a:lnTo>
                  <a:lnTo>
                    <a:pt x="3480435" y="1893570"/>
                  </a:lnTo>
                  <a:lnTo>
                    <a:pt x="3496627" y="1895475"/>
                  </a:lnTo>
                  <a:lnTo>
                    <a:pt x="3512820" y="1897380"/>
                  </a:lnTo>
                  <a:lnTo>
                    <a:pt x="3528060" y="1899285"/>
                  </a:lnTo>
                  <a:lnTo>
                    <a:pt x="3544252" y="1901190"/>
                  </a:lnTo>
                  <a:lnTo>
                    <a:pt x="3560445" y="1903095"/>
                  </a:lnTo>
                  <a:lnTo>
                    <a:pt x="3576638" y="1905000"/>
                  </a:lnTo>
                  <a:lnTo>
                    <a:pt x="3592830" y="1906905"/>
                  </a:lnTo>
                  <a:lnTo>
                    <a:pt x="3609022" y="1907858"/>
                  </a:lnTo>
                  <a:lnTo>
                    <a:pt x="3625215" y="1909762"/>
                  </a:lnTo>
                  <a:lnTo>
                    <a:pt x="3641407" y="1911668"/>
                  </a:lnTo>
                  <a:lnTo>
                    <a:pt x="3657600" y="1912620"/>
                  </a:lnTo>
                  <a:lnTo>
                    <a:pt x="3673793" y="1914525"/>
                  </a:lnTo>
                  <a:lnTo>
                    <a:pt x="3689985" y="1915477"/>
                  </a:lnTo>
                  <a:lnTo>
                    <a:pt x="3706177" y="1917382"/>
                  </a:lnTo>
                  <a:lnTo>
                    <a:pt x="3721418" y="1918335"/>
                  </a:lnTo>
                  <a:lnTo>
                    <a:pt x="3737610" y="1919288"/>
                  </a:lnTo>
                  <a:lnTo>
                    <a:pt x="3753802" y="1921192"/>
                  </a:lnTo>
                  <a:lnTo>
                    <a:pt x="3769995" y="1922145"/>
                  </a:lnTo>
                  <a:lnTo>
                    <a:pt x="3786188" y="1923097"/>
                  </a:lnTo>
                  <a:lnTo>
                    <a:pt x="3802380" y="1924050"/>
                  </a:lnTo>
                  <a:lnTo>
                    <a:pt x="3818572" y="1925002"/>
                  </a:lnTo>
                  <a:lnTo>
                    <a:pt x="3834765" y="1925955"/>
                  </a:lnTo>
                  <a:lnTo>
                    <a:pt x="3850957" y="1927860"/>
                  </a:lnTo>
                  <a:lnTo>
                    <a:pt x="3867150" y="1928812"/>
                  </a:lnTo>
                  <a:lnTo>
                    <a:pt x="3883343" y="1929765"/>
                  </a:lnTo>
                  <a:lnTo>
                    <a:pt x="3899535" y="1930718"/>
                  </a:lnTo>
                  <a:lnTo>
                    <a:pt x="3914775" y="1931670"/>
                  </a:lnTo>
                  <a:lnTo>
                    <a:pt x="3930968" y="1931670"/>
                  </a:lnTo>
                  <a:lnTo>
                    <a:pt x="3947160" y="1932622"/>
                  </a:lnTo>
                  <a:lnTo>
                    <a:pt x="3963352" y="1933575"/>
                  </a:lnTo>
                  <a:lnTo>
                    <a:pt x="3979545" y="1934527"/>
                  </a:lnTo>
                  <a:lnTo>
                    <a:pt x="3995738" y="1935480"/>
                  </a:lnTo>
                  <a:lnTo>
                    <a:pt x="4011930" y="1936432"/>
                  </a:lnTo>
                  <a:lnTo>
                    <a:pt x="4028122" y="1936432"/>
                  </a:lnTo>
                  <a:lnTo>
                    <a:pt x="4044315" y="1937385"/>
                  </a:lnTo>
                  <a:lnTo>
                    <a:pt x="4060507" y="1938338"/>
                  </a:lnTo>
                  <a:lnTo>
                    <a:pt x="4076700" y="1939290"/>
                  </a:lnTo>
                  <a:lnTo>
                    <a:pt x="4092893" y="1939290"/>
                  </a:lnTo>
                  <a:lnTo>
                    <a:pt x="4108132" y="1940242"/>
                  </a:lnTo>
                  <a:lnTo>
                    <a:pt x="4124325" y="1941195"/>
                  </a:lnTo>
                  <a:lnTo>
                    <a:pt x="4140518" y="1941195"/>
                  </a:lnTo>
                  <a:lnTo>
                    <a:pt x="4156710" y="1942147"/>
                  </a:lnTo>
                  <a:lnTo>
                    <a:pt x="4172902" y="1942147"/>
                  </a:lnTo>
                  <a:lnTo>
                    <a:pt x="4189095" y="194310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9499282" y="3685222"/>
              <a:ext cx="9525" cy="962978"/>
            </a:xfrm>
            <a:custGeom>
              <a:avLst/>
              <a:gdLst/>
              <a:ahLst/>
              <a:cxnLst/>
              <a:rect l="l" t="t" r="r" b="b"/>
              <a:pathLst>
                <a:path w="9525" h="962978">
                  <a:moveTo>
                    <a:pt x="0" y="96297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C2410C"/>
              </a:solidFill>
              <a:custDash>
                <a:ds d="312500" sp="250000"/>
              </a:custDash>
            </a:ln>
          </p:spPr>
        </p:sp>
        <p:sp>
          <p:nvSpPr>
            <p:cNvPr id="56" name="Ellipse 56"/>
            <p:cNvSpPr/>
            <p:nvPr/>
          </p:nvSpPr>
          <p:spPr>
            <a:xfrm>
              <a:off x="9459278" y="4608195"/>
              <a:ext cx="80010" cy="8001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57" name="Line 57"/>
            <p:cNvSpPr/>
            <p:nvPr/>
          </p:nvSpPr>
          <p:spPr>
            <a:xfrm>
              <a:off x="7772400" y="46482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731167" y="472392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8724900" y="46482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647387" y="472392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10629900" y="46482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552387" y="472392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9499282" y="46482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277059" y="4723924"/>
              <a:ext cx="4452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14.067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655585" y="3414951"/>
              <a:ext cx="88183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面积 α = 0.05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9809702" y="3652704"/>
              <a:ext cx="248698" cy="748579"/>
            </a:xfrm>
            <a:custGeom>
              <a:avLst/>
              <a:gdLst/>
              <a:ahLst/>
              <a:cxnLst/>
              <a:rect l="l" t="t" r="r" b="b"/>
              <a:pathLst>
                <a:path w="248698" h="748579">
                  <a:moveTo>
                    <a:pt x="248698" y="0"/>
                  </a:moveTo>
                  <a:lnTo>
                    <a:pt x="0" y="748579"/>
                  </a:lnTo>
                </a:path>
              </a:pathLst>
            </a:custGeom>
            <a:noFill/>
            <a:ln w="12382">
              <a:solidFill>
                <a:srgbClr val="C2410C"/>
              </a:solidFill>
            </a:ln>
          </p:spPr>
        </p:sp>
        <p:sp>
          <p:nvSpPr>
            <p:cNvPr id="67" name="Polygon 67"/>
            <p:cNvSpPr/>
            <p:nvPr/>
          </p:nvSpPr>
          <p:spPr>
            <a:xfrm>
              <a:off x="9785318" y="4393178"/>
              <a:ext cx="48768" cy="62341"/>
            </a:xfrm>
            <a:custGeom>
              <a:avLst/>
              <a:gdLst/>
              <a:ahLst/>
              <a:cxnLst/>
              <a:rect l="l" t="t" r="r" b="b"/>
              <a:pathLst>
                <a:path w="48768" h="62341">
                  <a:moveTo>
                    <a:pt x="6382" y="62341"/>
                  </a:moveTo>
                  <a:lnTo>
                    <a:pt x="0" y="0"/>
                  </a:lnTo>
                  <a:lnTo>
                    <a:pt x="48768" y="16221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881366" y="2479634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χ²(7)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400800" y="5067300"/>
              <a:ext cx="5067300" cy="1028700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410325" y="5172075"/>
              <a:ext cx="47625" cy="8191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572250" y="5172075"/>
              <a:ext cx="7620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665214" y="52254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查表口诀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566726" y="5483304"/>
              <a:ext cx="3665601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附表按“右尾面积 α、自由度 n”排列，查出的就是 χ²α(n)。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左尾面积为 α 的点要查 χ²₁₋α(n)，它不等于 −χ²α(n)。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34028" cy="909257"/>
            <a:chOff x="520446" y="342900"/>
            <a:chExt cx="68340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三大抽样分布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340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 分布的三条性质：期望 n、方差 2n、可加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030605"/>
            <a:chOff x="533400" y="1524000"/>
            <a:chExt cx="5410200" cy="10306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030605"/>
            </a:xfrm>
            <a:prstGeom prst="roundRect">
              <a:avLst>
                <a:gd name="adj" fmla="val 129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7639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7626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8679" y="1769269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101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χ² ~ χ²(n)，则 E(χ²) = n，D(χ²) = 2n。</a:t>
              </a:r>
            </a:p>
          </p:txBody>
        </p:sp>
      </p:grpSp>
      <p:grpSp>
        <p:nvGrpSpPr>
          <p:cNvPr id="26" name="c1-steps-2"/>
          <p:cNvGrpSpPr/>
          <p:nvPr/>
        </p:nvGrpSpPr>
        <p:grpSpPr>
          <a:xfrm>
            <a:off x="533400" y="2754630"/>
            <a:ext cx="3635487" cy="1878615"/>
            <a:chOff x="533400" y="2754630"/>
            <a:chExt cx="3635487" cy="1878615"/>
          </a:xfrm>
        </p:grpSpPr>
        <p:sp>
          <p:nvSpPr>
            <p:cNvPr id="13" name="Rectangle 13"/>
            <p:cNvSpPr/>
            <p:nvPr/>
          </p:nvSpPr>
          <p:spPr>
            <a:xfrm>
              <a:off x="666750" y="289750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27546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28284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40518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4790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0557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129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78892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每一项的期望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082766"/>
              <a:ext cx="28707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Xᵢ ~ N(0, 1)，E(Xᵢ²) = D(Xᵢ) = 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43947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每一项的方差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733324"/>
              <a:ext cx="31243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E(Xᵢ⁴) = 3，所以 D(Xᵢ²) = 3 − 1² =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409003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383881"/>
              <a:ext cx="32228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独立使方差可加，E(χ²) = n，D(χ²) = 2n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243"/>
              <p:cNvSpPr txBox="1">
                <a:spLocks noGrp="1"/>
              </p:cNvSpPr>
              <p:nvPr/>
            </p:nvSpPr>
            <p:spPr>
              <a:xfrm>
                <a:off x="533400" y="4812030"/>
                <a:ext cx="5410200" cy="4800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sup>
                          </m:sSubSup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−∞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+∞</m:t>
                          </m:r>
                        </m:sup>
                        <m:e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sup>
                          </m:sSup>
                          <m:f>
                            <m:fPr>
                              <m:type m:val="bar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2π</m:t>
                                  </m:r>
                                </m:e>
                              </m:rad>
                            </m:den>
                          </m:f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4" name="c2-card-1"/>
          <p:cNvGrpSpPr/>
          <p:nvPr/>
        </p:nvGrpSpPr>
        <p:grpSpPr>
          <a:xfrm>
            <a:off x="6248400" y="1524000"/>
            <a:ext cx="5410200" cy="1525905"/>
            <a:chOff x="6248400" y="1524000"/>
            <a:chExt cx="5410200" cy="1525905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1525905"/>
            </a:xfrm>
            <a:prstGeom prst="roundRect">
              <a:avLst>
                <a:gd name="adj" fmla="val 87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1657350"/>
              <a:ext cx="47625" cy="12592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96050" y="1733550"/>
              <a:ext cx="128778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62978" y="1769269"/>
              <a:ext cx="1153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性质2（可加性）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88430" y="2110740"/>
              <a:ext cx="4846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~ χ²(n₁)，Y ~ χ²(n₂)，且 X 与 Y 相互独立，则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formula244"/>
                <p:cNvSpPr txBox="1">
                  <a:spLocks noGrp="1"/>
                </p:cNvSpPr>
                <p:nvPr/>
              </p:nvSpPr>
              <p:spPr>
                <a:xfrm>
                  <a:off x="6496050" y="2421255"/>
                  <a:ext cx="49530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2" name="c2-card-2"/>
          <p:cNvGrpSpPr/>
          <p:nvPr/>
        </p:nvGrpSpPr>
        <p:grpSpPr>
          <a:xfrm>
            <a:off x="6248400" y="3240405"/>
            <a:ext cx="5410200" cy="2051685"/>
            <a:chOff x="6248400" y="3240405"/>
            <a:chExt cx="5410200" cy="2051685"/>
          </a:xfrm>
        </p:grpSpPr>
        <p:sp>
          <p:nvSpPr>
            <p:cNvPr id="35" name="Rectangle 35"/>
            <p:cNvSpPr/>
            <p:nvPr/>
          </p:nvSpPr>
          <p:spPr>
            <a:xfrm>
              <a:off x="6248400" y="3240405"/>
              <a:ext cx="5410200" cy="2051685"/>
            </a:xfrm>
            <a:prstGeom prst="roundRect">
              <a:avLst>
                <a:gd name="adj" fmla="val 6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3373755"/>
              <a:ext cx="47625" cy="178498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96050" y="3449955"/>
              <a:ext cx="1571625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54127" y="3485674"/>
              <a:ext cx="14554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性质3（大样本近似）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88430" y="3827145"/>
              <a:ext cx="31350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χ² ~ χ²(n)，则对任意实数 x 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formula245"/>
                <p:cNvSpPr txBox="1">
                  <a:spLocks noGrp="1"/>
                </p:cNvSpPr>
                <p:nvPr/>
              </p:nvSpPr>
              <p:spPr>
                <a:xfrm>
                  <a:off x="6496050" y="4137660"/>
                  <a:ext cx="4953000" cy="5610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func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χ</m:t>
                                    </m:r>
                                  </m:e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2n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=Φ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1" name="TextBox 41"/>
            <p:cNvSpPr txBox="1"/>
            <p:nvPr/>
          </p:nvSpPr>
          <p:spPr>
            <a:xfrm>
              <a:off x="6488430" y="4818698"/>
              <a:ext cx="40001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 n 充分大时，χ²(n) 近似服从 N(n, 2n)。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3" name="Rectangle 4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991225"/>
              <a:ext cx="83907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性质3 是中心极限定理的直接结果：χ² 是 n 个独立同分布的 Xᵢ² 之和，每项期望 1、方差 2。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85835" cy="909257"/>
            <a:chOff x="520446" y="342900"/>
            <a:chExt cx="96858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三大抽样分布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858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正态总体的两个 χ² 定理：μ 已知用 n，μ 换成样本均值用 n − 1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983105"/>
            <a:chOff x="533400" y="1524000"/>
            <a:chExt cx="5410200" cy="1983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83105"/>
            </a:xfrm>
            <a:prstGeom prst="roundRect">
              <a:avLst>
                <a:gd name="adj" fmla="val 67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164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7626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964" y="1763554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58659" y="1767364"/>
              <a:ext cx="29939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N(μ, σ²)，X₁, …, Xₙ 为样本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52"/>
                <p:cNvSpPr txBox="1">
                  <a:spLocks noGrp="1"/>
                </p:cNvSpPr>
                <p:nvPr/>
              </p:nvSpPr>
              <p:spPr>
                <a:xfrm>
                  <a:off x="775335" y="2095500"/>
                  <a:ext cx="4964430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68096" y="2809399"/>
              <a:ext cx="468528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证明：(Xᵢ − μ)/σ ~ N(0, 1) 且相互独立，平方和正好是 n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个独立标准正态的平方和。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691890"/>
            <a:ext cx="5410200" cy="1940242"/>
            <a:chOff x="533400" y="3691890"/>
            <a:chExt cx="5410200" cy="1940242"/>
          </a:xfrm>
        </p:grpSpPr>
        <p:sp>
          <p:nvSpPr>
            <p:cNvPr id="15" name="Rectangle 15"/>
            <p:cNvSpPr/>
            <p:nvPr/>
          </p:nvSpPr>
          <p:spPr>
            <a:xfrm>
              <a:off x="533400" y="3691890"/>
              <a:ext cx="5410200" cy="1940242"/>
            </a:xfrm>
            <a:prstGeom prst="roundRect">
              <a:avLst>
                <a:gd name="adj" fmla="val 68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825240"/>
              <a:ext cx="47625" cy="167354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75335" y="3895725"/>
              <a:ext cx="57626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2964" y="3931444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58659" y="393620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样本均值与样本方差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253"/>
                <p:cNvSpPr txBox="1">
                  <a:spLocks noGrp="1"/>
                </p:cNvSpPr>
                <p:nvPr/>
              </p:nvSpPr>
              <p:spPr>
                <a:xfrm>
                  <a:off x="775335" y="4264342"/>
                  <a:ext cx="4964430" cy="5667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bar>
                                  </m:e>
                                </m:d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s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68096" y="4946809"/>
              <a:ext cx="26517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并且样本均值与 S²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相互独立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6248400" y="1524000"/>
            <a:ext cx="5410200" cy="2364105"/>
            <a:chOff x="6248400" y="1524000"/>
            <a:chExt cx="5410200" cy="2364105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3036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60119" y="1655445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定理1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16567" y="1655445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定理2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53747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52004" y="2085022"/>
              <a:ext cx="795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总体均值 μ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08452" y="2085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48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48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53747" y="25155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52004" y="2515552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已知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08452" y="2515552"/>
              <a:ext cx="957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未知也能用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53747" y="294608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自由度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5200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612630" y="2824162"/>
              <a:ext cx="2036445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708452" y="2946082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− 1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32394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3244215"/>
              <a:ext cx="5410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53747" y="348234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自由度来源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52004" y="348234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个独立平方项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08452" y="3375660"/>
              <a:ext cx="16428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个离差之和恒为 0，只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n − 1 个能自由取值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1524000"/>
              <a:ext cx="5410200" cy="23641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541895" y="152400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598342" y="152400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rd-2"/>
          <p:cNvGrpSpPr/>
          <p:nvPr/>
        </p:nvGrpSpPr>
        <p:grpSpPr>
          <a:xfrm>
            <a:off x="6248400" y="4073842"/>
            <a:ext cx="5410200" cy="1558290"/>
            <a:chOff x="6248400" y="4073842"/>
            <a:chExt cx="5410200" cy="1558290"/>
          </a:xfrm>
        </p:grpSpPr>
        <p:sp>
          <p:nvSpPr>
            <p:cNvPr id="49" name="Rectangle 49"/>
            <p:cNvSpPr/>
            <p:nvPr/>
          </p:nvSpPr>
          <p:spPr>
            <a:xfrm>
              <a:off x="6248400" y="4073842"/>
              <a:ext cx="5410200" cy="1558290"/>
            </a:xfrm>
            <a:prstGeom prst="roundRect">
              <a:avLst>
                <a:gd name="adj" fmla="val 85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4207192"/>
              <a:ext cx="47625" cy="12915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90335" y="427767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80543" y="43133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推论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83096" y="4650581"/>
              <a:ext cx="26747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D(χ²(n − 1)) = 2(n − 1) 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formula254"/>
                <p:cNvSpPr txBox="1">
                  <a:spLocks noGrp="1"/>
                </p:cNvSpPr>
                <p:nvPr/>
              </p:nvSpPr>
              <p:spPr>
                <a:xfrm>
                  <a:off x="6490335" y="4947285"/>
                  <a:ext cx="496443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6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6" name="Rectangle 5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511" y="6004084"/>
              <a:ext cx="66374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定理2 只对正态总体成立。样本均值与 S² 相互独立也是正态总体特有的性质。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64454" cy="909257"/>
            <a:chOff x="520446" y="342900"/>
            <a:chExt cx="48644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三大抽样分布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644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例10、例11：用 χ² 分布求概率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09675"/>
            <a:chOff x="533400" y="1524000"/>
            <a:chExt cx="5410200" cy="1209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9720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868" y="1750695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4799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X₁, …, X₁₀ 为总体 N(0, 0.09) 的样本，求 P{X₁² + … +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X₁₀² &gt; 1.44}。</a:t>
              </a:r>
            </a:p>
          </p:txBody>
        </p:sp>
      </p:grpSp>
      <p:grpSp>
        <p:nvGrpSpPr>
          <p:cNvPr id="26" name="c1-steps-2"/>
          <p:cNvGrpSpPr/>
          <p:nvPr/>
        </p:nvGrpSpPr>
        <p:grpSpPr>
          <a:xfrm>
            <a:off x="533400" y="2918460"/>
            <a:ext cx="2363119" cy="1693069"/>
            <a:chOff x="533400" y="2918460"/>
            <a:chExt cx="2363119" cy="1693069"/>
          </a:xfrm>
        </p:grpSpPr>
        <p:sp>
          <p:nvSpPr>
            <p:cNvPr id="13" name="Rectangle 13"/>
            <p:cNvSpPr/>
            <p:nvPr/>
          </p:nvSpPr>
          <p:spPr>
            <a:xfrm>
              <a:off x="666750" y="3061335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291846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29922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50520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5790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0919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1657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9498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217069"/>
              <a:ext cx="19497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= 0.3，Xᵢ/0.3 ~ N(0, 1)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536632"/>
              <a:ext cx="4626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凑 χ²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804761"/>
              <a:ext cx="1740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(1/0.3²)ΣXᵢ² ~ χ²(10)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412337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换端点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4391501"/>
              <a:ext cx="10970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1.44/0.09 = 16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263"/>
              <p:cNvSpPr txBox="1">
                <a:spLocks noGrp="1"/>
              </p:cNvSpPr>
              <p:nvPr/>
            </p:nvSpPr>
            <p:spPr>
              <a:xfrm>
                <a:off x="533400" y="4780598"/>
                <a:ext cx="54102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10</m:t>
                              </m:r>
                            </m:sup>
                            <m:e>
                              <m:sSubSup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  <m:sup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&gt;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1.44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10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&gt;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16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0.10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9" name="c1-text-4"/>
          <p:cNvGrpSpPr/>
          <p:nvPr/>
        </p:nvGrpSpPr>
        <p:grpSpPr>
          <a:xfrm>
            <a:off x="527685" y="5506879"/>
            <a:ext cx="3411393" cy="220028"/>
            <a:chOff x="527685" y="5506879"/>
            <a:chExt cx="3411393" cy="220028"/>
          </a:xfrm>
        </p:grpSpPr>
        <p:sp>
          <p:nvSpPr>
            <p:cNvPr id="28" name="TextBox 28"/>
            <p:cNvSpPr txBox="1"/>
            <p:nvPr/>
          </p:nvSpPr>
          <p:spPr>
            <a:xfrm>
              <a:off x="527685" y="5506879"/>
              <a:ext cx="3411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查表 χ²₀.₁(10) = 15.987 ≈ 16；精确值 0.0996。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248400" y="1524000"/>
            <a:ext cx="5410200" cy="1209675"/>
            <a:chOff x="6248400" y="1524000"/>
            <a:chExt cx="5410200" cy="1209675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8905" y="1716405"/>
              <a:ext cx="49720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69868" y="1750695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72047" y="2072640"/>
              <a:ext cx="46685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~ N(μ, 9)，μ 未知。抽取容量为 16 的样本，求样本方差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小于 16.5 的概率。</a:t>
              </a:r>
            </a:p>
          </p:txBody>
        </p:sp>
      </p:grpSp>
      <p:grpSp>
        <p:nvGrpSpPr>
          <p:cNvPr id="49" name="c2-steps-2"/>
          <p:cNvGrpSpPr/>
          <p:nvPr/>
        </p:nvGrpSpPr>
        <p:grpSpPr>
          <a:xfrm>
            <a:off x="6248400" y="2918460"/>
            <a:ext cx="4057198" cy="1693069"/>
            <a:chOff x="6248400" y="2918460"/>
            <a:chExt cx="4057198" cy="1693069"/>
          </a:xfrm>
        </p:grpSpPr>
        <p:sp>
          <p:nvSpPr>
            <p:cNvPr id="36" name="Rectangle 36"/>
            <p:cNvSpPr/>
            <p:nvPr/>
          </p:nvSpPr>
          <p:spPr>
            <a:xfrm>
              <a:off x="6381750" y="3061335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6248400" y="291846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42024" y="29922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248400" y="350520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42024" y="35790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248400" y="40919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2024" y="41657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0642" y="2949892"/>
              <a:ext cx="663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用定理2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61785" y="3217069"/>
              <a:ext cx="18342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15S²/9 = 5S²/3 ~ χ²(15)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60642" y="353663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换端点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61785" y="3804761"/>
              <a:ext cx="1436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(5/3) × 16.5 = 27.5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0642" y="412337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1785" y="4391501"/>
              <a:ext cx="3643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χ²₀.₀₂₅(15) = 27.488，所以 P{χ² ≥ 27.5} ≈ 0.025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formula264"/>
              <p:cNvSpPr txBox="1">
                <a:spLocks noGrp="1"/>
              </p:cNvSpPr>
              <p:nvPr/>
            </p:nvSpPr>
            <p:spPr>
              <a:xfrm>
                <a:off x="6248400" y="4780598"/>
                <a:ext cx="5410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p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16.5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15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27.5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0.025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0.975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52" name="c2-text-4"/>
          <p:cNvGrpSpPr/>
          <p:nvPr/>
        </p:nvGrpSpPr>
        <p:grpSpPr>
          <a:xfrm>
            <a:off x="6242685" y="5278279"/>
            <a:ext cx="2363511" cy="220028"/>
            <a:chOff x="6242685" y="5278279"/>
            <a:chExt cx="2363511" cy="220028"/>
          </a:xfrm>
        </p:grpSpPr>
        <p:sp>
          <p:nvSpPr>
            <p:cNvPr id="51" name="TextBox 51"/>
            <p:cNvSpPr txBox="1"/>
            <p:nvPr/>
          </p:nvSpPr>
          <p:spPr>
            <a:xfrm>
              <a:off x="6242685" y="5278279"/>
              <a:ext cx="2363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精确值 0.9751（mpmath 复核）。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3" name="Rectangle 5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892" y="6023610"/>
              <a:ext cx="7255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两题套路一样：把题目中的量化成 χ² 统计量，端点同乘同一个系数，再查上 α 分位点表。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37578" cy="909257"/>
            <a:chOff x="520446" y="342900"/>
            <a:chExt cx="62375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三大抽样分布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375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例12、例13：凑系数，让它服从 χ² 分布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250632"/>
            <a:chOff x="533400" y="1524000"/>
            <a:chExt cx="5626418" cy="12506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9720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0583" y="1756410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94677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设总体 X ~ N(0, σ²)，样本 X₁, …, X₆，Y = (X₁ + X₂ + X₃)²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(X₄ + X₅ + X₆)²。求 C，使 CY 服从 χ² 分布，并求自由度。</a:t>
              </a:r>
            </a:p>
          </p:txBody>
        </p:sp>
      </p:grpSp>
      <p:grpSp>
        <p:nvGrpSpPr>
          <p:cNvPr id="26" name="c1-steps-2"/>
          <p:cNvGrpSpPr/>
          <p:nvPr/>
        </p:nvGrpSpPr>
        <p:grpSpPr>
          <a:xfrm>
            <a:off x="533400" y="2965132"/>
            <a:ext cx="5261336" cy="2002536"/>
            <a:chOff x="533400" y="2965132"/>
            <a:chExt cx="5261336" cy="2002536"/>
          </a:xfrm>
        </p:grpSpPr>
        <p:sp>
          <p:nvSpPr>
            <p:cNvPr id="13" name="Rectangle 13"/>
            <p:cNvSpPr/>
            <p:nvPr/>
          </p:nvSpPr>
          <p:spPr>
            <a:xfrm>
              <a:off x="666750" y="3108008"/>
              <a:ext cx="19050" cy="14544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296513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038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58140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6552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41960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4934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99799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求和的分布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278505"/>
              <a:ext cx="4848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 + X₂ + X₃ ~ N(0, 3σ²)，X₄ + X₅ + X₆ ~ N(0, 3σ²)，两者独立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61426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894772"/>
              <a:ext cx="45079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Y₁ = (X₁ + X₂ + X₃)/(√3σ)，Y₂ = (X₄ + X₅ + X₆)/(√3σ)，都服从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N(0, 1)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445246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平方相加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4732972"/>
              <a:ext cx="2242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Y₁² + Y₂² = Y/(3σ²) ~ χ²(2)</a:t>
              </a:r>
            </a:p>
          </p:txBody>
        </p:sp>
      </p:grpSp>
      <p:grpSp>
        <p:nvGrpSpPr>
          <p:cNvPr id="32" name="c1-callout-3"/>
          <p:cNvGrpSpPr/>
          <p:nvPr/>
        </p:nvGrpSpPr>
        <p:grpSpPr>
          <a:xfrm>
            <a:off x="533400" y="5138738"/>
            <a:ext cx="5626418" cy="503872"/>
            <a:chOff x="533400" y="5138738"/>
            <a:chExt cx="5626418" cy="503872"/>
          </a:xfrm>
        </p:grpSpPr>
        <p:sp>
          <p:nvSpPr>
            <p:cNvPr id="27" name="Rectangle 27"/>
            <p:cNvSpPr/>
            <p:nvPr/>
          </p:nvSpPr>
          <p:spPr>
            <a:xfrm>
              <a:off x="533400" y="5138738"/>
              <a:ext cx="5626418" cy="503872"/>
            </a:xfrm>
            <a:prstGeom prst="roundRect">
              <a:avLst>
                <a:gd name="adj" fmla="val 22684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290185"/>
              <a:ext cx="200026" cy="200026"/>
              <a:chOff x="738188" y="5290185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2901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4863" y="536797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511" y="5290661"/>
              <a:ext cx="38480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取 C = 1/(3σ²)，CY ~ χ²(2)，自由度为 2。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464618" y="1524000"/>
            <a:ext cx="5193982" cy="1480185"/>
            <a:chOff x="6464618" y="1524000"/>
            <a:chExt cx="5193982" cy="1480185"/>
          </a:xfrm>
        </p:grpSpPr>
        <p:sp>
          <p:nvSpPr>
            <p:cNvPr id="33" name="Rectangle 33"/>
            <p:cNvSpPr/>
            <p:nvPr/>
          </p:nvSpPr>
          <p:spPr>
            <a:xfrm>
              <a:off x="6464618" y="1524000"/>
              <a:ext cx="5193982" cy="1480185"/>
            </a:xfrm>
            <a:prstGeom prst="roundRect">
              <a:avLst>
                <a:gd name="adj" fmla="val 90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4142" y="1657350"/>
              <a:ext cx="47625" cy="12134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700838" y="1722120"/>
              <a:ext cx="49720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91800" y="1756410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93598" y="2082641"/>
              <a:ext cx="41392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设总体 X ~ N(0, 4)，样本 X₁, X₂, X₃, X₄，则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formula268"/>
                <p:cNvSpPr txBox="1">
                  <a:spLocks noGrp="1"/>
                </p:cNvSpPr>
                <p:nvPr/>
              </p:nvSpPr>
              <p:spPr>
                <a:xfrm>
                  <a:off x="6700838" y="2377440"/>
                  <a:ext cx="4759642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20</m:t>
                            </m:r>
                          </m:den>
                        </m:f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100</m:t>
                            </m:r>
                          </m:den>
                        </m:f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s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3" name="c2-steps-2"/>
          <p:cNvGrpSpPr/>
          <p:nvPr/>
        </p:nvGrpSpPr>
        <p:grpSpPr>
          <a:xfrm>
            <a:off x="6464618" y="3194685"/>
            <a:ext cx="4840224" cy="1781556"/>
            <a:chOff x="6464618" y="3194685"/>
            <a:chExt cx="4840224" cy="1781556"/>
          </a:xfrm>
        </p:grpSpPr>
        <p:sp>
          <p:nvSpPr>
            <p:cNvPr id="40" name="Rectangle 40"/>
            <p:cNvSpPr/>
            <p:nvPr/>
          </p:nvSpPr>
          <p:spPr>
            <a:xfrm>
              <a:off x="6597968" y="3337560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464618" y="31946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8241" y="32685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64618" y="381095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58241" y="38847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64618" y="442817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58241" y="45019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76479" y="322754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77622" y="3508057"/>
              <a:ext cx="44272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D(X₁ − 2X₂) = 4 + 4 × 4 = 20，除以 20 后是标准正态的平方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76479" y="384381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77622" y="4124325"/>
              <a:ext cx="27858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D(3X₃ − 4X₄) = 9 × 4 + 16 × 4 = 100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76479" y="446103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77622" y="4741545"/>
              <a:ext cx="38973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两项用到的样本不重叠，所以相互独立，相加得 χ²(2)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4" name="Rectangle 54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511" y="6011704"/>
              <a:ext cx="71640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凑系数的关键是求线性组合的方差：D(aX + bY) = a²D(X) + b²D(Y)，系数要平方。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94258" cy="909257"/>
            <a:chOff x="520446" y="342900"/>
            <a:chExt cx="60942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三大抽样分布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942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分布：标准正态除以独立 χ² 的平方根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951220" cy="2672715"/>
            <a:chOff x="533400" y="1524000"/>
            <a:chExt cx="5951220" cy="2672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672715"/>
            </a:xfrm>
            <a:prstGeom prst="roundRect">
              <a:avLst>
                <a:gd name="adj" fmla="val 49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0601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56452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~ N(0, 1)，Y ~ χ²(n)，且 X 与 Y 相互独立，称随机变量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73"/>
                <p:cNvSpPr txBox="1">
                  <a:spLocks noGrp="1"/>
                </p:cNvSpPr>
                <p:nvPr/>
              </p:nvSpPr>
              <p:spPr>
                <a:xfrm>
                  <a:off x="781050" y="2421255"/>
                  <a:ext cx="549402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3430" y="3107055"/>
              <a:ext cx="39528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服从自由度为 n 的 t 分布，记作 t ~ t(n)。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274"/>
                <p:cNvSpPr txBox="1">
                  <a:spLocks noGrp="1"/>
                </p:cNvSpPr>
                <p:nvPr/>
              </p:nvSpPr>
              <p:spPr>
                <a:xfrm>
                  <a:off x="781050" y="3417570"/>
                  <a:ext cx="5494020" cy="5505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Γ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nπ</m:t>
                                </m:r>
                              </m:e>
                            </m:ra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Γ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num>
                                  <m:den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den>
                        </m:f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−∞&lt;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&lt;+∞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1-card-2"/>
          <p:cNvGrpSpPr/>
          <p:nvPr/>
        </p:nvGrpSpPr>
        <p:grpSpPr>
          <a:xfrm>
            <a:off x="533400" y="4387215"/>
            <a:ext cx="5951220" cy="1972628"/>
            <a:chOff x="533400" y="4387215"/>
            <a:chExt cx="5951220" cy="1972628"/>
          </a:xfrm>
        </p:grpSpPr>
        <p:sp>
          <p:nvSpPr>
            <p:cNvPr id="16" name="Rectangle 16"/>
            <p:cNvSpPr/>
            <p:nvPr/>
          </p:nvSpPr>
          <p:spPr>
            <a:xfrm>
              <a:off x="533400" y="4387215"/>
              <a:ext cx="5951220" cy="1972628"/>
            </a:xfrm>
            <a:prstGeom prst="roundRect">
              <a:avLst>
                <a:gd name="adj" fmla="val 67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520565"/>
              <a:ext cx="47625" cy="170592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45967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1258" y="46324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4973955"/>
              <a:ext cx="5130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密度关于 y 轴对称，且 n → ∞ 时趋于标准正态密度，n 足够大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 t(n) 近似于 N(0, 1)。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275"/>
                <p:cNvSpPr txBox="1">
                  <a:spLocks noGrp="1"/>
                </p:cNvSpPr>
                <p:nvPr/>
              </p:nvSpPr>
              <p:spPr>
                <a:xfrm>
                  <a:off x="781050" y="5570220"/>
                  <a:ext cx="5494020" cy="5610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2π</m:t>
                                </m:r>
                              </m:e>
                            </m:rad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5" name="c2-image-1"/>
          <p:cNvGrpSpPr/>
          <p:nvPr/>
        </p:nvGrpSpPr>
        <p:grpSpPr>
          <a:xfrm>
            <a:off x="6789420" y="1524000"/>
            <a:ext cx="4869180" cy="2505552"/>
            <a:chOff x="6789420" y="1524000"/>
            <a:chExt cx="4869180" cy="2505552"/>
          </a:xfrm>
        </p:grpSpPr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2"/>
            <a:srcRect l="0" t="16256" r="0" b="16256"/>
            <a:stretch>
              <a:fillRect/>
            </a:stretch>
          </p:blipFill>
          <p:spPr>
            <a:xfrm>
              <a:off x="6789420" y="1524000"/>
              <a:ext cx="4869180" cy="2190750"/>
            </a:xfrm>
            <a:prstGeom prst="roundRect">
              <a:avLst>
                <a:gd name="adj" fmla="val 6086"/>
              </a:avLst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7409002" y="3809524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啤酒厂里每批只能取几份样品，小样本需要自己的分布</a:t>
              </a:r>
            </a:p>
          </p:txBody>
        </p:sp>
      </p:grpSp>
      <p:grpSp>
        <p:nvGrpSpPr>
          <p:cNvPr id="31" name="c2-card-2"/>
          <p:cNvGrpSpPr/>
          <p:nvPr/>
        </p:nvGrpSpPr>
        <p:grpSpPr>
          <a:xfrm>
            <a:off x="6789420" y="4194810"/>
            <a:ext cx="4869180" cy="2165032"/>
            <a:chOff x="6789420" y="4194810"/>
            <a:chExt cx="4869180" cy="2165032"/>
          </a:xfrm>
        </p:grpSpPr>
        <p:sp>
          <p:nvSpPr>
            <p:cNvPr id="26" name="Rectangle 26"/>
            <p:cNvSpPr/>
            <p:nvPr/>
          </p:nvSpPr>
          <p:spPr>
            <a:xfrm>
              <a:off x="6789420" y="4194810"/>
              <a:ext cx="4869180" cy="2165032"/>
            </a:xfrm>
            <a:prstGeom prst="roundRect">
              <a:avLst>
                <a:gd name="adj" fmla="val 61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798945" y="4328160"/>
              <a:ext cx="47625" cy="1898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037070" y="440436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27278" y="44400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来历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29450" y="4781550"/>
              <a:ext cx="4206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1908 年，在都柏林健力士啤酒厂工作的戈塞特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（W. S. Gosset）以笔名 Student 发表了这个分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布，所以它也叫学生氏分布。他处理的正是样本量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很小、σ 未知的情形。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79608" cy="909257"/>
            <a:chOff x="520446" y="342900"/>
            <a:chExt cx="41796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三大抽样分布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796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分布的图像与上 α 分位点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tA"/>
          <p:cNvGrpSpPr/>
          <p:nvPr/>
        </p:nvGrpSpPr>
        <p:grpSpPr>
          <a:xfrm>
            <a:off x="533400" y="1524000"/>
            <a:ext cx="5524500" cy="4762500"/>
            <a:chOff x="533400" y="1524000"/>
            <a:chExt cx="55245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524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1662589"/>
              <a:ext cx="3049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t(n) 的密度：比标准正态矮、尾巴更厚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566" y="1925002"/>
              <a:ext cx="36063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关于 y 轴对称；n 增大时逐渐贴近 N(0, 1) 的密度曲线。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009650" y="4743450"/>
              <a:ext cx="4524375" cy="9525"/>
            </a:xfrm>
            <a:custGeom>
              <a:avLst/>
              <a:gdLst/>
              <a:ahLst/>
              <a:cxnLst/>
              <a:rect l="l" t="t" r="r" b="b"/>
              <a:pathLst>
                <a:path w="4524375" h="9525">
                  <a:moveTo>
                    <a:pt x="0" y="0"/>
                  </a:moveTo>
                  <a:lnTo>
                    <a:pt x="45243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5534025" y="471344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3248025" y="2333625"/>
              <a:ext cx="9525" cy="2409825"/>
            </a:xfrm>
            <a:custGeom>
              <a:avLst/>
              <a:gdLst/>
              <a:ahLst/>
              <a:cxnLst/>
              <a:rect l="l" t="t" r="r" b="b"/>
              <a:pathLst>
                <a:path w="9525" h="2409825">
                  <a:moveTo>
                    <a:pt x="0" y="24098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3218021" y="226695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42991" y="46777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18891" y="217265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86024" y="480012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009650" y="2584132"/>
              <a:ext cx="4476750" cy="2159318"/>
            </a:xfrm>
            <a:custGeom>
              <a:avLst/>
              <a:gdLst/>
              <a:ahLst/>
              <a:cxnLst/>
              <a:rect l="l" t="t" r="r" b="b"/>
              <a:pathLst>
                <a:path w="4476750" h="2159318">
                  <a:moveTo>
                    <a:pt x="0" y="2159318"/>
                  </a:moveTo>
                  <a:lnTo>
                    <a:pt x="19050" y="2159318"/>
                  </a:lnTo>
                  <a:lnTo>
                    <a:pt x="37148" y="2159318"/>
                  </a:lnTo>
                  <a:lnTo>
                    <a:pt x="56198" y="2158365"/>
                  </a:lnTo>
                  <a:lnTo>
                    <a:pt x="74295" y="2158365"/>
                  </a:lnTo>
                  <a:lnTo>
                    <a:pt x="93345" y="2158365"/>
                  </a:lnTo>
                  <a:lnTo>
                    <a:pt x="112395" y="2158365"/>
                  </a:lnTo>
                  <a:lnTo>
                    <a:pt x="130493" y="2158365"/>
                  </a:lnTo>
                  <a:lnTo>
                    <a:pt x="149543" y="2158365"/>
                  </a:lnTo>
                  <a:lnTo>
                    <a:pt x="167640" y="2158365"/>
                  </a:lnTo>
                  <a:lnTo>
                    <a:pt x="186690" y="2158365"/>
                  </a:lnTo>
                  <a:lnTo>
                    <a:pt x="204788" y="2157412"/>
                  </a:lnTo>
                  <a:lnTo>
                    <a:pt x="223838" y="2157412"/>
                  </a:lnTo>
                  <a:lnTo>
                    <a:pt x="242888" y="2157412"/>
                  </a:lnTo>
                  <a:lnTo>
                    <a:pt x="260985" y="2157412"/>
                  </a:lnTo>
                  <a:lnTo>
                    <a:pt x="280035" y="2156460"/>
                  </a:lnTo>
                  <a:lnTo>
                    <a:pt x="298133" y="2156460"/>
                  </a:lnTo>
                  <a:lnTo>
                    <a:pt x="317183" y="2156460"/>
                  </a:lnTo>
                  <a:lnTo>
                    <a:pt x="335280" y="2155508"/>
                  </a:lnTo>
                  <a:lnTo>
                    <a:pt x="354330" y="2155508"/>
                  </a:lnTo>
                  <a:lnTo>
                    <a:pt x="373380" y="2154555"/>
                  </a:lnTo>
                  <a:lnTo>
                    <a:pt x="391477" y="2153602"/>
                  </a:lnTo>
                  <a:lnTo>
                    <a:pt x="410527" y="2153602"/>
                  </a:lnTo>
                  <a:lnTo>
                    <a:pt x="428625" y="2152650"/>
                  </a:lnTo>
                  <a:lnTo>
                    <a:pt x="447675" y="2151698"/>
                  </a:lnTo>
                  <a:lnTo>
                    <a:pt x="466725" y="2150745"/>
                  </a:lnTo>
                  <a:lnTo>
                    <a:pt x="484823" y="2149792"/>
                  </a:lnTo>
                  <a:lnTo>
                    <a:pt x="503873" y="2148840"/>
                  </a:lnTo>
                  <a:lnTo>
                    <a:pt x="521970" y="2146935"/>
                  </a:lnTo>
                  <a:lnTo>
                    <a:pt x="541020" y="2145982"/>
                  </a:lnTo>
                  <a:lnTo>
                    <a:pt x="560070" y="2144077"/>
                  </a:lnTo>
                  <a:lnTo>
                    <a:pt x="578167" y="2142172"/>
                  </a:lnTo>
                  <a:lnTo>
                    <a:pt x="597217" y="2140268"/>
                  </a:lnTo>
                  <a:lnTo>
                    <a:pt x="615315" y="2138362"/>
                  </a:lnTo>
                  <a:lnTo>
                    <a:pt x="634365" y="2136458"/>
                  </a:lnTo>
                  <a:lnTo>
                    <a:pt x="652462" y="2133600"/>
                  </a:lnTo>
                  <a:lnTo>
                    <a:pt x="671512" y="2130742"/>
                  </a:lnTo>
                  <a:lnTo>
                    <a:pt x="690562" y="2127885"/>
                  </a:lnTo>
                  <a:lnTo>
                    <a:pt x="708660" y="2124075"/>
                  </a:lnTo>
                  <a:lnTo>
                    <a:pt x="727710" y="2120265"/>
                  </a:lnTo>
                  <a:lnTo>
                    <a:pt x="745808" y="2116455"/>
                  </a:lnTo>
                  <a:lnTo>
                    <a:pt x="764858" y="2111692"/>
                  </a:lnTo>
                  <a:lnTo>
                    <a:pt x="782955" y="2106930"/>
                  </a:lnTo>
                  <a:lnTo>
                    <a:pt x="802005" y="2102168"/>
                  </a:lnTo>
                  <a:lnTo>
                    <a:pt x="821055" y="2096452"/>
                  </a:lnTo>
                  <a:lnTo>
                    <a:pt x="839152" y="2090738"/>
                  </a:lnTo>
                  <a:lnTo>
                    <a:pt x="858202" y="2084070"/>
                  </a:lnTo>
                  <a:lnTo>
                    <a:pt x="876300" y="2076450"/>
                  </a:lnTo>
                  <a:lnTo>
                    <a:pt x="895350" y="2068830"/>
                  </a:lnTo>
                  <a:lnTo>
                    <a:pt x="914400" y="2061210"/>
                  </a:lnTo>
                  <a:lnTo>
                    <a:pt x="932498" y="2051685"/>
                  </a:lnTo>
                  <a:lnTo>
                    <a:pt x="951548" y="2042160"/>
                  </a:lnTo>
                  <a:lnTo>
                    <a:pt x="969645" y="2032635"/>
                  </a:lnTo>
                  <a:lnTo>
                    <a:pt x="988695" y="2021205"/>
                  </a:lnTo>
                  <a:lnTo>
                    <a:pt x="1007745" y="2009775"/>
                  </a:lnTo>
                  <a:lnTo>
                    <a:pt x="1025842" y="1997392"/>
                  </a:lnTo>
                  <a:lnTo>
                    <a:pt x="1044892" y="1984058"/>
                  </a:lnTo>
                  <a:lnTo>
                    <a:pt x="1062990" y="1969770"/>
                  </a:lnTo>
                  <a:lnTo>
                    <a:pt x="1082040" y="1954530"/>
                  </a:lnTo>
                  <a:lnTo>
                    <a:pt x="1100138" y="1938338"/>
                  </a:lnTo>
                  <a:lnTo>
                    <a:pt x="1119188" y="1921192"/>
                  </a:lnTo>
                  <a:lnTo>
                    <a:pt x="1138238" y="1903095"/>
                  </a:lnTo>
                  <a:lnTo>
                    <a:pt x="1156335" y="1884045"/>
                  </a:lnTo>
                  <a:lnTo>
                    <a:pt x="1175385" y="1864042"/>
                  </a:lnTo>
                  <a:lnTo>
                    <a:pt x="1193482" y="1843088"/>
                  </a:lnTo>
                  <a:lnTo>
                    <a:pt x="1212532" y="1821180"/>
                  </a:lnTo>
                  <a:lnTo>
                    <a:pt x="1230630" y="1797368"/>
                  </a:lnTo>
                  <a:lnTo>
                    <a:pt x="1249680" y="1772602"/>
                  </a:lnTo>
                  <a:lnTo>
                    <a:pt x="1268730" y="1746885"/>
                  </a:lnTo>
                  <a:lnTo>
                    <a:pt x="1286828" y="1720215"/>
                  </a:lnTo>
                  <a:lnTo>
                    <a:pt x="1305878" y="1692592"/>
                  </a:lnTo>
                  <a:lnTo>
                    <a:pt x="1323975" y="1663065"/>
                  </a:lnTo>
                  <a:lnTo>
                    <a:pt x="1343025" y="1632585"/>
                  </a:lnTo>
                  <a:lnTo>
                    <a:pt x="1362075" y="1601152"/>
                  </a:lnTo>
                  <a:lnTo>
                    <a:pt x="1380172" y="1568768"/>
                  </a:lnTo>
                  <a:lnTo>
                    <a:pt x="1399222" y="1534477"/>
                  </a:lnTo>
                  <a:lnTo>
                    <a:pt x="1417320" y="1500188"/>
                  </a:lnTo>
                  <a:lnTo>
                    <a:pt x="1436370" y="1463992"/>
                  </a:lnTo>
                  <a:lnTo>
                    <a:pt x="1455420" y="1426845"/>
                  </a:lnTo>
                  <a:lnTo>
                    <a:pt x="1473518" y="1387792"/>
                  </a:lnTo>
                  <a:lnTo>
                    <a:pt x="1492568" y="1348740"/>
                  </a:lnTo>
                  <a:lnTo>
                    <a:pt x="1510665" y="1308735"/>
                  </a:lnTo>
                  <a:lnTo>
                    <a:pt x="1529715" y="1267777"/>
                  </a:lnTo>
                  <a:lnTo>
                    <a:pt x="1547812" y="1225868"/>
                  </a:lnTo>
                  <a:lnTo>
                    <a:pt x="1566862" y="1183005"/>
                  </a:lnTo>
                  <a:lnTo>
                    <a:pt x="1585912" y="1140142"/>
                  </a:lnTo>
                  <a:lnTo>
                    <a:pt x="1604010" y="1095375"/>
                  </a:lnTo>
                  <a:lnTo>
                    <a:pt x="1623060" y="1051560"/>
                  </a:lnTo>
                  <a:lnTo>
                    <a:pt x="1641158" y="1005840"/>
                  </a:lnTo>
                  <a:lnTo>
                    <a:pt x="1660208" y="961072"/>
                  </a:lnTo>
                  <a:lnTo>
                    <a:pt x="1678305" y="915352"/>
                  </a:lnTo>
                  <a:lnTo>
                    <a:pt x="1697355" y="869633"/>
                  </a:lnTo>
                  <a:lnTo>
                    <a:pt x="1716405" y="823912"/>
                  </a:lnTo>
                  <a:lnTo>
                    <a:pt x="1734503" y="778192"/>
                  </a:lnTo>
                  <a:lnTo>
                    <a:pt x="1753553" y="732472"/>
                  </a:lnTo>
                  <a:lnTo>
                    <a:pt x="1771650" y="686752"/>
                  </a:lnTo>
                  <a:lnTo>
                    <a:pt x="1790700" y="641985"/>
                  </a:lnTo>
                  <a:lnTo>
                    <a:pt x="1809750" y="598170"/>
                  </a:lnTo>
                  <a:lnTo>
                    <a:pt x="1827847" y="554355"/>
                  </a:lnTo>
                  <a:lnTo>
                    <a:pt x="1846897" y="511492"/>
                  </a:lnTo>
                  <a:lnTo>
                    <a:pt x="1864995" y="469583"/>
                  </a:lnTo>
                  <a:lnTo>
                    <a:pt x="1884045" y="428625"/>
                  </a:lnTo>
                  <a:lnTo>
                    <a:pt x="1903095" y="388620"/>
                  </a:lnTo>
                  <a:lnTo>
                    <a:pt x="1921192" y="350520"/>
                  </a:lnTo>
                  <a:lnTo>
                    <a:pt x="1940242" y="313372"/>
                  </a:lnTo>
                  <a:lnTo>
                    <a:pt x="1958340" y="278130"/>
                  </a:lnTo>
                  <a:lnTo>
                    <a:pt x="1977390" y="244792"/>
                  </a:lnTo>
                  <a:lnTo>
                    <a:pt x="1995488" y="212408"/>
                  </a:lnTo>
                  <a:lnTo>
                    <a:pt x="2014538" y="182880"/>
                  </a:lnTo>
                  <a:lnTo>
                    <a:pt x="2033588" y="154305"/>
                  </a:lnTo>
                  <a:lnTo>
                    <a:pt x="2051685" y="128588"/>
                  </a:lnTo>
                  <a:lnTo>
                    <a:pt x="2070735" y="104775"/>
                  </a:lnTo>
                  <a:lnTo>
                    <a:pt x="2088832" y="82867"/>
                  </a:lnTo>
                  <a:lnTo>
                    <a:pt x="2107882" y="63817"/>
                  </a:lnTo>
                  <a:lnTo>
                    <a:pt x="2125980" y="47625"/>
                  </a:lnTo>
                  <a:lnTo>
                    <a:pt x="2145030" y="33338"/>
                  </a:lnTo>
                  <a:lnTo>
                    <a:pt x="2164080" y="20955"/>
                  </a:lnTo>
                  <a:lnTo>
                    <a:pt x="2182178" y="12383"/>
                  </a:lnTo>
                  <a:lnTo>
                    <a:pt x="2201228" y="5715"/>
                  </a:lnTo>
                  <a:lnTo>
                    <a:pt x="2219325" y="1905"/>
                  </a:lnTo>
                  <a:lnTo>
                    <a:pt x="2238375" y="0"/>
                  </a:lnTo>
                  <a:lnTo>
                    <a:pt x="2257425" y="1905"/>
                  </a:lnTo>
                  <a:lnTo>
                    <a:pt x="2275522" y="5715"/>
                  </a:lnTo>
                  <a:lnTo>
                    <a:pt x="2294572" y="12383"/>
                  </a:lnTo>
                  <a:lnTo>
                    <a:pt x="2312670" y="20955"/>
                  </a:lnTo>
                  <a:lnTo>
                    <a:pt x="2331720" y="33338"/>
                  </a:lnTo>
                  <a:lnTo>
                    <a:pt x="2350770" y="47625"/>
                  </a:lnTo>
                  <a:lnTo>
                    <a:pt x="2368868" y="63817"/>
                  </a:lnTo>
                  <a:lnTo>
                    <a:pt x="2387918" y="82867"/>
                  </a:lnTo>
                  <a:lnTo>
                    <a:pt x="2406015" y="104775"/>
                  </a:lnTo>
                  <a:lnTo>
                    <a:pt x="2425065" y="128588"/>
                  </a:lnTo>
                  <a:lnTo>
                    <a:pt x="2443162" y="154305"/>
                  </a:lnTo>
                  <a:lnTo>
                    <a:pt x="2462212" y="182880"/>
                  </a:lnTo>
                  <a:lnTo>
                    <a:pt x="2481262" y="212408"/>
                  </a:lnTo>
                  <a:lnTo>
                    <a:pt x="2499360" y="244792"/>
                  </a:lnTo>
                  <a:lnTo>
                    <a:pt x="2518410" y="278130"/>
                  </a:lnTo>
                  <a:lnTo>
                    <a:pt x="2536508" y="313372"/>
                  </a:lnTo>
                  <a:lnTo>
                    <a:pt x="2555558" y="350520"/>
                  </a:lnTo>
                  <a:lnTo>
                    <a:pt x="2573655" y="388620"/>
                  </a:lnTo>
                  <a:lnTo>
                    <a:pt x="2592705" y="428625"/>
                  </a:lnTo>
                  <a:lnTo>
                    <a:pt x="2611755" y="469583"/>
                  </a:lnTo>
                  <a:lnTo>
                    <a:pt x="2629852" y="511492"/>
                  </a:lnTo>
                  <a:lnTo>
                    <a:pt x="2648902" y="554355"/>
                  </a:lnTo>
                  <a:lnTo>
                    <a:pt x="2667000" y="598170"/>
                  </a:lnTo>
                  <a:lnTo>
                    <a:pt x="2686050" y="641985"/>
                  </a:lnTo>
                  <a:lnTo>
                    <a:pt x="2705100" y="686752"/>
                  </a:lnTo>
                  <a:lnTo>
                    <a:pt x="2723198" y="732472"/>
                  </a:lnTo>
                  <a:lnTo>
                    <a:pt x="2742248" y="778192"/>
                  </a:lnTo>
                  <a:lnTo>
                    <a:pt x="2760345" y="823912"/>
                  </a:lnTo>
                  <a:lnTo>
                    <a:pt x="2779395" y="869633"/>
                  </a:lnTo>
                  <a:lnTo>
                    <a:pt x="2798445" y="915352"/>
                  </a:lnTo>
                  <a:lnTo>
                    <a:pt x="2816542" y="961072"/>
                  </a:lnTo>
                  <a:lnTo>
                    <a:pt x="2835592" y="1005840"/>
                  </a:lnTo>
                  <a:lnTo>
                    <a:pt x="2853690" y="1051560"/>
                  </a:lnTo>
                  <a:lnTo>
                    <a:pt x="2872740" y="1095375"/>
                  </a:lnTo>
                  <a:lnTo>
                    <a:pt x="2890838" y="1140142"/>
                  </a:lnTo>
                  <a:lnTo>
                    <a:pt x="2909888" y="1183005"/>
                  </a:lnTo>
                  <a:lnTo>
                    <a:pt x="2928938" y="1225868"/>
                  </a:lnTo>
                  <a:lnTo>
                    <a:pt x="2947035" y="1267777"/>
                  </a:lnTo>
                  <a:lnTo>
                    <a:pt x="2966085" y="1308735"/>
                  </a:lnTo>
                  <a:lnTo>
                    <a:pt x="2984182" y="1348740"/>
                  </a:lnTo>
                  <a:lnTo>
                    <a:pt x="3003232" y="1387792"/>
                  </a:lnTo>
                  <a:lnTo>
                    <a:pt x="3021330" y="1426845"/>
                  </a:lnTo>
                  <a:lnTo>
                    <a:pt x="3040380" y="1463992"/>
                  </a:lnTo>
                  <a:lnTo>
                    <a:pt x="3059430" y="1500188"/>
                  </a:lnTo>
                  <a:lnTo>
                    <a:pt x="3077528" y="1534477"/>
                  </a:lnTo>
                  <a:lnTo>
                    <a:pt x="3096578" y="1568768"/>
                  </a:lnTo>
                  <a:lnTo>
                    <a:pt x="3114675" y="1601152"/>
                  </a:lnTo>
                  <a:lnTo>
                    <a:pt x="3133725" y="1632585"/>
                  </a:lnTo>
                  <a:lnTo>
                    <a:pt x="3152775" y="1663065"/>
                  </a:lnTo>
                  <a:lnTo>
                    <a:pt x="3170872" y="1692592"/>
                  </a:lnTo>
                  <a:lnTo>
                    <a:pt x="3189922" y="1720215"/>
                  </a:lnTo>
                  <a:lnTo>
                    <a:pt x="3208020" y="1746885"/>
                  </a:lnTo>
                  <a:lnTo>
                    <a:pt x="3227070" y="1772602"/>
                  </a:lnTo>
                  <a:lnTo>
                    <a:pt x="3246120" y="1797368"/>
                  </a:lnTo>
                  <a:lnTo>
                    <a:pt x="3264218" y="1821180"/>
                  </a:lnTo>
                  <a:lnTo>
                    <a:pt x="3283268" y="1843088"/>
                  </a:lnTo>
                  <a:lnTo>
                    <a:pt x="3301365" y="1864042"/>
                  </a:lnTo>
                  <a:lnTo>
                    <a:pt x="3320415" y="1884045"/>
                  </a:lnTo>
                  <a:lnTo>
                    <a:pt x="3338512" y="1903095"/>
                  </a:lnTo>
                  <a:lnTo>
                    <a:pt x="3357562" y="1921192"/>
                  </a:lnTo>
                  <a:lnTo>
                    <a:pt x="3376612" y="1938338"/>
                  </a:lnTo>
                  <a:lnTo>
                    <a:pt x="3394710" y="1954530"/>
                  </a:lnTo>
                  <a:lnTo>
                    <a:pt x="3413760" y="1969770"/>
                  </a:lnTo>
                  <a:lnTo>
                    <a:pt x="3431858" y="1984058"/>
                  </a:lnTo>
                  <a:lnTo>
                    <a:pt x="3450908" y="1997392"/>
                  </a:lnTo>
                  <a:lnTo>
                    <a:pt x="3469005" y="2009775"/>
                  </a:lnTo>
                  <a:lnTo>
                    <a:pt x="3488055" y="2021205"/>
                  </a:lnTo>
                  <a:lnTo>
                    <a:pt x="3507105" y="2032635"/>
                  </a:lnTo>
                  <a:lnTo>
                    <a:pt x="3525202" y="2042160"/>
                  </a:lnTo>
                  <a:lnTo>
                    <a:pt x="3544252" y="2051685"/>
                  </a:lnTo>
                  <a:lnTo>
                    <a:pt x="3562350" y="2061210"/>
                  </a:lnTo>
                  <a:lnTo>
                    <a:pt x="3581400" y="2068830"/>
                  </a:lnTo>
                  <a:lnTo>
                    <a:pt x="3600450" y="2076450"/>
                  </a:lnTo>
                  <a:lnTo>
                    <a:pt x="3618548" y="2084070"/>
                  </a:lnTo>
                  <a:lnTo>
                    <a:pt x="3637598" y="2090738"/>
                  </a:lnTo>
                  <a:lnTo>
                    <a:pt x="3655695" y="2096452"/>
                  </a:lnTo>
                  <a:lnTo>
                    <a:pt x="3674745" y="2102168"/>
                  </a:lnTo>
                  <a:lnTo>
                    <a:pt x="3693795" y="2106930"/>
                  </a:lnTo>
                  <a:lnTo>
                    <a:pt x="3711892" y="2111692"/>
                  </a:lnTo>
                  <a:lnTo>
                    <a:pt x="3730942" y="2116455"/>
                  </a:lnTo>
                  <a:lnTo>
                    <a:pt x="3749040" y="2120265"/>
                  </a:lnTo>
                  <a:lnTo>
                    <a:pt x="3768090" y="2124075"/>
                  </a:lnTo>
                  <a:lnTo>
                    <a:pt x="3786188" y="2127885"/>
                  </a:lnTo>
                  <a:lnTo>
                    <a:pt x="3805238" y="2130742"/>
                  </a:lnTo>
                  <a:lnTo>
                    <a:pt x="3824288" y="2133600"/>
                  </a:lnTo>
                  <a:lnTo>
                    <a:pt x="3842385" y="2136458"/>
                  </a:lnTo>
                  <a:lnTo>
                    <a:pt x="3861435" y="2138362"/>
                  </a:lnTo>
                  <a:lnTo>
                    <a:pt x="3879532" y="2140268"/>
                  </a:lnTo>
                  <a:lnTo>
                    <a:pt x="3898582" y="2142172"/>
                  </a:lnTo>
                  <a:lnTo>
                    <a:pt x="3916680" y="2144077"/>
                  </a:lnTo>
                  <a:lnTo>
                    <a:pt x="3935730" y="2145982"/>
                  </a:lnTo>
                  <a:lnTo>
                    <a:pt x="3954780" y="2146935"/>
                  </a:lnTo>
                  <a:lnTo>
                    <a:pt x="3972878" y="2148840"/>
                  </a:lnTo>
                  <a:lnTo>
                    <a:pt x="3991928" y="2149792"/>
                  </a:lnTo>
                  <a:lnTo>
                    <a:pt x="4010025" y="2150745"/>
                  </a:lnTo>
                  <a:lnTo>
                    <a:pt x="4029075" y="2151698"/>
                  </a:lnTo>
                  <a:lnTo>
                    <a:pt x="4048125" y="2152650"/>
                  </a:lnTo>
                  <a:lnTo>
                    <a:pt x="4066222" y="2153602"/>
                  </a:lnTo>
                  <a:lnTo>
                    <a:pt x="4085272" y="2153602"/>
                  </a:lnTo>
                  <a:lnTo>
                    <a:pt x="4103370" y="2154555"/>
                  </a:lnTo>
                  <a:lnTo>
                    <a:pt x="4122420" y="2155508"/>
                  </a:lnTo>
                  <a:lnTo>
                    <a:pt x="4141470" y="2155508"/>
                  </a:lnTo>
                  <a:lnTo>
                    <a:pt x="4159568" y="2156460"/>
                  </a:lnTo>
                  <a:lnTo>
                    <a:pt x="4178618" y="2156460"/>
                  </a:lnTo>
                  <a:lnTo>
                    <a:pt x="4196715" y="2156460"/>
                  </a:lnTo>
                  <a:lnTo>
                    <a:pt x="4215765" y="2157412"/>
                  </a:lnTo>
                  <a:lnTo>
                    <a:pt x="4233862" y="2157412"/>
                  </a:lnTo>
                  <a:lnTo>
                    <a:pt x="4252912" y="2157412"/>
                  </a:lnTo>
                  <a:lnTo>
                    <a:pt x="4271962" y="2157412"/>
                  </a:lnTo>
                  <a:lnTo>
                    <a:pt x="4290060" y="2158365"/>
                  </a:lnTo>
                  <a:lnTo>
                    <a:pt x="4309110" y="2158365"/>
                  </a:lnTo>
                  <a:lnTo>
                    <a:pt x="4327208" y="2158365"/>
                  </a:lnTo>
                  <a:lnTo>
                    <a:pt x="4346258" y="2158365"/>
                  </a:lnTo>
                  <a:lnTo>
                    <a:pt x="4364355" y="2158365"/>
                  </a:lnTo>
                  <a:lnTo>
                    <a:pt x="4383405" y="2158365"/>
                  </a:lnTo>
                  <a:lnTo>
                    <a:pt x="4402455" y="2158365"/>
                  </a:lnTo>
                  <a:lnTo>
                    <a:pt x="4420552" y="2158365"/>
                  </a:lnTo>
                  <a:lnTo>
                    <a:pt x="4439602" y="2159318"/>
                  </a:lnTo>
                  <a:lnTo>
                    <a:pt x="4457700" y="2159318"/>
                  </a:lnTo>
                  <a:lnTo>
                    <a:pt x="4476750" y="2159318"/>
                  </a:lnTo>
                </a:path>
              </a:pathLst>
            </a:custGeom>
            <a:noFill/>
            <a:ln w="19050">
              <a:solidFill>
                <a:srgbClr val="1F2937"/>
              </a:solidFill>
              <a:custDash>
                <a:ds d="300000" sp="20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1009650" y="3020378"/>
              <a:ext cx="4476750" cy="1630680"/>
            </a:xfrm>
            <a:custGeom>
              <a:avLst/>
              <a:gdLst/>
              <a:ahLst/>
              <a:cxnLst/>
              <a:rect l="l" t="t" r="r" b="b"/>
              <a:pathLst>
                <a:path w="4476750" h="1630680">
                  <a:moveTo>
                    <a:pt x="0" y="1630680"/>
                  </a:moveTo>
                  <a:lnTo>
                    <a:pt x="19050" y="1628775"/>
                  </a:lnTo>
                  <a:lnTo>
                    <a:pt x="37148" y="1627822"/>
                  </a:lnTo>
                  <a:lnTo>
                    <a:pt x="56198" y="1625918"/>
                  </a:lnTo>
                  <a:lnTo>
                    <a:pt x="74295" y="1624965"/>
                  </a:lnTo>
                  <a:lnTo>
                    <a:pt x="93345" y="1623060"/>
                  </a:lnTo>
                  <a:lnTo>
                    <a:pt x="112395" y="1621155"/>
                  </a:lnTo>
                  <a:lnTo>
                    <a:pt x="130493" y="1619250"/>
                  </a:lnTo>
                  <a:lnTo>
                    <a:pt x="149543" y="1617345"/>
                  </a:lnTo>
                  <a:lnTo>
                    <a:pt x="167640" y="1616392"/>
                  </a:lnTo>
                  <a:lnTo>
                    <a:pt x="186690" y="1614488"/>
                  </a:lnTo>
                  <a:lnTo>
                    <a:pt x="204788" y="1612582"/>
                  </a:lnTo>
                  <a:lnTo>
                    <a:pt x="223838" y="1610677"/>
                  </a:lnTo>
                  <a:lnTo>
                    <a:pt x="242888" y="1608772"/>
                  </a:lnTo>
                  <a:lnTo>
                    <a:pt x="260985" y="1606868"/>
                  </a:lnTo>
                  <a:lnTo>
                    <a:pt x="280035" y="1604010"/>
                  </a:lnTo>
                  <a:lnTo>
                    <a:pt x="298133" y="1602105"/>
                  </a:lnTo>
                  <a:lnTo>
                    <a:pt x="317183" y="1600200"/>
                  </a:lnTo>
                  <a:lnTo>
                    <a:pt x="335280" y="1597342"/>
                  </a:lnTo>
                  <a:lnTo>
                    <a:pt x="354330" y="1595438"/>
                  </a:lnTo>
                  <a:lnTo>
                    <a:pt x="373380" y="1593532"/>
                  </a:lnTo>
                  <a:lnTo>
                    <a:pt x="391477" y="1590675"/>
                  </a:lnTo>
                  <a:lnTo>
                    <a:pt x="410527" y="1587818"/>
                  </a:lnTo>
                  <a:lnTo>
                    <a:pt x="428625" y="1585912"/>
                  </a:lnTo>
                  <a:lnTo>
                    <a:pt x="447675" y="1583055"/>
                  </a:lnTo>
                  <a:lnTo>
                    <a:pt x="466725" y="1580197"/>
                  </a:lnTo>
                  <a:lnTo>
                    <a:pt x="484823" y="1577340"/>
                  </a:lnTo>
                  <a:lnTo>
                    <a:pt x="503873" y="1574482"/>
                  </a:lnTo>
                  <a:lnTo>
                    <a:pt x="521970" y="1571625"/>
                  </a:lnTo>
                  <a:lnTo>
                    <a:pt x="541020" y="1568768"/>
                  </a:lnTo>
                  <a:lnTo>
                    <a:pt x="560070" y="1564957"/>
                  </a:lnTo>
                  <a:lnTo>
                    <a:pt x="578167" y="1562100"/>
                  </a:lnTo>
                  <a:lnTo>
                    <a:pt x="597217" y="1559242"/>
                  </a:lnTo>
                  <a:lnTo>
                    <a:pt x="615315" y="1555432"/>
                  </a:lnTo>
                  <a:lnTo>
                    <a:pt x="634365" y="1551622"/>
                  </a:lnTo>
                  <a:lnTo>
                    <a:pt x="652462" y="1547812"/>
                  </a:lnTo>
                  <a:lnTo>
                    <a:pt x="671512" y="1544002"/>
                  </a:lnTo>
                  <a:lnTo>
                    <a:pt x="690562" y="1540192"/>
                  </a:lnTo>
                  <a:lnTo>
                    <a:pt x="708660" y="1536382"/>
                  </a:lnTo>
                  <a:lnTo>
                    <a:pt x="727710" y="1532572"/>
                  </a:lnTo>
                  <a:lnTo>
                    <a:pt x="745808" y="1527810"/>
                  </a:lnTo>
                  <a:lnTo>
                    <a:pt x="764858" y="1524000"/>
                  </a:lnTo>
                  <a:lnTo>
                    <a:pt x="782955" y="1519238"/>
                  </a:lnTo>
                  <a:lnTo>
                    <a:pt x="802005" y="1514475"/>
                  </a:lnTo>
                  <a:lnTo>
                    <a:pt x="821055" y="1509712"/>
                  </a:lnTo>
                  <a:lnTo>
                    <a:pt x="839152" y="1504950"/>
                  </a:lnTo>
                  <a:lnTo>
                    <a:pt x="858202" y="1499235"/>
                  </a:lnTo>
                  <a:lnTo>
                    <a:pt x="876300" y="1494472"/>
                  </a:lnTo>
                  <a:lnTo>
                    <a:pt x="895350" y="1488757"/>
                  </a:lnTo>
                  <a:lnTo>
                    <a:pt x="914400" y="1483042"/>
                  </a:lnTo>
                  <a:lnTo>
                    <a:pt x="932498" y="1477327"/>
                  </a:lnTo>
                  <a:lnTo>
                    <a:pt x="951548" y="1470660"/>
                  </a:lnTo>
                  <a:lnTo>
                    <a:pt x="969645" y="1464945"/>
                  </a:lnTo>
                  <a:lnTo>
                    <a:pt x="988695" y="1458277"/>
                  </a:lnTo>
                  <a:lnTo>
                    <a:pt x="1007745" y="1451610"/>
                  </a:lnTo>
                  <a:lnTo>
                    <a:pt x="1025842" y="1443990"/>
                  </a:lnTo>
                  <a:lnTo>
                    <a:pt x="1044892" y="1436370"/>
                  </a:lnTo>
                  <a:lnTo>
                    <a:pt x="1062990" y="1428750"/>
                  </a:lnTo>
                  <a:lnTo>
                    <a:pt x="1082040" y="1421130"/>
                  </a:lnTo>
                  <a:lnTo>
                    <a:pt x="1100138" y="1413510"/>
                  </a:lnTo>
                  <a:lnTo>
                    <a:pt x="1119188" y="1404938"/>
                  </a:lnTo>
                  <a:lnTo>
                    <a:pt x="1138238" y="1395412"/>
                  </a:lnTo>
                  <a:lnTo>
                    <a:pt x="1156335" y="1386840"/>
                  </a:lnTo>
                  <a:lnTo>
                    <a:pt x="1175385" y="1377315"/>
                  </a:lnTo>
                  <a:lnTo>
                    <a:pt x="1193482" y="1366838"/>
                  </a:lnTo>
                  <a:lnTo>
                    <a:pt x="1212532" y="1357312"/>
                  </a:lnTo>
                  <a:lnTo>
                    <a:pt x="1230630" y="1345882"/>
                  </a:lnTo>
                  <a:lnTo>
                    <a:pt x="1249680" y="1335405"/>
                  </a:lnTo>
                  <a:lnTo>
                    <a:pt x="1268730" y="1323975"/>
                  </a:lnTo>
                  <a:lnTo>
                    <a:pt x="1286828" y="1311592"/>
                  </a:lnTo>
                  <a:lnTo>
                    <a:pt x="1305878" y="1299210"/>
                  </a:lnTo>
                  <a:lnTo>
                    <a:pt x="1323975" y="1285875"/>
                  </a:lnTo>
                  <a:lnTo>
                    <a:pt x="1343025" y="1272540"/>
                  </a:lnTo>
                  <a:lnTo>
                    <a:pt x="1362075" y="1258252"/>
                  </a:lnTo>
                  <a:lnTo>
                    <a:pt x="1380172" y="1243965"/>
                  </a:lnTo>
                  <a:lnTo>
                    <a:pt x="1399222" y="1227772"/>
                  </a:lnTo>
                  <a:lnTo>
                    <a:pt x="1417320" y="1212532"/>
                  </a:lnTo>
                  <a:lnTo>
                    <a:pt x="1436370" y="1195388"/>
                  </a:lnTo>
                  <a:lnTo>
                    <a:pt x="1455420" y="1178242"/>
                  </a:lnTo>
                  <a:lnTo>
                    <a:pt x="1473518" y="1160145"/>
                  </a:lnTo>
                  <a:lnTo>
                    <a:pt x="1492568" y="1141095"/>
                  </a:lnTo>
                  <a:lnTo>
                    <a:pt x="1510665" y="1121092"/>
                  </a:lnTo>
                  <a:lnTo>
                    <a:pt x="1529715" y="1101090"/>
                  </a:lnTo>
                  <a:lnTo>
                    <a:pt x="1547812" y="1079182"/>
                  </a:lnTo>
                  <a:lnTo>
                    <a:pt x="1566862" y="1057275"/>
                  </a:lnTo>
                  <a:lnTo>
                    <a:pt x="1585912" y="1034415"/>
                  </a:lnTo>
                  <a:lnTo>
                    <a:pt x="1604010" y="1009650"/>
                  </a:lnTo>
                  <a:lnTo>
                    <a:pt x="1623060" y="984885"/>
                  </a:lnTo>
                  <a:lnTo>
                    <a:pt x="1641158" y="959167"/>
                  </a:lnTo>
                  <a:lnTo>
                    <a:pt x="1660208" y="931545"/>
                  </a:lnTo>
                  <a:lnTo>
                    <a:pt x="1678305" y="903922"/>
                  </a:lnTo>
                  <a:lnTo>
                    <a:pt x="1697355" y="874395"/>
                  </a:lnTo>
                  <a:lnTo>
                    <a:pt x="1716405" y="843915"/>
                  </a:lnTo>
                  <a:lnTo>
                    <a:pt x="1734503" y="813435"/>
                  </a:lnTo>
                  <a:lnTo>
                    <a:pt x="1753553" y="781050"/>
                  </a:lnTo>
                  <a:lnTo>
                    <a:pt x="1771650" y="747712"/>
                  </a:lnTo>
                  <a:lnTo>
                    <a:pt x="1790700" y="713422"/>
                  </a:lnTo>
                  <a:lnTo>
                    <a:pt x="1809750" y="678180"/>
                  </a:lnTo>
                  <a:lnTo>
                    <a:pt x="1827847" y="641985"/>
                  </a:lnTo>
                  <a:lnTo>
                    <a:pt x="1846897" y="604838"/>
                  </a:lnTo>
                  <a:lnTo>
                    <a:pt x="1864995" y="566738"/>
                  </a:lnTo>
                  <a:lnTo>
                    <a:pt x="1884045" y="528638"/>
                  </a:lnTo>
                  <a:lnTo>
                    <a:pt x="1903095" y="489585"/>
                  </a:lnTo>
                  <a:lnTo>
                    <a:pt x="1921192" y="450532"/>
                  </a:lnTo>
                  <a:lnTo>
                    <a:pt x="1940242" y="411480"/>
                  </a:lnTo>
                  <a:lnTo>
                    <a:pt x="1958340" y="372427"/>
                  </a:lnTo>
                  <a:lnTo>
                    <a:pt x="1977390" y="334327"/>
                  </a:lnTo>
                  <a:lnTo>
                    <a:pt x="1995488" y="296227"/>
                  </a:lnTo>
                  <a:lnTo>
                    <a:pt x="2014538" y="259080"/>
                  </a:lnTo>
                  <a:lnTo>
                    <a:pt x="2033588" y="222885"/>
                  </a:lnTo>
                  <a:lnTo>
                    <a:pt x="2051685" y="188595"/>
                  </a:lnTo>
                  <a:lnTo>
                    <a:pt x="2070735" y="156210"/>
                  </a:lnTo>
                  <a:lnTo>
                    <a:pt x="2088832" y="125730"/>
                  </a:lnTo>
                  <a:lnTo>
                    <a:pt x="2107882" y="98107"/>
                  </a:lnTo>
                  <a:lnTo>
                    <a:pt x="2125980" y="73342"/>
                  </a:lnTo>
                  <a:lnTo>
                    <a:pt x="2145030" y="51435"/>
                  </a:lnTo>
                  <a:lnTo>
                    <a:pt x="2164080" y="33338"/>
                  </a:lnTo>
                  <a:lnTo>
                    <a:pt x="2182178" y="19050"/>
                  </a:lnTo>
                  <a:lnTo>
                    <a:pt x="2201228" y="8572"/>
                  </a:lnTo>
                  <a:lnTo>
                    <a:pt x="2219325" y="2857"/>
                  </a:lnTo>
                  <a:lnTo>
                    <a:pt x="2238375" y="0"/>
                  </a:lnTo>
                  <a:lnTo>
                    <a:pt x="2257425" y="2857"/>
                  </a:lnTo>
                  <a:lnTo>
                    <a:pt x="2275522" y="8572"/>
                  </a:lnTo>
                  <a:lnTo>
                    <a:pt x="2294572" y="19050"/>
                  </a:lnTo>
                  <a:lnTo>
                    <a:pt x="2312670" y="33338"/>
                  </a:lnTo>
                  <a:lnTo>
                    <a:pt x="2331720" y="51435"/>
                  </a:lnTo>
                  <a:lnTo>
                    <a:pt x="2350770" y="73342"/>
                  </a:lnTo>
                  <a:lnTo>
                    <a:pt x="2368868" y="98107"/>
                  </a:lnTo>
                  <a:lnTo>
                    <a:pt x="2387918" y="125730"/>
                  </a:lnTo>
                  <a:lnTo>
                    <a:pt x="2406015" y="156210"/>
                  </a:lnTo>
                  <a:lnTo>
                    <a:pt x="2425065" y="188595"/>
                  </a:lnTo>
                  <a:lnTo>
                    <a:pt x="2443162" y="222885"/>
                  </a:lnTo>
                  <a:lnTo>
                    <a:pt x="2462212" y="259080"/>
                  </a:lnTo>
                  <a:lnTo>
                    <a:pt x="2481262" y="296227"/>
                  </a:lnTo>
                  <a:lnTo>
                    <a:pt x="2499360" y="334327"/>
                  </a:lnTo>
                  <a:lnTo>
                    <a:pt x="2518410" y="372427"/>
                  </a:lnTo>
                  <a:lnTo>
                    <a:pt x="2536508" y="411480"/>
                  </a:lnTo>
                  <a:lnTo>
                    <a:pt x="2555558" y="450532"/>
                  </a:lnTo>
                  <a:lnTo>
                    <a:pt x="2573655" y="489585"/>
                  </a:lnTo>
                  <a:lnTo>
                    <a:pt x="2592705" y="528638"/>
                  </a:lnTo>
                  <a:lnTo>
                    <a:pt x="2611755" y="566738"/>
                  </a:lnTo>
                  <a:lnTo>
                    <a:pt x="2629852" y="604838"/>
                  </a:lnTo>
                  <a:lnTo>
                    <a:pt x="2648902" y="641985"/>
                  </a:lnTo>
                  <a:lnTo>
                    <a:pt x="2667000" y="678180"/>
                  </a:lnTo>
                  <a:lnTo>
                    <a:pt x="2686050" y="713422"/>
                  </a:lnTo>
                  <a:lnTo>
                    <a:pt x="2705100" y="747712"/>
                  </a:lnTo>
                  <a:lnTo>
                    <a:pt x="2723198" y="781050"/>
                  </a:lnTo>
                  <a:lnTo>
                    <a:pt x="2742248" y="813435"/>
                  </a:lnTo>
                  <a:lnTo>
                    <a:pt x="2760345" y="843915"/>
                  </a:lnTo>
                  <a:lnTo>
                    <a:pt x="2779395" y="874395"/>
                  </a:lnTo>
                  <a:lnTo>
                    <a:pt x="2798445" y="903922"/>
                  </a:lnTo>
                  <a:lnTo>
                    <a:pt x="2816542" y="931545"/>
                  </a:lnTo>
                  <a:lnTo>
                    <a:pt x="2835592" y="959167"/>
                  </a:lnTo>
                  <a:lnTo>
                    <a:pt x="2853690" y="984885"/>
                  </a:lnTo>
                  <a:lnTo>
                    <a:pt x="2872740" y="1009650"/>
                  </a:lnTo>
                  <a:lnTo>
                    <a:pt x="2890838" y="1034415"/>
                  </a:lnTo>
                  <a:lnTo>
                    <a:pt x="2909888" y="1057275"/>
                  </a:lnTo>
                  <a:lnTo>
                    <a:pt x="2928938" y="1079182"/>
                  </a:lnTo>
                  <a:lnTo>
                    <a:pt x="2947035" y="1101090"/>
                  </a:lnTo>
                  <a:lnTo>
                    <a:pt x="2966085" y="1121092"/>
                  </a:lnTo>
                  <a:lnTo>
                    <a:pt x="2984182" y="1141095"/>
                  </a:lnTo>
                  <a:lnTo>
                    <a:pt x="3003232" y="1160145"/>
                  </a:lnTo>
                  <a:lnTo>
                    <a:pt x="3021330" y="1178242"/>
                  </a:lnTo>
                  <a:lnTo>
                    <a:pt x="3040380" y="1195388"/>
                  </a:lnTo>
                  <a:lnTo>
                    <a:pt x="3059430" y="1212532"/>
                  </a:lnTo>
                  <a:lnTo>
                    <a:pt x="3077528" y="1227772"/>
                  </a:lnTo>
                  <a:lnTo>
                    <a:pt x="3096578" y="1243965"/>
                  </a:lnTo>
                  <a:lnTo>
                    <a:pt x="3114675" y="1258252"/>
                  </a:lnTo>
                  <a:lnTo>
                    <a:pt x="3133725" y="1272540"/>
                  </a:lnTo>
                  <a:lnTo>
                    <a:pt x="3152775" y="1285875"/>
                  </a:lnTo>
                  <a:lnTo>
                    <a:pt x="3170872" y="1299210"/>
                  </a:lnTo>
                  <a:lnTo>
                    <a:pt x="3189922" y="1311592"/>
                  </a:lnTo>
                  <a:lnTo>
                    <a:pt x="3208020" y="1323975"/>
                  </a:lnTo>
                  <a:lnTo>
                    <a:pt x="3227070" y="1335405"/>
                  </a:lnTo>
                  <a:lnTo>
                    <a:pt x="3246120" y="1345882"/>
                  </a:lnTo>
                  <a:lnTo>
                    <a:pt x="3264218" y="1357312"/>
                  </a:lnTo>
                  <a:lnTo>
                    <a:pt x="3283268" y="1366838"/>
                  </a:lnTo>
                  <a:lnTo>
                    <a:pt x="3301365" y="1377315"/>
                  </a:lnTo>
                  <a:lnTo>
                    <a:pt x="3320415" y="1386840"/>
                  </a:lnTo>
                  <a:lnTo>
                    <a:pt x="3338512" y="1395412"/>
                  </a:lnTo>
                  <a:lnTo>
                    <a:pt x="3357562" y="1404938"/>
                  </a:lnTo>
                  <a:lnTo>
                    <a:pt x="3376612" y="1413510"/>
                  </a:lnTo>
                  <a:lnTo>
                    <a:pt x="3394710" y="1421130"/>
                  </a:lnTo>
                  <a:lnTo>
                    <a:pt x="3413760" y="1428750"/>
                  </a:lnTo>
                  <a:lnTo>
                    <a:pt x="3431858" y="1436370"/>
                  </a:lnTo>
                  <a:lnTo>
                    <a:pt x="3450908" y="1443990"/>
                  </a:lnTo>
                  <a:lnTo>
                    <a:pt x="3469005" y="1451610"/>
                  </a:lnTo>
                  <a:lnTo>
                    <a:pt x="3488055" y="1458277"/>
                  </a:lnTo>
                  <a:lnTo>
                    <a:pt x="3507105" y="1464945"/>
                  </a:lnTo>
                  <a:lnTo>
                    <a:pt x="3525202" y="1470660"/>
                  </a:lnTo>
                  <a:lnTo>
                    <a:pt x="3544252" y="1477327"/>
                  </a:lnTo>
                  <a:lnTo>
                    <a:pt x="3562350" y="1483042"/>
                  </a:lnTo>
                  <a:lnTo>
                    <a:pt x="3581400" y="1488757"/>
                  </a:lnTo>
                  <a:lnTo>
                    <a:pt x="3600450" y="1494472"/>
                  </a:lnTo>
                  <a:lnTo>
                    <a:pt x="3618548" y="1499235"/>
                  </a:lnTo>
                  <a:lnTo>
                    <a:pt x="3637598" y="1504950"/>
                  </a:lnTo>
                  <a:lnTo>
                    <a:pt x="3655695" y="1509712"/>
                  </a:lnTo>
                  <a:lnTo>
                    <a:pt x="3674745" y="1514475"/>
                  </a:lnTo>
                  <a:lnTo>
                    <a:pt x="3693795" y="1519238"/>
                  </a:lnTo>
                  <a:lnTo>
                    <a:pt x="3711892" y="1524000"/>
                  </a:lnTo>
                  <a:lnTo>
                    <a:pt x="3730942" y="1527810"/>
                  </a:lnTo>
                  <a:lnTo>
                    <a:pt x="3749040" y="1532572"/>
                  </a:lnTo>
                  <a:lnTo>
                    <a:pt x="3768090" y="1536382"/>
                  </a:lnTo>
                  <a:lnTo>
                    <a:pt x="3786188" y="1540192"/>
                  </a:lnTo>
                  <a:lnTo>
                    <a:pt x="3805238" y="1544002"/>
                  </a:lnTo>
                  <a:lnTo>
                    <a:pt x="3824288" y="1547812"/>
                  </a:lnTo>
                  <a:lnTo>
                    <a:pt x="3842385" y="1551622"/>
                  </a:lnTo>
                  <a:lnTo>
                    <a:pt x="3861435" y="1555432"/>
                  </a:lnTo>
                  <a:lnTo>
                    <a:pt x="3879532" y="1559242"/>
                  </a:lnTo>
                  <a:lnTo>
                    <a:pt x="3898582" y="1562100"/>
                  </a:lnTo>
                  <a:lnTo>
                    <a:pt x="3916680" y="1564957"/>
                  </a:lnTo>
                  <a:lnTo>
                    <a:pt x="3935730" y="1568768"/>
                  </a:lnTo>
                  <a:lnTo>
                    <a:pt x="3954780" y="1571625"/>
                  </a:lnTo>
                  <a:lnTo>
                    <a:pt x="3972878" y="1574482"/>
                  </a:lnTo>
                  <a:lnTo>
                    <a:pt x="3991928" y="1577340"/>
                  </a:lnTo>
                  <a:lnTo>
                    <a:pt x="4010025" y="1580197"/>
                  </a:lnTo>
                  <a:lnTo>
                    <a:pt x="4029075" y="1583055"/>
                  </a:lnTo>
                  <a:lnTo>
                    <a:pt x="4048125" y="1585912"/>
                  </a:lnTo>
                  <a:lnTo>
                    <a:pt x="4066222" y="1587818"/>
                  </a:lnTo>
                  <a:lnTo>
                    <a:pt x="4085272" y="1590675"/>
                  </a:lnTo>
                  <a:lnTo>
                    <a:pt x="4103370" y="1593532"/>
                  </a:lnTo>
                  <a:lnTo>
                    <a:pt x="4122420" y="1595438"/>
                  </a:lnTo>
                  <a:lnTo>
                    <a:pt x="4141470" y="1597342"/>
                  </a:lnTo>
                  <a:lnTo>
                    <a:pt x="4159568" y="1600200"/>
                  </a:lnTo>
                  <a:lnTo>
                    <a:pt x="4178618" y="1602105"/>
                  </a:lnTo>
                  <a:lnTo>
                    <a:pt x="4196715" y="1604010"/>
                  </a:lnTo>
                  <a:lnTo>
                    <a:pt x="4215765" y="1606868"/>
                  </a:lnTo>
                  <a:lnTo>
                    <a:pt x="4233862" y="1608772"/>
                  </a:lnTo>
                  <a:lnTo>
                    <a:pt x="4252912" y="1610677"/>
                  </a:lnTo>
                  <a:lnTo>
                    <a:pt x="4271962" y="1612582"/>
                  </a:lnTo>
                  <a:lnTo>
                    <a:pt x="4290060" y="1614488"/>
                  </a:lnTo>
                  <a:lnTo>
                    <a:pt x="4309110" y="1616392"/>
                  </a:lnTo>
                  <a:lnTo>
                    <a:pt x="4327208" y="1617345"/>
                  </a:lnTo>
                  <a:lnTo>
                    <a:pt x="4346258" y="1619250"/>
                  </a:lnTo>
                  <a:lnTo>
                    <a:pt x="4364355" y="1621155"/>
                  </a:lnTo>
                  <a:lnTo>
                    <a:pt x="4383405" y="1623060"/>
                  </a:lnTo>
                  <a:lnTo>
                    <a:pt x="4402455" y="1624965"/>
                  </a:lnTo>
                  <a:lnTo>
                    <a:pt x="4420552" y="1625918"/>
                  </a:lnTo>
                  <a:lnTo>
                    <a:pt x="4439602" y="1627822"/>
                  </a:lnTo>
                  <a:lnTo>
                    <a:pt x="4457700" y="1628775"/>
                  </a:lnTo>
                  <a:lnTo>
                    <a:pt x="4476750" y="163068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009650" y="2713672"/>
              <a:ext cx="4476750" cy="2000250"/>
            </a:xfrm>
            <a:custGeom>
              <a:avLst/>
              <a:gdLst/>
              <a:ahLst/>
              <a:cxnLst/>
              <a:rect l="l" t="t" r="r" b="b"/>
              <a:pathLst>
                <a:path w="4476750" h="2000250">
                  <a:moveTo>
                    <a:pt x="0" y="2000250"/>
                  </a:moveTo>
                  <a:lnTo>
                    <a:pt x="19050" y="1999298"/>
                  </a:lnTo>
                  <a:lnTo>
                    <a:pt x="37148" y="1997393"/>
                  </a:lnTo>
                  <a:lnTo>
                    <a:pt x="56198" y="1996440"/>
                  </a:lnTo>
                  <a:lnTo>
                    <a:pt x="74295" y="1995488"/>
                  </a:lnTo>
                  <a:lnTo>
                    <a:pt x="93345" y="1994535"/>
                  </a:lnTo>
                  <a:lnTo>
                    <a:pt x="112395" y="1993582"/>
                  </a:lnTo>
                  <a:lnTo>
                    <a:pt x="130493" y="1991678"/>
                  </a:lnTo>
                  <a:lnTo>
                    <a:pt x="149543" y="1990725"/>
                  </a:lnTo>
                  <a:lnTo>
                    <a:pt x="167640" y="1988820"/>
                  </a:lnTo>
                  <a:lnTo>
                    <a:pt x="186690" y="1987868"/>
                  </a:lnTo>
                  <a:lnTo>
                    <a:pt x="204788" y="1985962"/>
                  </a:lnTo>
                  <a:lnTo>
                    <a:pt x="223838" y="1984058"/>
                  </a:lnTo>
                  <a:lnTo>
                    <a:pt x="242888" y="1983105"/>
                  </a:lnTo>
                  <a:lnTo>
                    <a:pt x="260985" y="1981200"/>
                  </a:lnTo>
                  <a:lnTo>
                    <a:pt x="280035" y="1979295"/>
                  </a:lnTo>
                  <a:lnTo>
                    <a:pt x="298133" y="1977390"/>
                  </a:lnTo>
                  <a:lnTo>
                    <a:pt x="317183" y="1975485"/>
                  </a:lnTo>
                  <a:lnTo>
                    <a:pt x="335280" y="1973580"/>
                  </a:lnTo>
                  <a:lnTo>
                    <a:pt x="354330" y="1970723"/>
                  </a:lnTo>
                  <a:lnTo>
                    <a:pt x="373380" y="1968818"/>
                  </a:lnTo>
                  <a:lnTo>
                    <a:pt x="391477" y="1965960"/>
                  </a:lnTo>
                  <a:lnTo>
                    <a:pt x="410527" y="1964055"/>
                  </a:lnTo>
                  <a:lnTo>
                    <a:pt x="428625" y="1961198"/>
                  </a:lnTo>
                  <a:lnTo>
                    <a:pt x="447675" y="1958340"/>
                  </a:lnTo>
                  <a:lnTo>
                    <a:pt x="466725" y="1955482"/>
                  </a:lnTo>
                  <a:lnTo>
                    <a:pt x="484823" y="1952625"/>
                  </a:lnTo>
                  <a:lnTo>
                    <a:pt x="503873" y="1949768"/>
                  </a:lnTo>
                  <a:lnTo>
                    <a:pt x="521970" y="1946910"/>
                  </a:lnTo>
                  <a:lnTo>
                    <a:pt x="541020" y="1943100"/>
                  </a:lnTo>
                  <a:lnTo>
                    <a:pt x="560070" y="1940243"/>
                  </a:lnTo>
                  <a:lnTo>
                    <a:pt x="578167" y="1936432"/>
                  </a:lnTo>
                  <a:lnTo>
                    <a:pt x="597217" y="1932623"/>
                  </a:lnTo>
                  <a:lnTo>
                    <a:pt x="615315" y="1928812"/>
                  </a:lnTo>
                  <a:lnTo>
                    <a:pt x="634365" y="1924050"/>
                  </a:lnTo>
                  <a:lnTo>
                    <a:pt x="652462" y="1920240"/>
                  </a:lnTo>
                  <a:lnTo>
                    <a:pt x="671512" y="1915478"/>
                  </a:lnTo>
                  <a:lnTo>
                    <a:pt x="690562" y="1910715"/>
                  </a:lnTo>
                  <a:lnTo>
                    <a:pt x="708660" y="1905953"/>
                  </a:lnTo>
                  <a:lnTo>
                    <a:pt x="727710" y="1900238"/>
                  </a:lnTo>
                  <a:lnTo>
                    <a:pt x="745808" y="1895475"/>
                  </a:lnTo>
                  <a:lnTo>
                    <a:pt x="764858" y="1889760"/>
                  </a:lnTo>
                  <a:lnTo>
                    <a:pt x="782955" y="1883093"/>
                  </a:lnTo>
                  <a:lnTo>
                    <a:pt x="802005" y="1877378"/>
                  </a:lnTo>
                  <a:lnTo>
                    <a:pt x="821055" y="1870710"/>
                  </a:lnTo>
                  <a:lnTo>
                    <a:pt x="839152" y="1864043"/>
                  </a:lnTo>
                  <a:lnTo>
                    <a:pt x="858202" y="1856423"/>
                  </a:lnTo>
                  <a:lnTo>
                    <a:pt x="876300" y="1848803"/>
                  </a:lnTo>
                  <a:lnTo>
                    <a:pt x="895350" y="1841182"/>
                  </a:lnTo>
                  <a:lnTo>
                    <a:pt x="914400" y="1833562"/>
                  </a:lnTo>
                  <a:lnTo>
                    <a:pt x="932498" y="1824990"/>
                  </a:lnTo>
                  <a:lnTo>
                    <a:pt x="951548" y="1815465"/>
                  </a:lnTo>
                  <a:lnTo>
                    <a:pt x="969645" y="1805940"/>
                  </a:lnTo>
                  <a:lnTo>
                    <a:pt x="988695" y="1796415"/>
                  </a:lnTo>
                  <a:lnTo>
                    <a:pt x="1007745" y="1785938"/>
                  </a:lnTo>
                  <a:lnTo>
                    <a:pt x="1025842" y="1775460"/>
                  </a:lnTo>
                  <a:lnTo>
                    <a:pt x="1044892" y="1764030"/>
                  </a:lnTo>
                  <a:lnTo>
                    <a:pt x="1062990" y="1751648"/>
                  </a:lnTo>
                  <a:lnTo>
                    <a:pt x="1082040" y="1739265"/>
                  </a:lnTo>
                  <a:lnTo>
                    <a:pt x="1100138" y="1726882"/>
                  </a:lnTo>
                  <a:lnTo>
                    <a:pt x="1119188" y="1713548"/>
                  </a:lnTo>
                  <a:lnTo>
                    <a:pt x="1138238" y="1699260"/>
                  </a:lnTo>
                  <a:lnTo>
                    <a:pt x="1156335" y="1684020"/>
                  </a:lnTo>
                  <a:lnTo>
                    <a:pt x="1175385" y="1668780"/>
                  </a:lnTo>
                  <a:lnTo>
                    <a:pt x="1193482" y="1652588"/>
                  </a:lnTo>
                  <a:lnTo>
                    <a:pt x="1212532" y="1635443"/>
                  </a:lnTo>
                  <a:lnTo>
                    <a:pt x="1230630" y="1618298"/>
                  </a:lnTo>
                  <a:lnTo>
                    <a:pt x="1249680" y="1600200"/>
                  </a:lnTo>
                  <a:lnTo>
                    <a:pt x="1268730" y="1580198"/>
                  </a:lnTo>
                  <a:lnTo>
                    <a:pt x="1286828" y="1560195"/>
                  </a:lnTo>
                  <a:lnTo>
                    <a:pt x="1305878" y="1540193"/>
                  </a:lnTo>
                  <a:lnTo>
                    <a:pt x="1323975" y="1518285"/>
                  </a:lnTo>
                  <a:lnTo>
                    <a:pt x="1343025" y="1495425"/>
                  </a:lnTo>
                  <a:lnTo>
                    <a:pt x="1362075" y="1472565"/>
                  </a:lnTo>
                  <a:lnTo>
                    <a:pt x="1380172" y="1447800"/>
                  </a:lnTo>
                  <a:lnTo>
                    <a:pt x="1399222" y="1422082"/>
                  </a:lnTo>
                  <a:lnTo>
                    <a:pt x="1417320" y="1396365"/>
                  </a:lnTo>
                  <a:lnTo>
                    <a:pt x="1436370" y="1368743"/>
                  </a:lnTo>
                  <a:lnTo>
                    <a:pt x="1455420" y="1340168"/>
                  </a:lnTo>
                  <a:lnTo>
                    <a:pt x="1473518" y="1311593"/>
                  </a:lnTo>
                  <a:lnTo>
                    <a:pt x="1492568" y="1281112"/>
                  </a:lnTo>
                  <a:lnTo>
                    <a:pt x="1510665" y="1249680"/>
                  </a:lnTo>
                  <a:lnTo>
                    <a:pt x="1529715" y="1217295"/>
                  </a:lnTo>
                  <a:lnTo>
                    <a:pt x="1547812" y="1183958"/>
                  </a:lnTo>
                  <a:lnTo>
                    <a:pt x="1566862" y="1149668"/>
                  </a:lnTo>
                  <a:lnTo>
                    <a:pt x="1585912" y="1114425"/>
                  </a:lnTo>
                  <a:lnTo>
                    <a:pt x="1604010" y="1078230"/>
                  </a:lnTo>
                  <a:lnTo>
                    <a:pt x="1623060" y="1041083"/>
                  </a:lnTo>
                  <a:lnTo>
                    <a:pt x="1641158" y="1003935"/>
                  </a:lnTo>
                  <a:lnTo>
                    <a:pt x="1660208" y="964883"/>
                  </a:lnTo>
                  <a:lnTo>
                    <a:pt x="1678305" y="925830"/>
                  </a:lnTo>
                  <a:lnTo>
                    <a:pt x="1697355" y="885825"/>
                  </a:lnTo>
                  <a:lnTo>
                    <a:pt x="1716405" y="844868"/>
                  </a:lnTo>
                  <a:lnTo>
                    <a:pt x="1734503" y="803910"/>
                  </a:lnTo>
                  <a:lnTo>
                    <a:pt x="1753553" y="762000"/>
                  </a:lnTo>
                  <a:lnTo>
                    <a:pt x="1771650" y="720090"/>
                  </a:lnTo>
                  <a:lnTo>
                    <a:pt x="1790700" y="678180"/>
                  </a:lnTo>
                  <a:lnTo>
                    <a:pt x="1809750" y="635318"/>
                  </a:lnTo>
                  <a:lnTo>
                    <a:pt x="1827847" y="593408"/>
                  </a:lnTo>
                  <a:lnTo>
                    <a:pt x="1846897" y="551498"/>
                  </a:lnTo>
                  <a:lnTo>
                    <a:pt x="1864995" y="509588"/>
                  </a:lnTo>
                  <a:lnTo>
                    <a:pt x="1884045" y="468630"/>
                  </a:lnTo>
                  <a:lnTo>
                    <a:pt x="1903095" y="427673"/>
                  </a:lnTo>
                  <a:lnTo>
                    <a:pt x="1921192" y="387668"/>
                  </a:lnTo>
                  <a:lnTo>
                    <a:pt x="1940242" y="349568"/>
                  </a:lnTo>
                  <a:lnTo>
                    <a:pt x="1958340" y="311468"/>
                  </a:lnTo>
                  <a:lnTo>
                    <a:pt x="1977390" y="275273"/>
                  </a:lnTo>
                  <a:lnTo>
                    <a:pt x="1995488" y="240983"/>
                  </a:lnTo>
                  <a:lnTo>
                    <a:pt x="2014538" y="207645"/>
                  </a:lnTo>
                  <a:lnTo>
                    <a:pt x="2033588" y="177165"/>
                  </a:lnTo>
                  <a:lnTo>
                    <a:pt x="2051685" y="147638"/>
                  </a:lnTo>
                  <a:lnTo>
                    <a:pt x="2070735" y="120968"/>
                  </a:lnTo>
                  <a:lnTo>
                    <a:pt x="2088832" y="96203"/>
                  </a:lnTo>
                  <a:lnTo>
                    <a:pt x="2107882" y="74295"/>
                  </a:lnTo>
                  <a:lnTo>
                    <a:pt x="2125980" y="55245"/>
                  </a:lnTo>
                  <a:lnTo>
                    <a:pt x="2145030" y="39053"/>
                  </a:lnTo>
                  <a:lnTo>
                    <a:pt x="2164080" y="24765"/>
                  </a:lnTo>
                  <a:lnTo>
                    <a:pt x="2182178" y="14288"/>
                  </a:lnTo>
                  <a:lnTo>
                    <a:pt x="2201228" y="6668"/>
                  </a:lnTo>
                  <a:lnTo>
                    <a:pt x="2219325" y="1905"/>
                  </a:lnTo>
                  <a:lnTo>
                    <a:pt x="2238375" y="0"/>
                  </a:lnTo>
                  <a:lnTo>
                    <a:pt x="2257425" y="1905"/>
                  </a:lnTo>
                  <a:lnTo>
                    <a:pt x="2275522" y="6668"/>
                  </a:lnTo>
                  <a:lnTo>
                    <a:pt x="2294572" y="14288"/>
                  </a:lnTo>
                  <a:lnTo>
                    <a:pt x="2312670" y="24765"/>
                  </a:lnTo>
                  <a:lnTo>
                    <a:pt x="2331720" y="39053"/>
                  </a:lnTo>
                  <a:lnTo>
                    <a:pt x="2350770" y="55245"/>
                  </a:lnTo>
                  <a:lnTo>
                    <a:pt x="2368868" y="74295"/>
                  </a:lnTo>
                  <a:lnTo>
                    <a:pt x="2387918" y="96203"/>
                  </a:lnTo>
                  <a:lnTo>
                    <a:pt x="2406015" y="120968"/>
                  </a:lnTo>
                  <a:lnTo>
                    <a:pt x="2425065" y="147638"/>
                  </a:lnTo>
                  <a:lnTo>
                    <a:pt x="2443162" y="177165"/>
                  </a:lnTo>
                  <a:lnTo>
                    <a:pt x="2462212" y="207645"/>
                  </a:lnTo>
                  <a:lnTo>
                    <a:pt x="2481262" y="240983"/>
                  </a:lnTo>
                  <a:lnTo>
                    <a:pt x="2499360" y="275273"/>
                  </a:lnTo>
                  <a:lnTo>
                    <a:pt x="2518410" y="311468"/>
                  </a:lnTo>
                  <a:lnTo>
                    <a:pt x="2536508" y="349568"/>
                  </a:lnTo>
                  <a:lnTo>
                    <a:pt x="2555558" y="387668"/>
                  </a:lnTo>
                  <a:lnTo>
                    <a:pt x="2573655" y="427673"/>
                  </a:lnTo>
                  <a:lnTo>
                    <a:pt x="2592705" y="468630"/>
                  </a:lnTo>
                  <a:lnTo>
                    <a:pt x="2611755" y="509588"/>
                  </a:lnTo>
                  <a:lnTo>
                    <a:pt x="2629852" y="551498"/>
                  </a:lnTo>
                  <a:lnTo>
                    <a:pt x="2648902" y="593408"/>
                  </a:lnTo>
                  <a:lnTo>
                    <a:pt x="2667000" y="635318"/>
                  </a:lnTo>
                  <a:lnTo>
                    <a:pt x="2686050" y="678180"/>
                  </a:lnTo>
                  <a:lnTo>
                    <a:pt x="2705100" y="720090"/>
                  </a:lnTo>
                  <a:lnTo>
                    <a:pt x="2723198" y="762000"/>
                  </a:lnTo>
                  <a:lnTo>
                    <a:pt x="2742248" y="803910"/>
                  </a:lnTo>
                  <a:lnTo>
                    <a:pt x="2760345" y="844868"/>
                  </a:lnTo>
                  <a:lnTo>
                    <a:pt x="2779395" y="885825"/>
                  </a:lnTo>
                  <a:lnTo>
                    <a:pt x="2798445" y="925830"/>
                  </a:lnTo>
                  <a:lnTo>
                    <a:pt x="2816542" y="964883"/>
                  </a:lnTo>
                  <a:lnTo>
                    <a:pt x="2835592" y="1003935"/>
                  </a:lnTo>
                  <a:lnTo>
                    <a:pt x="2853690" y="1041083"/>
                  </a:lnTo>
                  <a:lnTo>
                    <a:pt x="2872740" y="1078230"/>
                  </a:lnTo>
                  <a:lnTo>
                    <a:pt x="2890838" y="1114425"/>
                  </a:lnTo>
                  <a:lnTo>
                    <a:pt x="2909888" y="1149668"/>
                  </a:lnTo>
                  <a:lnTo>
                    <a:pt x="2928938" y="1183958"/>
                  </a:lnTo>
                  <a:lnTo>
                    <a:pt x="2947035" y="1217295"/>
                  </a:lnTo>
                  <a:lnTo>
                    <a:pt x="2966085" y="1249680"/>
                  </a:lnTo>
                  <a:lnTo>
                    <a:pt x="2984182" y="1281112"/>
                  </a:lnTo>
                  <a:lnTo>
                    <a:pt x="3003232" y="1311593"/>
                  </a:lnTo>
                  <a:lnTo>
                    <a:pt x="3021330" y="1340168"/>
                  </a:lnTo>
                  <a:lnTo>
                    <a:pt x="3040380" y="1368743"/>
                  </a:lnTo>
                  <a:lnTo>
                    <a:pt x="3059430" y="1396365"/>
                  </a:lnTo>
                  <a:lnTo>
                    <a:pt x="3077528" y="1422082"/>
                  </a:lnTo>
                  <a:lnTo>
                    <a:pt x="3096578" y="1447800"/>
                  </a:lnTo>
                  <a:lnTo>
                    <a:pt x="3114675" y="1472565"/>
                  </a:lnTo>
                  <a:lnTo>
                    <a:pt x="3133725" y="1495425"/>
                  </a:lnTo>
                  <a:lnTo>
                    <a:pt x="3152775" y="1518285"/>
                  </a:lnTo>
                  <a:lnTo>
                    <a:pt x="3170872" y="1540193"/>
                  </a:lnTo>
                  <a:lnTo>
                    <a:pt x="3189922" y="1560195"/>
                  </a:lnTo>
                  <a:lnTo>
                    <a:pt x="3208020" y="1580198"/>
                  </a:lnTo>
                  <a:lnTo>
                    <a:pt x="3227070" y="1600200"/>
                  </a:lnTo>
                  <a:lnTo>
                    <a:pt x="3246120" y="1618298"/>
                  </a:lnTo>
                  <a:lnTo>
                    <a:pt x="3264218" y="1635443"/>
                  </a:lnTo>
                  <a:lnTo>
                    <a:pt x="3283268" y="1652588"/>
                  </a:lnTo>
                  <a:lnTo>
                    <a:pt x="3301365" y="1668780"/>
                  </a:lnTo>
                  <a:lnTo>
                    <a:pt x="3320415" y="1684020"/>
                  </a:lnTo>
                  <a:lnTo>
                    <a:pt x="3338512" y="1699260"/>
                  </a:lnTo>
                  <a:lnTo>
                    <a:pt x="3357562" y="1713548"/>
                  </a:lnTo>
                  <a:lnTo>
                    <a:pt x="3376612" y="1726882"/>
                  </a:lnTo>
                  <a:lnTo>
                    <a:pt x="3394710" y="1739265"/>
                  </a:lnTo>
                  <a:lnTo>
                    <a:pt x="3413760" y="1751648"/>
                  </a:lnTo>
                  <a:lnTo>
                    <a:pt x="3431858" y="1764030"/>
                  </a:lnTo>
                  <a:lnTo>
                    <a:pt x="3450908" y="1775460"/>
                  </a:lnTo>
                  <a:lnTo>
                    <a:pt x="3469005" y="1785938"/>
                  </a:lnTo>
                  <a:lnTo>
                    <a:pt x="3488055" y="1796415"/>
                  </a:lnTo>
                  <a:lnTo>
                    <a:pt x="3507105" y="1805940"/>
                  </a:lnTo>
                  <a:lnTo>
                    <a:pt x="3525202" y="1815465"/>
                  </a:lnTo>
                  <a:lnTo>
                    <a:pt x="3544252" y="1824990"/>
                  </a:lnTo>
                  <a:lnTo>
                    <a:pt x="3562350" y="1833562"/>
                  </a:lnTo>
                  <a:lnTo>
                    <a:pt x="3581400" y="1841182"/>
                  </a:lnTo>
                  <a:lnTo>
                    <a:pt x="3600450" y="1848803"/>
                  </a:lnTo>
                  <a:lnTo>
                    <a:pt x="3618548" y="1856423"/>
                  </a:lnTo>
                  <a:lnTo>
                    <a:pt x="3637598" y="1864043"/>
                  </a:lnTo>
                  <a:lnTo>
                    <a:pt x="3655695" y="1870710"/>
                  </a:lnTo>
                  <a:lnTo>
                    <a:pt x="3674745" y="1877378"/>
                  </a:lnTo>
                  <a:lnTo>
                    <a:pt x="3693795" y="1883093"/>
                  </a:lnTo>
                  <a:lnTo>
                    <a:pt x="3711892" y="1889760"/>
                  </a:lnTo>
                  <a:lnTo>
                    <a:pt x="3730942" y="1895475"/>
                  </a:lnTo>
                  <a:lnTo>
                    <a:pt x="3749040" y="1900238"/>
                  </a:lnTo>
                  <a:lnTo>
                    <a:pt x="3768090" y="1905953"/>
                  </a:lnTo>
                  <a:lnTo>
                    <a:pt x="3786188" y="1910715"/>
                  </a:lnTo>
                  <a:lnTo>
                    <a:pt x="3805238" y="1915478"/>
                  </a:lnTo>
                  <a:lnTo>
                    <a:pt x="3824288" y="1920240"/>
                  </a:lnTo>
                  <a:lnTo>
                    <a:pt x="3842385" y="1924050"/>
                  </a:lnTo>
                  <a:lnTo>
                    <a:pt x="3861435" y="1928812"/>
                  </a:lnTo>
                  <a:lnTo>
                    <a:pt x="3879532" y="1932623"/>
                  </a:lnTo>
                  <a:lnTo>
                    <a:pt x="3898582" y="1936432"/>
                  </a:lnTo>
                  <a:lnTo>
                    <a:pt x="3916680" y="1940243"/>
                  </a:lnTo>
                  <a:lnTo>
                    <a:pt x="3935730" y="1943100"/>
                  </a:lnTo>
                  <a:lnTo>
                    <a:pt x="3954780" y="1946910"/>
                  </a:lnTo>
                  <a:lnTo>
                    <a:pt x="3972878" y="1949768"/>
                  </a:lnTo>
                  <a:lnTo>
                    <a:pt x="3991928" y="1952625"/>
                  </a:lnTo>
                  <a:lnTo>
                    <a:pt x="4010025" y="1955482"/>
                  </a:lnTo>
                  <a:lnTo>
                    <a:pt x="4029075" y="1958340"/>
                  </a:lnTo>
                  <a:lnTo>
                    <a:pt x="4048125" y="1961198"/>
                  </a:lnTo>
                  <a:lnTo>
                    <a:pt x="4066222" y="1964055"/>
                  </a:lnTo>
                  <a:lnTo>
                    <a:pt x="4085272" y="1965960"/>
                  </a:lnTo>
                  <a:lnTo>
                    <a:pt x="4103370" y="1968818"/>
                  </a:lnTo>
                  <a:lnTo>
                    <a:pt x="4122420" y="1970723"/>
                  </a:lnTo>
                  <a:lnTo>
                    <a:pt x="4141470" y="1973580"/>
                  </a:lnTo>
                  <a:lnTo>
                    <a:pt x="4159568" y="1975485"/>
                  </a:lnTo>
                  <a:lnTo>
                    <a:pt x="4178618" y="1977390"/>
                  </a:lnTo>
                  <a:lnTo>
                    <a:pt x="4196715" y="1979295"/>
                  </a:lnTo>
                  <a:lnTo>
                    <a:pt x="4215765" y="1981200"/>
                  </a:lnTo>
                  <a:lnTo>
                    <a:pt x="4233862" y="1983105"/>
                  </a:lnTo>
                  <a:lnTo>
                    <a:pt x="4252912" y="1984058"/>
                  </a:lnTo>
                  <a:lnTo>
                    <a:pt x="4271962" y="1985962"/>
                  </a:lnTo>
                  <a:lnTo>
                    <a:pt x="4290060" y="1987868"/>
                  </a:lnTo>
                  <a:lnTo>
                    <a:pt x="4309110" y="1988820"/>
                  </a:lnTo>
                  <a:lnTo>
                    <a:pt x="4327208" y="1990725"/>
                  </a:lnTo>
                  <a:lnTo>
                    <a:pt x="4346258" y="1991678"/>
                  </a:lnTo>
                  <a:lnTo>
                    <a:pt x="4364355" y="1993582"/>
                  </a:lnTo>
                  <a:lnTo>
                    <a:pt x="4383405" y="1994535"/>
                  </a:lnTo>
                  <a:lnTo>
                    <a:pt x="4402455" y="1995488"/>
                  </a:lnTo>
                  <a:lnTo>
                    <a:pt x="4420552" y="1996440"/>
                  </a:lnTo>
                  <a:lnTo>
                    <a:pt x="4439602" y="1997393"/>
                  </a:lnTo>
                  <a:lnTo>
                    <a:pt x="4457700" y="1999298"/>
                  </a:lnTo>
                  <a:lnTo>
                    <a:pt x="4476750" y="200025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009650" y="2637472"/>
              <a:ext cx="4476750" cy="2098358"/>
            </a:xfrm>
            <a:custGeom>
              <a:avLst/>
              <a:gdLst/>
              <a:ahLst/>
              <a:cxnLst/>
              <a:rect l="l" t="t" r="r" b="b"/>
              <a:pathLst>
                <a:path w="4476750" h="2098358">
                  <a:moveTo>
                    <a:pt x="0" y="2098358"/>
                  </a:moveTo>
                  <a:lnTo>
                    <a:pt x="19050" y="2097405"/>
                  </a:lnTo>
                  <a:lnTo>
                    <a:pt x="37148" y="2097405"/>
                  </a:lnTo>
                  <a:lnTo>
                    <a:pt x="56198" y="2096453"/>
                  </a:lnTo>
                  <a:lnTo>
                    <a:pt x="74295" y="2096453"/>
                  </a:lnTo>
                  <a:lnTo>
                    <a:pt x="93345" y="2095500"/>
                  </a:lnTo>
                  <a:lnTo>
                    <a:pt x="112395" y="2094548"/>
                  </a:lnTo>
                  <a:lnTo>
                    <a:pt x="130493" y="2094548"/>
                  </a:lnTo>
                  <a:lnTo>
                    <a:pt x="149543" y="2093595"/>
                  </a:lnTo>
                  <a:lnTo>
                    <a:pt x="167640" y="2092643"/>
                  </a:lnTo>
                  <a:lnTo>
                    <a:pt x="186690" y="2091690"/>
                  </a:lnTo>
                  <a:lnTo>
                    <a:pt x="204788" y="2090738"/>
                  </a:lnTo>
                  <a:lnTo>
                    <a:pt x="223838" y="2089785"/>
                  </a:lnTo>
                  <a:lnTo>
                    <a:pt x="242888" y="2088832"/>
                  </a:lnTo>
                  <a:lnTo>
                    <a:pt x="260985" y="2087880"/>
                  </a:lnTo>
                  <a:lnTo>
                    <a:pt x="280035" y="2086928"/>
                  </a:lnTo>
                  <a:lnTo>
                    <a:pt x="298133" y="2085975"/>
                  </a:lnTo>
                  <a:lnTo>
                    <a:pt x="317183" y="2084070"/>
                  </a:lnTo>
                  <a:lnTo>
                    <a:pt x="335280" y="2083118"/>
                  </a:lnTo>
                  <a:lnTo>
                    <a:pt x="354330" y="2081212"/>
                  </a:lnTo>
                  <a:lnTo>
                    <a:pt x="373380" y="2080260"/>
                  </a:lnTo>
                  <a:lnTo>
                    <a:pt x="391477" y="2078355"/>
                  </a:lnTo>
                  <a:lnTo>
                    <a:pt x="410527" y="2076450"/>
                  </a:lnTo>
                  <a:lnTo>
                    <a:pt x="428625" y="2074545"/>
                  </a:lnTo>
                  <a:lnTo>
                    <a:pt x="447675" y="2072640"/>
                  </a:lnTo>
                  <a:lnTo>
                    <a:pt x="466725" y="2070735"/>
                  </a:lnTo>
                  <a:lnTo>
                    <a:pt x="484823" y="2068830"/>
                  </a:lnTo>
                  <a:lnTo>
                    <a:pt x="503873" y="2065973"/>
                  </a:lnTo>
                  <a:lnTo>
                    <a:pt x="521970" y="2064068"/>
                  </a:lnTo>
                  <a:lnTo>
                    <a:pt x="541020" y="2061210"/>
                  </a:lnTo>
                  <a:lnTo>
                    <a:pt x="560070" y="2058353"/>
                  </a:lnTo>
                  <a:lnTo>
                    <a:pt x="578167" y="2055495"/>
                  </a:lnTo>
                  <a:lnTo>
                    <a:pt x="597217" y="2052638"/>
                  </a:lnTo>
                  <a:lnTo>
                    <a:pt x="615315" y="2048828"/>
                  </a:lnTo>
                  <a:lnTo>
                    <a:pt x="634365" y="2045018"/>
                  </a:lnTo>
                  <a:lnTo>
                    <a:pt x="652462" y="2041208"/>
                  </a:lnTo>
                  <a:lnTo>
                    <a:pt x="671512" y="2037398"/>
                  </a:lnTo>
                  <a:lnTo>
                    <a:pt x="690562" y="2033588"/>
                  </a:lnTo>
                  <a:lnTo>
                    <a:pt x="708660" y="2028825"/>
                  </a:lnTo>
                  <a:lnTo>
                    <a:pt x="727710" y="2024062"/>
                  </a:lnTo>
                  <a:lnTo>
                    <a:pt x="745808" y="2018348"/>
                  </a:lnTo>
                  <a:lnTo>
                    <a:pt x="764858" y="2013585"/>
                  </a:lnTo>
                  <a:lnTo>
                    <a:pt x="782955" y="2007870"/>
                  </a:lnTo>
                  <a:lnTo>
                    <a:pt x="802005" y="2001203"/>
                  </a:lnTo>
                  <a:lnTo>
                    <a:pt x="821055" y="1994535"/>
                  </a:lnTo>
                  <a:lnTo>
                    <a:pt x="839152" y="1987868"/>
                  </a:lnTo>
                  <a:lnTo>
                    <a:pt x="858202" y="1981200"/>
                  </a:lnTo>
                  <a:lnTo>
                    <a:pt x="876300" y="1973580"/>
                  </a:lnTo>
                  <a:lnTo>
                    <a:pt x="895350" y="1965008"/>
                  </a:lnTo>
                  <a:lnTo>
                    <a:pt x="914400" y="1956435"/>
                  </a:lnTo>
                  <a:lnTo>
                    <a:pt x="932498" y="1946910"/>
                  </a:lnTo>
                  <a:lnTo>
                    <a:pt x="951548" y="1937385"/>
                  </a:lnTo>
                  <a:lnTo>
                    <a:pt x="969645" y="1927860"/>
                  </a:lnTo>
                  <a:lnTo>
                    <a:pt x="988695" y="1916430"/>
                  </a:lnTo>
                  <a:lnTo>
                    <a:pt x="1007745" y="1905953"/>
                  </a:lnTo>
                  <a:lnTo>
                    <a:pt x="1025842" y="1893570"/>
                  </a:lnTo>
                  <a:lnTo>
                    <a:pt x="1044892" y="1881188"/>
                  </a:lnTo>
                  <a:lnTo>
                    <a:pt x="1062990" y="1867853"/>
                  </a:lnTo>
                  <a:lnTo>
                    <a:pt x="1082040" y="1853565"/>
                  </a:lnTo>
                  <a:lnTo>
                    <a:pt x="1100138" y="1839278"/>
                  </a:lnTo>
                  <a:lnTo>
                    <a:pt x="1119188" y="1824038"/>
                  </a:lnTo>
                  <a:lnTo>
                    <a:pt x="1138238" y="1807845"/>
                  </a:lnTo>
                  <a:lnTo>
                    <a:pt x="1156335" y="1790700"/>
                  </a:lnTo>
                  <a:lnTo>
                    <a:pt x="1175385" y="1772603"/>
                  </a:lnTo>
                  <a:lnTo>
                    <a:pt x="1193482" y="1753553"/>
                  </a:lnTo>
                  <a:lnTo>
                    <a:pt x="1212532" y="1734503"/>
                  </a:lnTo>
                  <a:lnTo>
                    <a:pt x="1230630" y="1713548"/>
                  </a:lnTo>
                  <a:lnTo>
                    <a:pt x="1249680" y="1691640"/>
                  </a:lnTo>
                  <a:lnTo>
                    <a:pt x="1268730" y="1669732"/>
                  </a:lnTo>
                  <a:lnTo>
                    <a:pt x="1286828" y="1645920"/>
                  </a:lnTo>
                  <a:lnTo>
                    <a:pt x="1305878" y="1621155"/>
                  </a:lnTo>
                  <a:lnTo>
                    <a:pt x="1323975" y="1596390"/>
                  </a:lnTo>
                  <a:lnTo>
                    <a:pt x="1343025" y="1569720"/>
                  </a:lnTo>
                  <a:lnTo>
                    <a:pt x="1362075" y="1542098"/>
                  </a:lnTo>
                  <a:lnTo>
                    <a:pt x="1380172" y="1513523"/>
                  </a:lnTo>
                  <a:lnTo>
                    <a:pt x="1399222" y="1483043"/>
                  </a:lnTo>
                  <a:lnTo>
                    <a:pt x="1417320" y="1452562"/>
                  </a:lnTo>
                  <a:lnTo>
                    <a:pt x="1436370" y="1421130"/>
                  </a:lnTo>
                  <a:lnTo>
                    <a:pt x="1455420" y="1387793"/>
                  </a:lnTo>
                  <a:lnTo>
                    <a:pt x="1473518" y="1354455"/>
                  </a:lnTo>
                  <a:lnTo>
                    <a:pt x="1492568" y="1319212"/>
                  </a:lnTo>
                  <a:lnTo>
                    <a:pt x="1510665" y="1283018"/>
                  </a:lnTo>
                  <a:lnTo>
                    <a:pt x="1529715" y="1245870"/>
                  </a:lnTo>
                  <a:lnTo>
                    <a:pt x="1547812" y="1208723"/>
                  </a:lnTo>
                  <a:lnTo>
                    <a:pt x="1566862" y="1169670"/>
                  </a:lnTo>
                  <a:lnTo>
                    <a:pt x="1585912" y="1129665"/>
                  </a:lnTo>
                  <a:lnTo>
                    <a:pt x="1604010" y="1089660"/>
                  </a:lnTo>
                  <a:lnTo>
                    <a:pt x="1623060" y="1048703"/>
                  </a:lnTo>
                  <a:lnTo>
                    <a:pt x="1641158" y="1006793"/>
                  </a:lnTo>
                  <a:lnTo>
                    <a:pt x="1660208" y="963930"/>
                  </a:lnTo>
                  <a:lnTo>
                    <a:pt x="1678305" y="921068"/>
                  </a:lnTo>
                  <a:lnTo>
                    <a:pt x="1697355" y="878205"/>
                  </a:lnTo>
                  <a:lnTo>
                    <a:pt x="1716405" y="834390"/>
                  </a:lnTo>
                  <a:lnTo>
                    <a:pt x="1734503" y="790575"/>
                  </a:lnTo>
                  <a:lnTo>
                    <a:pt x="1753553" y="746760"/>
                  </a:lnTo>
                  <a:lnTo>
                    <a:pt x="1771650" y="702945"/>
                  </a:lnTo>
                  <a:lnTo>
                    <a:pt x="1790700" y="659130"/>
                  </a:lnTo>
                  <a:lnTo>
                    <a:pt x="1809750" y="615315"/>
                  </a:lnTo>
                  <a:lnTo>
                    <a:pt x="1827847" y="571500"/>
                  </a:lnTo>
                  <a:lnTo>
                    <a:pt x="1846897" y="529590"/>
                  </a:lnTo>
                  <a:lnTo>
                    <a:pt x="1864995" y="487680"/>
                  </a:lnTo>
                  <a:lnTo>
                    <a:pt x="1884045" y="445770"/>
                  </a:lnTo>
                  <a:lnTo>
                    <a:pt x="1903095" y="405765"/>
                  </a:lnTo>
                  <a:lnTo>
                    <a:pt x="1921192" y="366712"/>
                  </a:lnTo>
                  <a:lnTo>
                    <a:pt x="1940242" y="328612"/>
                  </a:lnTo>
                  <a:lnTo>
                    <a:pt x="1958340" y="292418"/>
                  </a:lnTo>
                  <a:lnTo>
                    <a:pt x="1977390" y="258128"/>
                  </a:lnTo>
                  <a:lnTo>
                    <a:pt x="1995488" y="224790"/>
                  </a:lnTo>
                  <a:lnTo>
                    <a:pt x="2014538" y="193358"/>
                  </a:lnTo>
                  <a:lnTo>
                    <a:pt x="2033588" y="163830"/>
                  </a:lnTo>
                  <a:lnTo>
                    <a:pt x="2051685" y="136208"/>
                  </a:lnTo>
                  <a:lnTo>
                    <a:pt x="2070735" y="111443"/>
                  </a:lnTo>
                  <a:lnTo>
                    <a:pt x="2088832" y="88583"/>
                  </a:lnTo>
                  <a:lnTo>
                    <a:pt x="2107882" y="68580"/>
                  </a:lnTo>
                  <a:lnTo>
                    <a:pt x="2125980" y="50483"/>
                  </a:lnTo>
                  <a:lnTo>
                    <a:pt x="2145030" y="35243"/>
                  </a:lnTo>
                  <a:lnTo>
                    <a:pt x="2164080" y="22860"/>
                  </a:lnTo>
                  <a:lnTo>
                    <a:pt x="2182178" y="13335"/>
                  </a:lnTo>
                  <a:lnTo>
                    <a:pt x="2201228" y="5715"/>
                  </a:lnTo>
                  <a:lnTo>
                    <a:pt x="2219325" y="1905"/>
                  </a:lnTo>
                  <a:lnTo>
                    <a:pt x="2238375" y="0"/>
                  </a:lnTo>
                  <a:lnTo>
                    <a:pt x="2257425" y="1905"/>
                  </a:lnTo>
                  <a:lnTo>
                    <a:pt x="2275522" y="5715"/>
                  </a:lnTo>
                  <a:lnTo>
                    <a:pt x="2294572" y="13335"/>
                  </a:lnTo>
                  <a:lnTo>
                    <a:pt x="2312670" y="22860"/>
                  </a:lnTo>
                  <a:lnTo>
                    <a:pt x="2331720" y="35243"/>
                  </a:lnTo>
                  <a:lnTo>
                    <a:pt x="2350770" y="50483"/>
                  </a:lnTo>
                  <a:lnTo>
                    <a:pt x="2368868" y="68580"/>
                  </a:lnTo>
                  <a:lnTo>
                    <a:pt x="2387918" y="88583"/>
                  </a:lnTo>
                  <a:lnTo>
                    <a:pt x="2406015" y="111443"/>
                  </a:lnTo>
                  <a:lnTo>
                    <a:pt x="2425065" y="136208"/>
                  </a:lnTo>
                  <a:lnTo>
                    <a:pt x="2443162" y="163830"/>
                  </a:lnTo>
                  <a:lnTo>
                    <a:pt x="2462212" y="193358"/>
                  </a:lnTo>
                  <a:lnTo>
                    <a:pt x="2481262" y="224790"/>
                  </a:lnTo>
                  <a:lnTo>
                    <a:pt x="2499360" y="258128"/>
                  </a:lnTo>
                  <a:lnTo>
                    <a:pt x="2518410" y="292418"/>
                  </a:lnTo>
                  <a:lnTo>
                    <a:pt x="2536508" y="328612"/>
                  </a:lnTo>
                  <a:lnTo>
                    <a:pt x="2555558" y="366712"/>
                  </a:lnTo>
                  <a:lnTo>
                    <a:pt x="2573655" y="405765"/>
                  </a:lnTo>
                  <a:lnTo>
                    <a:pt x="2592705" y="445770"/>
                  </a:lnTo>
                  <a:lnTo>
                    <a:pt x="2611755" y="487680"/>
                  </a:lnTo>
                  <a:lnTo>
                    <a:pt x="2629852" y="529590"/>
                  </a:lnTo>
                  <a:lnTo>
                    <a:pt x="2648902" y="571500"/>
                  </a:lnTo>
                  <a:lnTo>
                    <a:pt x="2667000" y="615315"/>
                  </a:lnTo>
                  <a:lnTo>
                    <a:pt x="2686050" y="659130"/>
                  </a:lnTo>
                  <a:lnTo>
                    <a:pt x="2705100" y="702945"/>
                  </a:lnTo>
                  <a:lnTo>
                    <a:pt x="2723198" y="746760"/>
                  </a:lnTo>
                  <a:lnTo>
                    <a:pt x="2742248" y="790575"/>
                  </a:lnTo>
                  <a:lnTo>
                    <a:pt x="2760345" y="834390"/>
                  </a:lnTo>
                  <a:lnTo>
                    <a:pt x="2779395" y="878205"/>
                  </a:lnTo>
                  <a:lnTo>
                    <a:pt x="2798445" y="921068"/>
                  </a:lnTo>
                  <a:lnTo>
                    <a:pt x="2816542" y="963930"/>
                  </a:lnTo>
                  <a:lnTo>
                    <a:pt x="2835592" y="1006793"/>
                  </a:lnTo>
                  <a:lnTo>
                    <a:pt x="2853690" y="1048703"/>
                  </a:lnTo>
                  <a:lnTo>
                    <a:pt x="2872740" y="1089660"/>
                  </a:lnTo>
                  <a:lnTo>
                    <a:pt x="2890838" y="1129665"/>
                  </a:lnTo>
                  <a:lnTo>
                    <a:pt x="2909888" y="1169670"/>
                  </a:lnTo>
                  <a:lnTo>
                    <a:pt x="2928938" y="1208723"/>
                  </a:lnTo>
                  <a:lnTo>
                    <a:pt x="2947035" y="1245870"/>
                  </a:lnTo>
                  <a:lnTo>
                    <a:pt x="2966085" y="1283018"/>
                  </a:lnTo>
                  <a:lnTo>
                    <a:pt x="2984182" y="1319212"/>
                  </a:lnTo>
                  <a:lnTo>
                    <a:pt x="3003232" y="1354455"/>
                  </a:lnTo>
                  <a:lnTo>
                    <a:pt x="3021330" y="1387793"/>
                  </a:lnTo>
                  <a:lnTo>
                    <a:pt x="3040380" y="1421130"/>
                  </a:lnTo>
                  <a:lnTo>
                    <a:pt x="3059430" y="1452562"/>
                  </a:lnTo>
                  <a:lnTo>
                    <a:pt x="3077528" y="1483043"/>
                  </a:lnTo>
                  <a:lnTo>
                    <a:pt x="3096578" y="1513523"/>
                  </a:lnTo>
                  <a:lnTo>
                    <a:pt x="3114675" y="1542098"/>
                  </a:lnTo>
                  <a:lnTo>
                    <a:pt x="3133725" y="1569720"/>
                  </a:lnTo>
                  <a:lnTo>
                    <a:pt x="3152775" y="1596390"/>
                  </a:lnTo>
                  <a:lnTo>
                    <a:pt x="3170872" y="1621155"/>
                  </a:lnTo>
                  <a:lnTo>
                    <a:pt x="3189922" y="1645920"/>
                  </a:lnTo>
                  <a:lnTo>
                    <a:pt x="3208020" y="1669732"/>
                  </a:lnTo>
                  <a:lnTo>
                    <a:pt x="3227070" y="1691640"/>
                  </a:lnTo>
                  <a:lnTo>
                    <a:pt x="3246120" y="1713548"/>
                  </a:lnTo>
                  <a:lnTo>
                    <a:pt x="3264218" y="1734503"/>
                  </a:lnTo>
                  <a:lnTo>
                    <a:pt x="3283268" y="1753553"/>
                  </a:lnTo>
                  <a:lnTo>
                    <a:pt x="3301365" y="1772603"/>
                  </a:lnTo>
                  <a:lnTo>
                    <a:pt x="3320415" y="1790700"/>
                  </a:lnTo>
                  <a:lnTo>
                    <a:pt x="3338512" y="1807845"/>
                  </a:lnTo>
                  <a:lnTo>
                    <a:pt x="3357562" y="1824038"/>
                  </a:lnTo>
                  <a:lnTo>
                    <a:pt x="3376612" y="1839278"/>
                  </a:lnTo>
                  <a:lnTo>
                    <a:pt x="3394710" y="1853565"/>
                  </a:lnTo>
                  <a:lnTo>
                    <a:pt x="3413760" y="1867853"/>
                  </a:lnTo>
                  <a:lnTo>
                    <a:pt x="3431858" y="1881188"/>
                  </a:lnTo>
                  <a:lnTo>
                    <a:pt x="3450908" y="1893570"/>
                  </a:lnTo>
                  <a:lnTo>
                    <a:pt x="3469005" y="1905953"/>
                  </a:lnTo>
                  <a:lnTo>
                    <a:pt x="3488055" y="1916430"/>
                  </a:lnTo>
                  <a:lnTo>
                    <a:pt x="3507105" y="1927860"/>
                  </a:lnTo>
                  <a:lnTo>
                    <a:pt x="3525202" y="1937385"/>
                  </a:lnTo>
                  <a:lnTo>
                    <a:pt x="3544252" y="1946910"/>
                  </a:lnTo>
                  <a:lnTo>
                    <a:pt x="3562350" y="1956435"/>
                  </a:lnTo>
                  <a:lnTo>
                    <a:pt x="3581400" y="1965008"/>
                  </a:lnTo>
                  <a:lnTo>
                    <a:pt x="3600450" y="1973580"/>
                  </a:lnTo>
                  <a:lnTo>
                    <a:pt x="3618548" y="1981200"/>
                  </a:lnTo>
                  <a:lnTo>
                    <a:pt x="3637598" y="1987868"/>
                  </a:lnTo>
                  <a:lnTo>
                    <a:pt x="3655695" y="1994535"/>
                  </a:lnTo>
                  <a:lnTo>
                    <a:pt x="3674745" y="2001203"/>
                  </a:lnTo>
                  <a:lnTo>
                    <a:pt x="3693795" y="2007870"/>
                  </a:lnTo>
                  <a:lnTo>
                    <a:pt x="3711892" y="2013585"/>
                  </a:lnTo>
                  <a:lnTo>
                    <a:pt x="3730942" y="2018348"/>
                  </a:lnTo>
                  <a:lnTo>
                    <a:pt x="3749040" y="2024062"/>
                  </a:lnTo>
                  <a:lnTo>
                    <a:pt x="3768090" y="2028825"/>
                  </a:lnTo>
                  <a:lnTo>
                    <a:pt x="3786188" y="2033588"/>
                  </a:lnTo>
                  <a:lnTo>
                    <a:pt x="3805238" y="2037398"/>
                  </a:lnTo>
                  <a:lnTo>
                    <a:pt x="3824288" y="2041208"/>
                  </a:lnTo>
                  <a:lnTo>
                    <a:pt x="3842385" y="2045018"/>
                  </a:lnTo>
                  <a:lnTo>
                    <a:pt x="3861435" y="2048828"/>
                  </a:lnTo>
                  <a:lnTo>
                    <a:pt x="3879532" y="2052638"/>
                  </a:lnTo>
                  <a:lnTo>
                    <a:pt x="3898582" y="2055495"/>
                  </a:lnTo>
                  <a:lnTo>
                    <a:pt x="3916680" y="2058353"/>
                  </a:lnTo>
                  <a:lnTo>
                    <a:pt x="3935730" y="2061210"/>
                  </a:lnTo>
                  <a:lnTo>
                    <a:pt x="3954780" y="2064068"/>
                  </a:lnTo>
                  <a:lnTo>
                    <a:pt x="3972878" y="2065973"/>
                  </a:lnTo>
                  <a:lnTo>
                    <a:pt x="3991928" y="2068830"/>
                  </a:lnTo>
                  <a:lnTo>
                    <a:pt x="4010025" y="2070735"/>
                  </a:lnTo>
                  <a:lnTo>
                    <a:pt x="4029075" y="2072640"/>
                  </a:lnTo>
                  <a:lnTo>
                    <a:pt x="4048125" y="2074545"/>
                  </a:lnTo>
                  <a:lnTo>
                    <a:pt x="4066222" y="2076450"/>
                  </a:lnTo>
                  <a:lnTo>
                    <a:pt x="4085272" y="2078355"/>
                  </a:lnTo>
                  <a:lnTo>
                    <a:pt x="4103370" y="2080260"/>
                  </a:lnTo>
                  <a:lnTo>
                    <a:pt x="4122420" y="2081212"/>
                  </a:lnTo>
                  <a:lnTo>
                    <a:pt x="4141470" y="2083118"/>
                  </a:lnTo>
                  <a:lnTo>
                    <a:pt x="4159568" y="2084070"/>
                  </a:lnTo>
                  <a:lnTo>
                    <a:pt x="4178618" y="2085975"/>
                  </a:lnTo>
                  <a:lnTo>
                    <a:pt x="4196715" y="2086928"/>
                  </a:lnTo>
                  <a:lnTo>
                    <a:pt x="4215765" y="2087880"/>
                  </a:lnTo>
                  <a:lnTo>
                    <a:pt x="4233862" y="2088832"/>
                  </a:lnTo>
                  <a:lnTo>
                    <a:pt x="4252912" y="2089785"/>
                  </a:lnTo>
                  <a:lnTo>
                    <a:pt x="4271962" y="2090738"/>
                  </a:lnTo>
                  <a:lnTo>
                    <a:pt x="4290060" y="2091690"/>
                  </a:lnTo>
                  <a:lnTo>
                    <a:pt x="4309110" y="2092643"/>
                  </a:lnTo>
                  <a:lnTo>
                    <a:pt x="4327208" y="2093595"/>
                  </a:lnTo>
                  <a:lnTo>
                    <a:pt x="4346258" y="2094548"/>
                  </a:lnTo>
                  <a:lnTo>
                    <a:pt x="4364355" y="2094548"/>
                  </a:lnTo>
                  <a:lnTo>
                    <a:pt x="4383405" y="2095500"/>
                  </a:lnTo>
                  <a:lnTo>
                    <a:pt x="4402455" y="2096453"/>
                  </a:lnTo>
                  <a:lnTo>
                    <a:pt x="4420552" y="2096453"/>
                  </a:lnTo>
                  <a:lnTo>
                    <a:pt x="4439602" y="2097405"/>
                  </a:lnTo>
                  <a:lnTo>
                    <a:pt x="4457700" y="2097405"/>
                  </a:lnTo>
                  <a:lnTo>
                    <a:pt x="4476750" y="2098358"/>
                  </a:lnTo>
                </a:path>
              </a:pathLst>
            </a:custGeom>
            <a:noFill/>
            <a:ln w="20955">
              <a:solidFill>
                <a:srgbClr val="14A38B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648778" y="47434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571674" y="481917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-3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2182178" y="47434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104617" y="481917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-2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2714625" y="47434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637569" y="481917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3781425" y="47434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39735" y="48191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4313872" y="47434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272687" y="48191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4847272" y="47434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805630" y="48191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3200400" y="4202430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3200400" y="3661410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3200400" y="3119438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3200400" y="2578418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939666" y="2516286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819150" y="506730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4765">
              <a:solidFill>
                <a:srgbClr val="F26B3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18806" y="5005626"/>
              <a:ext cx="30941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t(1)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1615697" y="506730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915354" y="5005626"/>
              <a:ext cx="30941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t(4)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2412235" y="506730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4765">
              <a:solidFill>
                <a:srgbClr val="14A38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711891" y="5005626"/>
              <a:ext cx="38419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t(10)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3279334" y="506730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4765">
              <a:solidFill>
                <a:srgbClr val="1F2937"/>
              </a:solidFill>
              <a:custDash>
                <a:ds d="230769" sp="153846"/>
              </a:custDash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578990" y="5005626"/>
              <a:ext cx="52747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N(0, 1)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23900" y="5257800"/>
              <a:ext cx="5143500" cy="83820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33425" y="5362575"/>
              <a:ext cx="47625" cy="6286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95350" y="5362575"/>
              <a:ext cx="102870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80313" y="541591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尾巴厚的来源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89826" y="5673804"/>
              <a:ext cx="399644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分母里的 √(Y/n) 本身在波动，把 t 的取值往两边拉得更散。</a:t>
              </a:r>
            </a:p>
          </p:txBody>
        </p:sp>
      </p:grpSp>
      <p:grpSp>
        <p:nvGrpSpPr>
          <p:cNvPr id="83" name="tB"/>
          <p:cNvGrpSpPr/>
          <p:nvPr/>
        </p:nvGrpSpPr>
        <p:grpSpPr>
          <a:xfrm>
            <a:off x="6210300" y="1524000"/>
            <a:ext cx="5448300" cy="4762500"/>
            <a:chOff x="6210300" y="1524000"/>
            <a:chExt cx="5448300" cy="4762500"/>
          </a:xfrm>
        </p:grpSpPr>
        <p:sp>
          <p:nvSpPr>
            <p:cNvPr id="52" name="Rectangle 52"/>
            <p:cNvSpPr/>
            <p:nvPr/>
          </p:nvSpPr>
          <p:spPr>
            <a:xfrm>
              <a:off x="6210300" y="1524000"/>
              <a:ext cx="54483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94323" y="1662589"/>
              <a:ext cx="22702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t 分布的上 α 分位点与对称性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95466" y="1925002"/>
              <a:ext cx="38059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t(10) 中 α = 0.05：右尾点 1.8125，左尾点是它的相反数。</a:t>
              </a:r>
            </a:p>
          </p:txBody>
        </p:sp>
        <p:sp>
          <p:nvSpPr>
            <p:cNvPr id="55" name="Polygon 55"/>
            <p:cNvSpPr/>
            <p:nvPr/>
          </p:nvSpPr>
          <p:spPr>
            <a:xfrm>
              <a:off x="9849802" y="4231005"/>
              <a:ext cx="1218248" cy="417195"/>
            </a:xfrm>
            <a:custGeom>
              <a:avLst/>
              <a:gdLst/>
              <a:ahLst/>
              <a:cxnLst/>
              <a:rect l="l" t="t" r="r" b="b"/>
              <a:pathLst>
                <a:path w="1218248" h="417195">
                  <a:moveTo>
                    <a:pt x="0" y="417195"/>
                  </a:moveTo>
                  <a:lnTo>
                    <a:pt x="0" y="0"/>
                  </a:lnTo>
                  <a:lnTo>
                    <a:pt x="20003" y="24765"/>
                  </a:lnTo>
                  <a:lnTo>
                    <a:pt x="40958" y="47625"/>
                  </a:lnTo>
                  <a:lnTo>
                    <a:pt x="60960" y="69533"/>
                  </a:lnTo>
                  <a:lnTo>
                    <a:pt x="80962" y="90488"/>
                  </a:lnTo>
                  <a:lnTo>
                    <a:pt x="101918" y="110490"/>
                  </a:lnTo>
                  <a:lnTo>
                    <a:pt x="121920" y="129540"/>
                  </a:lnTo>
                  <a:lnTo>
                    <a:pt x="141923" y="146685"/>
                  </a:lnTo>
                  <a:lnTo>
                    <a:pt x="162878" y="163830"/>
                  </a:lnTo>
                  <a:lnTo>
                    <a:pt x="182880" y="179070"/>
                  </a:lnTo>
                  <a:lnTo>
                    <a:pt x="202883" y="194310"/>
                  </a:lnTo>
                  <a:lnTo>
                    <a:pt x="222885" y="208598"/>
                  </a:lnTo>
                  <a:lnTo>
                    <a:pt x="243840" y="221933"/>
                  </a:lnTo>
                  <a:lnTo>
                    <a:pt x="263843" y="234315"/>
                  </a:lnTo>
                  <a:lnTo>
                    <a:pt x="283845" y="245745"/>
                  </a:lnTo>
                  <a:lnTo>
                    <a:pt x="304800" y="257175"/>
                  </a:lnTo>
                  <a:lnTo>
                    <a:pt x="324803" y="267653"/>
                  </a:lnTo>
                  <a:lnTo>
                    <a:pt x="344805" y="277178"/>
                  </a:lnTo>
                  <a:lnTo>
                    <a:pt x="365760" y="285750"/>
                  </a:lnTo>
                  <a:lnTo>
                    <a:pt x="385762" y="294323"/>
                  </a:lnTo>
                  <a:lnTo>
                    <a:pt x="405765" y="302895"/>
                  </a:lnTo>
                  <a:lnTo>
                    <a:pt x="426720" y="310515"/>
                  </a:lnTo>
                  <a:lnTo>
                    <a:pt x="446723" y="317183"/>
                  </a:lnTo>
                  <a:lnTo>
                    <a:pt x="466725" y="323850"/>
                  </a:lnTo>
                  <a:lnTo>
                    <a:pt x="487680" y="330517"/>
                  </a:lnTo>
                  <a:lnTo>
                    <a:pt x="507683" y="336233"/>
                  </a:lnTo>
                  <a:lnTo>
                    <a:pt x="527685" y="340995"/>
                  </a:lnTo>
                  <a:lnTo>
                    <a:pt x="548640" y="346710"/>
                  </a:lnTo>
                  <a:lnTo>
                    <a:pt x="568643" y="351473"/>
                  </a:lnTo>
                  <a:lnTo>
                    <a:pt x="588645" y="355283"/>
                  </a:lnTo>
                  <a:lnTo>
                    <a:pt x="608648" y="360045"/>
                  </a:lnTo>
                  <a:lnTo>
                    <a:pt x="629603" y="363855"/>
                  </a:lnTo>
                  <a:lnTo>
                    <a:pt x="649605" y="366712"/>
                  </a:lnTo>
                  <a:lnTo>
                    <a:pt x="669608" y="370523"/>
                  </a:lnTo>
                  <a:lnTo>
                    <a:pt x="690562" y="373380"/>
                  </a:lnTo>
                  <a:lnTo>
                    <a:pt x="710565" y="376238"/>
                  </a:lnTo>
                  <a:lnTo>
                    <a:pt x="730568" y="379095"/>
                  </a:lnTo>
                  <a:lnTo>
                    <a:pt x="751523" y="381953"/>
                  </a:lnTo>
                  <a:lnTo>
                    <a:pt x="771525" y="383858"/>
                  </a:lnTo>
                  <a:lnTo>
                    <a:pt x="791528" y="386715"/>
                  </a:lnTo>
                  <a:lnTo>
                    <a:pt x="812483" y="388620"/>
                  </a:lnTo>
                  <a:lnTo>
                    <a:pt x="832485" y="390525"/>
                  </a:lnTo>
                  <a:lnTo>
                    <a:pt x="852488" y="392430"/>
                  </a:lnTo>
                  <a:lnTo>
                    <a:pt x="873443" y="393383"/>
                  </a:lnTo>
                  <a:lnTo>
                    <a:pt x="893445" y="395288"/>
                  </a:lnTo>
                  <a:lnTo>
                    <a:pt x="913448" y="397192"/>
                  </a:lnTo>
                  <a:lnTo>
                    <a:pt x="934403" y="398145"/>
                  </a:lnTo>
                  <a:lnTo>
                    <a:pt x="954405" y="399098"/>
                  </a:lnTo>
                  <a:lnTo>
                    <a:pt x="974408" y="401003"/>
                  </a:lnTo>
                  <a:lnTo>
                    <a:pt x="995362" y="401955"/>
                  </a:lnTo>
                  <a:lnTo>
                    <a:pt x="1015365" y="402908"/>
                  </a:lnTo>
                  <a:lnTo>
                    <a:pt x="1035368" y="403860"/>
                  </a:lnTo>
                  <a:lnTo>
                    <a:pt x="1055370" y="404812"/>
                  </a:lnTo>
                  <a:lnTo>
                    <a:pt x="1076325" y="405765"/>
                  </a:lnTo>
                  <a:lnTo>
                    <a:pt x="1096328" y="405765"/>
                  </a:lnTo>
                  <a:lnTo>
                    <a:pt x="1116330" y="406717"/>
                  </a:lnTo>
                  <a:lnTo>
                    <a:pt x="1137285" y="407670"/>
                  </a:lnTo>
                  <a:lnTo>
                    <a:pt x="1157288" y="407670"/>
                  </a:lnTo>
                  <a:lnTo>
                    <a:pt x="1177290" y="408623"/>
                  </a:lnTo>
                  <a:lnTo>
                    <a:pt x="1198245" y="409575"/>
                  </a:lnTo>
                  <a:lnTo>
                    <a:pt x="1218248" y="409575"/>
                  </a:lnTo>
                  <a:lnTo>
                    <a:pt x="1218248" y="417195"/>
                  </a:lnTo>
                  <a:close/>
                </a:path>
              </a:pathLst>
            </a:custGeom>
            <a:solidFill>
              <a:srgbClr val="F6C6AC"/>
            </a:solidFill>
            <a:ln>
              <a:noFill/>
            </a:ln>
          </p:spPr>
        </p:sp>
        <p:sp>
          <p:nvSpPr>
            <p:cNvPr id="56" name="Polygon 56"/>
            <p:cNvSpPr/>
            <p:nvPr/>
          </p:nvSpPr>
          <p:spPr>
            <a:xfrm>
              <a:off x="6781800" y="4231005"/>
              <a:ext cx="1218247" cy="417195"/>
            </a:xfrm>
            <a:custGeom>
              <a:avLst/>
              <a:gdLst/>
              <a:ahLst/>
              <a:cxnLst/>
              <a:rect l="l" t="t" r="r" b="b"/>
              <a:pathLst>
                <a:path w="1218247" h="417195">
                  <a:moveTo>
                    <a:pt x="0" y="417195"/>
                  </a:moveTo>
                  <a:lnTo>
                    <a:pt x="0" y="409575"/>
                  </a:lnTo>
                  <a:lnTo>
                    <a:pt x="20003" y="409575"/>
                  </a:lnTo>
                  <a:lnTo>
                    <a:pt x="40957" y="408623"/>
                  </a:lnTo>
                  <a:lnTo>
                    <a:pt x="60960" y="407670"/>
                  </a:lnTo>
                  <a:lnTo>
                    <a:pt x="80962" y="407670"/>
                  </a:lnTo>
                  <a:lnTo>
                    <a:pt x="101918" y="406717"/>
                  </a:lnTo>
                  <a:lnTo>
                    <a:pt x="121920" y="405765"/>
                  </a:lnTo>
                  <a:lnTo>
                    <a:pt x="141922" y="405765"/>
                  </a:lnTo>
                  <a:lnTo>
                    <a:pt x="162878" y="404812"/>
                  </a:lnTo>
                  <a:lnTo>
                    <a:pt x="182880" y="403860"/>
                  </a:lnTo>
                  <a:lnTo>
                    <a:pt x="202882" y="402908"/>
                  </a:lnTo>
                  <a:lnTo>
                    <a:pt x="222885" y="401955"/>
                  </a:lnTo>
                  <a:lnTo>
                    <a:pt x="243840" y="401003"/>
                  </a:lnTo>
                  <a:lnTo>
                    <a:pt x="263843" y="399098"/>
                  </a:lnTo>
                  <a:lnTo>
                    <a:pt x="283845" y="398145"/>
                  </a:lnTo>
                  <a:lnTo>
                    <a:pt x="304800" y="397192"/>
                  </a:lnTo>
                  <a:lnTo>
                    <a:pt x="324803" y="395288"/>
                  </a:lnTo>
                  <a:lnTo>
                    <a:pt x="344805" y="393383"/>
                  </a:lnTo>
                  <a:lnTo>
                    <a:pt x="365760" y="392430"/>
                  </a:lnTo>
                  <a:lnTo>
                    <a:pt x="385762" y="390525"/>
                  </a:lnTo>
                  <a:lnTo>
                    <a:pt x="405765" y="388620"/>
                  </a:lnTo>
                  <a:lnTo>
                    <a:pt x="426720" y="386715"/>
                  </a:lnTo>
                  <a:lnTo>
                    <a:pt x="446722" y="383858"/>
                  </a:lnTo>
                  <a:lnTo>
                    <a:pt x="466725" y="381953"/>
                  </a:lnTo>
                  <a:lnTo>
                    <a:pt x="487680" y="379095"/>
                  </a:lnTo>
                  <a:lnTo>
                    <a:pt x="507682" y="376238"/>
                  </a:lnTo>
                  <a:lnTo>
                    <a:pt x="527685" y="373380"/>
                  </a:lnTo>
                  <a:lnTo>
                    <a:pt x="548640" y="370523"/>
                  </a:lnTo>
                  <a:lnTo>
                    <a:pt x="568643" y="366712"/>
                  </a:lnTo>
                  <a:lnTo>
                    <a:pt x="588645" y="363855"/>
                  </a:lnTo>
                  <a:lnTo>
                    <a:pt x="609600" y="360045"/>
                  </a:lnTo>
                  <a:lnTo>
                    <a:pt x="629603" y="355283"/>
                  </a:lnTo>
                  <a:lnTo>
                    <a:pt x="649605" y="351473"/>
                  </a:lnTo>
                  <a:lnTo>
                    <a:pt x="669607" y="346710"/>
                  </a:lnTo>
                  <a:lnTo>
                    <a:pt x="690562" y="340995"/>
                  </a:lnTo>
                  <a:lnTo>
                    <a:pt x="710565" y="336233"/>
                  </a:lnTo>
                  <a:lnTo>
                    <a:pt x="730568" y="330517"/>
                  </a:lnTo>
                  <a:lnTo>
                    <a:pt x="751522" y="323850"/>
                  </a:lnTo>
                  <a:lnTo>
                    <a:pt x="771525" y="317183"/>
                  </a:lnTo>
                  <a:lnTo>
                    <a:pt x="791528" y="310515"/>
                  </a:lnTo>
                  <a:lnTo>
                    <a:pt x="812482" y="302895"/>
                  </a:lnTo>
                  <a:lnTo>
                    <a:pt x="832485" y="294323"/>
                  </a:lnTo>
                  <a:lnTo>
                    <a:pt x="852488" y="285750"/>
                  </a:lnTo>
                  <a:lnTo>
                    <a:pt x="873443" y="277178"/>
                  </a:lnTo>
                  <a:lnTo>
                    <a:pt x="893445" y="267653"/>
                  </a:lnTo>
                  <a:lnTo>
                    <a:pt x="913447" y="257175"/>
                  </a:lnTo>
                  <a:lnTo>
                    <a:pt x="934403" y="245745"/>
                  </a:lnTo>
                  <a:lnTo>
                    <a:pt x="954405" y="234315"/>
                  </a:lnTo>
                  <a:lnTo>
                    <a:pt x="974407" y="221933"/>
                  </a:lnTo>
                  <a:lnTo>
                    <a:pt x="995362" y="208598"/>
                  </a:lnTo>
                  <a:lnTo>
                    <a:pt x="1015365" y="194310"/>
                  </a:lnTo>
                  <a:lnTo>
                    <a:pt x="1035368" y="179070"/>
                  </a:lnTo>
                  <a:lnTo>
                    <a:pt x="1055370" y="163830"/>
                  </a:lnTo>
                  <a:lnTo>
                    <a:pt x="1076325" y="146685"/>
                  </a:lnTo>
                  <a:lnTo>
                    <a:pt x="1096328" y="129540"/>
                  </a:lnTo>
                  <a:lnTo>
                    <a:pt x="1116330" y="110490"/>
                  </a:lnTo>
                  <a:lnTo>
                    <a:pt x="1137285" y="90488"/>
                  </a:lnTo>
                  <a:lnTo>
                    <a:pt x="1157288" y="69533"/>
                  </a:lnTo>
                  <a:lnTo>
                    <a:pt x="1177290" y="47625"/>
                  </a:lnTo>
                  <a:lnTo>
                    <a:pt x="1198245" y="24765"/>
                  </a:lnTo>
                  <a:lnTo>
                    <a:pt x="1218247" y="0"/>
                  </a:lnTo>
                  <a:lnTo>
                    <a:pt x="1218247" y="417195"/>
                  </a:lnTo>
                  <a:close/>
                </a:path>
              </a:pathLst>
            </a:custGeom>
            <a:solidFill>
              <a:srgbClr val="D6DFF3"/>
            </a:solidFill>
            <a:ln>
              <a:noFill/>
            </a:ln>
          </p:spPr>
        </p:sp>
        <p:sp>
          <p:nvSpPr>
            <p:cNvPr id="57" name="Line 57"/>
            <p:cNvSpPr/>
            <p:nvPr/>
          </p:nvSpPr>
          <p:spPr>
            <a:xfrm>
              <a:off x="6781800" y="4648200"/>
              <a:ext cx="4333875" cy="9525"/>
            </a:xfrm>
            <a:custGeom>
              <a:avLst/>
              <a:gdLst/>
              <a:ahLst/>
              <a:cxnLst/>
              <a:rect l="l" t="t" r="r" b="b"/>
              <a:pathLst>
                <a:path w="4333875" h="9525">
                  <a:moveTo>
                    <a:pt x="0" y="0"/>
                  </a:moveTo>
                  <a:lnTo>
                    <a:pt x="43338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58" name="Polygon 58"/>
            <p:cNvSpPr/>
            <p:nvPr/>
          </p:nvSpPr>
          <p:spPr>
            <a:xfrm>
              <a:off x="11115675" y="461819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59" name="Line 59"/>
            <p:cNvSpPr/>
            <p:nvPr/>
          </p:nvSpPr>
          <p:spPr>
            <a:xfrm>
              <a:off x="8924925" y="2371725"/>
              <a:ext cx="9525" cy="2276475"/>
            </a:xfrm>
            <a:custGeom>
              <a:avLst/>
              <a:gdLst/>
              <a:ahLst/>
              <a:cxnLst/>
              <a:rect l="l" t="t" r="r" b="b"/>
              <a:pathLst>
                <a:path w="9525" h="2276475">
                  <a:moveTo>
                    <a:pt x="0" y="227647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60" name="Polygon 60"/>
            <p:cNvSpPr/>
            <p:nvPr/>
          </p:nvSpPr>
          <p:spPr>
            <a:xfrm>
              <a:off x="8894921" y="230505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1224641" y="45824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762924" y="470487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6781800" y="2660332"/>
              <a:ext cx="4286250" cy="1980247"/>
            </a:xfrm>
            <a:custGeom>
              <a:avLst/>
              <a:gdLst/>
              <a:ahLst/>
              <a:cxnLst/>
              <a:rect l="l" t="t" r="r" b="b"/>
              <a:pathLst>
                <a:path w="4286250" h="1980247">
                  <a:moveTo>
                    <a:pt x="0" y="1980247"/>
                  </a:moveTo>
                  <a:lnTo>
                    <a:pt x="18097" y="1980247"/>
                  </a:lnTo>
                  <a:lnTo>
                    <a:pt x="36195" y="1979295"/>
                  </a:lnTo>
                  <a:lnTo>
                    <a:pt x="53340" y="1979295"/>
                  </a:lnTo>
                  <a:lnTo>
                    <a:pt x="71438" y="1978342"/>
                  </a:lnTo>
                  <a:lnTo>
                    <a:pt x="89535" y="1978342"/>
                  </a:lnTo>
                  <a:lnTo>
                    <a:pt x="106680" y="1977390"/>
                  </a:lnTo>
                  <a:lnTo>
                    <a:pt x="124778" y="1976438"/>
                  </a:lnTo>
                  <a:lnTo>
                    <a:pt x="142875" y="1976438"/>
                  </a:lnTo>
                  <a:lnTo>
                    <a:pt x="160972" y="1975485"/>
                  </a:lnTo>
                  <a:lnTo>
                    <a:pt x="179070" y="1974532"/>
                  </a:lnTo>
                  <a:lnTo>
                    <a:pt x="196215" y="1973580"/>
                  </a:lnTo>
                  <a:lnTo>
                    <a:pt x="214312" y="1972627"/>
                  </a:lnTo>
                  <a:lnTo>
                    <a:pt x="232410" y="1971675"/>
                  </a:lnTo>
                  <a:lnTo>
                    <a:pt x="249555" y="1970722"/>
                  </a:lnTo>
                  <a:lnTo>
                    <a:pt x="267653" y="1969770"/>
                  </a:lnTo>
                  <a:lnTo>
                    <a:pt x="285750" y="1968818"/>
                  </a:lnTo>
                  <a:lnTo>
                    <a:pt x="303847" y="1967865"/>
                  </a:lnTo>
                  <a:lnTo>
                    <a:pt x="321945" y="1965960"/>
                  </a:lnTo>
                  <a:lnTo>
                    <a:pt x="339090" y="1965008"/>
                  </a:lnTo>
                  <a:lnTo>
                    <a:pt x="357188" y="1963102"/>
                  </a:lnTo>
                  <a:lnTo>
                    <a:pt x="375285" y="1962150"/>
                  </a:lnTo>
                  <a:lnTo>
                    <a:pt x="392430" y="1960245"/>
                  </a:lnTo>
                  <a:lnTo>
                    <a:pt x="410528" y="1958340"/>
                  </a:lnTo>
                  <a:lnTo>
                    <a:pt x="428625" y="1956435"/>
                  </a:lnTo>
                  <a:lnTo>
                    <a:pt x="446722" y="1954530"/>
                  </a:lnTo>
                  <a:lnTo>
                    <a:pt x="464820" y="1952625"/>
                  </a:lnTo>
                  <a:lnTo>
                    <a:pt x="481965" y="1950720"/>
                  </a:lnTo>
                  <a:lnTo>
                    <a:pt x="500062" y="1947862"/>
                  </a:lnTo>
                  <a:lnTo>
                    <a:pt x="518160" y="1945958"/>
                  </a:lnTo>
                  <a:lnTo>
                    <a:pt x="535305" y="1943100"/>
                  </a:lnTo>
                  <a:lnTo>
                    <a:pt x="553403" y="1940242"/>
                  </a:lnTo>
                  <a:lnTo>
                    <a:pt x="571500" y="1937385"/>
                  </a:lnTo>
                  <a:lnTo>
                    <a:pt x="589597" y="1933575"/>
                  </a:lnTo>
                  <a:lnTo>
                    <a:pt x="607695" y="1930718"/>
                  </a:lnTo>
                  <a:lnTo>
                    <a:pt x="624840" y="1926908"/>
                  </a:lnTo>
                  <a:lnTo>
                    <a:pt x="642938" y="1923097"/>
                  </a:lnTo>
                  <a:lnTo>
                    <a:pt x="661035" y="1919288"/>
                  </a:lnTo>
                  <a:lnTo>
                    <a:pt x="678180" y="1914525"/>
                  </a:lnTo>
                  <a:lnTo>
                    <a:pt x="696278" y="1910715"/>
                  </a:lnTo>
                  <a:lnTo>
                    <a:pt x="714375" y="1905952"/>
                  </a:lnTo>
                  <a:lnTo>
                    <a:pt x="732472" y="1900238"/>
                  </a:lnTo>
                  <a:lnTo>
                    <a:pt x="750570" y="1894522"/>
                  </a:lnTo>
                  <a:lnTo>
                    <a:pt x="767715" y="1888808"/>
                  </a:lnTo>
                  <a:lnTo>
                    <a:pt x="785812" y="1883092"/>
                  </a:lnTo>
                  <a:lnTo>
                    <a:pt x="803910" y="1876425"/>
                  </a:lnTo>
                  <a:lnTo>
                    <a:pt x="821055" y="1869758"/>
                  </a:lnTo>
                  <a:lnTo>
                    <a:pt x="839153" y="1862138"/>
                  </a:lnTo>
                  <a:lnTo>
                    <a:pt x="857250" y="1854518"/>
                  </a:lnTo>
                  <a:lnTo>
                    <a:pt x="875347" y="1846897"/>
                  </a:lnTo>
                  <a:lnTo>
                    <a:pt x="893445" y="1838325"/>
                  </a:lnTo>
                  <a:lnTo>
                    <a:pt x="910590" y="1828800"/>
                  </a:lnTo>
                  <a:lnTo>
                    <a:pt x="928688" y="1819275"/>
                  </a:lnTo>
                  <a:lnTo>
                    <a:pt x="946785" y="1809750"/>
                  </a:lnTo>
                  <a:lnTo>
                    <a:pt x="963930" y="1798320"/>
                  </a:lnTo>
                  <a:lnTo>
                    <a:pt x="982028" y="1787842"/>
                  </a:lnTo>
                  <a:lnTo>
                    <a:pt x="1000125" y="1775460"/>
                  </a:lnTo>
                  <a:lnTo>
                    <a:pt x="1018222" y="1763077"/>
                  </a:lnTo>
                  <a:lnTo>
                    <a:pt x="1036320" y="1749742"/>
                  </a:lnTo>
                  <a:lnTo>
                    <a:pt x="1053465" y="1735455"/>
                  </a:lnTo>
                  <a:lnTo>
                    <a:pt x="1071562" y="1721168"/>
                  </a:lnTo>
                  <a:lnTo>
                    <a:pt x="1089660" y="1705927"/>
                  </a:lnTo>
                  <a:lnTo>
                    <a:pt x="1106805" y="1689735"/>
                  </a:lnTo>
                  <a:lnTo>
                    <a:pt x="1124903" y="1672590"/>
                  </a:lnTo>
                  <a:lnTo>
                    <a:pt x="1143000" y="1655445"/>
                  </a:lnTo>
                  <a:lnTo>
                    <a:pt x="1161097" y="1636395"/>
                  </a:lnTo>
                  <a:lnTo>
                    <a:pt x="1179195" y="1617345"/>
                  </a:lnTo>
                  <a:lnTo>
                    <a:pt x="1196340" y="1597342"/>
                  </a:lnTo>
                  <a:lnTo>
                    <a:pt x="1214438" y="1575435"/>
                  </a:lnTo>
                  <a:lnTo>
                    <a:pt x="1232535" y="1553527"/>
                  </a:lnTo>
                  <a:lnTo>
                    <a:pt x="1249680" y="1530668"/>
                  </a:lnTo>
                  <a:lnTo>
                    <a:pt x="1267778" y="1506855"/>
                  </a:lnTo>
                  <a:lnTo>
                    <a:pt x="1285875" y="1481138"/>
                  </a:lnTo>
                  <a:lnTo>
                    <a:pt x="1303972" y="1455420"/>
                  </a:lnTo>
                  <a:lnTo>
                    <a:pt x="1322070" y="1428750"/>
                  </a:lnTo>
                  <a:lnTo>
                    <a:pt x="1339215" y="1400175"/>
                  </a:lnTo>
                  <a:lnTo>
                    <a:pt x="1357312" y="1371600"/>
                  </a:lnTo>
                  <a:lnTo>
                    <a:pt x="1375410" y="1341120"/>
                  </a:lnTo>
                  <a:lnTo>
                    <a:pt x="1392555" y="1309688"/>
                  </a:lnTo>
                  <a:lnTo>
                    <a:pt x="1410653" y="1278255"/>
                  </a:lnTo>
                  <a:lnTo>
                    <a:pt x="1428750" y="1244918"/>
                  </a:lnTo>
                  <a:lnTo>
                    <a:pt x="1446847" y="1211580"/>
                  </a:lnTo>
                  <a:lnTo>
                    <a:pt x="1464945" y="1176338"/>
                  </a:lnTo>
                  <a:lnTo>
                    <a:pt x="1482090" y="1140142"/>
                  </a:lnTo>
                  <a:lnTo>
                    <a:pt x="1500188" y="1103947"/>
                  </a:lnTo>
                  <a:lnTo>
                    <a:pt x="1518285" y="1066800"/>
                  </a:lnTo>
                  <a:lnTo>
                    <a:pt x="1535430" y="1028700"/>
                  </a:lnTo>
                  <a:lnTo>
                    <a:pt x="1553528" y="989647"/>
                  </a:lnTo>
                  <a:lnTo>
                    <a:pt x="1571625" y="949642"/>
                  </a:lnTo>
                  <a:lnTo>
                    <a:pt x="1589722" y="909638"/>
                  </a:lnTo>
                  <a:lnTo>
                    <a:pt x="1607820" y="869633"/>
                  </a:lnTo>
                  <a:lnTo>
                    <a:pt x="1624965" y="828675"/>
                  </a:lnTo>
                  <a:lnTo>
                    <a:pt x="1643062" y="787717"/>
                  </a:lnTo>
                  <a:lnTo>
                    <a:pt x="1661160" y="745808"/>
                  </a:lnTo>
                  <a:lnTo>
                    <a:pt x="1678305" y="704850"/>
                  </a:lnTo>
                  <a:lnTo>
                    <a:pt x="1696403" y="662940"/>
                  </a:lnTo>
                  <a:lnTo>
                    <a:pt x="1714500" y="621983"/>
                  </a:lnTo>
                  <a:lnTo>
                    <a:pt x="1732597" y="580072"/>
                  </a:lnTo>
                  <a:lnTo>
                    <a:pt x="1750695" y="540067"/>
                  </a:lnTo>
                  <a:lnTo>
                    <a:pt x="1767840" y="499110"/>
                  </a:lnTo>
                  <a:lnTo>
                    <a:pt x="1785938" y="460058"/>
                  </a:lnTo>
                  <a:lnTo>
                    <a:pt x="1804035" y="421005"/>
                  </a:lnTo>
                  <a:lnTo>
                    <a:pt x="1821180" y="382905"/>
                  </a:lnTo>
                  <a:lnTo>
                    <a:pt x="1839278" y="345758"/>
                  </a:lnTo>
                  <a:lnTo>
                    <a:pt x="1857375" y="310515"/>
                  </a:lnTo>
                  <a:lnTo>
                    <a:pt x="1875472" y="276225"/>
                  </a:lnTo>
                  <a:lnTo>
                    <a:pt x="1893570" y="242888"/>
                  </a:lnTo>
                  <a:lnTo>
                    <a:pt x="1910715" y="211455"/>
                  </a:lnTo>
                  <a:lnTo>
                    <a:pt x="1928812" y="181927"/>
                  </a:lnTo>
                  <a:lnTo>
                    <a:pt x="1946910" y="154305"/>
                  </a:lnTo>
                  <a:lnTo>
                    <a:pt x="1964055" y="128588"/>
                  </a:lnTo>
                  <a:lnTo>
                    <a:pt x="1982153" y="104775"/>
                  </a:lnTo>
                  <a:lnTo>
                    <a:pt x="2000250" y="83820"/>
                  </a:lnTo>
                  <a:lnTo>
                    <a:pt x="2018347" y="64770"/>
                  </a:lnTo>
                  <a:lnTo>
                    <a:pt x="2036445" y="47625"/>
                  </a:lnTo>
                  <a:lnTo>
                    <a:pt x="2053590" y="33338"/>
                  </a:lnTo>
                  <a:lnTo>
                    <a:pt x="2071688" y="20955"/>
                  </a:lnTo>
                  <a:lnTo>
                    <a:pt x="2089785" y="12383"/>
                  </a:lnTo>
                  <a:lnTo>
                    <a:pt x="2106930" y="5715"/>
                  </a:lnTo>
                  <a:lnTo>
                    <a:pt x="2125028" y="952"/>
                  </a:lnTo>
                  <a:lnTo>
                    <a:pt x="2143125" y="0"/>
                  </a:lnTo>
                  <a:lnTo>
                    <a:pt x="2161222" y="952"/>
                  </a:lnTo>
                  <a:lnTo>
                    <a:pt x="2179320" y="5715"/>
                  </a:lnTo>
                  <a:lnTo>
                    <a:pt x="2196465" y="12383"/>
                  </a:lnTo>
                  <a:lnTo>
                    <a:pt x="2214562" y="20955"/>
                  </a:lnTo>
                  <a:lnTo>
                    <a:pt x="2232660" y="33338"/>
                  </a:lnTo>
                  <a:lnTo>
                    <a:pt x="2249805" y="47625"/>
                  </a:lnTo>
                  <a:lnTo>
                    <a:pt x="2267902" y="64770"/>
                  </a:lnTo>
                  <a:lnTo>
                    <a:pt x="2286000" y="83820"/>
                  </a:lnTo>
                  <a:lnTo>
                    <a:pt x="2304098" y="104775"/>
                  </a:lnTo>
                  <a:lnTo>
                    <a:pt x="2322195" y="128588"/>
                  </a:lnTo>
                  <a:lnTo>
                    <a:pt x="2339340" y="154305"/>
                  </a:lnTo>
                  <a:lnTo>
                    <a:pt x="2357438" y="181927"/>
                  </a:lnTo>
                  <a:lnTo>
                    <a:pt x="2375535" y="211455"/>
                  </a:lnTo>
                  <a:lnTo>
                    <a:pt x="2392680" y="242888"/>
                  </a:lnTo>
                  <a:lnTo>
                    <a:pt x="2410778" y="276225"/>
                  </a:lnTo>
                  <a:lnTo>
                    <a:pt x="2428875" y="310515"/>
                  </a:lnTo>
                  <a:lnTo>
                    <a:pt x="2446972" y="345758"/>
                  </a:lnTo>
                  <a:lnTo>
                    <a:pt x="2465070" y="382905"/>
                  </a:lnTo>
                  <a:lnTo>
                    <a:pt x="2482215" y="421005"/>
                  </a:lnTo>
                  <a:lnTo>
                    <a:pt x="2500312" y="460058"/>
                  </a:lnTo>
                  <a:lnTo>
                    <a:pt x="2518410" y="499110"/>
                  </a:lnTo>
                  <a:lnTo>
                    <a:pt x="2535555" y="540067"/>
                  </a:lnTo>
                  <a:lnTo>
                    <a:pt x="2553652" y="580072"/>
                  </a:lnTo>
                  <a:lnTo>
                    <a:pt x="2571750" y="621983"/>
                  </a:lnTo>
                  <a:lnTo>
                    <a:pt x="2589848" y="662940"/>
                  </a:lnTo>
                  <a:lnTo>
                    <a:pt x="2607945" y="704850"/>
                  </a:lnTo>
                  <a:lnTo>
                    <a:pt x="2625090" y="745808"/>
                  </a:lnTo>
                  <a:lnTo>
                    <a:pt x="2643188" y="787717"/>
                  </a:lnTo>
                  <a:lnTo>
                    <a:pt x="2661285" y="828675"/>
                  </a:lnTo>
                  <a:lnTo>
                    <a:pt x="2678430" y="869633"/>
                  </a:lnTo>
                  <a:lnTo>
                    <a:pt x="2696528" y="909638"/>
                  </a:lnTo>
                  <a:lnTo>
                    <a:pt x="2714625" y="949642"/>
                  </a:lnTo>
                  <a:lnTo>
                    <a:pt x="2732722" y="989647"/>
                  </a:lnTo>
                  <a:lnTo>
                    <a:pt x="2750820" y="1028700"/>
                  </a:lnTo>
                  <a:lnTo>
                    <a:pt x="2767965" y="1066800"/>
                  </a:lnTo>
                  <a:lnTo>
                    <a:pt x="2786062" y="1103947"/>
                  </a:lnTo>
                  <a:lnTo>
                    <a:pt x="2804160" y="1140142"/>
                  </a:lnTo>
                  <a:lnTo>
                    <a:pt x="2821305" y="1176338"/>
                  </a:lnTo>
                  <a:lnTo>
                    <a:pt x="2839402" y="1211580"/>
                  </a:lnTo>
                  <a:lnTo>
                    <a:pt x="2857500" y="1244918"/>
                  </a:lnTo>
                  <a:lnTo>
                    <a:pt x="2875598" y="1278255"/>
                  </a:lnTo>
                  <a:lnTo>
                    <a:pt x="2893695" y="1309688"/>
                  </a:lnTo>
                  <a:lnTo>
                    <a:pt x="2910840" y="1341120"/>
                  </a:lnTo>
                  <a:lnTo>
                    <a:pt x="2928938" y="1371600"/>
                  </a:lnTo>
                  <a:lnTo>
                    <a:pt x="2947035" y="1400175"/>
                  </a:lnTo>
                  <a:lnTo>
                    <a:pt x="2964180" y="1428750"/>
                  </a:lnTo>
                  <a:lnTo>
                    <a:pt x="2982277" y="1455420"/>
                  </a:lnTo>
                  <a:lnTo>
                    <a:pt x="3000375" y="1481138"/>
                  </a:lnTo>
                  <a:lnTo>
                    <a:pt x="3018473" y="1506855"/>
                  </a:lnTo>
                  <a:lnTo>
                    <a:pt x="3036570" y="1530668"/>
                  </a:lnTo>
                  <a:lnTo>
                    <a:pt x="3053715" y="1553527"/>
                  </a:lnTo>
                  <a:lnTo>
                    <a:pt x="3071812" y="1575435"/>
                  </a:lnTo>
                  <a:lnTo>
                    <a:pt x="3089910" y="1597342"/>
                  </a:lnTo>
                  <a:lnTo>
                    <a:pt x="3107055" y="1617345"/>
                  </a:lnTo>
                  <a:lnTo>
                    <a:pt x="3125152" y="1636395"/>
                  </a:lnTo>
                  <a:lnTo>
                    <a:pt x="3143250" y="1655445"/>
                  </a:lnTo>
                  <a:lnTo>
                    <a:pt x="3161348" y="1672590"/>
                  </a:lnTo>
                  <a:lnTo>
                    <a:pt x="3179445" y="1689735"/>
                  </a:lnTo>
                  <a:lnTo>
                    <a:pt x="3196590" y="1705927"/>
                  </a:lnTo>
                  <a:lnTo>
                    <a:pt x="3214688" y="1721168"/>
                  </a:lnTo>
                  <a:lnTo>
                    <a:pt x="3232785" y="1735455"/>
                  </a:lnTo>
                  <a:lnTo>
                    <a:pt x="3249930" y="1749742"/>
                  </a:lnTo>
                  <a:lnTo>
                    <a:pt x="3268027" y="1763077"/>
                  </a:lnTo>
                  <a:lnTo>
                    <a:pt x="3286125" y="1775460"/>
                  </a:lnTo>
                  <a:lnTo>
                    <a:pt x="3304223" y="1787842"/>
                  </a:lnTo>
                  <a:lnTo>
                    <a:pt x="3322320" y="1798320"/>
                  </a:lnTo>
                  <a:lnTo>
                    <a:pt x="3339465" y="1809750"/>
                  </a:lnTo>
                  <a:lnTo>
                    <a:pt x="3357562" y="1819275"/>
                  </a:lnTo>
                  <a:lnTo>
                    <a:pt x="3375660" y="1828800"/>
                  </a:lnTo>
                  <a:lnTo>
                    <a:pt x="3392805" y="1838325"/>
                  </a:lnTo>
                  <a:lnTo>
                    <a:pt x="3410902" y="1846897"/>
                  </a:lnTo>
                  <a:lnTo>
                    <a:pt x="3429000" y="1854518"/>
                  </a:lnTo>
                  <a:lnTo>
                    <a:pt x="3447098" y="1862138"/>
                  </a:lnTo>
                  <a:lnTo>
                    <a:pt x="3465195" y="1869758"/>
                  </a:lnTo>
                  <a:lnTo>
                    <a:pt x="3482340" y="1876425"/>
                  </a:lnTo>
                  <a:lnTo>
                    <a:pt x="3500438" y="1883092"/>
                  </a:lnTo>
                  <a:lnTo>
                    <a:pt x="3518535" y="1888808"/>
                  </a:lnTo>
                  <a:lnTo>
                    <a:pt x="3535680" y="1894522"/>
                  </a:lnTo>
                  <a:lnTo>
                    <a:pt x="3553777" y="1900238"/>
                  </a:lnTo>
                  <a:lnTo>
                    <a:pt x="3571875" y="1905952"/>
                  </a:lnTo>
                  <a:lnTo>
                    <a:pt x="3589973" y="1910715"/>
                  </a:lnTo>
                  <a:lnTo>
                    <a:pt x="3608070" y="1914525"/>
                  </a:lnTo>
                  <a:lnTo>
                    <a:pt x="3625215" y="1919288"/>
                  </a:lnTo>
                  <a:lnTo>
                    <a:pt x="3643312" y="1923097"/>
                  </a:lnTo>
                  <a:lnTo>
                    <a:pt x="3661410" y="1926908"/>
                  </a:lnTo>
                  <a:lnTo>
                    <a:pt x="3678555" y="1930718"/>
                  </a:lnTo>
                  <a:lnTo>
                    <a:pt x="3696652" y="1933575"/>
                  </a:lnTo>
                  <a:lnTo>
                    <a:pt x="3714750" y="1937385"/>
                  </a:lnTo>
                  <a:lnTo>
                    <a:pt x="3732848" y="1940242"/>
                  </a:lnTo>
                  <a:lnTo>
                    <a:pt x="3750945" y="1943100"/>
                  </a:lnTo>
                  <a:lnTo>
                    <a:pt x="3768090" y="1945958"/>
                  </a:lnTo>
                  <a:lnTo>
                    <a:pt x="3786188" y="1947862"/>
                  </a:lnTo>
                  <a:lnTo>
                    <a:pt x="3804285" y="1950720"/>
                  </a:lnTo>
                  <a:lnTo>
                    <a:pt x="3821430" y="1952625"/>
                  </a:lnTo>
                  <a:lnTo>
                    <a:pt x="3839527" y="1954530"/>
                  </a:lnTo>
                  <a:lnTo>
                    <a:pt x="3857625" y="1956435"/>
                  </a:lnTo>
                  <a:lnTo>
                    <a:pt x="3875723" y="1958340"/>
                  </a:lnTo>
                  <a:lnTo>
                    <a:pt x="3893820" y="1960245"/>
                  </a:lnTo>
                  <a:lnTo>
                    <a:pt x="3910965" y="1962150"/>
                  </a:lnTo>
                  <a:lnTo>
                    <a:pt x="3929062" y="1963102"/>
                  </a:lnTo>
                  <a:lnTo>
                    <a:pt x="3947160" y="1965008"/>
                  </a:lnTo>
                  <a:lnTo>
                    <a:pt x="3964305" y="1965960"/>
                  </a:lnTo>
                  <a:lnTo>
                    <a:pt x="3982402" y="1967865"/>
                  </a:lnTo>
                  <a:lnTo>
                    <a:pt x="4000500" y="1968818"/>
                  </a:lnTo>
                  <a:lnTo>
                    <a:pt x="4018598" y="1969770"/>
                  </a:lnTo>
                  <a:lnTo>
                    <a:pt x="4036695" y="1970722"/>
                  </a:lnTo>
                  <a:lnTo>
                    <a:pt x="4053840" y="1971675"/>
                  </a:lnTo>
                  <a:lnTo>
                    <a:pt x="4071938" y="1972627"/>
                  </a:lnTo>
                  <a:lnTo>
                    <a:pt x="4090035" y="1973580"/>
                  </a:lnTo>
                  <a:lnTo>
                    <a:pt x="4107180" y="1974532"/>
                  </a:lnTo>
                  <a:lnTo>
                    <a:pt x="4125277" y="1975485"/>
                  </a:lnTo>
                  <a:lnTo>
                    <a:pt x="4143375" y="1976438"/>
                  </a:lnTo>
                  <a:lnTo>
                    <a:pt x="4161473" y="1976438"/>
                  </a:lnTo>
                  <a:lnTo>
                    <a:pt x="4179570" y="1977390"/>
                  </a:lnTo>
                  <a:lnTo>
                    <a:pt x="4196715" y="1978342"/>
                  </a:lnTo>
                  <a:lnTo>
                    <a:pt x="4214812" y="1978342"/>
                  </a:lnTo>
                  <a:lnTo>
                    <a:pt x="4232910" y="1979295"/>
                  </a:lnTo>
                  <a:lnTo>
                    <a:pt x="4250055" y="1979295"/>
                  </a:lnTo>
                  <a:lnTo>
                    <a:pt x="4268152" y="1980247"/>
                  </a:lnTo>
                  <a:lnTo>
                    <a:pt x="4286250" y="1980247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9849802" y="4034790"/>
              <a:ext cx="9525" cy="613410"/>
            </a:xfrm>
            <a:custGeom>
              <a:avLst/>
              <a:gdLst/>
              <a:ahLst/>
              <a:cxnLst/>
              <a:rect l="l" t="t" r="r" b="b"/>
              <a:pathLst>
                <a:path w="9525" h="613410">
                  <a:moveTo>
                    <a:pt x="0" y="61341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C2410C"/>
              </a:solidFill>
              <a:custDash>
                <a:ds d="312500" sp="250000"/>
              </a:custDash>
            </a:ln>
          </p:spPr>
        </p:sp>
        <p:sp>
          <p:nvSpPr>
            <p:cNvPr id="65" name="Ellipse 65"/>
            <p:cNvSpPr/>
            <p:nvPr/>
          </p:nvSpPr>
          <p:spPr>
            <a:xfrm>
              <a:off x="9809797" y="4608195"/>
              <a:ext cx="80010" cy="8001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66" name="Line 66"/>
            <p:cNvSpPr/>
            <p:nvPr/>
          </p:nvSpPr>
          <p:spPr>
            <a:xfrm>
              <a:off x="8000048" y="4034790"/>
              <a:ext cx="9525" cy="613410"/>
            </a:xfrm>
            <a:custGeom>
              <a:avLst/>
              <a:gdLst/>
              <a:ahLst/>
              <a:cxnLst/>
              <a:rect l="l" t="t" r="r" b="b"/>
              <a:pathLst>
                <a:path w="9525" h="613410">
                  <a:moveTo>
                    <a:pt x="0" y="61341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2F4B9A"/>
              </a:solidFill>
              <a:custDash>
                <a:ds d="312500" sp="250000"/>
              </a:custDash>
            </a:ln>
          </p:spPr>
        </p:sp>
        <p:sp>
          <p:nvSpPr>
            <p:cNvPr id="67" name="Ellipse 67"/>
            <p:cNvSpPr/>
            <p:nvPr/>
          </p:nvSpPr>
          <p:spPr>
            <a:xfrm>
              <a:off x="7960042" y="4608195"/>
              <a:ext cx="80010" cy="8001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Line 68"/>
            <p:cNvSpPr/>
            <p:nvPr/>
          </p:nvSpPr>
          <p:spPr>
            <a:xfrm>
              <a:off x="9849802" y="46482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627169" y="4723924"/>
              <a:ext cx="4452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1.8125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8000048" y="46482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741153" y="4723924"/>
              <a:ext cx="517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−1.8125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136122" y="3925834"/>
              <a:ext cx="63913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面积 0.05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10106501" y="4086225"/>
              <a:ext cx="298228" cy="413452"/>
            </a:xfrm>
            <a:custGeom>
              <a:avLst/>
              <a:gdLst/>
              <a:ahLst/>
              <a:cxnLst/>
              <a:rect l="l" t="t" r="r" b="b"/>
              <a:pathLst>
                <a:path w="298228" h="413452">
                  <a:moveTo>
                    <a:pt x="298228" y="0"/>
                  </a:moveTo>
                  <a:lnTo>
                    <a:pt x="0" y="413452"/>
                  </a:lnTo>
                </a:path>
              </a:pathLst>
            </a:custGeom>
            <a:noFill/>
            <a:ln w="12382">
              <a:solidFill>
                <a:srgbClr val="C2410C"/>
              </a:solidFill>
            </a:ln>
          </p:spPr>
        </p:sp>
        <p:sp>
          <p:nvSpPr>
            <p:cNvPr id="74" name="Polygon 74"/>
            <p:cNvSpPr/>
            <p:nvPr/>
          </p:nvSpPr>
          <p:spPr>
            <a:xfrm>
              <a:off x="10073068" y="4484627"/>
              <a:ext cx="54293" cy="61398"/>
            </a:xfrm>
            <a:custGeom>
              <a:avLst/>
              <a:gdLst/>
              <a:ahLst/>
              <a:cxnLst/>
              <a:rect l="l" t="t" r="r" b="b"/>
              <a:pathLst>
                <a:path w="54293" h="61398">
                  <a:moveTo>
                    <a:pt x="0" y="61398"/>
                  </a:moveTo>
                  <a:lnTo>
                    <a:pt x="12573" y="0"/>
                  </a:lnTo>
                  <a:lnTo>
                    <a:pt x="54293" y="30089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074559" y="3925834"/>
              <a:ext cx="63913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面积 0.05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7445150" y="4086225"/>
              <a:ext cx="298237" cy="413452"/>
            </a:xfrm>
            <a:custGeom>
              <a:avLst/>
              <a:gdLst/>
              <a:ahLst/>
              <a:cxnLst/>
              <a:rect l="l" t="t" r="r" b="b"/>
              <a:pathLst>
                <a:path w="298237" h="413452">
                  <a:moveTo>
                    <a:pt x="0" y="0"/>
                  </a:moveTo>
                  <a:lnTo>
                    <a:pt x="298237" y="413452"/>
                  </a:lnTo>
                </a:path>
              </a:pathLst>
            </a:custGeom>
            <a:noFill/>
            <a:ln w="12382">
              <a:solidFill>
                <a:srgbClr val="2F4B9A"/>
              </a:solidFill>
            </a:ln>
          </p:spPr>
        </p:sp>
        <p:sp>
          <p:nvSpPr>
            <p:cNvPr id="77" name="Polygon 77"/>
            <p:cNvSpPr/>
            <p:nvPr/>
          </p:nvSpPr>
          <p:spPr>
            <a:xfrm>
              <a:off x="7722527" y="4484627"/>
              <a:ext cx="54293" cy="61398"/>
            </a:xfrm>
            <a:custGeom>
              <a:avLst/>
              <a:gdLst/>
              <a:ahLst/>
              <a:cxnLst/>
              <a:rect l="l" t="t" r="r" b="b"/>
              <a:pathLst>
                <a:path w="54293" h="61398">
                  <a:moveTo>
                    <a:pt x="54293" y="61398"/>
                  </a:moveTo>
                  <a:lnTo>
                    <a:pt x="0" y="30089"/>
                  </a:lnTo>
                  <a:lnTo>
                    <a:pt x="41719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400800" y="5067300"/>
              <a:ext cx="5067300" cy="1028700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6410325" y="5172075"/>
              <a:ext cx="47625" cy="8191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6572250" y="5172075"/>
              <a:ext cx="7620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665214" y="52254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两条结论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566726" y="5483304"/>
              <a:ext cx="4433888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t₀.₀₅(10) = 1.8125，t₀.₉₅(10) = −1.8125，即 t₁₋α(n) = −tα(n)。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&gt; 45 时附表不再列出，直接用 tα(n) ≈ uα 近似。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83647" cy="909257"/>
            <a:chOff x="520446" y="342900"/>
            <a:chExt cx="69836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三大抽样分布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836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 t 定理：σ 未知时用 S 代替，分布变成 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242060"/>
            <a:chOff x="533400" y="1524000"/>
            <a:chExt cx="4760595" cy="12420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242060"/>
            </a:xfrm>
            <a:prstGeom prst="roundRect">
              <a:avLst>
                <a:gd name="adj" fmla="val 107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7536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342" y="175069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定理（单个总体）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47697" y="1756410"/>
              <a:ext cx="25343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N(μ, σ²)，S² 为样本方差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89"/>
                <p:cNvSpPr txBox="1">
                  <a:spLocks noGrp="1"/>
                </p:cNvSpPr>
                <p:nvPr/>
              </p:nvSpPr>
              <p:spPr>
                <a:xfrm>
                  <a:off x="763905" y="2067878"/>
                  <a:ext cx="4337685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ad>
                              <m:radPr>
                                <m:degHide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7" name="c1-steps-2"/>
          <p:cNvGrpSpPr/>
          <p:nvPr/>
        </p:nvGrpSpPr>
        <p:grpSpPr>
          <a:xfrm>
            <a:off x="533400" y="2950845"/>
            <a:ext cx="3113492" cy="1693069"/>
            <a:chOff x="533400" y="2950845"/>
            <a:chExt cx="3113492" cy="1693069"/>
          </a:xfrm>
        </p:grpSpPr>
        <p:sp>
          <p:nvSpPr>
            <p:cNvPr id="14" name="Rectangle 14"/>
            <p:cNvSpPr/>
            <p:nvPr/>
          </p:nvSpPr>
          <p:spPr>
            <a:xfrm>
              <a:off x="666750" y="3093720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29508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0246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537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611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1252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1990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642" y="298323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785" y="3250406"/>
              <a:ext cx="23565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(样本均值 − μ)/(σ/√n) ~ N(0, 1)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642" y="356997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785" y="3837146"/>
              <a:ext cx="2700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(n − 1)S²/σ² ~ χ²(n − 1)，与分子独立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642" y="415671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785" y="442388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t 的定义相除，σ 恰好约掉</a:t>
              </a:r>
            </a:p>
          </p:txBody>
        </p:sp>
      </p:grpSp>
      <p:grpSp>
        <p:nvGrpSpPr>
          <p:cNvPr id="34" name="c1-callout-3"/>
          <p:cNvGrpSpPr/>
          <p:nvPr/>
        </p:nvGrpSpPr>
        <p:grpSpPr>
          <a:xfrm>
            <a:off x="533400" y="4812982"/>
            <a:ext cx="4760595" cy="729615"/>
            <a:chOff x="533400" y="4812982"/>
            <a:chExt cx="4760595" cy="729615"/>
          </a:xfrm>
        </p:grpSpPr>
        <p:sp>
          <p:nvSpPr>
            <p:cNvPr id="28" name="Rectangle 28"/>
            <p:cNvSpPr/>
            <p:nvPr/>
          </p:nvSpPr>
          <p:spPr>
            <a:xfrm>
              <a:off x="533400" y="4812982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077778"/>
              <a:ext cx="200026" cy="200025"/>
              <a:chOff x="738188" y="5077778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07777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7926" y="512222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2642" y="523335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892" y="4959668"/>
              <a:ext cx="375989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σ 已知用 u 统计量，σ 未知用 t 统计量；n 很大时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t(n − 1) 接近 N(0, 1)，两者几乎相同。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5598795" y="1524000"/>
            <a:ext cx="6059805" cy="4018598"/>
            <a:chOff x="5598795" y="1524000"/>
            <a:chExt cx="6059805" cy="4018598"/>
          </a:xfrm>
        </p:grpSpPr>
        <p:sp>
          <p:nvSpPr>
            <p:cNvPr id="35" name="Rectangle 35"/>
            <p:cNvSpPr/>
            <p:nvPr/>
          </p:nvSpPr>
          <p:spPr>
            <a:xfrm>
              <a:off x="5598795" y="1524000"/>
              <a:ext cx="6059805" cy="4018598"/>
            </a:xfrm>
            <a:prstGeom prst="roundRect">
              <a:avLst>
                <a:gd name="adj" fmla="val 33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608320" y="1657350"/>
              <a:ext cx="47625" cy="375189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29300" y="171640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96737" y="175069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定理（两个总体）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822442" y="2072640"/>
              <a:ext cx="5004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X ~ N(μ₁, σ²)，Y ~ N(μ₂, σ²) 相互独立，两总体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方差相同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22442" y="2392680"/>
              <a:ext cx="2430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σ₁² = σ₂² = σ² 的条件下，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formula290"/>
                <p:cNvSpPr txBox="1">
                  <a:spLocks noGrp="1"/>
                </p:cNvSpPr>
                <p:nvPr/>
              </p:nvSpPr>
              <p:spPr>
                <a:xfrm>
                  <a:off x="5829300" y="2672715"/>
                  <a:ext cx="5636895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bar>
                                  <m:barPr>
                                    <m:pos m:val="top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bar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ba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bar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</m:ba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sub>
                            </m:sSub>
                            <m:rad>
                              <m:radPr>
                                <m:degHide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2" name="TextBox 42"/>
            <p:cNvSpPr txBox="1"/>
            <p:nvPr/>
          </p:nvSpPr>
          <p:spPr>
            <a:xfrm>
              <a:off x="5822442" y="3219450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分母里是两个样本方差按自由度加权合并后的标准差：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formula291"/>
                <p:cNvSpPr txBox="1">
                  <a:spLocks noGrp="1"/>
                </p:cNvSpPr>
                <p:nvPr/>
              </p:nvSpPr>
              <p:spPr>
                <a:xfrm>
                  <a:off x="5829300" y="3499485"/>
                  <a:ext cx="5636895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  <m:sSubSup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  <m:sSubSup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ra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4" name="TextBox 44"/>
            <p:cNvSpPr txBox="1"/>
            <p:nvPr/>
          </p:nvSpPr>
          <p:spPr>
            <a:xfrm>
              <a:off x="5822442" y="4019550"/>
              <a:ext cx="532009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自由度的来历：两个 χ² 变量 (n₁ − 1)S₁²/σ² 与 (n₂ − 1)S₂²/σ² 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立，相加后服从 χ²(n₁ + n₂ − 2)，再与分子的标准正态相除。例如 n₁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10、n₂ = 8 时，统计量服从 t(16)。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823585" y="4833461"/>
              <a:ext cx="4045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两样本容量相等时，合并方差就是 S₁² 与 S₂² 的算术平均。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7" name="Rectangle 4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892" y="6023610"/>
              <a:ext cx="74467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两总体的 t 定理要求 σ₁² = σ₂²（课件用方框标出）；方差不等时不能把两个样本方差合并。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72686" cy="909257"/>
            <a:chOff x="520446" y="342900"/>
            <a:chExt cx="66726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三大抽样分布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726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例14：多抽一个观测值，构造一个 t 统计量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900238"/>
            <a:chOff x="533400" y="1524000"/>
            <a:chExt cx="4760595" cy="19002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900238"/>
            </a:xfrm>
            <a:prstGeom prst="roundRect">
              <a:avLst>
                <a:gd name="adj" fmla="val 70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335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003" y="1769269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149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 X₁, …, Xₙ, Xₙ₊₁ 来自 N(μ, σ²)，用前 n 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算样本均值和样本方差 Sₙ²。证明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96"/>
                <p:cNvSpPr txBox="1">
                  <a:spLocks noGrp="1"/>
                </p:cNvSpPr>
                <p:nvPr/>
              </p:nvSpPr>
              <p:spPr>
                <a:xfrm>
                  <a:off x="781050" y="2707005"/>
                  <a:ext cx="4303395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ad>
                          <m:radPr>
                            <m:degHide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num>
                              <m:den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den>
                            </m:f>
                          </m:e>
                        </m:ra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</m:num>
                          <m:den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9" name="c1-card-2"/>
          <p:cNvGrpSpPr/>
          <p:nvPr/>
        </p:nvGrpSpPr>
        <p:grpSpPr>
          <a:xfrm>
            <a:off x="533400" y="3614738"/>
            <a:ext cx="4760595" cy="1602105"/>
            <a:chOff x="533400" y="3614738"/>
            <a:chExt cx="4760595" cy="1602105"/>
          </a:xfrm>
        </p:grpSpPr>
        <p:sp>
          <p:nvSpPr>
            <p:cNvPr id="14" name="Rectangle 14"/>
            <p:cNvSpPr/>
            <p:nvPr/>
          </p:nvSpPr>
          <p:spPr>
            <a:xfrm>
              <a:off x="533400" y="3614738"/>
              <a:ext cx="476059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748088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82428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1258" y="38600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4201478"/>
              <a:ext cx="40919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t 的定义找两样东西：一个标准正态的分子，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一个与它独立的 χ²(n − 1)。Xₙ₊₁ 与前 n 个样本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独立，所以差的方差是两个方差相加。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formula297"/>
              <p:cNvSpPr txBox="1">
                <a:spLocks noGrp="1"/>
              </p:cNvSpPr>
              <p:nvPr/>
            </p:nvSpPr>
            <p:spPr>
              <a:xfrm>
                <a:off x="5598795" y="1524000"/>
                <a:ext cx="6059805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bar>
                        <m:barPr>
                          <m:pos m:val="top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ba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f>
                            <m:fPr>
                              <m:type m:val="bar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den>
                          </m:f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298"/>
              <p:cNvSpPr txBox="1">
                <a:spLocks noGrp="1"/>
              </p:cNvSpPr>
              <p:nvPr/>
            </p:nvSpPr>
            <p:spPr>
              <a:xfrm>
                <a:off x="5598795" y="2177415"/>
                <a:ext cx="6059805" cy="437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bar>
                            <m:barPr>
                              <m:pos m:val="top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ba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type m:val="bar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den>
                              </m:f>
                            </m:e>
                          </m:rad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χ</m:t>
                          </m:r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sSub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s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χ</m:t>
                          </m:r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formula299"/>
              <p:cNvSpPr txBox="1">
                <a:spLocks noGrp="1"/>
              </p:cNvSpPr>
              <p:nvPr/>
            </p:nvSpPr>
            <p:spPr>
              <a:xfrm>
                <a:off x="5598795" y="2805112"/>
                <a:ext cx="6059805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χ</m:t>
                                  </m:r>
                                </m:e>
                                <m:sup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num>
                            <m:den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den>
                          </m:f>
                        </m:e>
                      </m:ra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bar>
                            <m:barPr>
                              <m:pos m:val="top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bar>
                        </m:num>
                        <m:den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8" name="c2-card-4"/>
          <p:cNvGrpSpPr/>
          <p:nvPr/>
        </p:nvGrpSpPr>
        <p:grpSpPr>
          <a:xfrm>
            <a:off x="5598795" y="3458528"/>
            <a:ext cx="6059805" cy="1758315"/>
            <a:chOff x="5598795" y="3458528"/>
            <a:chExt cx="6059805" cy="1758315"/>
          </a:xfrm>
        </p:grpSpPr>
        <p:sp>
          <p:nvSpPr>
            <p:cNvPr id="23" name="Rectangle 23"/>
            <p:cNvSpPr/>
            <p:nvPr/>
          </p:nvSpPr>
          <p:spPr>
            <a:xfrm>
              <a:off x="5598795" y="3458528"/>
              <a:ext cx="6059805" cy="1758315"/>
            </a:xfrm>
            <a:prstGeom prst="roundRect">
              <a:avLst>
                <a:gd name="adj" fmla="val 75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608320" y="3591878"/>
              <a:ext cx="47625" cy="14916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846445" y="3668078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19902" y="37037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独立性从哪来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38825" y="4045268"/>
              <a:ext cx="5234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Xₙ₊₁ 与前 n 个样本独立；前 n 个的样本均值与 Sₙ² 独立（χ²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定理2）。所以 U 与 χ² 相互独立，课件里这一步只写了结论。</a:t>
              </a:r>
            </a:p>
          </p:txBody>
        </p:sp>
      </p:grpSp>
      <p:grpSp>
        <p:nvGrpSpPr>
          <p:cNvPr id="3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29" name="Rectangle 2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130" y="5991225"/>
              <a:ext cx="10111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构造 t 统计量的套路：分子凑成标准正态，分母凑成与它独立的 χ² 除以自由度再开方，未知的 σ 在相除时约掉。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54881" cy="909257"/>
            <a:chOff x="520446" y="342900"/>
            <a:chExt cx="64548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三大抽样分布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548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分布：两个独立 χ² 各除以自由度再相比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951220" cy="2312670"/>
            <a:chOff x="533400" y="1524000"/>
            <a:chExt cx="5951220" cy="23126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312670"/>
            </a:xfrm>
            <a:prstGeom prst="roundRect">
              <a:avLst>
                <a:gd name="adj" fmla="val 57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4597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5654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~ χ²(n₁)，Y ~ χ²(n₂)，且 X 与 Y 相互独立，称随机变量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303"/>
                <p:cNvSpPr txBox="1">
                  <a:spLocks noGrp="1"/>
                </p:cNvSpPr>
                <p:nvPr/>
              </p:nvSpPr>
              <p:spPr>
                <a:xfrm>
                  <a:off x="781050" y="2421255"/>
                  <a:ext cx="549402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3430" y="3107055"/>
              <a:ext cx="5149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服从第一自由度为 n₁、第二自由度为 n₂ 的 F 分布，记作 F ~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F(n₁, n₂)。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027170"/>
            <a:ext cx="5951220" cy="2289810"/>
            <a:chOff x="533400" y="4027170"/>
            <a:chExt cx="5951220" cy="2289810"/>
          </a:xfrm>
        </p:grpSpPr>
        <p:sp>
          <p:nvSpPr>
            <p:cNvPr id="15" name="Rectangle 15"/>
            <p:cNvSpPr/>
            <p:nvPr/>
          </p:nvSpPr>
          <p:spPr>
            <a:xfrm>
              <a:off x="533400" y="4027170"/>
              <a:ext cx="5951220" cy="2289810"/>
            </a:xfrm>
            <a:prstGeom prst="roundRect">
              <a:avLst>
                <a:gd name="adj" fmla="val 58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160520"/>
              <a:ext cx="47625" cy="202311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4236720"/>
              <a:ext cx="257079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5404" y="4272439"/>
              <a:ext cx="246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概率密度（x &gt; 0 时，x ≤ 0 时为 0）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304"/>
                <p:cNvSpPr txBox="1">
                  <a:spLocks noGrp="1"/>
                </p:cNvSpPr>
                <p:nvPr/>
              </p:nvSpPr>
              <p:spPr>
                <a:xfrm>
                  <a:off x="781050" y="4589145"/>
                  <a:ext cx="5494020" cy="5829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Γ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Γ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Γ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den>
                        </m:f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0" name="TextBox 20"/>
            <p:cNvSpPr txBox="1"/>
            <p:nvPr/>
          </p:nvSpPr>
          <p:spPr>
            <a:xfrm>
              <a:off x="773430" y="5292090"/>
              <a:ext cx="4882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密度只在正半轴上取值，右偏。n₂ &gt; 2 时期望为 n₂/(n₂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2)，只和第二自由度有关，n₂ 越大越接近 1。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789420" y="1524000"/>
            <a:ext cx="4869180" cy="2312670"/>
            <a:chOff x="6789420" y="1524000"/>
            <a:chExt cx="4869180" cy="2312670"/>
          </a:xfrm>
        </p:grpSpPr>
        <p:sp>
          <p:nvSpPr>
            <p:cNvPr id="22" name="Rectangle 22"/>
            <p:cNvSpPr/>
            <p:nvPr/>
          </p:nvSpPr>
          <p:spPr>
            <a:xfrm>
              <a:off x="6789420" y="1524000"/>
              <a:ext cx="4869180" cy="2312670"/>
            </a:xfrm>
            <a:prstGeom prst="roundRect">
              <a:avLst>
                <a:gd name="adj" fmla="val 57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798945" y="1657350"/>
              <a:ext cx="47625" cy="204597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037070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3218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29450" y="2110740"/>
              <a:ext cx="20122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F ~ F(n₁, n₂)，则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305"/>
                <p:cNvSpPr txBox="1">
                  <a:spLocks noGrp="1"/>
                </p:cNvSpPr>
                <p:nvPr/>
              </p:nvSpPr>
              <p:spPr>
                <a:xfrm>
                  <a:off x="7037070" y="2421255"/>
                  <a:ext cx="441198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8" name="TextBox 28"/>
            <p:cNvSpPr txBox="1"/>
            <p:nvPr/>
          </p:nvSpPr>
          <p:spPr>
            <a:xfrm>
              <a:off x="7029450" y="310705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由定义直接看出：取倒数就是分子分母对调，自由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度跟着对调。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6789420" y="4027170"/>
            <a:ext cx="4869180" cy="1316355"/>
            <a:chOff x="6789420" y="4027170"/>
            <a:chExt cx="4869180" cy="1316355"/>
          </a:xfrm>
        </p:grpSpPr>
        <p:sp>
          <p:nvSpPr>
            <p:cNvPr id="30" name="Rectangle 30"/>
            <p:cNvSpPr/>
            <p:nvPr/>
          </p:nvSpPr>
          <p:spPr>
            <a:xfrm>
              <a:off x="6789420" y="4027170"/>
              <a:ext cx="486918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798945" y="416052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037070" y="4236720"/>
              <a:ext cx="950595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14074" y="4272439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和 t 的联系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29450" y="4613910"/>
              <a:ext cx="4244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t ~ t(n)，则 t² ~ F(1, n)。t 的分子平方后是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χ²(1)，分母平方后是 χ²(n)/n（本节例15）。</a:t>
              </a:r>
            </a:p>
          </p:txBody>
        </p:sp>
      </p:grpSp>
      <p:grpSp>
        <p:nvGrpSpPr>
          <p:cNvPr id="42" name="c2-callout-3"/>
          <p:cNvGrpSpPr/>
          <p:nvPr/>
        </p:nvGrpSpPr>
        <p:grpSpPr>
          <a:xfrm>
            <a:off x="6789420" y="5534025"/>
            <a:ext cx="4869180" cy="782955"/>
            <a:chOff x="6789420" y="5534025"/>
            <a:chExt cx="4869180" cy="782955"/>
          </a:xfrm>
        </p:grpSpPr>
        <p:sp>
          <p:nvSpPr>
            <p:cNvPr id="36" name="Rectangle 36"/>
            <p:cNvSpPr/>
            <p:nvPr/>
          </p:nvSpPr>
          <p:spPr>
            <a:xfrm>
              <a:off x="6789420" y="5534025"/>
              <a:ext cx="486918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982149" y="5821798"/>
              <a:ext cx="224134" cy="192560"/>
              <a:chOff x="6982149" y="5821798"/>
              <a:chExt cx="224134" cy="1925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094220" y="589216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982149" y="582179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094220" y="59699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7296150" y="5682615"/>
              <a:ext cx="38823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F(n₁, n₂) 与 F(n₂, n₁) 是两个不同的分布，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写的时候先分子后分母。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25719" cy="909257"/>
            <a:chOff x="520446" y="342900"/>
            <a:chExt cx="41257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三大抽样分布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257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分布的图像与上下分位点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fA"/>
          <p:cNvGrpSpPr/>
          <p:nvPr/>
        </p:nvGrpSpPr>
        <p:grpSpPr>
          <a:xfrm>
            <a:off x="533400" y="1524000"/>
            <a:ext cx="5524500" cy="4762500"/>
            <a:chOff x="533400" y="1524000"/>
            <a:chExt cx="55245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524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1662589"/>
              <a:ext cx="28301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F(n₁, n₂) 的密度：只取正值，右偏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566" y="1925002"/>
              <a:ext cx="37635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两个自由度都影响形状；n₂ 越大，峰越高越集中在 1 附近。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143000" y="4743450"/>
              <a:ext cx="4333875" cy="9525"/>
            </a:xfrm>
            <a:custGeom>
              <a:avLst/>
              <a:gdLst/>
              <a:ahLst/>
              <a:cxnLst/>
              <a:rect l="l" t="t" r="r" b="b"/>
              <a:pathLst>
                <a:path w="4333875" h="9525">
                  <a:moveTo>
                    <a:pt x="0" y="0"/>
                  </a:moveTo>
                  <a:lnTo>
                    <a:pt x="43338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5476875" y="471344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1143000" y="2333625"/>
              <a:ext cx="9525" cy="2409825"/>
            </a:xfrm>
            <a:custGeom>
              <a:avLst/>
              <a:gdLst/>
              <a:ahLst/>
              <a:cxnLst/>
              <a:rect l="l" t="t" r="r" b="b"/>
              <a:pathLst>
                <a:path w="9525" h="2409825">
                  <a:moveTo>
                    <a:pt x="0" y="24098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1112996" y="2266950"/>
              <a:ext cx="60008" cy="66675"/>
            </a:xfrm>
            <a:custGeom>
              <a:avLst/>
              <a:gdLst/>
              <a:ahLst/>
              <a:cxnLst/>
              <a:rect l="l" t="t" r="r" b="b"/>
              <a:pathLst>
                <a:path w="60008" h="66675">
                  <a:moveTo>
                    <a:pt x="30004" y="0"/>
                  </a:moveTo>
                  <a:lnTo>
                    <a:pt x="60008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585841" y="46777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13866" y="217265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0999" y="480012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147762" y="2476500"/>
              <a:ext cx="4281488" cy="2266950"/>
            </a:xfrm>
            <a:custGeom>
              <a:avLst/>
              <a:gdLst/>
              <a:ahLst/>
              <a:cxnLst/>
              <a:rect l="l" t="t" r="r" b="b"/>
              <a:pathLst>
                <a:path w="4281488" h="2266950">
                  <a:moveTo>
                    <a:pt x="0" y="2266950"/>
                  </a:moveTo>
                  <a:lnTo>
                    <a:pt x="14288" y="2266950"/>
                  </a:lnTo>
                  <a:lnTo>
                    <a:pt x="28575" y="2265998"/>
                  </a:lnTo>
                  <a:lnTo>
                    <a:pt x="42862" y="2264092"/>
                  </a:lnTo>
                  <a:lnTo>
                    <a:pt x="57150" y="2260282"/>
                  </a:lnTo>
                  <a:lnTo>
                    <a:pt x="71438" y="2253615"/>
                  </a:lnTo>
                  <a:lnTo>
                    <a:pt x="85725" y="2243138"/>
                  </a:lnTo>
                  <a:lnTo>
                    <a:pt x="100012" y="2227898"/>
                  </a:lnTo>
                  <a:lnTo>
                    <a:pt x="114300" y="2207895"/>
                  </a:lnTo>
                  <a:lnTo>
                    <a:pt x="128588" y="2182178"/>
                  </a:lnTo>
                  <a:lnTo>
                    <a:pt x="142875" y="2150745"/>
                  </a:lnTo>
                  <a:lnTo>
                    <a:pt x="157162" y="2113598"/>
                  </a:lnTo>
                  <a:lnTo>
                    <a:pt x="171450" y="2071688"/>
                  </a:lnTo>
                  <a:lnTo>
                    <a:pt x="185738" y="2023110"/>
                  </a:lnTo>
                  <a:lnTo>
                    <a:pt x="200025" y="1969770"/>
                  </a:lnTo>
                  <a:lnTo>
                    <a:pt x="214312" y="1911668"/>
                  </a:lnTo>
                  <a:lnTo>
                    <a:pt x="228600" y="1848803"/>
                  </a:lnTo>
                  <a:lnTo>
                    <a:pt x="242888" y="1782128"/>
                  </a:lnTo>
                  <a:lnTo>
                    <a:pt x="257175" y="1712595"/>
                  </a:lnTo>
                  <a:lnTo>
                    <a:pt x="271462" y="1639253"/>
                  </a:lnTo>
                  <a:lnTo>
                    <a:pt x="285750" y="1564005"/>
                  </a:lnTo>
                  <a:lnTo>
                    <a:pt x="300038" y="1486853"/>
                  </a:lnTo>
                  <a:lnTo>
                    <a:pt x="314325" y="1408747"/>
                  </a:lnTo>
                  <a:lnTo>
                    <a:pt x="328612" y="1329690"/>
                  </a:lnTo>
                  <a:lnTo>
                    <a:pt x="342900" y="1249680"/>
                  </a:lnTo>
                  <a:lnTo>
                    <a:pt x="357188" y="1170622"/>
                  </a:lnTo>
                  <a:lnTo>
                    <a:pt x="371475" y="1092518"/>
                  </a:lnTo>
                  <a:lnTo>
                    <a:pt x="385762" y="1014412"/>
                  </a:lnTo>
                  <a:lnTo>
                    <a:pt x="400050" y="939165"/>
                  </a:lnTo>
                  <a:lnTo>
                    <a:pt x="414338" y="864870"/>
                  </a:lnTo>
                  <a:lnTo>
                    <a:pt x="428625" y="792480"/>
                  </a:lnTo>
                  <a:lnTo>
                    <a:pt x="442912" y="722947"/>
                  </a:lnTo>
                  <a:lnTo>
                    <a:pt x="457200" y="655320"/>
                  </a:lnTo>
                  <a:lnTo>
                    <a:pt x="471488" y="591503"/>
                  </a:lnTo>
                  <a:lnTo>
                    <a:pt x="485775" y="530542"/>
                  </a:lnTo>
                  <a:lnTo>
                    <a:pt x="500062" y="472440"/>
                  </a:lnTo>
                  <a:lnTo>
                    <a:pt x="514350" y="418147"/>
                  </a:lnTo>
                  <a:lnTo>
                    <a:pt x="528638" y="366712"/>
                  </a:lnTo>
                  <a:lnTo>
                    <a:pt x="542925" y="318135"/>
                  </a:lnTo>
                  <a:lnTo>
                    <a:pt x="557212" y="274320"/>
                  </a:lnTo>
                  <a:lnTo>
                    <a:pt x="571500" y="233362"/>
                  </a:lnTo>
                  <a:lnTo>
                    <a:pt x="585788" y="196215"/>
                  </a:lnTo>
                  <a:lnTo>
                    <a:pt x="600075" y="161925"/>
                  </a:lnTo>
                  <a:lnTo>
                    <a:pt x="614362" y="131445"/>
                  </a:lnTo>
                  <a:lnTo>
                    <a:pt x="628650" y="103822"/>
                  </a:lnTo>
                  <a:lnTo>
                    <a:pt x="642938" y="80962"/>
                  </a:lnTo>
                  <a:lnTo>
                    <a:pt x="657225" y="60008"/>
                  </a:lnTo>
                  <a:lnTo>
                    <a:pt x="671512" y="42862"/>
                  </a:lnTo>
                  <a:lnTo>
                    <a:pt x="684848" y="28575"/>
                  </a:lnTo>
                  <a:lnTo>
                    <a:pt x="699135" y="17145"/>
                  </a:lnTo>
                  <a:lnTo>
                    <a:pt x="713422" y="8572"/>
                  </a:lnTo>
                  <a:lnTo>
                    <a:pt x="727710" y="3810"/>
                  </a:lnTo>
                  <a:lnTo>
                    <a:pt x="741998" y="953"/>
                  </a:lnTo>
                  <a:lnTo>
                    <a:pt x="756285" y="0"/>
                  </a:lnTo>
                  <a:lnTo>
                    <a:pt x="770572" y="2858"/>
                  </a:lnTo>
                  <a:lnTo>
                    <a:pt x="784860" y="6667"/>
                  </a:lnTo>
                  <a:lnTo>
                    <a:pt x="799148" y="13335"/>
                  </a:lnTo>
                  <a:lnTo>
                    <a:pt x="813435" y="22860"/>
                  </a:lnTo>
                  <a:lnTo>
                    <a:pt x="827722" y="33338"/>
                  </a:lnTo>
                  <a:lnTo>
                    <a:pt x="842010" y="45720"/>
                  </a:lnTo>
                  <a:lnTo>
                    <a:pt x="856298" y="60008"/>
                  </a:lnTo>
                  <a:lnTo>
                    <a:pt x="870585" y="76200"/>
                  </a:lnTo>
                  <a:lnTo>
                    <a:pt x="884872" y="94297"/>
                  </a:lnTo>
                  <a:lnTo>
                    <a:pt x="899160" y="113347"/>
                  </a:lnTo>
                  <a:lnTo>
                    <a:pt x="913448" y="133350"/>
                  </a:lnTo>
                  <a:lnTo>
                    <a:pt x="927735" y="154305"/>
                  </a:lnTo>
                  <a:lnTo>
                    <a:pt x="942022" y="177165"/>
                  </a:lnTo>
                  <a:lnTo>
                    <a:pt x="956310" y="200978"/>
                  </a:lnTo>
                  <a:lnTo>
                    <a:pt x="970598" y="225742"/>
                  </a:lnTo>
                  <a:lnTo>
                    <a:pt x="984885" y="251460"/>
                  </a:lnTo>
                  <a:lnTo>
                    <a:pt x="999172" y="277178"/>
                  </a:lnTo>
                  <a:lnTo>
                    <a:pt x="1013460" y="304800"/>
                  </a:lnTo>
                  <a:lnTo>
                    <a:pt x="1027748" y="332422"/>
                  </a:lnTo>
                  <a:lnTo>
                    <a:pt x="1042035" y="360045"/>
                  </a:lnTo>
                  <a:lnTo>
                    <a:pt x="1056322" y="388620"/>
                  </a:lnTo>
                  <a:lnTo>
                    <a:pt x="1070610" y="418147"/>
                  </a:lnTo>
                  <a:lnTo>
                    <a:pt x="1084898" y="446722"/>
                  </a:lnTo>
                  <a:lnTo>
                    <a:pt x="1099185" y="477203"/>
                  </a:lnTo>
                  <a:lnTo>
                    <a:pt x="1113472" y="506730"/>
                  </a:lnTo>
                  <a:lnTo>
                    <a:pt x="1127760" y="536258"/>
                  </a:lnTo>
                  <a:lnTo>
                    <a:pt x="1142048" y="566738"/>
                  </a:lnTo>
                  <a:lnTo>
                    <a:pt x="1156335" y="597217"/>
                  </a:lnTo>
                  <a:lnTo>
                    <a:pt x="1170622" y="627697"/>
                  </a:lnTo>
                  <a:lnTo>
                    <a:pt x="1184910" y="657225"/>
                  </a:lnTo>
                  <a:lnTo>
                    <a:pt x="1199198" y="687705"/>
                  </a:lnTo>
                  <a:lnTo>
                    <a:pt x="1213485" y="718185"/>
                  </a:lnTo>
                  <a:lnTo>
                    <a:pt x="1227772" y="747712"/>
                  </a:lnTo>
                  <a:lnTo>
                    <a:pt x="1242060" y="777240"/>
                  </a:lnTo>
                  <a:lnTo>
                    <a:pt x="1256348" y="806767"/>
                  </a:lnTo>
                  <a:lnTo>
                    <a:pt x="1270635" y="836295"/>
                  </a:lnTo>
                  <a:lnTo>
                    <a:pt x="1284922" y="865822"/>
                  </a:lnTo>
                  <a:lnTo>
                    <a:pt x="1299210" y="894397"/>
                  </a:lnTo>
                  <a:lnTo>
                    <a:pt x="1313497" y="923925"/>
                  </a:lnTo>
                  <a:lnTo>
                    <a:pt x="1327785" y="951547"/>
                  </a:lnTo>
                  <a:lnTo>
                    <a:pt x="1342072" y="980122"/>
                  </a:lnTo>
                  <a:lnTo>
                    <a:pt x="1356360" y="1007745"/>
                  </a:lnTo>
                  <a:lnTo>
                    <a:pt x="1370647" y="1035367"/>
                  </a:lnTo>
                  <a:lnTo>
                    <a:pt x="1384935" y="1062038"/>
                  </a:lnTo>
                  <a:lnTo>
                    <a:pt x="1399222" y="1088708"/>
                  </a:lnTo>
                  <a:lnTo>
                    <a:pt x="1413510" y="1115378"/>
                  </a:lnTo>
                  <a:lnTo>
                    <a:pt x="1427797" y="1141095"/>
                  </a:lnTo>
                  <a:lnTo>
                    <a:pt x="1442085" y="1166812"/>
                  </a:lnTo>
                  <a:lnTo>
                    <a:pt x="1456372" y="1191578"/>
                  </a:lnTo>
                  <a:lnTo>
                    <a:pt x="1470660" y="1216342"/>
                  </a:lnTo>
                  <a:lnTo>
                    <a:pt x="1484947" y="1240155"/>
                  </a:lnTo>
                  <a:lnTo>
                    <a:pt x="1498282" y="1264920"/>
                  </a:lnTo>
                  <a:lnTo>
                    <a:pt x="1512570" y="1287780"/>
                  </a:lnTo>
                  <a:lnTo>
                    <a:pt x="1526858" y="1310640"/>
                  </a:lnTo>
                  <a:lnTo>
                    <a:pt x="1541145" y="1333500"/>
                  </a:lnTo>
                  <a:lnTo>
                    <a:pt x="1555432" y="1355408"/>
                  </a:lnTo>
                  <a:lnTo>
                    <a:pt x="1569720" y="1377315"/>
                  </a:lnTo>
                  <a:lnTo>
                    <a:pt x="1584008" y="1399222"/>
                  </a:lnTo>
                  <a:lnTo>
                    <a:pt x="1598295" y="1420178"/>
                  </a:lnTo>
                  <a:lnTo>
                    <a:pt x="1612582" y="1440180"/>
                  </a:lnTo>
                  <a:lnTo>
                    <a:pt x="1626870" y="1461135"/>
                  </a:lnTo>
                  <a:lnTo>
                    <a:pt x="1641158" y="1480185"/>
                  </a:lnTo>
                  <a:lnTo>
                    <a:pt x="1655445" y="1500188"/>
                  </a:lnTo>
                  <a:lnTo>
                    <a:pt x="1669732" y="1518285"/>
                  </a:lnTo>
                  <a:lnTo>
                    <a:pt x="1684020" y="1537335"/>
                  </a:lnTo>
                  <a:lnTo>
                    <a:pt x="1698308" y="1555432"/>
                  </a:lnTo>
                  <a:lnTo>
                    <a:pt x="1712595" y="1572578"/>
                  </a:lnTo>
                  <a:lnTo>
                    <a:pt x="1726882" y="1590675"/>
                  </a:lnTo>
                  <a:lnTo>
                    <a:pt x="1741170" y="1606868"/>
                  </a:lnTo>
                  <a:lnTo>
                    <a:pt x="1755458" y="1624012"/>
                  </a:lnTo>
                  <a:lnTo>
                    <a:pt x="1769745" y="1640205"/>
                  </a:lnTo>
                  <a:lnTo>
                    <a:pt x="1784032" y="1656397"/>
                  </a:lnTo>
                  <a:lnTo>
                    <a:pt x="1798320" y="1671638"/>
                  </a:lnTo>
                  <a:lnTo>
                    <a:pt x="1812608" y="1686878"/>
                  </a:lnTo>
                  <a:lnTo>
                    <a:pt x="1826895" y="1701165"/>
                  </a:lnTo>
                  <a:lnTo>
                    <a:pt x="1841182" y="1715453"/>
                  </a:lnTo>
                  <a:lnTo>
                    <a:pt x="1855470" y="1729740"/>
                  </a:lnTo>
                  <a:lnTo>
                    <a:pt x="1869758" y="1744028"/>
                  </a:lnTo>
                  <a:lnTo>
                    <a:pt x="1884045" y="1757362"/>
                  </a:lnTo>
                  <a:lnTo>
                    <a:pt x="1898332" y="1769745"/>
                  </a:lnTo>
                  <a:lnTo>
                    <a:pt x="1912620" y="1783080"/>
                  </a:lnTo>
                  <a:lnTo>
                    <a:pt x="1926908" y="1795462"/>
                  </a:lnTo>
                  <a:lnTo>
                    <a:pt x="1941195" y="1807845"/>
                  </a:lnTo>
                  <a:lnTo>
                    <a:pt x="1955482" y="1819275"/>
                  </a:lnTo>
                  <a:lnTo>
                    <a:pt x="1969770" y="1830705"/>
                  </a:lnTo>
                  <a:lnTo>
                    <a:pt x="1984058" y="1842135"/>
                  </a:lnTo>
                  <a:lnTo>
                    <a:pt x="1998345" y="1853565"/>
                  </a:lnTo>
                  <a:lnTo>
                    <a:pt x="2012632" y="1864042"/>
                  </a:lnTo>
                  <a:lnTo>
                    <a:pt x="2026920" y="1874520"/>
                  </a:lnTo>
                  <a:lnTo>
                    <a:pt x="2041208" y="1884997"/>
                  </a:lnTo>
                  <a:lnTo>
                    <a:pt x="2055495" y="1894522"/>
                  </a:lnTo>
                  <a:lnTo>
                    <a:pt x="2069782" y="1905000"/>
                  </a:lnTo>
                  <a:lnTo>
                    <a:pt x="2084070" y="1913572"/>
                  </a:lnTo>
                  <a:lnTo>
                    <a:pt x="2098358" y="1923097"/>
                  </a:lnTo>
                  <a:lnTo>
                    <a:pt x="2112645" y="1932622"/>
                  </a:lnTo>
                  <a:lnTo>
                    <a:pt x="2126932" y="1941195"/>
                  </a:lnTo>
                  <a:lnTo>
                    <a:pt x="2141220" y="1949768"/>
                  </a:lnTo>
                  <a:lnTo>
                    <a:pt x="2155508" y="1958340"/>
                  </a:lnTo>
                  <a:lnTo>
                    <a:pt x="2169795" y="1965960"/>
                  </a:lnTo>
                  <a:lnTo>
                    <a:pt x="2184082" y="1973580"/>
                  </a:lnTo>
                  <a:lnTo>
                    <a:pt x="2198370" y="1981200"/>
                  </a:lnTo>
                  <a:lnTo>
                    <a:pt x="2212658" y="1988820"/>
                  </a:lnTo>
                  <a:lnTo>
                    <a:pt x="2226945" y="1996440"/>
                  </a:lnTo>
                  <a:lnTo>
                    <a:pt x="2241232" y="2003108"/>
                  </a:lnTo>
                  <a:lnTo>
                    <a:pt x="2255520" y="2010728"/>
                  </a:lnTo>
                  <a:lnTo>
                    <a:pt x="2269808" y="2017395"/>
                  </a:lnTo>
                  <a:lnTo>
                    <a:pt x="2283142" y="2024062"/>
                  </a:lnTo>
                  <a:lnTo>
                    <a:pt x="2297430" y="2029778"/>
                  </a:lnTo>
                  <a:lnTo>
                    <a:pt x="2311718" y="2036445"/>
                  </a:lnTo>
                  <a:lnTo>
                    <a:pt x="2326005" y="2042160"/>
                  </a:lnTo>
                  <a:lnTo>
                    <a:pt x="2340292" y="2047875"/>
                  </a:lnTo>
                  <a:lnTo>
                    <a:pt x="2354580" y="2054542"/>
                  </a:lnTo>
                  <a:lnTo>
                    <a:pt x="2368868" y="2059305"/>
                  </a:lnTo>
                  <a:lnTo>
                    <a:pt x="2383155" y="2065020"/>
                  </a:lnTo>
                  <a:lnTo>
                    <a:pt x="2397442" y="2070735"/>
                  </a:lnTo>
                  <a:lnTo>
                    <a:pt x="2411730" y="2075497"/>
                  </a:lnTo>
                  <a:lnTo>
                    <a:pt x="2426018" y="2080260"/>
                  </a:lnTo>
                  <a:lnTo>
                    <a:pt x="2440305" y="2085975"/>
                  </a:lnTo>
                  <a:lnTo>
                    <a:pt x="2454592" y="2090738"/>
                  </a:lnTo>
                  <a:lnTo>
                    <a:pt x="2468880" y="2094547"/>
                  </a:lnTo>
                  <a:lnTo>
                    <a:pt x="2483168" y="2099310"/>
                  </a:lnTo>
                  <a:lnTo>
                    <a:pt x="2497455" y="2104072"/>
                  </a:lnTo>
                  <a:lnTo>
                    <a:pt x="2511742" y="2107882"/>
                  </a:lnTo>
                  <a:lnTo>
                    <a:pt x="2526030" y="2112645"/>
                  </a:lnTo>
                  <a:lnTo>
                    <a:pt x="2540318" y="2116455"/>
                  </a:lnTo>
                  <a:lnTo>
                    <a:pt x="2554605" y="2120265"/>
                  </a:lnTo>
                  <a:lnTo>
                    <a:pt x="2568892" y="2124075"/>
                  </a:lnTo>
                  <a:lnTo>
                    <a:pt x="2583180" y="2127885"/>
                  </a:lnTo>
                  <a:lnTo>
                    <a:pt x="2597468" y="2131695"/>
                  </a:lnTo>
                  <a:lnTo>
                    <a:pt x="2611755" y="2135505"/>
                  </a:lnTo>
                  <a:lnTo>
                    <a:pt x="2626042" y="2138362"/>
                  </a:lnTo>
                  <a:lnTo>
                    <a:pt x="2640330" y="2142172"/>
                  </a:lnTo>
                  <a:lnTo>
                    <a:pt x="2654618" y="2145030"/>
                  </a:lnTo>
                  <a:lnTo>
                    <a:pt x="2668905" y="2147888"/>
                  </a:lnTo>
                  <a:lnTo>
                    <a:pt x="2683192" y="2151698"/>
                  </a:lnTo>
                  <a:lnTo>
                    <a:pt x="2697480" y="2154555"/>
                  </a:lnTo>
                  <a:lnTo>
                    <a:pt x="2711768" y="2157412"/>
                  </a:lnTo>
                  <a:lnTo>
                    <a:pt x="2726055" y="2160270"/>
                  </a:lnTo>
                  <a:lnTo>
                    <a:pt x="2740342" y="2163128"/>
                  </a:lnTo>
                  <a:lnTo>
                    <a:pt x="2754630" y="2165985"/>
                  </a:lnTo>
                  <a:lnTo>
                    <a:pt x="2768918" y="2167890"/>
                  </a:lnTo>
                  <a:lnTo>
                    <a:pt x="2783205" y="2170748"/>
                  </a:lnTo>
                  <a:lnTo>
                    <a:pt x="2797492" y="2173605"/>
                  </a:lnTo>
                  <a:lnTo>
                    <a:pt x="2811780" y="2175510"/>
                  </a:lnTo>
                  <a:lnTo>
                    <a:pt x="2826068" y="2178368"/>
                  </a:lnTo>
                  <a:lnTo>
                    <a:pt x="2840355" y="2180272"/>
                  </a:lnTo>
                  <a:lnTo>
                    <a:pt x="2854642" y="2183130"/>
                  </a:lnTo>
                  <a:lnTo>
                    <a:pt x="2868930" y="2185035"/>
                  </a:lnTo>
                  <a:lnTo>
                    <a:pt x="2883218" y="2186940"/>
                  </a:lnTo>
                  <a:lnTo>
                    <a:pt x="2897505" y="2188845"/>
                  </a:lnTo>
                  <a:lnTo>
                    <a:pt x="2911792" y="2190750"/>
                  </a:lnTo>
                  <a:lnTo>
                    <a:pt x="2926080" y="2192655"/>
                  </a:lnTo>
                  <a:lnTo>
                    <a:pt x="2940368" y="2194560"/>
                  </a:lnTo>
                  <a:lnTo>
                    <a:pt x="2954655" y="2196465"/>
                  </a:lnTo>
                  <a:lnTo>
                    <a:pt x="2968942" y="2198370"/>
                  </a:lnTo>
                  <a:lnTo>
                    <a:pt x="2983230" y="2200275"/>
                  </a:lnTo>
                  <a:lnTo>
                    <a:pt x="2997518" y="2202180"/>
                  </a:lnTo>
                  <a:lnTo>
                    <a:pt x="3011805" y="2204085"/>
                  </a:lnTo>
                  <a:lnTo>
                    <a:pt x="3026092" y="2205038"/>
                  </a:lnTo>
                  <a:lnTo>
                    <a:pt x="3040380" y="2206942"/>
                  </a:lnTo>
                  <a:lnTo>
                    <a:pt x="3054668" y="2208848"/>
                  </a:lnTo>
                  <a:lnTo>
                    <a:pt x="3068955" y="2209800"/>
                  </a:lnTo>
                  <a:lnTo>
                    <a:pt x="3083242" y="2211705"/>
                  </a:lnTo>
                  <a:lnTo>
                    <a:pt x="3096578" y="2212658"/>
                  </a:lnTo>
                  <a:lnTo>
                    <a:pt x="3110865" y="2214562"/>
                  </a:lnTo>
                  <a:lnTo>
                    <a:pt x="3125152" y="2215515"/>
                  </a:lnTo>
                  <a:lnTo>
                    <a:pt x="3139440" y="2216468"/>
                  </a:lnTo>
                  <a:lnTo>
                    <a:pt x="3153728" y="2218372"/>
                  </a:lnTo>
                  <a:lnTo>
                    <a:pt x="3168015" y="2219325"/>
                  </a:lnTo>
                  <a:lnTo>
                    <a:pt x="3182302" y="2220278"/>
                  </a:lnTo>
                  <a:lnTo>
                    <a:pt x="3196590" y="2222182"/>
                  </a:lnTo>
                  <a:lnTo>
                    <a:pt x="3210878" y="2223135"/>
                  </a:lnTo>
                  <a:lnTo>
                    <a:pt x="3225165" y="2224088"/>
                  </a:lnTo>
                  <a:lnTo>
                    <a:pt x="3239452" y="2225040"/>
                  </a:lnTo>
                  <a:lnTo>
                    <a:pt x="3253740" y="2225992"/>
                  </a:lnTo>
                  <a:lnTo>
                    <a:pt x="3268028" y="2226945"/>
                  </a:lnTo>
                  <a:lnTo>
                    <a:pt x="3282315" y="2227898"/>
                  </a:lnTo>
                  <a:lnTo>
                    <a:pt x="3296602" y="2228850"/>
                  </a:lnTo>
                  <a:lnTo>
                    <a:pt x="3310890" y="2229802"/>
                  </a:lnTo>
                  <a:lnTo>
                    <a:pt x="3325178" y="2230755"/>
                  </a:lnTo>
                  <a:lnTo>
                    <a:pt x="3339465" y="2231708"/>
                  </a:lnTo>
                  <a:lnTo>
                    <a:pt x="3353752" y="2232660"/>
                  </a:lnTo>
                  <a:lnTo>
                    <a:pt x="3368040" y="2233612"/>
                  </a:lnTo>
                  <a:lnTo>
                    <a:pt x="3382328" y="2234565"/>
                  </a:lnTo>
                  <a:lnTo>
                    <a:pt x="3396615" y="2235518"/>
                  </a:lnTo>
                  <a:lnTo>
                    <a:pt x="3410902" y="2236470"/>
                  </a:lnTo>
                  <a:lnTo>
                    <a:pt x="3425190" y="2236470"/>
                  </a:lnTo>
                  <a:lnTo>
                    <a:pt x="3439478" y="2237422"/>
                  </a:lnTo>
                  <a:lnTo>
                    <a:pt x="3453765" y="2238375"/>
                  </a:lnTo>
                  <a:lnTo>
                    <a:pt x="3468052" y="2239328"/>
                  </a:lnTo>
                  <a:lnTo>
                    <a:pt x="3482340" y="2239328"/>
                  </a:lnTo>
                  <a:lnTo>
                    <a:pt x="3496628" y="2240280"/>
                  </a:lnTo>
                  <a:lnTo>
                    <a:pt x="3510915" y="2241232"/>
                  </a:lnTo>
                  <a:lnTo>
                    <a:pt x="3525202" y="2241232"/>
                  </a:lnTo>
                  <a:lnTo>
                    <a:pt x="3539490" y="2242185"/>
                  </a:lnTo>
                  <a:lnTo>
                    <a:pt x="3553778" y="2243138"/>
                  </a:lnTo>
                  <a:lnTo>
                    <a:pt x="3568065" y="2243138"/>
                  </a:lnTo>
                  <a:lnTo>
                    <a:pt x="3582352" y="2244090"/>
                  </a:lnTo>
                  <a:lnTo>
                    <a:pt x="3596640" y="2245042"/>
                  </a:lnTo>
                  <a:lnTo>
                    <a:pt x="3610928" y="2245042"/>
                  </a:lnTo>
                  <a:lnTo>
                    <a:pt x="3625215" y="2245995"/>
                  </a:lnTo>
                  <a:lnTo>
                    <a:pt x="3639502" y="2245995"/>
                  </a:lnTo>
                  <a:lnTo>
                    <a:pt x="3653790" y="2246948"/>
                  </a:lnTo>
                  <a:lnTo>
                    <a:pt x="3668078" y="2246948"/>
                  </a:lnTo>
                  <a:lnTo>
                    <a:pt x="3682365" y="2247900"/>
                  </a:lnTo>
                  <a:lnTo>
                    <a:pt x="3696652" y="2247900"/>
                  </a:lnTo>
                  <a:lnTo>
                    <a:pt x="3710940" y="2248852"/>
                  </a:lnTo>
                  <a:lnTo>
                    <a:pt x="3725228" y="2248852"/>
                  </a:lnTo>
                  <a:lnTo>
                    <a:pt x="3739515" y="2249805"/>
                  </a:lnTo>
                  <a:lnTo>
                    <a:pt x="3753802" y="2249805"/>
                  </a:lnTo>
                  <a:lnTo>
                    <a:pt x="3768090" y="2250758"/>
                  </a:lnTo>
                  <a:lnTo>
                    <a:pt x="3782378" y="2250758"/>
                  </a:lnTo>
                  <a:lnTo>
                    <a:pt x="3796665" y="2250758"/>
                  </a:lnTo>
                  <a:lnTo>
                    <a:pt x="3810952" y="2251710"/>
                  </a:lnTo>
                  <a:lnTo>
                    <a:pt x="3825240" y="2251710"/>
                  </a:lnTo>
                  <a:lnTo>
                    <a:pt x="3839528" y="2252662"/>
                  </a:lnTo>
                  <a:lnTo>
                    <a:pt x="3853815" y="2252662"/>
                  </a:lnTo>
                  <a:lnTo>
                    <a:pt x="3868102" y="2252662"/>
                  </a:lnTo>
                  <a:lnTo>
                    <a:pt x="3881438" y="2253615"/>
                  </a:lnTo>
                  <a:lnTo>
                    <a:pt x="3895725" y="2253615"/>
                  </a:lnTo>
                  <a:lnTo>
                    <a:pt x="3910012" y="2253615"/>
                  </a:lnTo>
                  <a:lnTo>
                    <a:pt x="3924300" y="2254568"/>
                  </a:lnTo>
                  <a:lnTo>
                    <a:pt x="3938588" y="2254568"/>
                  </a:lnTo>
                  <a:lnTo>
                    <a:pt x="3952875" y="2254568"/>
                  </a:lnTo>
                  <a:lnTo>
                    <a:pt x="3967162" y="2255520"/>
                  </a:lnTo>
                  <a:lnTo>
                    <a:pt x="3981450" y="2255520"/>
                  </a:lnTo>
                  <a:lnTo>
                    <a:pt x="3995738" y="2255520"/>
                  </a:lnTo>
                  <a:lnTo>
                    <a:pt x="4010025" y="2255520"/>
                  </a:lnTo>
                  <a:lnTo>
                    <a:pt x="4024312" y="2256472"/>
                  </a:lnTo>
                  <a:lnTo>
                    <a:pt x="4038600" y="2256472"/>
                  </a:lnTo>
                  <a:lnTo>
                    <a:pt x="4052888" y="2256472"/>
                  </a:lnTo>
                  <a:lnTo>
                    <a:pt x="4067175" y="2256472"/>
                  </a:lnTo>
                  <a:lnTo>
                    <a:pt x="4081462" y="2257425"/>
                  </a:lnTo>
                  <a:lnTo>
                    <a:pt x="4095750" y="2257425"/>
                  </a:lnTo>
                  <a:lnTo>
                    <a:pt x="4110038" y="2257425"/>
                  </a:lnTo>
                  <a:lnTo>
                    <a:pt x="4124325" y="2257425"/>
                  </a:lnTo>
                  <a:lnTo>
                    <a:pt x="4138612" y="2258378"/>
                  </a:lnTo>
                  <a:lnTo>
                    <a:pt x="4152900" y="2258378"/>
                  </a:lnTo>
                  <a:lnTo>
                    <a:pt x="4167188" y="2258378"/>
                  </a:lnTo>
                  <a:lnTo>
                    <a:pt x="4181475" y="2258378"/>
                  </a:lnTo>
                  <a:lnTo>
                    <a:pt x="4195762" y="2258378"/>
                  </a:lnTo>
                  <a:lnTo>
                    <a:pt x="4210050" y="2259330"/>
                  </a:lnTo>
                  <a:lnTo>
                    <a:pt x="4224338" y="2259330"/>
                  </a:lnTo>
                  <a:lnTo>
                    <a:pt x="4238625" y="2259330"/>
                  </a:lnTo>
                  <a:lnTo>
                    <a:pt x="4252912" y="2259330"/>
                  </a:lnTo>
                  <a:lnTo>
                    <a:pt x="4267200" y="2259330"/>
                  </a:lnTo>
                  <a:lnTo>
                    <a:pt x="4281488" y="2260282"/>
                  </a:lnTo>
                </a:path>
              </a:pathLst>
            </a:custGeom>
            <a:noFill/>
            <a:ln w="21908">
              <a:solidFill>
                <a:srgbClr val="14A38B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147762" y="3000375"/>
              <a:ext cx="4281488" cy="1743075"/>
            </a:xfrm>
            <a:custGeom>
              <a:avLst/>
              <a:gdLst/>
              <a:ahLst/>
              <a:cxnLst/>
              <a:rect l="l" t="t" r="r" b="b"/>
              <a:pathLst>
                <a:path w="4281488" h="1743075">
                  <a:moveTo>
                    <a:pt x="0" y="1743075"/>
                  </a:moveTo>
                  <a:lnTo>
                    <a:pt x="14288" y="1742122"/>
                  </a:lnTo>
                  <a:lnTo>
                    <a:pt x="28575" y="1739265"/>
                  </a:lnTo>
                  <a:lnTo>
                    <a:pt x="42862" y="1730692"/>
                  </a:lnTo>
                  <a:lnTo>
                    <a:pt x="57150" y="1714500"/>
                  </a:lnTo>
                  <a:lnTo>
                    <a:pt x="71438" y="1687830"/>
                  </a:lnTo>
                  <a:lnTo>
                    <a:pt x="85725" y="1652588"/>
                  </a:lnTo>
                  <a:lnTo>
                    <a:pt x="100012" y="1605915"/>
                  </a:lnTo>
                  <a:lnTo>
                    <a:pt x="114300" y="1551622"/>
                  </a:lnTo>
                  <a:lnTo>
                    <a:pt x="128588" y="1488758"/>
                  </a:lnTo>
                  <a:lnTo>
                    <a:pt x="142875" y="1419225"/>
                  </a:lnTo>
                  <a:lnTo>
                    <a:pt x="157162" y="1343978"/>
                  </a:lnTo>
                  <a:lnTo>
                    <a:pt x="171450" y="1264920"/>
                  </a:lnTo>
                  <a:lnTo>
                    <a:pt x="185738" y="1183958"/>
                  </a:lnTo>
                  <a:lnTo>
                    <a:pt x="200025" y="1101090"/>
                  </a:lnTo>
                  <a:lnTo>
                    <a:pt x="214312" y="1019175"/>
                  </a:lnTo>
                  <a:lnTo>
                    <a:pt x="228600" y="937260"/>
                  </a:lnTo>
                  <a:lnTo>
                    <a:pt x="242888" y="857250"/>
                  </a:lnTo>
                  <a:lnTo>
                    <a:pt x="257175" y="779145"/>
                  </a:lnTo>
                  <a:lnTo>
                    <a:pt x="271462" y="703897"/>
                  </a:lnTo>
                  <a:lnTo>
                    <a:pt x="285750" y="632460"/>
                  </a:lnTo>
                  <a:lnTo>
                    <a:pt x="300038" y="564833"/>
                  </a:lnTo>
                  <a:lnTo>
                    <a:pt x="314325" y="501015"/>
                  </a:lnTo>
                  <a:lnTo>
                    <a:pt x="328612" y="441008"/>
                  </a:lnTo>
                  <a:lnTo>
                    <a:pt x="342900" y="385762"/>
                  </a:lnTo>
                  <a:lnTo>
                    <a:pt x="357188" y="333375"/>
                  </a:lnTo>
                  <a:lnTo>
                    <a:pt x="371475" y="286703"/>
                  </a:lnTo>
                  <a:lnTo>
                    <a:pt x="385762" y="243840"/>
                  </a:lnTo>
                  <a:lnTo>
                    <a:pt x="400050" y="204788"/>
                  </a:lnTo>
                  <a:lnTo>
                    <a:pt x="414338" y="169545"/>
                  </a:lnTo>
                  <a:lnTo>
                    <a:pt x="428625" y="138112"/>
                  </a:lnTo>
                  <a:lnTo>
                    <a:pt x="442912" y="110490"/>
                  </a:lnTo>
                  <a:lnTo>
                    <a:pt x="457200" y="86678"/>
                  </a:lnTo>
                  <a:lnTo>
                    <a:pt x="471488" y="65722"/>
                  </a:lnTo>
                  <a:lnTo>
                    <a:pt x="485775" y="47625"/>
                  </a:lnTo>
                  <a:lnTo>
                    <a:pt x="500062" y="33338"/>
                  </a:lnTo>
                  <a:lnTo>
                    <a:pt x="514350" y="21908"/>
                  </a:lnTo>
                  <a:lnTo>
                    <a:pt x="528638" y="12383"/>
                  </a:lnTo>
                  <a:lnTo>
                    <a:pt x="542925" y="6667"/>
                  </a:lnTo>
                  <a:lnTo>
                    <a:pt x="557212" y="1905"/>
                  </a:lnTo>
                  <a:lnTo>
                    <a:pt x="571500" y="0"/>
                  </a:lnTo>
                  <a:lnTo>
                    <a:pt x="585788" y="0"/>
                  </a:lnTo>
                  <a:lnTo>
                    <a:pt x="600075" y="1905"/>
                  </a:lnTo>
                  <a:lnTo>
                    <a:pt x="614362" y="5715"/>
                  </a:lnTo>
                  <a:lnTo>
                    <a:pt x="628650" y="10478"/>
                  </a:lnTo>
                  <a:lnTo>
                    <a:pt x="642938" y="17145"/>
                  </a:lnTo>
                  <a:lnTo>
                    <a:pt x="657225" y="25717"/>
                  </a:lnTo>
                  <a:lnTo>
                    <a:pt x="671512" y="34290"/>
                  </a:lnTo>
                  <a:lnTo>
                    <a:pt x="684848" y="44767"/>
                  </a:lnTo>
                  <a:lnTo>
                    <a:pt x="699135" y="56197"/>
                  </a:lnTo>
                  <a:lnTo>
                    <a:pt x="713422" y="68580"/>
                  </a:lnTo>
                  <a:lnTo>
                    <a:pt x="727710" y="81915"/>
                  </a:lnTo>
                  <a:lnTo>
                    <a:pt x="741998" y="96203"/>
                  </a:lnTo>
                  <a:lnTo>
                    <a:pt x="756285" y="110490"/>
                  </a:lnTo>
                  <a:lnTo>
                    <a:pt x="770572" y="125730"/>
                  </a:lnTo>
                  <a:lnTo>
                    <a:pt x="784860" y="141922"/>
                  </a:lnTo>
                  <a:lnTo>
                    <a:pt x="799148" y="158115"/>
                  </a:lnTo>
                  <a:lnTo>
                    <a:pt x="813435" y="175260"/>
                  </a:lnTo>
                  <a:lnTo>
                    <a:pt x="827722" y="192405"/>
                  </a:lnTo>
                  <a:lnTo>
                    <a:pt x="842010" y="209550"/>
                  </a:lnTo>
                  <a:lnTo>
                    <a:pt x="856298" y="227647"/>
                  </a:lnTo>
                  <a:lnTo>
                    <a:pt x="870585" y="244792"/>
                  </a:lnTo>
                  <a:lnTo>
                    <a:pt x="884872" y="262890"/>
                  </a:lnTo>
                  <a:lnTo>
                    <a:pt x="899160" y="281940"/>
                  </a:lnTo>
                  <a:lnTo>
                    <a:pt x="913448" y="300038"/>
                  </a:lnTo>
                  <a:lnTo>
                    <a:pt x="927735" y="318135"/>
                  </a:lnTo>
                  <a:lnTo>
                    <a:pt x="942022" y="337185"/>
                  </a:lnTo>
                  <a:lnTo>
                    <a:pt x="956310" y="355283"/>
                  </a:lnTo>
                  <a:lnTo>
                    <a:pt x="970598" y="374333"/>
                  </a:lnTo>
                  <a:lnTo>
                    <a:pt x="984885" y="392430"/>
                  </a:lnTo>
                  <a:lnTo>
                    <a:pt x="999172" y="410528"/>
                  </a:lnTo>
                  <a:lnTo>
                    <a:pt x="1013460" y="429578"/>
                  </a:lnTo>
                  <a:lnTo>
                    <a:pt x="1027748" y="447675"/>
                  </a:lnTo>
                  <a:lnTo>
                    <a:pt x="1042035" y="465772"/>
                  </a:lnTo>
                  <a:lnTo>
                    <a:pt x="1056322" y="483870"/>
                  </a:lnTo>
                  <a:lnTo>
                    <a:pt x="1070610" y="501967"/>
                  </a:lnTo>
                  <a:lnTo>
                    <a:pt x="1084898" y="520065"/>
                  </a:lnTo>
                  <a:lnTo>
                    <a:pt x="1099185" y="537210"/>
                  </a:lnTo>
                  <a:lnTo>
                    <a:pt x="1113472" y="555308"/>
                  </a:lnTo>
                  <a:lnTo>
                    <a:pt x="1127760" y="572453"/>
                  </a:lnTo>
                  <a:lnTo>
                    <a:pt x="1142048" y="589597"/>
                  </a:lnTo>
                  <a:lnTo>
                    <a:pt x="1156335" y="606742"/>
                  </a:lnTo>
                  <a:lnTo>
                    <a:pt x="1170622" y="622935"/>
                  </a:lnTo>
                  <a:lnTo>
                    <a:pt x="1184910" y="640080"/>
                  </a:lnTo>
                  <a:lnTo>
                    <a:pt x="1199198" y="656272"/>
                  </a:lnTo>
                  <a:lnTo>
                    <a:pt x="1213485" y="672465"/>
                  </a:lnTo>
                  <a:lnTo>
                    <a:pt x="1227772" y="688658"/>
                  </a:lnTo>
                  <a:lnTo>
                    <a:pt x="1242060" y="703897"/>
                  </a:lnTo>
                  <a:lnTo>
                    <a:pt x="1256348" y="720090"/>
                  </a:lnTo>
                  <a:lnTo>
                    <a:pt x="1270635" y="735330"/>
                  </a:lnTo>
                  <a:lnTo>
                    <a:pt x="1284922" y="750570"/>
                  </a:lnTo>
                  <a:lnTo>
                    <a:pt x="1299210" y="765810"/>
                  </a:lnTo>
                  <a:lnTo>
                    <a:pt x="1313497" y="780097"/>
                  </a:lnTo>
                  <a:lnTo>
                    <a:pt x="1327785" y="794385"/>
                  </a:lnTo>
                  <a:lnTo>
                    <a:pt x="1342072" y="809625"/>
                  </a:lnTo>
                  <a:lnTo>
                    <a:pt x="1356360" y="822960"/>
                  </a:lnTo>
                  <a:lnTo>
                    <a:pt x="1370647" y="837247"/>
                  </a:lnTo>
                  <a:lnTo>
                    <a:pt x="1384935" y="850583"/>
                  </a:lnTo>
                  <a:lnTo>
                    <a:pt x="1399222" y="864870"/>
                  </a:lnTo>
                  <a:lnTo>
                    <a:pt x="1413510" y="878205"/>
                  </a:lnTo>
                  <a:lnTo>
                    <a:pt x="1427797" y="890588"/>
                  </a:lnTo>
                  <a:lnTo>
                    <a:pt x="1442085" y="903922"/>
                  </a:lnTo>
                  <a:lnTo>
                    <a:pt x="1456372" y="916305"/>
                  </a:lnTo>
                  <a:lnTo>
                    <a:pt x="1470660" y="928688"/>
                  </a:lnTo>
                  <a:lnTo>
                    <a:pt x="1484947" y="941070"/>
                  </a:lnTo>
                  <a:lnTo>
                    <a:pt x="1498282" y="953453"/>
                  </a:lnTo>
                  <a:lnTo>
                    <a:pt x="1512570" y="964883"/>
                  </a:lnTo>
                  <a:lnTo>
                    <a:pt x="1526858" y="977265"/>
                  </a:lnTo>
                  <a:lnTo>
                    <a:pt x="1541145" y="988695"/>
                  </a:lnTo>
                  <a:lnTo>
                    <a:pt x="1555432" y="1000125"/>
                  </a:lnTo>
                  <a:lnTo>
                    <a:pt x="1569720" y="1010603"/>
                  </a:lnTo>
                  <a:lnTo>
                    <a:pt x="1584008" y="1022033"/>
                  </a:lnTo>
                  <a:lnTo>
                    <a:pt x="1598295" y="1032510"/>
                  </a:lnTo>
                  <a:lnTo>
                    <a:pt x="1612582" y="1042988"/>
                  </a:lnTo>
                  <a:lnTo>
                    <a:pt x="1626870" y="1053465"/>
                  </a:lnTo>
                  <a:lnTo>
                    <a:pt x="1641158" y="1063942"/>
                  </a:lnTo>
                  <a:lnTo>
                    <a:pt x="1655445" y="1073468"/>
                  </a:lnTo>
                  <a:lnTo>
                    <a:pt x="1669732" y="1083945"/>
                  </a:lnTo>
                  <a:lnTo>
                    <a:pt x="1684020" y="1093470"/>
                  </a:lnTo>
                  <a:lnTo>
                    <a:pt x="1698308" y="1102995"/>
                  </a:lnTo>
                  <a:lnTo>
                    <a:pt x="1712595" y="1112520"/>
                  </a:lnTo>
                  <a:lnTo>
                    <a:pt x="1726882" y="1122045"/>
                  </a:lnTo>
                  <a:lnTo>
                    <a:pt x="1741170" y="1130618"/>
                  </a:lnTo>
                  <a:lnTo>
                    <a:pt x="1755458" y="1140142"/>
                  </a:lnTo>
                  <a:lnTo>
                    <a:pt x="1769745" y="1148715"/>
                  </a:lnTo>
                  <a:lnTo>
                    <a:pt x="1784032" y="1157288"/>
                  </a:lnTo>
                  <a:lnTo>
                    <a:pt x="1798320" y="1165860"/>
                  </a:lnTo>
                  <a:lnTo>
                    <a:pt x="1812608" y="1174432"/>
                  </a:lnTo>
                  <a:lnTo>
                    <a:pt x="1826895" y="1182053"/>
                  </a:lnTo>
                  <a:lnTo>
                    <a:pt x="1841182" y="1190625"/>
                  </a:lnTo>
                  <a:lnTo>
                    <a:pt x="1855470" y="1198245"/>
                  </a:lnTo>
                  <a:lnTo>
                    <a:pt x="1869758" y="1205865"/>
                  </a:lnTo>
                  <a:lnTo>
                    <a:pt x="1884045" y="1213485"/>
                  </a:lnTo>
                  <a:lnTo>
                    <a:pt x="1898332" y="1221105"/>
                  </a:lnTo>
                  <a:lnTo>
                    <a:pt x="1912620" y="1228725"/>
                  </a:lnTo>
                  <a:lnTo>
                    <a:pt x="1926908" y="1236345"/>
                  </a:lnTo>
                  <a:lnTo>
                    <a:pt x="1941195" y="1243012"/>
                  </a:lnTo>
                  <a:lnTo>
                    <a:pt x="1955482" y="1250632"/>
                  </a:lnTo>
                  <a:lnTo>
                    <a:pt x="1969770" y="1257300"/>
                  </a:lnTo>
                  <a:lnTo>
                    <a:pt x="1984058" y="1263968"/>
                  </a:lnTo>
                  <a:lnTo>
                    <a:pt x="1998345" y="1270635"/>
                  </a:lnTo>
                  <a:lnTo>
                    <a:pt x="2012632" y="1277303"/>
                  </a:lnTo>
                  <a:lnTo>
                    <a:pt x="2026920" y="1283970"/>
                  </a:lnTo>
                  <a:lnTo>
                    <a:pt x="2041208" y="1290638"/>
                  </a:lnTo>
                  <a:lnTo>
                    <a:pt x="2055495" y="1296353"/>
                  </a:lnTo>
                  <a:lnTo>
                    <a:pt x="2069782" y="1303020"/>
                  </a:lnTo>
                  <a:lnTo>
                    <a:pt x="2084070" y="1308735"/>
                  </a:lnTo>
                  <a:lnTo>
                    <a:pt x="2098358" y="1314450"/>
                  </a:lnTo>
                  <a:lnTo>
                    <a:pt x="2112645" y="1321118"/>
                  </a:lnTo>
                  <a:lnTo>
                    <a:pt x="2126932" y="1326832"/>
                  </a:lnTo>
                  <a:lnTo>
                    <a:pt x="2141220" y="1332547"/>
                  </a:lnTo>
                  <a:lnTo>
                    <a:pt x="2155508" y="1337310"/>
                  </a:lnTo>
                  <a:lnTo>
                    <a:pt x="2169795" y="1343025"/>
                  </a:lnTo>
                  <a:lnTo>
                    <a:pt x="2184082" y="1348740"/>
                  </a:lnTo>
                  <a:lnTo>
                    <a:pt x="2198370" y="1353503"/>
                  </a:lnTo>
                  <a:lnTo>
                    <a:pt x="2212658" y="1359218"/>
                  </a:lnTo>
                  <a:lnTo>
                    <a:pt x="2226945" y="1363980"/>
                  </a:lnTo>
                  <a:lnTo>
                    <a:pt x="2241232" y="1369695"/>
                  </a:lnTo>
                  <a:lnTo>
                    <a:pt x="2255520" y="1374458"/>
                  </a:lnTo>
                  <a:lnTo>
                    <a:pt x="2269808" y="1379220"/>
                  </a:lnTo>
                  <a:lnTo>
                    <a:pt x="2283142" y="1383982"/>
                  </a:lnTo>
                  <a:lnTo>
                    <a:pt x="2297430" y="1388745"/>
                  </a:lnTo>
                  <a:lnTo>
                    <a:pt x="2311718" y="1393508"/>
                  </a:lnTo>
                  <a:lnTo>
                    <a:pt x="2326005" y="1398270"/>
                  </a:lnTo>
                  <a:lnTo>
                    <a:pt x="2340292" y="1402080"/>
                  </a:lnTo>
                  <a:lnTo>
                    <a:pt x="2354580" y="1406842"/>
                  </a:lnTo>
                  <a:lnTo>
                    <a:pt x="2368868" y="1411605"/>
                  </a:lnTo>
                  <a:lnTo>
                    <a:pt x="2383155" y="1415415"/>
                  </a:lnTo>
                  <a:lnTo>
                    <a:pt x="2397442" y="1420178"/>
                  </a:lnTo>
                  <a:lnTo>
                    <a:pt x="2411730" y="1423988"/>
                  </a:lnTo>
                  <a:lnTo>
                    <a:pt x="2426018" y="1427797"/>
                  </a:lnTo>
                  <a:lnTo>
                    <a:pt x="2440305" y="1432560"/>
                  </a:lnTo>
                  <a:lnTo>
                    <a:pt x="2454592" y="1436370"/>
                  </a:lnTo>
                  <a:lnTo>
                    <a:pt x="2468880" y="1440180"/>
                  </a:lnTo>
                  <a:lnTo>
                    <a:pt x="2483168" y="1443990"/>
                  </a:lnTo>
                  <a:lnTo>
                    <a:pt x="2497455" y="1447800"/>
                  </a:lnTo>
                  <a:lnTo>
                    <a:pt x="2511742" y="1451610"/>
                  </a:lnTo>
                  <a:lnTo>
                    <a:pt x="2526030" y="1455420"/>
                  </a:lnTo>
                  <a:lnTo>
                    <a:pt x="2540318" y="1458278"/>
                  </a:lnTo>
                  <a:lnTo>
                    <a:pt x="2554605" y="1462088"/>
                  </a:lnTo>
                  <a:lnTo>
                    <a:pt x="2568892" y="1465897"/>
                  </a:lnTo>
                  <a:lnTo>
                    <a:pt x="2583180" y="1468755"/>
                  </a:lnTo>
                  <a:lnTo>
                    <a:pt x="2597468" y="1472565"/>
                  </a:lnTo>
                  <a:lnTo>
                    <a:pt x="2611755" y="1475422"/>
                  </a:lnTo>
                  <a:lnTo>
                    <a:pt x="2626042" y="1479232"/>
                  </a:lnTo>
                  <a:lnTo>
                    <a:pt x="2640330" y="1482090"/>
                  </a:lnTo>
                  <a:lnTo>
                    <a:pt x="2654618" y="1485900"/>
                  </a:lnTo>
                  <a:lnTo>
                    <a:pt x="2668905" y="1488758"/>
                  </a:lnTo>
                  <a:lnTo>
                    <a:pt x="2683192" y="1491615"/>
                  </a:lnTo>
                  <a:lnTo>
                    <a:pt x="2697480" y="1494472"/>
                  </a:lnTo>
                  <a:lnTo>
                    <a:pt x="2711768" y="1498282"/>
                  </a:lnTo>
                  <a:lnTo>
                    <a:pt x="2726055" y="1501140"/>
                  </a:lnTo>
                  <a:lnTo>
                    <a:pt x="2740342" y="1503997"/>
                  </a:lnTo>
                  <a:lnTo>
                    <a:pt x="2754630" y="1506855"/>
                  </a:lnTo>
                  <a:lnTo>
                    <a:pt x="2768918" y="1509712"/>
                  </a:lnTo>
                  <a:lnTo>
                    <a:pt x="2783205" y="1512570"/>
                  </a:lnTo>
                  <a:lnTo>
                    <a:pt x="2797492" y="1515428"/>
                  </a:lnTo>
                  <a:lnTo>
                    <a:pt x="2811780" y="1517332"/>
                  </a:lnTo>
                  <a:lnTo>
                    <a:pt x="2826068" y="1520190"/>
                  </a:lnTo>
                  <a:lnTo>
                    <a:pt x="2840355" y="1523047"/>
                  </a:lnTo>
                  <a:lnTo>
                    <a:pt x="2854642" y="1525905"/>
                  </a:lnTo>
                  <a:lnTo>
                    <a:pt x="2868930" y="1527810"/>
                  </a:lnTo>
                  <a:lnTo>
                    <a:pt x="2883218" y="1530668"/>
                  </a:lnTo>
                  <a:lnTo>
                    <a:pt x="2897505" y="1533525"/>
                  </a:lnTo>
                  <a:lnTo>
                    <a:pt x="2911792" y="1535430"/>
                  </a:lnTo>
                  <a:lnTo>
                    <a:pt x="2926080" y="1538288"/>
                  </a:lnTo>
                  <a:lnTo>
                    <a:pt x="2940368" y="1540192"/>
                  </a:lnTo>
                  <a:lnTo>
                    <a:pt x="2954655" y="1543050"/>
                  </a:lnTo>
                  <a:lnTo>
                    <a:pt x="2968942" y="1544955"/>
                  </a:lnTo>
                  <a:lnTo>
                    <a:pt x="2983230" y="1546860"/>
                  </a:lnTo>
                  <a:lnTo>
                    <a:pt x="2997518" y="1549718"/>
                  </a:lnTo>
                  <a:lnTo>
                    <a:pt x="3011805" y="1551622"/>
                  </a:lnTo>
                  <a:lnTo>
                    <a:pt x="3026092" y="1553528"/>
                  </a:lnTo>
                  <a:lnTo>
                    <a:pt x="3040380" y="1556385"/>
                  </a:lnTo>
                  <a:lnTo>
                    <a:pt x="3054668" y="1558290"/>
                  </a:lnTo>
                  <a:lnTo>
                    <a:pt x="3068955" y="1560195"/>
                  </a:lnTo>
                  <a:lnTo>
                    <a:pt x="3083242" y="1562100"/>
                  </a:lnTo>
                  <a:lnTo>
                    <a:pt x="3096578" y="1564005"/>
                  </a:lnTo>
                  <a:lnTo>
                    <a:pt x="3110865" y="1565910"/>
                  </a:lnTo>
                  <a:lnTo>
                    <a:pt x="3125152" y="1567815"/>
                  </a:lnTo>
                  <a:lnTo>
                    <a:pt x="3139440" y="1569720"/>
                  </a:lnTo>
                  <a:lnTo>
                    <a:pt x="3153728" y="1571625"/>
                  </a:lnTo>
                  <a:lnTo>
                    <a:pt x="3168015" y="1573530"/>
                  </a:lnTo>
                  <a:lnTo>
                    <a:pt x="3182302" y="1575435"/>
                  </a:lnTo>
                  <a:lnTo>
                    <a:pt x="3196590" y="1577340"/>
                  </a:lnTo>
                  <a:lnTo>
                    <a:pt x="3210878" y="1579245"/>
                  </a:lnTo>
                  <a:lnTo>
                    <a:pt x="3225165" y="1581150"/>
                  </a:lnTo>
                  <a:lnTo>
                    <a:pt x="3239452" y="1583055"/>
                  </a:lnTo>
                  <a:lnTo>
                    <a:pt x="3253740" y="1584960"/>
                  </a:lnTo>
                  <a:lnTo>
                    <a:pt x="3268028" y="1586865"/>
                  </a:lnTo>
                  <a:lnTo>
                    <a:pt x="3282315" y="1587818"/>
                  </a:lnTo>
                  <a:lnTo>
                    <a:pt x="3296602" y="1589722"/>
                  </a:lnTo>
                  <a:lnTo>
                    <a:pt x="3310890" y="1591628"/>
                  </a:lnTo>
                  <a:lnTo>
                    <a:pt x="3325178" y="1592580"/>
                  </a:lnTo>
                  <a:lnTo>
                    <a:pt x="3339465" y="1594485"/>
                  </a:lnTo>
                  <a:lnTo>
                    <a:pt x="3353752" y="1596390"/>
                  </a:lnTo>
                  <a:lnTo>
                    <a:pt x="3368040" y="1597342"/>
                  </a:lnTo>
                  <a:lnTo>
                    <a:pt x="3382328" y="1599247"/>
                  </a:lnTo>
                  <a:lnTo>
                    <a:pt x="3396615" y="1601153"/>
                  </a:lnTo>
                  <a:lnTo>
                    <a:pt x="3410902" y="1602105"/>
                  </a:lnTo>
                  <a:lnTo>
                    <a:pt x="3425190" y="1604010"/>
                  </a:lnTo>
                  <a:lnTo>
                    <a:pt x="3439478" y="1604962"/>
                  </a:lnTo>
                  <a:lnTo>
                    <a:pt x="3453765" y="1606868"/>
                  </a:lnTo>
                  <a:lnTo>
                    <a:pt x="3468052" y="1607820"/>
                  </a:lnTo>
                  <a:lnTo>
                    <a:pt x="3482340" y="1609725"/>
                  </a:lnTo>
                  <a:lnTo>
                    <a:pt x="3496628" y="1610678"/>
                  </a:lnTo>
                  <a:lnTo>
                    <a:pt x="3510915" y="1612582"/>
                  </a:lnTo>
                  <a:lnTo>
                    <a:pt x="3525202" y="1613535"/>
                  </a:lnTo>
                  <a:lnTo>
                    <a:pt x="3539490" y="1614488"/>
                  </a:lnTo>
                  <a:lnTo>
                    <a:pt x="3553778" y="1616392"/>
                  </a:lnTo>
                  <a:lnTo>
                    <a:pt x="3568065" y="1617345"/>
                  </a:lnTo>
                  <a:lnTo>
                    <a:pt x="3582352" y="1619250"/>
                  </a:lnTo>
                  <a:lnTo>
                    <a:pt x="3596640" y="1620203"/>
                  </a:lnTo>
                  <a:lnTo>
                    <a:pt x="3610928" y="1621155"/>
                  </a:lnTo>
                  <a:lnTo>
                    <a:pt x="3625215" y="1622108"/>
                  </a:lnTo>
                  <a:lnTo>
                    <a:pt x="3639502" y="1624012"/>
                  </a:lnTo>
                  <a:lnTo>
                    <a:pt x="3653790" y="1624965"/>
                  </a:lnTo>
                  <a:lnTo>
                    <a:pt x="3668078" y="1625918"/>
                  </a:lnTo>
                  <a:lnTo>
                    <a:pt x="3682365" y="1626870"/>
                  </a:lnTo>
                  <a:lnTo>
                    <a:pt x="3696652" y="1628775"/>
                  </a:lnTo>
                  <a:lnTo>
                    <a:pt x="3710940" y="1629728"/>
                  </a:lnTo>
                  <a:lnTo>
                    <a:pt x="3725228" y="1630680"/>
                  </a:lnTo>
                  <a:lnTo>
                    <a:pt x="3739515" y="1631632"/>
                  </a:lnTo>
                  <a:lnTo>
                    <a:pt x="3753802" y="1632585"/>
                  </a:lnTo>
                  <a:lnTo>
                    <a:pt x="3768090" y="1633538"/>
                  </a:lnTo>
                  <a:lnTo>
                    <a:pt x="3782378" y="1635442"/>
                  </a:lnTo>
                  <a:lnTo>
                    <a:pt x="3796665" y="1636395"/>
                  </a:lnTo>
                  <a:lnTo>
                    <a:pt x="3810952" y="1637347"/>
                  </a:lnTo>
                  <a:lnTo>
                    <a:pt x="3825240" y="1638300"/>
                  </a:lnTo>
                  <a:lnTo>
                    <a:pt x="3839528" y="1639253"/>
                  </a:lnTo>
                  <a:lnTo>
                    <a:pt x="3853815" y="1640205"/>
                  </a:lnTo>
                  <a:lnTo>
                    <a:pt x="3868102" y="1641158"/>
                  </a:lnTo>
                  <a:lnTo>
                    <a:pt x="3881438" y="1642110"/>
                  </a:lnTo>
                  <a:lnTo>
                    <a:pt x="3895725" y="1643062"/>
                  </a:lnTo>
                  <a:lnTo>
                    <a:pt x="3910012" y="1644015"/>
                  </a:lnTo>
                  <a:lnTo>
                    <a:pt x="3924300" y="1644968"/>
                  </a:lnTo>
                  <a:lnTo>
                    <a:pt x="3938588" y="1645920"/>
                  </a:lnTo>
                  <a:lnTo>
                    <a:pt x="3952875" y="1646872"/>
                  </a:lnTo>
                  <a:lnTo>
                    <a:pt x="3967162" y="1647825"/>
                  </a:lnTo>
                  <a:lnTo>
                    <a:pt x="3981450" y="1648778"/>
                  </a:lnTo>
                  <a:lnTo>
                    <a:pt x="3995738" y="1649730"/>
                  </a:lnTo>
                  <a:lnTo>
                    <a:pt x="4010025" y="1650682"/>
                  </a:lnTo>
                  <a:lnTo>
                    <a:pt x="4024312" y="1651635"/>
                  </a:lnTo>
                  <a:lnTo>
                    <a:pt x="4038600" y="1652588"/>
                  </a:lnTo>
                  <a:lnTo>
                    <a:pt x="4052888" y="1652588"/>
                  </a:lnTo>
                  <a:lnTo>
                    <a:pt x="4067175" y="1653540"/>
                  </a:lnTo>
                  <a:lnTo>
                    <a:pt x="4081462" y="1654492"/>
                  </a:lnTo>
                  <a:lnTo>
                    <a:pt x="4095750" y="1655445"/>
                  </a:lnTo>
                  <a:lnTo>
                    <a:pt x="4110038" y="1656397"/>
                  </a:lnTo>
                  <a:lnTo>
                    <a:pt x="4124325" y="1657350"/>
                  </a:lnTo>
                  <a:lnTo>
                    <a:pt x="4138612" y="1658303"/>
                  </a:lnTo>
                  <a:lnTo>
                    <a:pt x="4152900" y="1658303"/>
                  </a:lnTo>
                  <a:lnTo>
                    <a:pt x="4167188" y="1659255"/>
                  </a:lnTo>
                  <a:lnTo>
                    <a:pt x="4181475" y="1660208"/>
                  </a:lnTo>
                  <a:lnTo>
                    <a:pt x="4195762" y="1661160"/>
                  </a:lnTo>
                  <a:lnTo>
                    <a:pt x="4210050" y="1662112"/>
                  </a:lnTo>
                  <a:lnTo>
                    <a:pt x="4224338" y="1662112"/>
                  </a:lnTo>
                  <a:lnTo>
                    <a:pt x="4238625" y="1663065"/>
                  </a:lnTo>
                  <a:lnTo>
                    <a:pt x="4252912" y="1664018"/>
                  </a:lnTo>
                  <a:lnTo>
                    <a:pt x="4267200" y="1664970"/>
                  </a:lnTo>
                  <a:lnTo>
                    <a:pt x="4281488" y="1664970"/>
                  </a:lnTo>
                </a:path>
              </a:pathLst>
            </a:custGeom>
            <a:noFill/>
            <a:ln w="21908">
              <a:solidFill>
                <a:srgbClr val="2F4B9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147762" y="3048952"/>
              <a:ext cx="4281488" cy="1682115"/>
            </a:xfrm>
            <a:custGeom>
              <a:avLst/>
              <a:gdLst/>
              <a:ahLst/>
              <a:cxnLst/>
              <a:rect l="l" t="t" r="r" b="b"/>
              <a:pathLst>
                <a:path w="4281488" h="1682115">
                  <a:moveTo>
                    <a:pt x="0" y="1682115"/>
                  </a:moveTo>
                  <a:lnTo>
                    <a:pt x="14288" y="1608772"/>
                  </a:lnTo>
                  <a:lnTo>
                    <a:pt x="28575" y="1511618"/>
                  </a:lnTo>
                  <a:lnTo>
                    <a:pt x="42862" y="1403985"/>
                  </a:lnTo>
                  <a:lnTo>
                    <a:pt x="57150" y="1292542"/>
                  </a:lnTo>
                  <a:lnTo>
                    <a:pt x="71438" y="1181100"/>
                  </a:lnTo>
                  <a:lnTo>
                    <a:pt x="85725" y="1072515"/>
                  </a:lnTo>
                  <a:lnTo>
                    <a:pt x="100012" y="967740"/>
                  </a:lnTo>
                  <a:lnTo>
                    <a:pt x="114300" y="868680"/>
                  </a:lnTo>
                  <a:lnTo>
                    <a:pt x="128588" y="774382"/>
                  </a:lnTo>
                  <a:lnTo>
                    <a:pt x="142875" y="687705"/>
                  </a:lnTo>
                  <a:lnTo>
                    <a:pt x="157162" y="605790"/>
                  </a:lnTo>
                  <a:lnTo>
                    <a:pt x="171450" y="531495"/>
                  </a:lnTo>
                  <a:lnTo>
                    <a:pt x="185738" y="461962"/>
                  </a:lnTo>
                  <a:lnTo>
                    <a:pt x="200025" y="399097"/>
                  </a:lnTo>
                  <a:lnTo>
                    <a:pt x="214312" y="342900"/>
                  </a:lnTo>
                  <a:lnTo>
                    <a:pt x="228600" y="291465"/>
                  </a:lnTo>
                  <a:lnTo>
                    <a:pt x="242888" y="244792"/>
                  </a:lnTo>
                  <a:lnTo>
                    <a:pt x="257175" y="203835"/>
                  </a:lnTo>
                  <a:lnTo>
                    <a:pt x="271462" y="166688"/>
                  </a:lnTo>
                  <a:lnTo>
                    <a:pt x="285750" y="134302"/>
                  </a:lnTo>
                  <a:lnTo>
                    <a:pt x="300038" y="106680"/>
                  </a:lnTo>
                  <a:lnTo>
                    <a:pt x="314325" y="82867"/>
                  </a:lnTo>
                  <a:lnTo>
                    <a:pt x="328612" y="61912"/>
                  </a:lnTo>
                  <a:lnTo>
                    <a:pt x="342900" y="44767"/>
                  </a:lnTo>
                  <a:lnTo>
                    <a:pt x="357188" y="30480"/>
                  </a:lnTo>
                  <a:lnTo>
                    <a:pt x="371475" y="20002"/>
                  </a:lnTo>
                  <a:lnTo>
                    <a:pt x="385762" y="11430"/>
                  </a:lnTo>
                  <a:lnTo>
                    <a:pt x="400050" y="5715"/>
                  </a:lnTo>
                  <a:lnTo>
                    <a:pt x="414338" y="1905"/>
                  </a:lnTo>
                  <a:lnTo>
                    <a:pt x="428625" y="0"/>
                  </a:lnTo>
                  <a:lnTo>
                    <a:pt x="442912" y="952"/>
                  </a:lnTo>
                  <a:lnTo>
                    <a:pt x="457200" y="2857"/>
                  </a:lnTo>
                  <a:lnTo>
                    <a:pt x="471488" y="6667"/>
                  </a:lnTo>
                  <a:lnTo>
                    <a:pt x="485775" y="11430"/>
                  </a:lnTo>
                  <a:lnTo>
                    <a:pt x="500062" y="18097"/>
                  </a:lnTo>
                  <a:lnTo>
                    <a:pt x="514350" y="26670"/>
                  </a:lnTo>
                  <a:lnTo>
                    <a:pt x="528638" y="35242"/>
                  </a:lnTo>
                  <a:lnTo>
                    <a:pt x="542925" y="45720"/>
                  </a:lnTo>
                  <a:lnTo>
                    <a:pt x="557212" y="56197"/>
                  </a:lnTo>
                  <a:lnTo>
                    <a:pt x="571500" y="68580"/>
                  </a:lnTo>
                  <a:lnTo>
                    <a:pt x="585788" y="80962"/>
                  </a:lnTo>
                  <a:lnTo>
                    <a:pt x="600075" y="94297"/>
                  </a:lnTo>
                  <a:lnTo>
                    <a:pt x="614362" y="108585"/>
                  </a:lnTo>
                  <a:lnTo>
                    <a:pt x="628650" y="122872"/>
                  </a:lnTo>
                  <a:lnTo>
                    <a:pt x="642938" y="137160"/>
                  </a:lnTo>
                  <a:lnTo>
                    <a:pt x="657225" y="152400"/>
                  </a:lnTo>
                  <a:lnTo>
                    <a:pt x="671512" y="168592"/>
                  </a:lnTo>
                  <a:lnTo>
                    <a:pt x="684848" y="184785"/>
                  </a:lnTo>
                  <a:lnTo>
                    <a:pt x="699135" y="200977"/>
                  </a:lnTo>
                  <a:lnTo>
                    <a:pt x="713422" y="217170"/>
                  </a:lnTo>
                  <a:lnTo>
                    <a:pt x="727710" y="234315"/>
                  </a:lnTo>
                  <a:lnTo>
                    <a:pt x="741998" y="250507"/>
                  </a:lnTo>
                  <a:lnTo>
                    <a:pt x="756285" y="267652"/>
                  </a:lnTo>
                  <a:lnTo>
                    <a:pt x="770572" y="284797"/>
                  </a:lnTo>
                  <a:lnTo>
                    <a:pt x="784860" y="301942"/>
                  </a:lnTo>
                  <a:lnTo>
                    <a:pt x="799148" y="319088"/>
                  </a:lnTo>
                  <a:lnTo>
                    <a:pt x="813435" y="336232"/>
                  </a:lnTo>
                  <a:lnTo>
                    <a:pt x="827722" y="353377"/>
                  </a:lnTo>
                  <a:lnTo>
                    <a:pt x="842010" y="370522"/>
                  </a:lnTo>
                  <a:lnTo>
                    <a:pt x="856298" y="387667"/>
                  </a:lnTo>
                  <a:lnTo>
                    <a:pt x="870585" y="404812"/>
                  </a:lnTo>
                  <a:lnTo>
                    <a:pt x="884872" y="421957"/>
                  </a:lnTo>
                  <a:lnTo>
                    <a:pt x="899160" y="438150"/>
                  </a:lnTo>
                  <a:lnTo>
                    <a:pt x="913448" y="455295"/>
                  </a:lnTo>
                  <a:lnTo>
                    <a:pt x="927735" y="472440"/>
                  </a:lnTo>
                  <a:lnTo>
                    <a:pt x="942022" y="488632"/>
                  </a:lnTo>
                  <a:lnTo>
                    <a:pt x="956310" y="504825"/>
                  </a:lnTo>
                  <a:lnTo>
                    <a:pt x="970598" y="521017"/>
                  </a:lnTo>
                  <a:lnTo>
                    <a:pt x="984885" y="537210"/>
                  </a:lnTo>
                  <a:lnTo>
                    <a:pt x="999172" y="553402"/>
                  </a:lnTo>
                  <a:lnTo>
                    <a:pt x="1013460" y="568642"/>
                  </a:lnTo>
                  <a:lnTo>
                    <a:pt x="1027748" y="584835"/>
                  </a:lnTo>
                  <a:lnTo>
                    <a:pt x="1042035" y="600075"/>
                  </a:lnTo>
                  <a:lnTo>
                    <a:pt x="1056322" y="615315"/>
                  </a:lnTo>
                  <a:lnTo>
                    <a:pt x="1070610" y="630555"/>
                  </a:lnTo>
                  <a:lnTo>
                    <a:pt x="1084898" y="645795"/>
                  </a:lnTo>
                  <a:lnTo>
                    <a:pt x="1099185" y="660082"/>
                  </a:lnTo>
                  <a:lnTo>
                    <a:pt x="1113472" y="675322"/>
                  </a:lnTo>
                  <a:lnTo>
                    <a:pt x="1127760" y="689610"/>
                  </a:lnTo>
                  <a:lnTo>
                    <a:pt x="1142048" y="703897"/>
                  </a:lnTo>
                  <a:lnTo>
                    <a:pt x="1156335" y="717232"/>
                  </a:lnTo>
                  <a:lnTo>
                    <a:pt x="1170622" y="731520"/>
                  </a:lnTo>
                  <a:lnTo>
                    <a:pt x="1184910" y="744855"/>
                  </a:lnTo>
                  <a:lnTo>
                    <a:pt x="1199198" y="758190"/>
                  </a:lnTo>
                  <a:lnTo>
                    <a:pt x="1213485" y="771525"/>
                  </a:lnTo>
                  <a:lnTo>
                    <a:pt x="1227772" y="784860"/>
                  </a:lnTo>
                  <a:lnTo>
                    <a:pt x="1242060" y="798195"/>
                  </a:lnTo>
                  <a:lnTo>
                    <a:pt x="1256348" y="810577"/>
                  </a:lnTo>
                  <a:lnTo>
                    <a:pt x="1270635" y="822960"/>
                  </a:lnTo>
                  <a:lnTo>
                    <a:pt x="1284922" y="835342"/>
                  </a:lnTo>
                  <a:lnTo>
                    <a:pt x="1299210" y="847725"/>
                  </a:lnTo>
                  <a:lnTo>
                    <a:pt x="1313497" y="860107"/>
                  </a:lnTo>
                  <a:lnTo>
                    <a:pt x="1327785" y="871538"/>
                  </a:lnTo>
                  <a:lnTo>
                    <a:pt x="1342072" y="882967"/>
                  </a:lnTo>
                  <a:lnTo>
                    <a:pt x="1356360" y="894397"/>
                  </a:lnTo>
                  <a:lnTo>
                    <a:pt x="1370647" y="905827"/>
                  </a:lnTo>
                  <a:lnTo>
                    <a:pt x="1384935" y="917257"/>
                  </a:lnTo>
                  <a:lnTo>
                    <a:pt x="1399222" y="927735"/>
                  </a:lnTo>
                  <a:lnTo>
                    <a:pt x="1413510" y="939165"/>
                  </a:lnTo>
                  <a:lnTo>
                    <a:pt x="1427797" y="949642"/>
                  </a:lnTo>
                  <a:lnTo>
                    <a:pt x="1442085" y="960120"/>
                  </a:lnTo>
                  <a:lnTo>
                    <a:pt x="1456372" y="970597"/>
                  </a:lnTo>
                  <a:lnTo>
                    <a:pt x="1470660" y="980122"/>
                  </a:lnTo>
                  <a:lnTo>
                    <a:pt x="1484947" y="990600"/>
                  </a:lnTo>
                  <a:lnTo>
                    <a:pt x="1498282" y="1000125"/>
                  </a:lnTo>
                  <a:lnTo>
                    <a:pt x="1512570" y="1009650"/>
                  </a:lnTo>
                  <a:lnTo>
                    <a:pt x="1526858" y="1019175"/>
                  </a:lnTo>
                  <a:lnTo>
                    <a:pt x="1541145" y="1028700"/>
                  </a:lnTo>
                  <a:lnTo>
                    <a:pt x="1555432" y="1038225"/>
                  </a:lnTo>
                  <a:lnTo>
                    <a:pt x="1569720" y="1046797"/>
                  </a:lnTo>
                  <a:lnTo>
                    <a:pt x="1584008" y="1056322"/>
                  </a:lnTo>
                  <a:lnTo>
                    <a:pt x="1598295" y="1064895"/>
                  </a:lnTo>
                  <a:lnTo>
                    <a:pt x="1612582" y="1073468"/>
                  </a:lnTo>
                  <a:lnTo>
                    <a:pt x="1626870" y="1082040"/>
                  </a:lnTo>
                  <a:lnTo>
                    <a:pt x="1641158" y="1090612"/>
                  </a:lnTo>
                  <a:lnTo>
                    <a:pt x="1655445" y="1098232"/>
                  </a:lnTo>
                  <a:lnTo>
                    <a:pt x="1669732" y="1106805"/>
                  </a:lnTo>
                  <a:lnTo>
                    <a:pt x="1684020" y="1114425"/>
                  </a:lnTo>
                  <a:lnTo>
                    <a:pt x="1698308" y="1122045"/>
                  </a:lnTo>
                  <a:lnTo>
                    <a:pt x="1712595" y="1130618"/>
                  </a:lnTo>
                  <a:lnTo>
                    <a:pt x="1726882" y="1138238"/>
                  </a:lnTo>
                  <a:lnTo>
                    <a:pt x="1741170" y="1144905"/>
                  </a:lnTo>
                  <a:lnTo>
                    <a:pt x="1755458" y="1152525"/>
                  </a:lnTo>
                  <a:lnTo>
                    <a:pt x="1769745" y="1160145"/>
                  </a:lnTo>
                  <a:lnTo>
                    <a:pt x="1784032" y="1166812"/>
                  </a:lnTo>
                  <a:lnTo>
                    <a:pt x="1798320" y="1174432"/>
                  </a:lnTo>
                  <a:lnTo>
                    <a:pt x="1812608" y="1181100"/>
                  </a:lnTo>
                  <a:lnTo>
                    <a:pt x="1826895" y="1187768"/>
                  </a:lnTo>
                  <a:lnTo>
                    <a:pt x="1841182" y="1194435"/>
                  </a:lnTo>
                  <a:lnTo>
                    <a:pt x="1855470" y="1201102"/>
                  </a:lnTo>
                  <a:lnTo>
                    <a:pt x="1869758" y="1207770"/>
                  </a:lnTo>
                  <a:lnTo>
                    <a:pt x="1884045" y="1214438"/>
                  </a:lnTo>
                  <a:lnTo>
                    <a:pt x="1898332" y="1220152"/>
                  </a:lnTo>
                  <a:lnTo>
                    <a:pt x="1912620" y="1226820"/>
                  </a:lnTo>
                  <a:lnTo>
                    <a:pt x="1926908" y="1232535"/>
                  </a:lnTo>
                  <a:lnTo>
                    <a:pt x="1941195" y="1238250"/>
                  </a:lnTo>
                  <a:lnTo>
                    <a:pt x="1955482" y="1244918"/>
                  </a:lnTo>
                  <a:lnTo>
                    <a:pt x="1969770" y="1250632"/>
                  </a:lnTo>
                  <a:lnTo>
                    <a:pt x="1984058" y="1256347"/>
                  </a:lnTo>
                  <a:lnTo>
                    <a:pt x="1998345" y="1262062"/>
                  </a:lnTo>
                  <a:lnTo>
                    <a:pt x="2012632" y="1266825"/>
                  </a:lnTo>
                  <a:lnTo>
                    <a:pt x="2026920" y="1272540"/>
                  </a:lnTo>
                  <a:lnTo>
                    <a:pt x="2041208" y="1278255"/>
                  </a:lnTo>
                  <a:lnTo>
                    <a:pt x="2055495" y="1283018"/>
                  </a:lnTo>
                  <a:lnTo>
                    <a:pt x="2069782" y="1288732"/>
                  </a:lnTo>
                  <a:lnTo>
                    <a:pt x="2084070" y="1293495"/>
                  </a:lnTo>
                  <a:lnTo>
                    <a:pt x="2098358" y="1298257"/>
                  </a:lnTo>
                  <a:lnTo>
                    <a:pt x="2112645" y="1303972"/>
                  </a:lnTo>
                  <a:lnTo>
                    <a:pt x="2126932" y="1308735"/>
                  </a:lnTo>
                  <a:lnTo>
                    <a:pt x="2141220" y="1313497"/>
                  </a:lnTo>
                  <a:lnTo>
                    <a:pt x="2155508" y="1318260"/>
                  </a:lnTo>
                  <a:lnTo>
                    <a:pt x="2169795" y="1323022"/>
                  </a:lnTo>
                  <a:lnTo>
                    <a:pt x="2184082" y="1327785"/>
                  </a:lnTo>
                  <a:lnTo>
                    <a:pt x="2198370" y="1331595"/>
                  </a:lnTo>
                  <a:lnTo>
                    <a:pt x="2212658" y="1336357"/>
                  </a:lnTo>
                  <a:lnTo>
                    <a:pt x="2226945" y="1341120"/>
                  </a:lnTo>
                  <a:lnTo>
                    <a:pt x="2241232" y="1344930"/>
                  </a:lnTo>
                  <a:lnTo>
                    <a:pt x="2255520" y="1349692"/>
                  </a:lnTo>
                  <a:lnTo>
                    <a:pt x="2269808" y="1353502"/>
                  </a:lnTo>
                  <a:lnTo>
                    <a:pt x="2283142" y="1357312"/>
                  </a:lnTo>
                  <a:lnTo>
                    <a:pt x="2297430" y="1362075"/>
                  </a:lnTo>
                  <a:lnTo>
                    <a:pt x="2311718" y="1365885"/>
                  </a:lnTo>
                  <a:lnTo>
                    <a:pt x="2326005" y="1369695"/>
                  </a:lnTo>
                  <a:lnTo>
                    <a:pt x="2340292" y="1373505"/>
                  </a:lnTo>
                  <a:lnTo>
                    <a:pt x="2354580" y="1377315"/>
                  </a:lnTo>
                  <a:lnTo>
                    <a:pt x="2368868" y="1381125"/>
                  </a:lnTo>
                  <a:lnTo>
                    <a:pt x="2383155" y="1384935"/>
                  </a:lnTo>
                  <a:lnTo>
                    <a:pt x="2397442" y="1388745"/>
                  </a:lnTo>
                  <a:lnTo>
                    <a:pt x="2411730" y="1392555"/>
                  </a:lnTo>
                  <a:lnTo>
                    <a:pt x="2426018" y="1396365"/>
                  </a:lnTo>
                  <a:lnTo>
                    <a:pt x="2440305" y="1399222"/>
                  </a:lnTo>
                  <a:lnTo>
                    <a:pt x="2454592" y="1403032"/>
                  </a:lnTo>
                  <a:lnTo>
                    <a:pt x="2468880" y="1406842"/>
                  </a:lnTo>
                  <a:lnTo>
                    <a:pt x="2483168" y="1409700"/>
                  </a:lnTo>
                  <a:lnTo>
                    <a:pt x="2497455" y="1413510"/>
                  </a:lnTo>
                  <a:lnTo>
                    <a:pt x="2511742" y="1416368"/>
                  </a:lnTo>
                  <a:lnTo>
                    <a:pt x="2526030" y="1419225"/>
                  </a:lnTo>
                  <a:lnTo>
                    <a:pt x="2540318" y="1423035"/>
                  </a:lnTo>
                  <a:lnTo>
                    <a:pt x="2554605" y="1425892"/>
                  </a:lnTo>
                  <a:lnTo>
                    <a:pt x="2568892" y="1428750"/>
                  </a:lnTo>
                  <a:lnTo>
                    <a:pt x="2583180" y="1431607"/>
                  </a:lnTo>
                  <a:lnTo>
                    <a:pt x="2597468" y="1435418"/>
                  </a:lnTo>
                  <a:lnTo>
                    <a:pt x="2611755" y="1438275"/>
                  </a:lnTo>
                  <a:lnTo>
                    <a:pt x="2626042" y="1441132"/>
                  </a:lnTo>
                  <a:lnTo>
                    <a:pt x="2640330" y="1443990"/>
                  </a:lnTo>
                  <a:lnTo>
                    <a:pt x="2654618" y="1446847"/>
                  </a:lnTo>
                  <a:lnTo>
                    <a:pt x="2668905" y="1449705"/>
                  </a:lnTo>
                  <a:lnTo>
                    <a:pt x="2683192" y="1452562"/>
                  </a:lnTo>
                  <a:lnTo>
                    <a:pt x="2697480" y="1454468"/>
                  </a:lnTo>
                  <a:lnTo>
                    <a:pt x="2711768" y="1457325"/>
                  </a:lnTo>
                  <a:lnTo>
                    <a:pt x="2726055" y="1460182"/>
                  </a:lnTo>
                  <a:lnTo>
                    <a:pt x="2740342" y="1463040"/>
                  </a:lnTo>
                  <a:lnTo>
                    <a:pt x="2754630" y="1464945"/>
                  </a:lnTo>
                  <a:lnTo>
                    <a:pt x="2768918" y="1467802"/>
                  </a:lnTo>
                  <a:lnTo>
                    <a:pt x="2783205" y="1470660"/>
                  </a:lnTo>
                  <a:lnTo>
                    <a:pt x="2797492" y="1472565"/>
                  </a:lnTo>
                  <a:lnTo>
                    <a:pt x="2811780" y="1475422"/>
                  </a:lnTo>
                  <a:lnTo>
                    <a:pt x="2826068" y="1477327"/>
                  </a:lnTo>
                  <a:lnTo>
                    <a:pt x="2840355" y="1480185"/>
                  </a:lnTo>
                  <a:lnTo>
                    <a:pt x="2854642" y="1482090"/>
                  </a:lnTo>
                  <a:lnTo>
                    <a:pt x="2868930" y="1484947"/>
                  </a:lnTo>
                  <a:lnTo>
                    <a:pt x="2883218" y="1486852"/>
                  </a:lnTo>
                  <a:lnTo>
                    <a:pt x="2897505" y="1488757"/>
                  </a:lnTo>
                  <a:lnTo>
                    <a:pt x="2911792" y="1491615"/>
                  </a:lnTo>
                  <a:lnTo>
                    <a:pt x="2926080" y="1493520"/>
                  </a:lnTo>
                  <a:lnTo>
                    <a:pt x="2940368" y="1495425"/>
                  </a:lnTo>
                  <a:lnTo>
                    <a:pt x="2954655" y="1497330"/>
                  </a:lnTo>
                  <a:lnTo>
                    <a:pt x="2968942" y="1500188"/>
                  </a:lnTo>
                  <a:lnTo>
                    <a:pt x="2983230" y="1502092"/>
                  </a:lnTo>
                  <a:lnTo>
                    <a:pt x="2997518" y="1503997"/>
                  </a:lnTo>
                  <a:lnTo>
                    <a:pt x="3011805" y="1505902"/>
                  </a:lnTo>
                  <a:lnTo>
                    <a:pt x="3026092" y="1507807"/>
                  </a:lnTo>
                  <a:lnTo>
                    <a:pt x="3040380" y="1509712"/>
                  </a:lnTo>
                  <a:lnTo>
                    <a:pt x="3054668" y="1511618"/>
                  </a:lnTo>
                  <a:lnTo>
                    <a:pt x="3068955" y="1513522"/>
                  </a:lnTo>
                  <a:lnTo>
                    <a:pt x="3083242" y="1515427"/>
                  </a:lnTo>
                  <a:lnTo>
                    <a:pt x="3096578" y="1517332"/>
                  </a:lnTo>
                  <a:lnTo>
                    <a:pt x="3110865" y="1519238"/>
                  </a:lnTo>
                  <a:lnTo>
                    <a:pt x="3125152" y="1521142"/>
                  </a:lnTo>
                  <a:lnTo>
                    <a:pt x="3139440" y="1523047"/>
                  </a:lnTo>
                  <a:lnTo>
                    <a:pt x="3153728" y="1524952"/>
                  </a:lnTo>
                  <a:lnTo>
                    <a:pt x="3168015" y="1525905"/>
                  </a:lnTo>
                  <a:lnTo>
                    <a:pt x="3182302" y="1527810"/>
                  </a:lnTo>
                  <a:lnTo>
                    <a:pt x="3196590" y="1529715"/>
                  </a:lnTo>
                  <a:lnTo>
                    <a:pt x="3210878" y="1531620"/>
                  </a:lnTo>
                  <a:lnTo>
                    <a:pt x="3225165" y="1533525"/>
                  </a:lnTo>
                  <a:lnTo>
                    <a:pt x="3239452" y="1534477"/>
                  </a:lnTo>
                  <a:lnTo>
                    <a:pt x="3253740" y="1536382"/>
                  </a:lnTo>
                  <a:lnTo>
                    <a:pt x="3268028" y="1538288"/>
                  </a:lnTo>
                  <a:lnTo>
                    <a:pt x="3282315" y="1539240"/>
                  </a:lnTo>
                  <a:lnTo>
                    <a:pt x="3296602" y="1541145"/>
                  </a:lnTo>
                  <a:lnTo>
                    <a:pt x="3310890" y="1542097"/>
                  </a:lnTo>
                  <a:lnTo>
                    <a:pt x="3325178" y="1544002"/>
                  </a:lnTo>
                  <a:lnTo>
                    <a:pt x="3339465" y="1545907"/>
                  </a:lnTo>
                  <a:lnTo>
                    <a:pt x="3353752" y="1546860"/>
                  </a:lnTo>
                  <a:lnTo>
                    <a:pt x="3368040" y="1548765"/>
                  </a:lnTo>
                  <a:lnTo>
                    <a:pt x="3382328" y="1549718"/>
                  </a:lnTo>
                  <a:lnTo>
                    <a:pt x="3396615" y="1551622"/>
                  </a:lnTo>
                  <a:lnTo>
                    <a:pt x="3410902" y="1552575"/>
                  </a:lnTo>
                  <a:lnTo>
                    <a:pt x="3425190" y="1554480"/>
                  </a:lnTo>
                  <a:lnTo>
                    <a:pt x="3439478" y="1555432"/>
                  </a:lnTo>
                  <a:lnTo>
                    <a:pt x="3453765" y="1556385"/>
                  </a:lnTo>
                  <a:lnTo>
                    <a:pt x="3468052" y="1558290"/>
                  </a:lnTo>
                  <a:lnTo>
                    <a:pt x="3482340" y="1559242"/>
                  </a:lnTo>
                  <a:lnTo>
                    <a:pt x="3496628" y="1561147"/>
                  </a:lnTo>
                  <a:lnTo>
                    <a:pt x="3510915" y="1562100"/>
                  </a:lnTo>
                  <a:lnTo>
                    <a:pt x="3525202" y="1563052"/>
                  </a:lnTo>
                  <a:lnTo>
                    <a:pt x="3539490" y="1564957"/>
                  </a:lnTo>
                  <a:lnTo>
                    <a:pt x="3553778" y="1565910"/>
                  </a:lnTo>
                  <a:lnTo>
                    <a:pt x="3568065" y="1566862"/>
                  </a:lnTo>
                  <a:lnTo>
                    <a:pt x="3582352" y="1567815"/>
                  </a:lnTo>
                  <a:lnTo>
                    <a:pt x="3596640" y="1569720"/>
                  </a:lnTo>
                  <a:lnTo>
                    <a:pt x="3610928" y="1570672"/>
                  </a:lnTo>
                  <a:lnTo>
                    <a:pt x="3625215" y="1571625"/>
                  </a:lnTo>
                  <a:lnTo>
                    <a:pt x="3639502" y="1572577"/>
                  </a:lnTo>
                  <a:lnTo>
                    <a:pt x="3653790" y="1574482"/>
                  </a:lnTo>
                  <a:lnTo>
                    <a:pt x="3668078" y="1575435"/>
                  </a:lnTo>
                  <a:lnTo>
                    <a:pt x="3682365" y="1576388"/>
                  </a:lnTo>
                  <a:lnTo>
                    <a:pt x="3696652" y="1577340"/>
                  </a:lnTo>
                  <a:lnTo>
                    <a:pt x="3710940" y="1578292"/>
                  </a:lnTo>
                  <a:lnTo>
                    <a:pt x="3725228" y="1579245"/>
                  </a:lnTo>
                  <a:lnTo>
                    <a:pt x="3739515" y="1580197"/>
                  </a:lnTo>
                  <a:lnTo>
                    <a:pt x="3753802" y="1582102"/>
                  </a:lnTo>
                  <a:lnTo>
                    <a:pt x="3768090" y="1583055"/>
                  </a:lnTo>
                  <a:lnTo>
                    <a:pt x="3782378" y="1584007"/>
                  </a:lnTo>
                  <a:lnTo>
                    <a:pt x="3796665" y="1584960"/>
                  </a:lnTo>
                  <a:lnTo>
                    <a:pt x="3810952" y="1585912"/>
                  </a:lnTo>
                  <a:lnTo>
                    <a:pt x="3825240" y="1586865"/>
                  </a:lnTo>
                  <a:lnTo>
                    <a:pt x="3839528" y="1587818"/>
                  </a:lnTo>
                  <a:lnTo>
                    <a:pt x="3853815" y="1588770"/>
                  </a:lnTo>
                  <a:lnTo>
                    <a:pt x="3868102" y="1589722"/>
                  </a:lnTo>
                  <a:lnTo>
                    <a:pt x="3881438" y="1590675"/>
                  </a:lnTo>
                  <a:lnTo>
                    <a:pt x="3895725" y="1591627"/>
                  </a:lnTo>
                  <a:lnTo>
                    <a:pt x="3910012" y="1592580"/>
                  </a:lnTo>
                  <a:lnTo>
                    <a:pt x="3924300" y="1593532"/>
                  </a:lnTo>
                  <a:lnTo>
                    <a:pt x="3938588" y="1594485"/>
                  </a:lnTo>
                  <a:lnTo>
                    <a:pt x="3952875" y="1595438"/>
                  </a:lnTo>
                  <a:lnTo>
                    <a:pt x="3967162" y="1596390"/>
                  </a:lnTo>
                  <a:lnTo>
                    <a:pt x="3981450" y="1597342"/>
                  </a:lnTo>
                  <a:lnTo>
                    <a:pt x="3995738" y="1597342"/>
                  </a:lnTo>
                  <a:lnTo>
                    <a:pt x="4010025" y="1598295"/>
                  </a:lnTo>
                  <a:lnTo>
                    <a:pt x="4024312" y="1599247"/>
                  </a:lnTo>
                  <a:lnTo>
                    <a:pt x="4038600" y="1600200"/>
                  </a:lnTo>
                  <a:lnTo>
                    <a:pt x="4052888" y="1601152"/>
                  </a:lnTo>
                  <a:lnTo>
                    <a:pt x="4067175" y="1602105"/>
                  </a:lnTo>
                  <a:lnTo>
                    <a:pt x="4081462" y="1603057"/>
                  </a:lnTo>
                  <a:lnTo>
                    <a:pt x="4095750" y="1604010"/>
                  </a:lnTo>
                  <a:lnTo>
                    <a:pt x="4110038" y="1604010"/>
                  </a:lnTo>
                  <a:lnTo>
                    <a:pt x="4124325" y="1604962"/>
                  </a:lnTo>
                  <a:lnTo>
                    <a:pt x="4138612" y="1605915"/>
                  </a:lnTo>
                  <a:lnTo>
                    <a:pt x="4152900" y="1606868"/>
                  </a:lnTo>
                  <a:lnTo>
                    <a:pt x="4167188" y="1607820"/>
                  </a:lnTo>
                  <a:lnTo>
                    <a:pt x="4181475" y="1607820"/>
                  </a:lnTo>
                  <a:lnTo>
                    <a:pt x="4195762" y="1608772"/>
                  </a:lnTo>
                  <a:lnTo>
                    <a:pt x="4210050" y="1609725"/>
                  </a:lnTo>
                  <a:lnTo>
                    <a:pt x="4224338" y="1610677"/>
                  </a:lnTo>
                  <a:lnTo>
                    <a:pt x="4238625" y="1610677"/>
                  </a:lnTo>
                  <a:lnTo>
                    <a:pt x="4252912" y="1611630"/>
                  </a:lnTo>
                  <a:lnTo>
                    <a:pt x="4267200" y="1612582"/>
                  </a:lnTo>
                  <a:lnTo>
                    <a:pt x="4281488" y="1613535"/>
                  </a:lnTo>
                </a:path>
              </a:pathLst>
            </a:custGeom>
            <a:noFill/>
            <a:ln w="21908">
              <a:solidFill>
                <a:srgbClr val="F26B3A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2163128" y="47434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22304" y="48191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184208" y="47434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142841" y="48191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204335" y="47434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163378" y="48191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5225415" y="47434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183906" y="48191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1095375" y="4213860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4641" y="4151890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1095375" y="3685222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4641" y="362272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1095375" y="3155632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34641" y="3093558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0.6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1095375" y="262699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4641" y="2564397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819150" y="506730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4765">
              <a:solidFill>
                <a:srgbClr val="14A38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18806" y="5005626"/>
              <a:ext cx="68550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F(10, 25)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1936366" y="506730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236022" y="5005626"/>
              <a:ext cx="60648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F(10, 5)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2983040" y="506730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4765">
              <a:solidFill>
                <a:srgbClr val="F26B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282696" y="5005626"/>
              <a:ext cx="52747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F(5, 5)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23900" y="5257800"/>
              <a:ext cx="5143500" cy="83820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33425" y="5362575"/>
              <a:ext cx="47625" cy="6286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95350" y="5362575"/>
              <a:ext cx="142875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68312" y="541591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自由度的顺序不能换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9826" y="5673804"/>
              <a:ext cx="455764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第一自由度属于分子，第二自由度属于分母，F(10, 5) ≠ F(5, 10)。</a:t>
              </a:r>
            </a:p>
          </p:txBody>
        </p:sp>
      </p:grpSp>
      <p:grpSp>
        <p:nvGrpSpPr>
          <p:cNvPr id="80" name="fB"/>
          <p:cNvGrpSpPr/>
          <p:nvPr/>
        </p:nvGrpSpPr>
        <p:grpSpPr>
          <a:xfrm>
            <a:off x="6210300" y="1524000"/>
            <a:ext cx="5448300" cy="4762500"/>
            <a:chOff x="6210300" y="1524000"/>
            <a:chExt cx="5448300" cy="4762500"/>
          </a:xfrm>
        </p:grpSpPr>
        <p:sp>
          <p:nvSpPr>
            <p:cNvPr id="48" name="Rectangle 48"/>
            <p:cNvSpPr/>
            <p:nvPr/>
          </p:nvSpPr>
          <p:spPr>
            <a:xfrm>
              <a:off x="6210300" y="1524000"/>
              <a:ext cx="54483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94323" y="166258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上下两个分位点靠倒数互换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95466" y="1925002"/>
              <a:ext cx="2519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F(10, 6) 中两块尾巴面积都是 0.025。</a:t>
              </a:r>
            </a:p>
          </p:txBody>
        </p:sp>
        <p:sp>
          <p:nvSpPr>
            <p:cNvPr id="51" name="Polygon 51"/>
            <p:cNvSpPr/>
            <p:nvPr/>
          </p:nvSpPr>
          <p:spPr>
            <a:xfrm>
              <a:off x="10126028" y="4615815"/>
              <a:ext cx="942023" cy="32385"/>
            </a:xfrm>
            <a:custGeom>
              <a:avLst/>
              <a:gdLst/>
              <a:ahLst/>
              <a:cxnLst/>
              <a:rect l="l" t="t" r="r" b="b"/>
              <a:pathLst>
                <a:path w="942023" h="32385">
                  <a:moveTo>
                    <a:pt x="0" y="32385"/>
                  </a:moveTo>
                  <a:lnTo>
                    <a:pt x="0" y="0"/>
                  </a:lnTo>
                  <a:lnTo>
                    <a:pt x="15240" y="952"/>
                  </a:lnTo>
                  <a:lnTo>
                    <a:pt x="31433" y="952"/>
                  </a:lnTo>
                  <a:lnTo>
                    <a:pt x="46673" y="1905"/>
                  </a:lnTo>
                  <a:lnTo>
                    <a:pt x="62865" y="1905"/>
                  </a:lnTo>
                  <a:lnTo>
                    <a:pt x="78105" y="2857"/>
                  </a:lnTo>
                  <a:lnTo>
                    <a:pt x="94298" y="2857"/>
                  </a:lnTo>
                  <a:lnTo>
                    <a:pt x="109538" y="3810"/>
                  </a:lnTo>
                  <a:lnTo>
                    <a:pt x="125730" y="3810"/>
                  </a:lnTo>
                  <a:lnTo>
                    <a:pt x="140970" y="4762"/>
                  </a:lnTo>
                  <a:lnTo>
                    <a:pt x="157162" y="4762"/>
                  </a:lnTo>
                  <a:lnTo>
                    <a:pt x="172403" y="5715"/>
                  </a:lnTo>
                  <a:lnTo>
                    <a:pt x="188595" y="5715"/>
                  </a:lnTo>
                  <a:lnTo>
                    <a:pt x="203835" y="5715"/>
                  </a:lnTo>
                  <a:lnTo>
                    <a:pt x="220028" y="6667"/>
                  </a:lnTo>
                  <a:lnTo>
                    <a:pt x="235268" y="6667"/>
                  </a:lnTo>
                  <a:lnTo>
                    <a:pt x="251460" y="6667"/>
                  </a:lnTo>
                  <a:lnTo>
                    <a:pt x="266700" y="7620"/>
                  </a:lnTo>
                  <a:lnTo>
                    <a:pt x="282893" y="7620"/>
                  </a:lnTo>
                  <a:lnTo>
                    <a:pt x="298133" y="8572"/>
                  </a:lnTo>
                  <a:lnTo>
                    <a:pt x="314325" y="8572"/>
                  </a:lnTo>
                  <a:lnTo>
                    <a:pt x="329565" y="8572"/>
                  </a:lnTo>
                  <a:lnTo>
                    <a:pt x="345758" y="9525"/>
                  </a:lnTo>
                  <a:lnTo>
                    <a:pt x="360998" y="9525"/>
                  </a:lnTo>
                  <a:lnTo>
                    <a:pt x="377190" y="9525"/>
                  </a:lnTo>
                  <a:lnTo>
                    <a:pt x="392430" y="10477"/>
                  </a:lnTo>
                  <a:lnTo>
                    <a:pt x="407670" y="10477"/>
                  </a:lnTo>
                  <a:lnTo>
                    <a:pt x="423862" y="10477"/>
                  </a:lnTo>
                  <a:lnTo>
                    <a:pt x="439103" y="11430"/>
                  </a:lnTo>
                  <a:lnTo>
                    <a:pt x="455295" y="11430"/>
                  </a:lnTo>
                  <a:lnTo>
                    <a:pt x="470535" y="11430"/>
                  </a:lnTo>
                  <a:lnTo>
                    <a:pt x="486728" y="11430"/>
                  </a:lnTo>
                  <a:lnTo>
                    <a:pt x="501968" y="12382"/>
                  </a:lnTo>
                  <a:lnTo>
                    <a:pt x="518160" y="12382"/>
                  </a:lnTo>
                  <a:lnTo>
                    <a:pt x="533400" y="12382"/>
                  </a:lnTo>
                  <a:lnTo>
                    <a:pt x="549593" y="13335"/>
                  </a:lnTo>
                  <a:lnTo>
                    <a:pt x="564833" y="13335"/>
                  </a:lnTo>
                  <a:lnTo>
                    <a:pt x="581025" y="13335"/>
                  </a:lnTo>
                  <a:lnTo>
                    <a:pt x="596265" y="13335"/>
                  </a:lnTo>
                  <a:lnTo>
                    <a:pt x="612458" y="14288"/>
                  </a:lnTo>
                  <a:lnTo>
                    <a:pt x="627698" y="14288"/>
                  </a:lnTo>
                  <a:lnTo>
                    <a:pt x="643890" y="14288"/>
                  </a:lnTo>
                  <a:lnTo>
                    <a:pt x="659130" y="14288"/>
                  </a:lnTo>
                  <a:lnTo>
                    <a:pt x="675323" y="15240"/>
                  </a:lnTo>
                  <a:lnTo>
                    <a:pt x="690562" y="15240"/>
                  </a:lnTo>
                  <a:lnTo>
                    <a:pt x="706755" y="15240"/>
                  </a:lnTo>
                  <a:lnTo>
                    <a:pt x="721995" y="15240"/>
                  </a:lnTo>
                  <a:lnTo>
                    <a:pt x="738188" y="16192"/>
                  </a:lnTo>
                  <a:lnTo>
                    <a:pt x="753428" y="16192"/>
                  </a:lnTo>
                  <a:lnTo>
                    <a:pt x="769620" y="16192"/>
                  </a:lnTo>
                  <a:lnTo>
                    <a:pt x="784860" y="16192"/>
                  </a:lnTo>
                  <a:lnTo>
                    <a:pt x="801053" y="16192"/>
                  </a:lnTo>
                  <a:lnTo>
                    <a:pt x="816293" y="17145"/>
                  </a:lnTo>
                  <a:lnTo>
                    <a:pt x="832485" y="17145"/>
                  </a:lnTo>
                  <a:lnTo>
                    <a:pt x="847725" y="17145"/>
                  </a:lnTo>
                  <a:lnTo>
                    <a:pt x="863918" y="17145"/>
                  </a:lnTo>
                  <a:lnTo>
                    <a:pt x="879158" y="17145"/>
                  </a:lnTo>
                  <a:lnTo>
                    <a:pt x="895350" y="18097"/>
                  </a:lnTo>
                  <a:lnTo>
                    <a:pt x="910590" y="18097"/>
                  </a:lnTo>
                  <a:lnTo>
                    <a:pt x="926783" y="18097"/>
                  </a:lnTo>
                  <a:lnTo>
                    <a:pt x="942023" y="18097"/>
                  </a:lnTo>
                  <a:lnTo>
                    <a:pt x="942023" y="32385"/>
                  </a:lnTo>
                  <a:close/>
                </a:path>
              </a:pathLst>
            </a:custGeom>
            <a:solidFill>
              <a:srgbClr val="F6C6AC"/>
            </a:solidFill>
            <a:ln>
              <a:noFill/>
            </a:ln>
          </p:spPr>
        </p:sp>
        <p:sp>
          <p:nvSpPr>
            <p:cNvPr id="52" name="Polygon 52"/>
            <p:cNvSpPr/>
            <p:nvPr/>
          </p:nvSpPr>
          <p:spPr>
            <a:xfrm>
              <a:off x="6781800" y="3738562"/>
              <a:ext cx="150495" cy="909638"/>
            </a:xfrm>
            <a:custGeom>
              <a:avLst/>
              <a:gdLst/>
              <a:ahLst/>
              <a:cxnLst/>
              <a:rect l="l" t="t" r="r" b="b"/>
              <a:pathLst>
                <a:path w="150495" h="909638">
                  <a:moveTo>
                    <a:pt x="0" y="909638"/>
                  </a:moveTo>
                  <a:lnTo>
                    <a:pt x="1905" y="909638"/>
                  </a:lnTo>
                  <a:lnTo>
                    <a:pt x="5715" y="909638"/>
                  </a:lnTo>
                  <a:lnTo>
                    <a:pt x="9525" y="909638"/>
                  </a:lnTo>
                  <a:lnTo>
                    <a:pt x="13335" y="908685"/>
                  </a:lnTo>
                  <a:lnTo>
                    <a:pt x="17145" y="907733"/>
                  </a:lnTo>
                  <a:lnTo>
                    <a:pt x="20003" y="906780"/>
                  </a:lnTo>
                  <a:lnTo>
                    <a:pt x="23812" y="903922"/>
                  </a:lnTo>
                  <a:lnTo>
                    <a:pt x="27622" y="900112"/>
                  </a:lnTo>
                  <a:lnTo>
                    <a:pt x="31432" y="895350"/>
                  </a:lnTo>
                  <a:lnTo>
                    <a:pt x="35243" y="888683"/>
                  </a:lnTo>
                  <a:lnTo>
                    <a:pt x="39053" y="881062"/>
                  </a:lnTo>
                  <a:lnTo>
                    <a:pt x="42862" y="871538"/>
                  </a:lnTo>
                  <a:lnTo>
                    <a:pt x="46672" y="860108"/>
                  </a:lnTo>
                  <a:lnTo>
                    <a:pt x="50482" y="846772"/>
                  </a:lnTo>
                  <a:lnTo>
                    <a:pt x="54293" y="831533"/>
                  </a:lnTo>
                  <a:lnTo>
                    <a:pt x="57150" y="815340"/>
                  </a:lnTo>
                  <a:lnTo>
                    <a:pt x="60960" y="796290"/>
                  </a:lnTo>
                  <a:lnTo>
                    <a:pt x="64770" y="775335"/>
                  </a:lnTo>
                  <a:lnTo>
                    <a:pt x="68580" y="753428"/>
                  </a:lnTo>
                  <a:lnTo>
                    <a:pt x="72390" y="729615"/>
                  </a:lnTo>
                  <a:lnTo>
                    <a:pt x="76200" y="703897"/>
                  </a:lnTo>
                  <a:lnTo>
                    <a:pt x="80010" y="676275"/>
                  </a:lnTo>
                  <a:lnTo>
                    <a:pt x="83820" y="647700"/>
                  </a:lnTo>
                  <a:lnTo>
                    <a:pt x="87630" y="618172"/>
                  </a:lnTo>
                  <a:lnTo>
                    <a:pt x="90488" y="586740"/>
                  </a:lnTo>
                  <a:lnTo>
                    <a:pt x="94297" y="554355"/>
                  </a:lnTo>
                  <a:lnTo>
                    <a:pt x="98107" y="521017"/>
                  </a:lnTo>
                  <a:lnTo>
                    <a:pt x="101918" y="486728"/>
                  </a:lnTo>
                  <a:lnTo>
                    <a:pt x="105728" y="451485"/>
                  </a:lnTo>
                  <a:lnTo>
                    <a:pt x="109538" y="415290"/>
                  </a:lnTo>
                  <a:lnTo>
                    <a:pt x="113347" y="379095"/>
                  </a:lnTo>
                  <a:lnTo>
                    <a:pt x="117157" y="341947"/>
                  </a:lnTo>
                  <a:lnTo>
                    <a:pt x="120968" y="304800"/>
                  </a:lnTo>
                  <a:lnTo>
                    <a:pt x="124778" y="266700"/>
                  </a:lnTo>
                  <a:lnTo>
                    <a:pt x="127635" y="228600"/>
                  </a:lnTo>
                  <a:lnTo>
                    <a:pt x="131445" y="190500"/>
                  </a:lnTo>
                  <a:lnTo>
                    <a:pt x="135255" y="152400"/>
                  </a:lnTo>
                  <a:lnTo>
                    <a:pt x="139065" y="114300"/>
                  </a:lnTo>
                  <a:lnTo>
                    <a:pt x="142875" y="76200"/>
                  </a:lnTo>
                  <a:lnTo>
                    <a:pt x="146685" y="38100"/>
                  </a:lnTo>
                  <a:lnTo>
                    <a:pt x="150495" y="0"/>
                  </a:lnTo>
                  <a:lnTo>
                    <a:pt x="150495" y="909638"/>
                  </a:lnTo>
                  <a:close/>
                </a:path>
              </a:pathLst>
            </a:custGeom>
            <a:solidFill>
              <a:srgbClr val="A9BBE4"/>
            </a:solidFill>
            <a:ln>
              <a:noFill/>
            </a:ln>
          </p:spPr>
        </p:sp>
        <p:sp>
          <p:nvSpPr>
            <p:cNvPr id="53" name="Line 53"/>
            <p:cNvSpPr/>
            <p:nvPr/>
          </p:nvSpPr>
          <p:spPr>
            <a:xfrm>
              <a:off x="6781800" y="4648200"/>
              <a:ext cx="4333875" cy="9525"/>
            </a:xfrm>
            <a:custGeom>
              <a:avLst/>
              <a:gdLst/>
              <a:ahLst/>
              <a:cxnLst/>
              <a:rect l="l" t="t" r="r" b="b"/>
              <a:pathLst>
                <a:path w="4333875" h="9525">
                  <a:moveTo>
                    <a:pt x="0" y="0"/>
                  </a:moveTo>
                  <a:lnTo>
                    <a:pt x="43338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54" name="Polygon 54"/>
            <p:cNvSpPr/>
            <p:nvPr/>
          </p:nvSpPr>
          <p:spPr>
            <a:xfrm>
              <a:off x="11115675" y="461819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55" name="Line 55"/>
            <p:cNvSpPr/>
            <p:nvPr/>
          </p:nvSpPr>
          <p:spPr>
            <a:xfrm>
              <a:off x="6781800" y="2371725"/>
              <a:ext cx="9525" cy="2276475"/>
            </a:xfrm>
            <a:custGeom>
              <a:avLst/>
              <a:gdLst/>
              <a:ahLst/>
              <a:cxnLst/>
              <a:rect l="l" t="t" r="r" b="b"/>
              <a:pathLst>
                <a:path w="9525" h="2276475">
                  <a:moveTo>
                    <a:pt x="0" y="227647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56" name="Polygon 56"/>
            <p:cNvSpPr/>
            <p:nvPr/>
          </p:nvSpPr>
          <p:spPr>
            <a:xfrm>
              <a:off x="6751796" y="230505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1224641" y="45824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19799" y="470487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6783705" y="2678430"/>
              <a:ext cx="4284345" cy="1969770"/>
            </a:xfrm>
            <a:custGeom>
              <a:avLst/>
              <a:gdLst/>
              <a:ahLst/>
              <a:cxnLst/>
              <a:rect l="l" t="t" r="r" b="b"/>
              <a:pathLst>
                <a:path w="4284345" h="1969770">
                  <a:moveTo>
                    <a:pt x="0" y="1969770"/>
                  </a:moveTo>
                  <a:lnTo>
                    <a:pt x="14288" y="1968818"/>
                  </a:lnTo>
                  <a:lnTo>
                    <a:pt x="28575" y="1957388"/>
                  </a:lnTo>
                  <a:lnTo>
                    <a:pt x="42862" y="1925955"/>
                  </a:lnTo>
                  <a:lnTo>
                    <a:pt x="57150" y="1867853"/>
                  </a:lnTo>
                  <a:lnTo>
                    <a:pt x="71438" y="1784032"/>
                  </a:lnTo>
                  <a:lnTo>
                    <a:pt x="85725" y="1675448"/>
                  </a:lnTo>
                  <a:lnTo>
                    <a:pt x="100012" y="1549718"/>
                  </a:lnTo>
                  <a:lnTo>
                    <a:pt x="114300" y="1410653"/>
                  </a:lnTo>
                  <a:lnTo>
                    <a:pt x="128588" y="1265873"/>
                  </a:lnTo>
                  <a:lnTo>
                    <a:pt x="142875" y="1118235"/>
                  </a:lnTo>
                  <a:lnTo>
                    <a:pt x="157162" y="974408"/>
                  </a:lnTo>
                  <a:lnTo>
                    <a:pt x="171450" y="836295"/>
                  </a:lnTo>
                  <a:lnTo>
                    <a:pt x="185738" y="706755"/>
                  </a:lnTo>
                  <a:lnTo>
                    <a:pt x="200025" y="586740"/>
                  </a:lnTo>
                  <a:lnTo>
                    <a:pt x="214312" y="479108"/>
                  </a:lnTo>
                  <a:lnTo>
                    <a:pt x="228600" y="382905"/>
                  </a:lnTo>
                  <a:lnTo>
                    <a:pt x="242888" y="298133"/>
                  </a:lnTo>
                  <a:lnTo>
                    <a:pt x="257175" y="225742"/>
                  </a:lnTo>
                  <a:lnTo>
                    <a:pt x="271462" y="164783"/>
                  </a:lnTo>
                  <a:lnTo>
                    <a:pt x="285750" y="114300"/>
                  </a:lnTo>
                  <a:lnTo>
                    <a:pt x="300038" y="74295"/>
                  </a:lnTo>
                  <a:lnTo>
                    <a:pt x="314325" y="43815"/>
                  </a:lnTo>
                  <a:lnTo>
                    <a:pt x="328612" y="21908"/>
                  </a:lnTo>
                  <a:lnTo>
                    <a:pt x="342900" y="7620"/>
                  </a:lnTo>
                  <a:lnTo>
                    <a:pt x="357188" y="953"/>
                  </a:lnTo>
                  <a:lnTo>
                    <a:pt x="371475" y="0"/>
                  </a:lnTo>
                  <a:lnTo>
                    <a:pt x="385762" y="5715"/>
                  </a:lnTo>
                  <a:lnTo>
                    <a:pt x="400050" y="15240"/>
                  </a:lnTo>
                  <a:lnTo>
                    <a:pt x="414338" y="29528"/>
                  </a:lnTo>
                  <a:lnTo>
                    <a:pt x="428625" y="48578"/>
                  </a:lnTo>
                  <a:lnTo>
                    <a:pt x="442912" y="69533"/>
                  </a:lnTo>
                  <a:lnTo>
                    <a:pt x="457200" y="94298"/>
                  </a:lnTo>
                  <a:lnTo>
                    <a:pt x="471488" y="121920"/>
                  </a:lnTo>
                  <a:lnTo>
                    <a:pt x="485775" y="150495"/>
                  </a:lnTo>
                  <a:lnTo>
                    <a:pt x="500062" y="180975"/>
                  </a:lnTo>
                  <a:lnTo>
                    <a:pt x="514350" y="213360"/>
                  </a:lnTo>
                  <a:lnTo>
                    <a:pt x="528638" y="246698"/>
                  </a:lnTo>
                  <a:lnTo>
                    <a:pt x="542925" y="280988"/>
                  </a:lnTo>
                  <a:lnTo>
                    <a:pt x="557212" y="315278"/>
                  </a:lnTo>
                  <a:lnTo>
                    <a:pt x="571500" y="350520"/>
                  </a:lnTo>
                  <a:lnTo>
                    <a:pt x="585788" y="385762"/>
                  </a:lnTo>
                  <a:lnTo>
                    <a:pt x="600075" y="421005"/>
                  </a:lnTo>
                  <a:lnTo>
                    <a:pt x="614362" y="457200"/>
                  </a:lnTo>
                  <a:lnTo>
                    <a:pt x="628650" y="492442"/>
                  </a:lnTo>
                  <a:lnTo>
                    <a:pt x="642938" y="527685"/>
                  </a:lnTo>
                  <a:lnTo>
                    <a:pt x="657225" y="561975"/>
                  </a:lnTo>
                  <a:lnTo>
                    <a:pt x="671512" y="597217"/>
                  </a:lnTo>
                  <a:lnTo>
                    <a:pt x="685800" y="630555"/>
                  </a:lnTo>
                  <a:lnTo>
                    <a:pt x="700088" y="663892"/>
                  </a:lnTo>
                  <a:lnTo>
                    <a:pt x="714375" y="697230"/>
                  </a:lnTo>
                  <a:lnTo>
                    <a:pt x="728662" y="729615"/>
                  </a:lnTo>
                  <a:lnTo>
                    <a:pt x="742950" y="761048"/>
                  </a:lnTo>
                  <a:lnTo>
                    <a:pt x="757238" y="792480"/>
                  </a:lnTo>
                  <a:lnTo>
                    <a:pt x="771525" y="822960"/>
                  </a:lnTo>
                  <a:lnTo>
                    <a:pt x="785812" y="852488"/>
                  </a:lnTo>
                  <a:lnTo>
                    <a:pt x="800100" y="882015"/>
                  </a:lnTo>
                  <a:lnTo>
                    <a:pt x="814388" y="910590"/>
                  </a:lnTo>
                  <a:lnTo>
                    <a:pt x="828675" y="938212"/>
                  </a:lnTo>
                  <a:lnTo>
                    <a:pt x="842962" y="964883"/>
                  </a:lnTo>
                  <a:lnTo>
                    <a:pt x="857250" y="991553"/>
                  </a:lnTo>
                  <a:lnTo>
                    <a:pt x="871538" y="1017270"/>
                  </a:lnTo>
                  <a:lnTo>
                    <a:pt x="885825" y="1042035"/>
                  </a:lnTo>
                  <a:lnTo>
                    <a:pt x="900112" y="1066800"/>
                  </a:lnTo>
                  <a:lnTo>
                    <a:pt x="914400" y="1090612"/>
                  </a:lnTo>
                  <a:lnTo>
                    <a:pt x="928688" y="1113473"/>
                  </a:lnTo>
                  <a:lnTo>
                    <a:pt x="942975" y="1136332"/>
                  </a:lnTo>
                  <a:lnTo>
                    <a:pt x="956310" y="1158240"/>
                  </a:lnTo>
                  <a:lnTo>
                    <a:pt x="970597" y="1179195"/>
                  </a:lnTo>
                  <a:lnTo>
                    <a:pt x="984885" y="1200150"/>
                  </a:lnTo>
                  <a:lnTo>
                    <a:pt x="999172" y="1220153"/>
                  </a:lnTo>
                  <a:lnTo>
                    <a:pt x="1013460" y="1239203"/>
                  </a:lnTo>
                  <a:lnTo>
                    <a:pt x="1027747" y="1258253"/>
                  </a:lnTo>
                  <a:lnTo>
                    <a:pt x="1042035" y="1277303"/>
                  </a:lnTo>
                  <a:lnTo>
                    <a:pt x="1056322" y="1295400"/>
                  </a:lnTo>
                  <a:lnTo>
                    <a:pt x="1070610" y="1312545"/>
                  </a:lnTo>
                  <a:lnTo>
                    <a:pt x="1084897" y="1329690"/>
                  </a:lnTo>
                  <a:lnTo>
                    <a:pt x="1099185" y="1345882"/>
                  </a:lnTo>
                  <a:lnTo>
                    <a:pt x="1113472" y="1362075"/>
                  </a:lnTo>
                  <a:lnTo>
                    <a:pt x="1127760" y="1377315"/>
                  </a:lnTo>
                  <a:lnTo>
                    <a:pt x="1142047" y="1392555"/>
                  </a:lnTo>
                  <a:lnTo>
                    <a:pt x="1156335" y="1406842"/>
                  </a:lnTo>
                  <a:lnTo>
                    <a:pt x="1170622" y="1421130"/>
                  </a:lnTo>
                  <a:lnTo>
                    <a:pt x="1184910" y="1434465"/>
                  </a:lnTo>
                  <a:lnTo>
                    <a:pt x="1199197" y="1447800"/>
                  </a:lnTo>
                  <a:lnTo>
                    <a:pt x="1213485" y="1461135"/>
                  </a:lnTo>
                  <a:lnTo>
                    <a:pt x="1227772" y="1473518"/>
                  </a:lnTo>
                  <a:lnTo>
                    <a:pt x="1242060" y="1485900"/>
                  </a:lnTo>
                  <a:lnTo>
                    <a:pt x="1256347" y="1498282"/>
                  </a:lnTo>
                  <a:lnTo>
                    <a:pt x="1270635" y="1509712"/>
                  </a:lnTo>
                  <a:lnTo>
                    <a:pt x="1284922" y="1521142"/>
                  </a:lnTo>
                  <a:lnTo>
                    <a:pt x="1299210" y="1531620"/>
                  </a:lnTo>
                  <a:lnTo>
                    <a:pt x="1313497" y="1542098"/>
                  </a:lnTo>
                  <a:lnTo>
                    <a:pt x="1327785" y="1552575"/>
                  </a:lnTo>
                  <a:lnTo>
                    <a:pt x="1342072" y="1562100"/>
                  </a:lnTo>
                  <a:lnTo>
                    <a:pt x="1356360" y="1572578"/>
                  </a:lnTo>
                  <a:lnTo>
                    <a:pt x="1370647" y="1582103"/>
                  </a:lnTo>
                  <a:lnTo>
                    <a:pt x="1384935" y="1590675"/>
                  </a:lnTo>
                  <a:lnTo>
                    <a:pt x="1399222" y="1600200"/>
                  </a:lnTo>
                  <a:lnTo>
                    <a:pt x="1413510" y="1608773"/>
                  </a:lnTo>
                  <a:lnTo>
                    <a:pt x="1427797" y="1617345"/>
                  </a:lnTo>
                  <a:lnTo>
                    <a:pt x="1442085" y="1624965"/>
                  </a:lnTo>
                  <a:lnTo>
                    <a:pt x="1456372" y="1633538"/>
                  </a:lnTo>
                  <a:lnTo>
                    <a:pt x="1470660" y="1641158"/>
                  </a:lnTo>
                  <a:lnTo>
                    <a:pt x="1484947" y="1648778"/>
                  </a:lnTo>
                  <a:lnTo>
                    <a:pt x="1499235" y="1655445"/>
                  </a:lnTo>
                  <a:lnTo>
                    <a:pt x="1513522" y="1663065"/>
                  </a:lnTo>
                  <a:lnTo>
                    <a:pt x="1527810" y="1669732"/>
                  </a:lnTo>
                  <a:lnTo>
                    <a:pt x="1542097" y="1676400"/>
                  </a:lnTo>
                  <a:lnTo>
                    <a:pt x="1556385" y="1683068"/>
                  </a:lnTo>
                  <a:lnTo>
                    <a:pt x="1570672" y="1689735"/>
                  </a:lnTo>
                  <a:lnTo>
                    <a:pt x="1584960" y="1696403"/>
                  </a:lnTo>
                  <a:lnTo>
                    <a:pt x="1599247" y="1702118"/>
                  </a:lnTo>
                  <a:lnTo>
                    <a:pt x="1613535" y="1707832"/>
                  </a:lnTo>
                  <a:lnTo>
                    <a:pt x="1627822" y="1713548"/>
                  </a:lnTo>
                  <a:lnTo>
                    <a:pt x="1642110" y="1719262"/>
                  </a:lnTo>
                  <a:lnTo>
                    <a:pt x="1656397" y="1724978"/>
                  </a:lnTo>
                  <a:lnTo>
                    <a:pt x="1670685" y="1729740"/>
                  </a:lnTo>
                  <a:lnTo>
                    <a:pt x="1684972" y="1735455"/>
                  </a:lnTo>
                  <a:lnTo>
                    <a:pt x="1699260" y="1740218"/>
                  </a:lnTo>
                  <a:lnTo>
                    <a:pt x="1713547" y="1744980"/>
                  </a:lnTo>
                  <a:lnTo>
                    <a:pt x="1727835" y="1749742"/>
                  </a:lnTo>
                  <a:lnTo>
                    <a:pt x="1742122" y="1754505"/>
                  </a:lnTo>
                  <a:lnTo>
                    <a:pt x="1756410" y="1759268"/>
                  </a:lnTo>
                  <a:lnTo>
                    <a:pt x="1770697" y="1764030"/>
                  </a:lnTo>
                  <a:lnTo>
                    <a:pt x="1784985" y="1767840"/>
                  </a:lnTo>
                  <a:lnTo>
                    <a:pt x="1799272" y="1771650"/>
                  </a:lnTo>
                  <a:lnTo>
                    <a:pt x="1813560" y="1776412"/>
                  </a:lnTo>
                  <a:lnTo>
                    <a:pt x="1827847" y="1780223"/>
                  </a:lnTo>
                  <a:lnTo>
                    <a:pt x="1842135" y="1784032"/>
                  </a:lnTo>
                  <a:lnTo>
                    <a:pt x="1856422" y="1787842"/>
                  </a:lnTo>
                  <a:lnTo>
                    <a:pt x="1870710" y="1791653"/>
                  </a:lnTo>
                  <a:lnTo>
                    <a:pt x="1884997" y="1795462"/>
                  </a:lnTo>
                  <a:lnTo>
                    <a:pt x="1899285" y="1798320"/>
                  </a:lnTo>
                  <a:lnTo>
                    <a:pt x="1913572" y="1802130"/>
                  </a:lnTo>
                  <a:lnTo>
                    <a:pt x="1927860" y="1804988"/>
                  </a:lnTo>
                  <a:lnTo>
                    <a:pt x="1942147" y="1808798"/>
                  </a:lnTo>
                  <a:lnTo>
                    <a:pt x="1956435" y="1811655"/>
                  </a:lnTo>
                  <a:lnTo>
                    <a:pt x="1970722" y="1815465"/>
                  </a:lnTo>
                  <a:lnTo>
                    <a:pt x="1985010" y="1818323"/>
                  </a:lnTo>
                  <a:lnTo>
                    <a:pt x="1999297" y="1821180"/>
                  </a:lnTo>
                  <a:lnTo>
                    <a:pt x="2013585" y="1824038"/>
                  </a:lnTo>
                  <a:lnTo>
                    <a:pt x="2027872" y="1826895"/>
                  </a:lnTo>
                  <a:lnTo>
                    <a:pt x="2042160" y="1829753"/>
                  </a:lnTo>
                  <a:lnTo>
                    <a:pt x="2056447" y="1832610"/>
                  </a:lnTo>
                  <a:lnTo>
                    <a:pt x="2070735" y="1834515"/>
                  </a:lnTo>
                  <a:lnTo>
                    <a:pt x="2085022" y="1837373"/>
                  </a:lnTo>
                  <a:lnTo>
                    <a:pt x="2099310" y="1840230"/>
                  </a:lnTo>
                  <a:lnTo>
                    <a:pt x="2113598" y="1842135"/>
                  </a:lnTo>
                  <a:lnTo>
                    <a:pt x="2127885" y="1844992"/>
                  </a:lnTo>
                  <a:lnTo>
                    <a:pt x="2142172" y="1846898"/>
                  </a:lnTo>
                  <a:lnTo>
                    <a:pt x="2156460" y="1849755"/>
                  </a:lnTo>
                  <a:lnTo>
                    <a:pt x="2170748" y="1851660"/>
                  </a:lnTo>
                  <a:lnTo>
                    <a:pt x="2185035" y="1853565"/>
                  </a:lnTo>
                  <a:lnTo>
                    <a:pt x="2199322" y="1855470"/>
                  </a:lnTo>
                  <a:lnTo>
                    <a:pt x="2213610" y="1858328"/>
                  </a:lnTo>
                  <a:lnTo>
                    <a:pt x="2227898" y="1860232"/>
                  </a:lnTo>
                  <a:lnTo>
                    <a:pt x="2242185" y="1862138"/>
                  </a:lnTo>
                  <a:lnTo>
                    <a:pt x="2256472" y="1864042"/>
                  </a:lnTo>
                  <a:lnTo>
                    <a:pt x="2270760" y="1865948"/>
                  </a:lnTo>
                  <a:lnTo>
                    <a:pt x="2285048" y="1867853"/>
                  </a:lnTo>
                  <a:lnTo>
                    <a:pt x="2299335" y="1869758"/>
                  </a:lnTo>
                  <a:lnTo>
                    <a:pt x="2313622" y="1871662"/>
                  </a:lnTo>
                  <a:lnTo>
                    <a:pt x="2327910" y="1873568"/>
                  </a:lnTo>
                  <a:lnTo>
                    <a:pt x="2342198" y="1874520"/>
                  </a:lnTo>
                  <a:lnTo>
                    <a:pt x="2356485" y="1876425"/>
                  </a:lnTo>
                  <a:lnTo>
                    <a:pt x="2370772" y="1878330"/>
                  </a:lnTo>
                  <a:lnTo>
                    <a:pt x="2385060" y="1879282"/>
                  </a:lnTo>
                  <a:lnTo>
                    <a:pt x="2399348" y="1881188"/>
                  </a:lnTo>
                  <a:lnTo>
                    <a:pt x="2413635" y="1883092"/>
                  </a:lnTo>
                  <a:lnTo>
                    <a:pt x="2427922" y="1884045"/>
                  </a:lnTo>
                  <a:lnTo>
                    <a:pt x="2442210" y="1885950"/>
                  </a:lnTo>
                  <a:lnTo>
                    <a:pt x="2456498" y="1886903"/>
                  </a:lnTo>
                  <a:lnTo>
                    <a:pt x="2470785" y="1888808"/>
                  </a:lnTo>
                  <a:lnTo>
                    <a:pt x="2485072" y="1889760"/>
                  </a:lnTo>
                  <a:lnTo>
                    <a:pt x="2499360" y="1891665"/>
                  </a:lnTo>
                  <a:lnTo>
                    <a:pt x="2513648" y="1892618"/>
                  </a:lnTo>
                  <a:lnTo>
                    <a:pt x="2527935" y="1893570"/>
                  </a:lnTo>
                  <a:lnTo>
                    <a:pt x="2542222" y="1895475"/>
                  </a:lnTo>
                  <a:lnTo>
                    <a:pt x="2556510" y="1896428"/>
                  </a:lnTo>
                  <a:lnTo>
                    <a:pt x="2570798" y="1897380"/>
                  </a:lnTo>
                  <a:lnTo>
                    <a:pt x="2585085" y="1899285"/>
                  </a:lnTo>
                  <a:lnTo>
                    <a:pt x="2599372" y="1900238"/>
                  </a:lnTo>
                  <a:lnTo>
                    <a:pt x="2613660" y="1901190"/>
                  </a:lnTo>
                  <a:lnTo>
                    <a:pt x="2627948" y="1902142"/>
                  </a:lnTo>
                  <a:lnTo>
                    <a:pt x="2642235" y="1903095"/>
                  </a:lnTo>
                  <a:lnTo>
                    <a:pt x="2656522" y="1904048"/>
                  </a:lnTo>
                  <a:lnTo>
                    <a:pt x="2670810" y="1905953"/>
                  </a:lnTo>
                  <a:lnTo>
                    <a:pt x="2685098" y="1906905"/>
                  </a:lnTo>
                  <a:lnTo>
                    <a:pt x="2699385" y="1907858"/>
                  </a:lnTo>
                  <a:lnTo>
                    <a:pt x="2713672" y="1908810"/>
                  </a:lnTo>
                  <a:lnTo>
                    <a:pt x="2727960" y="1909762"/>
                  </a:lnTo>
                  <a:lnTo>
                    <a:pt x="2742248" y="1910715"/>
                  </a:lnTo>
                  <a:lnTo>
                    <a:pt x="2756535" y="1911668"/>
                  </a:lnTo>
                  <a:lnTo>
                    <a:pt x="2770822" y="1912620"/>
                  </a:lnTo>
                  <a:lnTo>
                    <a:pt x="2785110" y="1913573"/>
                  </a:lnTo>
                  <a:lnTo>
                    <a:pt x="2799398" y="1914525"/>
                  </a:lnTo>
                  <a:lnTo>
                    <a:pt x="2813685" y="1914525"/>
                  </a:lnTo>
                  <a:lnTo>
                    <a:pt x="2827972" y="1915478"/>
                  </a:lnTo>
                  <a:lnTo>
                    <a:pt x="2842260" y="1916430"/>
                  </a:lnTo>
                  <a:lnTo>
                    <a:pt x="2856548" y="1917382"/>
                  </a:lnTo>
                  <a:lnTo>
                    <a:pt x="2870835" y="1918335"/>
                  </a:lnTo>
                  <a:lnTo>
                    <a:pt x="2885122" y="1919288"/>
                  </a:lnTo>
                  <a:lnTo>
                    <a:pt x="2899410" y="1920240"/>
                  </a:lnTo>
                  <a:lnTo>
                    <a:pt x="2913698" y="1920240"/>
                  </a:lnTo>
                  <a:lnTo>
                    <a:pt x="2927985" y="1921192"/>
                  </a:lnTo>
                  <a:lnTo>
                    <a:pt x="2942272" y="1922145"/>
                  </a:lnTo>
                  <a:lnTo>
                    <a:pt x="2956560" y="1923098"/>
                  </a:lnTo>
                  <a:lnTo>
                    <a:pt x="2970847" y="1923098"/>
                  </a:lnTo>
                  <a:lnTo>
                    <a:pt x="2985135" y="1924050"/>
                  </a:lnTo>
                  <a:lnTo>
                    <a:pt x="2999422" y="1925003"/>
                  </a:lnTo>
                  <a:lnTo>
                    <a:pt x="3013710" y="1925003"/>
                  </a:lnTo>
                  <a:lnTo>
                    <a:pt x="3027997" y="1925955"/>
                  </a:lnTo>
                  <a:lnTo>
                    <a:pt x="3042285" y="1926908"/>
                  </a:lnTo>
                  <a:lnTo>
                    <a:pt x="3056572" y="1926908"/>
                  </a:lnTo>
                  <a:lnTo>
                    <a:pt x="3070860" y="1927860"/>
                  </a:lnTo>
                  <a:lnTo>
                    <a:pt x="3085147" y="1928812"/>
                  </a:lnTo>
                  <a:lnTo>
                    <a:pt x="3099435" y="1928812"/>
                  </a:lnTo>
                  <a:lnTo>
                    <a:pt x="3113722" y="1929765"/>
                  </a:lnTo>
                  <a:lnTo>
                    <a:pt x="3128010" y="1930718"/>
                  </a:lnTo>
                  <a:lnTo>
                    <a:pt x="3142297" y="1930718"/>
                  </a:lnTo>
                  <a:lnTo>
                    <a:pt x="3156585" y="1931670"/>
                  </a:lnTo>
                  <a:lnTo>
                    <a:pt x="3170872" y="1931670"/>
                  </a:lnTo>
                  <a:lnTo>
                    <a:pt x="3184207" y="1932623"/>
                  </a:lnTo>
                  <a:lnTo>
                    <a:pt x="3198495" y="1932623"/>
                  </a:lnTo>
                  <a:lnTo>
                    <a:pt x="3212782" y="1933575"/>
                  </a:lnTo>
                  <a:lnTo>
                    <a:pt x="3227070" y="1934528"/>
                  </a:lnTo>
                  <a:lnTo>
                    <a:pt x="3241357" y="1934528"/>
                  </a:lnTo>
                  <a:lnTo>
                    <a:pt x="3255645" y="1935480"/>
                  </a:lnTo>
                  <a:lnTo>
                    <a:pt x="3269932" y="1935480"/>
                  </a:lnTo>
                  <a:lnTo>
                    <a:pt x="3284220" y="1936432"/>
                  </a:lnTo>
                  <a:lnTo>
                    <a:pt x="3298507" y="1936432"/>
                  </a:lnTo>
                  <a:lnTo>
                    <a:pt x="3312795" y="1937385"/>
                  </a:lnTo>
                  <a:lnTo>
                    <a:pt x="3327082" y="1937385"/>
                  </a:lnTo>
                  <a:lnTo>
                    <a:pt x="3341370" y="1937385"/>
                  </a:lnTo>
                  <a:lnTo>
                    <a:pt x="3355657" y="1938338"/>
                  </a:lnTo>
                  <a:lnTo>
                    <a:pt x="3369945" y="1938338"/>
                  </a:lnTo>
                  <a:lnTo>
                    <a:pt x="3384232" y="1939290"/>
                  </a:lnTo>
                  <a:lnTo>
                    <a:pt x="3398520" y="1939290"/>
                  </a:lnTo>
                  <a:lnTo>
                    <a:pt x="3412807" y="1940242"/>
                  </a:lnTo>
                  <a:lnTo>
                    <a:pt x="3427095" y="1940242"/>
                  </a:lnTo>
                  <a:lnTo>
                    <a:pt x="3441382" y="1941195"/>
                  </a:lnTo>
                  <a:lnTo>
                    <a:pt x="3455670" y="1941195"/>
                  </a:lnTo>
                  <a:lnTo>
                    <a:pt x="3469957" y="1941195"/>
                  </a:lnTo>
                  <a:lnTo>
                    <a:pt x="3484245" y="1942148"/>
                  </a:lnTo>
                  <a:lnTo>
                    <a:pt x="3498532" y="1942148"/>
                  </a:lnTo>
                  <a:lnTo>
                    <a:pt x="3512820" y="1942148"/>
                  </a:lnTo>
                  <a:lnTo>
                    <a:pt x="3527107" y="1943100"/>
                  </a:lnTo>
                  <a:lnTo>
                    <a:pt x="3541395" y="1943100"/>
                  </a:lnTo>
                  <a:lnTo>
                    <a:pt x="3555682" y="1944053"/>
                  </a:lnTo>
                  <a:lnTo>
                    <a:pt x="3569970" y="1944053"/>
                  </a:lnTo>
                  <a:lnTo>
                    <a:pt x="3584257" y="1944053"/>
                  </a:lnTo>
                  <a:lnTo>
                    <a:pt x="3598545" y="1945005"/>
                  </a:lnTo>
                  <a:lnTo>
                    <a:pt x="3612832" y="1945005"/>
                  </a:lnTo>
                  <a:lnTo>
                    <a:pt x="3627120" y="1945005"/>
                  </a:lnTo>
                  <a:lnTo>
                    <a:pt x="3641407" y="1945958"/>
                  </a:lnTo>
                  <a:lnTo>
                    <a:pt x="3655695" y="1945958"/>
                  </a:lnTo>
                  <a:lnTo>
                    <a:pt x="3669982" y="1945958"/>
                  </a:lnTo>
                  <a:lnTo>
                    <a:pt x="3684270" y="1946910"/>
                  </a:lnTo>
                  <a:lnTo>
                    <a:pt x="3698557" y="1946910"/>
                  </a:lnTo>
                  <a:lnTo>
                    <a:pt x="3712845" y="1946910"/>
                  </a:lnTo>
                  <a:lnTo>
                    <a:pt x="3727132" y="1946910"/>
                  </a:lnTo>
                  <a:lnTo>
                    <a:pt x="3741420" y="1947862"/>
                  </a:lnTo>
                  <a:lnTo>
                    <a:pt x="3755707" y="1947862"/>
                  </a:lnTo>
                  <a:lnTo>
                    <a:pt x="3769995" y="1947862"/>
                  </a:lnTo>
                  <a:lnTo>
                    <a:pt x="3784282" y="1948815"/>
                  </a:lnTo>
                  <a:lnTo>
                    <a:pt x="3798570" y="1948815"/>
                  </a:lnTo>
                  <a:lnTo>
                    <a:pt x="3812857" y="1948815"/>
                  </a:lnTo>
                  <a:lnTo>
                    <a:pt x="3827145" y="1948815"/>
                  </a:lnTo>
                  <a:lnTo>
                    <a:pt x="3841432" y="1949768"/>
                  </a:lnTo>
                  <a:lnTo>
                    <a:pt x="3855720" y="1949768"/>
                  </a:lnTo>
                  <a:lnTo>
                    <a:pt x="3870007" y="1949768"/>
                  </a:lnTo>
                  <a:lnTo>
                    <a:pt x="3884295" y="1949768"/>
                  </a:lnTo>
                  <a:lnTo>
                    <a:pt x="3898582" y="1950720"/>
                  </a:lnTo>
                  <a:lnTo>
                    <a:pt x="3912870" y="1950720"/>
                  </a:lnTo>
                  <a:lnTo>
                    <a:pt x="3927157" y="1950720"/>
                  </a:lnTo>
                  <a:lnTo>
                    <a:pt x="3941445" y="1950720"/>
                  </a:lnTo>
                  <a:lnTo>
                    <a:pt x="3955732" y="1951673"/>
                  </a:lnTo>
                  <a:lnTo>
                    <a:pt x="3970020" y="1951673"/>
                  </a:lnTo>
                  <a:lnTo>
                    <a:pt x="3984307" y="1951673"/>
                  </a:lnTo>
                  <a:lnTo>
                    <a:pt x="3998595" y="1951673"/>
                  </a:lnTo>
                  <a:lnTo>
                    <a:pt x="4012882" y="1952625"/>
                  </a:lnTo>
                  <a:lnTo>
                    <a:pt x="4027170" y="1952625"/>
                  </a:lnTo>
                  <a:lnTo>
                    <a:pt x="4041457" y="1952625"/>
                  </a:lnTo>
                  <a:lnTo>
                    <a:pt x="4055745" y="1952625"/>
                  </a:lnTo>
                  <a:lnTo>
                    <a:pt x="4070032" y="1952625"/>
                  </a:lnTo>
                  <a:lnTo>
                    <a:pt x="4084320" y="1953578"/>
                  </a:lnTo>
                  <a:lnTo>
                    <a:pt x="4098607" y="1953578"/>
                  </a:lnTo>
                  <a:lnTo>
                    <a:pt x="4112895" y="1953578"/>
                  </a:lnTo>
                  <a:lnTo>
                    <a:pt x="4127182" y="1953578"/>
                  </a:lnTo>
                  <a:lnTo>
                    <a:pt x="4141470" y="1953578"/>
                  </a:lnTo>
                  <a:lnTo>
                    <a:pt x="4155757" y="1954530"/>
                  </a:lnTo>
                  <a:lnTo>
                    <a:pt x="4170045" y="1954530"/>
                  </a:lnTo>
                  <a:lnTo>
                    <a:pt x="4184332" y="1954530"/>
                  </a:lnTo>
                  <a:lnTo>
                    <a:pt x="4198620" y="1954530"/>
                  </a:lnTo>
                  <a:lnTo>
                    <a:pt x="4212908" y="1954530"/>
                  </a:lnTo>
                  <a:lnTo>
                    <a:pt x="4227195" y="1955482"/>
                  </a:lnTo>
                  <a:lnTo>
                    <a:pt x="4241482" y="1955482"/>
                  </a:lnTo>
                  <a:lnTo>
                    <a:pt x="4255770" y="1955482"/>
                  </a:lnTo>
                  <a:lnTo>
                    <a:pt x="4270058" y="1955482"/>
                  </a:lnTo>
                  <a:lnTo>
                    <a:pt x="4284345" y="1955482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10126028" y="4187190"/>
              <a:ext cx="9525" cy="461010"/>
            </a:xfrm>
            <a:custGeom>
              <a:avLst/>
              <a:gdLst/>
              <a:ahLst/>
              <a:cxnLst/>
              <a:rect l="l" t="t" r="r" b="b"/>
              <a:pathLst>
                <a:path w="9525" h="461010">
                  <a:moveTo>
                    <a:pt x="0" y="46101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C2410C"/>
              </a:solidFill>
              <a:custDash>
                <a:ds d="312500" sp="250000"/>
              </a:custDash>
            </a:ln>
          </p:spPr>
        </p:sp>
        <p:sp>
          <p:nvSpPr>
            <p:cNvPr id="61" name="Ellipse 61"/>
            <p:cNvSpPr/>
            <p:nvPr/>
          </p:nvSpPr>
          <p:spPr>
            <a:xfrm>
              <a:off x="10086022" y="4608195"/>
              <a:ext cx="80010" cy="8001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6892290" y="4608195"/>
              <a:ext cx="80010" cy="80010"/>
            </a:xfrm>
            <a:prstGeom prst="ellipse">
              <a:avLst/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3" name="Line 63"/>
            <p:cNvSpPr/>
            <p:nvPr/>
          </p:nvSpPr>
          <p:spPr>
            <a:xfrm>
              <a:off x="10126028" y="46482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975764" y="4723924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5.46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8006715" y="46482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965206" y="472392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Line 67"/>
            <p:cNvSpPr/>
            <p:nvPr/>
          </p:nvSpPr>
          <p:spPr>
            <a:xfrm>
              <a:off x="9230678" y="46482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189854" y="472392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035712" y="3847243"/>
              <a:ext cx="71765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右尾 0.025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10339578" y="4014178"/>
              <a:ext cx="54959" cy="490766"/>
            </a:xfrm>
            <a:custGeom>
              <a:avLst/>
              <a:gdLst/>
              <a:ahLst/>
              <a:cxnLst/>
              <a:rect l="l" t="t" r="r" b="b"/>
              <a:pathLst>
                <a:path w="54959" h="490766">
                  <a:moveTo>
                    <a:pt x="54959" y="0"/>
                  </a:moveTo>
                  <a:lnTo>
                    <a:pt x="0" y="490766"/>
                  </a:lnTo>
                </a:path>
              </a:pathLst>
            </a:custGeom>
            <a:noFill/>
            <a:ln w="12382">
              <a:solidFill>
                <a:srgbClr val="C2410C"/>
              </a:solidFill>
            </a:ln>
          </p:spPr>
        </p:sp>
        <p:sp>
          <p:nvSpPr>
            <p:cNvPr id="71" name="Polygon 71"/>
            <p:cNvSpPr/>
            <p:nvPr/>
          </p:nvSpPr>
          <p:spPr>
            <a:xfrm>
              <a:off x="10314051" y="4502086"/>
              <a:ext cx="51149" cy="59655"/>
            </a:xfrm>
            <a:custGeom>
              <a:avLst/>
              <a:gdLst/>
              <a:ahLst/>
              <a:cxnLst/>
              <a:rect l="l" t="t" r="r" b="b"/>
              <a:pathLst>
                <a:path w="51149" h="59655">
                  <a:moveTo>
                    <a:pt x="19240" y="59655"/>
                  </a:moveTo>
                  <a:lnTo>
                    <a:pt x="0" y="0"/>
                  </a:lnTo>
                  <a:lnTo>
                    <a:pt x="51149" y="5715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542057" y="4077795"/>
              <a:ext cx="156098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左尾 0.025，端点 0.246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6954526" y="4230319"/>
              <a:ext cx="562061" cy="304219"/>
            </a:xfrm>
            <a:custGeom>
              <a:avLst/>
              <a:gdLst/>
              <a:ahLst/>
              <a:cxnLst/>
              <a:rect l="l" t="t" r="r" b="b"/>
              <a:pathLst>
                <a:path w="562061" h="304219">
                  <a:moveTo>
                    <a:pt x="562061" y="0"/>
                  </a:moveTo>
                  <a:lnTo>
                    <a:pt x="0" y="304219"/>
                  </a:lnTo>
                </a:path>
              </a:pathLst>
            </a:custGeom>
            <a:noFill/>
            <a:ln w="12382">
              <a:solidFill>
                <a:srgbClr val="243B7A"/>
              </a:solidFill>
            </a:ln>
          </p:spPr>
        </p:sp>
        <p:sp>
          <p:nvSpPr>
            <p:cNvPr id="74" name="Polygon 74"/>
            <p:cNvSpPr/>
            <p:nvPr/>
          </p:nvSpPr>
          <p:spPr>
            <a:xfrm>
              <a:off x="6904263" y="4511926"/>
              <a:ext cx="62503" cy="49816"/>
            </a:xfrm>
            <a:custGeom>
              <a:avLst/>
              <a:gdLst/>
              <a:ahLst/>
              <a:cxnLst/>
              <a:rect l="l" t="t" r="r" b="b"/>
              <a:pathLst>
                <a:path w="62503" h="49816">
                  <a:moveTo>
                    <a:pt x="0" y="49816"/>
                  </a:moveTo>
                  <a:lnTo>
                    <a:pt x="38024" y="0"/>
                  </a:lnTo>
                  <a:lnTo>
                    <a:pt x="62503" y="45234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400800" y="5067300"/>
              <a:ext cx="5067300" cy="1028700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410325" y="5172075"/>
              <a:ext cx="47625" cy="8191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572250" y="5172075"/>
              <a:ext cx="7620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665214" y="52254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倒数关系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566726" y="5483304"/>
              <a:ext cx="3983990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右尾点 F₀.₀₂₅(10, 6) = 5.46，左尾点 F₀.₉₇₅(10, 6)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1/F₀.₀₂₅(6, 10) = 1/4.07 = 0.246。0.183 属于 F(6, 10)。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85660" cy="909257"/>
            <a:chOff x="520446" y="342900"/>
            <a:chExt cx="70856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三大抽样分布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856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分布的上 α 分位点：小 α 查表，大 α 取倒数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624965"/>
            <a:chOff x="533400" y="1524000"/>
            <a:chExt cx="5193982" cy="16249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624965"/>
            </a:xfrm>
            <a:prstGeom prst="roundRect">
              <a:avLst>
                <a:gd name="adj" fmla="val 82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5826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4833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F ~ F(n₁, n₂)，对给定的 α（0 &lt; α &lt; 1），满足下式的点称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F(n₁, n₂) 的上 α 分位点。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324"/>
                <p:cNvSpPr txBox="1">
                  <a:spLocks noGrp="1"/>
                </p:cNvSpPr>
                <p:nvPr/>
              </p:nvSpPr>
              <p:spPr>
                <a:xfrm>
                  <a:off x="752475" y="2551748"/>
                  <a:ext cx="4793932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&gt;</m:t>
                            </m:r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325"/>
              <p:cNvSpPr txBox="1">
                <a:spLocks noGrp="1"/>
              </p:cNvSpPr>
              <p:nvPr/>
            </p:nvSpPr>
            <p:spPr>
              <a:xfrm>
                <a:off x="533400" y="3313748"/>
                <a:ext cx="5193982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1" name="c1-card-3"/>
          <p:cNvGrpSpPr/>
          <p:nvPr/>
        </p:nvGrpSpPr>
        <p:grpSpPr>
          <a:xfrm>
            <a:off x="533400" y="3967162"/>
            <a:ext cx="5193982" cy="1636395"/>
            <a:chOff x="533400" y="3967162"/>
            <a:chExt cx="5193982" cy="1636395"/>
          </a:xfrm>
        </p:grpSpPr>
        <p:sp>
          <p:nvSpPr>
            <p:cNvPr id="15" name="Rectangle 15"/>
            <p:cNvSpPr/>
            <p:nvPr/>
          </p:nvSpPr>
          <p:spPr>
            <a:xfrm>
              <a:off x="533400" y="3967162"/>
              <a:ext cx="5193982" cy="1636395"/>
            </a:xfrm>
            <a:prstGeom prst="roundRect">
              <a:avLst>
                <a:gd name="adj" fmla="val 81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100512"/>
              <a:ext cx="47625" cy="13696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2475" y="414813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8246" y="418099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5998" y="4488656"/>
              <a:ext cx="39794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附表只列小的 α。F₀.₀₂₅(10, 6) = 5.46 可直接查到；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F₀.₉₇₅(6, 10) 查不到，用倒数关系：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326"/>
                <p:cNvSpPr txBox="1">
                  <a:spLocks noGrp="1"/>
                </p:cNvSpPr>
                <p:nvPr/>
              </p:nvSpPr>
              <p:spPr>
                <a:xfrm>
                  <a:off x="752475" y="4994910"/>
                  <a:ext cx="4793932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0.975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10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5.46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0.183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9" name="c2-steps-1"/>
          <p:cNvGrpSpPr/>
          <p:nvPr/>
        </p:nvGrpSpPr>
        <p:grpSpPr>
          <a:xfrm>
            <a:off x="6032182" y="1533525"/>
            <a:ext cx="5076049" cy="2149412"/>
            <a:chOff x="6032182" y="1533525"/>
            <a:chExt cx="5076049" cy="2149412"/>
          </a:xfrm>
        </p:grpSpPr>
        <p:sp>
          <p:nvSpPr>
            <p:cNvPr id="22" name="Rectangle 22"/>
            <p:cNvSpPr/>
            <p:nvPr/>
          </p:nvSpPr>
          <p:spPr>
            <a:xfrm>
              <a:off x="6165532" y="167640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032182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25806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032182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25806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032182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25806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44806" y="15644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写出定义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45948" y="1818322"/>
              <a:ext cx="19072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 α = P{F &gt; F₁₋α(n₁, n₂)}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44806" y="21169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两边取倒数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45948" y="2371725"/>
              <a:ext cx="40078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P{1/F &lt; 1/F₁₋α(n₁, n₂)} = 1 − P{1/F &gt; 1/F₁₋α(n₁, n₂)}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44806" y="267033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得到右尾概率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45948" y="2925128"/>
              <a:ext cx="19796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P{1/F &gt; 1/F₁₋α(n₁, n₂)} = α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44806" y="3222784"/>
              <a:ext cx="11323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1/F 的分布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45948" y="3477578"/>
              <a:ext cx="4662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1/F ~ F(n₂, n₁)，按上 α 分位点的定义，1/F₁₋α(n₁, n₂) = Fα(n₂, n₁)</a:t>
              </a:r>
            </a:p>
          </p:txBody>
        </p:sp>
      </p:grpSp>
      <p:grpSp>
        <p:nvGrpSpPr>
          <p:cNvPr id="46" name="c2-callout-2"/>
          <p:cNvGrpSpPr/>
          <p:nvPr/>
        </p:nvGrpSpPr>
        <p:grpSpPr>
          <a:xfrm>
            <a:off x="6032182" y="3844290"/>
            <a:ext cx="5626418" cy="1759268"/>
            <a:chOff x="6032182" y="3844290"/>
            <a:chExt cx="5626418" cy="1759268"/>
          </a:xfrm>
        </p:grpSpPr>
        <p:sp>
          <p:nvSpPr>
            <p:cNvPr id="40" name="Rectangle 40"/>
            <p:cNvSpPr/>
            <p:nvPr/>
          </p:nvSpPr>
          <p:spPr>
            <a:xfrm>
              <a:off x="6032182" y="3844290"/>
              <a:ext cx="5626418" cy="1759268"/>
            </a:xfrm>
            <a:prstGeom prst="roundRect">
              <a:avLst>
                <a:gd name="adj" fmla="val 649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224912" y="4620696"/>
              <a:ext cx="224134" cy="192560"/>
              <a:chOff x="6224912" y="4620696"/>
              <a:chExt cx="224134" cy="1925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336983" y="46910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224912" y="46206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336983" y="47688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540056" y="4518184"/>
              <a:ext cx="46296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取倒数时自由度要对调：F₀.₉₇₅(6, 10) 对应 F₀.₀₂₅(10, 6)，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不是 F₀.₀₂₅(6, 10)。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7" name="Rectangle 4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1273" y="6039326"/>
              <a:ext cx="4095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第二步用到 F &gt; 0：正数取倒数，不等号方向反过来。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56379" cy="909257"/>
            <a:chOff x="520446" y="342900"/>
            <a:chExt cx="59563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三大抽样分布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563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两个正态总体的 F 定理：比较两个方差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657350"/>
            <a:chOff x="533400" y="1524000"/>
            <a:chExt cx="5410200" cy="16573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57350"/>
            </a:xfrm>
            <a:prstGeom prst="roundRect">
              <a:avLst>
                <a:gd name="adj" fmla="val 80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906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127730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9893" y="1737836"/>
              <a:ext cx="11415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定理1（均值已知）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69224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X₁, …, Xₙ₁ 来自 N(μ₁, σ₁²)，Y₁, …, Yₙ₂ 来自 N(μ₂, σ₂²)，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两样本独立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351"/>
                <p:cNvSpPr txBox="1">
                  <a:spLocks noGrp="1"/>
                </p:cNvSpPr>
                <p:nvPr/>
              </p:nvSpPr>
              <p:spPr>
                <a:xfrm>
                  <a:off x="752475" y="2544128"/>
                  <a:ext cx="5010150" cy="4400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sSub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sup>
                              <m:e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b>
                                          <m:e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μ</m:t>
                                            </m:r>
                                          </m:e>
                                          <m:sub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sSub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sup>
                              <m:e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b>
                                          <m:e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μ</m:t>
                                            </m:r>
                                          </m:e>
                                          <m:sub>
                                            <m:r>
                                              <a:rPr lang="zh-CN" sz="10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den>
                        </m:f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1-card-2"/>
          <p:cNvGrpSpPr/>
          <p:nvPr/>
        </p:nvGrpSpPr>
        <p:grpSpPr>
          <a:xfrm>
            <a:off x="533400" y="3346132"/>
            <a:ext cx="5410200" cy="2353628"/>
            <a:chOff x="533400" y="3346132"/>
            <a:chExt cx="5410200" cy="2353628"/>
          </a:xfrm>
        </p:grpSpPr>
        <p:sp>
          <p:nvSpPr>
            <p:cNvPr id="14" name="Rectangle 14"/>
            <p:cNvSpPr/>
            <p:nvPr/>
          </p:nvSpPr>
          <p:spPr>
            <a:xfrm>
              <a:off x="533400" y="3346132"/>
              <a:ext cx="5410200" cy="2353628"/>
            </a:xfrm>
            <a:prstGeom prst="roundRect">
              <a:avLst>
                <a:gd name="adj" fmla="val 56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79482"/>
              <a:ext cx="47625" cy="20869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352710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5147" y="355996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推导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5998" y="3866674"/>
              <a:ext cx="44844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χ² 定理1，两个样本各给出一个 χ² 变量，且相互独立：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352"/>
                <p:cNvSpPr txBox="1">
                  <a:spLocks noGrp="1"/>
                </p:cNvSpPr>
                <p:nvPr/>
              </p:nvSpPr>
              <p:spPr>
                <a:xfrm>
                  <a:off x="752475" y="4130992"/>
                  <a:ext cx="5010150" cy="502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μ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s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353"/>
                <p:cNvSpPr txBox="1">
                  <a:spLocks noGrp="1"/>
                </p:cNvSpPr>
                <p:nvPr/>
              </p:nvSpPr>
              <p:spPr>
                <a:xfrm>
                  <a:off x="752475" y="4714875"/>
                  <a:ext cx="5010150" cy="502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μ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s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45998" y="5320189"/>
              <a:ext cx="39417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各除以自由度 n₁、n₂ 再相比，整理系数就是上式。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248400" y="1524000"/>
            <a:ext cx="5410200" cy="1383982"/>
            <a:chOff x="6248400" y="1524000"/>
            <a:chExt cx="5410200" cy="1383982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1383982"/>
            </a:xfrm>
            <a:prstGeom prst="roundRect">
              <a:avLst>
                <a:gd name="adj" fmla="val 96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111728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67475" y="1704975"/>
              <a:ext cx="127730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34893" y="1737836"/>
              <a:ext cx="11415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定理2（均值未知）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0998" y="2045494"/>
              <a:ext cx="3802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两正态总体相互独立，样本方差依次为 S₁²、S₂²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354"/>
                <p:cNvSpPr txBox="1">
                  <a:spLocks noGrp="1"/>
                </p:cNvSpPr>
                <p:nvPr/>
              </p:nvSpPr>
              <p:spPr>
                <a:xfrm>
                  <a:off x="6467475" y="2325052"/>
                  <a:ext cx="5010150" cy="3857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sSub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sSub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1" name="c2-text-2"/>
          <p:cNvGrpSpPr/>
          <p:nvPr/>
        </p:nvGrpSpPr>
        <p:grpSpPr>
          <a:xfrm>
            <a:off x="6243066" y="3089910"/>
            <a:ext cx="4897852" cy="205359"/>
            <a:chOff x="6243066" y="3089910"/>
            <a:chExt cx="4897852" cy="205359"/>
          </a:xfrm>
        </p:grpSpPr>
        <p:sp>
          <p:nvSpPr>
            <p:cNvPr id="30" name="TextBox 30"/>
            <p:cNvSpPr txBox="1"/>
            <p:nvPr/>
          </p:nvSpPr>
          <p:spPr>
            <a:xfrm>
              <a:off x="6243066" y="3089910"/>
              <a:ext cx="48978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χ² 定理2，(nᵢ − 1)Sᵢ²/σᵢ² ~ χ²(nᵢ − 1)，各除以自由度就剩 Sᵢ²/σᵢ²。</a:t>
              </a:r>
            </a:p>
          </p:txBody>
        </p:sp>
      </p:grpSp>
      <p:grpSp>
        <p:nvGrpSpPr>
          <p:cNvPr id="38" name="c2-card-3"/>
          <p:cNvGrpSpPr/>
          <p:nvPr/>
        </p:nvGrpSpPr>
        <p:grpSpPr>
          <a:xfrm>
            <a:off x="6248400" y="3419475"/>
            <a:ext cx="5410200" cy="2281238"/>
            <a:chOff x="6248400" y="3419475"/>
            <a:chExt cx="5410200" cy="2281238"/>
          </a:xfrm>
        </p:grpSpPr>
        <p:sp>
          <p:nvSpPr>
            <p:cNvPr id="32" name="Rectangle 32"/>
            <p:cNvSpPr/>
            <p:nvPr/>
          </p:nvSpPr>
          <p:spPr>
            <a:xfrm>
              <a:off x="6248400" y="3419475"/>
              <a:ext cx="5410200" cy="2281238"/>
            </a:xfrm>
            <a:prstGeom prst="roundRect">
              <a:avLst>
                <a:gd name="adj" fmla="val 58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57925" y="3552825"/>
              <a:ext cx="47625" cy="20145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67475" y="360045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56096" y="363331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用一下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60998" y="3940016"/>
              <a:ext cx="48166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设两总体方差相等，样本容量 11 和 7，那么两个样本方差之比服从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F(10, 6)。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60998" y="4467701"/>
              <a:ext cx="47922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查表 F₀.₀₂₅(10, 6) = 5.46，比值超过 5.46 的概率只有 0.025，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是小概率事件。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9" name="Rectangle 3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1273" y="6039326"/>
              <a:ext cx="77679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σ₁² = σ₂² 时定理2 化成 S₁²/S₂² ~ F(n₁ − 1, n₂ − 1)，这是第8章检验两总体方差是否相等的依据。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689672" cy="909257"/>
            <a:chOff x="520446" y="342900"/>
            <a:chExt cx="46896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三大抽样分布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6896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例15、例16：证明服从 F 分布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002982"/>
            <a:chOff x="533400" y="1524000"/>
            <a:chExt cx="5410200" cy="10029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002982"/>
            </a:xfrm>
            <a:prstGeom prst="roundRect">
              <a:avLst>
                <a:gd name="adj" fmla="val 132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7362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288" y="1763554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29709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t ~ t(n)，证明 t² ~ F(1, n)。</a:t>
              </a:r>
            </a:p>
          </p:txBody>
        </p:sp>
      </p:grpSp>
      <p:grpSp>
        <p:nvGrpSpPr>
          <p:cNvPr id="26" name="c1-steps-2"/>
          <p:cNvGrpSpPr/>
          <p:nvPr/>
        </p:nvGrpSpPr>
        <p:grpSpPr>
          <a:xfrm>
            <a:off x="533400" y="2722245"/>
            <a:ext cx="4357840" cy="1790129"/>
            <a:chOff x="533400" y="2722245"/>
            <a:chExt cx="4357840" cy="1790129"/>
          </a:xfrm>
        </p:grpSpPr>
        <p:sp>
          <p:nvSpPr>
            <p:cNvPr id="13" name="Rectangle 13"/>
            <p:cNvSpPr/>
            <p:nvPr/>
          </p:nvSpPr>
          <p:spPr>
            <a:xfrm>
              <a:off x="666750" y="2865120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27222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27960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34327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4170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9643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0381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755106"/>
              <a:ext cx="11408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按定义写出 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035618"/>
              <a:ext cx="39448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U/√(χ²/n)，U ~ N(0, 1)，χ² ~ χ²(n)，二者独立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37613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656648"/>
              <a:ext cx="1552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t² = (U²/1)/(χ²/n)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3997166"/>
              <a:ext cx="5770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认出 F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4277678"/>
              <a:ext cx="38296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U² ~ χ²(1) 且与 χ² 独立，按 F 的定义 t² ~ F(1, n)</a:t>
              </a:r>
            </a:p>
          </p:txBody>
        </p:sp>
      </p:grpSp>
      <p:grpSp>
        <p:nvGrpSpPr>
          <p:cNvPr id="32" name="c1-card-3"/>
          <p:cNvGrpSpPr/>
          <p:nvPr/>
        </p:nvGrpSpPr>
        <p:grpSpPr>
          <a:xfrm>
            <a:off x="533400" y="4688205"/>
            <a:ext cx="5410200" cy="1545908"/>
            <a:chOff x="533400" y="4688205"/>
            <a:chExt cx="5410200" cy="1545908"/>
          </a:xfrm>
        </p:grpSpPr>
        <p:sp>
          <p:nvSpPr>
            <p:cNvPr id="27" name="Rectangle 27"/>
            <p:cNvSpPr/>
            <p:nvPr/>
          </p:nvSpPr>
          <p:spPr>
            <a:xfrm>
              <a:off x="533400" y="4688205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821555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75335" y="489204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5543" y="492775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8096" y="5264944"/>
              <a:ext cx="469430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原课件证明中先设 t = U/√(χ²/n)，接着写 χ² ~ χ²(n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1)、t² = U²/(χ²/(n − 1))，自由度前后不一致。按题设 t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~ t(n)，应为 χ² ~ χ²(n)，结论 F(1, n) 不变。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248400" y="1524000"/>
            <a:ext cx="5410200" cy="1584008"/>
            <a:chOff x="6248400" y="1524000"/>
            <a:chExt cx="5410200" cy="1584008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1584008"/>
            </a:xfrm>
            <a:prstGeom prst="roundRect">
              <a:avLst>
                <a:gd name="adj" fmla="val 84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1657350"/>
              <a:ext cx="47625" cy="13173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90335" y="1727835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80288" y="1763554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83096" y="2100739"/>
              <a:ext cx="32634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(X, Y) ~ N(0, 1, 4, 9, 0)，证明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formula359"/>
                <p:cNvSpPr txBox="1">
                  <a:spLocks noGrp="1"/>
                </p:cNvSpPr>
                <p:nvPr/>
              </p:nvSpPr>
              <p:spPr>
                <a:xfrm>
                  <a:off x="6490335" y="2397442"/>
                  <a:ext cx="496443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9</m:t>
                            </m:r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3" name="c2-steps-2"/>
          <p:cNvGrpSpPr/>
          <p:nvPr/>
        </p:nvGrpSpPr>
        <p:grpSpPr>
          <a:xfrm>
            <a:off x="6248400" y="3303270"/>
            <a:ext cx="5279593" cy="1790128"/>
            <a:chOff x="6248400" y="3303270"/>
            <a:chExt cx="5279593" cy="1790128"/>
          </a:xfrm>
        </p:grpSpPr>
        <p:sp>
          <p:nvSpPr>
            <p:cNvPr id="40" name="Rectangle 40"/>
            <p:cNvSpPr/>
            <p:nvPr/>
          </p:nvSpPr>
          <p:spPr>
            <a:xfrm>
              <a:off x="6381750" y="3446145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248400" y="330327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2024" y="33770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248400" y="392430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2024" y="39981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248400" y="45453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2024" y="46191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0261" y="333613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读参数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1404" y="3616642"/>
              <a:ext cx="4866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N(0, 4)，Y ~ N(1, 9)；相关系数 0，二维正态下不相关即独立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60261" y="395716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标准化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61404" y="4237672"/>
              <a:ext cx="3054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X/2 与 (Y − 1)/3 都服从 N(0, 1) 且独立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60261" y="457819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相比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61404" y="4858702"/>
              <a:ext cx="42210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(X/2)² 与 ((Y − 1)/3)² 都服从 χ²(1)，相比得 F(1, 1)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formula360"/>
              <p:cNvSpPr txBox="1">
                <a:spLocks noGrp="1"/>
              </p:cNvSpPr>
              <p:nvPr/>
            </p:nvSpPr>
            <p:spPr>
              <a:xfrm>
                <a:off x="6248400" y="5269230"/>
                <a:ext cx="5410200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9</m:t>
                          </m:r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216511" cy="909257"/>
            <a:chOff x="520446" y="342900"/>
            <a:chExt cx="42165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三大抽样分布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2165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四种上 α 分位点放在一起比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812066" cy="308039"/>
            <a:chOff x="525399" y="1550194"/>
            <a:chExt cx="581206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81206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定义都是“右尾面积等于 α 的点”，差别在对称性和查表方式。</a:t>
              </a:r>
            </a:p>
          </p:txBody>
        </p:sp>
      </p:grpSp>
      <p:grpSp>
        <p:nvGrpSpPr>
          <p:cNvPr id="47" name="c1-table-1"/>
          <p:cNvGrpSpPr/>
          <p:nvPr/>
        </p:nvGrpSpPr>
        <p:grpSpPr>
          <a:xfrm>
            <a:off x="533400" y="1967865"/>
            <a:ext cx="11125200" cy="2470785"/>
            <a:chOff x="533400" y="1967865"/>
            <a:chExt cx="11125200" cy="247078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375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0253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07280" y="210264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对称或互换关系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64247" y="21026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课件中的数值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997376" y="21026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附表没有时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1223" y="2664619"/>
              <a:ext cx="7011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N(0, 1)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98560" y="266461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uα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78783" y="266461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−uα = u₁₋α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71526" y="2551271"/>
              <a:ext cx="1841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u₀.₀₂₅ = 1.96，u₀.₀₅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1.645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18498" y="2664619"/>
              <a:ext cx="9115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Φ 表反查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0870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09181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227546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χ²(n)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98560" y="3227546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χ²α(n)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78783" y="322754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不对称，只取正值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71526" y="3227546"/>
              <a:ext cx="16327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χ²₀.₀₅(7) = 14.067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18498" y="3227546"/>
              <a:ext cx="1854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大时用 N(n, 2n) 近似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53568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3676174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98560" y="367617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tα(n)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880485" y="3549968"/>
              <a:ext cx="287369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978783" y="3676174"/>
              <a:ext cx="1443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−tα(n) = t₁₋α(n)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71526" y="3676174"/>
              <a:ext cx="16327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t₀.₀₅(10) = 1.8125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18498" y="3676174"/>
              <a:ext cx="15293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&gt; 45 时用 uα 近似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9843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398907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1223" y="4124801"/>
              <a:ext cx="8793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F(n₁, n₂)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198560" y="4124801"/>
              <a:ext cx="9304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Fα(n₁, n₂)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880485" y="3998595"/>
              <a:ext cx="287369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978783" y="4124801"/>
              <a:ext cx="24332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F₁₋α(n₁, n₂) = 1/Fα(n₂, n₁)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71526" y="4124801"/>
              <a:ext cx="18791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F₀.₀₂₅(10, 6) = 5.46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18498" y="4124801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 α 用倒数关系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1967865"/>
              <a:ext cx="11125200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2085975" y="1967865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3866198" y="1967865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758940" y="1967865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205912" y="1967865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1-callout-2"/>
          <p:cNvGrpSpPr/>
          <p:nvPr/>
        </p:nvGrpSpPr>
        <p:grpSpPr>
          <a:xfrm>
            <a:off x="533400" y="4629150"/>
            <a:ext cx="11125200" cy="1028700"/>
            <a:chOff x="533400" y="4629150"/>
            <a:chExt cx="11125200" cy="1028700"/>
          </a:xfrm>
        </p:grpSpPr>
        <p:sp>
          <p:nvSpPr>
            <p:cNvPr id="48" name="Rectangle 48"/>
            <p:cNvSpPr/>
            <p:nvPr/>
          </p:nvSpPr>
          <p:spPr>
            <a:xfrm>
              <a:off x="533400" y="4629150"/>
              <a:ext cx="11125200" cy="1028700"/>
            </a:xfrm>
            <a:prstGeom prst="roundRect">
              <a:avLst>
                <a:gd name="adj" fmla="val 1111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26129" y="5039796"/>
              <a:ext cx="224134" cy="192560"/>
              <a:chOff x="726129" y="5039796"/>
              <a:chExt cx="224134" cy="19256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38200" y="51101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26129" y="50397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8200" y="51879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5038725"/>
              <a:ext cx="83677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χ² 与 F 只在正半轴取值，左尾分位点要查 1 − α 那一列（F 用倒数关系），不能写成相反数。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5" name="Rectangle 5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130" y="5991225"/>
              <a:ext cx="94337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数值都已用 mpmath 复核：χ²₀.₀₅(7) = 14.0671，t₀.₀₅(10) = 1.8125，F₀.₀₂₅(10, 6) = 5.4613。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三大抽样分布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三大分布的构造：都从标准正态出发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tree-1"/>
          <p:cNvGrpSpPr/>
          <p:nvPr/>
        </p:nvGrpSpPr>
        <p:grpSpPr>
          <a:xfrm>
            <a:off x="533400" y="2336482"/>
            <a:ext cx="5410200" cy="3212782"/>
            <a:chOff x="533400" y="2336482"/>
            <a:chExt cx="5410200" cy="3212782"/>
          </a:xfrm>
        </p:grpSpPr>
        <p:sp>
          <p:nvSpPr>
            <p:cNvPr id="7" name="Freeform 7"/>
            <p:cNvSpPr/>
            <p:nvPr/>
          </p:nvSpPr>
          <p:spPr>
            <a:xfrm>
              <a:off x="4000500" y="27336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000500" y="515302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057400" y="2733675"/>
              <a:ext cx="419100" cy="1209675"/>
            </a:xfrm>
            <a:custGeom>
              <a:avLst/>
              <a:gdLst/>
              <a:ahLst/>
              <a:cxnLst/>
              <a:rect l="l" t="t" r="r" b="b"/>
              <a:pathLst>
                <a:path w="419100" h="1209675">
                  <a:moveTo>
                    <a:pt x="0" y="1209675"/>
                  </a:moveTo>
                  <a:lnTo>
                    <a:pt x="209550" y="120967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057400" y="3943350"/>
              <a:ext cx="419100" cy="1209675"/>
            </a:xfrm>
            <a:custGeom>
              <a:avLst/>
              <a:gdLst/>
              <a:ahLst/>
              <a:cxnLst/>
              <a:rect l="l" t="t" r="r" b="b"/>
              <a:pathLst>
                <a:path w="419100" h="1209675">
                  <a:moveTo>
                    <a:pt x="0" y="0"/>
                  </a:moveTo>
                  <a:lnTo>
                    <a:pt x="209550" y="0"/>
                  </a:lnTo>
                  <a:lnTo>
                    <a:pt x="209550" y="1209675"/>
                  </a:lnTo>
                  <a:lnTo>
                    <a:pt x="419100" y="120967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4419600" y="2336482"/>
              <a:ext cx="1524000" cy="793432"/>
            </a:xfrm>
            <a:prstGeom prst="roundRect">
              <a:avLst>
                <a:gd name="adj" fmla="val 1200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476500" y="2442210"/>
              <a:ext cx="1524000" cy="582930"/>
            </a:xfrm>
            <a:prstGeom prst="roundRect">
              <a:avLst>
                <a:gd name="adj" fmla="val 1634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419600" y="4861560"/>
              <a:ext cx="1524000" cy="582930"/>
            </a:xfrm>
            <a:prstGeom prst="roundRect">
              <a:avLst>
                <a:gd name="adj" fmla="val 1634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476500" y="4755832"/>
              <a:ext cx="1524000" cy="793432"/>
            </a:xfrm>
            <a:prstGeom prst="roundRect">
              <a:avLst>
                <a:gd name="adj" fmla="val 12005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3651885"/>
              <a:ext cx="1524000" cy="582930"/>
            </a:xfrm>
            <a:prstGeom prst="roundRect">
              <a:avLst>
                <a:gd name="adj" fmla="val 1634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508373" y="2434114"/>
              <a:ext cx="1150874" cy="670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两个独立 χ²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各除自由度相比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F(n₁, n₂)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65273" y="2539841"/>
              <a:ext cx="82575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平方后求和</a:t>
              </a:r>
              <a:br/>
              <a:r>
                <a:rPr lang="el-GR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χ²(n)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08373" y="4958239"/>
              <a:ext cx="963930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t² ~ F(1, n)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65273" y="4853464"/>
              <a:ext cx="951738" cy="670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除以独立的</a:t>
              </a:r>
              <a:br/>
              <a:r>
                <a:rPr lang="el-GR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√(χ²(n)/n)</a:t>
              </a:r>
              <a:br/>
              <a:r>
                <a:rPr lang="en-US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t(n)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2173" y="3749516"/>
              <a:ext cx="66319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标准正态</a:t>
              </a:r>
              <a:br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N(0, 1)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6248400" y="1524000"/>
            <a:ext cx="5410200" cy="2475548"/>
            <a:chOff x="6248400" y="1524000"/>
            <a:chExt cx="5410200" cy="2475548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0204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1747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3194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72257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56223" y="2221706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χ²(n)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22046" y="2108359"/>
              <a:ext cx="172796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X₁² + … + Xₙ²，Xᵢ 独立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 N(0, 1)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86126" y="2221706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&gt; 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51948" y="2108359"/>
              <a:ext cx="11264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右偏，期望 n、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 2n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48400" y="2643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48400" y="2647950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56223" y="289702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22046" y="2783681"/>
              <a:ext cx="152476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X/√(Y/n)，X ~ N(0,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1)，Y ~ χ²(n) 独立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86126" y="2783681"/>
              <a:ext cx="500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全体实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51948" y="2783681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对称，尾比正态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33194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56223" y="3459004"/>
              <a:ext cx="48234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F(n₁,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n₂)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22046" y="3459004"/>
              <a:ext cx="16791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(X/n₁)/(Y/n₂)，X、Y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为独立 χ²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86126" y="3572351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&gt; 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251948" y="3459004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右偏，自由度有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先后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1524000"/>
              <a:ext cx="5410200" cy="2475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109460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273540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139362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2-card-2"/>
          <p:cNvGrpSpPr/>
          <p:nvPr/>
        </p:nvGrpSpPr>
        <p:grpSpPr>
          <a:xfrm>
            <a:off x="6248400" y="4190048"/>
            <a:ext cx="5410200" cy="1701165"/>
            <a:chOff x="6248400" y="4190048"/>
            <a:chExt cx="5410200" cy="1701165"/>
          </a:xfrm>
        </p:grpSpPr>
        <p:sp>
          <p:nvSpPr>
            <p:cNvPr id="47" name="Rectangle 47"/>
            <p:cNvSpPr/>
            <p:nvPr/>
          </p:nvSpPr>
          <p:spPr>
            <a:xfrm>
              <a:off x="6248400" y="4190048"/>
              <a:ext cx="5410200" cy="1701165"/>
            </a:xfrm>
            <a:prstGeom prst="roundRect">
              <a:avLst>
                <a:gd name="adj" fmla="val 783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57950" y="439959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40259" y="44353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识别顺序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57950" y="4763452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19799" y="480574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58940" y="4776788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分子分母用到的样本是否不重叠，或由定理保证独立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457950" y="5098732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19799" y="514102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758940" y="5112068"/>
              <a:ext cx="46798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分子是标准正态还是 χ²，分母是不是 χ² 除以自由度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457950" y="5434012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19799" y="547630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58940" y="5447348"/>
              <a:ext cx="47501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分子是正态、分母开根号是 t；分子分母都是 χ² 是 F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三大抽样分布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抽样分布结论汇总（一）：单个正态总体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759065" cy="293370"/>
            <a:chOff x="525780" y="1548765"/>
            <a:chExt cx="7759065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7590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样本 X₁, …, Xₙ 来自 N(μ, σ²)，S² 为样本方差，公式中字母上加横线表示样本均值。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54530"/>
            <a:ext cx="5410200" cy="1765935"/>
            <a:chOff x="533400" y="1954530"/>
            <a:chExt cx="5410200" cy="176593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1765935"/>
            </a:xfrm>
            <a:prstGeom prst="roundRect">
              <a:avLst>
                <a:gd name="adj" fmla="val 755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31520" y="2152650"/>
              <a:ext cx="131064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8080" y="2186940"/>
              <a:ext cx="11775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 σ 已知，关于 μ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373"/>
                <p:cNvSpPr txBox="1">
                  <a:spLocks noGrp="1"/>
                </p:cNvSpPr>
                <p:nvPr/>
              </p:nvSpPr>
              <p:spPr>
                <a:xfrm>
                  <a:off x="731520" y="2489835"/>
                  <a:ext cx="501396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u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bar>
                              <m:barPr>
                                <m:pos m:val="top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ad>
                              <m:radPr>
                                <m:degHide m:val="on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25424" y="3113722"/>
              <a:ext cx="47137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由正态总体样本均值的分布标准化得到，第7章用它求 σ 已知时 μ 的置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信区间。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900488"/>
            <a:ext cx="5410200" cy="1765935"/>
            <a:chOff x="533400" y="3900488"/>
            <a:chExt cx="5410200" cy="1765935"/>
          </a:xfrm>
        </p:grpSpPr>
        <p:sp>
          <p:nvSpPr>
            <p:cNvPr id="15" name="Rectangle 15"/>
            <p:cNvSpPr/>
            <p:nvPr/>
          </p:nvSpPr>
          <p:spPr>
            <a:xfrm>
              <a:off x="533400" y="3900488"/>
              <a:ext cx="5410200" cy="1765935"/>
            </a:xfrm>
            <a:prstGeom prst="roundRect">
              <a:avLst>
                <a:gd name="adj" fmla="val 755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31520" y="4098608"/>
              <a:ext cx="131064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98080" y="4132898"/>
              <a:ext cx="11775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 σ 未知，关于 μ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374"/>
                <p:cNvSpPr txBox="1">
                  <a:spLocks noGrp="1"/>
                </p:cNvSpPr>
                <p:nvPr/>
              </p:nvSpPr>
              <p:spPr>
                <a:xfrm>
                  <a:off x="731520" y="4435792"/>
                  <a:ext cx="501396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bar>
                              <m:barPr>
                                <m:pos m:val="top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ad>
                              <m:radPr>
                                <m:degHide m:val="on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9" name="TextBox 19"/>
            <p:cNvSpPr txBox="1"/>
            <p:nvPr/>
          </p:nvSpPr>
          <p:spPr>
            <a:xfrm>
              <a:off x="725424" y="5059680"/>
              <a:ext cx="46756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σ 换成 S：分子标准正态，分母是 χ²(n − 1) 除以自由度再开方，σ 约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掉。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54530"/>
            <a:ext cx="5410200" cy="1627822"/>
            <a:chOff x="6248400" y="1954530"/>
            <a:chExt cx="5410200" cy="1627822"/>
          </a:xfrm>
        </p:grpSpPr>
        <p:sp>
          <p:nvSpPr>
            <p:cNvPr id="21" name="Rectangle 21"/>
            <p:cNvSpPr/>
            <p:nvPr/>
          </p:nvSpPr>
          <p:spPr>
            <a:xfrm>
              <a:off x="6248400" y="1954530"/>
              <a:ext cx="5410200" cy="1627822"/>
            </a:xfrm>
            <a:prstGeom prst="roundRect">
              <a:avLst>
                <a:gd name="adj" fmla="val 8192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46520" y="2152650"/>
              <a:ext cx="1387792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0365" y="2186940"/>
              <a:ext cx="12591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 μ 已知，关于 σ²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375"/>
                <p:cNvSpPr txBox="1">
                  <a:spLocks noGrp="1"/>
                </p:cNvSpPr>
                <p:nvPr/>
              </p:nvSpPr>
              <p:spPr>
                <a:xfrm>
                  <a:off x="6446520" y="2489835"/>
                  <a:ext cx="5013960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5" name="TextBox 25"/>
            <p:cNvSpPr txBox="1"/>
            <p:nvPr/>
          </p:nvSpPr>
          <p:spPr>
            <a:xfrm>
              <a:off x="6440424" y="3196590"/>
              <a:ext cx="41163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个 (Xᵢ − μ)/σ 的平方和，一个约束都没有，自由度 n。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762375"/>
            <a:ext cx="5410200" cy="1904048"/>
            <a:chOff x="6248400" y="3762375"/>
            <a:chExt cx="5410200" cy="1904048"/>
          </a:xfrm>
        </p:grpSpPr>
        <p:sp>
          <p:nvSpPr>
            <p:cNvPr id="27" name="Rectangle 27"/>
            <p:cNvSpPr/>
            <p:nvPr/>
          </p:nvSpPr>
          <p:spPr>
            <a:xfrm>
              <a:off x="6248400" y="3762375"/>
              <a:ext cx="5410200" cy="1904048"/>
            </a:xfrm>
            <a:prstGeom prst="roundRect">
              <a:avLst>
                <a:gd name="adj" fmla="val 700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46520" y="3960495"/>
              <a:ext cx="1387792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0365" y="3994785"/>
              <a:ext cx="12591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4. μ 未知，关于 σ²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376"/>
                <p:cNvSpPr txBox="1">
                  <a:spLocks noGrp="1"/>
                </p:cNvSpPr>
                <p:nvPr/>
              </p:nvSpPr>
              <p:spPr>
                <a:xfrm>
                  <a:off x="6446520" y="4297680"/>
                  <a:ext cx="501396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1" name="TextBox 31"/>
            <p:cNvSpPr txBox="1"/>
            <p:nvPr/>
          </p:nvSpPr>
          <p:spPr>
            <a:xfrm>
              <a:off x="6440424" y="4921567"/>
              <a:ext cx="48013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μ 换成样本均值，损失一个自由度；此时样本均值与 S² 相互独立。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3" name="Rectangle 33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511" y="6011704"/>
              <a:ext cx="95438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选哪个看两件事：关心的是均值还是方差，另一个参数已知还是未知。未知参数用样本量代替，自由度随之减 1。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 · 三大抽样分布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抽样分布结论汇总（二）：两个正态总体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506729" cy="308039"/>
            <a:chOff x="525399" y="1550194"/>
            <a:chExt cx="850672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50672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两样本独立，分别来自 N(μ₁, σ₁²) 与 N(μ₂, σ₂²)，容量 n₁、n₂，样本方差 S₁²、S₂²。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67865"/>
            <a:ext cx="5410200" cy="1575435"/>
            <a:chOff x="533400" y="1967865"/>
            <a:chExt cx="5410200" cy="157543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1575435"/>
            </a:xfrm>
            <a:prstGeom prst="roundRect">
              <a:avLst>
                <a:gd name="adj" fmla="val 846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42950" y="2177415"/>
              <a:ext cx="195929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89906" y="2213134"/>
              <a:ext cx="1866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5. 方差已知，关于 μ₁ − μ₂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381"/>
                <p:cNvSpPr txBox="1">
                  <a:spLocks noGrp="1"/>
                </p:cNvSpPr>
                <p:nvPr/>
              </p:nvSpPr>
              <p:spPr>
                <a:xfrm>
                  <a:off x="742950" y="2529840"/>
                  <a:ext cx="499110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u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bar>
                              <m:barPr>
                                <m:pos m:val="top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36473" y="3134201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两个独立正态样本均值之差仍是正态，方差相加后标准化。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733800"/>
            <a:ext cx="5410200" cy="1646872"/>
            <a:chOff x="533400" y="3733800"/>
            <a:chExt cx="5410200" cy="1646872"/>
          </a:xfrm>
        </p:grpSpPr>
        <p:sp>
          <p:nvSpPr>
            <p:cNvPr id="15" name="Rectangle 15"/>
            <p:cNvSpPr/>
            <p:nvPr/>
          </p:nvSpPr>
          <p:spPr>
            <a:xfrm>
              <a:off x="533400" y="3733800"/>
              <a:ext cx="5410200" cy="1646872"/>
            </a:xfrm>
            <a:prstGeom prst="roundRect">
              <a:avLst>
                <a:gd name="adj" fmla="val 809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42950" y="3943350"/>
              <a:ext cx="252698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72193" y="3979069"/>
              <a:ext cx="246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6. σ₁² = σ₂² 但未知，关于 μ₁ − μ₂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382"/>
                <p:cNvSpPr txBox="1">
                  <a:spLocks noGrp="1"/>
                </p:cNvSpPr>
                <p:nvPr/>
              </p:nvSpPr>
              <p:spPr>
                <a:xfrm>
                  <a:off x="742950" y="4295775"/>
                  <a:ext cx="499110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bar>
                                  <m:barPr>
                                    <m:pos m:val="top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barPr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ba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barPr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</m:ba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sub>
                            </m:sSub>
                            <m:rad>
                              <m:radPr>
                                <m:degHide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9" name="TextBox 19"/>
            <p:cNvSpPr txBox="1"/>
            <p:nvPr/>
          </p:nvSpPr>
          <p:spPr>
            <a:xfrm>
              <a:off x="736473" y="4874419"/>
              <a:ext cx="50703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分母用两样本方差按自由度合并出的标准差，自由度 n₁ + n₂ − 2。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67865"/>
            <a:ext cx="5410200" cy="1621155"/>
            <a:chOff x="6248400" y="1967865"/>
            <a:chExt cx="5410200" cy="1621155"/>
          </a:xfrm>
        </p:grpSpPr>
        <p:sp>
          <p:nvSpPr>
            <p:cNvPr id="21" name="Rectangle 21"/>
            <p:cNvSpPr/>
            <p:nvPr/>
          </p:nvSpPr>
          <p:spPr>
            <a:xfrm>
              <a:off x="6248400" y="1967865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57950" y="2177415"/>
              <a:ext cx="203454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02476" y="2213134"/>
              <a:ext cx="1945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7. 均值已知，关于 σ₁²/σ₂²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383"/>
                <p:cNvSpPr txBox="1">
                  <a:spLocks noGrp="1"/>
                </p:cNvSpPr>
                <p:nvPr/>
              </p:nvSpPr>
              <p:spPr>
                <a:xfrm>
                  <a:off x="6457950" y="2529840"/>
                  <a:ext cx="4991100" cy="5343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sup>
                              <m:e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b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μ</m:t>
                                            </m:r>
                                          </m:e>
                                          <m:sub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sup>
                              <m:e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b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μ</m:t>
                                            </m:r>
                                          </m:e>
                                          <m:sub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5" name="TextBox 25"/>
            <p:cNvSpPr txBox="1"/>
            <p:nvPr/>
          </p:nvSpPr>
          <p:spPr>
            <a:xfrm>
              <a:off x="6451473" y="3179921"/>
              <a:ext cx="42087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 χ² 定理1 的统计量各除以自由度 n₁、n₂ 再相比。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779520"/>
            <a:ext cx="5410200" cy="1601152"/>
            <a:chOff x="6248400" y="3779520"/>
            <a:chExt cx="5410200" cy="1601152"/>
          </a:xfrm>
        </p:grpSpPr>
        <p:sp>
          <p:nvSpPr>
            <p:cNvPr id="27" name="Rectangle 27"/>
            <p:cNvSpPr/>
            <p:nvPr/>
          </p:nvSpPr>
          <p:spPr>
            <a:xfrm>
              <a:off x="6248400" y="3779520"/>
              <a:ext cx="5410200" cy="1601152"/>
            </a:xfrm>
            <a:prstGeom prst="roundRect">
              <a:avLst>
                <a:gd name="adj" fmla="val 832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57950" y="3989070"/>
              <a:ext cx="203454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02476" y="4024789"/>
              <a:ext cx="1945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8. 均值未知，关于 σ₁²/σ₂²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384"/>
                <p:cNvSpPr txBox="1">
                  <a:spLocks noGrp="1"/>
                </p:cNvSpPr>
                <p:nvPr/>
              </p:nvSpPr>
              <p:spPr>
                <a:xfrm>
                  <a:off x="6457950" y="4341495"/>
                  <a:ext cx="499110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1" name="TextBox 31"/>
            <p:cNvSpPr txBox="1"/>
            <p:nvPr/>
          </p:nvSpPr>
          <p:spPr>
            <a:xfrm>
              <a:off x="6451473" y="4971574"/>
              <a:ext cx="46111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 χ² 定理2 的统计量相比；σ₁² = σ₂² 时化成 S₁²/S₂²。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3" name="Rectangle 3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5991225"/>
              <a:ext cx="82236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第6条要求两总体方差相等。这八条就是第7章区间估计、第8章假设检验要用的全部统计量。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1937385"/>
            <a:chOff x="533400" y="1524000"/>
            <a:chExt cx="350520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简单随机样本要满足哪两条？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446020"/>
              <a:ext cx="28441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Xᵢ 与总体 X 同分布（代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表性）；X₁, …, Xₙ 相互独立（独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立性）。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51885"/>
            <a:ext cx="3505200" cy="2223135"/>
            <a:chOff x="533400" y="3651885"/>
            <a:chExt cx="3505200" cy="2223135"/>
          </a:xfrm>
        </p:grpSpPr>
        <p:sp>
          <p:nvSpPr>
            <p:cNvPr id="13" name="Rectangle 13"/>
            <p:cNvSpPr/>
            <p:nvPr/>
          </p:nvSpPr>
          <p:spPr>
            <a:xfrm>
              <a:off x="533400" y="365188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238625"/>
              <a:ext cx="2938463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未知时，(1/n)Σ(Xᵢ − μ)² 是统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计量吗？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859655"/>
              <a:ext cx="28441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不是，它含未知参数 μ，代入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样本值算不出数。μ 已知时才是统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计量。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1937385"/>
            <a:chOff x="4343400" y="1524000"/>
            <a:chExt cx="3505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5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4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45330" y="2110740"/>
              <a:ext cx="284988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 X ~ B(1, p)，写出样本的联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合分布律。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45330" y="2731770"/>
              <a:ext cx="2720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pᵏ(1 − p)ⁿ⁻ᵏ，其中 k = x₁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… + xₙ，每个 xᵢ 取 0 或 1。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651885"/>
            <a:ext cx="3505200" cy="2223135"/>
            <a:chOff x="4343400" y="3651885"/>
            <a:chExt cx="3505200" cy="2223135"/>
          </a:xfrm>
        </p:grpSpPr>
        <p:sp>
          <p:nvSpPr>
            <p:cNvPr id="25" name="Rectangle 25"/>
            <p:cNvSpPr/>
            <p:nvPr/>
          </p:nvSpPr>
          <p:spPr>
            <a:xfrm>
              <a:off x="4343400" y="365188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5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4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45330" y="4238625"/>
              <a:ext cx="25752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样本方差为什么除以 n − 1？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45330" y="4573905"/>
              <a:ext cx="27679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这样 E(S²) = σ²。除以 n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B₂ 期望是 (n − 1)σ²/n，平均偏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223135"/>
            <a:chOff x="8153400" y="1524000"/>
            <a:chExt cx="3505200" cy="2223135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6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5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55330" y="2110740"/>
              <a:ext cx="297132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样本分布函数 Fₙ(x) 的值是什么含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义？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55330" y="2731770"/>
              <a:ext cx="2901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观测值中不超过 x 的个数除以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n，也就是事件 {X ≤ x} 在 n 次观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测中的频率。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937635"/>
            <a:ext cx="3505200" cy="1937385"/>
            <a:chOff x="8153400" y="3937635"/>
            <a:chExt cx="3505200" cy="1937385"/>
          </a:xfrm>
        </p:grpSpPr>
        <p:sp>
          <p:nvSpPr>
            <p:cNvPr id="37" name="Rectangle 37"/>
            <p:cNvSpPr/>
            <p:nvPr/>
          </p:nvSpPr>
          <p:spPr>
            <a:xfrm>
              <a:off x="8153400" y="3937635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6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5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55330" y="4524375"/>
              <a:ext cx="267985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 U[0, 1]，样本容量 3，求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P{max &gt; 0.5}。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55330" y="5145405"/>
              <a:ext cx="2891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 [F(0.5)]³ = 1 − 0.125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0.875。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1937385"/>
            <a:chOff x="533400" y="1524000"/>
            <a:chExt cx="350520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289988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 N(10, 4)，样本容量 16，样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本均值服从什么分布？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2244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N(10, 4/16) = N(10,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0.25)，标准差 0.5。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51885"/>
            <a:ext cx="3505200" cy="2508885"/>
            <a:chOff x="533400" y="3651885"/>
            <a:chExt cx="3505200" cy="2508885"/>
          </a:xfrm>
        </p:grpSpPr>
        <p:sp>
          <p:nvSpPr>
            <p:cNvPr id="13" name="Rectangle 13"/>
            <p:cNvSpPr/>
            <p:nvPr/>
          </p:nvSpPr>
          <p:spPr>
            <a:xfrm>
              <a:off x="533400" y="3651885"/>
              <a:ext cx="3505200" cy="2508885"/>
            </a:xfrm>
            <a:prstGeom prst="roundRect">
              <a:avLst>
                <a:gd name="adj" fmla="val 5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238625"/>
              <a:ext cx="2717482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t₀.₀₅(10) = 1.8125，求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t₀.₉₅(10) 和 P{|t(10)| &gt;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1.8125}。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5145405"/>
              <a:ext cx="2863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t₀.₉₅(10) = −1.8125；两侧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 0.05，概率 0.10。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508885"/>
            <a:chOff x="4343400" y="1524000"/>
            <a:chExt cx="3505200" cy="2508885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508885"/>
            </a:xfrm>
            <a:prstGeom prst="roundRect">
              <a:avLst>
                <a:gd name="adj" fmla="val 5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5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4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45330" y="2110740"/>
              <a:ext cx="2837498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X₁, …, X₅ 独立同 N(0, 1)，X₁²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X₂² 与 3(X₁² + X₂²)/[2(X₃²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X₄² + X₅²)] 各服从什么？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45330" y="3017520"/>
              <a:ext cx="25774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前者 χ²(2)；后者是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(χ²(2)/2)/(χ²(3)/3)，服从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F(2, 3)。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4223385"/>
            <a:ext cx="3505200" cy="1937385"/>
            <a:chOff x="4343400" y="4223385"/>
            <a:chExt cx="3505200" cy="1937385"/>
          </a:xfrm>
        </p:grpSpPr>
        <p:sp>
          <p:nvSpPr>
            <p:cNvPr id="25" name="Rectangle 25"/>
            <p:cNvSpPr/>
            <p:nvPr/>
          </p:nvSpPr>
          <p:spPr>
            <a:xfrm>
              <a:off x="4343400" y="4223385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52950" y="44329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40437" y="44686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45330" y="4810125"/>
              <a:ext cx="266747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F₀.₀₅(4, 6) = 4.53，求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F₀.₉₅(6, 4)。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45330" y="5431155"/>
              <a:ext cx="2720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1/F₀.₀₅(4, 6) = 1/4.53 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0.221，自由度对调。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1937385"/>
            <a:chOff x="8153400" y="1524000"/>
            <a:chExt cx="3505200" cy="1937385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6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5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55330" y="2110740"/>
              <a:ext cx="294751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X₁, X₂, X₃ 独立同 N(0, 1)，X₁/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√((X₂² + X₃²)/2) 服从什么？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55330" y="2731770"/>
              <a:ext cx="2939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分子 N(0, 1)，分母里是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χ²(2)/2，二者独立，服从 t(2)。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651885"/>
            <a:ext cx="3505200" cy="2508885"/>
            <a:chOff x="8153400" y="3651885"/>
            <a:chExt cx="3505200" cy="2508885"/>
          </a:xfrm>
        </p:grpSpPr>
        <p:sp>
          <p:nvSpPr>
            <p:cNvPr id="37" name="Rectangle 37"/>
            <p:cNvSpPr/>
            <p:nvPr/>
          </p:nvSpPr>
          <p:spPr>
            <a:xfrm>
              <a:off x="8153400" y="3651885"/>
              <a:ext cx="3505200" cy="2508885"/>
            </a:xfrm>
            <a:prstGeom prst="roundRect">
              <a:avLst>
                <a:gd name="adj" fmla="val 5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6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5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55330" y="4238625"/>
              <a:ext cx="276939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样本容量 16 来自 N(μ, σ²)，求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D(S²)。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55330" y="4859655"/>
              <a:ext cx="25965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15S²/σ² ~ χ²(15)，方差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30，所以 D(S²) = 30σ⁴/225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2σ⁴/15。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统计基础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6059805" cy="3246120"/>
            <a:chOff x="533400" y="1524000"/>
            <a:chExt cx="6059805" cy="32461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8559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13949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要记住的结论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3412" y="205406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简单随机样本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50782" y="2054066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与总体同分布、相互独立；联合分布等于连乘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30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3553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3412" y="24598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直方图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50782" y="2459831"/>
              <a:ext cx="22051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矩形高 = 频率/组距，面积和为 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365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3412" y="28655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样本分布函数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50782" y="2865596"/>
              <a:ext cx="3049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不超过 x 的频率；格利文科定理保证一致收敛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422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4706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327136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样本均值与方差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50782" y="3271361"/>
              <a:ext cx="20432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μ，D = σ²/n；E(S²) = σ²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80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3412" y="367712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最大最小值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50782" y="3677126"/>
              <a:ext cx="1976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[F(x)]ⁿ 与 1 − [1 − F(x)]ⁿ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9538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95859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3412" y="40828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三大分布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50782" y="4082891"/>
              <a:ext cx="28532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 平方和、t 正态比根号、F 两个 χ² 相比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3595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44886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正态总体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50782" y="4488656"/>
              <a:ext cx="29709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(n − 1)S²/σ² ~ χ²(n − 1)，均值与 S² 独立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6059805" cy="32461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346008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1-callout-2"/>
          <p:cNvGrpSpPr/>
          <p:nvPr/>
        </p:nvGrpSpPr>
        <p:grpSpPr>
          <a:xfrm>
            <a:off x="533400" y="4945380"/>
            <a:ext cx="6059805" cy="729615"/>
            <a:chOff x="533400" y="4945380"/>
            <a:chExt cx="6059805" cy="729615"/>
          </a:xfrm>
        </p:grpSpPr>
        <p:sp>
          <p:nvSpPr>
            <p:cNvPr id="36" name="Rectangle 36"/>
            <p:cNvSpPr/>
            <p:nvPr/>
          </p:nvSpPr>
          <p:spPr>
            <a:xfrm>
              <a:off x="533400" y="4945380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5210177"/>
              <a:ext cx="200023" cy="200023"/>
              <a:chOff x="738188" y="5210177"/>
              <a:chExt cx="200023" cy="20002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21017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71538" y="5276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892" y="5091112"/>
              <a:ext cx="509720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八个抽样分布结论是第7、8章的地基，按“关于均值还是方差、另一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参数是否已知”记。</a:t>
              </a:r>
            </a:p>
          </p:txBody>
        </p:sp>
      </p:grpSp>
      <p:grpSp>
        <p:nvGrpSpPr>
          <p:cNvPr id="58" name="c2-card-1"/>
          <p:cNvGrpSpPr/>
          <p:nvPr/>
        </p:nvGrpSpPr>
        <p:grpSpPr>
          <a:xfrm>
            <a:off x="6898005" y="1524000"/>
            <a:ext cx="4760595" cy="1860232"/>
            <a:chOff x="6898005" y="1524000"/>
            <a:chExt cx="4760595" cy="1860232"/>
          </a:xfrm>
        </p:grpSpPr>
        <p:sp>
          <p:nvSpPr>
            <p:cNvPr id="42" name="Rectangle 42"/>
            <p:cNvSpPr/>
            <p:nvPr/>
          </p:nvSpPr>
          <p:spPr>
            <a:xfrm>
              <a:off x="6898005" y="1524000"/>
              <a:ext cx="4760595" cy="1860232"/>
            </a:xfrm>
            <a:prstGeom prst="roundRect">
              <a:avLst>
                <a:gd name="adj" fmla="val 71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07530" y="1657350"/>
              <a:ext cx="47625" cy="15935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128510" y="1716405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87946" y="175069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127558" y="206121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83236" y="20995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08354" y="2072640"/>
              <a:ext cx="26216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例7 概率 0.8239 应为 0.8293。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127558" y="236315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83236" y="240153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08354" y="2375535"/>
              <a:ext cx="28064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 的 B₂ = 390.0 应为 390.09。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127558" y="266604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183236" y="270443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08354" y="2678430"/>
              <a:ext cx="40391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离散样本联合分布律、最小值分布中的 ≥ 已改正。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127558" y="296799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183236" y="30073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08354" y="2980372"/>
              <a:ext cx="2394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例15 的自由度 n − 1 应为 n。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6898005" y="3558540"/>
            <a:ext cx="4760595" cy="2115502"/>
            <a:chOff x="6898005" y="3558540"/>
            <a:chExt cx="4760595" cy="2115502"/>
          </a:xfrm>
        </p:grpSpPr>
        <p:sp>
          <p:nvSpPr>
            <p:cNvPr id="59" name="Rectangle 59"/>
            <p:cNvSpPr/>
            <p:nvPr/>
          </p:nvSpPr>
          <p:spPr>
            <a:xfrm>
              <a:off x="6898005" y="3558540"/>
              <a:ext cx="4760595" cy="2115502"/>
            </a:xfrm>
            <a:prstGeom prst="roundRect">
              <a:avLst>
                <a:gd name="adj" fmla="val 63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907530" y="3691890"/>
              <a:ext cx="47625" cy="184880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128510" y="375094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207948" y="378523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补充的内容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137082" y="416433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293102" y="4108132"/>
              <a:ext cx="37393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E(S²) = σ² 的证明，最大最小值的密度与期望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137082" y="446627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293102" y="4410075"/>
              <a:ext cx="3493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四种上 α 分位点对照表、三大分布的构造图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137082" y="476916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293102" y="4712970"/>
              <a:ext cx="41115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χ²、t、F 的密度曲线与分位点图，按精确公式绘制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137082" y="507206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293102" y="5015865"/>
              <a:ext cx="2912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例7 到例11 的精确验算（mpmath）</a:t>
              </a:r>
            </a:p>
          </p:txBody>
        </p:sp>
      </p:grpSp>
      <p:grpSp>
        <p:nvGrpSpPr>
          <p:cNvPr id="7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2" name="Rectangle 7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0892" y="6023610"/>
              <a:ext cx="774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复习顺序：先会判断统计量，再会算样本均值方差的分布，最后能把题目里的量凑成 χ²、t、F。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第6章 数理统计的基本知识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b_ch6">
  <a:themeElements>
    <a:clrScheme name="prob_ch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b_ch6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b_ch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2026-09-23T10:35:14Z</dcterms:created>
  <dcterms:modified xsi:type="dcterms:W3CDTF">2026-09-23T10:35:14Z</dcterms:modified>
  <cp:category/>
  <cp:contentStatus/>
</cp:coreProperties>
</file>