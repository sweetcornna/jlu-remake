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b_ch7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b_ch7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9114e3026480ed9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639cd3798086a1d.png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5883c26936621b9.png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874514" cy="3437763"/>
            <a:chOff x="666750" y="1619250"/>
            <a:chExt cx="4874514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203132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5722" y="1718310"/>
              <a:ext cx="19842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概率论与数理统计 · 第七章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参数估计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用样本算出未知参数，再说清这个数有多可靠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矩估计与最大似然估计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无偏性、有效性、一致性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置信区间的构造方法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正态总体的区间估计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696454" cy="205359"/>
            <a:chOff x="680466" y="6192202"/>
            <a:chExt cx="4696454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696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自学复习版｜据吉林大学《概率论与数理统计》第七章课件整理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矩估计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用样本矩替换总体矩，列方程解出参数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最大似然估计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选使已出现的样本概率最大的参数值，求导或按单调性找最大点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估计量的评选标准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无偏性、有效性、一致性各自比的是什么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区间估计的概念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置信水平的含义，用枢轴量构造置信区间的三步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正态总体的区间估计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单总体的均值与方差、两总体的均值差与方差比、单侧置信限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800475"/>
            <a:chOff x="7114222" y="1524000"/>
            <a:chExt cx="4544378" cy="380047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对给定分布写出矩估计量，并能解释它依据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的是辛钦大数定律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写出似然函数和对数似然方程，求一个或两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个参数的最大似然估计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判断估计量是否无偏，比较两个无偏估计量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谁更有效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749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说清“置信水平 0.95”指的是什么，不把它说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成参数落入区间的概率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701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按条件选对 u、t、χ²、F 统计量，算出正态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总体参数的置信区间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023991" cy="2997517"/>
            <a:chOff x="667512" y="1835468"/>
            <a:chExt cx="6023991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点估计与矩估计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014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用一个数去猜未知参数，最直接的办法是让样本矩等于总体矩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统计推断的两类问题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矩估计的依据与三个步骤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泊松、均匀与一般总体的矩估计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点估计与矩估计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参数估计在统计推断里的位置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880860" cy="293370"/>
            <a:chOff x="525780" y="1548765"/>
            <a:chExt cx="688086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分布的类型已知、只差几个参数时，用样本把参数估出来，这就是参数估计。</a:t>
              </a:r>
            </a:p>
          </p:txBody>
        </p:sp>
      </p:grpSp>
      <p:grpSp>
        <p:nvGrpSpPr>
          <p:cNvPr id="35" name="c1-tree-1"/>
          <p:cNvGrpSpPr/>
          <p:nvPr/>
        </p:nvGrpSpPr>
        <p:grpSpPr>
          <a:xfrm>
            <a:off x="791528" y="2028825"/>
            <a:ext cx="5310187" cy="2624138"/>
            <a:chOff x="791528" y="2028825"/>
            <a:chExt cx="5310187" cy="2624138"/>
          </a:xfrm>
        </p:grpSpPr>
        <p:sp>
          <p:nvSpPr>
            <p:cNvPr id="9" name="Freeform 9"/>
            <p:cNvSpPr/>
            <p:nvPr/>
          </p:nvSpPr>
          <p:spPr>
            <a:xfrm>
              <a:off x="1096328" y="3894772"/>
              <a:ext cx="561975" cy="554355"/>
            </a:xfrm>
            <a:custGeom>
              <a:avLst/>
              <a:gdLst/>
              <a:ahLst/>
              <a:cxnLst/>
              <a:rect l="l" t="t" r="r" b="b"/>
              <a:pathLst>
                <a:path w="561975" h="554355">
                  <a:moveTo>
                    <a:pt x="561975" y="0"/>
                  </a:moveTo>
                  <a:lnTo>
                    <a:pt x="0" y="5543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658302" y="3894772"/>
              <a:ext cx="562928" cy="554355"/>
            </a:xfrm>
            <a:custGeom>
              <a:avLst/>
              <a:gdLst/>
              <a:ahLst/>
              <a:cxnLst/>
              <a:rect l="l" t="t" r="r" b="b"/>
              <a:pathLst>
                <a:path w="562928" h="554355">
                  <a:moveTo>
                    <a:pt x="0" y="0"/>
                  </a:moveTo>
                  <a:lnTo>
                    <a:pt x="562928" y="5543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658302" y="3340418"/>
              <a:ext cx="562928" cy="554355"/>
            </a:xfrm>
            <a:custGeom>
              <a:avLst/>
              <a:gdLst/>
              <a:ahLst/>
              <a:cxnLst/>
              <a:rect l="l" t="t" r="r" b="b"/>
              <a:pathLst>
                <a:path w="562928" h="554355">
                  <a:moveTo>
                    <a:pt x="562928" y="0"/>
                  </a:moveTo>
                  <a:lnTo>
                    <a:pt x="0" y="5543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221230" y="3340418"/>
              <a:ext cx="1125855" cy="554355"/>
            </a:xfrm>
            <a:custGeom>
              <a:avLst/>
              <a:gdLst/>
              <a:ahLst/>
              <a:cxnLst/>
              <a:rect l="l" t="t" r="r" b="b"/>
              <a:pathLst>
                <a:path w="1125855" h="554355">
                  <a:moveTo>
                    <a:pt x="0" y="0"/>
                  </a:moveTo>
                  <a:lnTo>
                    <a:pt x="1125855" y="5543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221230" y="2786062"/>
              <a:ext cx="562928" cy="554355"/>
            </a:xfrm>
            <a:custGeom>
              <a:avLst/>
              <a:gdLst/>
              <a:ahLst/>
              <a:cxnLst/>
              <a:rect l="l" t="t" r="r" b="b"/>
              <a:pathLst>
                <a:path w="562928" h="554355">
                  <a:moveTo>
                    <a:pt x="562928" y="0"/>
                  </a:moveTo>
                  <a:lnTo>
                    <a:pt x="0" y="5543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784158" y="2786062"/>
              <a:ext cx="1687830" cy="554355"/>
            </a:xfrm>
            <a:custGeom>
              <a:avLst/>
              <a:gdLst/>
              <a:ahLst/>
              <a:cxnLst/>
              <a:rect l="l" t="t" r="r" b="b"/>
              <a:pathLst>
                <a:path w="1687830" h="554355">
                  <a:moveTo>
                    <a:pt x="0" y="0"/>
                  </a:moveTo>
                  <a:lnTo>
                    <a:pt x="1687830" y="5543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784158" y="2231708"/>
              <a:ext cx="562927" cy="554355"/>
            </a:xfrm>
            <a:custGeom>
              <a:avLst/>
              <a:gdLst/>
              <a:ahLst/>
              <a:cxnLst/>
              <a:rect l="l" t="t" r="r" b="b"/>
              <a:pathLst>
                <a:path w="562927" h="554355">
                  <a:moveTo>
                    <a:pt x="562927" y="0"/>
                  </a:moveTo>
                  <a:lnTo>
                    <a:pt x="0" y="5543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347085" y="2231708"/>
              <a:ext cx="2249805" cy="554355"/>
            </a:xfrm>
            <a:custGeom>
              <a:avLst/>
              <a:gdLst/>
              <a:ahLst/>
              <a:cxnLst/>
              <a:rect l="l" t="t" r="r" b="b"/>
              <a:pathLst>
                <a:path w="2249805" h="554355">
                  <a:moveTo>
                    <a:pt x="0" y="0"/>
                  </a:moveTo>
                  <a:lnTo>
                    <a:pt x="2249805" y="5543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91528" y="4246245"/>
              <a:ext cx="609600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716405" y="4246245"/>
              <a:ext cx="1009650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353502" y="3691890"/>
              <a:ext cx="609600" cy="406718"/>
            </a:xfrm>
            <a:prstGeom prst="roundRect">
              <a:avLst>
                <a:gd name="adj" fmla="val 18735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975610" y="3691890"/>
              <a:ext cx="742950" cy="406718"/>
            </a:xfrm>
            <a:prstGeom prst="roundRect">
              <a:avLst>
                <a:gd name="adj" fmla="val 18735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849755" y="3137535"/>
              <a:ext cx="742950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033838" y="3137535"/>
              <a:ext cx="876300" cy="406718"/>
            </a:xfrm>
            <a:prstGeom prst="roundRect">
              <a:avLst>
                <a:gd name="adj" fmla="val 18735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412682" y="2583180"/>
              <a:ext cx="742950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092065" y="2583180"/>
              <a:ext cx="1009650" cy="406718"/>
            </a:xfrm>
            <a:prstGeom prst="roundRect">
              <a:avLst>
                <a:gd name="adj" fmla="val 18735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975610" y="2028825"/>
              <a:ext cx="742950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8967" y="438340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矩估计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91843" y="438340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最大似然估计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40942" y="382905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点估计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059049" y="38290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区间估计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33194" y="3274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参数估计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113276" y="327469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非参数估计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96122" y="272034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估计问题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167503" y="272034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假设检验问题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059049" y="216598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统计推断</a:t>
              </a:r>
            </a:p>
          </p:txBody>
        </p:sp>
      </p:grpSp>
      <p:grpSp>
        <p:nvGrpSpPr>
          <p:cNvPr id="41" name="c1-card-2"/>
          <p:cNvGrpSpPr/>
          <p:nvPr/>
        </p:nvGrpSpPr>
        <p:grpSpPr>
          <a:xfrm>
            <a:off x="533400" y="4912042"/>
            <a:ext cx="5626418" cy="1274445"/>
            <a:chOff x="533400" y="4912042"/>
            <a:chExt cx="5626418" cy="1274445"/>
          </a:xfrm>
        </p:grpSpPr>
        <p:sp>
          <p:nvSpPr>
            <p:cNvPr id="36" name="Rectangle 36"/>
            <p:cNvSpPr/>
            <p:nvPr/>
          </p:nvSpPr>
          <p:spPr>
            <a:xfrm>
              <a:off x="533400" y="4912042"/>
              <a:ext cx="5626418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42925" y="5045392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75335" y="511587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57644" y="51515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本章范围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8096" y="5488781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本章讲橙色的两支：点估计给出一个数，区间估计给出一个范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围和它的可信程度。假设检验放在第八章。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6464618" y="1954530"/>
            <a:ext cx="5193982" cy="2668905"/>
            <a:chOff x="6464618" y="1954530"/>
            <a:chExt cx="5193982" cy="2668905"/>
          </a:xfrm>
        </p:grpSpPr>
        <p:sp>
          <p:nvSpPr>
            <p:cNvPr id="42" name="Rectangle 42"/>
            <p:cNvSpPr/>
            <p:nvPr/>
          </p:nvSpPr>
          <p:spPr>
            <a:xfrm>
              <a:off x="6464618" y="1954530"/>
              <a:ext cx="5193982" cy="2668905"/>
            </a:xfrm>
            <a:prstGeom prst="roundRect">
              <a:avLst>
                <a:gd name="adj" fmla="val 49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74142" y="2087880"/>
              <a:ext cx="47625" cy="240220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706552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97713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07961" y="219789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点估计量与点估计值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99314" y="2550319"/>
              <a:ext cx="427951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设总体 X 的分布函数 F(x; θ) 形式已知，θ = (θ₁, …,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θᵣ) 未知。用样本 X₁, …, Xₙ 构造一个统计量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formula3"/>
                <p:cNvSpPr txBox="1">
                  <a:spLocks noGrp="1"/>
                </p:cNvSpPr>
                <p:nvPr/>
              </p:nvSpPr>
              <p:spPr>
                <a:xfrm>
                  <a:off x="6706552" y="3117532"/>
                  <a:ext cx="4748212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acc>
                          <m:accPr>
                            <m:chr m:val="ˆ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acc>
                          <m:accPr>
                            <m:chr m:val="ˆ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acc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9" name="Ellipse 49"/>
            <p:cNvSpPr/>
            <p:nvPr/>
          </p:nvSpPr>
          <p:spPr>
            <a:xfrm>
              <a:off x="6714172" y="365569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70764" y="3596164"/>
              <a:ext cx="29679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它是随机变量，称为 θ 的 </a:t>
              </a: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点估计量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714172" y="397573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70764" y="3916204"/>
              <a:ext cx="45067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代入观测值 x₁, …, xₙ 得到的数，称为 θ 的 </a:t>
              </a: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点估计值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00456" y="4231958"/>
              <a:ext cx="36251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两者常统称估计，写法上用大写 X 和小写 x 区分。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6464618" y="4809172"/>
            <a:ext cx="5193982" cy="1377315"/>
            <a:chOff x="6464618" y="4809172"/>
            <a:chExt cx="5193982" cy="1377315"/>
          </a:xfrm>
        </p:grpSpPr>
        <p:sp>
          <p:nvSpPr>
            <p:cNvPr id="55" name="Rectangle 55"/>
            <p:cNvSpPr/>
            <p:nvPr/>
          </p:nvSpPr>
          <p:spPr>
            <a:xfrm>
              <a:off x="6464618" y="4809172"/>
              <a:ext cx="5193982" cy="1377315"/>
            </a:xfrm>
            <a:prstGeom prst="roundRect">
              <a:avLst>
                <a:gd name="adj" fmla="val 96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74142" y="4942522"/>
              <a:ext cx="47625" cy="111061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706552" y="501300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88861" y="504872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两种方法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99314" y="5385911"/>
              <a:ext cx="449592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矩估计出自皮尔逊（Pearson），只用矩；最大似然估计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出自费希尔（Fisher），要用到完整的分布律或密度。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点估计与矩估计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矩估计的想法：用样本矩替换总体矩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626418" cy="3615690"/>
            <a:chOff x="533400" y="1524000"/>
            <a:chExt cx="5626418" cy="36156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615690"/>
            </a:xfrm>
            <a:prstGeom prst="roundRect">
              <a:avLst>
                <a:gd name="adj" fmla="val 36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34899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两种矩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0744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总体的 k 阶原点矩依赖未知参数：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7"/>
                <p:cNvSpPr txBox="1">
                  <a:spLocks noGrp="1"/>
                </p:cNvSpPr>
                <p:nvPr/>
              </p:nvSpPr>
              <p:spPr>
                <a:xfrm>
                  <a:off x="781050" y="2421255"/>
                  <a:ext cx="5169218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73430" y="2903220"/>
              <a:ext cx="2872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样本的 k 阶原点矩只依赖数据：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8"/>
                <p:cNvSpPr txBox="1">
                  <a:spLocks noGrp="1"/>
                </p:cNvSpPr>
                <p:nvPr/>
              </p:nvSpPr>
              <p:spPr>
                <a:xfrm>
                  <a:off x="781050" y="3213735"/>
                  <a:ext cx="5169218" cy="597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</m:sSubSup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73430" y="3930968"/>
              <a:ext cx="4815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思路：令 Aₖ = μₖ(θ₁, …, θᵣ)，得到含未知参数的方程，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从中解出参数。</a:t>
              </a:r>
            </a:p>
          </p:txBody>
        </p:sp>
      </p:grpSp>
      <p:grpSp>
        <p:nvGrpSpPr>
          <p:cNvPr id="25" name="c2-card-1"/>
          <p:cNvGrpSpPr/>
          <p:nvPr/>
        </p:nvGrpSpPr>
        <p:grpSpPr>
          <a:xfrm>
            <a:off x="6464618" y="1524000"/>
            <a:ext cx="5193982" cy="2642235"/>
            <a:chOff x="6464618" y="1524000"/>
            <a:chExt cx="5193982" cy="2642235"/>
          </a:xfrm>
        </p:grpSpPr>
        <p:sp>
          <p:nvSpPr>
            <p:cNvPr id="17" name="Rectangle 17"/>
            <p:cNvSpPr/>
            <p:nvPr/>
          </p:nvSpPr>
          <p:spPr>
            <a:xfrm>
              <a:off x="6464618" y="1524000"/>
              <a:ext cx="5193982" cy="2642235"/>
            </a:xfrm>
            <a:prstGeom prst="roundRect">
              <a:avLst>
                <a:gd name="adj" fmla="val 50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474142" y="1657350"/>
              <a:ext cx="47625" cy="237553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712268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94576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理论依据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98092" y="176879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辛钦大数定律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04648" y="2129790"/>
              <a:ext cx="4558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Xᵢᵏ（i = 1, …, n）独立同分布、期望为 μₖ，所以样本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矩依概率收敛于总体矩：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formula9"/>
                <p:cNvSpPr txBox="1">
                  <a:spLocks noGrp="1"/>
                </p:cNvSpPr>
                <p:nvPr/>
              </p:nvSpPr>
              <p:spPr>
                <a:xfrm>
                  <a:off x="6712268" y="2726055"/>
                  <a:ext cx="4736782" cy="5905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sepChr m:val=""/>
                                    <m:endChr m:val="|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μ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ε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4" name="TextBox 24"/>
            <p:cNvSpPr txBox="1"/>
            <p:nvPr/>
          </p:nvSpPr>
          <p:spPr>
            <a:xfrm>
              <a:off x="6704648" y="3436620"/>
              <a:ext cx="4482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再由依概率收敛的性质，样本矩的连续函数 g(A₁, …,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Aᵣ) 也依概率收敛于 g(μ₁, …, μᵣ)。</a:t>
              </a:r>
            </a:p>
          </p:txBody>
        </p:sp>
      </p:grpSp>
      <p:grpSp>
        <p:nvGrpSpPr>
          <p:cNvPr id="31" name="c2-callout-2"/>
          <p:cNvGrpSpPr/>
          <p:nvPr/>
        </p:nvGrpSpPr>
        <p:grpSpPr>
          <a:xfrm>
            <a:off x="6464618" y="4356735"/>
            <a:ext cx="5193982" cy="782955"/>
            <a:chOff x="6464618" y="4356735"/>
            <a:chExt cx="5193982" cy="782955"/>
          </a:xfrm>
        </p:grpSpPr>
        <p:sp>
          <p:nvSpPr>
            <p:cNvPr id="26" name="Rectangle 26"/>
            <p:cNvSpPr/>
            <p:nvPr/>
          </p:nvSpPr>
          <p:spPr>
            <a:xfrm>
              <a:off x="6464618" y="4356735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6669405" y="4648202"/>
              <a:ext cx="200023" cy="200023"/>
              <a:chOff x="6669405" y="4648202"/>
              <a:chExt cx="200023" cy="20002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669405" y="464820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802755" y="47148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6971348" y="4505325"/>
              <a:ext cx="42348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足够大时样本矩与总体矩很接近，把“≈”当成“=”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来解方程，就是矩估计。</a:t>
              </a:r>
            </a:p>
          </p:txBody>
        </p:sp>
      </p:grpSp>
      <p:grpSp>
        <p:nvGrpSpPr>
          <p:cNvPr id="3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2" name="Rectangle 3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991225"/>
              <a:ext cx="103385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例如 A₂ − A₁² 是 A₁、A₂ 的连续函数，所以它依概率收敛于 μ₂ − μ₁² = D(X)，这正是例3 用 B₂ 估计方差的理由。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点估计与矩估计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矩估计的计算三步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4966716" cy="2232089"/>
            <a:chOff x="533400" y="1533525"/>
            <a:chExt cx="4966716" cy="223208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463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37553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493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965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0703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261" y="1566386"/>
              <a:ext cx="21774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 用参数表示总体矩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404" y="1846898"/>
              <a:ext cx="45537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算出 μ₁, …, μᵣ，每个都是 θ₁, …, θᵣ 的函数。有几个未知参数就算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几阶。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2408396"/>
              <a:ext cx="17951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第二步 用样本矩替代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2688907"/>
              <a:ext cx="39748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μₖ(θ₁, …, θᵣ) = Aₖ，k = 1, …, r，得到 r 个方程。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3029426"/>
              <a:ext cx="14128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第三步 解方程组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3309938"/>
              <a:ext cx="44622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解出 θₖ = hₖ(A₁, …, Aᵣ)，就是矩估计量；把样本值代进去就是矩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估计值。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941445"/>
            <a:ext cx="5193982" cy="1545908"/>
            <a:chOff x="533400" y="3941445"/>
            <a:chExt cx="5193982" cy="1545908"/>
          </a:xfrm>
        </p:grpSpPr>
        <p:sp>
          <p:nvSpPr>
            <p:cNvPr id="21" name="Rectangle 21"/>
            <p:cNvSpPr/>
            <p:nvPr/>
          </p:nvSpPr>
          <p:spPr>
            <a:xfrm>
              <a:off x="533400" y="3941445"/>
              <a:ext cx="5193982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074795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75335" y="414528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2741" y="418099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三步走一遍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8096" y="4518184"/>
              <a:ext cx="444182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指数分布只有参数 λ：第一步 μ₁ = E(X) = 1/λ；第二步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1/λ = A₁；第三步解出 λ = 1/A₁，即 λ 的矩估计是样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本均值的倒数（例5 的最大似然估计与它相同）。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formula14"/>
              <p:cNvSpPr txBox="1">
                <a:spLocks noGrp="1"/>
              </p:cNvSpPr>
              <p:nvPr/>
            </p:nvSpPr>
            <p:spPr>
              <a:xfrm>
                <a:off x="6032182" y="1524000"/>
                <a:ext cx="5626418" cy="12125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μ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θ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,…,</m:t>
                                  </m:r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θ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r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μ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θ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,…,</m:t>
                                  </m:r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θ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r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⋯</m:t>
                              </m:r>
                            </m:e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μ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θ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,…,</m:t>
                                  </m:r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θ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r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formula15"/>
              <p:cNvSpPr txBox="1">
                <a:spLocks noGrp="1"/>
              </p:cNvSpPr>
              <p:nvPr/>
            </p:nvSpPr>
            <p:spPr>
              <a:xfrm>
                <a:off x="6032182" y="2922270"/>
                <a:ext cx="5626418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ˆ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</m:acc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,…,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,…,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35" name="c2-card-3"/>
          <p:cNvGrpSpPr/>
          <p:nvPr/>
        </p:nvGrpSpPr>
        <p:grpSpPr>
          <a:xfrm>
            <a:off x="6032182" y="3469005"/>
            <a:ext cx="5626418" cy="2018348"/>
            <a:chOff x="6032182" y="3469005"/>
            <a:chExt cx="5626418" cy="2018348"/>
          </a:xfrm>
        </p:grpSpPr>
        <p:sp>
          <p:nvSpPr>
            <p:cNvPr id="29" name="Rectangle 29"/>
            <p:cNvSpPr/>
            <p:nvPr/>
          </p:nvSpPr>
          <p:spPr>
            <a:xfrm>
              <a:off x="6032182" y="3469005"/>
              <a:ext cx="5626418" cy="2018348"/>
            </a:xfrm>
            <a:prstGeom prst="roundRect">
              <a:avLst>
                <a:gd name="adj" fmla="val 66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041708" y="3602355"/>
              <a:ext cx="47625" cy="175164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74118" y="367284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55474" y="370855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常用换算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66879" y="4045744"/>
              <a:ext cx="43592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二阶矩常用方差来写：E(X²) = D(X) + [E(X)]²。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66879" y="4365784"/>
              <a:ext cx="485660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 − A₁² 恰好等于样本二阶中心矩 B₂ = (1/n)Σ(Xᵢ − 样本均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值)²，解方程时经常用到。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6" name="Rectangle 36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511" y="6004084"/>
              <a:ext cx="72785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一个参数用一阶矩；一阶矩里不含参数（比如对称分布的中心已知）时才改用二阶矩。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79746" cy="909257"/>
            <a:chOff x="520446" y="342900"/>
            <a:chExt cx="56797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点估计与矩估计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797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例1：泊松分布的 λ，用样本均值估计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906905"/>
            <a:chOff x="533400" y="1524000"/>
            <a:chExt cx="4760595" cy="1906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906905"/>
            </a:xfrm>
            <a:prstGeom prst="roundRect">
              <a:avLst>
                <a:gd name="adj" fmla="val 6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402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3582" y="1769269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2070" y="1768792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电话局单位时间内的呼唤次数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1300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某电话局单位时间内收到的呼唤次数 X 服从参数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λ 的泊松分布，λ &gt; 0 未知。已得样本值 x₁,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x₂, …, xₙ，求 λ 的矩估计量和矩估计值，并估计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单位时间内收到 k 次呼唤的概率。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621405"/>
            <a:ext cx="4760595" cy="1360170"/>
            <a:chOff x="533400" y="3621405"/>
            <a:chExt cx="4760595" cy="1360170"/>
          </a:xfrm>
        </p:grpSpPr>
        <p:sp>
          <p:nvSpPr>
            <p:cNvPr id="14" name="Rectangle 14"/>
            <p:cNvSpPr/>
            <p:nvPr/>
          </p:nvSpPr>
          <p:spPr>
            <a:xfrm>
              <a:off x="533400" y="3621405"/>
              <a:ext cx="4760595" cy="1360170"/>
            </a:xfrm>
            <a:prstGeom prst="roundRect">
              <a:avLst>
                <a:gd name="adj" fmla="val 98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754755"/>
              <a:ext cx="47625" cy="109347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83095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1258" y="38666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3430" y="4208145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只有一个参数，用一阶矩：泊松分布的期望就是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本身，方程一步解完。</a:t>
              </a:r>
            </a:p>
          </p:txBody>
        </p:sp>
      </p:grpSp>
      <p:grpSp>
        <p:nvGrpSpPr>
          <p:cNvPr id="33" name="c2-steps-1"/>
          <p:cNvGrpSpPr/>
          <p:nvPr/>
        </p:nvGrpSpPr>
        <p:grpSpPr>
          <a:xfrm>
            <a:off x="5598795" y="1533525"/>
            <a:ext cx="4216476" cy="1878615"/>
            <a:chOff x="5598795" y="1533525"/>
            <a:chExt cx="4216476" cy="1878615"/>
          </a:xfrm>
        </p:grpSpPr>
        <p:sp>
          <p:nvSpPr>
            <p:cNvPr id="20" name="Rectangle 20"/>
            <p:cNvSpPr/>
            <p:nvPr/>
          </p:nvSpPr>
          <p:spPr>
            <a:xfrm>
              <a:off x="5732145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598795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692419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598795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692419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10275" y="15678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总体一阶矩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11418" y="1861661"/>
              <a:ext cx="11026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μ₁ = E(X) = 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10275" y="2218372"/>
              <a:ext cx="10129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μ₁ = A₁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11418" y="251221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等于样本均值，于是 λ 的矩估计量就是样本均值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10275" y="286893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代入样本值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11418" y="3162776"/>
              <a:ext cx="32955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矩估计值就是观测值 x₁, …, xₙ 的算术平均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formula18"/>
              <p:cNvSpPr txBox="1">
                <a:spLocks noGrp="1"/>
              </p:cNvSpPr>
              <p:nvPr/>
            </p:nvSpPr>
            <p:spPr>
              <a:xfrm>
                <a:off x="5598795" y="3590925"/>
                <a:ext cx="6059805" cy="660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ˆ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ba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acc>
                        <m:accPr>
                          <m:chr m:val="ˆ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ba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formula19"/>
              <p:cNvSpPr txBox="1">
                <a:spLocks noGrp="1"/>
              </p:cNvSpPr>
              <p:nvPr/>
            </p:nvSpPr>
            <p:spPr>
              <a:xfrm>
                <a:off x="5598795" y="4441508"/>
                <a:ext cx="6059805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ˆ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</m:acc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bar>
                                <m:barPr>
                                  <m:pos m:val="top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barPr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bar>
                            </m:e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p>
                          </m:sSup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!</m:t>
                          </m:r>
                        </m:den>
                      </m:f>
                      <m:s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bar>
                            <m:barPr>
                              <m:pos m:val="top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ar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bar>
                        </m:sup>
                      </m:sSup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,…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6" name="Rectangle 3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130" y="5991225"/>
              <a:ext cx="58712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参数估出来以后，分布里的任何概率都可以把估计值代进去计算。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42677" cy="909257"/>
            <a:chOff x="520446" y="342900"/>
            <a:chExt cx="55426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点估计与矩估计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426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例2：均匀分布 U[a, b] 的两个端点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335405"/>
            <a:chOff x="533400" y="1524000"/>
            <a:chExt cx="4760595" cy="13354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3582" y="1769269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2070" y="1768792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两个未知参数，要用两阶矩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025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设总体 X 在 [a, b] 上服从均匀分布，a 与 b 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知，X₁, …, Xₙ 是样本。求 a 与 b 的矩估计量。</a:t>
              </a:r>
            </a:p>
          </p:txBody>
        </p:sp>
      </p:grpSp>
      <p:grpSp>
        <p:nvGrpSpPr>
          <p:cNvPr id="31" name="c1-steps-2"/>
          <p:cNvGrpSpPr/>
          <p:nvPr/>
        </p:nvGrpSpPr>
        <p:grpSpPr>
          <a:xfrm>
            <a:off x="533400" y="3059430"/>
            <a:ext cx="4364839" cy="2529173"/>
            <a:chOff x="533400" y="3059430"/>
            <a:chExt cx="4364839" cy="2529173"/>
          </a:xfrm>
        </p:grpSpPr>
        <p:sp>
          <p:nvSpPr>
            <p:cNvPr id="14" name="Rectangle 14"/>
            <p:cNvSpPr/>
            <p:nvPr/>
          </p:nvSpPr>
          <p:spPr>
            <a:xfrm>
              <a:off x="666750" y="3202305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305943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1332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70998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7838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36054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4343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50120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5085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4880" y="309372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一阶矩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387566"/>
              <a:ext cx="11674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μ₁ = (a + b)/2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4880" y="3744278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二阶矩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4038124"/>
              <a:ext cx="39522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μ₂ = D(X) + [E(X)]² = (b − a)²/12 + (a + b)²/4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4880" y="4394835"/>
              <a:ext cx="19452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μ₁ = A₁、μ₂ = A₂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023" y="4688681"/>
              <a:ext cx="36171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整理得 a + b = 2A₁，(b − a)² = 12(A₂ − A₁²)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4880" y="504634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开方取正根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023" y="5339239"/>
              <a:ext cx="39343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&gt; a，所以 b − a = √(12B₂)，其中 B₂ = A₂ − A₁²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formula23"/>
              <p:cNvSpPr txBox="1">
                <a:spLocks noGrp="1"/>
              </p:cNvSpPr>
              <p:nvPr/>
            </p:nvSpPr>
            <p:spPr>
              <a:xfrm>
                <a:off x="5598795" y="1524000"/>
                <a:ext cx="6059805" cy="1047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num>
                                <m:den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sSup>
                                    <m:e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b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a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sSup>
                                    <m:e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a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+</m:t>
                                          </m:r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b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formula24"/>
              <p:cNvSpPr txBox="1">
                <a:spLocks noGrp="1"/>
              </p:cNvSpPr>
              <p:nvPr/>
            </p:nvSpPr>
            <p:spPr>
              <a:xfrm>
                <a:off x="5598795" y="2762250"/>
                <a:ext cx="6059805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ˆ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ba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bar>
                                        <m:barPr>
                                          <m:pos m:val="top"/>
                                          <m:ctrlP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barPr>
                                        <m:e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</m:bar>
                                    </m:e>
                                  </m:d>
                                </m:e>
                                <m:sup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formula25"/>
              <p:cNvSpPr txBox="1">
                <a:spLocks noGrp="1"/>
              </p:cNvSpPr>
              <p:nvPr/>
            </p:nvSpPr>
            <p:spPr>
              <a:xfrm>
                <a:off x="5598795" y="3581400"/>
                <a:ext cx="6059805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ˆ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ba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bar>
                                        <m:barPr>
                                          <m:pos m:val="top"/>
                                          <m:ctrlP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barPr>
                                        <m:e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</m:bar>
                                    </m:e>
                                  </m:d>
                                </m:e>
                                <m:sup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</a:p>
            </p:txBody>
          </p:sp>
        </mc:Choice>
      </mc:AlternateContent>
      <p:grpSp>
        <p:nvGrpSpPr>
          <p:cNvPr id="41" name="c2-callout-4"/>
          <p:cNvGrpSpPr/>
          <p:nvPr/>
        </p:nvGrpSpPr>
        <p:grpSpPr>
          <a:xfrm>
            <a:off x="5598795" y="4400550"/>
            <a:ext cx="6059805" cy="1176338"/>
            <a:chOff x="5598795" y="4400550"/>
            <a:chExt cx="6059805" cy="1176338"/>
          </a:xfrm>
        </p:grpSpPr>
        <p:sp>
          <p:nvSpPr>
            <p:cNvPr id="35" name="Rectangle 35"/>
            <p:cNvSpPr/>
            <p:nvPr/>
          </p:nvSpPr>
          <p:spPr>
            <a:xfrm>
              <a:off x="5598795" y="4400550"/>
              <a:ext cx="6059805" cy="1176338"/>
            </a:xfrm>
            <a:prstGeom prst="roundRect">
              <a:avLst>
                <a:gd name="adj" fmla="val 971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5803583" y="4888230"/>
              <a:ext cx="200026" cy="200025"/>
              <a:chOff x="5803583" y="4888230"/>
              <a:chExt cx="200026" cy="20002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5803583" y="488823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5843321" y="493268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878037" y="504380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105525" y="4745355"/>
              <a:ext cx="49491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两个端点关于样本均值对称，半宽 √(3B₂) 来自均匀分布的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标准差 (b − a)/√12。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16649" cy="909257"/>
            <a:chOff x="520446" y="342900"/>
            <a:chExt cx="57166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点估计与矩估计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166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例3：均值和方差的矩估计不依赖分布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4615815"/>
            <a:chOff x="533400" y="1524000"/>
            <a:chExt cx="5410200" cy="46158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615815"/>
            </a:xfrm>
            <a:prstGeom prst="roundRect">
              <a:avLst>
                <a:gd name="adj" fmla="val 28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3491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3582" y="1769269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2070" y="1768792"/>
              <a:ext cx="25752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总体均值 μ、方差 σ² 都未知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672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设总体 X 的均值 μ 与方差 σ² &gt; 0 都未知，X₁, …, Xₙ 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样本，求 μ 与 σ² 的矩估计量。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750820"/>
              <a:ext cx="49823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解：μ₁ = μ，μ₂ = σ² + μ²。令 μ₁ = A₁、μ₂ = A₂，解得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28"/>
                <p:cNvSpPr txBox="1">
                  <a:spLocks noGrp="1"/>
                </p:cNvSpPr>
                <p:nvPr/>
              </p:nvSpPr>
              <p:spPr>
                <a:xfrm>
                  <a:off x="781050" y="3061335"/>
                  <a:ext cx="4953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acc>
                          <m:accPr>
                            <m:chr m:val="ˆ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bar>
                          <m:barPr>
                            <m:pos m:val="top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ba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29"/>
                <p:cNvSpPr txBox="1">
                  <a:spLocks noGrp="1"/>
                </p:cNvSpPr>
                <p:nvPr/>
              </p:nvSpPr>
              <p:spPr>
                <a:xfrm>
                  <a:off x="781050" y="3537585"/>
                  <a:ext cx="4953000" cy="597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acc>
                              <m:accPr>
                                <m:chr m:val="ˆ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</m:acc>
                          </m:e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b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bar>
                                      <m:barPr>
                                        <m:pos m:val="top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</m:bar>
                                  </m:e>
                                </m:d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2" name="c2-card-1"/>
          <p:cNvGrpSpPr/>
          <p:nvPr/>
        </p:nvGrpSpPr>
        <p:grpSpPr>
          <a:xfrm>
            <a:off x="6248400" y="1524000"/>
            <a:ext cx="5410200" cy="1316355"/>
            <a:chOff x="6248400" y="1524000"/>
            <a:chExt cx="5410200" cy="1316355"/>
          </a:xfrm>
        </p:grpSpPr>
        <p:sp>
          <p:nvSpPr>
            <p:cNvPr id="17" name="Rectangle 17"/>
            <p:cNvSpPr/>
            <p:nvPr/>
          </p:nvSpPr>
          <p:spPr>
            <a:xfrm>
              <a:off x="6248400" y="1524000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257925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496050" y="1733550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88582" y="1769269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88430" y="2110740"/>
              <a:ext cx="4749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 μ 与 σ² 存在，均值的矩估计就是样本均值，方差的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矩估计就是 B₂，不需要知道 X 服从什么分布。</a:t>
              </a:r>
            </a:p>
          </p:txBody>
        </p:sp>
      </p:grpSp>
      <p:grpSp>
        <p:nvGrpSpPr>
          <p:cNvPr id="28" name="c2-card-2"/>
          <p:cNvGrpSpPr/>
          <p:nvPr/>
        </p:nvGrpSpPr>
        <p:grpSpPr>
          <a:xfrm>
            <a:off x="6248400" y="3030855"/>
            <a:ext cx="5410200" cy="1602105"/>
            <a:chOff x="6248400" y="3030855"/>
            <a:chExt cx="5410200" cy="1602105"/>
          </a:xfrm>
        </p:grpSpPr>
        <p:sp>
          <p:nvSpPr>
            <p:cNvPr id="23" name="Rectangle 23"/>
            <p:cNvSpPr/>
            <p:nvPr/>
          </p:nvSpPr>
          <p:spPr>
            <a:xfrm>
              <a:off x="6248400" y="3030855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316420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96050" y="3240405"/>
              <a:ext cx="13325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61139" y="327612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注2 矩估计不唯一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88430" y="3617595"/>
              <a:ext cx="47205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泊松分布 E(X) = D(X) = λ。用一阶矩得 λ 的估计为样本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均值，用方差得 λ 的估计为 B₂，两者一般不相等。习惯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上优先用低阶矩。</a:t>
              </a:r>
            </a:p>
          </p:txBody>
        </p:sp>
      </p:grpSp>
      <p:grpSp>
        <p:nvGrpSpPr>
          <p:cNvPr id="34" name="c2-card-3"/>
          <p:cNvGrpSpPr/>
          <p:nvPr/>
        </p:nvGrpSpPr>
        <p:grpSpPr>
          <a:xfrm>
            <a:off x="6248400" y="4823460"/>
            <a:ext cx="5410200" cy="1316355"/>
            <a:chOff x="6248400" y="4823460"/>
            <a:chExt cx="5410200" cy="1316355"/>
          </a:xfrm>
        </p:grpSpPr>
        <p:sp>
          <p:nvSpPr>
            <p:cNvPr id="29" name="Rectangle 29"/>
            <p:cNvSpPr/>
            <p:nvPr/>
          </p:nvSpPr>
          <p:spPr>
            <a:xfrm>
              <a:off x="6248400" y="4823460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57925" y="495681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96050" y="5033010"/>
              <a:ext cx="104775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69991" y="5068729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注3 适用前提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88430" y="541020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矩估计直观、计算简单，但要求所用的原点矩存在。柯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西分布连期望都不存在，不能用矩估计。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579745" cy="2997517"/>
            <a:chOff x="667512" y="1835468"/>
            <a:chExt cx="5579745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最大似然估计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已经发生的事，应当是在最可能让它发生的参数下发生的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似然函数与最大似然估计的定义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对数似然方程与四步算法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多参数、似然方程失效与不变性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最大似然估计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抽到白球，更可能是从哪个箱子里抽的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c1-image-1"/>
          <p:cNvGrpSpPr/>
          <p:nvPr/>
        </p:nvGrpSpPr>
        <p:grpSpPr>
          <a:xfrm>
            <a:off x="533400" y="1524000"/>
            <a:ext cx="4977765" cy="3633312"/>
            <a:chOff x="533400" y="1524000"/>
            <a:chExt cx="4977765" cy="3633312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00" y="1524000"/>
              <a:ext cx="4977765" cy="3318510"/>
            </a:xfrm>
            <a:prstGeom prst="roundRect">
              <a:avLst>
                <a:gd name="adj" fmla="val 4018"/>
              </a:avLst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508824" y="4937284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两个外形相同的箱子，从其中一个摸出了白球</a:t>
              </a:r>
            </a:p>
          </p:txBody>
        </p:sp>
      </p:grpSp>
      <p:grpSp>
        <p:nvGrpSpPr>
          <p:cNvPr id="15" name="c2-card-1"/>
          <p:cNvGrpSpPr/>
          <p:nvPr/>
        </p:nvGrpSpPr>
        <p:grpSpPr>
          <a:xfrm>
            <a:off x="5815965" y="1524000"/>
            <a:ext cx="5842635" cy="1316355"/>
            <a:chOff x="5815965" y="1524000"/>
            <a:chExt cx="5842635" cy="1316355"/>
          </a:xfrm>
        </p:grpSpPr>
        <p:sp>
          <p:nvSpPr>
            <p:cNvPr id="10" name="Rectangle 10"/>
            <p:cNvSpPr/>
            <p:nvPr/>
          </p:nvSpPr>
          <p:spPr>
            <a:xfrm>
              <a:off x="5815965" y="1524000"/>
              <a:ext cx="584263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825490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6361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153823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引例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55995" y="2110740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两箱各装 100 个球：甲箱 99 白 1 红，乙箱 1 白 99 红。任取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一箱，再从中任取一球，结果是白球。问这个球来自哪一箱？</a:t>
              </a:r>
            </a:p>
          </p:txBody>
        </p:sp>
      </p:grpSp>
      <p:grpSp>
        <p:nvGrpSpPr>
          <p:cNvPr id="28" name="c2-table-2"/>
          <p:cNvGrpSpPr/>
          <p:nvPr/>
        </p:nvGrpSpPr>
        <p:grpSpPr>
          <a:xfrm>
            <a:off x="5815965" y="3030855"/>
            <a:ext cx="5842635" cy="1346835"/>
            <a:chOff x="5815965" y="3030855"/>
            <a:chExt cx="5842635" cy="1346835"/>
          </a:xfrm>
        </p:grpSpPr>
        <p:sp>
          <p:nvSpPr>
            <p:cNvPr id="16" name="Rectangle 16"/>
            <p:cNvSpPr/>
            <p:nvPr/>
          </p:nvSpPr>
          <p:spPr>
            <a:xfrm>
              <a:off x="5815965" y="3030855"/>
              <a:ext cx="5842635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804939" y="31665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假设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296425" y="316658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摸出白球的概率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23788" y="36152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来自甲箱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161972" y="3489008"/>
              <a:ext cx="348710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60270" y="361521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815965" y="392334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815965" y="3928110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23788" y="40638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来自乙箱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60270" y="406384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815965" y="3030855"/>
              <a:ext cx="5842635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147685" y="303085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2-card-3"/>
          <p:cNvGrpSpPr/>
          <p:nvPr/>
        </p:nvGrpSpPr>
        <p:grpSpPr>
          <a:xfrm>
            <a:off x="5815965" y="4568190"/>
            <a:ext cx="5842635" cy="1602105"/>
            <a:chOff x="5815965" y="4568190"/>
            <a:chExt cx="5842635" cy="1602105"/>
          </a:xfrm>
        </p:grpSpPr>
        <p:sp>
          <p:nvSpPr>
            <p:cNvPr id="29" name="Rectangle 29"/>
            <p:cNvSpPr/>
            <p:nvPr/>
          </p:nvSpPr>
          <p:spPr>
            <a:xfrm>
              <a:off x="5815965" y="4568190"/>
              <a:ext cx="5842635" cy="1602105"/>
            </a:xfrm>
            <a:prstGeom prst="roundRect">
              <a:avLst>
                <a:gd name="adj" fmla="val 832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025515" y="477774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06871" y="481345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答：甲箱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17895" y="5154930"/>
              <a:ext cx="51682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在“来自甲箱”的假设下，白球出现的概率是另一种假设的 99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倍。把“箱子”换成参数 θ、把“白球”换成样本观测值，就是最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大似然的原则：选使已出现的样本概率最大的 θ。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最大似然估计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似然函数：样本固定，把联合概率看成参数的函数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723072"/>
            <a:chOff x="533400" y="1524000"/>
            <a:chExt cx="5626418" cy="172307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723072"/>
            </a:xfrm>
            <a:prstGeom prst="roundRect">
              <a:avLst>
                <a:gd name="adj" fmla="val 77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5637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8457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离散型总体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52995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分布律 P{X = x} = p(x; θ)，样本值 x₁, …, xₙ 出现的概率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35"/>
                <p:cNvSpPr txBox="1">
                  <a:spLocks noGrp="1"/>
                </p:cNvSpPr>
                <p:nvPr/>
              </p:nvSpPr>
              <p:spPr>
                <a:xfrm>
                  <a:off x="781050" y="2421255"/>
                  <a:ext cx="5169218" cy="597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∏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;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0" name="c1-card-2"/>
          <p:cNvGrpSpPr/>
          <p:nvPr/>
        </p:nvGrpSpPr>
        <p:grpSpPr>
          <a:xfrm>
            <a:off x="533400" y="3437572"/>
            <a:ext cx="5626418" cy="1754505"/>
            <a:chOff x="533400" y="3437572"/>
            <a:chExt cx="5626418" cy="1754505"/>
          </a:xfrm>
        </p:grpSpPr>
        <p:sp>
          <p:nvSpPr>
            <p:cNvPr id="14" name="Rectangle 14"/>
            <p:cNvSpPr/>
            <p:nvPr/>
          </p:nvSpPr>
          <p:spPr>
            <a:xfrm>
              <a:off x="533400" y="3437572"/>
              <a:ext cx="5626418" cy="1754505"/>
            </a:xfrm>
            <a:prstGeom prst="roundRect">
              <a:avLst>
                <a:gd name="adj" fmla="val 76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570922"/>
              <a:ext cx="47625" cy="148780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647122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8457" y="368284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连续型总体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3430" y="4024312"/>
              <a:ext cx="40336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概率密度 f(x; θ)，用联合密度代替联合概率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36"/>
                <p:cNvSpPr txBox="1">
                  <a:spLocks noGrp="1"/>
                </p:cNvSpPr>
                <p:nvPr/>
              </p:nvSpPr>
              <p:spPr>
                <a:xfrm>
                  <a:off x="781050" y="4334828"/>
                  <a:ext cx="5169218" cy="628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∏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;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9" name="c2-card-1"/>
          <p:cNvGrpSpPr/>
          <p:nvPr/>
        </p:nvGrpSpPr>
        <p:grpSpPr>
          <a:xfrm>
            <a:off x="6464618" y="1524000"/>
            <a:ext cx="5193982" cy="2236470"/>
            <a:chOff x="6464618" y="1524000"/>
            <a:chExt cx="5193982" cy="2236470"/>
          </a:xfrm>
        </p:grpSpPr>
        <p:sp>
          <p:nvSpPr>
            <p:cNvPr id="21" name="Rectangle 21"/>
            <p:cNvSpPr/>
            <p:nvPr/>
          </p:nvSpPr>
          <p:spPr>
            <a:xfrm>
              <a:off x="6464618" y="1524000"/>
              <a:ext cx="5193982" cy="2236470"/>
            </a:xfrm>
            <a:prstGeom prst="roundRect">
              <a:avLst>
                <a:gd name="adj" fmla="val 59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74142" y="1657350"/>
              <a:ext cx="47625" cy="196977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71226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0342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13295" y="176879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最大似然估计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04648" y="2129790"/>
              <a:ext cx="44674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θ 的取值范围为 Θ。若由样本值算出的某个值使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37"/>
                <p:cNvSpPr txBox="1">
                  <a:spLocks noGrp="1"/>
                </p:cNvSpPr>
                <p:nvPr/>
              </p:nvSpPr>
              <p:spPr>
                <a:xfrm>
                  <a:off x="6712268" y="2440305"/>
                  <a:ext cx="4736782" cy="4705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acc>
                              <m:accPr>
                                <m:chr m:val="ˆ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acc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∈Θ</m:t>
                                </m:r>
                              </m:lim>
                            </m:limLow>
                          </m:fName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acc>
                          <m:accPr>
                            <m:chr m:val="ˆ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acc>
                          <m:accPr>
                            <m:chr m:val="ˆ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acc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8" name="TextBox 28"/>
            <p:cNvSpPr txBox="1"/>
            <p:nvPr/>
          </p:nvSpPr>
          <p:spPr>
            <a:xfrm>
              <a:off x="6704648" y="3030855"/>
              <a:ext cx="4558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则称它为 θ 的 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最大似然估计值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；把 xᵢ 换成 Xᵢ 得到的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统计量称为 θ 的 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最大似然估计量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5" name="c2-callout-2"/>
          <p:cNvGrpSpPr/>
          <p:nvPr/>
        </p:nvGrpSpPr>
        <p:grpSpPr>
          <a:xfrm>
            <a:off x="6464618" y="3950970"/>
            <a:ext cx="5193982" cy="1241108"/>
            <a:chOff x="6464618" y="3950970"/>
            <a:chExt cx="5193982" cy="1241108"/>
          </a:xfrm>
        </p:grpSpPr>
        <p:sp>
          <p:nvSpPr>
            <p:cNvPr id="30" name="Rectangle 30"/>
            <p:cNvSpPr/>
            <p:nvPr/>
          </p:nvSpPr>
          <p:spPr>
            <a:xfrm>
              <a:off x="6464618" y="3950970"/>
              <a:ext cx="5193982" cy="1241108"/>
            </a:xfrm>
            <a:prstGeom prst="roundRect">
              <a:avLst>
                <a:gd name="adj" fmla="val 921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669405" y="4471037"/>
              <a:ext cx="200023" cy="200023"/>
              <a:chOff x="6669405" y="4471037"/>
              <a:chExt cx="200023" cy="20002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669405" y="447103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802755" y="45377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6971348" y="4328160"/>
              <a:ext cx="40919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似然函数里样本值是已知常数，θ 才是自变量；L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越大，这组样本在该 θ 下越容易出现。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6" name="Rectangle 3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130" y="5991225"/>
              <a:ext cx="8845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连续型的 L(θ) 是密度的乘积而不是概率，数值可以大于 1，只比较大小，不要把它当成概率解释。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45091" cy="909257"/>
            <a:chOff x="520446" y="342900"/>
            <a:chExt cx="824509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最大似然估计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450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求最大似然估计的四步：写 L、取对数、求导、解方程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450469" cy="2529173"/>
            <a:chOff x="533400" y="1533525"/>
            <a:chExt cx="5450469" cy="2529173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4861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写出似然函数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40612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把样本值代入，得 L(θ) = Π p(xᵢ; θ) 或 Π f(xᵢ; θ)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21837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取对数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512219"/>
              <a:ext cx="39506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ln L(θ) 把连乘化成求和；ln 严格单调，最大点不变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868930"/>
              <a:ext cx="14070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求导并令其为 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162776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得对数似然方程，多个参数时对每个参数求偏导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52044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解方程并确认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813334"/>
              <a:ext cx="50378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解出 θ 的值，确认它是最大点并在 Θ 内；换成大写 Xᵢ 就是估计量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4241482"/>
            <a:ext cx="5410200" cy="1602105"/>
            <a:chOff x="533400" y="4241482"/>
            <a:chExt cx="5410200" cy="1602105"/>
          </a:xfrm>
        </p:grpSpPr>
        <p:sp>
          <p:nvSpPr>
            <p:cNvPr id="25" name="Rectangle 25"/>
            <p:cNvSpPr/>
            <p:nvPr/>
          </p:nvSpPr>
          <p:spPr>
            <a:xfrm>
              <a:off x="533400" y="4241482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374832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81050" y="4451032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7308" y="448675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3430" y="4828222"/>
              <a:ext cx="47110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0-1 分布抽 5 次，得到 3 个 1、2 个 0。L(p) = p³(1 −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p)²，ln L = 3 ln p + 2 ln(1 − p)，令 3/p − 2/(1 − p)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0，得 p = 3/5 = 0.6，正好是样本里 1 所占的比例。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formula40"/>
              <p:cNvSpPr txBox="1">
                <a:spLocks noGrp="1"/>
              </p:cNvSpPr>
              <p:nvPr/>
            </p:nvSpPr>
            <p:spPr>
              <a:xfrm>
                <a:off x="6248400" y="1524000"/>
                <a:ext cx="5410200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nor m:val="on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似然方程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formula41"/>
              <p:cNvSpPr txBox="1">
                <a:spLocks noGrp="1"/>
              </p:cNvSpPr>
              <p:nvPr/>
            </p:nvSpPr>
            <p:spPr>
              <a:xfrm>
                <a:off x="6248400" y="2228850"/>
                <a:ext cx="5410200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θ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nor m:val="on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对数似然方程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8" name="c2-card-3"/>
          <p:cNvGrpSpPr/>
          <p:nvPr/>
        </p:nvGrpSpPr>
        <p:grpSpPr>
          <a:xfrm>
            <a:off x="6248400" y="2933700"/>
            <a:ext cx="5410200" cy="1316355"/>
            <a:chOff x="6248400" y="2933700"/>
            <a:chExt cx="5410200" cy="1316355"/>
          </a:xfrm>
        </p:grpSpPr>
        <p:sp>
          <p:nvSpPr>
            <p:cNvPr id="33" name="Rectangle 33"/>
            <p:cNvSpPr/>
            <p:nvPr/>
          </p:nvSpPr>
          <p:spPr>
            <a:xfrm>
              <a:off x="6248400" y="2933700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57925" y="30670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96050" y="314325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60655" y="31789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取对数用到的两条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88430" y="3520440"/>
              <a:ext cx="4749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ln(XY) = ln X + ln Y，ln Xᵃ = a ln X。连乘 Π 取对数后变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 Σ，求导就容易了。</a:t>
              </a:r>
            </a:p>
          </p:txBody>
        </p:sp>
      </p:grpSp>
      <p:grpSp>
        <p:nvGrpSpPr>
          <p:cNvPr id="44" name="c2-card-4"/>
          <p:cNvGrpSpPr/>
          <p:nvPr/>
        </p:nvGrpSpPr>
        <p:grpSpPr>
          <a:xfrm>
            <a:off x="6248400" y="4440555"/>
            <a:ext cx="5410200" cy="1403032"/>
            <a:chOff x="6248400" y="4440555"/>
            <a:chExt cx="5410200" cy="1403032"/>
          </a:xfrm>
        </p:grpSpPr>
        <p:sp>
          <p:nvSpPr>
            <p:cNvPr id="39" name="Rectangle 39"/>
            <p:cNvSpPr/>
            <p:nvPr/>
          </p:nvSpPr>
          <p:spPr>
            <a:xfrm>
              <a:off x="6248400" y="4440555"/>
              <a:ext cx="5410200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57925" y="4573905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96050" y="465010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65557" y="468582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方程不一定有用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88430" y="502729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不可导、或在 Θ 内没有驻点时，似然方程失效，要回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到定义直接找 L 的最大点（例8）。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28735" cy="909257"/>
            <a:chOff x="520446" y="342900"/>
            <a:chExt cx="75287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最大似然估计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287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例4：二项分布 B(m, p)，两种方法得到同一个 p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892287" cy="308039"/>
            <a:chOff x="525399" y="1550194"/>
            <a:chExt cx="989228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89228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设总体 X ~ B(m, p)，m 已知，0 &lt; p &lt; 1 未知，X₁, …, Xₙ 是样本，求 p 的矩估计量和最大似然估计量。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67865"/>
            <a:ext cx="4111942" cy="1951672"/>
            <a:chOff x="533400" y="1967865"/>
            <a:chExt cx="4111942" cy="195167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4111942" cy="1951672"/>
            </a:xfrm>
            <a:prstGeom prst="roundRect">
              <a:avLst>
                <a:gd name="adj" fmla="val 68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168497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7308" y="221313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矩估计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554605"/>
              <a:ext cx="3339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μ₁ = E(X) = mp。令 μ₁ = A₁，即 mp 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于样本均值，得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47"/>
                <p:cNvSpPr txBox="1">
                  <a:spLocks noGrp="1"/>
                </p:cNvSpPr>
                <p:nvPr/>
              </p:nvSpPr>
              <p:spPr>
                <a:xfrm>
                  <a:off x="781050" y="3150870"/>
                  <a:ext cx="3654742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acc>
                          <m:accPr>
                            <m:chr m:val="ˆ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den>
                        </m:f>
                        <m:bar>
                          <m:barPr>
                            <m:pos m:val="top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ba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9" name="c1-card-2"/>
          <p:cNvGrpSpPr/>
          <p:nvPr/>
        </p:nvGrpSpPr>
        <p:grpSpPr>
          <a:xfrm>
            <a:off x="533400" y="4110038"/>
            <a:ext cx="4111942" cy="1370648"/>
            <a:chOff x="533400" y="4110038"/>
            <a:chExt cx="4111942" cy="1370648"/>
          </a:xfrm>
        </p:grpSpPr>
        <p:sp>
          <p:nvSpPr>
            <p:cNvPr id="16" name="Rectangle 16"/>
            <p:cNvSpPr/>
            <p:nvPr/>
          </p:nvSpPr>
          <p:spPr>
            <a:xfrm>
              <a:off x="533400" y="4110038"/>
              <a:ext cx="4111942" cy="1370648"/>
            </a:xfrm>
            <a:prstGeom prst="roundRect">
              <a:avLst>
                <a:gd name="adj" fmla="val 97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243388"/>
              <a:ext cx="47625" cy="11039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73430" y="4344352"/>
              <a:ext cx="34251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两种方法结果相同。样本总共做了 mn 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伯努利试验，p 的估计就是总成功次数除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mn。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formula48"/>
              <p:cNvSpPr txBox="1">
                <a:spLocks noGrp="1"/>
              </p:cNvSpPr>
              <p:nvPr/>
            </p:nvSpPr>
            <p:spPr>
              <a:xfrm>
                <a:off x="4950142" y="1967865"/>
                <a:ext cx="6708458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sub>
                            <m:sup>
                              <m:sSub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sup>
                          </m:sSubSup>
                          <m:s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  <m:sup>
                              <m:sSub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sup>
                          </m:sSup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p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sSubSup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</m:t>
                                  </m:r>
                                </m:sub>
                                <m:sup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</m:sup>
                              </m:sSubSup>
                            </m:e>
                          </m:nary>
                        </m:e>
                      </m:d>
                      <m:s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p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n"/>
                              <m:supHide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</m:sup>
                      </m:sSup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</m:d>
                        </m:e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mn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n"/>
                              <m:supHide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</m:sup>
                      </m:sSup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formula49"/>
              <p:cNvSpPr txBox="1">
                <a:spLocks noGrp="1"/>
              </p:cNvSpPr>
              <p:nvPr/>
            </p:nvSpPr>
            <p:spPr>
              <a:xfrm>
                <a:off x="4950142" y="2724150"/>
                <a:ext cx="6708458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ln</m:t>
                          </m:r>
                        </m:fName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ln</m:t>
                              </m:r>
                            </m:fName>
                            <m:e>
                              <m:sSubSup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</m:t>
                                  </m:r>
                                </m:sub>
                                <m:sup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</m:sup>
                              </m:sSubSup>
                            </m:e>
                          </m:func>
                        </m:e>
                      </m:nary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sSub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ln</m:t>
                          </m:r>
                        </m:fName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mn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sSub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formula50"/>
              <p:cNvSpPr txBox="1">
                <a:spLocks noGrp="1"/>
              </p:cNvSpPr>
              <p:nvPr/>
            </p:nvSpPr>
            <p:spPr>
              <a:xfrm>
                <a:off x="4950142" y="3480435"/>
                <a:ext cx="6708458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p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n"/>
                              <m:supHide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mn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n"/>
                              <m:supHide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formula51"/>
              <p:cNvSpPr txBox="1">
                <a:spLocks noGrp="1"/>
              </p:cNvSpPr>
              <p:nvPr/>
            </p:nvSpPr>
            <p:spPr>
              <a:xfrm>
                <a:off x="4950142" y="4159568"/>
                <a:ext cx="6708458" cy="59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ˆ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bar>
                            <m:barPr>
                              <m:pos m:val="top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ar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ba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acc>
                        <m:accPr>
                          <m:chr m:val="ˆ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bar>
                            <m:barPr>
                              <m:pos m:val="top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ar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ba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30" name="c2-callout-5"/>
          <p:cNvGrpSpPr/>
          <p:nvPr/>
        </p:nvGrpSpPr>
        <p:grpSpPr>
          <a:xfrm>
            <a:off x="4950142" y="4947285"/>
            <a:ext cx="6708458" cy="533400"/>
            <a:chOff x="4950142" y="4947285"/>
            <a:chExt cx="6708458" cy="533400"/>
          </a:xfrm>
        </p:grpSpPr>
        <p:sp>
          <p:nvSpPr>
            <p:cNvPr id="24" name="Rectangle 24"/>
            <p:cNvSpPr/>
            <p:nvPr/>
          </p:nvSpPr>
          <p:spPr>
            <a:xfrm>
              <a:off x="4950142" y="4947285"/>
              <a:ext cx="6708458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5154930" y="5113973"/>
              <a:ext cx="200026" cy="200025"/>
              <a:chOff x="5154930" y="5113973"/>
              <a:chExt cx="200026" cy="20002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5154930" y="51139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194669" y="51584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229384" y="52695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5456873" y="5109210"/>
              <a:ext cx="60500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二阶导数 −Σxᵢ/p² − (mn − Σxᵢ)/(1 − p)² &lt; 0，驻点就是最大点。</a:t>
              </a:r>
            </a:p>
          </p:txBody>
        </p:sp>
      </p:grpSp>
      <p:grpSp>
        <p:nvGrpSpPr>
          <p:cNvPr id="3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1" name="Rectangle 3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130" y="5991225"/>
              <a:ext cx="105500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若样本全为 0（或全为 m），L(p) 在端点 p = 0（或 1）处最大，公式给出的 0 或 1 仍然正确，只是不能靠求导得到。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82713" cy="909257"/>
            <a:chOff x="520446" y="342900"/>
            <a:chExt cx="80827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最大似然估计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827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例5：指数分布的 λ，最大似然估计是样本均值的倒数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544378" cy="1602105"/>
            <a:chOff x="533400" y="1524000"/>
            <a:chExt cx="4544378" cy="1602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3582" y="1769269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8157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设总体 X 服从参数为 λ 的指数分布：x &gt; 0 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密度 f(x; λ) = λ·exp(−λx)，x ≤ 0 时为 0，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&gt; 0 未知。求 λ 的最大似然估计量。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316605"/>
            <a:ext cx="4544378" cy="1602105"/>
            <a:chOff x="533400" y="3316605"/>
            <a:chExt cx="4544378" cy="1602105"/>
          </a:xfrm>
        </p:grpSpPr>
        <p:sp>
          <p:nvSpPr>
            <p:cNvPr id="13" name="Rectangle 13"/>
            <p:cNvSpPr/>
            <p:nvPr/>
          </p:nvSpPr>
          <p:spPr>
            <a:xfrm>
              <a:off x="533400" y="3316605"/>
              <a:ext cx="4544378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44995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352615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1258" y="35618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3430" y="3903345"/>
              <a:ext cx="37871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样本值都大于 0，密度取 λ·exp(−λx) 那一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段。连乘后指数部分合并成 exp(−λΣxᵢ)，取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对数后只剩两项。</a:t>
              </a:r>
            </a:p>
          </p:txBody>
        </p:sp>
      </p:grpSp>
      <p:grpSp>
        <p:nvGrpSpPr>
          <p:cNvPr id="24" name="c1-callout-3"/>
          <p:cNvGrpSpPr/>
          <p:nvPr/>
        </p:nvGrpSpPr>
        <p:grpSpPr>
          <a:xfrm>
            <a:off x="533400" y="5109210"/>
            <a:ext cx="4544378" cy="893445"/>
            <a:chOff x="533400" y="5109210"/>
            <a:chExt cx="4544378" cy="893445"/>
          </a:xfrm>
        </p:grpSpPr>
        <p:sp>
          <p:nvSpPr>
            <p:cNvPr id="19" name="Rectangle 19"/>
            <p:cNvSpPr/>
            <p:nvPr/>
          </p:nvSpPr>
          <p:spPr>
            <a:xfrm>
              <a:off x="533400" y="5109210"/>
              <a:ext cx="4544378" cy="893445"/>
            </a:xfrm>
            <a:prstGeom prst="roundRect">
              <a:avLst>
                <a:gd name="adj" fmla="val 1279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5455920"/>
              <a:ext cx="200026" cy="200026"/>
              <a:chOff x="738188" y="5455920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54559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04863" y="553370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130" y="5313045"/>
              <a:ext cx="35871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二阶导数 −n/λ² &lt; 0，驻点确是最大点。矩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估计 E(X) = 1/λ 也给出同一答案。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formula56"/>
              <p:cNvSpPr txBox="1">
                <a:spLocks noGrp="1"/>
              </p:cNvSpPr>
              <p:nvPr/>
            </p:nvSpPr>
            <p:spPr>
              <a:xfrm>
                <a:off x="5382578" y="1524000"/>
                <a:ext cx="6276022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  <m:s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λ</m:t>
                              </m:r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e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</m:sSup>
                      <m:sSup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</m:sup>
                      </m:sSup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formula57"/>
              <p:cNvSpPr txBox="1">
                <a:spLocks noGrp="1"/>
              </p:cNvSpPr>
              <p:nvPr/>
            </p:nvSpPr>
            <p:spPr>
              <a:xfrm>
                <a:off x="5382578" y="2343150"/>
                <a:ext cx="6276022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ln</m:t>
                          </m:r>
                        </m:fName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λ</m:t>
                              </m:r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ln</m:t>
                          </m:r>
                        </m:fName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λ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formula58"/>
              <p:cNvSpPr txBox="1">
                <a:spLocks noGrp="1"/>
              </p:cNvSpPr>
              <p:nvPr/>
            </p:nvSpPr>
            <p:spPr>
              <a:xfrm>
                <a:off x="5382578" y="3162300"/>
                <a:ext cx="6276022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formula59"/>
              <p:cNvSpPr txBox="1">
                <a:spLocks noGrp="1"/>
              </p:cNvSpPr>
              <p:nvPr/>
            </p:nvSpPr>
            <p:spPr>
              <a:xfrm>
                <a:off x="5382578" y="3981450"/>
                <a:ext cx="6276022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ˆ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bar>
                            <m:barPr>
                              <m:pos m:val="top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ar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bar>
                        </m:den>
                      </m:f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nor m:val="on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估计值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acc>
                        <m:accPr>
                          <m:chr m:val="ˆ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bar>
                            <m:barPr>
                              <m:pos m:val="top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ar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bar>
                        </m:den>
                      </m:f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nor m:val="on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估计量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4" name="c2-card-5"/>
          <p:cNvGrpSpPr/>
          <p:nvPr/>
        </p:nvGrpSpPr>
        <p:grpSpPr>
          <a:xfrm>
            <a:off x="5382578" y="4686300"/>
            <a:ext cx="6276022" cy="1316355"/>
            <a:chOff x="5382578" y="4686300"/>
            <a:chExt cx="6276022" cy="1316355"/>
          </a:xfrm>
        </p:grpSpPr>
        <p:sp>
          <p:nvSpPr>
            <p:cNvPr id="29" name="Rectangle 29"/>
            <p:cNvSpPr/>
            <p:nvPr/>
          </p:nvSpPr>
          <p:spPr>
            <a:xfrm>
              <a:off x="5382578" y="4686300"/>
              <a:ext cx="6276022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92102" y="48196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630228" y="48958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703684" y="49315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代一组数试试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22608" y="5273040"/>
              <a:ext cx="5120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个寿命观测值 2.1, 0.7, 1.5, 3.2, 0.5（千小时），和为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8.0，均值 1.6，λ 的最大似然估计值为 1/1.6 = 0.625。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52870" cy="909257"/>
            <a:chOff x="520446" y="342900"/>
            <a:chExt cx="705287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最大似然估计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528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例6：同一个 θ，矩估计与最大似然估计不一样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9451129" cy="278702"/>
            <a:chOff x="526161" y="1547336"/>
            <a:chExt cx="9451129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94511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 X 的密度为 f(x) = (θ + 1)xᶿ（0 &lt; x &lt; 1），其他处为 0，θ &gt; −1 未知。求 θ 的矩估计量与最大似然估计量。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41195"/>
            <a:ext cx="4869180" cy="2068830"/>
            <a:chOff x="533400" y="1941195"/>
            <a:chExt cx="4869180" cy="206883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4869180" cy="2068830"/>
            </a:xfrm>
            <a:prstGeom prst="roundRect">
              <a:avLst>
                <a:gd name="adj" fmla="val 64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18021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1344" y="216789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矩估计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80"/>
                <p:cNvSpPr txBox="1">
                  <a:spLocks noGrp="1"/>
                </p:cNvSpPr>
                <p:nvPr/>
              </p:nvSpPr>
              <p:spPr>
                <a:xfrm>
                  <a:off x="763905" y="2467928"/>
                  <a:ext cx="4446270" cy="4800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sup>
                            </m:s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57047" y="3057525"/>
              <a:ext cx="20052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E(X) 等于样本均值：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81"/>
                <p:cNvSpPr txBox="1">
                  <a:spLocks noGrp="1"/>
                </p:cNvSpPr>
                <p:nvPr/>
              </p:nvSpPr>
              <p:spPr>
                <a:xfrm>
                  <a:off x="763905" y="3337560"/>
                  <a:ext cx="4446270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bar>
                          <m:barPr>
                            <m:pos m:val="top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ba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⇒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acc>
                          <m:accPr>
                            <m:chr m:val="ˆ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bar>
                              <m:barPr>
                                <m:pos m:val="top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bar>
                              <m:barPr>
                                <m:pos m:val="top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ba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2" name="c1-card-2"/>
          <p:cNvGrpSpPr/>
          <p:nvPr/>
        </p:nvGrpSpPr>
        <p:grpSpPr>
          <a:xfrm>
            <a:off x="533400" y="4185285"/>
            <a:ext cx="4869180" cy="1466850"/>
            <a:chOff x="533400" y="4185285"/>
            <a:chExt cx="4869180" cy="1466850"/>
          </a:xfrm>
        </p:grpSpPr>
        <p:sp>
          <p:nvSpPr>
            <p:cNvPr id="17" name="Rectangle 17"/>
            <p:cNvSpPr/>
            <p:nvPr/>
          </p:nvSpPr>
          <p:spPr>
            <a:xfrm>
              <a:off x="533400" y="4185285"/>
              <a:ext cx="4869180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318635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63905" y="437769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9343" y="441198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代一组数对比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7047" y="4733925"/>
              <a:ext cx="419709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 0.3, 0.6, 0.8, 0.9：均值 0.65，矩估计 θ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0.3/0.35 = 0.857；Σln xᵢ = −2.043，最大似然估计 θ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−1 + 4/2.043 = 0.958。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5707380" y="1941195"/>
            <a:ext cx="5951220" cy="3709988"/>
            <a:chOff x="5707380" y="1941195"/>
            <a:chExt cx="5951220" cy="3709988"/>
          </a:xfrm>
        </p:grpSpPr>
        <p:sp>
          <p:nvSpPr>
            <p:cNvPr id="23" name="Rectangle 23"/>
            <p:cNvSpPr/>
            <p:nvPr/>
          </p:nvSpPr>
          <p:spPr>
            <a:xfrm>
              <a:off x="5707380" y="1941195"/>
              <a:ext cx="5951220" cy="3709988"/>
            </a:xfrm>
            <a:prstGeom prst="roundRect">
              <a:avLst>
                <a:gd name="adj" fmla="val 35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716905" y="2074545"/>
              <a:ext cx="47625" cy="34432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937885" y="2133600"/>
              <a:ext cx="190690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86658" y="2167890"/>
              <a:ext cx="18093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最大似然估计（0 &lt; xᵢ &lt; 1）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82"/>
                <p:cNvSpPr txBox="1">
                  <a:spLocks noGrp="1"/>
                </p:cNvSpPr>
                <p:nvPr/>
              </p:nvSpPr>
              <p:spPr>
                <a:xfrm>
                  <a:off x="5937885" y="2467928"/>
                  <a:ext cx="552831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∏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sSub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sup>
                            </m:sSubSup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∏"/>
                                    <m:limLoc m:val="undOvr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p>
                                  <m:e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83"/>
                <p:cNvSpPr txBox="1">
                  <a:spLocks noGrp="1"/>
                </p:cNvSpPr>
                <p:nvPr/>
              </p:nvSpPr>
              <p:spPr>
                <a:xfrm>
                  <a:off x="5937885" y="3120390"/>
                  <a:ext cx="552831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ln</m:t>
                            </m:r>
                          </m:fName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θ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ln</m:t>
                                </m:r>
                              </m:fName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func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formula84"/>
                <p:cNvSpPr txBox="1">
                  <a:spLocks noGrp="1"/>
                </p:cNvSpPr>
                <p:nvPr/>
              </p:nvSpPr>
              <p:spPr>
                <a:xfrm>
                  <a:off x="5937885" y="3772852"/>
                  <a:ext cx="552831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ln</m:t>
                                </m:r>
                              </m:fName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func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⇒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acc>
                          <m:accPr>
                            <m:chr m:val="ˆ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ln</m:t>
                                    </m:r>
                                  </m:fName>
                                  <m:e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nary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1" name="Rectangle 31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892" y="6023610"/>
              <a:ext cx="74038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两种方法用到的信息不同，估计量一般不同；Σln xᵢ &lt; 0，所以最大似然估计总满足 θ &gt; −1。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最大似然估计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多个参数：对每个参数求偏导，解似然方程组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760595" cy="2261235"/>
            <a:chOff x="533400" y="1524000"/>
            <a:chExt cx="4760595" cy="22612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261235"/>
            </a:xfrm>
            <a:prstGeom prst="roundRect">
              <a:avLst>
                <a:gd name="adj" fmla="val 58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9453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8457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似然方程组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034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分布含 r 个未知参数时，L = L(θ₁, …, θᵣ) 是 r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元函数。对每个 θᵢ 求偏导并令其为 0：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89"/>
                <p:cNvSpPr txBox="1">
                  <a:spLocks noGrp="1"/>
                </p:cNvSpPr>
                <p:nvPr/>
              </p:nvSpPr>
              <p:spPr>
                <a:xfrm>
                  <a:off x="781050" y="2707005"/>
                  <a:ext cx="4303395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∂</m:t>
                            </m:r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</m:t>
                                </m:r>
                              </m:e>
                            </m:func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∂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73430" y="3341370"/>
              <a:ext cx="40841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解出的 r 个值就是各参数的最大似然估计值。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975735"/>
            <a:ext cx="4760595" cy="1316355"/>
            <a:chOff x="533400" y="3975735"/>
            <a:chExt cx="4760595" cy="1316355"/>
          </a:xfrm>
        </p:grpSpPr>
        <p:sp>
          <p:nvSpPr>
            <p:cNvPr id="15" name="Rectangle 15"/>
            <p:cNvSpPr/>
            <p:nvPr/>
          </p:nvSpPr>
          <p:spPr>
            <a:xfrm>
              <a:off x="533400" y="3975735"/>
              <a:ext cx="476059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109085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4185285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3582" y="4221004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例7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3430" y="4562475"/>
              <a:ext cx="4101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 ~ N(μ, σ²)，μ 与 σ² 都未知，x₁, …, xₙ 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样本值，求 μ 与 σ² 的最大似然估计。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formula90"/>
              <p:cNvSpPr txBox="1">
                <a:spLocks noGrp="1"/>
              </p:cNvSpPr>
              <p:nvPr/>
            </p:nvSpPr>
            <p:spPr>
              <a:xfrm>
                <a:off x="5598795" y="1524000"/>
                <a:ext cx="6059805" cy="660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μ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2π</m:t>
                                  </m:r>
                                </m:e>
                              </m:rad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den>
                          </m:f>
                          <m:s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sSup>
                                    <m:e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e>
                                              <m:r>
                                                <a:rPr lang="zh-CN" sz="15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x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sz="15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i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μ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  <m:sSup>
                                    <m:e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formula91"/>
              <p:cNvSpPr txBox="1">
                <a:spLocks noGrp="1"/>
              </p:cNvSpPr>
              <p:nvPr/>
            </p:nvSpPr>
            <p:spPr>
              <a:xfrm>
                <a:off x="5598795" y="2374582"/>
                <a:ext cx="6059805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2π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num>
                            <m:den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p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num>
                            <m:den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  <m:sSup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nary>
                                <m:naryPr>
                                  <m:chr m:val="∑"/>
                                  <m:limLoc m:val="undOvr"/>
                                  <m:grow m:val="off"/>
                                  <m:subHide m:val="off"/>
                                  <m:supHide m:val="off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=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p>
                                <m:e>
                                  <m:sSup>
                                    <m:e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e>
                                              <m:r>
                                                <a:rPr lang="zh-CN" sz="150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x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sz="150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i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μ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formula92"/>
              <p:cNvSpPr txBox="1">
                <a:spLocks noGrp="1"/>
              </p:cNvSpPr>
              <p:nvPr/>
            </p:nvSpPr>
            <p:spPr>
              <a:xfrm>
                <a:off x="5598795" y="3193732"/>
                <a:ext cx="6059805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ln</m:t>
                          </m:r>
                        </m:fName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2π</m:t>
                              </m:r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ln</m:t>
                          </m:r>
                        </m:fName>
                        <m:e>
                          <m:s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s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μ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30" name="c2-callout-4"/>
          <p:cNvGrpSpPr/>
          <p:nvPr/>
        </p:nvGrpSpPr>
        <p:grpSpPr>
          <a:xfrm>
            <a:off x="5598795" y="4012882"/>
            <a:ext cx="6059805" cy="1279208"/>
            <a:chOff x="5598795" y="4012882"/>
            <a:chExt cx="6059805" cy="1279208"/>
          </a:xfrm>
        </p:grpSpPr>
        <p:sp>
          <p:nvSpPr>
            <p:cNvPr id="24" name="Rectangle 24"/>
            <p:cNvSpPr/>
            <p:nvPr/>
          </p:nvSpPr>
          <p:spPr>
            <a:xfrm>
              <a:off x="5598795" y="4012882"/>
              <a:ext cx="6059805" cy="1279208"/>
            </a:xfrm>
            <a:prstGeom prst="roundRect">
              <a:avLst>
                <a:gd name="adj" fmla="val 893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5803583" y="4551998"/>
              <a:ext cx="200026" cy="200025"/>
              <a:chOff x="5803583" y="4551998"/>
              <a:chExt cx="200026" cy="20002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5803583" y="455199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843321" y="459644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878037" y="470757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6105525" y="4409122"/>
              <a:ext cx="4939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 σ² 整体当作一个参数求偏导，比对 σ 求导少一层链式法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则；两种做法得到的估计相同（下一页的不变性）。</a:t>
              </a:r>
            </a:p>
          </p:txBody>
        </p:sp>
      </p:grpSp>
      <p:grpSp>
        <p:nvGrpSpPr>
          <p:cNvPr id="3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1" name="Rectangle 3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130" y="5991225"/>
              <a:ext cx="84065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 只出现在 Σ(xᵢ − μ)² 里，先对 μ 求偏导最简单；解出的 μ 与 σ² 无关，再代入第二个方程。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89773" cy="909257"/>
            <a:chOff x="520446" y="342900"/>
            <a:chExt cx="70897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最大似然估计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897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例7（续）：正态总体的最大似然估计与不变性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98"/>
              <p:cNvSpPr txBox="1">
                <a:spLocks noGrp="1"/>
              </p:cNvSpPr>
              <p:nvPr/>
            </p:nvSpPr>
            <p:spPr>
              <a:xfrm>
                <a:off x="533400" y="1524000"/>
                <a:ext cx="5842635" cy="59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e>
                          </m:func>
                        </m:num>
                        <m:den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μ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nμ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99"/>
              <p:cNvSpPr txBox="1">
                <a:spLocks noGrp="1"/>
              </p:cNvSpPr>
              <p:nvPr/>
            </p:nvSpPr>
            <p:spPr>
              <a:xfrm>
                <a:off x="533400" y="2311718"/>
                <a:ext cx="5842635" cy="59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e>
                          </m:func>
                        </m:num>
                        <m:den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p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μ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00"/>
              <p:cNvSpPr txBox="1">
                <a:spLocks noGrp="1"/>
              </p:cNvSpPr>
              <p:nvPr/>
            </p:nvSpPr>
            <p:spPr>
              <a:xfrm>
                <a:off x="533400" y="3099435"/>
                <a:ext cx="5842635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ˆ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μ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ba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p>
                        <m:e>
                          <m:acc>
                            <m:accPr>
                              <m:chr m:val="ˆ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</m:acc>
                        </m:e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bar>
                                    <m:barPr>
                                      <m:pos m:val="top"/>
                                      <m:ctrl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</m:bar>
                                </m:e>
                              </m:d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15" name="c1-callout-4"/>
          <p:cNvGrpSpPr/>
          <p:nvPr/>
        </p:nvGrpSpPr>
        <p:grpSpPr>
          <a:xfrm>
            <a:off x="533400" y="3918585"/>
            <a:ext cx="5842635" cy="1921192"/>
            <a:chOff x="533400" y="3918585"/>
            <a:chExt cx="5842635" cy="1921192"/>
          </a:xfrm>
        </p:grpSpPr>
        <p:sp>
          <p:nvSpPr>
            <p:cNvPr id="10" name="Rectangle 10"/>
            <p:cNvSpPr/>
            <p:nvPr/>
          </p:nvSpPr>
          <p:spPr>
            <a:xfrm>
              <a:off x="533400" y="3918585"/>
              <a:ext cx="5842635" cy="1921192"/>
            </a:xfrm>
            <a:prstGeom prst="roundRect">
              <a:avLst>
                <a:gd name="adj" fmla="val 594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38188" y="4778693"/>
              <a:ext cx="200026" cy="200026"/>
              <a:chOff x="738188" y="4778693"/>
              <a:chExt cx="200026" cy="20002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738188" y="477869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04863" y="485648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040130" y="4636770"/>
              <a:ext cx="48253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第一个方程先解出 μ，代入第二个方程再解 σ²。结果和例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 的矩估计相同。</a:t>
              </a:r>
            </a:p>
          </p:txBody>
        </p:sp>
      </p:grpSp>
      <p:grpSp>
        <p:nvGrpSpPr>
          <p:cNvPr id="23" name="c2-card-1"/>
          <p:cNvGrpSpPr/>
          <p:nvPr/>
        </p:nvGrpSpPr>
        <p:grpSpPr>
          <a:xfrm>
            <a:off x="6680835" y="1524000"/>
            <a:ext cx="4977765" cy="2116455"/>
            <a:chOff x="6680835" y="1524000"/>
            <a:chExt cx="4977765" cy="2116455"/>
          </a:xfrm>
        </p:grpSpPr>
        <p:sp>
          <p:nvSpPr>
            <p:cNvPr id="16" name="Rectangle 16"/>
            <p:cNvSpPr/>
            <p:nvPr/>
          </p:nvSpPr>
          <p:spPr>
            <a:xfrm>
              <a:off x="6680835" y="1524000"/>
              <a:ext cx="4977765" cy="2116455"/>
            </a:xfrm>
            <a:prstGeom prst="roundRect">
              <a:avLst>
                <a:gd name="adj" fmla="val 63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690360" y="1657350"/>
              <a:ext cx="47625" cy="184975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92848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19646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29512" y="176879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最大似然估计的不变性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20865" y="2129790"/>
              <a:ext cx="41109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u = u(θ) 是 θ 的函数，且有单值反函数。把 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的最大似然估计代入 u，就得到 u 的最大似然估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formula101"/>
                <p:cNvSpPr txBox="1">
                  <a:spLocks noGrp="1"/>
                </p:cNvSpPr>
                <p:nvPr/>
              </p:nvSpPr>
              <p:spPr>
                <a:xfrm>
                  <a:off x="6928485" y="3011805"/>
                  <a:ext cx="4520565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acc>
                          <m:accPr>
                            <m:chr m:val="ˆ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u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acc>
                              <m:accPr>
                                <m:chr m:val="ˆ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0" name="c2-card-2"/>
          <p:cNvGrpSpPr/>
          <p:nvPr/>
        </p:nvGrpSpPr>
        <p:grpSpPr>
          <a:xfrm>
            <a:off x="6680835" y="3830955"/>
            <a:ext cx="4977765" cy="2008822"/>
            <a:chOff x="6680835" y="3830955"/>
            <a:chExt cx="4977765" cy="2008822"/>
          </a:xfrm>
        </p:grpSpPr>
        <p:sp>
          <p:nvSpPr>
            <p:cNvPr id="24" name="Rectangle 24"/>
            <p:cNvSpPr/>
            <p:nvPr/>
          </p:nvSpPr>
          <p:spPr>
            <a:xfrm>
              <a:off x="6680835" y="3830955"/>
              <a:ext cx="4977765" cy="2008822"/>
            </a:xfrm>
            <a:prstGeom prst="roundRect">
              <a:avLst>
                <a:gd name="adj" fmla="val 66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90360" y="3964305"/>
              <a:ext cx="47625" cy="174212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928485" y="404050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19646" y="40762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应用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20865" y="4417695"/>
              <a:ext cx="4215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= √σ² 在 σ² &gt; 0 上有单值反函数，所以标准差的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最大似然估计为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formula102"/>
                <p:cNvSpPr txBox="1">
                  <a:spLocks noGrp="1"/>
                </p:cNvSpPr>
                <p:nvPr/>
              </p:nvSpPr>
              <p:spPr>
                <a:xfrm>
                  <a:off x="6928485" y="5013960"/>
                  <a:ext cx="4520565" cy="597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acc>
                          <m:accPr>
                            <m:chr m:val="ˆ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acc>
                                  <m:accPr>
                                    <m:chr m:val="ˆ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bar>
                                          <m:barPr>
                                            <m:pos m:val="top"/>
                                            <m:ctrlP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barPr>
                                          <m:e>
                                            <m: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</m:bar>
                                      </m:e>
                                    </m:d>
                                  </m:e>
                                  <m:sup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e>
                        </m:ra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89773" cy="909257"/>
            <a:chOff x="520446" y="342900"/>
            <a:chExt cx="70897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最大似然估计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897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例8：均匀分布的最大似然估计，似然方程失效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193982" cy="1209675"/>
            <a:chOff x="533400" y="1524000"/>
            <a:chExt cx="5193982" cy="1209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2005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6630" y="1750695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4628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 在 [a, b] 上服从均匀分布，a、b 未知，X₁, …, Xₙ 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样本。求 a、b 的最大似然估计。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formula115"/>
              <p:cNvSpPr txBox="1">
                <a:spLocks noGrp="1"/>
              </p:cNvSpPr>
              <p:nvPr/>
            </p:nvSpPr>
            <p:spPr>
              <a:xfrm>
                <a:off x="533400" y="2908935"/>
                <a:ext cx="5193982" cy="7534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e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b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a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e>
                                  </m:d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≥</m:t>
                              </m:r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</m:e>
                                  </m:d>
                                </m:sub>
                              </m:sSub>
                            </m:e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m:rPr>
                                  <m:nor m:val="on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其他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116"/>
              <p:cNvSpPr txBox="1">
                <a:spLocks noGrp="1"/>
              </p:cNvSpPr>
              <p:nvPr/>
            </p:nvSpPr>
            <p:spPr>
              <a:xfrm>
                <a:off x="533400" y="3836670"/>
                <a:ext cx="5193982" cy="4371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e>
                          </m:func>
                        </m:num>
                        <m:den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&gt;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e>
                          </m:func>
                        </m:num>
                        <m:den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1" name="c1-callout-4"/>
          <p:cNvGrpSpPr/>
          <p:nvPr/>
        </p:nvGrpSpPr>
        <p:grpSpPr>
          <a:xfrm>
            <a:off x="533400" y="4449128"/>
            <a:ext cx="5193982" cy="1241108"/>
            <a:chOff x="533400" y="4449128"/>
            <a:chExt cx="5193982" cy="1241108"/>
          </a:xfrm>
        </p:grpSpPr>
        <p:sp>
          <p:nvSpPr>
            <p:cNvPr id="15" name="Rectangle 15"/>
            <p:cNvSpPr/>
            <p:nvPr/>
          </p:nvSpPr>
          <p:spPr>
            <a:xfrm>
              <a:off x="533400" y="4449128"/>
              <a:ext cx="5193982" cy="1241108"/>
            </a:xfrm>
            <a:prstGeom prst="roundRect">
              <a:avLst>
                <a:gd name="adj" fmla="val 921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26129" y="4965501"/>
              <a:ext cx="224134" cy="192560"/>
              <a:chOff x="726129" y="4965501"/>
              <a:chExt cx="224134" cy="19256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38200" y="503586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26129" y="496550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38200" y="511365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892" y="4851082"/>
              <a:ext cx="416280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两个偏导数恒不为 0，方程组无解；而且 L 在 a = x₍₁₎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处有跳跃，不是连续函数。</a:t>
              </a:r>
            </a:p>
          </p:txBody>
        </p:sp>
      </p:grpSp>
      <p:grpSp>
        <p:nvGrpSpPr>
          <p:cNvPr id="35" name="c2-steps-1"/>
          <p:cNvGrpSpPr/>
          <p:nvPr/>
        </p:nvGrpSpPr>
        <p:grpSpPr>
          <a:xfrm>
            <a:off x="6032182" y="1533525"/>
            <a:ext cx="5396103" cy="1900714"/>
            <a:chOff x="6032182" y="1533525"/>
            <a:chExt cx="5396103" cy="1900714"/>
          </a:xfrm>
        </p:grpSpPr>
        <p:sp>
          <p:nvSpPr>
            <p:cNvPr id="22" name="Rectangle 22"/>
            <p:cNvSpPr/>
            <p:nvPr/>
          </p:nvSpPr>
          <p:spPr>
            <a:xfrm>
              <a:off x="6165532" y="1676400"/>
              <a:ext cx="19050" cy="13811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032182" y="232791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125806" y="24017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032182" y="29146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125806" y="29884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44424" y="1564957"/>
              <a:ext cx="960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 a 的方向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45567" y="1833086"/>
              <a:ext cx="498271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随 a 增大而增大，但 a 不能超过 x₍₁₎ = min{x₁, …, xₙ}，否则最小的观测值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落在区间外，L = 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44424" y="2359342"/>
              <a:ext cx="960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 b 的方向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45567" y="2627471"/>
              <a:ext cx="39689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随 b 减小而增大，但 b 不能小于 x₍ₙ₎ = max{x₁, …, xₙ}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44424" y="294608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45567" y="3214211"/>
              <a:ext cx="3617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x₍₁₎、b = x₍ₙ₎ 时 L 取最大值 1/(x₍ₙ₎ − x₍₁₎)ⁿ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formula117"/>
              <p:cNvSpPr txBox="1">
                <a:spLocks noGrp="1"/>
              </p:cNvSpPr>
              <p:nvPr/>
            </p:nvSpPr>
            <p:spPr>
              <a:xfrm>
                <a:off x="6032182" y="3602355"/>
                <a:ext cx="5626418" cy="4457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ˆ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limLow>
                            <m:limLowPr/>
                            <m: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lim>
                          </m:limLow>
                        </m:fName>
                        <m:e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func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acc>
                        <m:accPr>
                          <m:chr m:val="ˆ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d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limLow>
                            <m:limLowPr/>
                            <m: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lim>
                          </m:limLow>
                        </m:fName>
                        <m:e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42" name="c2-card-3"/>
          <p:cNvGrpSpPr/>
          <p:nvPr/>
        </p:nvGrpSpPr>
        <p:grpSpPr>
          <a:xfrm>
            <a:off x="6032182" y="4223385"/>
            <a:ext cx="5626418" cy="1466850"/>
            <a:chOff x="6032182" y="4223385"/>
            <a:chExt cx="5626418" cy="1466850"/>
          </a:xfrm>
        </p:grpSpPr>
        <p:sp>
          <p:nvSpPr>
            <p:cNvPr id="37" name="Rectangle 37"/>
            <p:cNvSpPr/>
            <p:nvPr/>
          </p:nvSpPr>
          <p:spPr>
            <a:xfrm>
              <a:off x="6032182" y="4223385"/>
              <a:ext cx="5626418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41708" y="4356735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62688" y="4415790"/>
              <a:ext cx="1395412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26102" y="4450080"/>
              <a:ext cx="12676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与例2 的矩估计对照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55830" y="4772978"/>
              <a:ext cx="472859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 2.6, 3.4, 4.1, 5.0, 5.9, 6.7：最大似然估计为 (2.6,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6.7)；矩估计为均值 4.617 ± √(3B₂) = 4.617 ± 2.444，即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(2.17, 7.06)。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3610"/>
              <a:ext cx="85553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矩估计的区间比样本范围宽，也可能窄到盖不住某个样本点；最大似然估计永远正好贴着最小值和最大值。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993184" cy="909257"/>
            <a:chOff x="520446" y="342900"/>
            <a:chExt cx="49931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最大似然估计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9931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例9：离散总体的 θ，先用矩估计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602105"/>
            <a:chOff x="533400" y="1524000"/>
            <a:chExt cx="5410200" cy="1602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3582" y="1769269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例9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7396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设总体 X 的分布律如下，0 &lt; θ &lt; 1/2 是未知参数。利用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样本值 3, 1, 3, 0, 3, 1, 2, 3，求 θ 的矩估计值与最大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似然估计值。</a:t>
              </a:r>
            </a:p>
          </p:txBody>
        </p:sp>
      </p:grpSp>
      <p:grpSp>
        <p:nvGrpSpPr>
          <p:cNvPr id="29" name="c1-table-2"/>
          <p:cNvGrpSpPr/>
          <p:nvPr/>
        </p:nvGrpSpPr>
        <p:grpSpPr>
          <a:xfrm>
            <a:off x="533400" y="3316605"/>
            <a:ext cx="5410200" cy="975360"/>
            <a:chOff x="533400" y="3316605"/>
            <a:chExt cx="5410200" cy="975360"/>
          </a:xfrm>
        </p:grpSpPr>
        <p:sp>
          <p:nvSpPr>
            <p:cNvPr id="13" name="Rectangle 13"/>
            <p:cNvSpPr/>
            <p:nvPr/>
          </p:nvSpPr>
          <p:spPr>
            <a:xfrm>
              <a:off x="533400" y="3316605"/>
              <a:ext cx="5410200" cy="48768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4227" y="345567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87638" y="345567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02075" y="345567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17465" y="345567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68073" y="345567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9220" y="39433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pₖ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34883" y="394335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θ²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11088" y="3943350"/>
              <a:ext cx="9138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2θ(1 − θ)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64711" y="394335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θ²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43678" y="3943350"/>
              <a:ext cx="5806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1 − 2θ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316605"/>
              <a:ext cx="5410200" cy="9753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408748" y="3316605"/>
              <a:ext cx="9525" cy="9753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288858" y="3316605"/>
              <a:ext cx="9525" cy="9753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838575" y="3316605"/>
              <a:ext cx="9525" cy="9753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718685" y="3316605"/>
              <a:ext cx="9525" cy="9753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6" name="c1-callout-3"/>
          <p:cNvGrpSpPr/>
          <p:nvPr/>
        </p:nvGrpSpPr>
        <p:grpSpPr>
          <a:xfrm>
            <a:off x="533400" y="4482465"/>
            <a:ext cx="5410200" cy="782955"/>
            <a:chOff x="533400" y="4482465"/>
            <a:chExt cx="5410200" cy="782955"/>
          </a:xfrm>
        </p:grpSpPr>
        <p:sp>
          <p:nvSpPr>
            <p:cNvPr id="30" name="Rectangle 30"/>
            <p:cNvSpPr/>
            <p:nvPr/>
          </p:nvSpPr>
          <p:spPr>
            <a:xfrm>
              <a:off x="533400" y="448246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4773930"/>
              <a:ext cx="200026" cy="200025"/>
              <a:chOff x="738188" y="4773930"/>
              <a:chExt cx="200026" cy="20002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477393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77926" y="481838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12642" y="492950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130" y="4631055"/>
              <a:ext cx="44634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四个概率之和为 θ² + 2θ − 2θ² + θ² + 1 − 2θ = 1，分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布律合法。</a:t>
              </a:r>
            </a:p>
          </p:txBody>
        </p:sp>
      </p:grpSp>
      <p:grpSp>
        <p:nvGrpSpPr>
          <p:cNvPr id="50" name="c2-steps-1"/>
          <p:cNvGrpSpPr/>
          <p:nvPr/>
        </p:nvGrpSpPr>
        <p:grpSpPr>
          <a:xfrm>
            <a:off x="6248400" y="1533525"/>
            <a:ext cx="4724476" cy="1878615"/>
            <a:chOff x="6248400" y="1533525"/>
            <a:chExt cx="4724476" cy="1878615"/>
          </a:xfrm>
        </p:grpSpPr>
        <p:sp>
          <p:nvSpPr>
            <p:cNvPr id="37" name="Rectangle 37"/>
            <p:cNvSpPr/>
            <p:nvPr/>
          </p:nvSpPr>
          <p:spPr>
            <a:xfrm>
              <a:off x="6381750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248400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42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248400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42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59880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总体期望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61023" y="1861661"/>
              <a:ext cx="4311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E(X) = 0·θ² + 1·2θ(1 − θ) + 2θ² + 3(1 − 2θ) = 3 − 4θ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59880" y="221837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样本均值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1023" y="2512219"/>
              <a:ext cx="34075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 + 1 + 3 + 0 + 3 + 1 + 2 + 3)/8 = 16/8 = 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59880" y="2868930"/>
              <a:ext cx="19260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3 − 4θ = 样本均值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61023" y="3162776"/>
              <a:ext cx="26062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 的矩估计量为 (3 − 样本均值)/4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formula119"/>
              <p:cNvSpPr txBox="1">
                <a:spLocks noGrp="1"/>
              </p:cNvSpPr>
              <p:nvPr/>
            </p:nvSpPr>
            <p:spPr>
              <a:xfrm>
                <a:off x="6248400" y="3590925"/>
                <a:ext cx="5410200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ˆ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bar>
                            <m:barPr>
                              <m:pos m:val="top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ar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bar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acc>
                        <m:accPr>
                          <m:chr m:val="ˆ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57" name="c2-callout-3"/>
          <p:cNvGrpSpPr/>
          <p:nvPr/>
        </p:nvGrpSpPr>
        <p:grpSpPr>
          <a:xfrm>
            <a:off x="6248400" y="4321492"/>
            <a:ext cx="5410200" cy="943928"/>
            <a:chOff x="6248400" y="4321492"/>
            <a:chExt cx="5410200" cy="943928"/>
          </a:xfrm>
        </p:grpSpPr>
        <p:sp>
          <p:nvSpPr>
            <p:cNvPr id="52" name="Rectangle 52"/>
            <p:cNvSpPr/>
            <p:nvPr/>
          </p:nvSpPr>
          <p:spPr>
            <a:xfrm>
              <a:off x="6248400" y="4321492"/>
              <a:ext cx="5410200" cy="943928"/>
            </a:xfrm>
            <a:prstGeom prst="roundRect">
              <a:avLst>
                <a:gd name="adj" fmla="val 1210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453188" y="4692968"/>
              <a:ext cx="200026" cy="200026"/>
              <a:chOff x="6453188" y="4692968"/>
              <a:chExt cx="200026" cy="20002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453188" y="46929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19863" y="477075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755130" y="4688205"/>
              <a:ext cx="35288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矩估计值 θ = 1/4，落在 (0, 1/2) 内。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58" name="Rectangle 58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5871210"/>
              <a:ext cx="200026" cy="200025"/>
              <a:chOff x="738188" y="5871210"/>
              <a:chExt cx="200026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77926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12642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130" y="5728335"/>
              <a:ext cx="98640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矩估计只用到样本均值 2；8 个观测值具体是哪几个数，对它没有影响。下一页的最大似然估计会用到每个值出现的次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84408" cy="909257"/>
            <a:chOff x="520446" y="342900"/>
            <a:chExt cx="59844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最大似然估计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844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例9（续）：最大似然估计值是 0.2829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24"/>
              <p:cNvSpPr txBox="1">
                <a:spLocks noGrp="1"/>
              </p:cNvSpPr>
              <p:nvPr/>
            </p:nvSpPr>
            <p:spPr>
              <a:xfrm>
                <a:off x="533400" y="1524000"/>
                <a:ext cx="595122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sSup>
                        <m:e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2θ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θ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s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2θ</m:t>
                              </m:r>
                            </m:e>
                          </m:d>
                        </m:e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4</m:t>
                      </m:r>
                      <m:s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sup>
                      </m:sSup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</m:d>
                        </m:e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2θ</m:t>
                              </m:r>
                            </m:e>
                          </m:d>
                        </m:e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125"/>
              <p:cNvSpPr txBox="1">
                <a:spLocks noGrp="1"/>
              </p:cNvSpPr>
              <p:nvPr/>
            </p:nvSpPr>
            <p:spPr>
              <a:xfrm>
                <a:off x="533400" y="2057400"/>
                <a:ext cx="595122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ln</m:t>
                          </m:r>
                        </m:fName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ln</m:t>
                          </m:r>
                        </m:fName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6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ln</m:t>
                          </m:r>
                        </m:fName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4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2θ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26"/>
              <p:cNvSpPr txBox="1">
                <a:spLocks noGrp="1"/>
              </p:cNvSpPr>
              <p:nvPr/>
            </p:nvSpPr>
            <p:spPr>
              <a:xfrm>
                <a:off x="533400" y="2609850"/>
                <a:ext cx="5951220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e>
                          </m:func>
                        </m:num>
                        <m:den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8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2θ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28θ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24</m:t>
                          </m:r>
                          <m:s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2θ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127"/>
              <p:cNvSpPr txBox="1">
                <a:spLocks noGrp="1"/>
              </p:cNvSpPr>
              <p:nvPr/>
            </p:nvSpPr>
            <p:spPr>
              <a:xfrm>
                <a:off x="533400" y="3263265"/>
                <a:ext cx="5951220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θ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7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13</m:t>
                              </m:r>
                            </m:e>
                          </m:rad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acc>
                        <m:accPr>
                          <m:chr m:val="ˆ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7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13</m:t>
                              </m:r>
                            </m:e>
                          </m:rad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0.2829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6" name="c1-card-5"/>
          <p:cNvGrpSpPr/>
          <p:nvPr/>
        </p:nvGrpSpPr>
        <p:grpSpPr>
          <a:xfrm>
            <a:off x="533400" y="3968115"/>
            <a:ext cx="5951220" cy="1602105"/>
            <a:chOff x="533400" y="3968115"/>
            <a:chExt cx="5951220" cy="1602105"/>
          </a:xfrm>
        </p:grpSpPr>
        <p:sp>
          <p:nvSpPr>
            <p:cNvPr id="11" name="Rectangle 11"/>
            <p:cNvSpPr/>
            <p:nvPr/>
          </p:nvSpPr>
          <p:spPr>
            <a:xfrm>
              <a:off x="533400" y="3968115"/>
              <a:ext cx="595122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10146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81050" y="4177665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7755" y="421338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驻点为什么就是最大点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3430" y="4554855"/>
              <a:ext cx="51206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在 (0, 1/2) 内连续可导，θ → 0 或 θ → 1/2 时 L → 0，区间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内又只有这一个驻点，所以它就是最大点。下一页把 L(θ) 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了出来。</a:t>
              </a:r>
            </a:p>
          </p:txBody>
        </p:sp>
      </p:grpSp>
      <p:grpSp>
        <p:nvGrpSpPr>
          <p:cNvPr id="30" name="c2-steps-1"/>
          <p:cNvGrpSpPr/>
          <p:nvPr/>
        </p:nvGrpSpPr>
        <p:grpSpPr>
          <a:xfrm>
            <a:off x="6789420" y="1533525"/>
            <a:ext cx="4388790" cy="1878615"/>
            <a:chOff x="6789420" y="1533525"/>
            <a:chExt cx="4388790" cy="1878615"/>
          </a:xfrm>
        </p:grpSpPr>
        <p:sp>
          <p:nvSpPr>
            <p:cNvPr id="17" name="Rectangle 17"/>
            <p:cNvSpPr/>
            <p:nvPr/>
          </p:nvSpPr>
          <p:spPr>
            <a:xfrm>
              <a:off x="6922770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678942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88304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789420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8304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789420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8304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00900" y="15678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数各值出现的次数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02043" y="1861661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出现 1 次，1 出现 2 次，2 出现 1 次，3 出现 4 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00900" y="221837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解二次方程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02043" y="2512219"/>
              <a:ext cx="37866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24θ² − 28θ + 6 = 0，两根约为 0.2829 和 0.8838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00900" y="286893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按范围取舍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02043" y="3162776"/>
              <a:ext cx="32007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0.8838 &gt; 1/2 舍去，得 θ = (7 − √13)/12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789420" y="3590925"/>
            <a:ext cx="4869180" cy="1979295"/>
            <a:chOff x="6789420" y="3590925"/>
            <a:chExt cx="4869180" cy="1979295"/>
          </a:xfrm>
        </p:grpSpPr>
        <p:sp>
          <p:nvSpPr>
            <p:cNvPr id="31" name="Rectangle 31"/>
            <p:cNvSpPr/>
            <p:nvPr/>
          </p:nvSpPr>
          <p:spPr>
            <a:xfrm>
              <a:off x="6789420" y="3590925"/>
              <a:ext cx="4869180" cy="1979295"/>
            </a:xfrm>
            <a:prstGeom prst="roundRect">
              <a:avLst>
                <a:gd name="adj" fmla="val 67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798945" y="3724275"/>
              <a:ext cx="47625" cy="17125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037070" y="380047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127278" y="3836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29450" y="4177665"/>
              <a:ext cx="38157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 (7 − √13)/12 ≈ 0.2809。√13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3.6056，(7 − 3.6056)/12 =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0.2829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，已用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prob_ch7_check.py 数值最大化 ln L 复核。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7" name="Rectangle 3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130" y="5991225"/>
              <a:ext cx="76885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分布律给成表格时，似然函数就是把每个观测值对应的概率连乘，相同的值合并成幂。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最大似然估计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把似然函数画出来，最大点一眼可见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8" name="likeA"/>
          <p:cNvGrpSpPr/>
          <p:nvPr/>
        </p:nvGrpSpPr>
        <p:grpSpPr>
          <a:xfrm>
            <a:off x="533400" y="1524000"/>
            <a:ext cx="5524500" cy="4762500"/>
            <a:chOff x="533400" y="1524000"/>
            <a:chExt cx="5524500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5245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423" y="1662589"/>
              <a:ext cx="25412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例9 的似然函数：峰顶在 0.2829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8566" y="1925002"/>
              <a:ext cx="37000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L(θ) = 4θ⁶(1 − θ)²(1 − 2θ)⁴，θ 只能在 (0, 1/2) 里取。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1295400" y="2656522"/>
              <a:ext cx="3810000" cy="1801178"/>
            </a:xfrm>
            <a:custGeom>
              <a:avLst/>
              <a:gdLst/>
              <a:ahLst/>
              <a:cxnLst/>
              <a:rect l="l" t="t" r="r" b="b"/>
              <a:pathLst>
                <a:path w="3810000" h="1801178">
                  <a:moveTo>
                    <a:pt x="0" y="1801178"/>
                  </a:moveTo>
                  <a:lnTo>
                    <a:pt x="0" y="1801178"/>
                  </a:lnTo>
                  <a:lnTo>
                    <a:pt x="38100" y="1801178"/>
                  </a:lnTo>
                  <a:lnTo>
                    <a:pt x="76200" y="1801178"/>
                  </a:lnTo>
                  <a:lnTo>
                    <a:pt x="114300" y="1801178"/>
                  </a:lnTo>
                  <a:lnTo>
                    <a:pt x="152400" y="1801178"/>
                  </a:lnTo>
                  <a:lnTo>
                    <a:pt x="190500" y="1801178"/>
                  </a:lnTo>
                  <a:lnTo>
                    <a:pt x="228600" y="1801178"/>
                  </a:lnTo>
                  <a:lnTo>
                    <a:pt x="266700" y="1801178"/>
                  </a:lnTo>
                  <a:lnTo>
                    <a:pt x="304800" y="1800225"/>
                  </a:lnTo>
                  <a:lnTo>
                    <a:pt x="342900" y="1800225"/>
                  </a:lnTo>
                  <a:lnTo>
                    <a:pt x="381000" y="1799273"/>
                  </a:lnTo>
                  <a:lnTo>
                    <a:pt x="419100" y="1798320"/>
                  </a:lnTo>
                  <a:lnTo>
                    <a:pt x="457200" y="1796415"/>
                  </a:lnTo>
                  <a:lnTo>
                    <a:pt x="495300" y="1793558"/>
                  </a:lnTo>
                  <a:lnTo>
                    <a:pt x="533400" y="1790700"/>
                  </a:lnTo>
                  <a:lnTo>
                    <a:pt x="571500" y="1785938"/>
                  </a:lnTo>
                  <a:lnTo>
                    <a:pt x="609600" y="1780223"/>
                  </a:lnTo>
                  <a:lnTo>
                    <a:pt x="647700" y="1772603"/>
                  </a:lnTo>
                  <a:lnTo>
                    <a:pt x="685800" y="1763078"/>
                  </a:lnTo>
                  <a:lnTo>
                    <a:pt x="723900" y="1751648"/>
                  </a:lnTo>
                  <a:lnTo>
                    <a:pt x="762000" y="1737360"/>
                  </a:lnTo>
                  <a:lnTo>
                    <a:pt x="800100" y="1721168"/>
                  </a:lnTo>
                  <a:lnTo>
                    <a:pt x="838200" y="1701165"/>
                  </a:lnTo>
                  <a:lnTo>
                    <a:pt x="876300" y="1678305"/>
                  </a:lnTo>
                  <a:lnTo>
                    <a:pt x="914400" y="1652588"/>
                  </a:lnTo>
                  <a:lnTo>
                    <a:pt x="952500" y="1623060"/>
                  </a:lnTo>
                  <a:lnTo>
                    <a:pt x="990600" y="1590675"/>
                  </a:lnTo>
                  <a:lnTo>
                    <a:pt x="1028700" y="1553528"/>
                  </a:lnTo>
                  <a:lnTo>
                    <a:pt x="1066800" y="1513523"/>
                  </a:lnTo>
                  <a:lnTo>
                    <a:pt x="1104900" y="1468755"/>
                  </a:lnTo>
                  <a:lnTo>
                    <a:pt x="1143000" y="1421130"/>
                  </a:lnTo>
                  <a:lnTo>
                    <a:pt x="1181100" y="1369695"/>
                  </a:lnTo>
                  <a:lnTo>
                    <a:pt x="1219200" y="1314450"/>
                  </a:lnTo>
                  <a:lnTo>
                    <a:pt x="1257300" y="1256348"/>
                  </a:lnTo>
                  <a:lnTo>
                    <a:pt x="1295400" y="1194435"/>
                  </a:lnTo>
                  <a:lnTo>
                    <a:pt x="1333500" y="1129665"/>
                  </a:lnTo>
                  <a:lnTo>
                    <a:pt x="1371600" y="1062990"/>
                  </a:lnTo>
                  <a:lnTo>
                    <a:pt x="1409700" y="994410"/>
                  </a:lnTo>
                  <a:lnTo>
                    <a:pt x="1447800" y="923925"/>
                  </a:lnTo>
                  <a:lnTo>
                    <a:pt x="1485900" y="852488"/>
                  </a:lnTo>
                  <a:lnTo>
                    <a:pt x="1524000" y="780098"/>
                  </a:lnTo>
                  <a:lnTo>
                    <a:pt x="1562100" y="707708"/>
                  </a:lnTo>
                  <a:lnTo>
                    <a:pt x="1600200" y="636270"/>
                  </a:lnTo>
                  <a:lnTo>
                    <a:pt x="1638300" y="565785"/>
                  </a:lnTo>
                  <a:lnTo>
                    <a:pt x="1676400" y="496253"/>
                  </a:lnTo>
                  <a:lnTo>
                    <a:pt x="1714500" y="429578"/>
                  </a:lnTo>
                  <a:lnTo>
                    <a:pt x="1752600" y="365760"/>
                  </a:lnTo>
                  <a:lnTo>
                    <a:pt x="1790700" y="305753"/>
                  </a:lnTo>
                  <a:lnTo>
                    <a:pt x="1828800" y="248603"/>
                  </a:lnTo>
                  <a:lnTo>
                    <a:pt x="1866900" y="197168"/>
                  </a:lnTo>
                  <a:lnTo>
                    <a:pt x="1905000" y="150495"/>
                  </a:lnTo>
                  <a:lnTo>
                    <a:pt x="1943100" y="109538"/>
                  </a:lnTo>
                  <a:lnTo>
                    <a:pt x="1981200" y="74295"/>
                  </a:lnTo>
                  <a:lnTo>
                    <a:pt x="2019300" y="45720"/>
                  </a:lnTo>
                  <a:lnTo>
                    <a:pt x="2057400" y="23812"/>
                  </a:lnTo>
                  <a:lnTo>
                    <a:pt x="2095500" y="8573"/>
                  </a:lnTo>
                  <a:lnTo>
                    <a:pt x="2133600" y="953"/>
                  </a:lnTo>
                  <a:lnTo>
                    <a:pt x="2171700" y="0"/>
                  </a:lnTo>
                  <a:lnTo>
                    <a:pt x="2209800" y="6668"/>
                  </a:lnTo>
                  <a:lnTo>
                    <a:pt x="2247900" y="20955"/>
                  </a:lnTo>
                  <a:lnTo>
                    <a:pt x="2286000" y="42862"/>
                  </a:lnTo>
                  <a:lnTo>
                    <a:pt x="2324100" y="71438"/>
                  </a:lnTo>
                  <a:lnTo>
                    <a:pt x="2362200" y="106680"/>
                  </a:lnTo>
                  <a:lnTo>
                    <a:pt x="2400300" y="148590"/>
                  </a:lnTo>
                  <a:lnTo>
                    <a:pt x="2438400" y="197168"/>
                  </a:lnTo>
                  <a:lnTo>
                    <a:pt x="2476500" y="251460"/>
                  </a:lnTo>
                  <a:lnTo>
                    <a:pt x="2514600" y="311468"/>
                  </a:lnTo>
                  <a:lnTo>
                    <a:pt x="2552700" y="375285"/>
                  </a:lnTo>
                  <a:lnTo>
                    <a:pt x="2590800" y="443865"/>
                  </a:lnTo>
                  <a:lnTo>
                    <a:pt x="2628900" y="516255"/>
                  </a:lnTo>
                  <a:lnTo>
                    <a:pt x="2667000" y="591503"/>
                  </a:lnTo>
                  <a:lnTo>
                    <a:pt x="2705100" y="668655"/>
                  </a:lnTo>
                  <a:lnTo>
                    <a:pt x="2743200" y="746760"/>
                  </a:lnTo>
                  <a:lnTo>
                    <a:pt x="2781300" y="826770"/>
                  </a:lnTo>
                  <a:lnTo>
                    <a:pt x="2819400" y="905828"/>
                  </a:lnTo>
                  <a:lnTo>
                    <a:pt x="2857500" y="984885"/>
                  </a:lnTo>
                  <a:lnTo>
                    <a:pt x="2895600" y="1062990"/>
                  </a:lnTo>
                  <a:lnTo>
                    <a:pt x="2933700" y="1138238"/>
                  </a:lnTo>
                  <a:lnTo>
                    <a:pt x="2971800" y="1211580"/>
                  </a:lnTo>
                  <a:lnTo>
                    <a:pt x="3009900" y="1281112"/>
                  </a:lnTo>
                  <a:lnTo>
                    <a:pt x="3048000" y="1347788"/>
                  </a:lnTo>
                  <a:lnTo>
                    <a:pt x="3086100" y="1409700"/>
                  </a:lnTo>
                  <a:lnTo>
                    <a:pt x="3124200" y="1467803"/>
                  </a:lnTo>
                  <a:lnTo>
                    <a:pt x="3162300" y="1520190"/>
                  </a:lnTo>
                  <a:lnTo>
                    <a:pt x="3200400" y="1568768"/>
                  </a:lnTo>
                  <a:lnTo>
                    <a:pt x="3238500" y="1611630"/>
                  </a:lnTo>
                  <a:lnTo>
                    <a:pt x="3276600" y="1649730"/>
                  </a:lnTo>
                  <a:lnTo>
                    <a:pt x="3314700" y="1682115"/>
                  </a:lnTo>
                  <a:lnTo>
                    <a:pt x="3352800" y="1710690"/>
                  </a:lnTo>
                  <a:lnTo>
                    <a:pt x="3390900" y="1733550"/>
                  </a:lnTo>
                  <a:lnTo>
                    <a:pt x="3429000" y="1752600"/>
                  </a:lnTo>
                  <a:lnTo>
                    <a:pt x="3467100" y="1767840"/>
                  </a:lnTo>
                  <a:lnTo>
                    <a:pt x="3505200" y="1779270"/>
                  </a:lnTo>
                  <a:lnTo>
                    <a:pt x="3543300" y="1787843"/>
                  </a:lnTo>
                  <a:lnTo>
                    <a:pt x="3581400" y="1793558"/>
                  </a:lnTo>
                  <a:lnTo>
                    <a:pt x="3619500" y="1797368"/>
                  </a:lnTo>
                  <a:lnTo>
                    <a:pt x="3657600" y="1799273"/>
                  </a:lnTo>
                  <a:lnTo>
                    <a:pt x="3695700" y="1800225"/>
                  </a:lnTo>
                  <a:lnTo>
                    <a:pt x="3733800" y="1801178"/>
                  </a:lnTo>
                  <a:lnTo>
                    <a:pt x="3771900" y="1801178"/>
                  </a:lnTo>
                  <a:lnTo>
                    <a:pt x="3810000" y="1801178"/>
                  </a:lnTo>
                  <a:lnTo>
                    <a:pt x="3810000" y="1801178"/>
                  </a:lnTo>
                  <a:close/>
                </a:path>
              </a:pathLst>
            </a:custGeom>
            <a:solidFill>
              <a:srgbClr val="D6DFF3"/>
            </a:solidFill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1295400" y="4457700"/>
              <a:ext cx="3857625" cy="9525"/>
            </a:xfrm>
            <a:custGeom>
              <a:avLst/>
              <a:gdLst/>
              <a:ahLst/>
              <a:cxnLst/>
              <a:rect l="l" t="t" r="r" b="b"/>
              <a:pathLst>
                <a:path w="3857625" h="9525">
                  <a:moveTo>
                    <a:pt x="0" y="0"/>
                  </a:moveTo>
                  <a:lnTo>
                    <a:pt x="385762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5153025" y="442769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3" name="Line 13"/>
            <p:cNvSpPr/>
            <p:nvPr/>
          </p:nvSpPr>
          <p:spPr>
            <a:xfrm>
              <a:off x="1295400" y="2409825"/>
              <a:ext cx="9525" cy="2047875"/>
            </a:xfrm>
            <a:custGeom>
              <a:avLst/>
              <a:gdLst/>
              <a:ahLst/>
              <a:cxnLst/>
              <a:rect l="l" t="t" r="r" b="b"/>
              <a:pathLst>
                <a:path w="9525" h="2047875">
                  <a:moveTo>
                    <a:pt x="0" y="204787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1265396" y="2343150"/>
              <a:ext cx="60008" cy="66675"/>
            </a:xfrm>
            <a:custGeom>
              <a:avLst/>
              <a:gdLst/>
              <a:ahLst/>
              <a:cxnLst/>
              <a:rect l="l" t="t" r="r" b="b"/>
              <a:pathLst>
                <a:path w="60008" h="66675">
                  <a:moveTo>
                    <a:pt x="30004" y="0"/>
                  </a:moveTo>
                  <a:lnTo>
                    <a:pt x="60008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61991" y="439197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3399" y="4514374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1295400" y="2656522"/>
              <a:ext cx="3810000" cy="1801178"/>
            </a:xfrm>
            <a:custGeom>
              <a:avLst/>
              <a:gdLst/>
              <a:ahLst/>
              <a:cxnLst/>
              <a:rect l="l" t="t" r="r" b="b"/>
              <a:pathLst>
                <a:path w="3810000" h="1801178">
                  <a:moveTo>
                    <a:pt x="0" y="1801178"/>
                  </a:moveTo>
                  <a:lnTo>
                    <a:pt x="38100" y="1801178"/>
                  </a:lnTo>
                  <a:lnTo>
                    <a:pt x="76200" y="1801178"/>
                  </a:lnTo>
                  <a:lnTo>
                    <a:pt x="114300" y="1801178"/>
                  </a:lnTo>
                  <a:lnTo>
                    <a:pt x="152400" y="1801178"/>
                  </a:lnTo>
                  <a:lnTo>
                    <a:pt x="190500" y="1801178"/>
                  </a:lnTo>
                  <a:lnTo>
                    <a:pt x="228600" y="1801178"/>
                  </a:lnTo>
                  <a:lnTo>
                    <a:pt x="266700" y="1801178"/>
                  </a:lnTo>
                  <a:lnTo>
                    <a:pt x="304800" y="1800225"/>
                  </a:lnTo>
                  <a:lnTo>
                    <a:pt x="342900" y="1800225"/>
                  </a:lnTo>
                  <a:lnTo>
                    <a:pt x="381000" y="1799273"/>
                  </a:lnTo>
                  <a:lnTo>
                    <a:pt x="419100" y="1798320"/>
                  </a:lnTo>
                  <a:lnTo>
                    <a:pt x="457200" y="1796415"/>
                  </a:lnTo>
                  <a:lnTo>
                    <a:pt x="495300" y="1793558"/>
                  </a:lnTo>
                  <a:lnTo>
                    <a:pt x="533400" y="1790700"/>
                  </a:lnTo>
                  <a:lnTo>
                    <a:pt x="571500" y="1785938"/>
                  </a:lnTo>
                  <a:lnTo>
                    <a:pt x="609600" y="1780223"/>
                  </a:lnTo>
                  <a:lnTo>
                    <a:pt x="647700" y="1772603"/>
                  </a:lnTo>
                  <a:lnTo>
                    <a:pt x="685800" y="1763078"/>
                  </a:lnTo>
                  <a:lnTo>
                    <a:pt x="723900" y="1751648"/>
                  </a:lnTo>
                  <a:lnTo>
                    <a:pt x="762000" y="1737360"/>
                  </a:lnTo>
                  <a:lnTo>
                    <a:pt x="800100" y="1721168"/>
                  </a:lnTo>
                  <a:lnTo>
                    <a:pt x="838200" y="1701165"/>
                  </a:lnTo>
                  <a:lnTo>
                    <a:pt x="876300" y="1678305"/>
                  </a:lnTo>
                  <a:lnTo>
                    <a:pt x="914400" y="1652588"/>
                  </a:lnTo>
                  <a:lnTo>
                    <a:pt x="952500" y="1623060"/>
                  </a:lnTo>
                  <a:lnTo>
                    <a:pt x="990600" y="1590675"/>
                  </a:lnTo>
                  <a:lnTo>
                    <a:pt x="1028700" y="1553528"/>
                  </a:lnTo>
                  <a:lnTo>
                    <a:pt x="1066800" y="1513523"/>
                  </a:lnTo>
                  <a:lnTo>
                    <a:pt x="1104900" y="1468755"/>
                  </a:lnTo>
                  <a:lnTo>
                    <a:pt x="1143000" y="1421130"/>
                  </a:lnTo>
                  <a:lnTo>
                    <a:pt x="1181100" y="1369695"/>
                  </a:lnTo>
                  <a:lnTo>
                    <a:pt x="1219200" y="1314450"/>
                  </a:lnTo>
                  <a:lnTo>
                    <a:pt x="1257300" y="1256348"/>
                  </a:lnTo>
                  <a:lnTo>
                    <a:pt x="1295400" y="1194435"/>
                  </a:lnTo>
                  <a:lnTo>
                    <a:pt x="1333500" y="1129665"/>
                  </a:lnTo>
                  <a:lnTo>
                    <a:pt x="1371600" y="1062990"/>
                  </a:lnTo>
                  <a:lnTo>
                    <a:pt x="1409700" y="994410"/>
                  </a:lnTo>
                  <a:lnTo>
                    <a:pt x="1447800" y="923925"/>
                  </a:lnTo>
                  <a:lnTo>
                    <a:pt x="1485900" y="852488"/>
                  </a:lnTo>
                  <a:lnTo>
                    <a:pt x="1524000" y="780098"/>
                  </a:lnTo>
                  <a:lnTo>
                    <a:pt x="1562100" y="707708"/>
                  </a:lnTo>
                  <a:lnTo>
                    <a:pt x="1600200" y="636270"/>
                  </a:lnTo>
                  <a:lnTo>
                    <a:pt x="1638300" y="565785"/>
                  </a:lnTo>
                  <a:lnTo>
                    <a:pt x="1676400" y="496253"/>
                  </a:lnTo>
                  <a:lnTo>
                    <a:pt x="1714500" y="429578"/>
                  </a:lnTo>
                  <a:lnTo>
                    <a:pt x="1752600" y="365760"/>
                  </a:lnTo>
                  <a:lnTo>
                    <a:pt x="1790700" y="305753"/>
                  </a:lnTo>
                  <a:lnTo>
                    <a:pt x="1828800" y="248603"/>
                  </a:lnTo>
                  <a:lnTo>
                    <a:pt x="1866900" y="197168"/>
                  </a:lnTo>
                  <a:lnTo>
                    <a:pt x="1905000" y="150495"/>
                  </a:lnTo>
                  <a:lnTo>
                    <a:pt x="1943100" y="109538"/>
                  </a:lnTo>
                  <a:lnTo>
                    <a:pt x="1981200" y="74295"/>
                  </a:lnTo>
                  <a:lnTo>
                    <a:pt x="2019300" y="45720"/>
                  </a:lnTo>
                  <a:lnTo>
                    <a:pt x="2057400" y="23812"/>
                  </a:lnTo>
                  <a:lnTo>
                    <a:pt x="2095500" y="8573"/>
                  </a:lnTo>
                  <a:lnTo>
                    <a:pt x="2133600" y="953"/>
                  </a:lnTo>
                  <a:lnTo>
                    <a:pt x="2171700" y="0"/>
                  </a:lnTo>
                  <a:lnTo>
                    <a:pt x="2209800" y="6668"/>
                  </a:lnTo>
                  <a:lnTo>
                    <a:pt x="2247900" y="20955"/>
                  </a:lnTo>
                  <a:lnTo>
                    <a:pt x="2286000" y="42862"/>
                  </a:lnTo>
                  <a:lnTo>
                    <a:pt x="2324100" y="71438"/>
                  </a:lnTo>
                  <a:lnTo>
                    <a:pt x="2362200" y="106680"/>
                  </a:lnTo>
                  <a:lnTo>
                    <a:pt x="2400300" y="148590"/>
                  </a:lnTo>
                  <a:lnTo>
                    <a:pt x="2438400" y="197168"/>
                  </a:lnTo>
                  <a:lnTo>
                    <a:pt x="2476500" y="251460"/>
                  </a:lnTo>
                  <a:lnTo>
                    <a:pt x="2514600" y="311468"/>
                  </a:lnTo>
                  <a:lnTo>
                    <a:pt x="2552700" y="375285"/>
                  </a:lnTo>
                  <a:lnTo>
                    <a:pt x="2590800" y="443865"/>
                  </a:lnTo>
                  <a:lnTo>
                    <a:pt x="2628900" y="516255"/>
                  </a:lnTo>
                  <a:lnTo>
                    <a:pt x="2667000" y="591503"/>
                  </a:lnTo>
                  <a:lnTo>
                    <a:pt x="2705100" y="668655"/>
                  </a:lnTo>
                  <a:lnTo>
                    <a:pt x="2743200" y="746760"/>
                  </a:lnTo>
                  <a:lnTo>
                    <a:pt x="2781300" y="826770"/>
                  </a:lnTo>
                  <a:lnTo>
                    <a:pt x="2819400" y="905828"/>
                  </a:lnTo>
                  <a:lnTo>
                    <a:pt x="2857500" y="984885"/>
                  </a:lnTo>
                  <a:lnTo>
                    <a:pt x="2895600" y="1062990"/>
                  </a:lnTo>
                  <a:lnTo>
                    <a:pt x="2933700" y="1138238"/>
                  </a:lnTo>
                  <a:lnTo>
                    <a:pt x="2971800" y="1211580"/>
                  </a:lnTo>
                  <a:lnTo>
                    <a:pt x="3009900" y="1281112"/>
                  </a:lnTo>
                  <a:lnTo>
                    <a:pt x="3048000" y="1347788"/>
                  </a:lnTo>
                  <a:lnTo>
                    <a:pt x="3086100" y="1409700"/>
                  </a:lnTo>
                  <a:lnTo>
                    <a:pt x="3124200" y="1467803"/>
                  </a:lnTo>
                  <a:lnTo>
                    <a:pt x="3162300" y="1520190"/>
                  </a:lnTo>
                  <a:lnTo>
                    <a:pt x="3200400" y="1568768"/>
                  </a:lnTo>
                  <a:lnTo>
                    <a:pt x="3238500" y="1611630"/>
                  </a:lnTo>
                  <a:lnTo>
                    <a:pt x="3276600" y="1649730"/>
                  </a:lnTo>
                  <a:lnTo>
                    <a:pt x="3314700" y="1682115"/>
                  </a:lnTo>
                  <a:lnTo>
                    <a:pt x="3352800" y="1710690"/>
                  </a:lnTo>
                  <a:lnTo>
                    <a:pt x="3390900" y="1733550"/>
                  </a:lnTo>
                  <a:lnTo>
                    <a:pt x="3429000" y="1752600"/>
                  </a:lnTo>
                  <a:lnTo>
                    <a:pt x="3467100" y="1767840"/>
                  </a:lnTo>
                  <a:lnTo>
                    <a:pt x="3505200" y="1779270"/>
                  </a:lnTo>
                  <a:lnTo>
                    <a:pt x="3543300" y="1787843"/>
                  </a:lnTo>
                  <a:lnTo>
                    <a:pt x="3581400" y="1793558"/>
                  </a:lnTo>
                  <a:lnTo>
                    <a:pt x="3619500" y="1797368"/>
                  </a:lnTo>
                  <a:lnTo>
                    <a:pt x="3657600" y="1799273"/>
                  </a:lnTo>
                  <a:lnTo>
                    <a:pt x="3695700" y="1800225"/>
                  </a:lnTo>
                  <a:lnTo>
                    <a:pt x="3733800" y="1801178"/>
                  </a:lnTo>
                  <a:lnTo>
                    <a:pt x="3771900" y="1801178"/>
                  </a:lnTo>
                  <a:lnTo>
                    <a:pt x="3810000" y="1801178"/>
                  </a:lnTo>
                </a:path>
              </a:pathLst>
            </a:custGeom>
            <a:noFill/>
            <a:ln w="21908">
              <a:solidFill>
                <a:srgbClr val="2F4B9A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2057400" y="44577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943607" y="453342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2819400" y="44577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705607" y="453342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0.2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581400" y="44577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467607" y="453342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0.3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4343400" y="44577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229607" y="453342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0.4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5105400" y="44577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991607" y="453342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1247775" y="3976688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32162" y="3914527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1247775" y="3495675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32162" y="3433743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1247775" y="3015615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132162" y="2952950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1247775" y="2534602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32162" y="247216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366647" y="2295049"/>
              <a:ext cx="6882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L(θ) × 10⁵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3450908" y="2655570"/>
              <a:ext cx="9525" cy="1802130"/>
            </a:xfrm>
            <a:custGeom>
              <a:avLst/>
              <a:gdLst/>
              <a:ahLst/>
              <a:cxnLst/>
              <a:rect l="l" t="t" r="r" b="b"/>
              <a:pathLst>
                <a:path w="9525" h="1802130">
                  <a:moveTo>
                    <a:pt x="0" y="180213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C2410C"/>
              </a:solidFill>
              <a:custDash>
                <a:ds d="277778" sp="222222"/>
              </a:custDash>
            </a:ln>
          </p:spPr>
        </p:sp>
        <p:sp>
          <p:nvSpPr>
            <p:cNvPr id="38" name="Ellipse 38"/>
            <p:cNvSpPr/>
            <p:nvPr/>
          </p:nvSpPr>
          <p:spPr>
            <a:xfrm>
              <a:off x="3403282" y="2607945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537175" y="2488816"/>
              <a:ext cx="106810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最大似然 0.2829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3200400" y="2807018"/>
              <a:ext cx="9525" cy="1650682"/>
            </a:xfrm>
            <a:custGeom>
              <a:avLst/>
              <a:gdLst/>
              <a:ahLst/>
              <a:cxnLst/>
              <a:rect l="l" t="t" r="r" b="b"/>
              <a:pathLst>
                <a:path w="9525" h="1650682">
                  <a:moveTo>
                    <a:pt x="0" y="1650682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0F7A68"/>
              </a:solidFill>
              <a:custDash>
                <a:ds d="312500" sp="250000"/>
              </a:custDash>
            </a:ln>
          </p:spPr>
        </p:sp>
        <p:sp>
          <p:nvSpPr>
            <p:cNvPr id="41" name="Ellipse 41"/>
            <p:cNvSpPr/>
            <p:nvPr/>
          </p:nvSpPr>
          <p:spPr>
            <a:xfrm>
              <a:off x="3157538" y="2764155"/>
              <a:ext cx="85725" cy="85725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392347" y="2553519"/>
              <a:ext cx="77509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1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矩估计 0.25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23900" y="4857750"/>
              <a:ext cx="5143500" cy="123825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33425" y="4962525"/>
              <a:ext cx="47625" cy="102870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895350" y="4962525"/>
              <a:ext cx="89535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84314" y="501586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看图读结论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89826" y="5273754"/>
              <a:ext cx="3361055" cy="612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L(0.25) ≈ 3.43 × 10⁻⁵，L(0.2829) ≈ 3.75 × 10⁻⁵。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矩估计只用了样本均值 2，最大似然用了每个观测值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各出现几次，两种方法给出的估计值不同是正常的。</a:t>
              </a:r>
            </a:p>
          </p:txBody>
        </p:sp>
      </p:grpSp>
      <p:grpSp>
        <p:nvGrpSpPr>
          <p:cNvPr id="83" name="likeB"/>
          <p:cNvGrpSpPr/>
          <p:nvPr/>
        </p:nvGrpSpPr>
        <p:grpSpPr>
          <a:xfrm>
            <a:off x="6210300" y="1524000"/>
            <a:ext cx="5448300" cy="4762500"/>
            <a:chOff x="6210300" y="1524000"/>
            <a:chExt cx="5448300" cy="4762500"/>
          </a:xfrm>
        </p:grpSpPr>
        <p:sp>
          <p:nvSpPr>
            <p:cNvPr id="49" name="Rectangle 49"/>
            <p:cNvSpPr/>
            <p:nvPr/>
          </p:nvSpPr>
          <p:spPr>
            <a:xfrm>
              <a:off x="6210300" y="1524000"/>
              <a:ext cx="54483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94323" y="166258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均匀分布：似然方程无解，只能看单调性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395466" y="1925002"/>
              <a:ext cx="3616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L(a, b) = 1/(b − a)ⁿ，前提是 [a, b] 盖住全部样本点。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7223760" y="2714625"/>
              <a:ext cx="3312795" cy="9525"/>
            </a:xfrm>
            <a:custGeom>
              <a:avLst/>
              <a:gdLst/>
              <a:ahLst/>
              <a:cxnLst/>
              <a:rect l="l" t="t" r="r" b="b"/>
              <a:pathLst>
                <a:path w="3312795" h="9525">
                  <a:moveTo>
                    <a:pt x="0" y="0"/>
                  </a:moveTo>
                  <a:lnTo>
                    <a:pt x="3312795" y="0"/>
                  </a:lnTo>
                </a:path>
              </a:pathLst>
            </a:custGeom>
            <a:noFill/>
            <a:ln w="32385">
              <a:solidFill>
                <a:srgbClr val="2F4B9A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7223760" y="2638425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1524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2F4B9A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10536555" y="2638425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1524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2F4B9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218807" y="246649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盖住了，但太宽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598753" y="2656999"/>
              <a:ext cx="7068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 = 1/7.4ⁿ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7850505" y="3286125"/>
              <a:ext cx="1835467" cy="9525"/>
            </a:xfrm>
            <a:custGeom>
              <a:avLst/>
              <a:gdLst/>
              <a:ahLst/>
              <a:cxnLst/>
              <a:rect l="l" t="t" r="r" b="b"/>
              <a:pathLst>
                <a:path w="1835467" h="9525">
                  <a:moveTo>
                    <a:pt x="0" y="0"/>
                  </a:moveTo>
                  <a:lnTo>
                    <a:pt x="1835467" y="0"/>
                  </a:lnTo>
                </a:path>
              </a:pathLst>
            </a:custGeom>
            <a:noFill/>
            <a:ln w="32385">
              <a:solidFill>
                <a:srgbClr val="F26B3A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7850505" y="3209925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1524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9685972" y="3209925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1524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845552" y="30379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端点贴着最小、最大值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748171" y="3228499"/>
              <a:ext cx="10125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 = 1/4.1ⁿ 最大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8029575" y="3857625"/>
              <a:ext cx="1969770" cy="9525"/>
            </a:xfrm>
            <a:custGeom>
              <a:avLst/>
              <a:gdLst/>
              <a:ahLst/>
              <a:cxnLst/>
              <a:rect l="l" t="t" r="r" b="b"/>
              <a:pathLst>
                <a:path w="1969770" h="9525">
                  <a:moveTo>
                    <a:pt x="0" y="0"/>
                  </a:moveTo>
                  <a:lnTo>
                    <a:pt x="1969770" y="0"/>
                  </a:lnTo>
                </a:path>
              </a:pathLst>
            </a:custGeom>
            <a:noFill/>
            <a:ln w="32385">
              <a:solidFill>
                <a:srgbClr val="B42318"/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8029575" y="3781425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1524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B42318"/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9999345" y="3781425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1524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B4231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024622" y="3609499"/>
              <a:ext cx="9113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漏掉了 x = 2.6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061543" y="3799999"/>
              <a:ext cx="3235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 = 0</a:t>
              </a:r>
            </a:p>
          </p:txBody>
        </p:sp>
        <p:sp>
          <p:nvSpPr>
            <p:cNvPr id="67" name="Line 67"/>
            <p:cNvSpPr/>
            <p:nvPr/>
          </p:nvSpPr>
          <p:spPr>
            <a:xfrm>
              <a:off x="6820852" y="2381250"/>
              <a:ext cx="4252912" cy="9525"/>
            </a:xfrm>
            <a:custGeom>
              <a:avLst/>
              <a:gdLst/>
              <a:ahLst/>
              <a:cxnLst/>
              <a:rect l="l" t="t" r="r" b="b"/>
              <a:pathLst>
                <a:path w="4252912" h="9525">
                  <a:moveTo>
                    <a:pt x="0" y="0"/>
                  </a:moveTo>
                  <a:lnTo>
                    <a:pt x="4252912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7802880" y="2333625"/>
              <a:ext cx="95250" cy="95250"/>
            </a:xfrm>
            <a:prstGeom prst="ellipse">
              <a:avLst/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8161020" y="2333625"/>
              <a:ext cx="95250" cy="95250"/>
            </a:xfrm>
            <a:prstGeom prst="ellipse">
              <a:avLst/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8474392" y="2333625"/>
              <a:ext cx="95250" cy="95250"/>
            </a:xfrm>
            <a:prstGeom prst="ellipse">
              <a:avLst/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8877300" y="2333625"/>
              <a:ext cx="95250" cy="95250"/>
            </a:xfrm>
            <a:prstGeom prst="ellipse">
              <a:avLst/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9280208" y="2333625"/>
              <a:ext cx="95250" cy="95250"/>
            </a:xfrm>
            <a:prstGeom prst="ellipse">
              <a:avLst/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9638348" y="2333625"/>
              <a:ext cx="95250" cy="95250"/>
            </a:xfrm>
            <a:prstGeom prst="ellipse">
              <a:avLst/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693176" y="214264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x₍₁₎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528643" y="214264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x₍ₙ₎</a:t>
              </a:r>
            </a:p>
          </p:txBody>
        </p:sp>
        <p:sp>
          <p:nvSpPr>
            <p:cNvPr id="76" name="Line 76"/>
            <p:cNvSpPr/>
            <p:nvPr/>
          </p:nvSpPr>
          <p:spPr>
            <a:xfrm>
              <a:off x="7850505" y="2381250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11430">
              <a:solidFill>
                <a:srgbClr val="D9DFEA"/>
              </a:solidFill>
              <a:custDash>
                <a:ds d="416667" sp="333333"/>
              </a:custDash>
            </a:ln>
          </p:spPr>
        </p:sp>
        <p:sp>
          <p:nvSpPr>
            <p:cNvPr id="77" name="Line 77"/>
            <p:cNvSpPr/>
            <p:nvPr/>
          </p:nvSpPr>
          <p:spPr>
            <a:xfrm>
              <a:off x="9685972" y="2381250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11430">
              <a:solidFill>
                <a:srgbClr val="D9DFEA"/>
              </a:solidFill>
              <a:custDash>
                <a:ds d="416667" sp="333333"/>
              </a:custDash>
            </a:ln>
          </p:spPr>
        </p:sp>
        <p:sp>
          <p:nvSpPr>
            <p:cNvPr id="78" name="Rectangle 78"/>
            <p:cNvSpPr/>
            <p:nvPr/>
          </p:nvSpPr>
          <p:spPr>
            <a:xfrm>
              <a:off x="6400800" y="4857750"/>
              <a:ext cx="5067300" cy="123825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6410325" y="4962525"/>
              <a:ext cx="47625" cy="102870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6572250" y="4962525"/>
              <a:ext cx="495300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673215" y="501586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推理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566726" y="5273754"/>
              <a:ext cx="3194939" cy="612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越大、b 越小，b − a 越短，L 越大；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但 a 不能超过最小观测值，b 不能小于最大观测值。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所以取 a = x₍₁₎、b = x₍ₙ₎，求导这条路走不通。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469130" cy="2997517"/>
            <a:chOff x="667512" y="1835468"/>
            <a:chExt cx="446913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估计量的评选标准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同一个参数有好几个估计量时，用什么尺子比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无偏性：平均起来不偏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有效性：无偏里面方差小的好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一致性：样本越多越准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估计量的评选标准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无偏性：估计值平均起来等于真值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193982" cy="2185035"/>
            <a:chOff x="533400" y="1524000"/>
            <a:chExt cx="5193982" cy="21850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185035"/>
            </a:xfrm>
            <a:prstGeom prst="roundRect">
              <a:avLst>
                <a:gd name="adj" fmla="val 61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1833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无偏估计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434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设由样本 X₁, …, Xₙ 构造的统计量是未知参数 θ 的估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计量（公式里记作带帽的 θ）。若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32"/>
                <p:cNvSpPr txBox="1">
                  <a:spLocks noGrp="1"/>
                </p:cNvSpPr>
                <p:nvPr/>
              </p:nvSpPr>
              <p:spPr>
                <a:xfrm>
                  <a:off x="781050" y="2726055"/>
                  <a:ext cx="4736782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acc>
                              <m:accPr>
                                <m:chr m:val="ˆ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acc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θ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3430" y="3265170"/>
              <a:ext cx="33369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则称这个估计量为 θ 的 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无偏估计量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899535"/>
            <a:ext cx="5193982" cy="1729740"/>
            <a:chOff x="533400" y="3899535"/>
            <a:chExt cx="5193982" cy="1729740"/>
          </a:xfrm>
        </p:grpSpPr>
        <p:sp>
          <p:nvSpPr>
            <p:cNvPr id="16" name="Rectangle 16"/>
            <p:cNvSpPr/>
            <p:nvPr/>
          </p:nvSpPr>
          <p:spPr>
            <a:xfrm>
              <a:off x="533400" y="3899535"/>
              <a:ext cx="5193982" cy="1729740"/>
            </a:xfrm>
            <a:prstGeom prst="roundRect">
              <a:avLst>
                <a:gd name="adj" fmla="val 77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032885"/>
              <a:ext cx="47625" cy="14630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410908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0557" y="414480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为什么这样要求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3430" y="448627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估计量是随机变量，不能要求每次的估计值都等于真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值；能要求的是在平均意义下没有系统偏差。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032182" y="1524000"/>
            <a:ext cx="5626418" cy="1900238"/>
            <a:chOff x="6032182" y="1524000"/>
            <a:chExt cx="5626418" cy="1900238"/>
          </a:xfrm>
        </p:grpSpPr>
        <p:sp>
          <p:nvSpPr>
            <p:cNvPr id="22" name="Rectangle 22"/>
            <p:cNvSpPr/>
            <p:nvPr/>
          </p:nvSpPr>
          <p:spPr>
            <a:xfrm>
              <a:off x="6032182" y="1524000"/>
              <a:ext cx="5626418" cy="1900238"/>
            </a:xfrm>
            <a:prstGeom prst="roundRect">
              <a:avLst>
                <a:gd name="adj" fmla="val 70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41708" y="1657350"/>
              <a:ext cx="47625" cy="16335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79832" y="1733550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69786" y="1769269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72212" y="2110740"/>
              <a:ext cx="4834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设总体 X 的均值为 μ，X₁, X₂, X₃ 是样本。证明下面两个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估计量都是 μ 的无偏估计：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133"/>
                <p:cNvSpPr txBox="1">
                  <a:spLocks noGrp="1"/>
                </p:cNvSpPr>
                <p:nvPr/>
              </p:nvSpPr>
              <p:spPr>
                <a:xfrm>
                  <a:off x="6279832" y="2707005"/>
                  <a:ext cx="5169218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acc>
                              <m:accPr>
                                <m:chr m:val="ˆ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e>
                            </m:acc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acc>
                              <m:accPr>
                                <m:chr m:val="ˆ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e>
                            </m:acc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</m:den>
                        </m:f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den>
                        </m:f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formula134"/>
              <p:cNvSpPr txBox="1">
                <a:spLocks noGrp="1"/>
              </p:cNvSpPr>
              <p:nvPr/>
            </p:nvSpPr>
            <p:spPr>
              <a:xfrm>
                <a:off x="6032182" y="3614738"/>
                <a:ext cx="5626418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acc>
                                <m:accPr>
                                  <m:chr m:val="ˆ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μ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formula135"/>
              <p:cNvSpPr txBox="1">
                <a:spLocks noGrp="1"/>
              </p:cNvSpPr>
              <p:nvPr/>
            </p:nvSpPr>
            <p:spPr>
              <a:xfrm>
                <a:off x="6032182" y="4167188"/>
                <a:ext cx="5626418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acc>
                                <m:accPr>
                                  <m:chr m:val="ˆ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μ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f>
                            <m:fPr>
                              <m:type m:val="bar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6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f>
                            <m:fPr>
                              <m:type m:val="bar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37" name="c2-callout-4"/>
          <p:cNvGrpSpPr/>
          <p:nvPr/>
        </p:nvGrpSpPr>
        <p:grpSpPr>
          <a:xfrm>
            <a:off x="6032182" y="4846320"/>
            <a:ext cx="5626418" cy="782955"/>
            <a:chOff x="6032182" y="4846320"/>
            <a:chExt cx="5626418" cy="782955"/>
          </a:xfrm>
        </p:grpSpPr>
        <p:sp>
          <p:nvSpPr>
            <p:cNvPr id="31" name="Rectangle 31"/>
            <p:cNvSpPr/>
            <p:nvPr/>
          </p:nvSpPr>
          <p:spPr>
            <a:xfrm>
              <a:off x="6032182" y="4846320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224912" y="5134093"/>
              <a:ext cx="224134" cy="192560"/>
              <a:chOff x="6224912" y="5134093"/>
              <a:chExt cx="224134" cy="1925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336983" y="520446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224912" y="513409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336983" y="52822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6538912" y="4994910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反过来，1/2·X₁ + 1/2·X₂ + 1/2·X₃ 的期望是 1.5μ，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系数和不为 1 就有偏。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8" name="Rectangle 3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130" y="5991225"/>
              <a:ext cx="87413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一般地，只要 k₁ + k₂ + … + kₙ = 1，k₁X₁ + … + kₙXₙ 就是 μ 的无偏估计，无偏估计有无穷多个。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43917" cy="909257"/>
            <a:chOff x="520446" y="342900"/>
            <a:chExt cx="67439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估计量的评选标准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439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例11：样本 k 阶矩是总体 k 阶矩的无偏估计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2598420"/>
            <a:chOff x="533400" y="1524000"/>
            <a:chExt cx="5626418" cy="25984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598420"/>
            </a:xfrm>
            <a:prstGeom prst="roundRect">
              <a:avLst>
                <a:gd name="adj" fmla="val 51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317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003" y="1769269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8920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设总体 X 的 k 阶矩 μₖ = E(Xᵏ) 存在，X₁, …, Xₙ（n &gt; 1）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是样本。证明不论 X 服从什么分布，Aₖ 都是 μₖ 的无偏估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计量。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3017520"/>
              <a:ext cx="42094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证明：各 Xᵢ 与 X 同分布，E(Xᵢᵏ) = μₖ，所以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38"/>
                <p:cNvSpPr txBox="1">
                  <a:spLocks noGrp="1"/>
                </p:cNvSpPr>
                <p:nvPr/>
              </p:nvSpPr>
              <p:spPr>
                <a:xfrm>
                  <a:off x="781050" y="3328035"/>
                  <a:ext cx="5169218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  <m:sup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p>
                                </m:sSubSup>
                              </m:e>
                            </m:nary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  <m:sup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p>
                                </m:sSubSup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9" name="c1-bullets-2"/>
          <p:cNvGrpSpPr/>
          <p:nvPr/>
        </p:nvGrpSpPr>
        <p:grpSpPr>
          <a:xfrm>
            <a:off x="533400" y="4337685"/>
            <a:ext cx="4346449" cy="638175"/>
            <a:chOff x="533400" y="4337685"/>
            <a:chExt cx="4346449" cy="638175"/>
          </a:xfrm>
        </p:grpSpPr>
        <p:sp>
          <p:nvSpPr>
            <p:cNvPr id="15" name="Freeform 15"/>
            <p:cNvSpPr/>
            <p:nvPr/>
          </p:nvSpPr>
          <p:spPr>
            <a:xfrm>
              <a:off x="533400" y="436911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3908" y="4337685"/>
              <a:ext cx="40959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1：样本均值是总体期望 E(X) 的无偏估计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533400" y="4713922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83908" y="4682490"/>
              <a:ext cx="2896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2：A₂ 是 E(X²) 的无偏估计</a:t>
              </a:r>
            </a:p>
          </p:txBody>
        </p:sp>
      </p:grpSp>
      <p:grpSp>
        <p:nvGrpSpPr>
          <p:cNvPr id="26" name="c1-callout-3"/>
          <p:cNvGrpSpPr/>
          <p:nvPr/>
        </p:nvGrpSpPr>
        <p:grpSpPr>
          <a:xfrm>
            <a:off x="533400" y="5107305"/>
            <a:ext cx="5626418" cy="782955"/>
            <a:chOff x="533400" y="5107305"/>
            <a:chExt cx="5626418" cy="782955"/>
          </a:xfrm>
        </p:grpSpPr>
        <p:sp>
          <p:nvSpPr>
            <p:cNvPr id="20" name="Rectangle 20"/>
            <p:cNvSpPr/>
            <p:nvPr/>
          </p:nvSpPr>
          <p:spPr>
            <a:xfrm>
              <a:off x="533400" y="5107305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5398770"/>
              <a:ext cx="200026" cy="200025"/>
              <a:chOff x="738188" y="5398770"/>
              <a:chExt cx="200026" cy="20002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539877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77926" y="544322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12642" y="555434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130" y="5255895"/>
              <a:ext cx="45777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证明只用了“各 Xᵢ 与 X 同分布”和期望的线性性，没有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用到独立性。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464618" y="1524000"/>
            <a:ext cx="5193982" cy="2495550"/>
            <a:chOff x="6464618" y="1524000"/>
            <a:chExt cx="5193982" cy="2495550"/>
          </a:xfrm>
        </p:grpSpPr>
        <p:sp>
          <p:nvSpPr>
            <p:cNvPr id="27" name="Rectangle 27"/>
            <p:cNvSpPr/>
            <p:nvPr/>
          </p:nvSpPr>
          <p:spPr>
            <a:xfrm>
              <a:off x="6464618" y="1524000"/>
              <a:ext cx="5193982" cy="2495550"/>
            </a:xfrm>
            <a:prstGeom prst="roundRect">
              <a:avLst>
                <a:gd name="adj" fmla="val 53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4142" y="1657350"/>
              <a:ext cx="47625" cy="22288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712268" y="173355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77825" y="17692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函数不继承无偏性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04648" y="2110740"/>
              <a:ext cx="44538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某个估计量是 θ 的无偏估计，把它代进函数 g 以后，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未必是 g(θ) 的无偏估计。以 X ~ N(μ, σ²) 为例，样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本均值无偏，但它的平方不是 μ² 的无偏估计：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formula139"/>
                <p:cNvSpPr txBox="1">
                  <a:spLocks noGrp="1"/>
                </p:cNvSpPr>
                <p:nvPr/>
              </p:nvSpPr>
              <p:spPr>
                <a:xfrm>
                  <a:off x="6712268" y="2992755"/>
                  <a:ext cx="4736782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bar>
                                  <m:barPr>
                                    <m:pos m:val="top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bar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ba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ba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bar>
                                      <m:barPr>
                                        <m:pos m:val="top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</m:ba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≠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3" name="TextBox 33"/>
            <p:cNvSpPr txBox="1"/>
            <p:nvPr/>
          </p:nvSpPr>
          <p:spPr>
            <a:xfrm>
              <a:off x="6704648" y="3575685"/>
              <a:ext cx="39831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多出来的 σ²/n 就是偏差，n 越大偏差越小。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6464618" y="4210050"/>
            <a:ext cx="5193982" cy="1680210"/>
            <a:chOff x="6464618" y="4210050"/>
            <a:chExt cx="5193982" cy="1680210"/>
          </a:xfrm>
        </p:grpSpPr>
        <p:sp>
          <p:nvSpPr>
            <p:cNvPr id="35" name="Rectangle 35"/>
            <p:cNvSpPr/>
            <p:nvPr/>
          </p:nvSpPr>
          <p:spPr>
            <a:xfrm>
              <a:off x="6464618" y="4210050"/>
              <a:ext cx="5193982" cy="1680210"/>
            </a:xfrm>
            <a:prstGeom prst="roundRect">
              <a:avLst>
                <a:gd name="adj" fmla="val 79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74142" y="4343400"/>
              <a:ext cx="47625" cy="14135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712268" y="441960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94576" y="44553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修正办法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04648" y="4796790"/>
              <a:ext cx="44443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E(S²) = σ²，所以把偏差减掉：样本均值的平方减去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S²/n，期望正好是 σ²/n + μ² − σ²/n = μ²，是 μ²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无偏估计。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55137" cy="909257"/>
            <a:chOff x="520446" y="342900"/>
            <a:chExt cx="60551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估计量的评选标准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551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样本方差 S² 除以 n − 1，正是为了无偏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42"/>
              <p:cNvSpPr txBox="1">
                <a:spLocks noGrp="1"/>
              </p:cNvSpPr>
              <p:nvPr/>
            </p:nvSpPr>
            <p:spPr>
              <a:xfrm>
                <a:off x="533400" y="1524000"/>
                <a:ext cx="5626418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bar>
                                    <m:barPr>
                                      <m:pos m:val="top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</m:bar>
                                </m:e>
                              </m:d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bar>
                                    <m:barPr>
                                      <m:pos m:val="top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</m:bar>
                                </m:e>
                              </m:d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21" name="c1-steps-2"/>
          <p:cNvGrpSpPr/>
          <p:nvPr/>
        </p:nvGrpSpPr>
        <p:grpSpPr>
          <a:xfrm>
            <a:off x="533400" y="2289810"/>
            <a:ext cx="4521601" cy="1878615"/>
            <a:chOff x="533400" y="2289810"/>
            <a:chExt cx="4521601" cy="1878615"/>
          </a:xfrm>
        </p:grpSpPr>
        <p:sp>
          <p:nvSpPr>
            <p:cNvPr id="8" name="Rectangle 8"/>
            <p:cNvSpPr/>
            <p:nvPr/>
          </p:nvSpPr>
          <p:spPr>
            <a:xfrm>
              <a:off x="666750" y="2432685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533400" y="228981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7024" y="23636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3400" y="294036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27024" y="30141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35909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7024" y="36647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4880" y="23241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展开平方和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6023" y="2617946"/>
              <a:ext cx="34873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Σ(Xᵢ − 样本均值)² = ΣXᵢ² − n·(样本均值)²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4880" y="297465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逐项求期望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3268504"/>
              <a:ext cx="41089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E(Xᵢ²) = σ² + μ²；样本均值的平方期望为 σ²/n + μ²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4880" y="36252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3919061"/>
              <a:ext cx="30887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n(σ² + μ²) − n(σ²/n + μ²) = (n − 1)σ²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formula143"/>
              <p:cNvSpPr txBox="1">
                <a:spLocks noGrp="1"/>
              </p:cNvSpPr>
              <p:nvPr/>
            </p:nvSpPr>
            <p:spPr>
              <a:xfrm>
                <a:off x="533400" y="4347210"/>
                <a:ext cx="5626418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sSup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≠</m:t>
                      </m:r>
                      <m:sSup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29" name="c1-callout-4"/>
          <p:cNvGrpSpPr/>
          <p:nvPr/>
        </p:nvGrpSpPr>
        <p:grpSpPr>
          <a:xfrm>
            <a:off x="533400" y="5052060"/>
            <a:ext cx="5626418" cy="1033462"/>
            <a:chOff x="533400" y="5052060"/>
            <a:chExt cx="5626418" cy="1033462"/>
          </a:xfrm>
        </p:grpSpPr>
        <p:sp>
          <p:nvSpPr>
            <p:cNvPr id="23" name="Rectangle 23"/>
            <p:cNvSpPr/>
            <p:nvPr/>
          </p:nvSpPr>
          <p:spPr>
            <a:xfrm>
              <a:off x="533400" y="5052060"/>
              <a:ext cx="5626418" cy="1033462"/>
            </a:xfrm>
            <a:prstGeom prst="roundRect">
              <a:avLst>
                <a:gd name="adj" fmla="val 110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26129" y="5464611"/>
              <a:ext cx="224134" cy="192560"/>
              <a:chOff x="726129" y="5464611"/>
              <a:chExt cx="224134" cy="19256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38200" y="553497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26129" y="546461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38200" y="561276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130" y="5325428"/>
              <a:ext cx="4606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 = 5 时 B₂ 平均只有 σ² 的 80%，小样本下这个偏差不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能忽略。</a:t>
              </a:r>
            </a:p>
          </p:txBody>
        </p:sp>
      </p:grpSp>
      <p:grpSp>
        <p:nvGrpSpPr>
          <p:cNvPr id="51" name="c2-table-1"/>
          <p:cNvGrpSpPr/>
          <p:nvPr/>
        </p:nvGrpSpPr>
        <p:grpSpPr>
          <a:xfrm>
            <a:off x="6464618" y="1524000"/>
            <a:ext cx="5193982" cy="1795462"/>
            <a:chOff x="6464618" y="1524000"/>
            <a:chExt cx="5193982" cy="1795462"/>
          </a:xfrm>
        </p:grpSpPr>
        <p:sp>
          <p:nvSpPr>
            <p:cNvPr id="30" name="Rectangle 30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7117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估计量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95712" y="1659731"/>
              <a:ext cx="1182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 σ² 是否无偏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3298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72441" y="2108359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S²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617142" y="1982152"/>
              <a:ext cx="153924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15441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273730" y="2108359"/>
              <a:ext cx="20290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除以 n − 1，任何 n 都无偏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64618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64618" y="242125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72441" y="255698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B₂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617142" y="2430780"/>
              <a:ext cx="1539240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715441" y="25569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273730" y="2556986"/>
              <a:ext cx="11329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平均偏小 σ²/n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64618" y="28660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72441" y="3005614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715441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渐近无偏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273730" y="3005614"/>
              <a:ext cx="15723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→ ∞ 时 E(B₂) → σ²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64618" y="1524000"/>
              <a:ext cx="5193982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60285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916114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rd-2"/>
          <p:cNvGrpSpPr/>
          <p:nvPr/>
        </p:nvGrpSpPr>
        <p:grpSpPr>
          <a:xfrm>
            <a:off x="6464618" y="3509962"/>
            <a:ext cx="5193982" cy="1602105"/>
            <a:chOff x="6464618" y="3509962"/>
            <a:chExt cx="5193982" cy="1602105"/>
          </a:xfrm>
        </p:grpSpPr>
        <p:sp>
          <p:nvSpPr>
            <p:cNvPr id="52" name="Rectangle 52"/>
            <p:cNvSpPr/>
            <p:nvPr/>
          </p:nvSpPr>
          <p:spPr>
            <a:xfrm>
              <a:off x="6464618" y="3509962"/>
              <a:ext cx="5193982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74142" y="3643312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712268" y="371951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94576" y="37552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补充推导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704648" y="4096702"/>
              <a:ext cx="45015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原课件只给了结论，左侧三步是补上的证明，对任何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方差存在的总体都成立。用一个三点分布、n = 3 枚举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全部样本，也得到 E(B₂) = (2/3)σ²。</a:t>
              </a:r>
            </a:p>
          </p:txBody>
        </p:sp>
      </p:grpSp>
      <p:grpSp>
        <p:nvGrpSpPr>
          <p:cNvPr id="63" name="c2-callout-3"/>
          <p:cNvGrpSpPr/>
          <p:nvPr/>
        </p:nvGrpSpPr>
        <p:grpSpPr>
          <a:xfrm>
            <a:off x="6464618" y="5302568"/>
            <a:ext cx="5193982" cy="782955"/>
            <a:chOff x="6464618" y="5302568"/>
            <a:chExt cx="5193982" cy="782955"/>
          </a:xfrm>
        </p:grpSpPr>
        <p:sp>
          <p:nvSpPr>
            <p:cNvPr id="58" name="Rectangle 58"/>
            <p:cNvSpPr/>
            <p:nvPr/>
          </p:nvSpPr>
          <p:spPr>
            <a:xfrm>
              <a:off x="6464618" y="5302568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669405" y="5594035"/>
              <a:ext cx="200023" cy="200023"/>
              <a:chOff x="6669405" y="5594035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669405" y="559403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802755" y="56607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971348" y="5451158"/>
              <a:ext cx="4225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求 σ² 的无偏估计用 S²；矩估计和正态的最大似然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估计给出的 B₂ 是有偏的。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07834" cy="909257"/>
            <a:chOff x="520446" y="342900"/>
            <a:chExt cx="69078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估计量的评选标准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078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例12：两组样本合并估计 μ，权重按样本量分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4760595" cy="3034665"/>
            <a:chOff x="533400" y="1524000"/>
            <a:chExt cx="4760595" cy="30346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3034665"/>
            </a:xfrm>
            <a:prstGeom prst="roundRect">
              <a:avLst>
                <a:gd name="adj" fmla="val 43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7679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003" y="1769269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1300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总体均值为 μ、方差为 σ²。独立地抽取两组样本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X₁, …, Xₘ 与 X′₁, …, X′ₙ，用两组的样本均值加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权组合：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49"/>
                <p:cNvSpPr txBox="1">
                  <a:spLocks noGrp="1"/>
                </p:cNvSpPr>
                <p:nvPr/>
              </p:nvSpPr>
              <p:spPr>
                <a:xfrm>
                  <a:off x="781050" y="2992755"/>
                  <a:ext cx="4303395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acc>
                          <m:accPr>
                            <m:chr m:val="ˆ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bar>
                          <m:barPr>
                            <m:pos m:val="top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ba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bar>
                              <m:barPr>
                                <m:pos m:val="top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ba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73430" y="3493770"/>
              <a:ext cx="42658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k、k′ 满足什么条件时它是 μ 的无偏估计？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3829050"/>
              <a:ext cx="3987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k、k′ 取何值时，(1) 中的无偏估计量方差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最小？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4749165"/>
            <a:ext cx="4760595" cy="1316355"/>
            <a:chOff x="533400" y="4749165"/>
            <a:chExt cx="4760595" cy="1316355"/>
          </a:xfrm>
        </p:grpSpPr>
        <p:sp>
          <p:nvSpPr>
            <p:cNvPr id="16" name="Rectangle 16"/>
            <p:cNvSpPr/>
            <p:nvPr/>
          </p:nvSpPr>
          <p:spPr>
            <a:xfrm>
              <a:off x="533400" y="4749165"/>
              <a:ext cx="476059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882515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495871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7308" y="499443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读结果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3430" y="5335905"/>
              <a:ext cx="4025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最优权重正比于样本量，合起来就是把 m + n 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观测值直接求平均，最小方差为 σ²/(m + n)。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formula150"/>
              <p:cNvSpPr txBox="1">
                <a:spLocks noGrp="1"/>
              </p:cNvSpPr>
              <p:nvPr/>
            </p:nvSpPr>
            <p:spPr>
              <a:xfrm>
                <a:off x="5598795" y="1524000"/>
                <a:ext cx="605980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acc>
                            <m:accPr>
                              <m:chr m:val="ˆ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</m:acc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⟺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p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formula151"/>
              <p:cNvSpPr txBox="1">
                <a:spLocks noGrp="1"/>
              </p:cNvSpPr>
              <p:nvPr/>
            </p:nvSpPr>
            <p:spPr>
              <a:xfrm>
                <a:off x="5598795" y="2095500"/>
                <a:ext cx="6059805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e>
                      </m:d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acc>
                            <m:accPr>
                              <m:chr m:val="ˆ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</m:acc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′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p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e>
                                <m:sup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f>
                            <m:fPr>
                              <m:type m:val="bar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den>
                          </m:f>
                        </m:e>
                      </m:d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formula152"/>
              <p:cNvSpPr txBox="1">
                <a:spLocks noGrp="1"/>
              </p:cNvSpPr>
              <p:nvPr/>
            </p:nvSpPr>
            <p:spPr>
              <a:xfrm>
                <a:off x="5598795" y="2774632"/>
                <a:ext cx="6059805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ˆ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μ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nk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mk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mn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formula153"/>
              <p:cNvSpPr txBox="1">
                <a:spLocks noGrp="1"/>
              </p:cNvSpPr>
              <p:nvPr/>
            </p:nvSpPr>
            <p:spPr>
              <a:xfrm>
                <a:off x="5598795" y="3453765"/>
                <a:ext cx="6059805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31" name="c2-card-5"/>
          <p:cNvGrpSpPr/>
          <p:nvPr/>
        </p:nvGrpSpPr>
        <p:grpSpPr>
          <a:xfrm>
            <a:off x="5598795" y="4184332"/>
            <a:ext cx="6059805" cy="1881188"/>
            <a:chOff x="5598795" y="4184332"/>
            <a:chExt cx="6059805" cy="1881188"/>
          </a:xfrm>
        </p:grpSpPr>
        <p:sp>
          <p:nvSpPr>
            <p:cNvPr id="26" name="Rectangle 26"/>
            <p:cNvSpPr/>
            <p:nvPr/>
          </p:nvSpPr>
          <p:spPr>
            <a:xfrm>
              <a:off x="5598795" y="4184332"/>
              <a:ext cx="6059805" cy="1881188"/>
            </a:xfrm>
            <a:prstGeom prst="roundRect">
              <a:avLst>
                <a:gd name="adj" fmla="val 70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608320" y="4317682"/>
              <a:ext cx="47625" cy="161448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846445" y="4393882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24804" y="44296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验证与数值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838825" y="4771072"/>
              <a:ext cx="52635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二阶导数 2σ²(1/m + 1/n) &gt; 0，驻点是最小点。取 m = 4、n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6：最优 k = 0.4，方差 0.1σ²；若两组各占一半，方差为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0.104σ²。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估计量的评选标准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有效性：同是无偏，方差小的更有效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4977765" cy="1899285"/>
            <a:chOff x="533400" y="1524000"/>
            <a:chExt cx="4977765" cy="18992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899285"/>
            </a:xfrm>
            <a:prstGeom prst="roundRect">
              <a:avLst>
                <a:gd name="adj" fmla="val 70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3258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更有效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2860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设下式中的两个估计量都是 θ 的无偏估计量，若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57"/>
                <p:cNvSpPr txBox="1">
                  <a:spLocks noGrp="1"/>
                </p:cNvSpPr>
                <p:nvPr/>
              </p:nvSpPr>
              <p:spPr>
                <a:xfrm>
                  <a:off x="781050" y="2440305"/>
                  <a:ext cx="4520565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acc>
                                  <m:accPr>
                                    <m:chr m:val="ˆ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acc>
                                  <m:accPr>
                                    <m:chr m:val="ˆ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3430" y="2979420"/>
              <a:ext cx="27009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则称第一个比第二个 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更有效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2" name="c1-callout-2"/>
          <p:cNvGrpSpPr/>
          <p:nvPr/>
        </p:nvGrpSpPr>
        <p:grpSpPr>
          <a:xfrm>
            <a:off x="533400" y="3613785"/>
            <a:ext cx="4977765" cy="1450658"/>
            <a:chOff x="533400" y="3613785"/>
            <a:chExt cx="4977765" cy="1450658"/>
          </a:xfrm>
        </p:grpSpPr>
        <p:sp>
          <p:nvSpPr>
            <p:cNvPr id="16" name="Rectangle 16"/>
            <p:cNvSpPr/>
            <p:nvPr/>
          </p:nvSpPr>
          <p:spPr>
            <a:xfrm>
              <a:off x="533400" y="3613785"/>
              <a:ext cx="4977765" cy="1450658"/>
            </a:xfrm>
            <a:prstGeom prst="roundRect">
              <a:avLst>
                <a:gd name="adj" fmla="val 787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26129" y="4234933"/>
              <a:ext cx="224134" cy="192560"/>
              <a:chOff x="726129" y="4234933"/>
              <a:chExt cx="224134" cy="19256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38200" y="430530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26129" y="423493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38200" y="43830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130" y="4096702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先要都无偏，比方差才有意义；有偏的估计量不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参加这项比较。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5815965" y="1524000"/>
            <a:ext cx="5842635" cy="1316355"/>
            <a:chOff x="5815965" y="1524000"/>
            <a:chExt cx="5842635" cy="1316355"/>
          </a:xfrm>
        </p:grpSpPr>
        <p:sp>
          <p:nvSpPr>
            <p:cNvPr id="23" name="Rectangle 23"/>
            <p:cNvSpPr/>
            <p:nvPr/>
          </p:nvSpPr>
          <p:spPr>
            <a:xfrm>
              <a:off x="5815965" y="1524000"/>
              <a:ext cx="584263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825490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63615" y="1733550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153568" y="1769269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55995" y="2110740"/>
              <a:ext cx="5149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总体均值为 μ、方差为 σ²，X₁, X₂, X₃ 是样本。例10 中的两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个无偏估计 X₁ 与 X₁/2 + X₂/6 + X₃/3 哪个更有效？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formula158"/>
              <p:cNvSpPr txBox="1">
                <a:spLocks noGrp="1"/>
              </p:cNvSpPr>
              <p:nvPr/>
            </p:nvSpPr>
            <p:spPr>
              <a:xfrm>
                <a:off x="5815965" y="3030855"/>
                <a:ext cx="584263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acc>
                                <m:accPr>
                                  <m:chr m:val="ˆ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μ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formula159"/>
              <p:cNvSpPr txBox="1">
                <a:spLocks noGrp="1"/>
              </p:cNvSpPr>
              <p:nvPr/>
            </p:nvSpPr>
            <p:spPr>
              <a:xfrm>
                <a:off x="5815965" y="3602355"/>
                <a:ext cx="5842635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acc>
                                <m:accPr>
                                  <m:chr m:val="ˆ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μ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den>
                      </m:f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36</m:t>
                          </m:r>
                        </m:den>
                      </m:f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9</m:t>
                          </m:r>
                        </m:den>
                      </m:f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14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36</m:t>
                          </m:r>
                        </m:den>
                      </m:f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7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18</m:t>
                          </m:r>
                        </m:den>
                      </m:f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36" name="c2-callout-4"/>
          <p:cNvGrpSpPr/>
          <p:nvPr/>
        </p:nvGrpSpPr>
        <p:grpSpPr>
          <a:xfrm>
            <a:off x="5815965" y="4281488"/>
            <a:ext cx="5842635" cy="782955"/>
            <a:chOff x="5815965" y="4281488"/>
            <a:chExt cx="5842635" cy="782955"/>
          </a:xfrm>
        </p:grpSpPr>
        <p:sp>
          <p:nvSpPr>
            <p:cNvPr id="31" name="Rectangle 31"/>
            <p:cNvSpPr/>
            <p:nvPr/>
          </p:nvSpPr>
          <p:spPr>
            <a:xfrm>
              <a:off x="5815965" y="4281488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020753" y="4572953"/>
              <a:ext cx="200026" cy="200026"/>
              <a:chOff x="6020753" y="4572953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020753" y="457295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087428" y="465074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322695" y="4430078"/>
              <a:ext cx="48825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7σ²/18 &lt; σ²，所以第二个估计量更有效。系数要平方后再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乘方差，这一步最容易漏。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7" name="Rectangle 3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130" y="5991225"/>
              <a:ext cx="98593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三个系数都取 1/3（即样本均值）时方差是 σ²/3 ≈ 0.333σ²，比 7σ²/18 ≈ 0.389σ² 还小，例14 说明了原因。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418934" cy="909257"/>
            <a:chOff x="520446" y="342900"/>
            <a:chExt cx="94189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估计量的评选标准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4189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例14：所有系数和为 1 的线性无偏估计里，样本均值方差最小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760595" cy="1602105"/>
            <a:chOff x="533400" y="1524000"/>
            <a:chExt cx="4760595" cy="1602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003" y="1769269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015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总体均值为 μ、方差为 σ²，X₁, …, Xₙ 是样本。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 μ 的两个无偏估计：样本均值与 ΣkᵢXᵢ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（Σkᵢ = 1），谁更有效。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316605"/>
            <a:ext cx="4760595" cy="2135505"/>
            <a:chOff x="533400" y="3316605"/>
            <a:chExt cx="4760595" cy="2135505"/>
          </a:xfrm>
        </p:grpSpPr>
        <p:sp>
          <p:nvSpPr>
            <p:cNvPr id="13" name="Rectangle 13"/>
            <p:cNvSpPr/>
            <p:nvPr/>
          </p:nvSpPr>
          <p:spPr>
            <a:xfrm>
              <a:off x="533400" y="3316605"/>
              <a:ext cx="4760595" cy="2135505"/>
            </a:xfrm>
            <a:prstGeom prst="roundRect">
              <a:avLst>
                <a:gd name="adj" fmla="val 62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449955"/>
              <a:ext cx="47625" cy="18688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352615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1258" y="35618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3430" y="3903345"/>
              <a:ext cx="4072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原课件最后一步写成严格的“&lt;”。当 kᵢ 全取 1/n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 ΣkᵢXᵢ 就是样本均值，两边相等，应写“≤”。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5598795" y="1524000"/>
            <a:ext cx="6059805" cy="1316355"/>
            <a:chOff x="5598795" y="1524000"/>
            <a:chExt cx="6059805" cy="1316355"/>
          </a:xfrm>
        </p:grpSpPr>
        <p:sp>
          <p:nvSpPr>
            <p:cNvPr id="19" name="Rectangle 19"/>
            <p:cNvSpPr/>
            <p:nvPr/>
          </p:nvSpPr>
          <p:spPr>
            <a:xfrm>
              <a:off x="5598795" y="1524000"/>
              <a:ext cx="605980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608320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846445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24804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关键不等式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38825" y="2110740"/>
              <a:ext cx="53016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由柯西-施瓦茨不等式，对任意实数 kᵢ 有 (Σkᵢ)² ≤ nΣkᵢ²，等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号当且仅当各 kᵢ 相等。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formula162"/>
              <p:cNvSpPr txBox="1">
                <a:spLocks noGrp="1"/>
              </p:cNvSpPr>
              <p:nvPr/>
            </p:nvSpPr>
            <p:spPr>
              <a:xfrm>
                <a:off x="5598795" y="3030855"/>
                <a:ext cx="6059805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acc>
                                <m:accPr>
                                  <m:chr m:val="ˆ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μ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grow m:val="off"/>
                                  <m:subHide m:val="off"/>
                                  <m:supHide m:val="off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=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p>
                                <m:e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formula163"/>
              <p:cNvSpPr txBox="1">
                <a:spLocks noGrp="1"/>
              </p:cNvSpPr>
              <p:nvPr/>
            </p:nvSpPr>
            <p:spPr>
              <a:xfrm>
                <a:off x="5598795" y="3850005"/>
                <a:ext cx="6059805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sSup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acc>
                                <m:accPr>
                                  <m:chr m:val="ˆ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μ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2" name="c2-callout-4"/>
          <p:cNvGrpSpPr/>
          <p:nvPr/>
        </p:nvGrpSpPr>
        <p:grpSpPr>
          <a:xfrm>
            <a:off x="5598795" y="4669155"/>
            <a:ext cx="6059805" cy="782955"/>
            <a:chOff x="5598795" y="4669155"/>
            <a:chExt cx="6059805" cy="782955"/>
          </a:xfrm>
        </p:grpSpPr>
        <p:sp>
          <p:nvSpPr>
            <p:cNvPr id="27" name="Rectangle 27"/>
            <p:cNvSpPr/>
            <p:nvPr/>
          </p:nvSpPr>
          <p:spPr>
            <a:xfrm>
              <a:off x="5598795" y="4669155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5803583" y="4960620"/>
              <a:ext cx="200026" cy="200026"/>
              <a:chOff x="5803583" y="4960620"/>
              <a:chExt cx="200026" cy="20002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5803583" y="49606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870258" y="503840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6105525" y="4817745"/>
              <a:ext cx="50634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等号只在 kᵢ = 1/n 时成立。所以系数不全相等的线性无偏估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计都不如样本均值有效。</a:t>
              </a:r>
            </a:p>
          </p:txBody>
        </p:sp>
      </p:grpSp>
      <p:grpSp>
        <p:nvGrpSpPr>
          <p:cNvPr id="3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3" name="Rectangle 3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991225"/>
              <a:ext cx="69919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样本均值是 μ 的所有线性无偏估计里方差最小的一个，这是例13 的一般形式。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估计量的评选标准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无偏看中心，有效看胖瘦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effA"/>
          <p:cNvGrpSpPr/>
          <p:nvPr/>
        </p:nvGrpSpPr>
        <p:grpSpPr>
          <a:xfrm>
            <a:off x="533400" y="1524000"/>
            <a:ext cx="5524500" cy="4762500"/>
            <a:chOff x="533400" y="1524000"/>
            <a:chExt cx="5524500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5245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423" y="166258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两个无偏估计：中心相同，胖瘦不同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8566" y="1925002"/>
              <a:ext cx="3144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总体取 N(μ, 1) 画图，横轴是估计值减去真值 μ。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1164908" y="2627948"/>
              <a:ext cx="3975735" cy="1810703"/>
            </a:xfrm>
            <a:custGeom>
              <a:avLst/>
              <a:gdLst/>
              <a:ahLst/>
              <a:cxnLst/>
              <a:rect l="l" t="t" r="r" b="b"/>
              <a:pathLst>
                <a:path w="3975735" h="1810703">
                  <a:moveTo>
                    <a:pt x="0" y="1810703"/>
                  </a:moveTo>
                  <a:lnTo>
                    <a:pt x="0" y="1810703"/>
                  </a:lnTo>
                  <a:lnTo>
                    <a:pt x="30480" y="1810703"/>
                  </a:lnTo>
                  <a:lnTo>
                    <a:pt x="60007" y="1810703"/>
                  </a:lnTo>
                  <a:lnTo>
                    <a:pt x="90488" y="1810703"/>
                  </a:lnTo>
                  <a:lnTo>
                    <a:pt x="120968" y="1810703"/>
                  </a:lnTo>
                  <a:lnTo>
                    <a:pt x="150495" y="1810703"/>
                  </a:lnTo>
                  <a:lnTo>
                    <a:pt x="180975" y="1810703"/>
                  </a:lnTo>
                  <a:lnTo>
                    <a:pt x="211455" y="1810703"/>
                  </a:lnTo>
                  <a:lnTo>
                    <a:pt x="240982" y="1810703"/>
                  </a:lnTo>
                  <a:lnTo>
                    <a:pt x="271463" y="1810703"/>
                  </a:lnTo>
                  <a:lnTo>
                    <a:pt x="300990" y="1810703"/>
                  </a:lnTo>
                  <a:lnTo>
                    <a:pt x="331470" y="1810703"/>
                  </a:lnTo>
                  <a:lnTo>
                    <a:pt x="361950" y="1810703"/>
                  </a:lnTo>
                  <a:lnTo>
                    <a:pt x="391478" y="1810703"/>
                  </a:lnTo>
                  <a:lnTo>
                    <a:pt x="421958" y="1810703"/>
                  </a:lnTo>
                  <a:lnTo>
                    <a:pt x="452438" y="1810703"/>
                  </a:lnTo>
                  <a:lnTo>
                    <a:pt x="481965" y="1809750"/>
                  </a:lnTo>
                  <a:lnTo>
                    <a:pt x="512445" y="1809750"/>
                  </a:lnTo>
                  <a:lnTo>
                    <a:pt x="541972" y="1809750"/>
                  </a:lnTo>
                  <a:lnTo>
                    <a:pt x="572453" y="1808798"/>
                  </a:lnTo>
                  <a:lnTo>
                    <a:pt x="602932" y="1808798"/>
                  </a:lnTo>
                  <a:lnTo>
                    <a:pt x="632460" y="1807845"/>
                  </a:lnTo>
                  <a:lnTo>
                    <a:pt x="662940" y="1806893"/>
                  </a:lnTo>
                  <a:lnTo>
                    <a:pt x="692468" y="1805940"/>
                  </a:lnTo>
                  <a:lnTo>
                    <a:pt x="722947" y="1804035"/>
                  </a:lnTo>
                  <a:lnTo>
                    <a:pt x="753428" y="1802130"/>
                  </a:lnTo>
                  <a:lnTo>
                    <a:pt x="782955" y="1800225"/>
                  </a:lnTo>
                  <a:lnTo>
                    <a:pt x="813435" y="1797368"/>
                  </a:lnTo>
                  <a:lnTo>
                    <a:pt x="843915" y="1793558"/>
                  </a:lnTo>
                  <a:lnTo>
                    <a:pt x="873442" y="1788795"/>
                  </a:lnTo>
                  <a:lnTo>
                    <a:pt x="903922" y="1782128"/>
                  </a:lnTo>
                  <a:lnTo>
                    <a:pt x="933450" y="1775460"/>
                  </a:lnTo>
                  <a:lnTo>
                    <a:pt x="963930" y="1766888"/>
                  </a:lnTo>
                  <a:lnTo>
                    <a:pt x="994410" y="1756410"/>
                  </a:lnTo>
                  <a:lnTo>
                    <a:pt x="1023938" y="1743075"/>
                  </a:lnTo>
                  <a:lnTo>
                    <a:pt x="1054418" y="1727835"/>
                  </a:lnTo>
                  <a:lnTo>
                    <a:pt x="1083945" y="1710690"/>
                  </a:lnTo>
                  <a:lnTo>
                    <a:pt x="1114425" y="1689735"/>
                  </a:lnTo>
                  <a:lnTo>
                    <a:pt x="1144905" y="1664970"/>
                  </a:lnTo>
                  <a:lnTo>
                    <a:pt x="1174432" y="1636395"/>
                  </a:lnTo>
                  <a:lnTo>
                    <a:pt x="1204913" y="1604962"/>
                  </a:lnTo>
                  <a:lnTo>
                    <a:pt x="1235392" y="1567815"/>
                  </a:lnTo>
                  <a:lnTo>
                    <a:pt x="1264920" y="1525905"/>
                  </a:lnTo>
                  <a:lnTo>
                    <a:pt x="1295400" y="1480185"/>
                  </a:lnTo>
                  <a:lnTo>
                    <a:pt x="1324927" y="1428750"/>
                  </a:lnTo>
                  <a:lnTo>
                    <a:pt x="1355408" y="1371600"/>
                  </a:lnTo>
                  <a:lnTo>
                    <a:pt x="1385888" y="1309688"/>
                  </a:lnTo>
                  <a:lnTo>
                    <a:pt x="1415415" y="1243012"/>
                  </a:lnTo>
                  <a:lnTo>
                    <a:pt x="1445895" y="1171575"/>
                  </a:lnTo>
                  <a:lnTo>
                    <a:pt x="1475422" y="1095375"/>
                  </a:lnTo>
                  <a:lnTo>
                    <a:pt x="1505902" y="1015365"/>
                  </a:lnTo>
                  <a:lnTo>
                    <a:pt x="1536382" y="931545"/>
                  </a:lnTo>
                  <a:lnTo>
                    <a:pt x="1565910" y="845820"/>
                  </a:lnTo>
                  <a:lnTo>
                    <a:pt x="1596390" y="759143"/>
                  </a:lnTo>
                  <a:lnTo>
                    <a:pt x="1626870" y="670560"/>
                  </a:lnTo>
                  <a:lnTo>
                    <a:pt x="1656397" y="582930"/>
                  </a:lnTo>
                  <a:lnTo>
                    <a:pt x="1686877" y="497205"/>
                  </a:lnTo>
                  <a:lnTo>
                    <a:pt x="1716405" y="414338"/>
                  </a:lnTo>
                  <a:lnTo>
                    <a:pt x="1746885" y="336233"/>
                  </a:lnTo>
                  <a:lnTo>
                    <a:pt x="1777365" y="263843"/>
                  </a:lnTo>
                  <a:lnTo>
                    <a:pt x="1806892" y="197168"/>
                  </a:lnTo>
                  <a:lnTo>
                    <a:pt x="1837372" y="139065"/>
                  </a:lnTo>
                  <a:lnTo>
                    <a:pt x="1867852" y="90488"/>
                  </a:lnTo>
                  <a:lnTo>
                    <a:pt x="1897380" y="51435"/>
                  </a:lnTo>
                  <a:lnTo>
                    <a:pt x="1927860" y="22860"/>
                  </a:lnTo>
                  <a:lnTo>
                    <a:pt x="1957388" y="5715"/>
                  </a:lnTo>
                  <a:lnTo>
                    <a:pt x="1987868" y="0"/>
                  </a:lnTo>
                  <a:lnTo>
                    <a:pt x="2018347" y="5715"/>
                  </a:lnTo>
                  <a:lnTo>
                    <a:pt x="2047875" y="22860"/>
                  </a:lnTo>
                  <a:lnTo>
                    <a:pt x="2078355" y="51435"/>
                  </a:lnTo>
                  <a:lnTo>
                    <a:pt x="2107882" y="90488"/>
                  </a:lnTo>
                  <a:lnTo>
                    <a:pt x="2138362" y="139065"/>
                  </a:lnTo>
                  <a:lnTo>
                    <a:pt x="2168842" y="197168"/>
                  </a:lnTo>
                  <a:lnTo>
                    <a:pt x="2198370" y="263843"/>
                  </a:lnTo>
                  <a:lnTo>
                    <a:pt x="2228850" y="336233"/>
                  </a:lnTo>
                  <a:lnTo>
                    <a:pt x="2259330" y="414338"/>
                  </a:lnTo>
                  <a:lnTo>
                    <a:pt x="2288858" y="497205"/>
                  </a:lnTo>
                  <a:lnTo>
                    <a:pt x="2319338" y="582930"/>
                  </a:lnTo>
                  <a:lnTo>
                    <a:pt x="2348865" y="670560"/>
                  </a:lnTo>
                  <a:lnTo>
                    <a:pt x="2379345" y="759143"/>
                  </a:lnTo>
                  <a:lnTo>
                    <a:pt x="2409825" y="845820"/>
                  </a:lnTo>
                  <a:lnTo>
                    <a:pt x="2439352" y="931545"/>
                  </a:lnTo>
                  <a:lnTo>
                    <a:pt x="2469832" y="1015365"/>
                  </a:lnTo>
                  <a:lnTo>
                    <a:pt x="2500312" y="1095375"/>
                  </a:lnTo>
                  <a:lnTo>
                    <a:pt x="2529840" y="1171575"/>
                  </a:lnTo>
                  <a:lnTo>
                    <a:pt x="2560320" y="1243012"/>
                  </a:lnTo>
                  <a:lnTo>
                    <a:pt x="2589848" y="1309688"/>
                  </a:lnTo>
                  <a:lnTo>
                    <a:pt x="2620327" y="1371600"/>
                  </a:lnTo>
                  <a:lnTo>
                    <a:pt x="2650808" y="1428750"/>
                  </a:lnTo>
                  <a:lnTo>
                    <a:pt x="2680335" y="1480185"/>
                  </a:lnTo>
                  <a:lnTo>
                    <a:pt x="2710815" y="1525905"/>
                  </a:lnTo>
                  <a:lnTo>
                    <a:pt x="2740342" y="1567815"/>
                  </a:lnTo>
                  <a:lnTo>
                    <a:pt x="2770822" y="1604962"/>
                  </a:lnTo>
                  <a:lnTo>
                    <a:pt x="2801302" y="1636395"/>
                  </a:lnTo>
                  <a:lnTo>
                    <a:pt x="2830830" y="1664970"/>
                  </a:lnTo>
                  <a:lnTo>
                    <a:pt x="2861310" y="1689735"/>
                  </a:lnTo>
                  <a:lnTo>
                    <a:pt x="2891790" y="1710690"/>
                  </a:lnTo>
                  <a:lnTo>
                    <a:pt x="2921318" y="1727835"/>
                  </a:lnTo>
                  <a:lnTo>
                    <a:pt x="2951798" y="1743075"/>
                  </a:lnTo>
                  <a:lnTo>
                    <a:pt x="2981325" y="1756410"/>
                  </a:lnTo>
                  <a:lnTo>
                    <a:pt x="3011805" y="1766888"/>
                  </a:lnTo>
                  <a:lnTo>
                    <a:pt x="3042285" y="1775460"/>
                  </a:lnTo>
                  <a:lnTo>
                    <a:pt x="3071812" y="1782128"/>
                  </a:lnTo>
                  <a:lnTo>
                    <a:pt x="3102292" y="1788795"/>
                  </a:lnTo>
                  <a:lnTo>
                    <a:pt x="3131820" y="1793558"/>
                  </a:lnTo>
                  <a:lnTo>
                    <a:pt x="3162300" y="1797368"/>
                  </a:lnTo>
                  <a:lnTo>
                    <a:pt x="3192780" y="1800225"/>
                  </a:lnTo>
                  <a:lnTo>
                    <a:pt x="3222308" y="1802130"/>
                  </a:lnTo>
                  <a:lnTo>
                    <a:pt x="3252788" y="1804035"/>
                  </a:lnTo>
                  <a:lnTo>
                    <a:pt x="3283268" y="1805940"/>
                  </a:lnTo>
                  <a:lnTo>
                    <a:pt x="3312795" y="1806893"/>
                  </a:lnTo>
                  <a:lnTo>
                    <a:pt x="3343275" y="1807845"/>
                  </a:lnTo>
                  <a:lnTo>
                    <a:pt x="3372802" y="1808798"/>
                  </a:lnTo>
                  <a:lnTo>
                    <a:pt x="3403282" y="1808798"/>
                  </a:lnTo>
                  <a:lnTo>
                    <a:pt x="3433762" y="1809750"/>
                  </a:lnTo>
                  <a:lnTo>
                    <a:pt x="3463290" y="1809750"/>
                  </a:lnTo>
                  <a:lnTo>
                    <a:pt x="3493770" y="1809750"/>
                  </a:lnTo>
                  <a:lnTo>
                    <a:pt x="3524250" y="1810703"/>
                  </a:lnTo>
                  <a:lnTo>
                    <a:pt x="3553777" y="1810703"/>
                  </a:lnTo>
                  <a:lnTo>
                    <a:pt x="3584258" y="1810703"/>
                  </a:lnTo>
                  <a:lnTo>
                    <a:pt x="3613785" y="1810703"/>
                  </a:lnTo>
                  <a:lnTo>
                    <a:pt x="3644265" y="1810703"/>
                  </a:lnTo>
                  <a:lnTo>
                    <a:pt x="3674745" y="1810703"/>
                  </a:lnTo>
                  <a:lnTo>
                    <a:pt x="3704272" y="1810703"/>
                  </a:lnTo>
                  <a:lnTo>
                    <a:pt x="3734752" y="1810703"/>
                  </a:lnTo>
                  <a:lnTo>
                    <a:pt x="3764280" y="1810703"/>
                  </a:lnTo>
                  <a:lnTo>
                    <a:pt x="3794760" y="1810703"/>
                  </a:lnTo>
                  <a:lnTo>
                    <a:pt x="3825240" y="1810703"/>
                  </a:lnTo>
                  <a:lnTo>
                    <a:pt x="3854768" y="1810703"/>
                  </a:lnTo>
                  <a:lnTo>
                    <a:pt x="3885248" y="1810703"/>
                  </a:lnTo>
                  <a:lnTo>
                    <a:pt x="3915727" y="1810703"/>
                  </a:lnTo>
                  <a:lnTo>
                    <a:pt x="3945255" y="1810703"/>
                  </a:lnTo>
                  <a:lnTo>
                    <a:pt x="3975735" y="1810703"/>
                  </a:lnTo>
                  <a:lnTo>
                    <a:pt x="3975735" y="1810703"/>
                  </a:lnTo>
                  <a:close/>
                </a:path>
              </a:pathLst>
            </a:custGeom>
            <a:solidFill>
              <a:srgbClr val="FDEEE7"/>
            </a:solidFill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1104900" y="4438650"/>
              <a:ext cx="4143375" cy="9525"/>
            </a:xfrm>
            <a:custGeom>
              <a:avLst/>
              <a:gdLst/>
              <a:ahLst/>
              <a:cxnLst/>
              <a:rect l="l" t="t" r="r" b="b"/>
              <a:pathLst>
                <a:path w="4143375" h="9525">
                  <a:moveTo>
                    <a:pt x="0" y="0"/>
                  </a:moveTo>
                  <a:lnTo>
                    <a:pt x="414337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5248275" y="440864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3" name="Line 13"/>
            <p:cNvSpPr/>
            <p:nvPr/>
          </p:nvSpPr>
          <p:spPr>
            <a:xfrm>
              <a:off x="3152775" y="2371725"/>
              <a:ext cx="9525" cy="2066925"/>
            </a:xfrm>
            <a:custGeom>
              <a:avLst/>
              <a:gdLst/>
              <a:ahLst/>
              <a:cxnLst/>
              <a:rect l="l" t="t" r="r" b="b"/>
              <a:pathLst>
                <a:path w="9525" h="2066925">
                  <a:moveTo>
                    <a:pt x="0" y="20669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3122771" y="2305050"/>
              <a:ext cx="60007" cy="66675"/>
            </a:xfrm>
            <a:custGeom>
              <a:avLst/>
              <a:gdLst/>
              <a:ahLst/>
              <a:cxnLst/>
              <a:rect l="l" t="t" r="r" b="b"/>
              <a:pathLst>
                <a:path w="60007" h="66675">
                  <a:moveTo>
                    <a:pt x="30004" y="0"/>
                  </a:moveTo>
                  <a:lnTo>
                    <a:pt x="6000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164908" y="3308985"/>
              <a:ext cx="3975735" cy="1124903"/>
            </a:xfrm>
            <a:custGeom>
              <a:avLst/>
              <a:gdLst/>
              <a:ahLst/>
              <a:cxnLst/>
              <a:rect l="l" t="t" r="r" b="b"/>
              <a:pathLst>
                <a:path w="3975735" h="1124903">
                  <a:moveTo>
                    <a:pt x="0" y="1124903"/>
                  </a:moveTo>
                  <a:lnTo>
                    <a:pt x="30480" y="1123950"/>
                  </a:lnTo>
                  <a:lnTo>
                    <a:pt x="60007" y="1122998"/>
                  </a:lnTo>
                  <a:lnTo>
                    <a:pt x="90488" y="1122045"/>
                  </a:lnTo>
                  <a:lnTo>
                    <a:pt x="120968" y="1120140"/>
                  </a:lnTo>
                  <a:lnTo>
                    <a:pt x="150495" y="1119188"/>
                  </a:lnTo>
                  <a:lnTo>
                    <a:pt x="180975" y="1117282"/>
                  </a:lnTo>
                  <a:lnTo>
                    <a:pt x="211455" y="1115378"/>
                  </a:lnTo>
                  <a:lnTo>
                    <a:pt x="240982" y="1112520"/>
                  </a:lnTo>
                  <a:lnTo>
                    <a:pt x="271463" y="1110615"/>
                  </a:lnTo>
                  <a:lnTo>
                    <a:pt x="300990" y="1106805"/>
                  </a:lnTo>
                  <a:lnTo>
                    <a:pt x="331470" y="1103948"/>
                  </a:lnTo>
                  <a:lnTo>
                    <a:pt x="361950" y="1100138"/>
                  </a:lnTo>
                  <a:lnTo>
                    <a:pt x="391478" y="1096328"/>
                  </a:lnTo>
                  <a:lnTo>
                    <a:pt x="421958" y="1091565"/>
                  </a:lnTo>
                  <a:lnTo>
                    <a:pt x="452438" y="1085850"/>
                  </a:lnTo>
                  <a:lnTo>
                    <a:pt x="481965" y="1080135"/>
                  </a:lnTo>
                  <a:lnTo>
                    <a:pt x="512445" y="1073468"/>
                  </a:lnTo>
                  <a:lnTo>
                    <a:pt x="541972" y="1065848"/>
                  </a:lnTo>
                  <a:lnTo>
                    <a:pt x="572453" y="1058228"/>
                  </a:lnTo>
                  <a:lnTo>
                    <a:pt x="602932" y="1049655"/>
                  </a:lnTo>
                  <a:lnTo>
                    <a:pt x="632460" y="1040130"/>
                  </a:lnTo>
                  <a:lnTo>
                    <a:pt x="662940" y="1029653"/>
                  </a:lnTo>
                  <a:lnTo>
                    <a:pt x="692468" y="1017270"/>
                  </a:lnTo>
                  <a:lnTo>
                    <a:pt x="722947" y="1004888"/>
                  </a:lnTo>
                  <a:lnTo>
                    <a:pt x="753428" y="991553"/>
                  </a:lnTo>
                  <a:lnTo>
                    <a:pt x="782955" y="977265"/>
                  </a:lnTo>
                  <a:lnTo>
                    <a:pt x="813435" y="961073"/>
                  </a:lnTo>
                  <a:lnTo>
                    <a:pt x="843915" y="943928"/>
                  </a:lnTo>
                  <a:lnTo>
                    <a:pt x="873442" y="925830"/>
                  </a:lnTo>
                  <a:lnTo>
                    <a:pt x="903922" y="905828"/>
                  </a:lnTo>
                  <a:lnTo>
                    <a:pt x="933450" y="885825"/>
                  </a:lnTo>
                  <a:lnTo>
                    <a:pt x="963930" y="862965"/>
                  </a:lnTo>
                  <a:lnTo>
                    <a:pt x="994410" y="840105"/>
                  </a:lnTo>
                  <a:lnTo>
                    <a:pt x="1023938" y="815340"/>
                  </a:lnTo>
                  <a:lnTo>
                    <a:pt x="1054418" y="789623"/>
                  </a:lnTo>
                  <a:lnTo>
                    <a:pt x="1083945" y="762953"/>
                  </a:lnTo>
                  <a:lnTo>
                    <a:pt x="1114425" y="735330"/>
                  </a:lnTo>
                  <a:lnTo>
                    <a:pt x="1144905" y="705803"/>
                  </a:lnTo>
                  <a:lnTo>
                    <a:pt x="1174432" y="675323"/>
                  </a:lnTo>
                  <a:lnTo>
                    <a:pt x="1204913" y="644843"/>
                  </a:lnTo>
                  <a:lnTo>
                    <a:pt x="1235392" y="612458"/>
                  </a:lnTo>
                  <a:lnTo>
                    <a:pt x="1264920" y="580073"/>
                  </a:lnTo>
                  <a:lnTo>
                    <a:pt x="1295400" y="546735"/>
                  </a:lnTo>
                  <a:lnTo>
                    <a:pt x="1324927" y="512445"/>
                  </a:lnTo>
                  <a:lnTo>
                    <a:pt x="1355408" y="479108"/>
                  </a:lnTo>
                  <a:lnTo>
                    <a:pt x="1385888" y="444818"/>
                  </a:lnTo>
                  <a:lnTo>
                    <a:pt x="1415415" y="410528"/>
                  </a:lnTo>
                  <a:lnTo>
                    <a:pt x="1445895" y="376238"/>
                  </a:lnTo>
                  <a:lnTo>
                    <a:pt x="1475422" y="342900"/>
                  </a:lnTo>
                  <a:lnTo>
                    <a:pt x="1505902" y="309562"/>
                  </a:lnTo>
                  <a:lnTo>
                    <a:pt x="1536382" y="277178"/>
                  </a:lnTo>
                  <a:lnTo>
                    <a:pt x="1565910" y="245745"/>
                  </a:lnTo>
                  <a:lnTo>
                    <a:pt x="1596390" y="215265"/>
                  </a:lnTo>
                  <a:lnTo>
                    <a:pt x="1626870" y="186690"/>
                  </a:lnTo>
                  <a:lnTo>
                    <a:pt x="1656397" y="159068"/>
                  </a:lnTo>
                  <a:lnTo>
                    <a:pt x="1686877" y="133350"/>
                  </a:lnTo>
                  <a:lnTo>
                    <a:pt x="1716405" y="108585"/>
                  </a:lnTo>
                  <a:lnTo>
                    <a:pt x="1746885" y="86678"/>
                  </a:lnTo>
                  <a:lnTo>
                    <a:pt x="1777365" y="67628"/>
                  </a:lnTo>
                  <a:lnTo>
                    <a:pt x="1806892" y="49530"/>
                  </a:lnTo>
                  <a:lnTo>
                    <a:pt x="1837372" y="35243"/>
                  </a:lnTo>
                  <a:lnTo>
                    <a:pt x="1867852" y="22860"/>
                  </a:lnTo>
                  <a:lnTo>
                    <a:pt x="1897380" y="13335"/>
                  </a:lnTo>
                  <a:lnTo>
                    <a:pt x="1927860" y="5715"/>
                  </a:lnTo>
                  <a:lnTo>
                    <a:pt x="1957388" y="1905"/>
                  </a:lnTo>
                  <a:lnTo>
                    <a:pt x="1987868" y="0"/>
                  </a:lnTo>
                  <a:lnTo>
                    <a:pt x="2018347" y="1905"/>
                  </a:lnTo>
                  <a:lnTo>
                    <a:pt x="2047875" y="5715"/>
                  </a:lnTo>
                  <a:lnTo>
                    <a:pt x="2078355" y="13335"/>
                  </a:lnTo>
                  <a:lnTo>
                    <a:pt x="2107882" y="22860"/>
                  </a:lnTo>
                  <a:lnTo>
                    <a:pt x="2138362" y="35243"/>
                  </a:lnTo>
                  <a:lnTo>
                    <a:pt x="2168842" y="49530"/>
                  </a:lnTo>
                  <a:lnTo>
                    <a:pt x="2198370" y="67628"/>
                  </a:lnTo>
                  <a:lnTo>
                    <a:pt x="2228850" y="86678"/>
                  </a:lnTo>
                  <a:lnTo>
                    <a:pt x="2259330" y="108585"/>
                  </a:lnTo>
                  <a:lnTo>
                    <a:pt x="2288858" y="133350"/>
                  </a:lnTo>
                  <a:lnTo>
                    <a:pt x="2319338" y="159068"/>
                  </a:lnTo>
                  <a:lnTo>
                    <a:pt x="2348865" y="186690"/>
                  </a:lnTo>
                  <a:lnTo>
                    <a:pt x="2379345" y="215265"/>
                  </a:lnTo>
                  <a:lnTo>
                    <a:pt x="2409825" y="245745"/>
                  </a:lnTo>
                  <a:lnTo>
                    <a:pt x="2439352" y="277178"/>
                  </a:lnTo>
                  <a:lnTo>
                    <a:pt x="2469832" y="309562"/>
                  </a:lnTo>
                  <a:lnTo>
                    <a:pt x="2500312" y="342900"/>
                  </a:lnTo>
                  <a:lnTo>
                    <a:pt x="2529840" y="376238"/>
                  </a:lnTo>
                  <a:lnTo>
                    <a:pt x="2560320" y="410528"/>
                  </a:lnTo>
                  <a:lnTo>
                    <a:pt x="2589848" y="444818"/>
                  </a:lnTo>
                  <a:lnTo>
                    <a:pt x="2620327" y="479108"/>
                  </a:lnTo>
                  <a:lnTo>
                    <a:pt x="2650808" y="512445"/>
                  </a:lnTo>
                  <a:lnTo>
                    <a:pt x="2680335" y="546735"/>
                  </a:lnTo>
                  <a:lnTo>
                    <a:pt x="2710815" y="580073"/>
                  </a:lnTo>
                  <a:lnTo>
                    <a:pt x="2740342" y="612458"/>
                  </a:lnTo>
                  <a:lnTo>
                    <a:pt x="2770822" y="644843"/>
                  </a:lnTo>
                  <a:lnTo>
                    <a:pt x="2801302" y="675323"/>
                  </a:lnTo>
                  <a:lnTo>
                    <a:pt x="2830830" y="705803"/>
                  </a:lnTo>
                  <a:lnTo>
                    <a:pt x="2861310" y="735330"/>
                  </a:lnTo>
                  <a:lnTo>
                    <a:pt x="2891790" y="762953"/>
                  </a:lnTo>
                  <a:lnTo>
                    <a:pt x="2921318" y="789623"/>
                  </a:lnTo>
                  <a:lnTo>
                    <a:pt x="2951798" y="815340"/>
                  </a:lnTo>
                  <a:lnTo>
                    <a:pt x="2981325" y="840105"/>
                  </a:lnTo>
                  <a:lnTo>
                    <a:pt x="3011805" y="862965"/>
                  </a:lnTo>
                  <a:lnTo>
                    <a:pt x="3042285" y="885825"/>
                  </a:lnTo>
                  <a:lnTo>
                    <a:pt x="3071812" y="905828"/>
                  </a:lnTo>
                  <a:lnTo>
                    <a:pt x="3102292" y="925830"/>
                  </a:lnTo>
                  <a:lnTo>
                    <a:pt x="3131820" y="943928"/>
                  </a:lnTo>
                  <a:lnTo>
                    <a:pt x="3162300" y="961073"/>
                  </a:lnTo>
                  <a:lnTo>
                    <a:pt x="3192780" y="977265"/>
                  </a:lnTo>
                  <a:lnTo>
                    <a:pt x="3222308" y="991553"/>
                  </a:lnTo>
                  <a:lnTo>
                    <a:pt x="3252788" y="1004888"/>
                  </a:lnTo>
                  <a:lnTo>
                    <a:pt x="3283268" y="1017270"/>
                  </a:lnTo>
                  <a:lnTo>
                    <a:pt x="3312795" y="1029653"/>
                  </a:lnTo>
                  <a:lnTo>
                    <a:pt x="3343275" y="1040130"/>
                  </a:lnTo>
                  <a:lnTo>
                    <a:pt x="3372802" y="1049655"/>
                  </a:lnTo>
                  <a:lnTo>
                    <a:pt x="3403282" y="1058228"/>
                  </a:lnTo>
                  <a:lnTo>
                    <a:pt x="3433762" y="1065848"/>
                  </a:lnTo>
                  <a:lnTo>
                    <a:pt x="3463290" y="1073468"/>
                  </a:lnTo>
                  <a:lnTo>
                    <a:pt x="3493770" y="1080135"/>
                  </a:lnTo>
                  <a:lnTo>
                    <a:pt x="3524250" y="1085850"/>
                  </a:lnTo>
                  <a:lnTo>
                    <a:pt x="3553777" y="1091565"/>
                  </a:lnTo>
                  <a:lnTo>
                    <a:pt x="3584258" y="1096328"/>
                  </a:lnTo>
                  <a:lnTo>
                    <a:pt x="3613785" y="1100138"/>
                  </a:lnTo>
                  <a:lnTo>
                    <a:pt x="3644265" y="1103948"/>
                  </a:lnTo>
                  <a:lnTo>
                    <a:pt x="3674745" y="1106805"/>
                  </a:lnTo>
                  <a:lnTo>
                    <a:pt x="3704272" y="1110615"/>
                  </a:lnTo>
                  <a:lnTo>
                    <a:pt x="3734752" y="1112520"/>
                  </a:lnTo>
                  <a:lnTo>
                    <a:pt x="3764280" y="1115378"/>
                  </a:lnTo>
                  <a:lnTo>
                    <a:pt x="3794760" y="1117282"/>
                  </a:lnTo>
                  <a:lnTo>
                    <a:pt x="3825240" y="1119188"/>
                  </a:lnTo>
                  <a:lnTo>
                    <a:pt x="3854768" y="1120140"/>
                  </a:lnTo>
                  <a:lnTo>
                    <a:pt x="3885248" y="1122045"/>
                  </a:lnTo>
                  <a:lnTo>
                    <a:pt x="3915727" y="1122998"/>
                  </a:lnTo>
                  <a:lnTo>
                    <a:pt x="3945255" y="1123950"/>
                  </a:lnTo>
                  <a:lnTo>
                    <a:pt x="3975735" y="1124903"/>
                  </a:lnTo>
                </a:path>
              </a:pathLst>
            </a:custGeom>
            <a:noFill/>
            <a:ln w="21908">
              <a:solidFill>
                <a:srgbClr val="2F4B9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164908" y="2627948"/>
              <a:ext cx="3975735" cy="1810703"/>
            </a:xfrm>
            <a:custGeom>
              <a:avLst/>
              <a:gdLst/>
              <a:ahLst/>
              <a:cxnLst/>
              <a:rect l="l" t="t" r="r" b="b"/>
              <a:pathLst>
                <a:path w="3975735" h="1810703">
                  <a:moveTo>
                    <a:pt x="0" y="1810703"/>
                  </a:moveTo>
                  <a:lnTo>
                    <a:pt x="30480" y="1810703"/>
                  </a:lnTo>
                  <a:lnTo>
                    <a:pt x="60007" y="1810703"/>
                  </a:lnTo>
                  <a:lnTo>
                    <a:pt x="90488" y="1810703"/>
                  </a:lnTo>
                  <a:lnTo>
                    <a:pt x="120968" y="1810703"/>
                  </a:lnTo>
                  <a:lnTo>
                    <a:pt x="150495" y="1810703"/>
                  </a:lnTo>
                  <a:lnTo>
                    <a:pt x="180975" y="1810703"/>
                  </a:lnTo>
                  <a:lnTo>
                    <a:pt x="211455" y="1810703"/>
                  </a:lnTo>
                  <a:lnTo>
                    <a:pt x="240982" y="1810703"/>
                  </a:lnTo>
                  <a:lnTo>
                    <a:pt x="271463" y="1810703"/>
                  </a:lnTo>
                  <a:lnTo>
                    <a:pt x="300990" y="1810703"/>
                  </a:lnTo>
                  <a:lnTo>
                    <a:pt x="331470" y="1810703"/>
                  </a:lnTo>
                  <a:lnTo>
                    <a:pt x="361950" y="1810703"/>
                  </a:lnTo>
                  <a:lnTo>
                    <a:pt x="391478" y="1810703"/>
                  </a:lnTo>
                  <a:lnTo>
                    <a:pt x="421958" y="1810703"/>
                  </a:lnTo>
                  <a:lnTo>
                    <a:pt x="452438" y="1810703"/>
                  </a:lnTo>
                  <a:lnTo>
                    <a:pt x="481965" y="1809750"/>
                  </a:lnTo>
                  <a:lnTo>
                    <a:pt x="512445" y="1809750"/>
                  </a:lnTo>
                  <a:lnTo>
                    <a:pt x="541972" y="1809750"/>
                  </a:lnTo>
                  <a:lnTo>
                    <a:pt x="572453" y="1808798"/>
                  </a:lnTo>
                  <a:lnTo>
                    <a:pt x="602932" y="1808798"/>
                  </a:lnTo>
                  <a:lnTo>
                    <a:pt x="632460" y="1807845"/>
                  </a:lnTo>
                  <a:lnTo>
                    <a:pt x="662940" y="1806893"/>
                  </a:lnTo>
                  <a:lnTo>
                    <a:pt x="692468" y="1805940"/>
                  </a:lnTo>
                  <a:lnTo>
                    <a:pt x="722947" y="1804035"/>
                  </a:lnTo>
                  <a:lnTo>
                    <a:pt x="753428" y="1802130"/>
                  </a:lnTo>
                  <a:lnTo>
                    <a:pt x="782955" y="1800225"/>
                  </a:lnTo>
                  <a:lnTo>
                    <a:pt x="813435" y="1797368"/>
                  </a:lnTo>
                  <a:lnTo>
                    <a:pt x="843915" y="1793558"/>
                  </a:lnTo>
                  <a:lnTo>
                    <a:pt x="873442" y="1788795"/>
                  </a:lnTo>
                  <a:lnTo>
                    <a:pt x="903922" y="1782128"/>
                  </a:lnTo>
                  <a:lnTo>
                    <a:pt x="933450" y="1775460"/>
                  </a:lnTo>
                  <a:lnTo>
                    <a:pt x="963930" y="1766888"/>
                  </a:lnTo>
                  <a:lnTo>
                    <a:pt x="994410" y="1756410"/>
                  </a:lnTo>
                  <a:lnTo>
                    <a:pt x="1023938" y="1743075"/>
                  </a:lnTo>
                  <a:lnTo>
                    <a:pt x="1054418" y="1727835"/>
                  </a:lnTo>
                  <a:lnTo>
                    <a:pt x="1083945" y="1710690"/>
                  </a:lnTo>
                  <a:lnTo>
                    <a:pt x="1114425" y="1689735"/>
                  </a:lnTo>
                  <a:lnTo>
                    <a:pt x="1144905" y="1664970"/>
                  </a:lnTo>
                  <a:lnTo>
                    <a:pt x="1174432" y="1636395"/>
                  </a:lnTo>
                  <a:lnTo>
                    <a:pt x="1204913" y="1604962"/>
                  </a:lnTo>
                  <a:lnTo>
                    <a:pt x="1235392" y="1567815"/>
                  </a:lnTo>
                  <a:lnTo>
                    <a:pt x="1264920" y="1525905"/>
                  </a:lnTo>
                  <a:lnTo>
                    <a:pt x="1295400" y="1480185"/>
                  </a:lnTo>
                  <a:lnTo>
                    <a:pt x="1324927" y="1428750"/>
                  </a:lnTo>
                  <a:lnTo>
                    <a:pt x="1355408" y="1371600"/>
                  </a:lnTo>
                  <a:lnTo>
                    <a:pt x="1385888" y="1309688"/>
                  </a:lnTo>
                  <a:lnTo>
                    <a:pt x="1415415" y="1243012"/>
                  </a:lnTo>
                  <a:lnTo>
                    <a:pt x="1445895" y="1171575"/>
                  </a:lnTo>
                  <a:lnTo>
                    <a:pt x="1475422" y="1095375"/>
                  </a:lnTo>
                  <a:lnTo>
                    <a:pt x="1505902" y="1015365"/>
                  </a:lnTo>
                  <a:lnTo>
                    <a:pt x="1536382" y="931545"/>
                  </a:lnTo>
                  <a:lnTo>
                    <a:pt x="1565910" y="845820"/>
                  </a:lnTo>
                  <a:lnTo>
                    <a:pt x="1596390" y="759143"/>
                  </a:lnTo>
                  <a:lnTo>
                    <a:pt x="1626870" y="670560"/>
                  </a:lnTo>
                  <a:lnTo>
                    <a:pt x="1656397" y="582930"/>
                  </a:lnTo>
                  <a:lnTo>
                    <a:pt x="1686877" y="497205"/>
                  </a:lnTo>
                  <a:lnTo>
                    <a:pt x="1716405" y="414338"/>
                  </a:lnTo>
                  <a:lnTo>
                    <a:pt x="1746885" y="336233"/>
                  </a:lnTo>
                  <a:lnTo>
                    <a:pt x="1777365" y="263843"/>
                  </a:lnTo>
                  <a:lnTo>
                    <a:pt x="1806892" y="197168"/>
                  </a:lnTo>
                  <a:lnTo>
                    <a:pt x="1837372" y="139065"/>
                  </a:lnTo>
                  <a:lnTo>
                    <a:pt x="1867852" y="90488"/>
                  </a:lnTo>
                  <a:lnTo>
                    <a:pt x="1897380" y="51435"/>
                  </a:lnTo>
                  <a:lnTo>
                    <a:pt x="1927860" y="22860"/>
                  </a:lnTo>
                  <a:lnTo>
                    <a:pt x="1957388" y="5715"/>
                  </a:lnTo>
                  <a:lnTo>
                    <a:pt x="1987868" y="0"/>
                  </a:lnTo>
                  <a:lnTo>
                    <a:pt x="2018347" y="5715"/>
                  </a:lnTo>
                  <a:lnTo>
                    <a:pt x="2047875" y="22860"/>
                  </a:lnTo>
                  <a:lnTo>
                    <a:pt x="2078355" y="51435"/>
                  </a:lnTo>
                  <a:lnTo>
                    <a:pt x="2107882" y="90488"/>
                  </a:lnTo>
                  <a:lnTo>
                    <a:pt x="2138362" y="139065"/>
                  </a:lnTo>
                  <a:lnTo>
                    <a:pt x="2168842" y="197168"/>
                  </a:lnTo>
                  <a:lnTo>
                    <a:pt x="2198370" y="263843"/>
                  </a:lnTo>
                  <a:lnTo>
                    <a:pt x="2228850" y="336233"/>
                  </a:lnTo>
                  <a:lnTo>
                    <a:pt x="2259330" y="414338"/>
                  </a:lnTo>
                  <a:lnTo>
                    <a:pt x="2288858" y="497205"/>
                  </a:lnTo>
                  <a:lnTo>
                    <a:pt x="2319338" y="582930"/>
                  </a:lnTo>
                  <a:lnTo>
                    <a:pt x="2348865" y="670560"/>
                  </a:lnTo>
                  <a:lnTo>
                    <a:pt x="2379345" y="759143"/>
                  </a:lnTo>
                  <a:lnTo>
                    <a:pt x="2409825" y="845820"/>
                  </a:lnTo>
                  <a:lnTo>
                    <a:pt x="2439352" y="931545"/>
                  </a:lnTo>
                  <a:lnTo>
                    <a:pt x="2469832" y="1015365"/>
                  </a:lnTo>
                  <a:lnTo>
                    <a:pt x="2500312" y="1095375"/>
                  </a:lnTo>
                  <a:lnTo>
                    <a:pt x="2529840" y="1171575"/>
                  </a:lnTo>
                  <a:lnTo>
                    <a:pt x="2560320" y="1243012"/>
                  </a:lnTo>
                  <a:lnTo>
                    <a:pt x="2589848" y="1309688"/>
                  </a:lnTo>
                  <a:lnTo>
                    <a:pt x="2620327" y="1371600"/>
                  </a:lnTo>
                  <a:lnTo>
                    <a:pt x="2650808" y="1428750"/>
                  </a:lnTo>
                  <a:lnTo>
                    <a:pt x="2680335" y="1480185"/>
                  </a:lnTo>
                  <a:lnTo>
                    <a:pt x="2710815" y="1525905"/>
                  </a:lnTo>
                  <a:lnTo>
                    <a:pt x="2740342" y="1567815"/>
                  </a:lnTo>
                  <a:lnTo>
                    <a:pt x="2770822" y="1604962"/>
                  </a:lnTo>
                  <a:lnTo>
                    <a:pt x="2801302" y="1636395"/>
                  </a:lnTo>
                  <a:lnTo>
                    <a:pt x="2830830" y="1664970"/>
                  </a:lnTo>
                  <a:lnTo>
                    <a:pt x="2861310" y="1689735"/>
                  </a:lnTo>
                  <a:lnTo>
                    <a:pt x="2891790" y="1710690"/>
                  </a:lnTo>
                  <a:lnTo>
                    <a:pt x="2921318" y="1727835"/>
                  </a:lnTo>
                  <a:lnTo>
                    <a:pt x="2951798" y="1743075"/>
                  </a:lnTo>
                  <a:lnTo>
                    <a:pt x="2981325" y="1756410"/>
                  </a:lnTo>
                  <a:lnTo>
                    <a:pt x="3011805" y="1766888"/>
                  </a:lnTo>
                  <a:lnTo>
                    <a:pt x="3042285" y="1775460"/>
                  </a:lnTo>
                  <a:lnTo>
                    <a:pt x="3071812" y="1782128"/>
                  </a:lnTo>
                  <a:lnTo>
                    <a:pt x="3102292" y="1788795"/>
                  </a:lnTo>
                  <a:lnTo>
                    <a:pt x="3131820" y="1793558"/>
                  </a:lnTo>
                  <a:lnTo>
                    <a:pt x="3162300" y="1797368"/>
                  </a:lnTo>
                  <a:lnTo>
                    <a:pt x="3192780" y="1800225"/>
                  </a:lnTo>
                  <a:lnTo>
                    <a:pt x="3222308" y="1802130"/>
                  </a:lnTo>
                  <a:lnTo>
                    <a:pt x="3252788" y="1804035"/>
                  </a:lnTo>
                  <a:lnTo>
                    <a:pt x="3283268" y="1805940"/>
                  </a:lnTo>
                  <a:lnTo>
                    <a:pt x="3312795" y="1806893"/>
                  </a:lnTo>
                  <a:lnTo>
                    <a:pt x="3343275" y="1807845"/>
                  </a:lnTo>
                  <a:lnTo>
                    <a:pt x="3372802" y="1808798"/>
                  </a:lnTo>
                  <a:lnTo>
                    <a:pt x="3403282" y="1808798"/>
                  </a:lnTo>
                  <a:lnTo>
                    <a:pt x="3433762" y="1809750"/>
                  </a:lnTo>
                  <a:lnTo>
                    <a:pt x="3463290" y="1809750"/>
                  </a:lnTo>
                  <a:lnTo>
                    <a:pt x="3493770" y="1809750"/>
                  </a:lnTo>
                  <a:lnTo>
                    <a:pt x="3524250" y="1810703"/>
                  </a:lnTo>
                  <a:lnTo>
                    <a:pt x="3553777" y="1810703"/>
                  </a:lnTo>
                  <a:lnTo>
                    <a:pt x="3584258" y="1810703"/>
                  </a:lnTo>
                  <a:lnTo>
                    <a:pt x="3613785" y="1810703"/>
                  </a:lnTo>
                  <a:lnTo>
                    <a:pt x="3644265" y="1810703"/>
                  </a:lnTo>
                  <a:lnTo>
                    <a:pt x="3674745" y="1810703"/>
                  </a:lnTo>
                  <a:lnTo>
                    <a:pt x="3704272" y="1810703"/>
                  </a:lnTo>
                  <a:lnTo>
                    <a:pt x="3734752" y="1810703"/>
                  </a:lnTo>
                  <a:lnTo>
                    <a:pt x="3764280" y="1810703"/>
                  </a:lnTo>
                  <a:lnTo>
                    <a:pt x="3794760" y="1810703"/>
                  </a:lnTo>
                  <a:lnTo>
                    <a:pt x="3825240" y="1810703"/>
                  </a:lnTo>
                  <a:lnTo>
                    <a:pt x="3854768" y="1810703"/>
                  </a:lnTo>
                  <a:lnTo>
                    <a:pt x="3885248" y="1810703"/>
                  </a:lnTo>
                  <a:lnTo>
                    <a:pt x="3915727" y="1810703"/>
                  </a:lnTo>
                  <a:lnTo>
                    <a:pt x="3945255" y="1810703"/>
                  </a:lnTo>
                  <a:lnTo>
                    <a:pt x="3975735" y="1810703"/>
                  </a:lnTo>
                </a:path>
              </a:pathLst>
            </a:custGeom>
            <a:noFill/>
            <a:ln w="21908">
              <a:solidFill>
                <a:srgbClr val="F26B3A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947862" y="44386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870626" y="451437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2550795" y="44386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472948" y="451437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3152775" y="44386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111542" y="45143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3754755" y="44386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713855" y="45143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4357688" y="44386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316178" y="45143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78901" y="2630729"/>
              <a:ext cx="153990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μ₂ 的估计：方差 7σ²/18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00526" y="3621586"/>
              <a:ext cx="110985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μ₁ = X₁：方差 σ²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23900" y="4857750"/>
              <a:ext cx="5143500" cy="123825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33425" y="4962525"/>
              <a:ext cx="47625" cy="102870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895350" y="4962525"/>
              <a:ext cx="958024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82433" y="5015865"/>
              <a:ext cx="7838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例13 的图像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89826" y="5273754"/>
              <a:ext cx="3056509" cy="612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两条曲线都以真值为中心，这就是无偏；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橙色那条更窄，估计值落在真值附近的概率更大。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= 1 时落在 ±0.5 内的概率：0.383 对 0.577。</a:t>
              </a:r>
            </a:p>
          </p:txBody>
        </p:sp>
      </p:grpSp>
      <p:grpSp>
        <p:nvGrpSpPr>
          <p:cNvPr id="67" name="effB"/>
          <p:cNvGrpSpPr/>
          <p:nvPr/>
        </p:nvGrpSpPr>
        <p:grpSpPr>
          <a:xfrm>
            <a:off x="6210300" y="1524000"/>
            <a:ext cx="5448300" cy="4762500"/>
            <a:chOff x="6210300" y="1524000"/>
            <a:chExt cx="5448300" cy="4762500"/>
          </a:xfrm>
        </p:grpSpPr>
        <p:sp>
          <p:nvSpPr>
            <p:cNvPr id="35" name="Rectangle 35"/>
            <p:cNvSpPr/>
            <p:nvPr/>
          </p:nvSpPr>
          <p:spPr>
            <a:xfrm>
              <a:off x="6210300" y="1524000"/>
              <a:ext cx="54483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94323" y="1662589"/>
              <a:ext cx="27287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B₂ 平均偏小，偏差随 n 增大而消失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95466" y="1925002"/>
              <a:ext cx="3622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E(B₂) = (n − 1)σ²/n，E(S²) = σ²。纵轴以 σ² 为单位。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877050" y="264223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7145">
              <a:solidFill>
                <a:srgbClr val="0F7A68"/>
              </a:solidFill>
              <a:custDash>
                <a:ds d="277778" sp="222222"/>
              </a:custDash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13816" y="2456669"/>
              <a:ext cx="129491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E(S²) = σ²（虚线）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065645" y="3492818"/>
              <a:ext cx="377190" cy="850582"/>
            </a:xfrm>
            <a:prstGeom prst="rect">
              <a:avLst/>
            </a:prstGeom>
            <a:solidFill>
              <a:srgbClr val="A9BBE4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103321" y="3536328"/>
              <a:ext cx="30183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0.50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40447" y="441912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n=2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631430" y="3209925"/>
              <a:ext cx="377190" cy="1133475"/>
            </a:xfrm>
            <a:prstGeom prst="rect">
              <a:avLst/>
            </a:prstGeom>
            <a:solidFill>
              <a:srgbClr val="A9BBE4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669106" y="3252845"/>
              <a:ext cx="30183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0.67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06232" y="441912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n=3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197215" y="3068002"/>
              <a:ext cx="377190" cy="1275398"/>
            </a:xfrm>
            <a:prstGeom prst="rect">
              <a:avLst/>
            </a:prstGeom>
            <a:solidFill>
              <a:srgbClr val="A9BBE4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234891" y="3111103"/>
              <a:ext cx="30183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0.75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72017" y="441912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n=4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763000" y="2982278"/>
              <a:ext cx="377190" cy="1361122"/>
            </a:xfrm>
            <a:prstGeom prst="rect">
              <a:avLst/>
            </a:prstGeom>
            <a:solidFill>
              <a:srgbClr val="A9BBE4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800676" y="3026054"/>
              <a:ext cx="30183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0.80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837802" y="441912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n=5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328785" y="2812732"/>
              <a:ext cx="377190" cy="1530668"/>
            </a:xfrm>
            <a:prstGeom prst="rect">
              <a:avLst/>
            </a:prstGeom>
            <a:solidFill>
              <a:srgbClr val="A9BBE4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366461" y="2855966"/>
              <a:ext cx="30183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0.90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367307" y="4419124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n=10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894570" y="2727960"/>
              <a:ext cx="377190" cy="1615440"/>
            </a:xfrm>
            <a:prstGeom prst="rect">
              <a:avLst/>
            </a:prstGeom>
            <a:solidFill>
              <a:srgbClr val="A9BBE4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932246" y="2770927"/>
              <a:ext cx="30183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0.95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933092" y="4419124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n=20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0460355" y="2676525"/>
              <a:ext cx="377190" cy="1666875"/>
            </a:xfrm>
            <a:prstGeom prst="rect">
              <a:avLst/>
            </a:prstGeom>
            <a:solidFill>
              <a:srgbClr val="A9BBE4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498031" y="2719902"/>
              <a:ext cx="30183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0.98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498877" y="4419124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n=50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6877050" y="43434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00800" y="4857750"/>
              <a:ext cx="5067300" cy="123825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410325" y="4962525"/>
              <a:ext cx="47625" cy="102870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572250" y="4962525"/>
              <a:ext cx="1162050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53212" y="501586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有偏但渐近无偏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566726" y="5273754"/>
              <a:ext cx="2682748" cy="612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2 时 B₂ 平均只有真方差的一半；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50 时已到 0.98。把除数 n 换成 n − 1，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就得到每个 n 都无偏的样本方差 S²。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估计量的评选标准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一致性：样本量趋于无穷时估计量依概率收敛到真值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193982" cy="2326005"/>
            <a:chOff x="533400" y="1524000"/>
            <a:chExt cx="5193982" cy="23260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326005"/>
            </a:xfrm>
            <a:prstGeom prst="roundRect">
              <a:avLst>
                <a:gd name="adj" fmla="val 57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5930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一致估计量（相合估计量）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37870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设由容量为 n 的样本构造的估计量（n = 1, 2, …）组成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 的估计量序列。若对任意 θ ∈ Θ 和任意 ε &gt; 0 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68"/>
                <p:cNvSpPr txBox="1">
                  <a:spLocks noGrp="1"/>
                </p:cNvSpPr>
                <p:nvPr/>
              </p:nvSpPr>
              <p:spPr>
                <a:xfrm>
                  <a:off x="775335" y="2687002"/>
                  <a:ext cx="4748212" cy="6200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sepChr m:val=""/>
                                    <m:endChr m:val="|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acc>
                                          <m:accPr>
                                            <m:chr m:val="ˆ"/>
                                            <m:ctrlP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θ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ε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68096" y="3423761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即估计量依概率收敛于 θ，则称它为 θ 的一致估计量。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4034790"/>
            <a:ext cx="5193982" cy="1545908"/>
            <a:chOff x="533400" y="4034790"/>
            <a:chExt cx="5193982" cy="1545908"/>
          </a:xfrm>
        </p:grpSpPr>
        <p:sp>
          <p:nvSpPr>
            <p:cNvPr id="16" name="Rectangle 16"/>
            <p:cNvSpPr/>
            <p:nvPr/>
          </p:nvSpPr>
          <p:spPr>
            <a:xfrm>
              <a:off x="533400" y="4034790"/>
              <a:ext cx="5193982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16814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75335" y="423862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0445" y="42743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8096" y="4612481"/>
              <a:ext cx="449592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由大数定律，样本均值是总体均值的一致估计量，样本 k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阶原点矩 Aₖ 是 μₖ 的一致估计量。一致性只在 n 足够大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时才显出优越性。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6032182" y="1524000"/>
            <a:ext cx="5626418" cy="1274445"/>
            <a:chOff x="6032182" y="1524000"/>
            <a:chExt cx="5626418" cy="1274445"/>
          </a:xfrm>
        </p:grpSpPr>
        <p:sp>
          <p:nvSpPr>
            <p:cNvPr id="22" name="Rectangle 22"/>
            <p:cNvSpPr/>
            <p:nvPr/>
          </p:nvSpPr>
          <p:spPr>
            <a:xfrm>
              <a:off x="6032182" y="1524000"/>
              <a:ext cx="5626418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41708" y="165735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74118" y="1727835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64071" y="1763554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66879" y="2100739"/>
              <a:ext cx="482955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设估计量序列中每一个都是 θ 的无偏估计量，且方差随 n → ∞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趋于 0。证明它是 θ 的一致估计量。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formula169"/>
              <p:cNvSpPr txBox="1">
                <a:spLocks noGrp="1"/>
              </p:cNvSpPr>
              <p:nvPr/>
            </p:nvSpPr>
            <p:spPr>
              <a:xfrm>
                <a:off x="6032182" y="2984182"/>
                <a:ext cx="5626418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θ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ε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θ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</m:t>
                              </m:r>
                            </m:e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38" name="c2-steps-3"/>
          <p:cNvGrpSpPr/>
          <p:nvPr/>
        </p:nvGrpSpPr>
        <p:grpSpPr>
          <a:xfrm>
            <a:off x="6032182" y="3719512"/>
            <a:ext cx="4253789" cy="1169099"/>
            <a:chOff x="6032182" y="3719512"/>
            <a:chExt cx="4253789" cy="1169099"/>
          </a:xfrm>
        </p:grpSpPr>
        <p:sp>
          <p:nvSpPr>
            <p:cNvPr id="29" name="Rectangle 29"/>
            <p:cNvSpPr/>
            <p:nvPr/>
          </p:nvSpPr>
          <p:spPr>
            <a:xfrm>
              <a:off x="6165532" y="3862388"/>
              <a:ext cx="19050" cy="6210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6032182" y="371951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25806" y="37933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032182" y="433959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25806" y="44134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44044" y="375237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用切比雪夫不等式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45186" y="4032885"/>
              <a:ext cx="38407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估计量的期望就是 θ，对任意 ε &gt; 0 得到上面的夹逼式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44044" y="437340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取极限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45186" y="4653915"/>
              <a:ext cx="34934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方差趋于 0，右端趋于 1，由夹逼得概率极限为 1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9" name="Rectangle 3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511" y="6004084"/>
              <a:ext cx="74179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例15 给了一个好用的判别法：无偏且方差趋于 0，就一定一致。S² 与样本均值都满足。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估计量的评选标准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三个标准各看估计量的哪一面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11125200" cy="1950720"/>
            <a:chOff x="533400" y="1524000"/>
            <a:chExt cx="11125200" cy="19507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8768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0299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49968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41745" y="16630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看的是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55455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典型结论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0080" y="215074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无偏性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97418" y="2150745"/>
              <a:ext cx="18023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估计量的期望等于 θ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534978" y="215074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分布的中心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82902" y="2150745"/>
              <a:ext cx="30685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样本均值、Aₖ、S² 无偏；B₂ 有偏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945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9936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080" y="26384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有效性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97418" y="26384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无偏估计中方差更小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34978" y="26384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分布的宽窄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82902" y="26384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样本均值优于其他线性无偏估计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9822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0080" y="312610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97418" y="312610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→ ∞ 时依概率收敛于 θ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34978" y="312610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大样本的行为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82902" y="312610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无偏且方差趋于 0 即一致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11125200" cy="19507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085975" y="1524000"/>
              <a:ext cx="9525" cy="19507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3535" y="1524000"/>
              <a:ext cx="9525" cy="19507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871460" y="1524000"/>
              <a:ext cx="9525" cy="19507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1-compare-2"/>
          <p:cNvGrpSpPr/>
          <p:nvPr/>
        </p:nvGrpSpPr>
        <p:grpSpPr>
          <a:xfrm>
            <a:off x="533400" y="3665220"/>
            <a:ext cx="11125200" cy="1992630"/>
            <a:chOff x="533400" y="3665220"/>
            <a:chExt cx="11125200" cy="1992630"/>
          </a:xfrm>
        </p:grpSpPr>
        <p:sp>
          <p:nvSpPr>
            <p:cNvPr id="32" name="Rectangle 32"/>
            <p:cNvSpPr/>
            <p:nvPr/>
          </p:nvSpPr>
          <p:spPr>
            <a:xfrm>
              <a:off x="533400" y="3665220"/>
              <a:ext cx="5353050" cy="1992630"/>
            </a:xfrm>
            <a:prstGeom prst="roundRect">
              <a:avLst>
                <a:gd name="adj" fmla="val 66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3798570"/>
              <a:ext cx="47625" cy="172593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3430" y="3899535"/>
              <a:ext cx="2076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前两条是固定 n 的性质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86765" y="431673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44880" y="425386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对每个样本量都要检查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86765" y="465201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44880" y="458914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无偏是前提，有效在无偏里比较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86765" y="498729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44880" y="4924425"/>
              <a:ext cx="3397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例10、例13、例14 都在 n 固定时讨论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305550" y="3665220"/>
              <a:ext cx="5353050" cy="1992630"/>
            </a:xfrm>
            <a:prstGeom prst="roundRect">
              <a:avLst>
                <a:gd name="adj" fmla="val 66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315075" y="3798570"/>
              <a:ext cx="47625" cy="172593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45580" y="389953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一致性是大样本性质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558915" y="431673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17030" y="4253865"/>
              <a:ext cx="1802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只关心 n → ∞ 的极限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558915" y="465201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17030" y="4589145"/>
              <a:ext cx="23972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有偏的 B₂ 也是一致估计量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558915" y="498729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17030" y="49244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矩估计量一般都满足一致性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5934075" y="449961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004415" y="459581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3" name="Rectangle 5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130" y="5991225"/>
              <a:ext cx="5669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选估计量的顺序：先要一致，再看无偏，无偏里挑方差最小的。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801868" cy="2997517"/>
            <a:chOff x="667512" y="1835468"/>
            <a:chExt cx="580186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区间估计的概念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点估计只给一个数，区间估计同时交代误差范围和可信程度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置信区间与置信水平的定义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置信水平的频率解释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用枢轴量构造区间的三步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2234" cy="909257"/>
            <a:chOff x="520446" y="342900"/>
            <a:chExt cx="72322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区间估计的概念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22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置信区间：以 1 − α 的概率盖住真值的随机区间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923" y="1545431"/>
            <a:ext cx="5539994" cy="500824"/>
            <a:chOff x="526923" y="1545431"/>
            <a:chExt cx="5539994" cy="500824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5539994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点估计只是未知参数的一个近似值，没有说明误差有多大，使用时把握不大。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区间估计给出一个范围，同时说明这个范围有多可靠。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2185988"/>
            <a:ext cx="5842635" cy="3801428"/>
            <a:chOff x="533400" y="2185988"/>
            <a:chExt cx="5842635" cy="3801428"/>
          </a:xfrm>
        </p:grpSpPr>
        <p:sp>
          <p:nvSpPr>
            <p:cNvPr id="9" name="Rectangle 9"/>
            <p:cNvSpPr/>
            <p:nvPr/>
          </p:nvSpPr>
          <p:spPr>
            <a:xfrm>
              <a:off x="533400" y="2185988"/>
              <a:ext cx="5842635" cy="3801428"/>
            </a:xfrm>
            <a:prstGeom prst="roundRect">
              <a:avLst>
                <a:gd name="adj" fmla="val 35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319338"/>
              <a:ext cx="47625" cy="353472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39553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431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2078" y="243078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置信区间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791778"/>
              <a:ext cx="50825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总体 X 的分布含未知参数 θ，X₁, …, Xₙ 是样本。对给定的 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（0 &lt; α &lt; 1），若统计量 θ₁ = θ₁(X₁, …, Xₙ)、θ₂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θ₂(X₁, …, Xₙ) 满足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172"/>
                <p:cNvSpPr txBox="1">
                  <a:spLocks noGrp="1"/>
                </p:cNvSpPr>
                <p:nvPr/>
              </p:nvSpPr>
              <p:spPr>
                <a:xfrm>
                  <a:off x="781050" y="3673792"/>
                  <a:ext cx="5385435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α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Ellipse 16"/>
            <p:cNvSpPr/>
            <p:nvPr/>
          </p:nvSpPr>
          <p:spPr>
            <a:xfrm>
              <a:off x="786765" y="4275772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4212908"/>
              <a:ext cx="52755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随机区间 (θ₁, θ₂) 称为 θ 的置信水平为 1 − α 的 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置信区间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4611052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4548188"/>
              <a:ext cx="4844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1 − α 称为 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置信度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（置信水平）；θ₁、θ₂ 称为置信下限、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置信上限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4573" y="5164931"/>
              <a:ext cx="50848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θ₁、θ₂ 是统计量，随样本变化；θ 是常数。概率 1 − α 描述的是随机区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间，代入样本值以后得到的具体区间要么盖住 θ、要么没盖住。</a:t>
              </a:r>
            </a:p>
          </p:txBody>
        </p:sp>
      </p:grpSp>
      <p:grpSp>
        <p:nvGrpSpPr>
          <p:cNvPr id="24" name="c2-image-1"/>
          <p:cNvGrpSpPr/>
          <p:nvPr/>
        </p:nvGrpSpPr>
        <p:grpSpPr>
          <a:xfrm>
            <a:off x="7383780" y="1524000"/>
            <a:ext cx="3571875" cy="2696052"/>
            <a:chOff x="7383780" y="1524000"/>
            <a:chExt cx="3571875" cy="2696052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83780" y="1524000"/>
              <a:ext cx="3571875" cy="2381250"/>
            </a:xfrm>
            <a:prstGeom prst="roundRect">
              <a:avLst>
                <a:gd name="adj" fmla="val 5600"/>
              </a:avLst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7807033" y="4000024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木桩固定不动，每次抛出的绳圈位置不同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680835" y="4385310"/>
            <a:ext cx="4977765" cy="1602105"/>
            <a:chOff x="6680835" y="4385310"/>
            <a:chExt cx="4977765" cy="1602105"/>
          </a:xfrm>
        </p:grpSpPr>
        <p:sp>
          <p:nvSpPr>
            <p:cNvPr id="25" name="Rectangle 25"/>
            <p:cNvSpPr/>
            <p:nvPr/>
          </p:nvSpPr>
          <p:spPr>
            <a:xfrm>
              <a:off x="6680835" y="4385310"/>
              <a:ext cx="497776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690360" y="451866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928485" y="459486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19646" y="46305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类比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20865" y="4972050"/>
              <a:ext cx="43491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 θ 是木桩，置信区间是抛出去的绳圈。置信水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 0.95 说的是抛圈的手法：长期看，100 次里大约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95 次能套住木桩。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24683" cy="909257"/>
            <a:chOff x="520446" y="342900"/>
            <a:chExt cx="41246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区间估计的概念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246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置信水平 0.95 的频率含义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8" name="covA"/>
          <p:cNvGrpSpPr/>
          <p:nvPr/>
        </p:nvGrpSpPr>
        <p:grpSpPr>
          <a:xfrm>
            <a:off x="533400" y="1524000"/>
            <a:ext cx="6667500" cy="4762500"/>
            <a:chOff x="533400" y="1524000"/>
            <a:chExt cx="6667500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6675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423" y="1662589"/>
              <a:ext cx="37297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同一个总体抽 25 次样本，得到 25 个不同的区间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8566" y="1925002"/>
              <a:ext cx="38247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总体 N(10, 2²)，每次 n = 10，按 σ 未知的 95% 公式计算。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608772" y="2294572"/>
              <a:ext cx="9525" cy="3591878"/>
            </a:xfrm>
            <a:custGeom>
              <a:avLst/>
              <a:gdLst/>
              <a:ahLst/>
              <a:cxnLst/>
              <a:rect l="l" t="t" r="r" b="b"/>
              <a:pathLst>
                <a:path w="9525" h="3591878">
                  <a:moveTo>
                    <a:pt x="0" y="3591878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67130" y="59621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425065" y="2294572"/>
              <a:ext cx="9525" cy="3591878"/>
            </a:xfrm>
            <a:custGeom>
              <a:avLst/>
              <a:gdLst/>
              <a:ahLst/>
              <a:cxnLst/>
              <a:rect l="l" t="t" r="r" b="b"/>
              <a:pathLst>
                <a:path w="9525" h="3591878">
                  <a:moveTo>
                    <a:pt x="0" y="3591878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383556" y="59621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241358" y="2294572"/>
              <a:ext cx="9525" cy="3591878"/>
            </a:xfrm>
            <a:custGeom>
              <a:avLst/>
              <a:gdLst/>
              <a:ahLst/>
              <a:cxnLst/>
              <a:rect l="l" t="t" r="r" b="b"/>
              <a:pathLst>
                <a:path w="9525" h="3591878">
                  <a:moveTo>
                    <a:pt x="0" y="3591878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199991" y="59621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4057650" y="2294572"/>
              <a:ext cx="9525" cy="3591878"/>
            </a:xfrm>
            <a:custGeom>
              <a:avLst/>
              <a:gdLst/>
              <a:ahLst/>
              <a:cxnLst/>
              <a:rect l="l" t="t" r="r" b="b"/>
              <a:pathLst>
                <a:path w="9525" h="3591878">
                  <a:moveTo>
                    <a:pt x="0" y="3591878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980137" y="596217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4873942" y="2294572"/>
              <a:ext cx="9525" cy="3591878"/>
            </a:xfrm>
            <a:custGeom>
              <a:avLst/>
              <a:gdLst/>
              <a:ahLst/>
              <a:cxnLst/>
              <a:rect l="l" t="t" r="r" b="b"/>
              <a:pathLst>
                <a:path w="9525" h="3591878">
                  <a:moveTo>
                    <a:pt x="0" y="3591878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796563" y="596217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5690235" y="2294572"/>
              <a:ext cx="9525" cy="3591878"/>
            </a:xfrm>
            <a:custGeom>
              <a:avLst/>
              <a:gdLst/>
              <a:ahLst/>
              <a:cxnLst/>
              <a:rect l="l" t="t" r="r" b="b"/>
              <a:pathLst>
                <a:path w="9525" h="3591878">
                  <a:moveTo>
                    <a:pt x="0" y="3591878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612998" y="596217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506528" y="2294572"/>
              <a:ext cx="9525" cy="3591878"/>
            </a:xfrm>
            <a:custGeom>
              <a:avLst/>
              <a:gdLst/>
              <a:ahLst/>
              <a:cxnLst/>
              <a:rect l="l" t="t" r="r" b="b"/>
              <a:pathLst>
                <a:path w="9525" h="3591878">
                  <a:moveTo>
                    <a:pt x="0" y="3591878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29424" y="596217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4057650" y="2294572"/>
              <a:ext cx="9525" cy="3591878"/>
            </a:xfrm>
            <a:custGeom>
              <a:avLst/>
              <a:gdLst/>
              <a:ahLst/>
              <a:cxnLst/>
              <a:rect l="l" t="t" r="r" b="b"/>
              <a:pathLst>
                <a:path w="9525" h="3591878">
                  <a:moveTo>
                    <a:pt x="0" y="3591878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C2410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287357" y="2128342"/>
              <a:ext cx="154058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真值 μ = 10（固定不动）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2857500" y="2433638"/>
              <a:ext cx="1420178" cy="9525"/>
            </a:xfrm>
            <a:custGeom>
              <a:avLst/>
              <a:gdLst/>
              <a:ahLst/>
              <a:cxnLst/>
              <a:rect l="l" t="t" r="r" b="b"/>
              <a:pathLst>
                <a:path w="1420178" h="9525">
                  <a:moveTo>
                    <a:pt x="0" y="0"/>
                  </a:moveTo>
                  <a:lnTo>
                    <a:pt x="1420178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3534728" y="2401252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3004185" y="2573655"/>
              <a:ext cx="2385060" cy="9525"/>
            </a:xfrm>
            <a:custGeom>
              <a:avLst/>
              <a:gdLst/>
              <a:ahLst/>
              <a:cxnLst/>
              <a:rect l="l" t="t" r="r" b="b"/>
              <a:pathLst>
                <a:path w="2385060" h="9525">
                  <a:moveTo>
                    <a:pt x="0" y="0"/>
                  </a:moveTo>
                  <a:lnTo>
                    <a:pt x="2385060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4164330" y="254127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3758565" y="2712720"/>
              <a:ext cx="2283142" cy="9525"/>
            </a:xfrm>
            <a:custGeom>
              <a:avLst/>
              <a:gdLst/>
              <a:ahLst/>
              <a:cxnLst/>
              <a:rect l="l" t="t" r="r" b="b"/>
              <a:pathLst>
                <a:path w="2283142" h="9525">
                  <a:moveTo>
                    <a:pt x="0" y="0"/>
                  </a:moveTo>
                  <a:lnTo>
                    <a:pt x="2283142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4868228" y="26803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2188845" y="2851785"/>
              <a:ext cx="2367915" cy="9525"/>
            </a:xfrm>
            <a:custGeom>
              <a:avLst/>
              <a:gdLst/>
              <a:ahLst/>
              <a:cxnLst/>
              <a:rect l="l" t="t" r="r" b="b"/>
              <a:pathLst>
                <a:path w="2367915" h="9525">
                  <a:moveTo>
                    <a:pt x="0" y="0"/>
                  </a:moveTo>
                  <a:lnTo>
                    <a:pt x="2367915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3340418" y="281940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3712845" y="2990850"/>
              <a:ext cx="1288732" cy="9525"/>
            </a:xfrm>
            <a:custGeom>
              <a:avLst/>
              <a:gdLst/>
              <a:ahLst/>
              <a:cxnLst/>
              <a:rect l="l" t="t" r="r" b="b"/>
              <a:pathLst>
                <a:path w="1288732" h="9525">
                  <a:moveTo>
                    <a:pt x="0" y="0"/>
                  </a:moveTo>
                  <a:lnTo>
                    <a:pt x="1288732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4324350" y="29584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2790825" y="3129915"/>
              <a:ext cx="2354580" cy="9525"/>
            </a:xfrm>
            <a:custGeom>
              <a:avLst/>
              <a:gdLst/>
              <a:ahLst/>
              <a:cxnLst/>
              <a:rect l="l" t="t" r="r" b="b"/>
              <a:pathLst>
                <a:path w="2354580" h="9525">
                  <a:moveTo>
                    <a:pt x="0" y="0"/>
                  </a:moveTo>
                  <a:lnTo>
                    <a:pt x="2354580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3935730" y="309753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Line 38"/>
            <p:cNvSpPr/>
            <p:nvPr/>
          </p:nvSpPr>
          <p:spPr>
            <a:xfrm>
              <a:off x="1993582" y="3268980"/>
              <a:ext cx="2412682" cy="9525"/>
            </a:xfrm>
            <a:custGeom>
              <a:avLst/>
              <a:gdLst/>
              <a:ahLst/>
              <a:cxnLst/>
              <a:rect l="l" t="t" r="r" b="b"/>
              <a:pathLst>
                <a:path w="2412682" h="9525">
                  <a:moveTo>
                    <a:pt x="0" y="0"/>
                  </a:moveTo>
                  <a:lnTo>
                    <a:pt x="2412682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3167062" y="32365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Line 40"/>
            <p:cNvSpPr/>
            <p:nvPr/>
          </p:nvSpPr>
          <p:spPr>
            <a:xfrm>
              <a:off x="3524250" y="3408045"/>
              <a:ext cx="2135505" cy="9525"/>
            </a:xfrm>
            <a:custGeom>
              <a:avLst/>
              <a:gdLst/>
              <a:ahLst/>
              <a:cxnLst/>
              <a:rect l="l" t="t" r="r" b="b"/>
              <a:pathLst>
                <a:path w="2135505" h="9525">
                  <a:moveTo>
                    <a:pt x="0" y="0"/>
                  </a:moveTo>
                  <a:lnTo>
                    <a:pt x="2135505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4559618" y="337566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Line 42"/>
            <p:cNvSpPr/>
            <p:nvPr/>
          </p:nvSpPr>
          <p:spPr>
            <a:xfrm>
              <a:off x="2595562" y="3548062"/>
              <a:ext cx="2540318" cy="9525"/>
            </a:xfrm>
            <a:custGeom>
              <a:avLst/>
              <a:gdLst/>
              <a:ahLst/>
              <a:cxnLst/>
              <a:rect l="l" t="t" r="r" b="b"/>
              <a:pathLst>
                <a:path w="2540318" h="9525">
                  <a:moveTo>
                    <a:pt x="0" y="0"/>
                  </a:moveTo>
                  <a:lnTo>
                    <a:pt x="2540318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3832860" y="3515678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Line 44"/>
            <p:cNvSpPr/>
            <p:nvPr/>
          </p:nvSpPr>
          <p:spPr>
            <a:xfrm>
              <a:off x="2539365" y="3687128"/>
              <a:ext cx="2859405" cy="9525"/>
            </a:xfrm>
            <a:custGeom>
              <a:avLst/>
              <a:gdLst/>
              <a:ahLst/>
              <a:cxnLst/>
              <a:rect l="l" t="t" r="r" b="b"/>
              <a:pathLst>
                <a:path w="2859405" h="9525">
                  <a:moveTo>
                    <a:pt x="0" y="0"/>
                  </a:moveTo>
                  <a:lnTo>
                    <a:pt x="2859405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3936682" y="3654743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Line 46"/>
            <p:cNvSpPr/>
            <p:nvPr/>
          </p:nvSpPr>
          <p:spPr>
            <a:xfrm>
              <a:off x="2089785" y="3826192"/>
              <a:ext cx="2415540" cy="9525"/>
            </a:xfrm>
            <a:custGeom>
              <a:avLst/>
              <a:gdLst/>
              <a:ahLst/>
              <a:cxnLst/>
              <a:rect l="l" t="t" r="r" b="b"/>
              <a:pathLst>
                <a:path w="2415540" h="9525">
                  <a:moveTo>
                    <a:pt x="0" y="0"/>
                  </a:moveTo>
                  <a:lnTo>
                    <a:pt x="2415540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3265170" y="3793808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Line 48"/>
            <p:cNvSpPr/>
            <p:nvPr/>
          </p:nvSpPr>
          <p:spPr>
            <a:xfrm>
              <a:off x="3153728" y="3965258"/>
              <a:ext cx="2520315" cy="9525"/>
            </a:xfrm>
            <a:custGeom>
              <a:avLst/>
              <a:gdLst/>
              <a:ahLst/>
              <a:cxnLst/>
              <a:rect l="l" t="t" r="r" b="b"/>
              <a:pathLst>
                <a:path w="2520315" h="9525">
                  <a:moveTo>
                    <a:pt x="0" y="0"/>
                  </a:moveTo>
                  <a:lnTo>
                    <a:pt x="2520315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4381500" y="3932873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Line 50"/>
            <p:cNvSpPr/>
            <p:nvPr/>
          </p:nvSpPr>
          <p:spPr>
            <a:xfrm>
              <a:off x="2696528" y="4104322"/>
              <a:ext cx="2449830" cy="9525"/>
            </a:xfrm>
            <a:custGeom>
              <a:avLst/>
              <a:gdLst/>
              <a:ahLst/>
              <a:cxnLst/>
              <a:rect l="l" t="t" r="r" b="b"/>
              <a:pathLst>
                <a:path w="2449830" h="9525">
                  <a:moveTo>
                    <a:pt x="0" y="0"/>
                  </a:moveTo>
                  <a:lnTo>
                    <a:pt x="2449830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3889058" y="4071938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Line 52"/>
            <p:cNvSpPr/>
            <p:nvPr/>
          </p:nvSpPr>
          <p:spPr>
            <a:xfrm>
              <a:off x="3797618" y="4243388"/>
              <a:ext cx="2494598" cy="9525"/>
            </a:xfrm>
            <a:custGeom>
              <a:avLst/>
              <a:gdLst/>
              <a:ahLst/>
              <a:cxnLst/>
              <a:rect l="l" t="t" r="r" b="b"/>
              <a:pathLst>
                <a:path w="2494598" h="9525">
                  <a:moveTo>
                    <a:pt x="0" y="0"/>
                  </a:moveTo>
                  <a:lnTo>
                    <a:pt x="2494598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5012055" y="4211002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Line 54"/>
            <p:cNvSpPr/>
            <p:nvPr/>
          </p:nvSpPr>
          <p:spPr>
            <a:xfrm>
              <a:off x="2622232" y="4383405"/>
              <a:ext cx="1944052" cy="9525"/>
            </a:xfrm>
            <a:custGeom>
              <a:avLst/>
              <a:gdLst/>
              <a:ahLst/>
              <a:cxnLst/>
              <a:rect l="l" t="t" r="r" b="b"/>
              <a:pathLst>
                <a:path w="1944052" h="9525">
                  <a:moveTo>
                    <a:pt x="0" y="0"/>
                  </a:moveTo>
                  <a:lnTo>
                    <a:pt x="1944052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3561398" y="435102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1628775" y="4522470"/>
              <a:ext cx="2734628" cy="9525"/>
            </a:xfrm>
            <a:custGeom>
              <a:avLst/>
              <a:gdLst/>
              <a:ahLst/>
              <a:cxnLst/>
              <a:rect l="l" t="t" r="r" b="b"/>
              <a:pathLst>
                <a:path w="2734628" h="9525">
                  <a:moveTo>
                    <a:pt x="0" y="0"/>
                  </a:moveTo>
                  <a:lnTo>
                    <a:pt x="2734628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2963228" y="449008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Line 58"/>
            <p:cNvSpPr/>
            <p:nvPr/>
          </p:nvSpPr>
          <p:spPr>
            <a:xfrm>
              <a:off x="3455670" y="4661535"/>
              <a:ext cx="1951673" cy="9525"/>
            </a:xfrm>
            <a:custGeom>
              <a:avLst/>
              <a:gdLst/>
              <a:ahLst/>
              <a:cxnLst/>
              <a:rect l="l" t="t" r="r" b="b"/>
              <a:pathLst>
                <a:path w="1951673" h="9525">
                  <a:moveTo>
                    <a:pt x="0" y="0"/>
                  </a:moveTo>
                  <a:lnTo>
                    <a:pt x="1951673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4398645" y="462915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Line 60"/>
            <p:cNvSpPr/>
            <p:nvPr/>
          </p:nvSpPr>
          <p:spPr>
            <a:xfrm>
              <a:off x="2203132" y="4800600"/>
              <a:ext cx="1549718" cy="9525"/>
            </a:xfrm>
            <a:custGeom>
              <a:avLst/>
              <a:gdLst/>
              <a:ahLst/>
              <a:cxnLst/>
              <a:rect l="l" t="t" r="r" b="b"/>
              <a:pathLst>
                <a:path w="1549718" h="9525">
                  <a:moveTo>
                    <a:pt x="0" y="0"/>
                  </a:moveTo>
                  <a:lnTo>
                    <a:pt x="1549718" y="0"/>
                  </a:lnTo>
                </a:path>
              </a:pathLst>
            </a:custGeom>
            <a:noFill/>
            <a:ln w="28575">
              <a:solidFill>
                <a:srgbClr val="B42318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2945130" y="4768215"/>
              <a:ext cx="64770" cy="6477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845824" y="474406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没盖住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3081338" y="4939665"/>
              <a:ext cx="2049780" cy="9525"/>
            </a:xfrm>
            <a:custGeom>
              <a:avLst/>
              <a:gdLst/>
              <a:ahLst/>
              <a:cxnLst/>
              <a:rect l="l" t="t" r="r" b="b"/>
              <a:pathLst>
                <a:path w="2049780" h="9525">
                  <a:moveTo>
                    <a:pt x="0" y="0"/>
                  </a:moveTo>
                  <a:lnTo>
                    <a:pt x="2049780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4073843" y="490728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Line 65"/>
            <p:cNvSpPr/>
            <p:nvPr/>
          </p:nvSpPr>
          <p:spPr>
            <a:xfrm>
              <a:off x="3560445" y="5078730"/>
              <a:ext cx="1121092" cy="9525"/>
            </a:xfrm>
            <a:custGeom>
              <a:avLst/>
              <a:gdLst/>
              <a:ahLst/>
              <a:cxnLst/>
              <a:rect l="l" t="t" r="r" b="b"/>
              <a:pathLst>
                <a:path w="1121092" h="9525">
                  <a:moveTo>
                    <a:pt x="0" y="0"/>
                  </a:moveTo>
                  <a:lnTo>
                    <a:pt x="1121092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4088130" y="504634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Line 67"/>
            <p:cNvSpPr/>
            <p:nvPr/>
          </p:nvSpPr>
          <p:spPr>
            <a:xfrm>
              <a:off x="3320415" y="5217795"/>
              <a:ext cx="2205038" cy="9525"/>
            </a:xfrm>
            <a:custGeom>
              <a:avLst/>
              <a:gdLst/>
              <a:ahLst/>
              <a:cxnLst/>
              <a:rect l="l" t="t" r="r" b="b"/>
              <a:pathLst>
                <a:path w="2205038" h="9525">
                  <a:moveTo>
                    <a:pt x="0" y="0"/>
                  </a:moveTo>
                  <a:lnTo>
                    <a:pt x="2205038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4391025" y="518541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Line 69"/>
            <p:cNvSpPr/>
            <p:nvPr/>
          </p:nvSpPr>
          <p:spPr>
            <a:xfrm>
              <a:off x="4165282" y="5357812"/>
              <a:ext cx="2167890" cy="9525"/>
            </a:xfrm>
            <a:custGeom>
              <a:avLst/>
              <a:gdLst/>
              <a:ahLst/>
              <a:cxnLst/>
              <a:rect l="l" t="t" r="r" b="b"/>
              <a:pathLst>
                <a:path w="2167890" h="9525">
                  <a:moveTo>
                    <a:pt x="0" y="0"/>
                  </a:moveTo>
                  <a:lnTo>
                    <a:pt x="2167890" y="0"/>
                  </a:lnTo>
                </a:path>
              </a:pathLst>
            </a:custGeom>
            <a:noFill/>
            <a:ln w="28575">
              <a:solidFill>
                <a:srgbClr val="B42318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5216842" y="5325428"/>
              <a:ext cx="64770" cy="6477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425889" y="5300920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没盖住</a:t>
              </a:r>
            </a:p>
          </p:txBody>
        </p:sp>
        <p:sp>
          <p:nvSpPr>
            <p:cNvPr id="72" name="Line 72"/>
            <p:cNvSpPr/>
            <p:nvPr/>
          </p:nvSpPr>
          <p:spPr>
            <a:xfrm>
              <a:off x="2972752" y="5496878"/>
              <a:ext cx="2406967" cy="9525"/>
            </a:xfrm>
            <a:custGeom>
              <a:avLst/>
              <a:gdLst/>
              <a:ahLst/>
              <a:cxnLst/>
              <a:rect l="l" t="t" r="r" b="b"/>
              <a:pathLst>
                <a:path w="2406967" h="9525">
                  <a:moveTo>
                    <a:pt x="0" y="0"/>
                  </a:moveTo>
                  <a:lnTo>
                    <a:pt x="2406967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4144328" y="5464492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4" name="Line 74"/>
            <p:cNvSpPr/>
            <p:nvPr/>
          </p:nvSpPr>
          <p:spPr>
            <a:xfrm>
              <a:off x="3408998" y="5635942"/>
              <a:ext cx="2582228" cy="9525"/>
            </a:xfrm>
            <a:custGeom>
              <a:avLst/>
              <a:gdLst/>
              <a:ahLst/>
              <a:cxnLst/>
              <a:rect l="l" t="t" r="r" b="b"/>
              <a:pathLst>
                <a:path w="2582228" h="9525">
                  <a:moveTo>
                    <a:pt x="0" y="0"/>
                  </a:moveTo>
                  <a:lnTo>
                    <a:pt x="2582228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4668202" y="5603558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6" name="Line 76"/>
            <p:cNvSpPr/>
            <p:nvPr/>
          </p:nvSpPr>
          <p:spPr>
            <a:xfrm>
              <a:off x="2164080" y="5775008"/>
              <a:ext cx="3120390" cy="9525"/>
            </a:xfrm>
            <a:custGeom>
              <a:avLst/>
              <a:gdLst/>
              <a:ahLst/>
              <a:cxnLst/>
              <a:rect l="l" t="t" r="r" b="b"/>
              <a:pathLst>
                <a:path w="3120390" h="9525">
                  <a:moveTo>
                    <a:pt x="0" y="0"/>
                  </a:moveTo>
                  <a:lnTo>
                    <a:pt x="3120390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77" name="Ellipse 77"/>
            <p:cNvSpPr/>
            <p:nvPr/>
          </p:nvSpPr>
          <p:spPr>
            <a:xfrm>
              <a:off x="3691890" y="5742622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</p:grpSp>
      <p:grpSp>
        <p:nvGrpSpPr>
          <p:cNvPr id="96" name="covB"/>
          <p:cNvGrpSpPr/>
          <p:nvPr/>
        </p:nvGrpSpPr>
        <p:grpSpPr>
          <a:xfrm>
            <a:off x="7353300" y="1524000"/>
            <a:ext cx="4305300" cy="4762500"/>
            <a:chOff x="7353300" y="1524000"/>
            <a:chExt cx="4305300" cy="4762500"/>
          </a:xfrm>
        </p:grpSpPr>
        <p:sp>
          <p:nvSpPr>
            <p:cNvPr id="79" name="Rectangle 79"/>
            <p:cNvSpPr/>
            <p:nvPr/>
          </p:nvSpPr>
          <p:spPr>
            <a:xfrm>
              <a:off x="7353300" y="1524000"/>
              <a:ext cx="4305300" cy="4762500"/>
            </a:xfrm>
            <a:prstGeom prst="roundRect">
              <a:avLst>
                <a:gd name="adj" fmla="val 265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537323" y="166258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怎么读这张图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7505700" y="1962150"/>
              <a:ext cx="4000500" cy="13335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7515225" y="2066925"/>
              <a:ext cx="47625" cy="11239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7677150" y="2066925"/>
              <a:ext cx="62865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774115" y="212026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这一次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671816" y="2382202"/>
              <a:ext cx="2030920" cy="8054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 个区间里有 23 个盖住了 μ，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个没盖住（红色）。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每个区间的中心和长度都不同，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因为样本均值和 S 都随样本变化。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7505700" y="3409950"/>
              <a:ext cx="4000500" cy="13335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7515225" y="3514725"/>
              <a:ext cx="47625" cy="11239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7677150" y="3514725"/>
              <a:ext cx="89535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766114" y="356806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重复很多次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671816" y="3830002"/>
              <a:ext cx="1830896" cy="8054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同样的实验做 20000 次，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盖住 μ 的比例是 94.8%，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 95% 只差抽样误差。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（prob_ch7_check.py 模拟）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7505700" y="4857750"/>
              <a:ext cx="4000500" cy="127635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7515225" y="4962525"/>
              <a:ext cx="47625" cy="106680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7677150" y="4962525"/>
              <a:ext cx="762000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7770114" y="501586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别说反了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671816" y="5277802"/>
              <a:ext cx="1457516" cy="6054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动的是区间，μ 是常数。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95% 说的是这套方法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长期的命中率。</a:t>
              </a:r>
            </a:p>
          </p:txBody>
        </p:sp>
      </p:grpSp>
      <p:grpSp>
        <p:nvGrpSpPr>
          <p:cNvPr id="9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7" name="TextBox 9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区间估计的概念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构造置信区间的一般方法：找枢轴量，查分位点，解不等式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355336" cy="2632139"/>
            <a:chOff x="533400" y="1533525"/>
            <a:chExt cx="5355336" cy="263213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0831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965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0703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61664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6904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15663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明确问题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1846898"/>
              <a:ext cx="27099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确定要估计的参数 θ 和置信水平 1 − α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18741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构造枢轴量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2467927"/>
              <a:ext cx="49423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找样本函数 T = T(X₁, …, Xₙ; θ)，只含待估参数 θ、不含其他未知参数，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并且分布已知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302942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查分位点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309938"/>
              <a:ext cx="35864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T 的分布找常数 a、b，使 P{a &lt; T &lt; b} = 1 − α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65045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等价变形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930968"/>
              <a:ext cx="39596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a &lt; T &lt; b 解成 θ₁ &lt; θ &lt; θ₂，(θ₁, θ₂) 就是所求区间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4341495"/>
            <a:ext cx="5626418" cy="1274445"/>
            <a:chOff x="533400" y="4341495"/>
            <a:chExt cx="5626418" cy="1274445"/>
          </a:xfrm>
        </p:grpSpPr>
        <p:sp>
          <p:nvSpPr>
            <p:cNvPr id="25" name="Rectangle 25"/>
            <p:cNvSpPr/>
            <p:nvPr/>
          </p:nvSpPr>
          <p:spPr>
            <a:xfrm>
              <a:off x="533400" y="4341495"/>
              <a:ext cx="5626418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474845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75335" y="454533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52741" y="458104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对照下一节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8096" y="4918234"/>
              <a:ext cx="482053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 已知求 μ 时，T 取 (样本均值 − μ)/(σ/√n)，服从 N(0,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1)；a、b 取 ∓uα/2；解出的区间是样本均值 ∓ uα/2·σ/√n。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formula178"/>
              <p:cNvSpPr txBox="1">
                <a:spLocks noGrp="1"/>
              </p:cNvSpPr>
              <p:nvPr/>
            </p:nvSpPr>
            <p:spPr>
              <a:xfrm>
                <a:off x="6464618" y="1524000"/>
                <a:ext cx="5193982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,…,</m:t>
                              </m:r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;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α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formula179"/>
              <p:cNvSpPr txBox="1">
                <a:spLocks noGrp="1"/>
              </p:cNvSpPr>
              <p:nvPr/>
            </p:nvSpPr>
            <p:spPr>
              <a:xfrm>
                <a:off x="6464618" y="2071688"/>
                <a:ext cx="5193982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⟺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,…,</m:t>
                              </m:r>
                              <m:sSub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,…,</m:t>
                              </m:r>
                              <m:sSub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α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2" name="c2-card-3"/>
          <p:cNvGrpSpPr/>
          <p:nvPr/>
        </p:nvGrpSpPr>
        <p:grpSpPr>
          <a:xfrm>
            <a:off x="6464618" y="2599372"/>
            <a:ext cx="5193982" cy="3016568"/>
            <a:chOff x="6464618" y="2599372"/>
            <a:chExt cx="5193982" cy="3016568"/>
          </a:xfrm>
        </p:grpSpPr>
        <p:sp>
          <p:nvSpPr>
            <p:cNvPr id="33" name="Rectangle 33"/>
            <p:cNvSpPr/>
            <p:nvPr/>
          </p:nvSpPr>
          <p:spPr>
            <a:xfrm>
              <a:off x="6464618" y="2599372"/>
              <a:ext cx="5193982" cy="3016568"/>
            </a:xfrm>
            <a:prstGeom prst="roundRect">
              <a:avLst>
                <a:gd name="adj" fmla="val 44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74142" y="2732722"/>
              <a:ext cx="47625" cy="274986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706552" y="2803208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72110" y="283892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两个要求此消彼长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714172" y="323659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70764" y="3176111"/>
              <a:ext cx="28532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可靠性：置信水平 1 − α 尽可能大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714172" y="355663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70764" y="3496151"/>
              <a:ext cx="28723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精度：区间长度 θ₂ − θ₁ 尽可能小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00456" y="3812857"/>
              <a:ext cx="45384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固定时，提高置信水平必然加宽区间。通常先定 α，再在满足条件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的区间里选最短的。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3" name="Rectangle 43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511" y="6004084"/>
              <a:ext cx="88365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正态总体的各种情形只是枢轴量不同；总体不是正态但 n 很大时，可以由中心极限定理近似成正态处理。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区间估计的概念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回顾：正态总体的八个抽样分布就是八个枢轴量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747711" cy="308039"/>
            <a:chOff x="525399" y="1550194"/>
            <a:chExt cx="974771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74771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单总体 X ~ N(μ, σ²)，容量 n，样本方差 S²；两总体 X、Y 独立，容量 n₁、n₂，样本方差 S₁²、S₂²。</a:t>
              </a:r>
            </a:p>
          </p:txBody>
        </p:sp>
      </p:grpSp>
      <p:grpSp>
        <p:nvGrpSpPr>
          <p:cNvPr id="17" name="c1-card-1"/>
          <p:cNvGrpSpPr/>
          <p:nvPr/>
        </p:nvGrpSpPr>
        <p:grpSpPr>
          <a:xfrm>
            <a:off x="533400" y="1967865"/>
            <a:ext cx="5410200" cy="3435668"/>
            <a:chOff x="533400" y="1967865"/>
            <a:chExt cx="5410200" cy="3435668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3435668"/>
            </a:xfrm>
            <a:prstGeom prst="roundRect">
              <a:avLst>
                <a:gd name="adj" fmla="val 38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316896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4507" y="221313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单个正态总体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88"/>
                <p:cNvSpPr txBox="1">
                  <a:spLocks noGrp="1"/>
                </p:cNvSpPr>
                <p:nvPr/>
              </p:nvSpPr>
              <p:spPr>
                <a:xfrm>
                  <a:off x="781050" y="2529840"/>
                  <a:ext cx="4953000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1.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U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bar>
                              <m:barPr>
                                <m:pos m:val="top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ad>
                              <m:radPr>
                                <m:degHide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89"/>
                <p:cNvSpPr txBox="1">
                  <a:spLocks noGrp="1"/>
                </p:cNvSpPr>
                <p:nvPr/>
              </p:nvSpPr>
              <p:spPr>
                <a:xfrm>
                  <a:off x="781050" y="3139440"/>
                  <a:ext cx="4953000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2.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bar>
                              <m:barPr>
                                <m:pos m:val="top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ad>
                              <m:radPr>
                                <m:degHide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t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190"/>
                <p:cNvSpPr txBox="1">
                  <a:spLocks noGrp="1"/>
                </p:cNvSpPr>
                <p:nvPr/>
              </p:nvSpPr>
              <p:spPr>
                <a:xfrm>
                  <a:off x="781050" y="3749040"/>
                  <a:ext cx="4953000" cy="628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3.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χ</m:t>
                            </m:r>
                          </m:e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χ</m:t>
                            </m:r>
                          </m:e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191"/>
                <p:cNvSpPr txBox="1">
                  <a:spLocks noGrp="1"/>
                </p:cNvSpPr>
                <p:nvPr/>
              </p:nvSpPr>
              <p:spPr>
                <a:xfrm>
                  <a:off x="781050" y="4472940"/>
                  <a:ext cx="4953000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4.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χ</m:t>
                            </m:r>
                          </m:e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χ</m:t>
                            </m:r>
                          </m:e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7" name="c2-card-1"/>
          <p:cNvGrpSpPr/>
          <p:nvPr/>
        </p:nvGrpSpPr>
        <p:grpSpPr>
          <a:xfrm>
            <a:off x="6248400" y="1967865"/>
            <a:ext cx="5410200" cy="3435668"/>
            <a:chOff x="6248400" y="1967865"/>
            <a:chExt cx="5410200" cy="3435668"/>
          </a:xfrm>
        </p:grpSpPr>
        <p:sp>
          <p:nvSpPr>
            <p:cNvPr id="18" name="Rectangle 18"/>
            <p:cNvSpPr/>
            <p:nvPr/>
          </p:nvSpPr>
          <p:spPr>
            <a:xfrm>
              <a:off x="6248400" y="1967865"/>
              <a:ext cx="5410200" cy="3435668"/>
            </a:xfrm>
            <a:prstGeom prst="roundRect">
              <a:avLst>
                <a:gd name="adj" fmla="val 38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57925" y="2101215"/>
              <a:ext cx="47625" cy="316896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96050" y="2177415"/>
              <a:ext cx="28946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14825" y="2213134"/>
              <a:ext cx="2858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两个独立的正态总体（6 要求 σ₁² = σ₂²）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formula192"/>
                <p:cNvSpPr txBox="1">
                  <a:spLocks noGrp="1"/>
                </p:cNvSpPr>
                <p:nvPr/>
              </p:nvSpPr>
              <p:spPr>
                <a:xfrm>
                  <a:off x="6496050" y="2529840"/>
                  <a:ext cx="495300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5.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U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bar>
                              <m:barPr>
                                <m:pos m:val="top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bar>
                              <m:barPr>
                                <m:pos m:val="top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sSub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b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formula193"/>
                <p:cNvSpPr txBox="1">
                  <a:spLocks noGrp="1"/>
                </p:cNvSpPr>
                <p:nvPr/>
              </p:nvSpPr>
              <p:spPr>
                <a:xfrm>
                  <a:off x="6496050" y="3113722"/>
                  <a:ext cx="495300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6.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bar>
                              <m:barPr>
                                <m:pos m:val="top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bar>
                              <m:barPr>
                                <m:pos m:val="top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</m:sub>
                            </m:sSub>
                            <m:rad>
                              <m:radPr>
                                <m:degHide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t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formula194"/>
                <p:cNvSpPr txBox="1">
                  <a:spLocks noGrp="1"/>
                </p:cNvSpPr>
                <p:nvPr/>
              </p:nvSpPr>
              <p:spPr>
                <a:xfrm>
                  <a:off x="6496050" y="3697605"/>
                  <a:ext cx="4953000" cy="597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7.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sSub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sup>
                              <m:e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sSub>
                                          <m:e>
                                            <m: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μ</m:t>
                                            </m:r>
                                          </m:e>
                                          <m:sub>
                                            <m: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sSub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sup>
                              <m:e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Y</m:t>
                                            </m:r>
                                          </m:e>
                                          <m:sub>
                                            <m: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sSub>
                                          <m:e>
                                            <m: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μ</m:t>
                                            </m:r>
                                          </m:e>
                                          <m:sub>
                                            <m: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formula195"/>
                <p:cNvSpPr txBox="1">
                  <a:spLocks noGrp="1"/>
                </p:cNvSpPr>
                <p:nvPr/>
              </p:nvSpPr>
              <p:spPr>
                <a:xfrm>
                  <a:off x="6496050" y="4390072"/>
                  <a:ext cx="495300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8.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sSub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sSub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6" name="TextBox 26"/>
            <p:cNvSpPr txBox="1"/>
            <p:nvPr/>
          </p:nvSpPr>
          <p:spPr>
            <a:xfrm>
              <a:off x="6489573" y="4994434"/>
              <a:ext cx="4785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 中的 Sw² = [(n₁ − 1)S₁² + (n₂ − 1)S₂²]/(n₁ + n₂ − 2)。</a:t>
              </a:r>
            </a:p>
          </p:txBody>
        </p:sp>
      </p:grpSp>
      <p:grpSp>
        <p:nvGrpSpPr>
          <p:cNvPr id="3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28" name="Rectangle 2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5991225"/>
              <a:ext cx="9909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每个式子里只剩一个未知参数（或参数组合）时，它就能当枢轴量用；知道谁已知、谁未知，就知道选第几个。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579745" cy="2997517"/>
            <a:chOff x="667512" y="1835468"/>
            <a:chExt cx="5579745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单个正态总体的区间估计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均值看方差是否已知，方差看均值是否已知，共四种情形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60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 已知求 μ：用 U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508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 未知求 μ：用 t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5999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σ²：用 χ²，分位点不对称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单个正态总体的区间估计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查分位点之前，先看分布是否对称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qA"/>
          <p:cNvGrpSpPr/>
          <p:nvPr/>
        </p:nvGrpSpPr>
        <p:grpSpPr>
          <a:xfrm>
            <a:off x="533400" y="1524000"/>
            <a:ext cx="5524500" cy="4762500"/>
            <a:chOff x="533400" y="1524000"/>
            <a:chExt cx="5524500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5245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423" y="1662589"/>
              <a:ext cx="38959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N(0, 1) 与 t 分布：对称，两个分位点互为相反数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8566" y="1925002"/>
              <a:ext cx="22016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中间面积 1 − α，两条尾巴各 α/2。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1062038" y="4033838"/>
              <a:ext cx="1016317" cy="233362"/>
            </a:xfrm>
            <a:custGeom>
              <a:avLst/>
              <a:gdLst/>
              <a:ahLst/>
              <a:cxnLst/>
              <a:rect l="l" t="t" r="r" b="b"/>
              <a:pathLst>
                <a:path w="1016317" h="233362">
                  <a:moveTo>
                    <a:pt x="0" y="233362"/>
                  </a:moveTo>
                  <a:lnTo>
                    <a:pt x="0" y="232410"/>
                  </a:lnTo>
                  <a:lnTo>
                    <a:pt x="25718" y="232410"/>
                  </a:lnTo>
                  <a:lnTo>
                    <a:pt x="52388" y="232410"/>
                  </a:lnTo>
                  <a:lnTo>
                    <a:pt x="79057" y="231458"/>
                  </a:lnTo>
                  <a:lnTo>
                    <a:pt x="104775" y="231458"/>
                  </a:lnTo>
                  <a:lnTo>
                    <a:pt x="130493" y="231458"/>
                  </a:lnTo>
                  <a:lnTo>
                    <a:pt x="157162" y="230505"/>
                  </a:lnTo>
                  <a:lnTo>
                    <a:pt x="183833" y="230505"/>
                  </a:lnTo>
                  <a:lnTo>
                    <a:pt x="209550" y="229553"/>
                  </a:lnTo>
                  <a:lnTo>
                    <a:pt x="235267" y="228600"/>
                  </a:lnTo>
                  <a:lnTo>
                    <a:pt x="261938" y="227647"/>
                  </a:lnTo>
                  <a:lnTo>
                    <a:pt x="288608" y="226695"/>
                  </a:lnTo>
                  <a:lnTo>
                    <a:pt x="314325" y="225742"/>
                  </a:lnTo>
                  <a:lnTo>
                    <a:pt x="340042" y="224790"/>
                  </a:lnTo>
                  <a:lnTo>
                    <a:pt x="366712" y="222885"/>
                  </a:lnTo>
                  <a:lnTo>
                    <a:pt x="393383" y="220980"/>
                  </a:lnTo>
                  <a:lnTo>
                    <a:pt x="419100" y="219075"/>
                  </a:lnTo>
                  <a:lnTo>
                    <a:pt x="444817" y="217170"/>
                  </a:lnTo>
                  <a:lnTo>
                    <a:pt x="471488" y="214312"/>
                  </a:lnTo>
                  <a:lnTo>
                    <a:pt x="498158" y="211455"/>
                  </a:lnTo>
                  <a:lnTo>
                    <a:pt x="523875" y="207645"/>
                  </a:lnTo>
                  <a:lnTo>
                    <a:pt x="550545" y="203835"/>
                  </a:lnTo>
                  <a:lnTo>
                    <a:pt x="576262" y="199072"/>
                  </a:lnTo>
                  <a:lnTo>
                    <a:pt x="602933" y="194310"/>
                  </a:lnTo>
                  <a:lnTo>
                    <a:pt x="628650" y="188595"/>
                  </a:lnTo>
                  <a:lnTo>
                    <a:pt x="654367" y="181928"/>
                  </a:lnTo>
                  <a:lnTo>
                    <a:pt x="681038" y="174308"/>
                  </a:lnTo>
                  <a:lnTo>
                    <a:pt x="707708" y="166688"/>
                  </a:lnTo>
                  <a:lnTo>
                    <a:pt x="733425" y="157162"/>
                  </a:lnTo>
                  <a:lnTo>
                    <a:pt x="759142" y="147638"/>
                  </a:lnTo>
                  <a:lnTo>
                    <a:pt x="785812" y="136208"/>
                  </a:lnTo>
                  <a:lnTo>
                    <a:pt x="812483" y="123825"/>
                  </a:lnTo>
                  <a:lnTo>
                    <a:pt x="838200" y="110490"/>
                  </a:lnTo>
                  <a:lnTo>
                    <a:pt x="863917" y="96203"/>
                  </a:lnTo>
                  <a:lnTo>
                    <a:pt x="890588" y="80010"/>
                  </a:lnTo>
                  <a:lnTo>
                    <a:pt x="917258" y="61912"/>
                  </a:lnTo>
                  <a:lnTo>
                    <a:pt x="942975" y="42862"/>
                  </a:lnTo>
                  <a:lnTo>
                    <a:pt x="968692" y="21908"/>
                  </a:lnTo>
                  <a:lnTo>
                    <a:pt x="995362" y="0"/>
                  </a:lnTo>
                  <a:lnTo>
                    <a:pt x="1016317" y="233362"/>
                  </a:lnTo>
                  <a:close/>
                </a:path>
              </a:pathLst>
            </a:custGeom>
            <a:solidFill>
              <a:srgbClr val="F6C6AC"/>
            </a:solidFill>
            <a:ln>
              <a:noFill/>
            </a:ln>
          </p:spPr>
        </p:sp>
        <p:sp>
          <p:nvSpPr>
            <p:cNvPr id="11" name="Polygon 11"/>
            <p:cNvSpPr/>
            <p:nvPr/>
          </p:nvSpPr>
          <p:spPr>
            <a:xfrm>
              <a:off x="4131945" y="4033838"/>
              <a:ext cx="1016317" cy="233362"/>
            </a:xfrm>
            <a:custGeom>
              <a:avLst/>
              <a:gdLst/>
              <a:ahLst/>
              <a:cxnLst/>
              <a:rect l="l" t="t" r="r" b="b"/>
              <a:pathLst>
                <a:path w="1016317" h="233362">
                  <a:moveTo>
                    <a:pt x="0" y="233362"/>
                  </a:moveTo>
                  <a:lnTo>
                    <a:pt x="20955" y="0"/>
                  </a:lnTo>
                  <a:lnTo>
                    <a:pt x="47625" y="21908"/>
                  </a:lnTo>
                  <a:lnTo>
                    <a:pt x="73342" y="42862"/>
                  </a:lnTo>
                  <a:lnTo>
                    <a:pt x="99060" y="61912"/>
                  </a:lnTo>
                  <a:lnTo>
                    <a:pt x="125730" y="80010"/>
                  </a:lnTo>
                  <a:lnTo>
                    <a:pt x="152400" y="96203"/>
                  </a:lnTo>
                  <a:lnTo>
                    <a:pt x="178117" y="110490"/>
                  </a:lnTo>
                  <a:lnTo>
                    <a:pt x="203835" y="123825"/>
                  </a:lnTo>
                  <a:lnTo>
                    <a:pt x="230505" y="136208"/>
                  </a:lnTo>
                  <a:lnTo>
                    <a:pt x="257175" y="147638"/>
                  </a:lnTo>
                  <a:lnTo>
                    <a:pt x="282892" y="157162"/>
                  </a:lnTo>
                  <a:lnTo>
                    <a:pt x="309562" y="166688"/>
                  </a:lnTo>
                  <a:lnTo>
                    <a:pt x="335280" y="174308"/>
                  </a:lnTo>
                  <a:lnTo>
                    <a:pt x="361950" y="181928"/>
                  </a:lnTo>
                  <a:lnTo>
                    <a:pt x="387667" y="188595"/>
                  </a:lnTo>
                  <a:lnTo>
                    <a:pt x="413385" y="194310"/>
                  </a:lnTo>
                  <a:lnTo>
                    <a:pt x="440055" y="199072"/>
                  </a:lnTo>
                  <a:lnTo>
                    <a:pt x="466725" y="203835"/>
                  </a:lnTo>
                  <a:lnTo>
                    <a:pt x="492442" y="207645"/>
                  </a:lnTo>
                  <a:lnTo>
                    <a:pt x="519112" y="211455"/>
                  </a:lnTo>
                  <a:lnTo>
                    <a:pt x="544830" y="214312"/>
                  </a:lnTo>
                  <a:lnTo>
                    <a:pt x="571500" y="217170"/>
                  </a:lnTo>
                  <a:lnTo>
                    <a:pt x="597217" y="219075"/>
                  </a:lnTo>
                  <a:lnTo>
                    <a:pt x="622935" y="220980"/>
                  </a:lnTo>
                  <a:lnTo>
                    <a:pt x="649605" y="222885"/>
                  </a:lnTo>
                  <a:lnTo>
                    <a:pt x="676275" y="224790"/>
                  </a:lnTo>
                  <a:lnTo>
                    <a:pt x="701992" y="225742"/>
                  </a:lnTo>
                  <a:lnTo>
                    <a:pt x="727710" y="226695"/>
                  </a:lnTo>
                  <a:lnTo>
                    <a:pt x="754380" y="227647"/>
                  </a:lnTo>
                  <a:lnTo>
                    <a:pt x="781050" y="228600"/>
                  </a:lnTo>
                  <a:lnTo>
                    <a:pt x="806767" y="229553"/>
                  </a:lnTo>
                  <a:lnTo>
                    <a:pt x="832485" y="230505"/>
                  </a:lnTo>
                  <a:lnTo>
                    <a:pt x="859155" y="230505"/>
                  </a:lnTo>
                  <a:lnTo>
                    <a:pt x="885825" y="231458"/>
                  </a:lnTo>
                  <a:lnTo>
                    <a:pt x="911542" y="231458"/>
                  </a:lnTo>
                  <a:lnTo>
                    <a:pt x="937260" y="231458"/>
                  </a:lnTo>
                  <a:lnTo>
                    <a:pt x="963930" y="232410"/>
                  </a:lnTo>
                  <a:lnTo>
                    <a:pt x="990600" y="232410"/>
                  </a:lnTo>
                  <a:lnTo>
                    <a:pt x="1016317" y="232410"/>
                  </a:lnTo>
                  <a:lnTo>
                    <a:pt x="1016317" y="233362"/>
                  </a:lnTo>
                  <a:close/>
                </a:path>
              </a:pathLst>
            </a:custGeom>
            <a:solidFill>
              <a:srgbClr val="F6C6AC"/>
            </a:solidFill>
            <a:ln>
              <a:noFill/>
            </a:ln>
          </p:spPr>
        </p:sp>
        <p:sp>
          <p:nvSpPr>
            <p:cNvPr id="12" name="Polygon 12"/>
            <p:cNvSpPr/>
            <p:nvPr/>
          </p:nvSpPr>
          <p:spPr>
            <a:xfrm>
              <a:off x="2078355" y="2540318"/>
              <a:ext cx="2053590" cy="1726882"/>
            </a:xfrm>
            <a:custGeom>
              <a:avLst/>
              <a:gdLst/>
              <a:ahLst/>
              <a:cxnLst/>
              <a:rect l="l" t="t" r="r" b="b"/>
              <a:pathLst>
                <a:path w="2053590" h="1726882">
                  <a:moveTo>
                    <a:pt x="0" y="1726882"/>
                  </a:moveTo>
                  <a:lnTo>
                    <a:pt x="5715" y="1468755"/>
                  </a:lnTo>
                  <a:lnTo>
                    <a:pt x="31433" y="1443038"/>
                  </a:lnTo>
                  <a:lnTo>
                    <a:pt x="57150" y="1414462"/>
                  </a:lnTo>
                  <a:lnTo>
                    <a:pt x="83820" y="1384935"/>
                  </a:lnTo>
                  <a:lnTo>
                    <a:pt x="110490" y="1353503"/>
                  </a:lnTo>
                  <a:lnTo>
                    <a:pt x="136208" y="1320165"/>
                  </a:lnTo>
                  <a:lnTo>
                    <a:pt x="161925" y="1283970"/>
                  </a:lnTo>
                  <a:lnTo>
                    <a:pt x="188595" y="1246823"/>
                  </a:lnTo>
                  <a:lnTo>
                    <a:pt x="215265" y="1207770"/>
                  </a:lnTo>
                  <a:lnTo>
                    <a:pt x="240983" y="1165860"/>
                  </a:lnTo>
                  <a:lnTo>
                    <a:pt x="267653" y="1122998"/>
                  </a:lnTo>
                  <a:lnTo>
                    <a:pt x="293370" y="1078230"/>
                  </a:lnTo>
                  <a:lnTo>
                    <a:pt x="320040" y="1032510"/>
                  </a:lnTo>
                  <a:lnTo>
                    <a:pt x="345758" y="984885"/>
                  </a:lnTo>
                  <a:lnTo>
                    <a:pt x="371475" y="936308"/>
                  </a:lnTo>
                  <a:lnTo>
                    <a:pt x="398145" y="885825"/>
                  </a:lnTo>
                  <a:lnTo>
                    <a:pt x="424815" y="835342"/>
                  </a:lnTo>
                  <a:lnTo>
                    <a:pt x="450533" y="783908"/>
                  </a:lnTo>
                  <a:lnTo>
                    <a:pt x="476250" y="731520"/>
                  </a:lnTo>
                  <a:lnTo>
                    <a:pt x="502920" y="679133"/>
                  </a:lnTo>
                  <a:lnTo>
                    <a:pt x="529590" y="626745"/>
                  </a:lnTo>
                  <a:lnTo>
                    <a:pt x="555308" y="575310"/>
                  </a:lnTo>
                  <a:lnTo>
                    <a:pt x="581025" y="522923"/>
                  </a:lnTo>
                  <a:lnTo>
                    <a:pt x="607695" y="472440"/>
                  </a:lnTo>
                  <a:lnTo>
                    <a:pt x="634365" y="422910"/>
                  </a:lnTo>
                  <a:lnTo>
                    <a:pt x="660083" y="375285"/>
                  </a:lnTo>
                  <a:lnTo>
                    <a:pt x="685800" y="328612"/>
                  </a:lnTo>
                  <a:lnTo>
                    <a:pt x="712470" y="283845"/>
                  </a:lnTo>
                  <a:lnTo>
                    <a:pt x="739140" y="241935"/>
                  </a:lnTo>
                  <a:lnTo>
                    <a:pt x="764858" y="202883"/>
                  </a:lnTo>
                  <a:lnTo>
                    <a:pt x="790575" y="165735"/>
                  </a:lnTo>
                  <a:lnTo>
                    <a:pt x="817245" y="132398"/>
                  </a:lnTo>
                  <a:lnTo>
                    <a:pt x="843915" y="101917"/>
                  </a:lnTo>
                  <a:lnTo>
                    <a:pt x="869633" y="75248"/>
                  </a:lnTo>
                  <a:lnTo>
                    <a:pt x="895350" y="52388"/>
                  </a:lnTo>
                  <a:lnTo>
                    <a:pt x="922020" y="34290"/>
                  </a:lnTo>
                  <a:lnTo>
                    <a:pt x="948690" y="19050"/>
                  </a:lnTo>
                  <a:lnTo>
                    <a:pt x="974408" y="8573"/>
                  </a:lnTo>
                  <a:lnTo>
                    <a:pt x="1000125" y="1905"/>
                  </a:lnTo>
                  <a:lnTo>
                    <a:pt x="1026795" y="0"/>
                  </a:lnTo>
                  <a:lnTo>
                    <a:pt x="1053465" y="1905"/>
                  </a:lnTo>
                  <a:lnTo>
                    <a:pt x="1079182" y="8573"/>
                  </a:lnTo>
                  <a:lnTo>
                    <a:pt x="1104900" y="19050"/>
                  </a:lnTo>
                  <a:lnTo>
                    <a:pt x="1131570" y="34290"/>
                  </a:lnTo>
                  <a:lnTo>
                    <a:pt x="1158240" y="52388"/>
                  </a:lnTo>
                  <a:lnTo>
                    <a:pt x="1183958" y="75248"/>
                  </a:lnTo>
                  <a:lnTo>
                    <a:pt x="1209675" y="101917"/>
                  </a:lnTo>
                  <a:lnTo>
                    <a:pt x="1236345" y="132398"/>
                  </a:lnTo>
                  <a:lnTo>
                    <a:pt x="1263015" y="165735"/>
                  </a:lnTo>
                  <a:lnTo>
                    <a:pt x="1288732" y="202883"/>
                  </a:lnTo>
                  <a:lnTo>
                    <a:pt x="1314450" y="241935"/>
                  </a:lnTo>
                  <a:lnTo>
                    <a:pt x="1341120" y="283845"/>
                  </a:lnTo>
                  <a:lnTo>
                    <a:pt x="1367790" y="328612"/>
                  </a:lnTo>
                  <a:lnTo>
                    <a:pt x="1393508" y="375285"/>
                  </a:lnTo>
                  <a:lnTo>
                    <a:pt x="1419225" y="422910"/>
                  </a:lnTo>
                  <a:lnTo>
                    <a:pt x="1445895" y="472440"/>
                  </a:lnTo>
                  <a:lnTo>
                    <a:pt x="1472565" y="522923"/>
                  </a:lnTo>
                  <a:lnTo>
                    <a:pt x="1498282" y="575310"/>
                  </a:lnTo>
                  <a:lnTo>
                    <a:pt x="1524953" y="626745"/>
                  </a:lnTo>
                  <a:lnTo>
                    <a:pt x="1550670" y="679133"/>
                  </a:lnTo>
                  <a:lnTo>
                    <a:pt x="1577340" y="731520"/>
                  </a:lnTo>
                  <a:lnTo>
                    <a:pt x="1603058" y="783908"/>
                  </a:lnTo>
                  <a:lnTo>
                    <a:pt x="1628775" y="835342"/>
                  </a:lnTo>
                  <a:lnTo>
                    <a:pt x="1655445" y="885825"/>
                  </a:lnTo>
                  <a:lnTo>
                    <a:pt x="1682115" y="936308"/>
                  </a:lnTo>
                  <a:lnTo>
                    <a:pt x="1707832" y="984885"/>
                  </a:lnTo>
                  <a:lnTo>
                    <a:pt x="1733550" y="1032510"/>
                  </a:lnTo>
                  <a:lnTo>
                    <a:pt x="1760220" y="1078230"/>
                  </a:lnTo>
                  <a:lnTo>
                    <a:pt x="1786890" y="1122998"/>
                  </a:lnTo>
                  <a:lnTo>
                    <a:pt x="1812608" y="1165860"/>
                  </a:lnTo>
                  <a:lnTo>
                    <a:pt x="1839278" y="1207770"/>
                  </a:lnTo>
                  <a:lnTo>
                    <a:pt x="1864995" y="1246823"/>
                  </a:lnTo>
                  <a:lnTo>
                    <a:pt x="1891665" y="1283970"/>
                  </a:lnTo>
                  <a:lnTo>
                    <a:pt x="1917382" y="1320165"/>
                  </a:lnTo>
                  <a:lnTo>
                    <a:pt x="1943100" y="1353503"/>
                  </a:lnTo>
                  <a:lnTo>
                    <a:pt x="1969770" y="1384935"/>
                  </a:lnTo>
                  <a:lnTo>
                    <a:pt x="1996440" y="1414462"/>
                  </a:lnTo>
                  <a:lnTo>
                    <a:pt x="2022158" y="1443038"/>
                  </a:lnTo>
                  <a:lnTo>
                    <a:pt x="2048828" y="1468755"/>
                  </a:lnTo>
                  <a:lnTo>
                    <a:pt x="2053590" y="1726882"/>
                  </a:lnTo>
                  <a:close/>
                </a:path>
              </a:pathLst>
            </a:custGeom>
            <a:solidFill>
              <a:srgbClr val="D6DFF3"/>
            </a:solidFill>
            <a:ln>
              <a:noFill/>
            </a:ln>
          </p:spPr>
        </p:sp>
        <p:sp>
          <p:nvSpPr>
            <p:cNvPr id="13" name="Line 13"/>
            <p:cNvSpPr/>
            <p:nvPr/>
          </p:nvSpPr>
          <p:spPr>
            <a:xfrm>
              <a:off x="1009650" y="4267200"/>
              <a:ext cx="4238625" cy="9525"/>
            </a:xfrm>
            <a:custGeom>
              <a:avLst/>
              <a:gdLst/>
              <a:ahLst/>
              <a:cxnLst/>
              <a:rect l="l" t="t" r="r" b="b"/>
              <a:pathLst>
                <a:path w="4238625" h="9525">
                  <a:moveTo>
                    <a:pt x="0" y="0"/>
                  </a:moveTo>
                  <a:lnTo>
                    <a:pt x="423862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5248275" y="423719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3105150" y="2333625"/>
              <a:ext cx="9525" cy="1933575"/>
            </a:xfrm>
            <a:custGeom>
              <a:avLst/>
              <a:gdLst/>
              <a:ahLst/>
              <a:cxnLst/>
              <a:rect l="l" t="t" r="r" b="b"/>
              <a:pathLst>
                <a:path w="9525" h="1933575">
                  <a:moveTo>
                    <a:pt x="0" y="193357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3075146" y="2266950"/>
              <a:ext cx="60007" cy="66675"/>
            </a:xfrm>
            <a:custGeom>
              <a:avLst/>
              <a:gdLst/>
              <a:ahLst/>
              <a:cxnLst/>
              <a:rect l="l" t="t" r="r" b="b"/>
              <a:pathLst>
                <a:path w="60007" h="66675">
                  <a:moveTo>
                    <a:pt x="30004" y="0"/>
                  </a:moveTo>
                  <a:lnTo>
                    <a:pt x="6000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357241" y="420147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1062038" y="2540318"/>
              <a:ext cx="4086225" cy="1725930"/>
            </a:xfrm>
            <a:custGeom>
              <a:avLst/>
              <a:gdLst/>
              <a:ahLst/>
              <a:cxnLst/>
              <a:rect l="l" t="t" r="r" b="b"/>
              <a:pathLst>
                <a:path w="4086225" h="1725930">
                  <a:moveTo>
                    <a:pt x="0" y="1725930"/>
                  </a:moveTo>
                  <a:lnTo>
                    <a:pt x="25718" y="1725930"/>
                  </a:lnTo>
                  <a:lnTo>
                    <a:pt x="52388" y="1725930"/>
                  </a:lnTo>
                  <a:lnTo>
                    <a:pt x="79057" y="1724978"/>
                  </a:lnTo>
                  <a:lnTo>
                    <a:pt x="104775" y="1724978"/>
                  </a:lnTo>
                  <a:lnTo>
                    <a:pt x="130493" y="1724978"/>
                  </a:lnTo>
                  <a:lnTo>
                    <a:pt x="157162" y="1724025"/>
                  </a:lnTo>
                  <a:lnTo>
                    <a:pt x="183833" y="1724025"/>
                  </a:lnTo>
                  <a:lnTo>
                    <a:pt x="209550" y="1723073"/>
                  </a:lnTo>
                  <a:lnTo>
                    <a:pt x="235267" y="1722120"/>
                  </a:lnTo>
                  <a:lnTo>
                    <a:pt x="261938" y="1721168"/>
                  </a:lnTo>
                  <a:lnTo>
                    <a:pt x="288608" y="1720215"/>
                  </a:lnTo>
                  <a:lnTo>
                    <a:pt x="314325" y="1719262"/>
                  </a:lnTo>
                  <a:lnTo>
                    <a:pt x="340042" y="1718310"/>
                  </a:lnTo>
                  <a:lnTo>
                    <a:pt x="366712" y="1716405"/>
                  </a:lnTo>
                  <a:lnTo>
                    <a:pt x="393383" y="1714500"/>
                  </a:lnTo>
                  <a:lnTo>
                    <a:pt x="419100" y="1712595"/>
                  </a:lnTo>
                  <a:lnTo>
                    <a:pt x="444817" y="1710690"/>
                  </a:lnTo>
                  <a:lnTo>
                    <a:pt x="471488" y="1707832"/>
                  </a:lnTo>
                  <a:lnTo>
                    <a:pt x="498158" y="1704975"/>
                  </a:lnTo>
                  <a:lnTo>
                    <a:pt x="523875" y="1701165"/>
                  </a:lnTo>
                  <a:lnTo>
                    <a:pt x="550545" y="1697355"/>
                  </a:lnTo>
                  <a:lnTo>
                    <a:pt x="576262" y="1692592"/>
                  </a:lnTo>
                  <a:lnTo>
                    <a:pt x="602933" y="1687830"/>
                  </a:lnTo>
                  <a:lnTo>
                    <a:pt x="628650" y="1682115"/>
                  </a:lnTo>
                  <a:lnTo>
                    <a:pt x="654367" y="1675448"/>
                  </a:lnTo>
                  <a:lnTo>
                    <a:pt x="681038" y="1667828"/>
                  </a:lnTo>
                  <a:lnTo>
                    <a:pt x="707708" y="1660208"/>
                  </a:lnTo>
                  <a:lnTo>
                    <a:pt x="733425" y="1650682"/>
                  </a:lnTo>
                  <a:lnTo>
                    <a:pt x="759142" y="1641158"/>
                  </a:lnTo>
                  <a:lnTo>
                    <a:pt x="785812" y="1629728"/>
                  </a:lnTo>
                  <a:lnTo>
                    <a:pt x="812483" y="1617345"/>
                  </a:lnTo>
                  <a:lnTo>
                    <a:pt x="838200" y="1604010"/>
                  </a:lnTo>
                  <a:lnTo>
                    <a:pt x="863917" y="1589723"/>
                  </a:lnTo>
                  <a:lnTo>
                    <a:pt x="890588" y="1573530"/>
                  </a:lnTo>
                  <a:lnTo>
                    <a:pt x="917258" y="1555432"/>
                  </a:lnTo>
                  <a:lnTo>
                    <a:pt x="942975" y="1536382"/>
                  </a:lnTo>
                  <a:lnTo>
                    <a:pt x="968692" y="1515428"/>
                  </a:lnTo>
                  <a:lnTo>
                    <a:pt x="995362" y="1493520"/>
                  </a:lnTo>
                  <a:lnTo>
                    <a:pt x="1022033" y="1468755"/>
                  </a:lnTo>
                  <a:lnTo>
                    <a:pt x="1047750" y="1443038"/>
                  </a:lnTo>
                  <a:lnTo>
                    <a:pt x="1073468" y="1414462"/>
                  </a:lnTo>
                  <a:lnTo>
                    <a:pt x="1100138" y="1384935"/>
                  </a:lnTo>
                  <a:lnTo>
                    <a:pt x="1126808" y="1353503"/>
                  </a:lnTo>
                  <a:lnTo>
                    <a:pt x="1152525" y="1320165"/>
                  </a:lnTo>
                  <a:lnTo>
                    <a:pt x="1178242" y="1283970"/>
                  </a:lnTo>
                  <a:lnTo>
                    <a:pt x="1204912" y="1246823"/>
                  </a:lnTo>
                  <a:lnTo>
                    <a:pt x="1231582" y="1207770"/>
                  </a:lnTo>
                  <a:lnTo>
                    <a:pt x="1257300" y="1165860"/>
                  </a:lnTo>
                  <a:lnTo>
                    <a:pt x="1283970" y="1122998"/>
                  </a:lnTo>
                  <a:lnTo>
                    <a:pt x="1309688" y="1078230"/>
                  </a:lnTo>
                  <a:lnTo>
                    <a:pt x="1336358" y="1032510"/>
                  </a:lnTo>
                  <a:lnTo>
                    <a:pt x="1362075" y="984885"/>
                  </a:lnTo>
                  <a:lnTo>
                    <a:pt x="1387792" y="936308"/>
                  </a:lnTo>
                  <a:lnTo>
                    <a:pt x="1414462" y="885825"/>
                  </a:lnTo>
                  <a:lnTo>
                    <a:pt x="1441132" y="835342"/>
                  </a:lnTo>
                  <a:lnTo>
                    <a:pt x="1466850" y="783908"/>
                  </a:lnTo>
                  <a:lnTo>
                    <a:pt x="1492568" y="731520"/>
                  </a:lnTo>
                  <a:lnTo>
                    <a:pt x="1519238" y="679133"/>
                  </a:lnTo>
                  <a:lnTo>
                    <a:pt x="1545908" y="626745"/>
                  </a:lnTo>
                  <a:lnTo>
                    <a:pt x="1571625" y="575310"/>
                  </a:lnTo>
                  <a:lnTo>
                    <a:pt x="1597342" y="522923"/>
                  </a:lnTo>
                  <a:lnTo>
                    <a:pt x="1624012" y="472440"/>
                  </a:lnTo>
                  <a:lnTo>
                    <a:pt x="1650682" y="422910"/>
                  </a:lnTo>
                  <a:lnTo>
                    <a:pt x="1676400" y="375285"/>
                  </a:lnTo>
                  <a:lnTo>
                    <a:pt x="1702118" y="328612"/>
                  </a:lnTo>
                  <a:lnTo>
                    <a:pt x="1728788" y="283845"/>
                  </a:lnTo>
                  <a:lnTo>
                    <a:pt x="1755458" y="241935"/>
                  </a:lnTo>
                  <a:lnTo>
                    <a:pt x="1781175" y="202883"/>
                  </a:lnTo>
                  <a:lnTo>
                    <a:pt x="1806892" y="165735"/>
                  </a:lnTo>
                  <a:lnTo>
                    <a:pt x="1833562" y="132398"/>
                  </a:lnTo>
                  <a:lnTo>
                    <a:pt x="1860232" y="101917"/>
                  </a:lnTo>
                  <a:lnTo>
                    <a:pt x="1885950" y="75248"/>
                  </a:lnTo>
                  <a:lnTo>
                    <a:pt x="1911668" y="52388"/>
                  </a:lnTo>
                  <a:lnTo>
                    <a:pt x="1938338" y="34290"/>
                  </a:lnTo>
                  <a:lnTo>
                    <a:pt x="1965008" y="19050"/>
                  </a:lnTo>
                  <a:lnTo>
                    <a:pt x="1990725" y="8573"/>
                  </a:lnTo>
                  <a:lnTo>
                    <a:pt x="2016442" y="1905"/>
                  </a:lnTo>
                  <a:lnTo>
                    <a:pt x="2043112" y="0"/>
                  </a:lnTo>
                  <a:lnTo>
                    <a:pt x="2069782" y="1905"/>
                  </a:lnTo>
                  <a:lnTo>
                    <a:pt x="2095500" y="8573"/>
                  </a:lnTo>
                  <a:lnTo>
                    <a:pt x="2121218" y="19050"/>
                  </a:lnTo>
                  <a:lnTo>
                    <a:pt x="2147888" y="34290"/>
                  </a:lnTo>
                  <a:lnTo>
                    <a:pt x="2174558" y="52388"/>
                  </a:lnTo>
                  <a:lnTo>
                    <a:pt x="2200275" y="75248"/>
                  </a:lnTo>
                  <a:lnTo>
                    <a:pt x="2225992" y="101917"/>
                  </a:lnTo>
                  <a:lnTo>
                    <a:pt x="2252662" y="132398"/>
                  </a:lnTo>
                  <a:lnTo>
                    <a:pt x="2279332" y="165735"/>
                  </a:lnTo>
                  <a:lnTo>
                    <a:pt x="2305050" y="202883"/>
                  </a:lnTo>
                  <a:lnTo>
                    <a:pt x="2330768" y="241935"/>
                  </a:lnTo>
                  <a:lnTo>
                    <a:pt x="2357438" y="283845"/>
                  </a:lnTo>
                  <a:lnTo>
                    <a:pt x="2384108" y="328612"/>
                  </a:lnTo>
                  <a:lnTo>
                    <a:pt x="2409825" y="375285"/>
                  </a:lnTo>
                  <a:lnTo>
                    <a:pt x="2435542" y="422910"/>
                  </a:lnTo>
                  <a:lnTo>
                    <a:pt x="2462212" y="472440"/>
                  </a:lnTo>
                  <a:lnTo>
                    <a:pt x="2488882" y="522923"/>
                  </a:lnTo>
                  <a:lnTo>
                    <a:pt x="2514600" y="575310"/>
                  </a:lnTo>
                  <a:lnTo>
                    <a:pt x="2541270" y="626745"/>
                  </a:lnTo>
                  <a:lnTo>
                    <a:pt x="2566988" y="679133"/>
                  </a:lnTo>
                  <a:lnTo>
                    <a:pt x="2593658" y="731520"/>
                  </a:lnTo>
                  <a:lnTo>
                    <a:pt x="2619375" y="783908"/>
                  </a:lnTo>
                  <a:lnTo>
                    <a:pt x="2645092" y="835342"/>
                  </a:lnTo>
                  <a:lnTo>
                    <a:pt x="2671762" y="885825"/>
                  </a:lnTo>
                  <a:lnTo>
                    <a:pt x="2698432" y="936308"/>
                  </a:lnTo>
                  <a:lnTo>
                    <a:pt x="2724150" y="984885"/>
                  </a:lnTo>
                  <a:lnTo>
                    <a:pt x="2749868" y="1032510"/>
                  </a:lnTo>
                  <a:lnTo>
                    <a:pt x="2776538" y="1078230"/>
                  </a:lnTo>
                  <a:lnTo>
                    <a:pt x="2803208" y="1122998"/>
                  </a:lnTo>
                  <a:lnTo>
                    <a:pt x="2828925" y="1165860"/>
                  </a:lnTo>
                  <a:lnTo>
                    <a:pt x="2855595" y="1207770"/>
                  </a:lnTo>
                  <a:lnTo>
                    <a:pt x="2881312" y="1246823"/>
                  </a:lnTo>
                  <a:lnTo>
                    <a:pt x="2907982" y="1283970"/>
                  </a:lnTo>
                  <a:lnTo>
                    <a:pt x="2933700" y="1320165"/>
                  </a:lnTo>
                  <a:lnTo>
                    <a:pt x="2959418" y="1353503"/>
                  </a:lnTo>
                  <a:lnTo>
                    <a:pt x="2986088" y="1384935"/>
                  </a:lnTo>
                  <a:lnTo>
                    <a:pt x="3012758" y="1414462"/>
                  </a:lnTo>
                  <a:lnTo>
                    <a:pt x="3038475" y="1443038"/>
                  </a:lnTo>
                  <a:lnTo>
                    <a:pt x="3065145" y="1468755"/>
                  </a:lnTo>
                  <a:lnTo>
                    <a:pt x="3090862" y="1493520"/>
                  </a:lnTo>
                  <a:lnTo>
                    <a:pt x="3117532" y="1515428"/>
                  </a:lnTo>
                  <a:lnTo>
                    <a:pt x="3143250" y="1536382"/>
                  </a:lnTo>
                  <a:lnTo>
                    <a:pt x="3168968" y="1555432"/>
                  </a:lnTo>
                  <a:lnTo>
                    <a:pt x="3195638" y="1573530"/>
                  </a:lnTo>
                  <a:lnTo>
                    <a:pt x="3222308" y="1589723"/>
                  </a:lnTo>
                  <a:lnTo>
                    <a:pt x="3248025" y="1604010"/>
                  </a:lnTo>
                  <a:lnTo>
                    <a:pt x="3273742" y="1617345"/>
                  </a:lnTo>
                  <a:lnTo>
                    <a:pt x="3300412" y="1629728"/>
                  </a:lnTo>
                  <a:lnTo>
                    <a:pt x="3327082" y="1641158"/>
                  </a:lnTo>
                  <a:lnTo>
                    <a:pt x="3352800" y="1650682"/>
                  </a:lnTo>
                  <a:lnTo>
                    <a:pt x="3379470" y="1660208"/>
                  </a:lnTo>
                  <a:lnTo>
                    <a:pt x="3405188" y="1667828"/>
                  </a:lnTo>
                  <a:lnTo>
                    <a:pt x="3431858" y="1675448"/>
                  </a:lnTo>
                  <a:lnTo>
                    <a:pt x="3457575" y="1682115"/>
                  </a:lnTo>
                  <a:lnTo>
                    <a:pt x="3483292" y="1687830"/>
                  </a:lnTo>
                  <a:lnTo>
                    <a:pt x="3509962" y="1692592"/>
                  </a:lnTo>
                  <a:lnTo>
                    <a:pt x="3536632" y="1697355"/>
                  </a:lnTo>
                  <a:lnTo>
                    <a:pt x="3562350" y="1701165"/>
                  </a:lnTo>
                  <a:lnTo>
                    <a:pt x="3589020" y="1704975"/>
                  </a:lnTo>
                  <a:lnTo>
                    <a:pt x="3614738" y="1707832"/>
                  </a:lnTo>
                  <a:lnTo>
                    <a:pt x="3641408" y="1710690"/>
                  </a:lnTo>
                  <a:lnTo>
                    <a:pt x="3667125" y="1712595"/>
                  </a:lnTo>
                  <a:lnTo>
                    <a:pt x="3692842" y="1714500"/>
                  </a:lnTo>
                  <a:lnTo>
                    <a:pt x="3719512" y="1716405"/>
                  </a:lnTo>
                  <a:lnTo>
                    <a:pt x="3746182" y="1718310"/>
                  </a:lnTo>
                  <a:lnTo>
                    <a:pt x="3771900" y="1719262"/>
                  </a:lnTo>
                  <a:lnTo>
                    <a:pt x="3797618" y="1720215"/>
                  </a:lnTo>
                  <a:lnTo>
                    <a:pt x="3824288" y="1721168"/>
                  </a:lnTo>
                  <a:lnTo>
                    <a:pt x="3850957" y="1722120"/>
                  </a:lnTo>
                  <a:lnTo>
                    <a:pt x="3876675" y="1723073"/>
                  </a:lnTo>
                  <a:lnTo>
                    <a:pt x="3902393" y="1724025"/>
                  </a:lnTo>
                  <a:lnTo>
                    <a:pt x="3929062" y="1724025"/>
                  </a:lnTo>
                  <a:lnTo>
                    <a:pt x="3955732" y="1724978"/>
                  </a:lnTo>
                  <a:lnTo>
                    <a:pt x="3981450" y="1724978"/>
                  </a:lnTo>
                  <a:lnTo>
                    <a:pt x="4007168" y="1724978"/>
                  </a:lnTo>
                  <a:lnTo>
                    <a:pt x="4033838" y="1725930"/>
                  </a:lnTo>
                  <a:lnTo>
                    <a:pt x="4060507" y="1725930"/>
                  </a:lnTo>
                  <a:lnTo>
                    <a:pt x="4086225" y="1725930"/>
                  </a:lnTo>
                </a:path>
              </a:pathLst>
            </a:custGeom>
            <a:noFill/>
            <a:ln w="21908">
              <a:solidFill>
                <a:srgbClr val="2F4B9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062038" y="2643188"/>
              <a:ext cx="4086225" cy="1591628"/>
            </a:xfrm>
            <a:custGeom>
              <a:avLst/>
              <a:gdLst/>
              <a:ahLst/>
              <a:cxnLst/>
              <a:rect l="l" t="t" r="r" b="b"/>
              <a:pathLst>
                <a:path w="4086225" h="1591628">
                  <a:moveTo>
                    <a:pt x="0" y="1591628"/>
                  </a:moveTo>
                  <a:lnTo>
                    <a:pt x="25718" y="1590675"/>
                  </a:lnTo>
                  <a:lnTo>
                    <a:pt x="52388" y="1588770"/>
                  </a:lnTo>
                  <a:lnTo>
                    <a:pt x="79057" y="1586865"/>
                  </a:lnTo>
                  <a:lnTo>
                    <a:pt x="104775" y="1584960"/>
                  </a:lnTo>
                  <a:lnTo>
                    <a:pt x="130493" y="1582103"/>
                  </a:lnTo>
                  <a:lnTo>
                    <a:pt x="157162" y="1580197"/>
                  </a:lnTo>
                  <a:lnTo>
                    <a:pt x="183833" y="1577340"/>
                  </a:lnTo>
                  <a:lnTo>
                    <a:pt x="209550" y="1575435"/>
                  </a:lnTo>
                  <a:lnTo>
                    <a:pt x="235267" y="1572578"/>
                  </a:lnTo>
                  <a:lnTo>
                    <a:pt x="261938" y="1569720"/>
                  </a:lnTo>
                  <a:lnTo>
                    <a:pt x="288608" y="1566862"/>
                  </a:lnTo>
                  <a:lnTo>
                    <a:pt x="314325" y="1563053"/>
                  </a:lnTo>
                  <a:lnTo>
                    <a:pt x="340042" y="1560195"/>
                  </a:lnTo>
                  <a:lnTo>
                    <a:pt x="366712" y="1556385"/>
                  </a:lnTo>
                  <a:lnTo>
                    <a:pt x="393383" y="1552575"/>
                  </a:lnTo>
                  <a:lnTo>
                    <a:pt x="419100" y="1547812"/>
                  </a:lnTo>
                  <a:lnTo>
                    <a:pt x="444817" y="1543050"/>
                  </a:lnTo>
                  <a:lnTo>
                    <a:pt x="471488" y="1538288"/>
                  </a:lnTo>
                  <a:lnTo>
                    <a:pt x="498158" y="1533525"/>
                  </a:lnTo>
                  <a:lnTo>
                    <a:pt x="523875" y="1527810"/>
                  </a:lnTo>
                  <a:lnTo>
                    <a:pt x="550545" y="1522095"/>
                  </a:lnTo>
                  <a:lnTo>
                    <a:pt x="576262" y="1516380"/>
                  </a:lnTo>
                  <a:lnTo>
                    <a:pt x="602933" y="1509712"/>
                  </a:lnTo>
                  <a:lnTo>
                    <a:pt x="628650" y="1503045"/>
                  </a:lnTo>
                  <a:lnTo>
                    <a:pt x="654367" y="1495425"/>
                  </a:lnTo>
                  <a:lnTo>
                    <a:pt x="681038" y="1486853"/>
                  </a:lnTo>
                  <a:lnTo>
                    <a:pt x="707708" y="1478280"/>
                  </a:lnTo>
                  <a:lnTo>
                    <a:pt x="733425" y="1469708"/>
                  </a:lnTo>
                  <a:lnTo>
                    <a:pt x="759142" y="1460182"/>
                  </a:lnTo>
                  <a:lnTo>
                    <a:pt x="785812" y="1449705"/>
                  </a:lnTo>
                  <a:lnTo>
                    <a:pt x="812483" y="1438275"/>
                  </a:lnTo>
                  <a:lnTo>
                    <a:pt x="838200" y="1426845"/>
                  </a:lnTo>
                  <a:lnTo>
                    <a:pt x="863917" y="1413510"/>
                  </a:lnTo>
                  <a:lnTo>
                    <a:pt x="890588" y="1400175"/>
                  </a:lnTo>
                  <a:lnTo>
                    <a:pt x="917258" y="1385888"/>
                  </a:lnTo>
                  <a:lnTo>
                    <a:pt x="942975" y="1370647"/>
                  </a:lnTo>
                  <a:lnTo>
                    <a:pt x="968692" y="1354455"/>
                  </a:lnTo>
                  <a:lnTo>
                    <a:pt x="995362" y="1337310"/>
                  </a:lnTo>
                  <a:lnTo>
                    <a:pt x="1022033" y="1318260"/>
                  </a:lnTo>
                  <a:lnTo>
                    <a:pt x="1047750" y="1299210"/>
                  </a:lnTo>
                  <a:lnTo>
                    <a:pt x="1073468" y="1278255"/>
                  </a:lnTo>
                  <a:lnTo>
                    <a:pt x="1100138" y="1255395"/>
                  </a:lnTo>
                  <a:lnTo>
                    <a:pt x="1126808" y="1232535"/>
                  </a:lnTo>
                  <a:lnTo>
                    <a:pt x="1152525" y="1206818"/>
                  </a:lnTo>
                  <a:lnTo>
                    <a:pt x="1178242" y="1180147"/>
                  </a:lnTo>
                  <a:lnTo>
                    <a:pt x="1204912" y="1152525"/>
                  </a:lnTo>
                  <a:lnTo>
                    <a:pt x="1231582" y="1122997"/>
                  </a:lnTo>
                  <a:lnTo>
                    <a:pt x="1257300" y="1091565"/>
                  </a:lnTo>
                  <a:lnTo>
                    <a:pt x="1283970" y="1059180"/>
                  </a:lnTo>
                  <a:lnTo>
                    <a:pt x="1309688" y="1024890"/>
                  </a:lnTo>
                  <a:lnTo>
                    <a:pt x="1336358" y="988695"/>
                  </a:lnTo>
                  <a:lnTo>
                    <a:pt x="1362075" y="951547"/>
                  </a:lnTo>
                  <a:lnTo>
                    <a:pt x="1387792" y="912495"/>
                  </a:lnTo>
                  <a:lnTo>
                    <a:pt x="1414462" y="871538"/>
                  </a:lnTo>
                  <a:lnTo>
                    <a:pt x="1441132" y="828675"/>
                  </a:lnTo>
                  <a:lnTo>
                    <a:pt x="1466850" y="785812"/>
                  </a:lnTo>
                  <a:lnTo>
                    <a:pt x="1492568" y="741045"/>
                  </a:lnTo>
                  <a:lnTo>
                    <a:pt x="1519238" y="694372"/>
                  </a:lnTo>
                  <a:lnTo>
                    <a:pt x="1545908" y="647700"/>
                  </a:lnTo>
                  <a:lnTo>
                    <a:pt x="1571625" y="600075"/>
                  </a:lnTo>
                  <a:lnTo>
                    <a:pt x="1597342" y="552450"/>
                  </a:lnTo>
                  <a:lnTo>
                    <a:pt x="1624012" y="503872"/>
                  </a:lnTo>
                  <a:lnTo>
                    <a:pt x="1650682" y="455295"/>
                  </a:lnTo>
                  <a:lnTo>
                    <a:pt x="1676400" y="407670"/>
                  </a:lnTo>
                  <a:lnTo>
                    <a:pt x="1702118" y="360997"/>
                  </a:lnTo>
                  <a:lnTo>
                    <a:pt x="1728788" y="315278"/>
                  </a:lnTo>
                  <a:lnTo>
                    <a:pt x="1755458" y="270510"/>
                  </a:lnTo>
                  <a:lnTo>
                    <a:pt x="1781175" y="228600"/>
                  </a:lnTo>
                  <a:lnTo>
                    <a:pt x="1806892" y="188595"/>
                  </a:lnTo>
                  <a:lnTo>
                    <a:pt x="1833562" y="152400"/>
                  </a:lnTo>
                  <a:lnTo>
                    <a:pt x="1860232" y="118110"/>
                  </a:lnTo>
                  <a:lnTo>
                    <a:pt x="1885950" y="88583"/>
                  </a:lnTo>
                  <a:lnTo>
                    <a:pt x="1911668" y="61912"/>
                  </a:lnTo>
                  <a:lnTo>
                    <a:pt x="1938338" y="40005"/>
                  </a:lnTo>
                  <a:lnTo>
                    <a:pt x="1965008" y="22860"/>
                  </a:lnTo>
                  <a:lnTo>
                    <a:pt x="1990725" y="10478"/>
                  </a:lnTo>
                  <a:lnTo>
                    <a:pt x="2016442" y="2858"/>
                  </a:lnTo>
                  <a:lnTo>
                    <a:pt x="2043112" y="0"/>
                  </a:lnTo>
                  <a:lnTo>
                    <a:pt x="2069782" y="2858"/>
                  </a:lnTo>
                  <a:lnTo>
                    <a:pt x="2095500" y="10478"/>
                  </a:lnTo>
                  <a:lnTo>
                    <a:pt x="2121218" y="22860"/>
                  </a:lnTo>
                  <a:lnTo>
                    <a:pt x="2147888" y="40005"/>
                  </a:lnTo>
                  <a:lnTo>
                    <a:pt x="2174558" y="61912"/>
                  </a:lnTo>
                  <a:lnTo>
                    <a:pt x="2200275" y="88583"/>
                  </a:lnTo>
                  <a:lnTo>
                    <a:pt x="2225992" y="118110"/>
                  </a:lnTo>
                  <a:lnTo>
                    <a:pt x="2252662" y="152400"/>
                  </a:lnTo>
                  <a:lnTo>
                    <a:pt x="2279332" y="188595"/>
                  </a:lnTo>
                  <a:lnTo>
                    <a:pt x="2305050" y="228600"/>
                  </a:lnTo>
                  <a:lnTo>
                    <a:pt x="2330768" y="270510"/>
                  </a:lnTo>
                  <a:lnTo>
                    <a:pt x="2357438" y="315278"/>
                  </a:lnTo>
                  <a:lnTo>
                    <a:pt x="2384108" y="360997"/>
                  </a:lnTo>
                  <a:lnTo>
                    <a:pt x="2409825" y="407670"/>
                  </a:lnTo>
                  <a:lnTo>
                    <a:pt x="2435542" y="455295"/>
                  </a:lnTo>
                  <a:lnTo>
                    <a:pt x="2462212" y="503872"/>
                  </a:lnTo>
                  <a:lnTo>
                    <a:pt x="2488882" y="552450"/>
                  </a:lnTo>
                  <a:lnTo>
                    <a:pt x="2514600" y="600075"/>
                  </a:lnTo>
                  <a:lnTo>
                    <a:pt x="2541270" y="647700"/>
                  </a:lnTo>
                  <a:lnTo>
                    <a:pt x="2566988" y="694372"/>
                  </a:lnTo>
                  <a:lnTo>
                    <a:pt x="2593658" y="741045"/>
                  </a:lnTo>
                  <a:lnTo>
                    <a:pt x="2619375" y="785812"/>
                  </a:lnTo>
                  <a:lnTo>
                    <a:pt x="2645092" y="828675"/>
                  </a:lnTo>
                  <a:lnTo>
                    <a:pt x="2671762" y="871538"/>
                  </a:lnTo>
                  <a:lnTo>
                    <a:pt x="2698432" y="912495"/>
                  </a:lnTo>
                  <a:lnTo>
                    <a:pt x="2724150" y="951547"/>
                  </a:lnTo>
                  <a:lnTo>
                    <a:pt x="2749868" y="988695"/>
                  </a:lnTo>
                  <a:lnTo>
                    <a:pt x="2776538" y="1024890"/>
                  </a:lnTo>
                  <a:lnTo>
                    <a:pt x="2803208" y="1059180"/>
                  </a:lnTo>
                  <a:lnTo>
                    <a:pt x="2828925" y="1091565"/>
                  </a:lnTo>
                  <a:lnTo>
                    <a:pt x="2855595" y="1122997"/>
                  </a:lnTo>
                  <a:lnTo>
                    <a:pt x="2881312" y="1152525"/>
                  </a:lnTo>
                  <a:lnTo>
                    <a:pt x="2907982" y="1180147"/>
                  </a:lnTo>
                  <a:lnTo>
                    <a:pt x="2933700" y="1206818"/>
                  </a:lnTo>
                  <a:lnTo>
                    <a:pt x="2959418" y="1232535"/>
                  </a:lnTo>
                  <a:lnTo>
                    <a:pt x="2986088" y="1255395"/>
                  </a:lnTo>
                  <a:lnTo>
                    <a:pt x="3012758" y="1278255"/>
                  </a:lnTo>
                  <a:lnTo>
                    <a:pt x="3038475" y="1299210"/>
                  </a:lnTo>
                  <a:lnTo>
                    <a:pt x="3065145" y="1318260"/>
                  </a:lnTo>
                  <a:lnTo>
                    <a:pt x="3090862" y="1337310"/>
                  </a:lnTo>
                  <a:lnTo>
                    <a:pt x="3117532" y="1354455"/>
                  </a:lnTo>
                  <a:lnTo>
                    <a:pt x="3143250" y="1370647"/>
                  </a:lnTo>
                  <a:lnTo>
                    <a:pt x="3168968" y="1385888"/>
                  </a:lnTo>
                  <a:lnTo>
                    <a:pt x="3195638" y="1400175"/>
                  </a:lnTo>
                  <a:lnTo>
                    <a:pt x="3222308" y="1413510"/>
                  </a:lnTo>
                  <a:lnTo>
                    <a:pt x="3248025" y="1426845"/>
                  </a:lnTo>
                  <a:lnTo>
                    <a:pt x="3273742" y="1438275"/>
                  </a:lnTo>
                  <a:lnTo>
                    <a:pt x="3300412" y="1449705"/>
                  </a:lnTo>
                  <a:lnTo>
                    <a:pt x="3327082" y="1460182"/>
                  </a:lnTo>
                  <a:lnTo>
                    <a:pt x="3352800" y="1469708"/>
                  </a:lnTo>
                  <a:lnTo>
                    <a:pt x="3379470" y="1478280"/>
                  </a:lnTo>
                  <a:lnTo>
                    <a:pt x="3405188" y="1486853"/>
                  </a:lnTo>
                  <a:lnTo>
                    <a:pt x="3431858" y="1495425"/>
                  </a:lnTo>
                  <a:lnTo>
                    <a:pt x="3457575" y="1503045"/>
                  </a:lnTo>
                  <a:lnTo>
                    <a:pt x="3483292" y="1509712"/>
                  </a:lnTo>
                  <a:lnTo>
                    <a:pt x="3509962" y="1516380"/>
                  </a:lnTo>
                  <a:lnTo>
                    <a:pt x="3536632" y="1522095"/>
                  </a:lnTo>
                  <a:lnTo>
                    <a:pt x="3562350" y="1527810"/>
                  </a:lnTo>
                  <a:lnTo>
                    <a:pt x="3589020" y="1533525"/>
                  </a:lnTo>
                  <a:lnTo>
                    <a:pt x="3614738" y="1538288"/>
                  </a:lnTo>
                  <a:lnTo>
                    <a:pt x="3641408" y="1543050"/>
                  </a:lnTo>
                  <a:lnTo>
                    <a:pt x="3667125" y="1547812"/>
                  </a:lnTo>
                  <a:lnTo>
                    <a:pt x="3692842" y="1552575"/>
                  </a:lnTo>
                  <a:lnTo>
                    <a:pt x="3719512" y="1556385"/>
                  </a:lnTo>
                  <a:lnTo>
                    <a:pt x="3746182" y="1560195"/>
                  </a:lnTo>
                  <a:lnTo>
                    <a:pt x="3771900" y="1563053"/>
                  </a:lnTo>
                  <a:lnTo>
                    <a:pt x="3797618" y="1566862"/>
                  </a:lnTo>
                  <a:lnTo>
                    <a:pt x="3824288" y="1569720"/>
                  </a:lnTo>
                  <a:lnTo>
                    <a:pt x="3850957" y="1572578"/>
                  </a:lnTo>
                  <a:lnTo>
                    <a:pt x="3876675" y="1575435"/>
                  </a:lnTo>
                  <a:lnTo>
                    <a:pt x="3902393" y="1577340"/>
                  </a:lnTo>
                  <a:lnTo>
                    <a:pt x="3929062" y="1580197"/>
                  </a:lnTo>
                  <a:lnTo>
                    <a:pt x="3955732" y="1582103"/>
                  </a:lnTo>
                  <a:lnTo>
                    <a:pt x="3981450" y="1584960"/>
                  </a:lnTo>
                  <a:lnTo>
                    <a:pt x="4007168" y="1586865"/>
                  </a:lnTo>
                  <a:lnTo>
                    <a:pt x="4033838" y="1588770"/>
                  </a:lnTo>
                  <a:lnTo>
                    <a:pt x="4060507" y="1590675"/>
                  </a:lnTo>
                  <a:lnTo>
                    <a:pt x="4086225" y="1591628"/>
                  </a:lnTo>
                </a:path>
              </a:pathLst>
            </a:custGeom>
            <a:noFill/>
            <a:ln w="17145">
              <a:solidFill>
                <a:srgbClr val="14A38B"/>
              </a:solidFill>
              <a:custDash>
                <a:ds d="277778" sp="222222"/>
              </a:custDash>
            </a:ln>
          </p:spPr>
        </p:sp>
        <p:sp>
          <p:nvSpPr>
            <p:cNvPr id="20" name="Line 20"/>
            <p:cNvSpPr/>
            <p:nvPr/>
          </p:nvSpPr>
          <p:spPr>
            <a:xfrm>
              <a:off x="2078355" y="42672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892002" y="4342924"/>
              <a:ext cx="3727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−1.96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4131945" y="42672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981872" y="4342924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1.96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3105150" y="42672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063917" y="434292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21333" y="3409731"/>
              <a:ext cx="367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1 − α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36714" y="3807485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α/2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18027" y="3807485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α/2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12203" y="2689908"/>
              <a:ext cx="800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实线 N(0,1)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12203" y="2906382"/>
              <a:ext cx="12797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虚线 t(4)，尾巴更厚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23900" y="4762500"/>
              <a:ext cx="5143500" cy="13335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33425" y="4867275"/>
              <a:ext cx="47625" cy="11239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95350" y="4867275"/>
              <a:ext cx="76200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88314" y="49206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区间写法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90016" y="5182552"/>
              <a:ext cx="3464433" cy="776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 = 0.05 时两个分位点是 ±1.96（图中橙色刻度），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区间对称地写成“中心 ± 分位点 × 标准差”。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分布同理，只是 t(4) 的上 0.025 分位点 2.7764 更大，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样本少时 t 分位点更大，区间也更宽。</a:t>
              </a:r>
            </a:p>
          </p:txBody>
        </p:sp>
      </p:grpSp>
      <p:grpSp>
        <p:nvGrpSpPr>
          <p:cNvPr id="68" name="qB"/>
          <p:cNvGrpSpPr/>
          <p:nvPr/>
        </p:nvGrpSpPr>
        <p:grpSpPr>
          <a:xfrm>
            <a:off x="6210300" y="1524000"/>
            <a:ext cx="5448300" cy="4762500"/>
            <a:chOff x="6210300" y="1524000"/>
            <a:chExt cx="5448300" cy="4762500"/>
          </a:xfrm>
        </p:grpSpPr>
        <p:sp>
          <p:nvSpPr>
            <p:cNvPr id="37" name="Rectangle 37"/>
            <p:cNvSpPr/>
            <p:nvPr/>
          </p:nvSpPr>
          <p:spPr>
            <a:xfrm>
              <a:off x="6210300" y="1524000"/>
              <a:ext cx="54483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94323" y="1662589"/>
              <a:ext cx="30232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χ² 分布：不对称，两个分位点要分别查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95466" y="1925002"/>
              <a:ext cx="32826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 χ²(5) 为例，α = 0.05。F 分布的取法完全一样。</a:t>
              </a:r>
            </a:p>
          </p:txBody>
        </p:sp>
        <p:sp>
          <p:nvSpPr>
            <p:cNvPr id="40" name="Polygon 40"/>
            <p:cNvSpPr/>
            <p:nvPr/>
          </p:nvSpPr>
          <p:spPr>
            <a:xfrm>
              <a:off x="6686550" y="3602355"/>
              <a:ext cx="193357" cy="664845"/>
            </a:xfrm>
            <a:custGeom>
              <a:avLst/>
              <a:gdLst/>
              <a:ahLst/>
              <a:cxnLst/>
              <a:rect l="l" t="t" r="r" b="b"/>
              <a:pathLst>
                <a:path w="193357" h="664845">
                  <a:moveTo>
                    <a:pt x="0" y="664845"/>
                  </a:moveTo>
                  <a:lnTo>
                    <a:pt x="11430" y="648653"/>
                  </a:lnTo>
                  <a:lnTo>
                    <a:pt x="35243" y="584835"/>
                  </a:lnTo>
                  <a:lnTo>
                    <a:pt x="58103" y="500062"/>
                  </a:lnTo>
                  <a:lnTo>
                    <a:pt x="81915" y="405765"/>
                  </a:lnTo>
                  <a:lnTo>
                    <a:pt x="104775" y="305753"/>
                  </a:lnTo>
                  <a:lnTo>
                    <a:pt x="127635" y="202883"/>
                  </a:lnTo>
                  <a:lnTo>
                    <a:pt x="151447" y="100965"/>
                  </a:lnTo>
                  <a:lnTo>
                    <a:pt x="174307" y="0"/>
                  </a:lnTo>
                  <a:lnTo>
                    <a:pt x="193357" y="664845"/>
                  </a:lnTo>
                  <a:close/>
                </a:path>
              </a:pathLst>
            </a:custGeom>
            <a:solidFill>
              <a:srgbClr val="F6C6AC"/>
            </a:solidFill>
            <a:ln>
              <a:noFill/>
            </a:ln>
          </p:spPr>
        </p:sp>
        <p:sp>
          <p:nvSpPr>
            <p:cNvPr id="41" name="Polygon 41"/>
            <p:cNvSpPr/>
            <p:nvPr/>
          </p:nvSpPr>
          <p:spPr>
            <a:xfrm>
              <a:off x="9674542" y="4155758"/>
              <a:ext cx="1180147" cy="111442"/>
            </a:xfrm>
            <a:custGeom>
              <a:avLst/>
              <a:gdLst/>
              <a:ahLst/>
              <a:cxnLst/>
              <a:rect l="l" t="t" r="r" b="b"/>
              <a:pathLst>
                <a:path w="1180147" h="111442">
                  <a:moveTo>
                    <a:pt x="0" y="111442"/>
                  </a:moveTo>
                  <a:lnTo>
                    <a:pt x="3810" y="0"/>
                  </a:lnTo>
                  <a:lnTo>
                    <a:pt x="27622" y="4762"/>
                  </a:lnTo>
                  <a:lnTo>
                    <a:pt x="50482" y="8572"/>
                  </a:lnTo>
                  <a:lnTo>
                    <a:pt x="73342" y="12383"/>
                  </a:lnTo>
                  <a:lnTo>
                    <a:pt x="97155" y="16192"/>
                  </a:lnTo>
                  <a:lnTo>
                    <a:pt x="120015" y="20002"/>
                  </a:lnTo>
                  <a:lnTo>
                    <a:pt x="143827" y="22860"/>
                  </a:lnTo>
                  <a:lnTo>
                    <a:pt x="166688" y="26670"/>
                  </a:lnTo>
                  <a:lnTo>
                    <a:pt x="190500" y="29527"/>
                  </a:lnTo>
                  <a:lnTo>
                    <a:pt x="213360" y="33338"/>
                  </a:lnTo>
                  <a:lnTo>
                    <a:pt x="237172" y="36195"/>
                  </a:lnTo>
                  <a:lnTo>
                    <a:pt x="260032" y="39052"/>
                  </a:lnTo>
                  <a:lnTo>
                    <a:pt x="282893" y="41910"/>
                  </a:lnTo>
                  <a:lnTo>
                    <a:pt x="306705" y="44767"/>
                  </a:lnTo>
                  <a:lnTo>
                    <a:pt x="329565" y="46672"/>
                  </a:lnTo>
                  <a:lnTo>
                    <a:pt x="353377" y="49530"/>
                  </a:lnTo>
                  <a:lnTo>
                    <a:pt x="376238" y="51435"/>
                  </a:lnTo>
                  <a:lnTo>
                    <a:pt x="400050" y="54292"/>
                  </a:lnTo>
                  <a:lnTo>
                    <a:pt x="422910" y="56197"/>
                  </a:lnTo>
                  <a:lnTo>
                    <a:pt x="446722" y="58102"/>
                  </a:lnTo>
                  <a:lnTo>
                    <a:pt x="469582" y="60960"/>
                  </a:lnTo>
                  <a:lnTo>
                    <a:pt x="492443" y="62865"/>
                  </a:lnTo>
                  <a:lnTo>
                    <a:pt x="516255" y="64770"/>
                  </a:lnTo>
                  <a:lnTo>
                    <a:pt x="539115" y="66675"/>
                  </a:lnTo>
                  <a:lnTo>
                    <a:pt x="562927" y="68580"/>
                  </a:lnTo>
                  <a:lnTo>
                    <a:pt x="585788" y="69533"/>
                  </a:lnTo>
                  <a:lnTo>
                    <a:pt x="609600" y="71438"/>
                  </a:lnTo>
                  <a:lnTo>
                    <a:pt x="632460" y="73342"/>
                  </a:lnTo>
                  <a:lnTo>
                    <a:pt x="656272" y="74295"/>
                  </a:lnTo>
                  <a:lnTo>
                    <a:pt x="679132" y="76200"/>
                  </a:lnTo>
                  <a:lnTo>
                    <a:pt x="701993" y="77152"/>
                  </a:lnTo>
                  <a:lnTo>
                    <a:pt x="725805" y="79058"/>
                  </a:lnTo>
                  <a:lnTo>
                    <a:pt x="748665" y="80010"/>
                  </a:lnTo>
                  <a:lnTo>
                    <a:pt x="772477" y="80962"/>
                  </a:lnTo>
                  <a:lnTo>
                    <a:pt x="795338" y="82867"/>
                  </a:lnTo>
                  <a:lnTo>
                    <a:pt x="819150" y="83820"/>
                  </a:lnTo>
                  <a:lnTo>
                    <a:pt x="842010" y="84772"/>
                  </a:lnTo>
                  <a:lnTo>
                    <a:pt x="865822" y="85725"/>
                  </a:lnTo>
                  <a:lnTo>
                    <a:pt x="888682" y="86677"/>
                  </a:lnTo>
                  <a:lnTo>
                    <a:pt x="911543" y="87630"/>
                  </a:lnTo>
                  <a:lnTo>
                    <a:pt x="935355" y="88583"/>
                  </a:lnTo>
                  <a:lnTo>
                    <a:pt x="958215" y="89535"/>
                  </a:lnTo>
                  <a:lnTo>
                    <a:pt x="982027" y="90488"/>
                  </a:lnTo>
                  <a:lnTo>
                    <a:pt x="1004888" y="91440"/>
                  </a:lnTo>
                  <a:lnTo>
                    <a:pt x="1028700" y="92392"/>
                  </a:lnTo>
                  <a:lnTo>
                    <a:pt x="1051560" y="93345"/>
                  </a:lnTo>
                  <a:lnTo>
                    <a:pt x="1075372" y="93345"/>
                  </a:lnTo>
                  <a:lnTo>
                    <a:pt x="1098232" y="94297"/>
                  </a:lnTo>
                  <a:lnTo>
                    <a:pt x="1121093" y="95250"/>
                  </a:lnTo>
                  <a:lnTo>
                    <a:pt x="1144905" y="96202"/>
                  </a:lnTo>
                  <a:lnTo>
                    <a:pt x="1167765" y="96202"/>
                  </a:lnTo>
                  <a:lnTo>
                    <a:pt x="1180147" y="111442"/>
                  </a:lnTo>
                  <a:close/>
                </a:path>
              </a:pathLst>
            </a:custGeom>
            <a:solidFill>
              <a:srgbClr val="F6C6AC"/>
            </a:solidFill>
            <a:ln>
              <a:noFill/>
            </a:ln>
          </p:spPr>
        </p:sp>
        <p:sp>
          <p:nvSpPr>
            <p:cNvPr id="42" name="Polygon 42"/>
            <p:cNvSpPr/>
            <p:nvPr/>
          </p:nvSpPr>
          <p:spPr>
            <a:xfrm>
              <a:off x="6879908" y="2539365"/>
              <a:ext cx="2794635" cy="1727835"/>
            </a:xfrm>
            <a:custGeom>
              <a:avLst/>
              <a:gdLst/>
              <a:ahLst/>
              <a:cxnLst/>
              <a:rect l="l" t="t" r="r" b="b"/>
              <a:pathLst>
                <a:path w="2794635" h="1727835">
                  <a:moveTo>
                    <a:pt x="0" y="1727835"/>
                  </a:moveTo>
                  <a:lnTo>
                    <a:pt x="4762" y="963930"/>
                  </a:lnTo>
                  <a:lnTo>
                    <a:pt x="27623" y="869632"/>
                  </a:lnTo>
                  <a:lnTo>
                    <a:pt x="51435" y="779145"/>
                  </a:lnTo>
                  <a:lnTo>
                    <a:pt x="74295" y="693420"/>
                  </a:lnTo>
                  <a:lnTo>
                    <a:pt x="98108" y="613410"/>
                  </a:lnTo>
                  <a:lnTo>
                    <a:pt x="120968" y="538162"/>
                  </a:lnTo>
                  <a:lnTo>
                    <a:pt x="143828" y="467677"/>
                  </a:lnTo>
                  <a:lnTo>
                    <a:pt x="167640" y="402907"/>
                  </a:lnTo>
                  <a:lnTo>
                    <a:pt x="190500" y="343852"/>
                  </a:lnTo>
                  <a:lnTo>
                    <a:pt x="214312" y="289560"/>
                  </a:lnTo>
                  <a:lnTo>
                    <a:pt x="237173" y="240982"/>
                  </a:lnTo>
                  <a:lnTo>
                    <a:pt x="260985" y="197167"/>
                  </a:lnTo>
                  <a:lnTo>
                    <a:pt x="283845" y="158115"/>
                  </a:lnTo>
                  <a:lnTo>
                    <a:pt x="307658" y="124777"/>
                  </a:lnTo>
                  <a:lnTo>
                    <a:pt x="330518" y="95250"/>
                  </a:lnTo>
                  <a:lnTo>
                    <a:pt x="353378" y="69532"/>
                  </a:lnTo>
                  <a:lnTo>
                    <a:pt x="377190" y="49530"/>
                  </a:lnTo>
                  <a:lnTo>
                    <a:pt x="400050" y="32385"/>
                  </a:lnTo>
                  <a:lnTo>
                    <a:pt x="423862" y="19050"/>
                  </a:lnTo>
                  <a:lnTo>
                    <a:pt x="446723" y="9525"/>
                  </a:lnTo>
                  <a:lnTo>
                    <a:pt x="470535" y="3810"/>
                  </a:lnTo>
                  <a:lnTo>
                    <a:pt x="493395" y="0"/>
                  </a:lnTo>
                  <a:lnTo>
                    <a:pt x="517208" y="0"/>
                  </a:lnTo>
                  <a:lnTo>
                    <a:pt x="540068" y="2857"/>
                  </a:lnTo>
                  <a:lnTo>
                    <a:pt x="562928" y="8572"/>
                  </a:lnTo>
                  <a:lnTo>
                    <a:pt x="586740" y="16192"/>
                  </a:lnTo>
                  <a:lnTo>
                    <a:pt x="609600" y="26670"/>
                  </a:lnTo>
                  <a:lnTo>
                    <a:pt x="633412" y="38100"/>
                  </a:lnTo>
                  <a:lnTo>
                    <a:pt x="656273" y="52388"/>
                  </a:lnTo>
                  <a:lnTo>
                    <a:pt x="680085" y="68580"/>
                  </a:lnTo>
                  <a:lnTo>
                    <a:pt x="702945" y="85725"/>
                  </a:lnTo>
                  <a:lnTo>
                    <a:pt x="726758" y="104775"/>
                  </a:lnTo>
                  <a:lnTo>
                    <a:pt x="749618" y="124777"/>
                  </a:lnTo>
                  <a:lnTo>
                    <a:pt x="772478" y="145732"/>
                  </a:lnTo>
                  <a:lnTo>
                    <a:pt x="796290" y="168592"/>
                  </a:lnTo>
                  <a:lnTo>
                    <a:pt x="819150" y="191452"/>
                  </a:lnTo>
                  <a:lnTo>
                    <a:pt x="842962" y="216217"/>
                  </a:lnTo>
                  <a:lnTo>
                    <a:pt x="865823" y="240982"/>
                  </a:lnTo>
                  <a:lnTo>
                    <a:pt x="889635" y="266700"/>
                  </a:lnTo>
                  <a:lnTo>
                    <a:pt x="912495" y="293370"/>
                  </a:lnTo>
                  <a:lnTo>
                    <a:pt x="936308" y="320040"/>
                  </a:lnTo>
                  <a:lnTo>
                    <a:pt x="959168" y="346710"/>
                  </a:lnTo>
                  <a:lnTo>
                    <a:pt x="982028" y="374332"/>
                  </a:lnTo>
                  <a:lnTo>
                    <a:pt x="1005840" y="401955"/>
                  </a:lnTo>
                  <a:lnTo>
                    <a:pt x="1028700" y="429577"/>
                  </a:lnTo>
                  <a:lnTo>
                    <a:pt x="1052512" y="457200"/>
                  </a:lnTo>
                  <a:lnTo>
                    <a:pt x="1075373" y="484822"/>
                  </a:lnTo>
                  <a:lnTo>
                    <a:pt x="1099185" y="513397"/>
                  </a:lnTo>
                  <a:lnTo>
                    <a:pt x="1122045" y="541020"/>
                  </a:lnTo>
                  <a:lnTo>
                    <a:pt x="1145858" y="568642"/>
                  </a:lnTo>
                  <a:lnTo>
                    <a:pt x="1168718" y="596265"/>
                  </a:lnTo>
                  <a:lnTo>
                    <a:pt x="1191578" y="623888"/>
                  </a:lnTo>
                  <a:lnTo>
                    <a:pt x="1215390" y="651510"/>
                  </a:lnTo>
                  <a:lnTo>
                    <a:pt x="1238250" y="678180"/>
                  </a:lnTo>
                  <a:lnTo>
                    <a:pt x="1262062" y="704850"/>
                  </a:lnTo>
                  <a:lnTo>
                    <a:pt x="1284923" y="731520"/>
                  </a:lnTo>
                  <a:lnTo>
                    <a:pt x="1308735" y="757238"/>
                  </a:lnTo>
                  <a:lnTo>
                    <a:pt x="1331595" y="782955"/>
                  </a:lnTo>
                  <a:lnTo>
                    <a:pt x="1355408" y="808672"/>
                  </a:lnTo>
                  <a:lnTo>
                    <a:pt x="1378268" y="833438"/>
                  </a:lnTo>
                  <a:lnTo>
                    <a:pt x="1401128" y="858202"/>
                  </a:lnTo>
                  <a:lnTo>
                    <a:pt x="1424940" y="882015"/>
                  </a:lnTo>
                  <a:lnTo>
                    <a:pt x="1447800" y="905827"/>
                  </a:lnTo>
                  <a:lnTo>
                    <a:pt x="1471612" y="929640"/>
                  </a:lnTo>
                  <a:lnTo>
                    <a:pt x="1494473" y="952500"/>
                  </a:lnTo>
                  <a:lnTo>
                    <a:pt x="1518285" y="975360"/>
                  </a:lnTo>
                  <a:lnTo>
                    <a:pt x="1541145" y="997267"/>
                  </a:lnTo>
                  <a:lnTo>
                    <a:pt x="1564958" y="1019175"/>
                  </a:lnTo>
                  <a:lnTo>
                    <a:pt x="1587818" y="1040130"/>
                  </a:lnTo>
                  <a:lnTo>
                    <a:pt x="1610678" y="1060132"/>
                  </a:lnTo>
                  <a:lnTo>
                    <a:pt x="1634490" y="1081088"/>
                  </a:lnTo>
                  <a:lnTo>
                    <a:pt x="1657350" y="1100138"/>
                  </a:lnTo>
                  <a:lnTo>
                    <a:pt x="1681162" y="1120140"/>
                  </a:lnTo>
                  <a:lnTo>
                    <a:pt x="1704023" y="1138238"/>
                  </a:lnTo>
                  <a:lnTo>
                    <a:pt x="1727835" y="1157288"/>
                  </a:lnTo>
                  <a:lnTo>
                    <a:pt x="1750695" y="1175385"/>
                  </a:lnTo>
                  <a:lnTo>
                    <a:pt x="1774508" y="1192530"/>
                  </a:lnTo>
                  <a:lnTo>
                    <a:pt x="1797368" y="1209675"/>
                  </a:lnTo>
                  <a:lnTo>
                    <a:pt x="1820228" y="1225868"/>
                  </a:lnTo>
                  <a:lnTo>
                    <a:pt x="1844040" y="1242060"/>
                  </a:lnTo>
                  <a:lnTo>
                    <a:pt x="1866900" y="1258252"/>
                  </a:lnTo>
                  <a:lnTo>
                    <a:pt x="1890712" y="1273492"/>
                  </a:lnTo>
                  <a:lnTo>
                    <a:pt x="1913573" y="1288732"/>
                  </a:lnTo>
                  <a:lnTo>
                    <a:pt x="1937385" y="1303020"/>
                  </a:lnTo>
                  <a:lnTo>
                    <a:pt x="1960245" y="1317307"/>
                  </a:lnTo>
                  <a:lnTo>
                    <a:pt x="1984058" y="1330642"/>
                  </a:lnTo>
                  <a:lnTo>
                    <a:pt x="2006918" y="1343977"/>
                  </a:lnTo>
                  <a:lnTo>
                    <a:pt x="2029778" y="1356360"/>
                  </a:lnTo>
                  <a:lnTo>
                    <a:pt x="2053590" y="1369695"/>
                  </a:lnTo>
                  <a:lnTo>
                    <a:pt x="2076450" y="1381125"/>
                  </a:lnTo>
                  <a:lnTo>
                    <a:pt x="2100262" y="1393507"/>
                  </a:lnTo>
                  <a:lnTo>
                    <a:pt x="2123123" y="1404938"/>
                  </a:lnTo>
                  <a:lnTo>
                    <a:pt x="2146935" y="1415415"/>
                  </a:lnTo>
                  <a:lnTo>
                    <a:pt x="2169795" y="1426845"/>
                  </a:lnTo>
                  <a:lnTo>
                    <a:pt x="2193608" y="1437322"/>
                  </a:lnTo>
                  <a:lnTo>
                    <a:pt x="2216468" y="1446847"/>
                  </a:lnTo>
                  <a:lnTo>
                    <a:pt x="2239328" y="1457325"/>
                  </a:lnTo>
                  <a:lnTo>
                    <a:pt x="2263140" y="1466850"/>
                  </a:lnTo>
                  <a:lnTo>
                    <a:pt x="2286000" y="1475422"/>
                  </a:lnTo>
                  <a:lnTo>
                    <a:pt x="2309812" y="1484947"/>
                  </a:lnTo>
                  <a:lnTo>
                    <a:pt x="2332673" y="1493520"/>
                  </a:lnTo>
                  <a:lnTo>
                    <a:pt x="2356485" y="1501140"/>
                  </a:lnTo>
                  <a:lnTo>
                    <a:pt x="2379345" y="1509712"/>
                  </a:lnTo>
                  <a:lnTo>
                    <a:pt x="2403158" y="1517332"/>
                  </a:lnTo>
                  <a:lnTo>
                    <a:pt x="2426018" y="1524952"/>
                  </a:lnTo>
                  <a:lnTo>
                    <a:pt x="2448878" y="1532572"/>
                  </a:lnTo>
                  <a:lnTo>
                    <a:pt x="2472690" y="1539240"/>
                  </a:lnTo>
                  <a:lnTo>
                    <a:pt x="2495550" y="1545907"/>
                  </a:lnTo>
                  <a:lnTo>
                    <a:pt x="2519362" y="1552575"/>
                  </a:lnTo>
                  <a:lnTo>
                    <a:pt x="2542223" y="1559242"/>
                  </a:lnTo>
                  <a:lnTo>
                    <a:pt x="2566035" y="1564957"/>
                  </a:lnTo>
                  <a:lnTo>
                    <a:pt x="2588895" y="1571625"/>
                  </a:lnTo>
                  <a:lnTo>
                    <a:pt x="2612708" y="1577340"/>
                  </a:lnTo>
                  <a:lnTo>
                    <a:pt x="2635568" y="1583055"/>
                  </a:lnTo>
                  <a:lnTo>
                    <a:pt x="2658428" y="1587818"/>
                  </a:lnTo>
                  <a:lnTo>
                    <a:pt x="2682240" y="1593532"/>
                  </a:lnTo>
                  <a:lnTo>
                    <a:pt x="2705100" y="1598295"/>
                  </a:lnTo>
                  <a:lnTo>
                    <a:pt x="2728912" y="1603057"/>
                  </a:lnTo>
                  <a:lnTo>
                    <a:pt x="2751773" y="1607820"/>
                  </a:lnTo>
                  <a:lnTo>
                    <a:pt x="2775585" y="1612582"/>
                  </a:lnTo>
                  <a:lnTo>
                    <a:pt x="2794635" y="1727835"/>
                  </a:lnTo>
                  <a:close/>
                </a:path>
              </a:pathLst>
            </a:custGeom>
            <a:solidFill>
              <a:srgbClr val="D6DFF3"/>
            </a:solidFill>
            <a:ln>
              <a:noFill/>
            </a:ln>
          </p:spPr>
        </p:sp>
        <p:sp>
          <p:nvSpPr>
            <p:cNvPr id="43" name="Line 43"/>
            <p:cNvSpPr/>
            <p:nvPr/>
          </p:nvSpPr>
          <p:spPr>
            <a:xfrm>
              <a:off x="6686550" y="4267200"/>
              <a:ext cx="4238625" cy="9525"/>
            </a:xfrm>
            <a:custGeom>
              <a:avLst/>
              <a:gdLst/>
              <a:ahLst/>
              <a:cxnLst/>
              <a:rect l="l" t="t" r="r" b="b"/>
              <a:pathLst>
                <a:path w="4238625" h="9525">
                  <a:moveTo>
                    <a:pt x="0" y="0"/>
                  </a:moveTo>
                  <a:lnTo>
                    <a:pt x="423862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44" name="Polygon 44"/>
            <p:cNvSpPr/>
            <p:nvPr/>
          </p:nvSpPr>
          <p:spPr>
            <a:xfrm>
              <a:off x="10925175" y="423719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45" name="Line 45"/>
            <p:cNvSpPr/>
            <p:nvPr/>
          </p:nvSpPr>
          <p:spPr>
            <a:xfrm>
              <a:off x="6686550" y="2333625"/>
              <a:ext cx="9525" cy="1933575"/>
            </a:xfrm>
            <a:custGeom>
              <a:avLst/>
              <a:gdLst/>
              <a:ahLst/>
              <a:cxnLst/>
              <a:rect l="l" t="t" r="r" b="b"/>
              <a:pathLst>
                <a:path w="9525" h="1933575">
                  <a:moveTo>
                    <a:pt x="0" y="193357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46" name="Polygon 46"/>
            <p:cNvSpPr/>
            <p:nvPr/>
          </p:nvSpPr>
          <p:spPr>
            <a:xfrm>
              <a:off x="6656546" y="2266950"/>
              <a:ext cx="60007" cy="66675"/>
            </a:xfrm>
            <a:custGeom>
              <a:avLst/>
              <a:gdLst/>
              <a:ahLst/>
              <a:cxnLst/>
              <a:rect l="l" t="t" r="r" b="b"/>
              <a:pathLst>
                <a:path w="60007" h="66675">
                  <a:moveTo>
                    <a:pt x="30004" y="0"/>
                  </a:moveTo>
                  <a:lnTo>
                    <a:pt x="6000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034141" y="420147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24549" y="4323874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6686550" y="2539365"/>
              <a:ext cx="4155757" cy="1727835"/>
            </a:xfrm>
            <a:custGeom>
              <a:avLst/>
              <a:gdLst/>
              <a:ahLst/>
              <a:cxnLst/>
              <a:rect l="l" t="t" r="r" b="b"/>
              <a:pathLst>
                <a:path w="4155757" h="1727835">
                  <a:moveTo>
                    <a:pt x="0" y="1727835"/>
                  </a:moveTo>
                  <a:lnTo>
                    <a:pt x="11430" y="1711642"/>
                  </a:lnTo>
                  <a:lnTo>
                    <a:pt x="35243" y="1647825"/>
                  </a:lnTo>
                  <a:lnTo>
                    <a:pt x="58103" y="1563052"/>
                  </a:lnTo>
                  <a:lnTo>
                    <a:pt x="81915" y="1468755"/>
                  </a:lnTo>
                  <a:lnTo>
                    <a:pt x="104775" y="1368742"/>
                  </a:lnTo>
                  <a:lnTo>
                    <a:pt x="127635" y="1265872"/>
                  </a:lnTo>
                  <a:lnTo>
                    <a:pt x="151447" y="1163955"/>
                  </a:lnTo>
                  <a:lnTo>
                    <a:pt x="174307" y="1062990"/>
                  </a:lnTo>
                  <a:lnTo>
                    <a:pt x="198120" y="963930"/>
                  </a:lnTo>
                  <a:lnTo>
                    <a:pt x="220980" y="869632"/>
                  </a:lnTo>
                  <a:lnTo>
                    <a:pt x="244793" y="779145"/>
                  </a:lnTo>
                  <a:lnTo>
                    <a:pt x="267653" y="693420"/>
                  </a:lnTo>
                  <a:lnTo>
                    <a:pt x="291465" y="613410"/>
                  </a:lnTo>
                  <a:lnTo>
                    <a:pt x="314325" y="538162"/>
                  </a:lnTo>
                  <a:lnTo>
                    <a:pt x="337185" y="467677"/>
                  </a:lnTo>
                  <a:lnTo>
                    <a:pt x="360997" y="402907"/>
                  </a:lnTo>
                  <a:lnTo>
                    <a:pt x="383857" y="343852"/>
                  </a:lnTo>
                  <a:lnTo>
                    <a:pt x="407670" y="289560"/>
                  </a:lnTo>
                  <a:lnTo>
                    <a:pt x="430530" y="240982"/>
                  </a:lnTo>
                  <a:lnTo>
                    <a:pt x="454343" y="197167"/>
                  </a:lnTo>
                  <a:lnTo>
                    <a:pt x="477203" y="158115"/>
                  </a:lnTo>
                  <a:lnTo>
                    <a:pt x="501015" y="124777"/>
                  </a:lnTo>
                  <a:lnTo>
                    <a:pt x="523875" y="95250"/>
                  </a:lnTo>
                  <a:lnTo>
                    <a:pt x="546735" y="69532"/>
                  </a:lnTo>
                  <a:lnTo>
                    <a:pt x="570547" y="49530"/>
                  </a:lnTo>
                  <a:lnTo>
                    <a:pt x="593407" y="32385"/>
                  </a:lnTo>
                  <a:lnTo>
                    <a:pt x="617220" y="19050"/>
                  </a:lnTo>
                  <a:lnTo>
                    <a:pt x="640080" y="9525"/>
                  </a:lnTo>
                  <a:lnTo>
                    <a:pt x="663893" y="3810"/>
                  </a:lnTo>
                  <a:lnTo>
                    <a:pt x="686753" y="0"/>
                  </a:lnTo>
                  <a:lnTo>
                    <a:pt x="710565" y="0"/>
                  </a:lnTo>
                  <a:lnTo>
                    <a:pt x="733425" y="2857"/>
                  </a:lnTo>
                  <a:lnTo>
                    <a:pt x="756285" y="8572"/>
                  </a:lnTo>
                  <a:lnTo>
                    <a:pt x="780097" y="16192"/>
                  </a:lnTo>
                  <a:lnTo>
                    <a:pt x="802957" y="26670"/>
                  </a:lnTo>
                  <a:lnTo>
                    <a:pt x="826770" y="38100"/>
                  </a:lnTo>
                  <a:lnTo>
                    <a:pt x="849630" y="52388"/>
                  </a:lnTo>
                  <a:lnTo>
                    <a:pt x="873443" y="68580"/>
                  </a:lnTo>
                  <a:lnTo>
                    <a:pt x="896303" y="85725"/>
                  </a:lnTo>
                  <a:lnTo>
                    <a:pt x="920115" y="104775"/>
                  </a:lnTo>
                  <a:lnTo>
                    <a:pt x="942975" y="124777"/>
                  </a:lnTo>
                  <a:lnTo>
                    <a:pt x="965835" y="145732"/>
                  </a:lnTo>
                  <a:lnTo>
                    <a:pt x="989647" y="168592"/>
                  </a:lnTo>
                  <a:lnTo>
                    <a:pt x="1012507" y="191452"/>
                  </a:lnTo>
                  <a:lnTo>
                    <a:pt x="1036320" y="216217"/>
                  </a:lnTo>
                  <a:lnTo>
                    <a:pt x="1059180" y="240982"/>
                  </a:lnTo>
                  <a:lnTo>
                    <a:pt x="1082993" y="266700"/>
                  </a:lnTo>
                  <a:lnTo>
                    <a:pt x="1105853" y="293370"/>
                  </a:lnTo>
                  <a:lnTo>
                    <a:pt x="1129665" y="320040"/>
                  </a:lnTo>
                  <a:lnTo>
                    <a:pt x="1152525" y="346710"/>
                  </a:lnTo>
                  <a:lnTo>
                    <a:pt x="1175385" y="374332"/>
                  </a:lnTo>
                  <a:lnTo>
                    <a:pt x="1199197" y="401955"/>
                  </a:lnTo>
                  <a:lnTo>
                    <a:pt x="1222057" y="429577"/>
                  </a:lnTo>
                  <a:lnTo>
                    <a:pt x="1245870" y="457200"/>
                  </a:lnTo>
                  <a:lnTo>
                    <a:pt x="1268730" y="484822"/>
                  </a:lnTo>
                  <a:lnTo>
                    <a:pt x="1292543" y="513397"/>
                  </a:lnTo>
                  <a:lnTo>
                    <a:pt x="1315403" y="541020"/>
                  </a:lnTo>
                  <a:lnTo>
                    <a:pt x="1339215" y="568642"/>
                  </a:lnTo>
                  <a:lnTo>
                    <a:pt x="1362075" y="596265"/>
                  </a:lnTo>
                  <a:lnTo>
                    <a:pt x="1384935" y="623888"/>
                  </a:lnTo>
                  <a:lnTo>
                    <a:pt x="1408747" y="651510"/>
                  </a:lnTo>
                  <a:lnTo>
                    <a:pt x="1431607" y="678180"/>
                  </a:lnTo>
                  <a:lnTo>
                    <a:pt x="1455420" y="704850"/>
                  </a:lnTo>
                  <a:lnTo>
                    <a:pt x="1478280" y="731520"/>
                  </a:lnTo>
                  <a:lnTo>
                    <a:pt x="1502093" y="757238"/>
                  </a:lnTo>
                  <a:lnTo>
                    <a:pt x="1524953" y="782955"/>
                  </a:lnTo>
                  <a:lnTo>
                    <a:pt x="1548765" y="808672"/>
                  </a:lnTo>
                  <a:lnTo>
                    <a:pt x="1571625" y="833438"/>
                  </a:lnTo>
                  <a:lnTo>
                    <a:pt x="1594485" y="858202"/>
                  </a:lnTo>
                  <a:lnTo>
                    <a:pt x="1618297" y="882015"/>
                  </a:lnTo>
                  <a:lnTo>
                    <a:pt x="1641157" y="905827"/>
                  </a:lnTo>
                  <a:lnTo>
                    <a:pt x="1664970" y="929640"/>
                  </a:lnTo>
                  <a:lnTo>
                    <a:pt x="1687830" y="952500"/>
                  </a:lnTo>
                  <a:lnTo>
                    <a:pt x="1711643" y="975360"/>
                  </a:lnTo>
                  <a:lnTo>
                    <a:pt x="1734503" y="997267"/>
                  </a:lnTo>
                  <a:lnTo>
                    <a:pt x="1758315" y="1019175"/>
                  </a:lnTo>
                  <a:lnTo>
                    <a:pt x="1781175" y="1040130"/>
                  </a:lnTo>
                  <a:lnTo>
                    <a:pt x="1804035" y="1060132"/>
                  </a:lnTo>
                  <a:lnTo>
                    <a:pt x="1827847" y="1081088"/>
                  </a:lnTo>
                  <a:lnTo>
                    <a:pt x="1850707" y="1100138"/>
                  </a:lnTo>
                  <a:lnTo>
                    <a:pt x="1874520" y="1120140"/>
                  </a:lnTo>
                  <a:lnTo>
                    <a:pt x="1897380" y="1138238"/>
                  </a:lnTo>
                  <a:lnTo>
                    <a:pt x="1921193" y="1157288"/>
                  </a:lnTo>
                  <a:lnTo>
                    <a:pt x="1944053" y="1175385"/>
                  </a:lnTo>
                  <a:lnTo>
                    <a:pt x="1967865" y="1192530"/>
                  </a:lnTo>
                  <a:lnTo>
                    <a:pt x="1990725" y="1209675"/>
                  </a:lnTo>
                  <a:lnTo>
                    <a:pt x="2013585" y="1225868"/>
                  </a:lnTo>
                  <a:lnTo>
                    <a:pt x="2037397" y="1242060"/>
                  </a:lnTo>
                  <a:lnTo>
                    <a:pt x="2060257" y="1258252"/>
                  </a:lnTo>
                  <a:lnTo>
                    <a:pt x="2084070" y="1273492"/>
                  </a:lnTo>
                  <a:lnTo>
                    <a:pt x="2106930" y="1288732"/>
                  </a:lnTo>
                  <a:lnTo>
                    <a:pt x="2130743" y="1303020"/>
                  </a:lnTo>
                  <a:lnTo>
                    <a:pt x="2153602" y="1317307"/>
                  </a:lnTo>
                  <a:lnTo>
                    <a:pt x="2177415" y="1330642"/>
                  </a:lnTo>
                  <a:lnTo>
                    <a:pt x="2200275" y="1343977"/>
                  </a:lnTo>
                  <a:lnTo>
                    <a:pt x="2223135" y="1356360"/>
                  </a:lnTo>
                  <a:lnTo>
                    <a:pt x="2246948" y="1369695"/>
                  </a:lnTo>
                  <a:lnTo>
                    <a:pt x="2269807" y="1381125"/>
                  </a:lnTo>
                  <a:lnTo>
                    <a:pt x="2293620" y="1393507"/>
                  </a:lnTo>
                  <a:lnTo>
                    <a:pt x="2316480" y="1404938"/>
                  </a:lnTo>
                  <a:lnTo>
                    <a:pt x="2340293" y="1415415"/>
                  </a:lnTo>
                  <a:lnTo>
                    <a:pt x="2363152" y="1426845"/>
                  </a:lnTo>
                  <a:lnTo>
                    <a:pt x="2386965" y="1437322"/>
                  </a:lnTo>
                  <a:lnTo>
                    <a:pt x="2409825" y="1446847"/>
                  </a:lnTo>
                  <a:lnTo>
                    <a:pt x="2432685" y="1457325"/>
                  </a:lnTo>
                  <a:lnTo>
                    <a:pt x="2456498" y="1466850"/>
                  </a:lnTo>
                  <a:lnTo>
                    <a:pt x="2479357" y="1475422"/>
                  </a:lnTo>
                  <a:lnTo>
                    <a:pt x="2503170" y="1484947"/>
                  </a:lnTo>
                  <a:lnTo>
                    <a:pt x="2526030" y="1493520"/>
                  </a:lnTo>
                  <a:lnTo>
                    <a:pt x="2549843" y="1501140"/>
                  </a:lnTo>
                  <a:lnTo>
                    <a:pt x="2572702" y="1509712"/>
                  </a:lnTo>
                  <a:lnTo>
                    <a:pt x="2596515" y="1517332"/>
                  </a:lnTo>
                  <a:lnTo>
                    <a:pt x="2619375" y="1524952"/>
                  </a:lnTo>
                  <a:lnTo>
                    <a:pt x="2642235" y="1532572"/>
                  </a:lnTo>
                  <a:lnTo>
                    <a:pt x="2666048" y="1539240"/>
                  </a:lnTo>
                  <a:lnTo>
                    <a:pt x="2688907" y="1545907"/>
                  </a:lnTo>
                  <a:lnTo>
                    <a:pt x="2712720" y="1552575"/>
                  </a:lnTo>
                  <a:lnTo>
                    <a:pt x="2735580" y="1559242"/>
                  </a:lnTo>
                  <a:lnTo>
                    <a:pt x="2759393" y="1564957"/>
                  </a:lnTo>
                  <a:lnTo>
                    <a:pt x="2782252" y="1571625"/>
                  </a:lnTo>
                  <a:lnTo>
                    <a:pt x="2806065" y="1577340"/>
                  </a:lnTo>
                  <a:lnTo>
                    <a:pt x="2828925" y="1583055"/>
                  </a:lnTo>
                  <a:lnTo>
                    <a:pt x="2851785" y="1587818"/>
                  </a:lnTo>
                  <a:lnTo>
                    <a:pt x="2875598" y="1593532"/>
                  </a:lnTo>
                  <a:lnTo>
                    <a:pt x="2898457" y="1598295"/>
                  </a:lnTo>
                  <a:lnTo>
                    <a:pt x="2922270" y="1603057"/>
                  </a:lnTo>
                  <a:lnTo>
                    <a:pt x="2945130" y="1607820"/>
                  </a:lnTo>
                  <a:lnTo>
                    <a:pt x="2968943" y="1612582"/>
                  </a:lnTo>
                  <a:lnTo>
                    <a:pt x="2991802" y="1616392"/>
                  </a:lnTo>
                  <a:lnTo>
                    <a:pt x="3015615" y="1621155"/>
                  </a:lnTo>
                  <a:lnTo>
                    <a:pt x="3038475" y="1624965"/>
                  </a:lnTo>
                  <a:lnTo>
                    <a:pt x="3061335" y="1628775"/>
                  </a:lnTo>
                  <a:lnTo>
                    <a:pt x="3085148" y="1632585"/>
                  </a:lnTo>
                  <a:lnTo>
                    <a:pt x="3108007" y="1636395"/>
                  </a:lnTo>
                  <a:lnTo>
                    <a:pt x="3131820" y="1639252"/>
                  </a:lnTo>
                  <a:lnTo>
                    <a:pt x="3154680" y="1643062"/>
                  </a:lnTo>
                  <a:lnTo>
                    <a:pt x="3178493" y="1645920"/>
                  </a:lnTo>
                  <a:lnTo>
                    <a:pt x="3201352" y="1649730"/>
                  </a:lnTo>
                  <a:lnTo>
                    <a:pt x="3225165" y="1652588"/>
                  </a:lnTo>
                  <a:lnTo>
                    <a:pt x="3248025" y="1655445"/>
                  </a:lnTo>
                  <a:lnTo>
                    <a:pt x="3270885" y="1658302"/>
                  </a:lnTo>
                  <a:lnTo>
                    <a:pt x="3294698" y="1661160"/>
                  </a:lnTo>
                  <a:lnTo>
                    <a:pt x="3317557" y="1663065"/>
                  </a:lnTo>
                  <a:lnTo>
                    <a:pt x="3341370" y="1665922"/>
                  </a:lnTo>
                  <a:lnTo>
                    <a:pt x="3364230" y="1667827"/>
                  </a:lnTo>
                  <a:lnTo>
                    <a:pt x="3388043" y="1670685"/>
                  </a:lnTo>
                  <a:lnTo>
                    <a:pt x="3410902" y="1672590"/>
                  </a:lnTo>
                  <a:lnTo>
                    <a:pt x="3434715" y="1674495"/>
                  </a:lnTo>
                  <a:lnTo>
                    <a:pt x="3457575" y="1677352"/>
                  </a:lnTo>
                  <a:lnTo>
                    <a:pt x="3480435" y="1679257"/>
                  </a:lnTo>
                  <a:lnTo>
                    <a:pt x="3504248" y="1681162"/>
                  </a:lnTo>
                  <a:lnTo>
                    <a:pt x="3527107" y="1683068"/>
                  </a:lnTo>
                  <a:lnTo>
                    <a:pt x="3550920" y="1684972"/>
                  </a:lnTo>
                  <a:lnTo>
                    <a:pt x="3573780" y="1685925"/>
                  </a:lnTo>
                  <a:lnTo>
                    <a:pt x="3597593" y="1687830"/>
                  </a:lnTo>
                  <a:lnTo>
                    <a:pt x="3620452" y="1689735"/>
                  </a:lnTo>
                  <a:lnTo>
                    <a:pt x="3644265" y="1690688"/>
                  </a:lnTo>
                  <a:lnTo>
                    <a:pt x="3667125" y="1692592"/>
                  </a:lnTo>
                  <a:lnTo>
                    <a:pt x="3689985" y="1693545"/>
                  </a:lnTo>
                  <a:lnTo>
                    <a:pt x="3713798" y="1695450"/>
                  </a:lnTo>
                  <a:lnTo>
                    <a:pt x="3736657" y="1696402"/>
                  </a:lnTo>
                  <a:lnTo>
                    <a:pt x="3760470" y="1697355"/>
                  </a:lnTo>
                  <a:lnTo>
                    <a:pt x="3783330" y="1699260"/>
                  </a:lnTo>
                  <a:lnTo>
                    <a:pt x="3807143" y="1700212"/>
                  </a:lnTo>
                  <a:lnTo>
                    <a:pt x="3830002" y="1701165"/>
                  </a:lnTo>
                  <a:lnTo>
                    <a:pt x="3853815" y="1702118"/>
                  </a:lnTo>
                  <a:lnTo>
                    <a:pt x="3876675" y="1703070"/>
                  </a:lnTo>
                  <a:lnTo>
                    <a:pt x="3899535" y="1704022"/>
                  </a:lnTo>
                  <a:lnTo>
                    <a:pt x="3923348" y="1704975"/>
                  </a:lnTo>
                  <a:lnTo>
                    <a:pt x="3946207" y="1705927"/>
                  </a:lnTo>
                  <a:lnTo>
                    <a:pt x="3970020" y="1706880"/>
                  </a:lnTo>
                  <a:lnTo>
                    <a:pt x="3992880" y="1707832"/>
                  </a:lnTo>
                  <a:lnTo>
                    <a:pt x="4016693" y="1708785"/>
                  </a:lnTo>
                  <a:lnTo>
                    <a:pt x="4039552" y="1709738"/>
                  </a:lnTo>
                  <a:lnTo>
                    <a:pt x="4063365" y="1709738"/>
                  </a:lnTo>
                  <a:lnTo>
                    <a:pt x="4086225" y="1710690"/>
                  </a:lnTo>
                  <a:lnTo>
                    <a:pt x="4109085" y="1711642"/>
                  </a:lnTo>
                  <a:lnTo>
                    <a:pt x="4132898" y="1712595"/>
                  </a:lnTo>
                  <a:lnTo>
                    <a:pt x="4155757" y="1712595"/>
                  </a:lnTo>
                </a:path>
              </a:pathLst>
            </a:custGeom>
            <a:noFill/>
            <a:ln w="21908">
              <a:solidFill>
                <a:srgbClr val="2F4B9A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6879908" y="42672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93726" y="4342924"/>
              <a:ext cx="3727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0.831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9674542" y="42672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451718" y="4342924"/>
              <a:ext cx="4452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12.833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7850505" y="42672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809481" y="434292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713465" y="3473406"/>
              <a:ext cx="367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1 − α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727974" y="3037313"/>
              <a:ext cx="56061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左尾 α/2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6819719" y="3225051"/>
              <a:ext cx="76381" cy="850754"/>
            </a:xfrm>
            <a:custGeom>
              <a:avLst/>
              <a:gdLst/>
              <a:ahLst/>
              <a:cxnLst/>
              <a:rect l="l" t="t" r="r" b="b"/>
              <a:pathLst>
                <a:path w="76381" h="850754">
                  <a:moveTo>
                    <a:pt x="76381" y="0"/>
                  </a:moveTo>
                  <a:lnTo>
                    <a:pt x="0" y="850754"/>
                  </a:lnTo>
                </a:path>
              </a:pathLst>
            </a:custGeom>
            <a:noFill/>
            <a:ln w="12382">
              <a:solidFill>
                <a:srgbClr val="C2410C"/>
              </a:solidFill>
            </a:ln>
          </p:spPr>
        </p:sp>
        <p:sp>
          <p:nvSpPr>
            <p:cNvPr id="59" name="Polygon 59"/>
            <p:cNvSpPr/>
            <p:nvPr/>
          </p:nvSpPr>
          <p:spPr>
            <a:xfrm>
              <a:off x="6794106" y="4073509"/>
              <a:ext cx="51225" cy="59217"/>
            </a:xfrm>
            <a:custGeom>
              <a:avLst/>
              <a:gdLst/>
              <a:ahLst/>
              <a:cxnLst/>
              <a:rect l="l" t="t" r="r" b="b"/>
              <a:pathLst>
                <a:path w="51225" h="59217">
                  <a:moveTo>
                    <a:pt x="20498" y="59217"/>
                  </a:moveTo>
                  <a:lnTo>
                    <a:pt x="0" y="0"/>
                  </a:lnTo>
                  <a:lnTo>
                    <a:pt x="51225" y="4601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801416" y="3653638"/>
              <a:ext cx="56061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右尾 α/2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78600" y="2481062"/>
              <a:ext cx="13753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左端：上 0.975 分位点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078600" y="2671562"/>
              <a:ext cx="13753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右端：上 0.025 分位点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400800" y="4762500"/>
              <a:ext cx="5067300" cy="13335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410325" y="4867275"/>
              <a:ext cx="47625" cy="11239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572250" y="4867275"/>
              <a:ext cx="1194387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676974" y="4920615"/>
              <a:ext cx="9849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为什么不写成 ±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566916" y="5182552"/>
              <a:ext cx="3124390" cy="776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χ² 变量只取正值，密度右偏，两个分位点离峰值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一近一远，只能各查一次：左端查上 0.975 分位点，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右端查上 0.025 分位点。F 分布的左端分位点还可以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用“自由度对调后取倒数”换算，见方差比一节。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08127" cy="909257"/>
            <a:chOff x="520446" y="342900"/>
            <a:chExt cx="76081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单个正态总体的区间估计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081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 已知求 μ：区间为样本均值 ± u 分位点乘 σ/√n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ard-1"/>
          <p:cNvGrpSpPr/>
          <p:nvPr/>
        </p:nvGrpSpPr>
        <p:grpSpPr>
          <a:xfrm>
            <a:off x="533400" y="1524000"/>
            <a:ext cx="5410200" cy="1330642"/>
            <a:chOff x="533400" y="1524000"/>
            <a:chExt cx="5410200" cy="13306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330642"/>
            </a:xfrm>
            <a:prstGeom prst="roundRect">
              <a:avLst>
                <a:gd name="adj" fmla="val 1002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31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formula199"/>
                <p:cNvSpPr txBox="1">
                  <a:spLocks noGrp="1"/>
                </p:cNvSpPr>
                <p:nvPr/>
              </p:nvSpPr>
              <p:spPr>
                <a:xfrm>
                  <a:off x="742950" y="2085975"/>
                  <a:ext cx="4991100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</m:rad>
                              </m:den>
                            </m:f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bar>
                              <m:barPr>
                                <m:pos m:val="top"/>
                                <m:ctrl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</m:rad>
                              </m:den>
                            </m:f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7" name="c1-card-2"/>
          <p:cNvGrpSpPr/>
          <p:nvPr/>
        </p:nvGrpSpPr>
        <p:grpSpPr>
          <a:xfrm>
            <a:off x="533400" y="3045142"/>
            <a:ext cx="5410200" cy="1316355"/>
            <a:chOff x="533400" y="3045142"/>
            <a:chExt cx="5410200" cy="1316355"/>
          </a:xfrm>
        </p:grpSpPr>
        <p:sp>
          <p:nvSpPr>
            <p:cNvPr id="12" name="Rectangle 12"/>
            <p:cNvSpPr/>
            <p:nvPr/>
          </p:nvSpPr>
          <p:spPr>
            <a:xfrm>
              <a:off x="533400" y="3045142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42925" y="3178492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81050" y="325469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71258" y="329041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3430" y="3631882"/>
              <a:ext cx="4615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uα/2 是标准正态分布的上 α/2 分位点：P{U &gt; uα/2}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α/2，也就是 Φ(uα/2) = 1 − α/2。</a:t>
              </a:r>
            </a:p>
          </p:txBody>
        </p:sp>
      </p:grpSp>
      <p:grpSp>
        <p:nvGrpSpPr>
          <p:cNvPr id="38" name="c1-table-3"/>
          <p:cNvGrpSpPr/>
          <p:nvPr/>
        </p:nvGrpSpPr>
        <p:grpSpPr>
          <a:xfrm>
            <a:off x="533400" y="4551998"/>
            <a:ext cx="5410200" cy="1795462"/>
            <a:chOff x="533400" y="4551998"/>
            <a:chExt cx="5410200" cy="1795462"/>
          </a:xfrm>
        </p:grpSpPr>
        <p:sp>
          <p:nvSpPr>
            <p:cNvPr id="18" name="Rectangle 18"/>
            <p:cNvSpPr/>
            <p:nvPr/>
          </p:nvSpPr>
          <p:spPr>
            <a:xfrm>
              <a:off x="533400" y="4551998"/>
              <a:ext cx="5410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58416" y="4687729"/>
              <a:ext cx="11635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置信水平 1 − α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90414" y="4687729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α/2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38953" y="4687729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uα/2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34706" y="5136356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350136" y="513635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901044" y="513635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1.645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54444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544925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434706" y="5584984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302749" y="558498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0.025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354830" y="5458778"/>
              <a:ext cx="157924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901044" y="558498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1.960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589407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434706" y="603361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302749" y="603361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01044" y="603361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2.576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551998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743200" y="4551998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340542" y="4551998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2-steps-1"/>
          <p:cNvGrpSpPr/>
          <p:nvPr/>
        </p:nvGrpSpPr>
        <p:grpSpPr>
          <a:xfrm>
            <a:off x="6248400" y="1533525"/>
            <a:ext cx="4600890" cy="1878615"/>
            <a:chOff x="6248400" y="1533525"/>
            <a:chExt cx="4600890" cy="1878615"/>
          </a:xfrm>
        </p:grpSpPr>
        <p:sp>
          <p:nvSpPr>
            <p:cNvPr id="39" name="Rectangle 39"/>
            <p:cNvSpPr/>
            <p:nvPr/>
          </p:nvSpPr>
          <p:spPr>
            <a:xfrm>
              <a:off x="6381750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248400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42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248400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42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59880" y="1567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枢轴量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1023" y="1861661"/>
              <a:ext cx="41882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= (样本均值 − μ)/(σ/√n) ~ N(0, 1)，只含未知的 μ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59880" y="221837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按对称分位点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61023" y="2512219"/>
              <a:ext cx="24598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中间面积 1 − α 夹在 ±uα/2 之间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59880" y="2868930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解出 μ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61023" y="3162776"/>
              <a:ext cx="23391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不等式两边同乘 σ/√n，再移项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formula200"/>
              <p:cNvSpPr txBox="1">
                <a:spLocks noGrp="1"/>
              </p:cNvSpPr>
              <p:nvPr/>
            </p:nvSpPr>
            <p:spPr>
              <a:xfrm>
                <a:off x="6248400" y="3590925"/>
                <a:ext cx="5410200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f>
                            <m:fPr>
                              <m:type m:val="bar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bar>
                                <m:barPr>
                                  <m:pos m:val="top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bar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ba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num>
                            <m:den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</m:rad>
                            </m:den>
                          </m:f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α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formula201"/>
              <p:cNvSpPr txBox="1">
                <a:spLocks noGrp="1"/>
              </p:cNvSpPr>
              <p:nvPr/>
            </p:nvSpPr>
            <p:spPr>
              <a:xfrm>
                <a:off x="6248400" y="4270058"/>
                <a:ext cx="5410200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ar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ba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</m:rad>
                            </m:den>
                          </m:f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μ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bar>
                            <m:barPr>
                              <m:pos m:val="top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ar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ba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f>
                            <m:fPr>
                              <m:type m:val="bar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</m:rad>
                            </m:den>
                          </m:f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α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61" name="c2-callout-4"/>
          <p:cNvGrpSpPr/>
          <p:nvPr/>
        </p:nvGrpSpPr>
        <p:grpSpPr>
          <a:xfrm>
            <a:off x="6248400" y="4923472"/>
            <a:ext cx="5410200" cy="1423988"/>
            <a:chOff x="6248400" y="4923472"/>
            <a:chExt cx="5410200" cy="1423988"/>
          </a:xfrm>
        </p:grpSpPr>
        <p:sp>
          <p:nvSpPr>
            <p:cNvPr id="55" name="Rectangle 55"/>
            <p:cNvSpPr/>
            <p:nvPr/>
          </p:nvSpPr>
          <p:spPr>
            <a:xfrm>
              <a:off x="6248400" y="4923472"/>
              <a:ext cx="5410200" cy="1423988"/>
            </a:xfrm>
            <a:prstGeom prst="roundRect">
              <a:avLst>
                <a:gd name="adj" fmla="val 802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453188" y="5534978"/>
              <a:ext cx="200026" cy="200025"/>
              <a:chOff x="6453188" y="5534978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453188" y="553497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492926" y="557942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527642" y="569055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755130" y="5392102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区间以样本均值为中心、左右对称；置信水平越高，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分位点越大，区间越宽。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61004" cy="909257"/>
            <a:chOff x="520446" y="342900"/>
            <a:chExt cx="71610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单个正态总体的区间估计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610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区间长度与 √n 成反比，要多精确就要多少样本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6923" y="1545431"/>
            <a:ext cx="5416677" cy="997077"/>
            <a:chOff x="526923" y="1545431"/>
            <a:chExt cx="5416677" cy="997077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区间中点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21346" y="15454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样本均值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1737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923" y="191881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区间长度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21346" y="1918811"/>
              <a:ext cx="30284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= 2uα/2·σ/√n，α 给定时与 √n 成反比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1907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923" y="229314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样本量要求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21346" y="2293144"/>
              <a:ext cx="23305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要使 l ≤ ε，需要 n 至少为下式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formula214"/>
              <p:cNvSpPr txBox="1">
                <a:spLocks noGrp="1"/>
              </p:cNvSpPr>
              <p:nvPr/>
            </p:nvSpPr>
            <p:spPr>
              <a:xfrm>
                <a:off x="533400" y="2657475"/>
                <a:ext cx="5410200" cy="4371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2σ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rad>
                        </m:den>
                      </m:f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α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ε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⟺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2σ</m:t>
                                  </m:r>
                                  <m:sSub>
                                    <m:e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</m:t>
                                      </m:r>
                                    </m:e>
                                    <m:sub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α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/</m:t>
                                      </m:r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ε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23" name="c1-callout-3"/>
          <p:cNvGrpSpPr/>
          <p:nvPr/>
        </p:nvGrpSpPr>
        <p:grpSpPr>
          <a:xfrm>
            <a:off x="533400" y="3259455"/>
            <a:ext cx="5410200" cy="702945"/>
            <a:chOff x="533400" y="3259455"/>
            <a:chExt cx="5410200" cy="702945"/>
          </a:xfrm>
        </p:grpSpPr>
        <p:sp>
          <p:nvSpPr>
            <p:cNvPr id="17" name="Rectangle 17"/>
            <p:cNvSpPr/>
            <p:nvPr/>
          </p:nvSpPr>
          <p:spPr>
            <a:xfrm>
              <a:off x="533400" y="3259455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26129" y="3506271"/>
              <a:ext cx="224134" cy="192560"/>
              <a:chOff x="726129" y="3506271"/>
              <a:chExt cx="224134" cy="19256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838200" y="357663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26129" y="350627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38200" y="365442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1273" y="3403759"/>
              <a:ext cx="44752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长度减半要把样本量变成 4 倍；置信水平从 0.95 提到 0.99，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u 从 1.96 变成 2.576，长度增加约 31%。</a:t>
              </a:r>
            </a:p>
          </p:txBody>
        </p:sp>
      </p:grpSp>
      <p:grpSp>
        <p:nvGrpSpPr>
          <p:cNvPr id="49" name="c1-table-4"/>
          <p:cNvGrpSpPr/>
          <p:nvPr/>
        </p:nvGrpSpPr>
        <p:grpSpPr>
          <a:xfrm>
            <a:off x="533400" y="4126230"/>
            <a:ext cx="5410200" cy="1525905"/>
            <a:chOff x="533400" y="4126230"/>
            <a:chExt cx="5410200" cy="1525905"/>
          </a:xfrm>
        </p:grpSpPr>
        <p:sp>
          <p:nvSpPr>
            <p:cNvPr id="24" name="Rectangle 24"/>
            <p:cNvSpPr/>
            <p:nvPr/>
          </p:nvSpPr>
          <p:spPr>
            <a:xfrm>
              <a:off x="533400" y="4126230"/>
              <a:ext cx="541020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74979" y="424338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置信水平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80308" y="424338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uα/2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52221" y="4243388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63300" y="424338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至少测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4421" y="462534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49211" y="462534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1.645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61756" y="462534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24.35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05705" y="4625340"/>
              <a:ext cx="349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 只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88442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88918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94421" y="500634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449211" y="500634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1.960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761756" y="500634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34.57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626292" y="4898708"/>
              <a:ext cx="1307782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105705" y="5006340"/>
              <a:ext cx="349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 只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526542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94421" y="538829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449211" y="5388292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2.576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761756" y="5388292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59.71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105705" y="5388292"/>
              <a:ext cx="349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 只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126230"/>
              <a:ext cx="5410200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1988820" y="412623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3300412" y="412623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4612005" y="412623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2-card-1"/>
          <p:cNvGrpSpPr/>
          <p:nvPr/>
        </p:nvGrpSpPr>
        <p:grpSpPr>
          <a:xfrm>
            <a:off x="6248400" y="1524000"/>
            <a:ext cx="5410200" cy="1160145"/>
            <a:chOff x="6248400" y="1524000"/>
            <a:chExt cx="5410200" cy="1160145"/>
          </a:xfrm>
        </p:grpSpPr>
        <p:sp>
          <p:nvSpPr>
            <p:cNvPr id="50" name="Rectangle 50"/>
            <p:cNvSpPr/>
            <p:nvPr/>
          </p:nvSpPr>
          <p:spPr>
            <a:xfrm>
              <a:off x="6248400" y="1524000"/>
              <a:ext cx="5410200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257925" y="1657350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67475" y="170497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56096" y="173783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补充例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158228" y="174450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螺杆直径要测几只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60998" y="2061686"/>
              <a:ext cx="45971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螺杆直径 X ~ N(μ, 0.3²)。要求 μ 的 0.95 置信区间长度不超过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 mm，至少要测多少只？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formula215"/>
              <p:cNvSpPr txBox="1">
                <a:spLocks noGrp="1"/>
              </p:cNvSpPr>
              <p:nvPr/>
            </p:nvSpPr>
            <p:spPr>
              <a:xfrm>
                <a:off x="6248400" y="2848928"/>
                <a:ext cx="5410200" cy="4371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×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0.3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×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1.96</m:t>
                                  </m:r>
                                </m:num>
                                <m:den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0.2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5.8</m:t>
                      </m:r>
                      <m:sSup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8</m:t>
                          </m:r>
                        </m:e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34.57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63" name="c2-callout-3"/>
          <p:cNvGrpSpPr/>
          <p:nvPr/>
        </p:nvGrpSpPr>
        <p:grpSpPr>
          <a:xfrm>
            <a:off x="6248400" y="3450908"/>
            <a:ext cx="5410200" cy="467678"/>
            <a:chOff x="6248400" y="3450908"/>
            <a:chExt cx="5410200" cy="467678"/>
          </a:xfrm>
        </p:grpSpPr>
        <p:sp>
          <p:nvSpPr>
            <p:cNvPr id="58" name="Rectangle 58"/>
            <p:cNvSpPr/>
            <p:nvPr/>
          </p:nvSpPr>
          <p:spPr>
            <a:xfrm>
              <a:off x="6248400" y="3450908"/>
              <a:ext cx="5410200" cy="467678"/>
            </a:xfrm>
            <a:prstGeom prst="roundRect">
              <a:avLst>
                <a:gd name="adj" fmla="val 2444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453188" y="3585210"/>
              <a:ext cx="200026" cy="200026"/>
              <a:chOff x="6453188" y="3585210"/>
              <a:chExt cx="200026" cy="20002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453188" y="3585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519863" y="366299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756273" y="3596164"/>
              <a:ext cx="48032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0.95 下至少测 35 只。例16 只测了 5 只，区间长度约 0.526。</a:t>
              </a:r>
            </a:p>
          </p:txBody>
        </p:sp>
      </p:grpSp>
      <p:grpSp>
        <p:nvGrpSpPr>
          <p:cNvPr id="69" name="c2-card-4"/>
          <p:cNvGrpSpPr/>
          <p:nvPr/>
        </p:nvGrpSpPr>
        <p:grpSpPr>
          <a:xfrm>
            <a:off x="6248400" y="4083368"/>
            <a:ext cx="5410200" cy="1567815"/>
            <a:chOff x="6248400" y="4083368"/>
            <a:chExt cx="5410200" cy="1567815"/>
          </a:xfrm>
        </p:grpSpPr>
        <p:sp>
          <p:nvSpPr>
            <p:cNvPr id="64" name="Rectangle 64"/>
            <p:cNvSpPr/>
            <p:nvPr/>
          </p:nvSpPr>
          <p:spPr>
            <a:xfrm>
              <a:off x="6248400" y="4083368"/>
              <a:ext cx="5410200" cy="1567815"/>
            </a:xfrm>
            <a:prstGeom prst="roundRect">
              <a:avLst>
                <a:gd name="adj" fmla="val 85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257925" y="4216718"/>
              <a:ext cx="47625" cy="130111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467475" y="426434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552044" y="429720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反过来问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460998" y="4604861"/>
              <a:ext cx="46134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只测 16 只时，0.95 区间长度为 2 × 1.96 × 0.3/√16 = 0.294，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达不到 0.2 的要求。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0" name="Rectangle 7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1273" y="6039326"/>
              <a:ext cx="63627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精度、可靠性、样本量三者只能定两个；n 固定时要更可靠，只能接受更宽的区间。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01749" cy="909257"/>
            <a:chOff x="520446" y="342900"/>
            <a:chExt cx="73017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单个正态总体的区间估计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017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例16：螺杆直径，σ 已知时 μ 的 0.95 置信区间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544378" cy="1817370"/>
            <a:chOff x="533400" y="1524000"/>
            <a:chExt cx="4544378" cy="18173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1817370"/>
            </a:xfrm>
            <a:prstGeom prst="roundRect">
              <a:avLst>
                <a:gd name="adj" fmla="val 73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506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288" y="1763554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3918839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某车间生产的螺杆直径服从 N(μ, 0.09)。随机抽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5 只，测得直径 22.3, 21.5, 22.0, 21.8,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21.4（mm）。求 μ 的置信水平为 0.95 的置信区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527108"/>
            <a:ext cx="4544378" cy="1274445"/>
            <a:chOff x="533400" y="3527108"/>
            <a:chExt cx="4544378" cy="1274445"/>
          </a:xfrm>
        </p:grpSpPr>
        <p:sp>
          <p:nvSpPr>
            <p:cNvPr id="13" name="Rectangle 13"/>
            <p:cNvSpPr/>
            <p:nvPr/>
          </p:nvSpPr>
          <p:spPr>
            <a:xfrm>
              <a:off x="533400" y="3527108"/>
              <a:ext cx="4544378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660458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75335" y="373094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5543" y="37666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8096" y="4103846"/>
              <a:ext cx="385572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 0.09 已知，σ = 0.3，套用 U 区间。注意题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目给的是方差，开方后才是 σ。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987290"/>
            <a:ext cx="4544378" cy="1274445"/>
            <a:chOff x="533400" y="4987290"/>
            <a:chExt cx="4544378" cy="1274445"/>
          </a:xfrm>
        </p:grpSpPr>
        <p:sp>
          <p:nvSpPr>
            <p:cNvPr id="19" name="Rectangle 19"/>
            <p:cNvSpPr/>
            <p:nvPr/>
          </p:nvSpPr>
          <p:spPr>
            <a:xfrm>
              <a:off x="533400" y="4987290"/>
              <a:ext cx="4544378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512064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75335" y="519112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7644" y="52268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查表提醒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8096" y="5564029"/>
              <a:ext cx="379260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u₀.₀₂₅ 是上 0.025 分位点，在正态分布表里要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 Φ(u) = 0.975，得 u = 1.96。</a:t>
              </a:r>
            </a:p>
          </p:txBody>
        </p:sp>
      </p:grpSp>
      <p:grpSp>
        <p:nvGrpSpPr>
          <p:cNvPr id="38" name="c2-steps-1"/>
          <p:cNvGrpSpPr/>
          <p:nvPr/>
        </p:nvGrpSpPr>
        <p:grpSpPr>
          <a:xfrm>
            <a:off x="5382578" y="1533525"/>
            <a:ext cx="4366870" cy="1790128"/>
            <a:chOff x="5382578" y="1533525"/>
            <a:chExt cx="4366870" cy="1790128"/>
          </a:xfrm>
        </p:grpSpPr>
        <p:sp>
          <p:nvSpPr>
            <p:cNvPr id="25" name="Rectangle 25"/>
            <p:cNvSpPr/>
            <p:nvPr/>
          </p:nvSpPr>
          <p:spPr>
            <a:xfrm>
              <a:off x="5515928" y="1676400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5382578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7620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382578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476201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382578" y="2775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476201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794438" y="15663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样本均值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95582" y="1846898"/>
              <a:ext cx="3953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5，(22.3 + 21.5 + 22.0 + 21.8 + 21.4)/5 = 21.8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94438" y="218741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查分位点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95582" y="2467927"/>
              <a:ext cx="1878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 = 0.05，u₀.₀₂₅ = 1.96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94438" y="280844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795582" y="3088957"/>
              <a:ext cx="30653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0.3/√5 × 1.96 = 0.1342 × 1.96 = 0.2630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formula218"/>
              <p:cNvSpPr txBox="1">
                <a:spLocks noGrp="1"/>
              </p:cNvSpPr>
              <p:nvPr/>
            </p:nvSpPr>
            <p:spPr>
              <a:xfrm>
                <a:off x="5382578" y="3499485"/>
                <a:ext cx="6276022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21.8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0.3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</m:rad>
                            </m:den>
                          </m:f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1.96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21.8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f>
                            <m:fPr>
                              <m:type m:val="bar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0.3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</m:rad>
                            </m:den>
                          </m:f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1.96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21.537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22.063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45" name="c2-callout-3"/>
          <p:cNvGrpSpPr/>
          <p:nvPr/>
        </p:nvGrpSpPr>
        <p:grpSpPr>
          <a:xfrm>
            <a:off x="5382578" y="4148138"/>
            <a:ext cx="6276022" cy="518160"/>
            <a:chOff x="5382578" y="4148138"/>
            <a:chExt cx="6276022" cy="518160"/>
          </a:xfrm>
        </p:grpSpPr>
        <p:sp>
          <p:nvSpPr>
            <p:cNvPr id="40" name="Rectangle 40"/>
            <p:cNvSpPr/>
            <p:nvPr/>
          </p:nvSpPr>
          <p:spPr>
            <a:xfrm>
              <a:off x="5382578" y="4148138"/>
              <a:ext cx="6276022" cy="518160"/>
            </a:xfrm>
            <a:prstGeom prst="roundRect">
              <a:avLst>
                <a:gd name="adj" fmla="val 2205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5587365" y="4307205"/>
              <a:ext cx="200026" cy="200026"/>
              <a:chOff x="5587365" y="4307205"/>
              <a:chExt cx="200026" cy="20002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5587365" y="43072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5654040" y="438499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5889688" y="4307681"/>
              <a:ext cx="43824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区间以 21.8 为中心、半径 0.263，已用脚本复核。</a:t>
              </a:r>
            </a:p>
          </p:txBody>
        </p:sp>
      </p:grpSp>
      <p:grpSp>
        <p:nvGrpSpPr>
          <p:cNvPr id="54" name="c2-kv-4"/>
          <p:cNvGrpSpPr/>
          <p:nvPr/>
        </p:nvGrpSpPr>
        <p:grpSpPr>
          <a:xfrm>
            <a:off x="5375338" y="4875371"/>
            <a:ext cx="6283262" cy="1121665"/>
            <a:chOff x="5375338" y="4875371"/>
            <a:chExt cx="6283262" cy="1121665"/>
          </a:xfrm>
        </p:grpSpPr>
        <p:sp>
          <p:nvSpPr>
            <p:cNvPr id="46" name="TextBox 46"/>
            <p:cNvSpPr txBox="1"/>
            <p:nvPr/>
          </p:nvSpPr>
          <p:spPr>
            <a:xfrm>
              <a:off x="5375338" y="4875371"/>
              <a:ext cx="8985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中心 21.8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92671" y="4875371"/>
              <a:ext cx="18974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样本均值，μ 的点估计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82578" y="518160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375338" y="5297329"/>
              <a:ext cx="12388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σ/√n = 0.134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92671" y="5297329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样本均值的标准差，叫作标准误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82578" y="560260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375338" y="5718334"/>
              <a:ext cx="10089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半径 0.263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92671" y="5718334"/>
              <a:ext cx="25951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1.96 个标准误，决定区间宽窄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57785" cy="909257"/>
            <a:chOff x="520446" y="342900"/>
            <a:chExt cx="75577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单个正态总体的区间估计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577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 未知求 μ：用 S 代替 σ，分位点换成 t(n − 1)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ard-1"/>
          <p:cNvGrpSpPr/>
          <p:nvPr/>
        </p:nvGrpSpPr>
        <p:grpSpPr>
          <a:xfrm>
            <a:off x="533400" y="1524000"/>
            <a:ext cx="5410200" cy="1304925"/>
            <a:chOff x="533400" y="1524000"/>
            <a:chExt cx="5410200" cy="13049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304925"/>
            </a:xfrm>
            <a:prstGeom prst="roundRect">
              <a:avLst>
                <a:gd name="adj" fmla="val 1021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31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formula222"/>
                <p:cNvSpPr txBox="1">
                  <a:spLocks noGrp="1"/>
                </p:cNvSpPr>
                <p:nvPr/>
              </p:nvSpPr>
              <p:spPr>
                <a:xfrm>
                  <a:off x="742950" y="2085975"/>
                  <a:ext cx="4991100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</m:rad>
                              </m:den>
                            </m:f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bar>
                              <m:barPr>
                                <m:pos m:val="top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</m:rad>
                              </m:den>
                            </m:f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7" name="c1-card-2"/>
          <p:cNvGrpSpPr/>
          <p:nvPr/>
        </p:nvGrpSpPr>
        <p:grpSpPr>
          <a:xfrm>
            <a:off x="533400" y="3019425"/>
            <a:ext cx="5410200" cy="1733550"/>
            <a:chOff x="533400" y="3019425"/>
            <a:chExt cx="5410200" cy="1733550"/>
          </a:xfrm>
        </p:grpSpPr>
        <p:sp>
          <p:nvSpPr>
            <p:cNvPr id="12" name="Rectangle 12"/>
            <p:cNvSpPr/>
            <p:nvPr/>
          </p:nvSpPr>
          <p:spPr>
            <a:xfrm>
              <a:off x="533400" y="3019425"/>
              <a:ext cx="5410200" cy="173355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42925" y="3152775"/>
              <a:ext cx="47625" cy="14668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81050" y="3228975"/>
              <a:ext cx="14744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8381" y="3264694"/>
              <a:ext cx="13598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为什么不能继续用 U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3430" y="3606165"/>
              <a:ext cx="45681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未知时 U 里含两个未知参数，不能当枢轴量。S² 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 的无偏估计，用 S 替换 σ 以后分布从 N(0, 1) 变成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 − 1)。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formula223"/>
              <p:cNvSpPr txBox="1">
                <a:spLocks noGrp="1"/>
              </p:cNvSpPr>
              <p:nvPr/>
            </p:nvSpPr>
            <p:spPr>
              <a:xfrm>
                <a:off x="6248400" y="1524000"/>
                <a:ext cx="5410200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bar>
                            <m:barPr>
                              <m:pos m:val="top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ar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ba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μ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∼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formula224"/>
              <p:cNvSpPr txBox="1">
                <a:spLocks noGrp="1"/>
              </p:cNvSpPr>
              <p:nvPr/>
            </p:nvSpPr>
            <p:spPr>
              <a:xfrm>
                <a:off x="6248400" y="2228850"/>
                <a:ext cx="5410200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f>
                            <m:fPr>
                              <m:type m:val="bar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bar>
                                <m:barPr>
                                  <m:pos m:val="top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bar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ba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num>
                            <m:den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</m:rad>
                            </m:den>
                          </m:f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α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6" name="c2-callout-3"/>
          <p:cNvGrpSpPr/>
          <p:nvPr/>
        </p:nvGrpSpPr>
        <p:grpSpPr>
          <a:xfrm>
            <a:off x="6248400" y="2882265"/>
            <a:ext cx="5410200" cy="782955"/>
            <a:chOff x="6248400" y="2882265"/>
            <a:chExt cx="5410200" cy="782955"/>
          </a:xfrm>
        </p:grpSpPr>
        <p:sp>
          <p:nvSpPr>
            <p:cNvPr id="20" name="Rectangle 20"/>
            <p:cNvSpPr/>
            <p:nvPr/>
          </p:nvSpPr>
          <p:spPr>
            <a:xfrm>
              <a:off x="6248400" y="288226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453188" y="3173730"/>
              <a:ext cx="200026" cy="200025"/>
              <a:chOff x="6453188" y="3173730"/>
              <a:chExt cx="200026" cy="20002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453188" y="317373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492926" y="321818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527642" y="332930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6755130" y="3030855"/>
              <a:ext cx="44253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 分布也关于 0 对称，推导和 U 的情形一模一样，只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换分位点。</a:t>
              </a:r>
            </a:p>
          </p:txBody>
        </p:sp>
      </p:grpSp>
      <p:grpSp>
        <p:nvGrpSpPr>
          <p:cNvPr id="46" name="c2-table-4"/>
          <p:cNvGrpSpPr/>
          <p:nvPr/>
        </p:nvGrpSpPr>
        <p:grpSpPr>
          <a:xfrm>
            <a:off x="6248400" y="3855720"/>
            <a:ext cx="5410200" cy="897255"/>
            <a:chOff x="6248400" y="3855720"/>
            <a:chExt cx="5410200" cy="897255"/>
          </a:xfrm>
        </p:grpSpPr>
        <p:sp>
          <p:nvSpPr>
            <p:cNvPr id="27" name="Rectangle 27"/>
            <p:cNvSpPr/>
            <p:nvPr/>
          </p:nvSpPr>
          <p:spPr>
            <a:xfrm>
              <a:off x="6248400" y="3855720"/>
              <a:ext cx="5410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92848" y="3991451"/>
              <a:ext cx="9912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自由度 n − 1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84760" y="399145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10577" y="399145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87592" y="399145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13409" y="399145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188982" y="399145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83470" y="4440079"/>
              <a:ext cx="6100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t₀.₀₂₅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97584" y="444007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2.776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23402" y="444007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2.262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50172" y="444007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2.093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175989" y="444007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2.045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001807" y="444007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1.960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3855720"/>
              <a:ext cx="5410200" cy="8972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522845" y="385572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349615" y="385572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9175432" y="385572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001250" y="385572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828020" y="385572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7" name="Rectangle 4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130" y="5991225"/>
              <a:ext cx="71433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实际问题里 σ 往往未知，这个区间用得最多；n 很大时 t 分位点接近 u 分位点。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64553" cy="909257"/>
            <a:chOff x="520446" y="342900"/>
            <a:chExt cx="65645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单个正态总体的区间估计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645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例17：同一组螺杆数据，σ 未知时区间变宽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544378" cy="1545908"/>
            <a:chOff x="533400" y="1524000"/>
            <a:chExt cx="4544378" cy="15459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288" y="1763554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例17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387375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螺杆直径服从 N(μ, σ²)，σ² 未知。仍用例16 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个数据 22.3, 21.5, 22.0, 21.8, 21.4，求 μ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0.95 置信区间。</a:t>
              </a:r>
            </a:p>
          </p:txBody>
        </p:sp>
      </p:grpSp>
      <p:grpSp>
        <p:nvGrpSpPr>
          <p:cNvPr id="28" name="c1-table-2"/>
          <p:cNvGrpSpPr/>
          <p:nvPr/>
        </p:nvGrpSpPr>
        <p:grpSpPr>
          <a:xfrm>
            <a:off x="533400" y="3255645"/>
            <a:ext cx="4544378" cy="1290638"/>
            <a:chOff x="533400" y="3255645"/>
            <a:chExt cx="4544378" cy="1290638"/>
          </a:xfrm>
        </p:grpSpPr>
        <p:sp>
          <p:nvSpPr>
            <p:cNvPr id="13" name="Rectangle 13"/>
            <p:cNvSpPr/>
            <p:nvPr/>
          </p:nvSpPr>
          <p:spPr>
            <a:xfrm>
              <a:off x="533400" y="3255645"/>
              <a:ext cx="4544378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56310" y="33870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76881" y="338709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置信区间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19588" y="33870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长度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8746" y="3816668"/>
              <a:ext cx="9543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= 0.3 已知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20799" y="3816668"/>
              <a:ext cx="13933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(21.537, 22.063)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02024" y="3816668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0.526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11099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4115752"/>
              <a:ext cx="454437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8746" y="4247198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未知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20799" y="4247198"/>
              <a:ext cx="13933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(21.344, 22.256)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02024" y="4247198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0.912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255645"/>
              <a:ext cx="4544378" cy="12906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710690" y="3255645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891915" y="3255645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4" name="c1-card-3"/>
          <p:cNvGrpSpPr/>
          <p:nvPr/>
        </p:nvGrpSpPr>
        <p:grpSpPr>
          <a:xfrm>
            <a:off x="533400" y="4731068"/>
            <a:ext cx="4544378" cy="1606868"/>
            <a:chOff x="533400" y="4731068"/>
            <a:chExt cx="4544378" cy="1606868"/>
          </a:xfrm>
        </p:grpSpPr>
        <p:sp>
          <p:nvSpPr>
            <p:cNvPr id="29" name="Rectangle 29"/>
            <p:cNvSpPr/>
            <p:nvPr/>
          </p:nvSpPr>
          <p:spPr>
            <a:xfrm>
              <a:off x="533400" y="4731068"/>
              <a:ext cx="4544378" cy="1606868"/>
            </a:xfrm>
            <a:prstGeom prst="roundRect">
              <a:avLst>
                <a:gd name="adj" fmla="val 82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864418"/>
              <a:ext cx="47625" cy="134016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75335" y="493490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5543" y="497062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8096" y="5308759"/>
              <a:ext cx="354012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原课件答案写作 (21.345, 22.255)，按 s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0.3674、t = 2.7764 实算是 (21.344,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22.256)，差在末位舍入。</a:t>
              </a:r>
            </a:p>
          </p:txBody>
        </p:sp>
      </p:grpSp>
      <p:grpSp>
        <p:nvGrpSpPr>
          <p:cNvPr id="48" name="c2-steps-1"/>
          <p:cNvGrpSpPr/>
          <p:nvPr/>
        </p:nvGrpSpPr>
        <p:grpSpPr>
          <a:xfrm>
            <a:off x="5382578" y="1533525"/>
            <a:ext cx="6386170" cy="1790128"/>
            <a:chOff x="5382578" y="1533525"/>
            <a:chExt cx="6386170" cy="1790128"/>
          </a:xfrm>
        </p:grpSpPr>
        <p:sp>
          <p:nvSpPr>
            <p:cNvPr id="35" name="Rectangle 35"/>
            <p:cNvSpPr/>
            <p:nvPr/>
          </p:nvSpPr>
          <p:spPr>
            <a:xfrm>
              <a:off x="5515928" y="1676400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5382578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47620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5382578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476201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5382578" y="2775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476201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794438" y="15663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样本方差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795582" y="1846898"/>
              <a:ext cx="59731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离差 0.5, −0.3, 0.2, 0, −0.4，平方和 0.54，s² = 0.54/4 = 0.135，s = 0.3674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794438" y="218741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查分位点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795582" y="2467927"/>
              <a:ext cx="1530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t₀.₀₂₅(4) = 2.7764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794438" y="280844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795582" y="3088957"/>
              <a:ext cx="36873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0.3674/√5 × 2.7764 = 0.1643 × 2.7764 = 0.4562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formula227"/>
              <p:cNvSpPr txBox="1">
                <a:spLocks noGrp="1"/>
              </p:cNvSpPr>
              <p:nvPr/>
            </p:nvSpPr>
            <p:spPr>
              <a:xfrm>
                <a:off x="5382578" y="3499485"/>
                <a:ext cx="6276022" cy="4371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21.8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0.3674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</m:rad>
                            </m:den>
                          </m:f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2.7764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21.8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f>
                            <m:fPr>
                              <m:type m:val="bar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0.3674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</m:rad>
                            </m:den>
                          </m:f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2.7764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21.344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22.256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56" name="c2-callout-3"/>
          <p:cNvGrpSpPr/>
          <p:nvPr/>
        </p:nvGrpSpPr>
        <p:grpSpPr>
          <a:xfrm>
            <a:off x="5382578" y="4122420"/>
            <a:ext cx="6276022" cy="756285"/>
            <a:chOff x="5382578" y="4122420"/>
            <a:chExt cx="6276022" cy="756285"/>
          </a:xfrm>
        </p:grpSpPr>
        <p:sp>
          <p:nvSpPr>
            <p:cNvPr id="50" name="Rectangle 50"/>
            <p:cNvSpPr/>
            <p:nvPr/>
          </p:nvSpPr>
          <p:spPr>
            <a:xfrm>
              <a:off x="5382578" y="4122420"/>
              <a:ext cx="6276022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5575307" y="4396858"/>
              <a:ext cx="224134" cy="192560"/>
              <a:chOff x="5575307" y="4396858"/>
              <a:chExt cx="224134" cy="19256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5687378" y="446722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5575307" y="439685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5687378" y="45450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5889688" y="4269581"/>
              <a:ext cx="510006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变宽来自 t 分位点 2.7764 比 1.96 大，样本标准差 0.367 也比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0.3 大。</a:t>
              </a:r>
            </a:p>
          </p:txBody>
        </p:sp>
      </p:grpSp>
      <p:grpSp>
        <p:nvGrpSpPr>
          <p:cNvPr id="62" name="c2-card-4"/>
          <p:cNvGrpSpPr/>
          <p:nvPr/>
        </p:nvGrpSpPr>
        <p:grpSpPr>
          <a:xfrm>
            <a:off x="5382578" y="5063490"/>
            <a:ext cx="6276022" cy="1274445"/>
            <a:chOff x="5382578" y="5063490"/>
            <a:chExt cx="6276022" cy="1274445"/>
          </a:xfrm>
        </p:grpSpPr>
        <p:sp>
          <p:nvSpPr>
            <p:cNvPr id="57" name="Rectangle 57"/>
            <p:cNvSpPr/>
            <p:nvPr/>
          </p:nvSpPr>
          <p:spPr>
            <a:xfrm>
              <a:off x="5382578" y="5063490"/>
              <a:ext cx="6276022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5392102" y="519684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624512" y="526732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706821" y="53030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常见错误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617274" y="5641181"/>
              <a:ext cx="521728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未知却照用 1.96，半径只有 0.3674/√5 × 1.96 = 0.322，区间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(21.478, 22.122) 偏窄，实际置信水平达不到 0.95。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65627" cy="909257"/>
            <a:chOff x="520446" y="342900"/>
            <a:chExt cx="76656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单个正态总体的区间估计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656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σ²：两种情形都用 χ² 分布，两端分位点分别查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3139440"/>
            <a:chOff x="533400" y="1524000"/>
            <a:chExt cx="5410200" cy="31394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139440"/>
            </a:xfrm>
            <a:prstGeom prst="roundRect">
              <a:avLst>
                <a:gd name="adj" fmla="val 42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87274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793" y="176926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μ 已知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234"/>
                <p:cNvSpPr txBox="1">
                  <a:spLocks noGrp="1"/>
                </p:cNvSpPr>
                <p:nvPr/>
              </p:nvSpPr>
              <p:spPr>
                <a:xfrm>
                  <a:off x="781050" y="2085975"/>
                  <a:ext cx="4953000" cy="628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χ</m:t>
                            </m:r>
                          </m:e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χ</m:t>
                            </m:r>
                          </m:e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235"/>
                <p:cNvSpPr txBox="1">
                  <a:spLocks noGrp="1"/>
                </p:cNvSpPr>
                <p:nvPr/>
              </p:nvSpPr>
              <p:spPr>
                <a:xfrm>
                  <a:off x="781050" y="2809875"/>
                  <a:ext cx="495300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χ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p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μ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sSub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χ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α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73430" y="3495675"/>
              <a:ext cx="15095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解出 σ²，区间为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236"/>
                <p:cNvSpPr txBox="1">
                  <a:spLocks noGrp="1"/>
                </p:cNvSpPr>
                <p:nvPr/>
              </p:nvSpPr>
              <p:spPr>
                <a:xfrm>
                  <a:off x="781050" y="3806190"/>
                  <a:ext cx="4953000" cy="628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p>
                                  <m:e>
                                    <m:sSup>
                                      <m:e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e>
                                                <m:r>
                                                  <a:rPr lang="zh-CN" sz="15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X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sz="15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i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μ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num>
                              <m:den>
                                <m:sSubSup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χ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α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/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</m: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f>
                              <m:fPr>
                                <m:type m:val="bar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p>
                                  <m:e>
                                    <m:sSup>
                                      <m:e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e>
                                                <m:r>
                                                  <a:rPr lang="zh-CN" sz="15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X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sz="15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i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μ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num>
                              <m:den>
                                <m:sSubSup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χ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α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/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2" name="c1-callout-2"/>
          <p:cNvGrpSpPr/>
          <p:nvPr/>
        </p:nvGrpSpPr>
        <p:grpSpPr>
          <a:xfrm>
            <a:off x="533400" y="4853940"/>
            <a:ext cx="5410200" cy="782955"/>
            <a:chOff x="533400" y="4853940"/>
            <a:chExt cx="5410200" cy="782955"/>
          </a:xfrm>
        </p:grpSpPr>
        <p:sp>
          <p:nvSpPr>
            <p:cNvPr id="16" name="Rectangle 16"/>
            <p:cNvSpPr/>
            <p:nvPr/>
          </p:nvSpPr>
          <p:spPr>
            <a:xfrm>
              <a:off x="533400" y="485394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5145405"/>
              <a:ext cx="200026" cy="200026"/>
              <a:chOff x="738188" y="5145405"/>
              <a:chExt cx="200026" cy="20002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51454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38200" y="52120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27088" y="524541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130" y="5002530"/>
              <a:ext cx="44729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 μ 已知，不用估计，n 个离差 Xᵢ − μ 都是独立信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息，自由度为 n。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248400" y="1524000"/>
            <a:ext cx="5410200" cy="2833688"/>
            <a:chOff x="6248400" y="1524000"/>
            <a:chExt cx="5410200" cy="2833688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2833688"/>
            </a:xfrm>
            <a:prstGeom prst="roundRect">
              <a:avLst>
                <a:gd name="adj" fmla="val 47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1657350"/>
              <a:ext cx="47625" cy="256698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96050" y="1733550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82793" y="176926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μ 未知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237"/>
                <p:cNvSpPr txBox="1">
                  <a:spLocks noGrp="1"/>
                </p:cNvSpPr>
                <p:nvPr/>
              </p:nvSpPr>
              <p:spPr>
                <a:xfrm>
                  <a:off x="6496050" y="2085975"/>
                  <a:ext cx="4953000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χ</m:t>
                            </m:r>
                          </m:e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χ</m:t>
                            </m:r>
                          </m:e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238"/>
                <p:cNvSpPr txBox="1">
                  <a:spLocks noGrp="1"/>
                </p:cNvSpPr>
                <p:nvPr/>
              </p:nvSpPr>
              <p:spPr>
                <a:xfrm>
                  <a:off x="6496050" y="2695575"/>
                  <a:ext cx="4953000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χ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  <m:s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</m:t>
                                    </m:r>
                                  </m:e>
                                  <m:sup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p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sSub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χ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α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TextBox 29"/>
            <p:cNvSpPr txBox="1"/>
            <p:nvPr/>
          </p:nvSpPr>
          <p:spPr>
            <a:xfrm>
              <a:off x="6488430" y="3278505"/>
              <a:ext cx="15095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解出 σ²，区间为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formula239"/>
                <p:cNvSpPr txBox="1">
                  <a:spLocks noGrp="1"/>
                </p:cNvSpPr>
                <p:nvPr/>
              </p:nvSpPr>
              <p:spPr>
                <a:xfrm>
                  <a:off x="6496050" y="3589020"/>
                  <a:ext cx="4953000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  <m:sSup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</m:t>
                                    </m:r>
                                  </m:e>
                                  <m:sup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Sup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χ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α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/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f>
                              <m:fPr>
                                <m:type m:val="bar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  <m:sSup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</m:t>
                                    </m:r>
                                  </m:e>
                                  <m:sup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Sup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χ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α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/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8" name="c2-callout-2"/>
          <p:cNvGrpSpPr/>
          <p:nvPr/>
        </p:nvGrpSpPr>
        <p:grpSpPr>
          <a:xfrm>
            <a:off x="6248400" y="4548188"/>
            <a:ext cx="5410200" cy="1088708"/>
            <a:chOff x="6248400" y="4548188"/>
            <a:chExt cx="5410200" cy="1088708"/>
          </a:xfrm>
        </p:grpSpPr>
        <p:sp>
          <p:nvSpPr>
            <p:cNvPr id="32" name="Rectangle 32"/>
            <p:cNvSpPr/>
            <p:nvPr/>
          </p:nvSpPr>
          <p:spPr>
            <a:xfrm>
              <a:off x="6248400" y="4548188"/>
              <a:ext cx="5410200" cy="1088708"/>
            </a:xfrm>
            <a:prstGeom prst="roundRect">
              <a:avLst>
                <a:gd name="adj" fmla="val 104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453188" y="4992053"/>
              <a:ext cx="200026" cy="200026"/>
              <a:chOff x="6453188" y="4992053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453188" y="499205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553200" y="50587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542088" y="509206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755130" y="4849178"/>
              <a:ext cx="43395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用样本均值代替 μ 后，n 个离差之和恒为 0，只剩 n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− 1 个自由度。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9" name="Rectangle 3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130" y="5991225"/>
              <a:ext cx="99300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σ² 在分母，解不等式时两端对调：右端的大分位点给出下限，左端的小分位点给出上限；μ 已知时自由度是 n。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77309" cy="909257"/>
            <a:chOff x="520446" y="342900"/>
            <a:chExt cx="71773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单个正态总体的区间估计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773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例18：同一组数据，μ 已知与未知时 σ² 的区间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610850" cy="597598"/>
            <a:chOff x="525399" y="1550194"/>
            <a:chExt cx="10610850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610850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从正态总体 N(μ, σ²) 抽取容量为 5 的样本：1.86, 3.22, 1.46, 4.01, 2.64。求 σ² 的置信水平为 0.95 的置信区间：</a:t>
              </a:r>
            </a:p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(1) 已知 μ = 3；(2) μ 未知。</a:t>
              </a:r>
            </a:p>
          </p:txBody>
        </p:sp>
      </p:grpSp>
      <p:grpSp>
        <p:nvGrpSpPr>
          <p:cNvPr id="18" name="c1-steps-1"/>
          <p:cNvGrpSpPr/>
          <p:nvPr/>
        </p:nvGrpSpPr>
        <p:grpSpPr>
          <a:xfrm>
            <a:off x="533400" y="2266950"/>
            <a:ext cx="5434294" cy="1228058"/>
            <a:chOff x="533400" y="2266950"/>
            <a:chExt cx="5434294" cy="1228058"/>
          </a:xfrm>
        </p:grpSpPr>
        <p:sp>
          <p:nvSpPr>
            <p:cNvPr id="9" name="Rectangle 9"/>
            <p:cNvSpPr/>
            <p:nvPr/>
          </p:nvSpPr>
          <p:spPr>
            <a:xfrm>
              <a:off x="666750" y="2409825"/>
              <a:ext cx="19050" cy="6505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22669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3407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175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913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2301240"/>
              <a:ext cx="20224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查表（自由度 5）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2595086"/>
              <a:ext cx="35195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χ²₀.₉₇₅(5) = 0.831，χ²₀.₀₂₅(5) = 12.833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95179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算平方和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3245644"/>
              <a:ext cx="5021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离差 −1.14, 0.22, −1.54, 1.01, −0.36，Σ(xᵢ − 3)² = 4.8693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formula242"/>
              <p:cNvSpPr txBox="1">
                <a:spLocks noGrp="1"/>
              </p:cNvSpPr>
              <p:nvPr/>
            </p:nvSpPr>
            <p:spPr>
              <a:xfrm>
                <a:off x="533400" y="3672840"/>
                <a:ext cx="5410200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4.8693</m:t>
                              </m:r>
                            </m:num>
                            <m:den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12.833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f>
                            <m:fPr>
                              <m:type m:val="bar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4.8693</m:t>
                              </m:r>
                            </m:num>
                            <m:den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0.831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0.379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5.860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6" name="c1-callout-3"/>
          <p:cNvGrpSpPr/>
          <p:nvPr/>
        </p:nvGrpSpPr>
        <p:grpSpPr>
          <a:xfrm>
            <a:off x="533400" y="4377690"/>
            <a:ext cx="5410200" cy="1017270"/>
            <a:chOff x="533400" y="4377690"/>
            <a:chExt cx="5410200" cy="1017270"/>
          </a:xfrm>
        </p:grpSpPr>
        <p:sp>
          <p:nvSpPr>
            <p:cNvPr id="20" name="Rectangle 20"/>
            <p:cNvSpPr/>
            <p:nvPr/>
          </p:nvSpPr>
          <p:spPr>
            <a:xfrm>
              <a:off x="533400" y="4377690"/>
              <a:ext cx="5410200" cy="1017270"/>
            </a:xfrm>
            <a:prstGeom prst="roundRect">
              <a:avLst>
                <a:gd name="adj" fmla="val 1123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4787265"/>
              <a:ext cx="200026" cy="200026"/>
              <a:chOff x="738188" y="4787265"/>
              <a:chExt cx="200026" cy="20002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47872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8200" y="48539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27088" y="488727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130" y="4644390"/>
              <a:ext cx="41014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χ² 分位点的下标是右尾面积：0.975 在左端（数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小），0.025 在右端（数大）。</a:t>
              </a:r>
            </a:p>
          </p:txBody>
        </p:sp>
      </p:grpSp>
      <p:grpSp>
        <p:nvGrpSpPr>
          <p:cNvPr id="36" name="c2-steps-1"/>
          <p:cNvGrpSpPr/>
          <p:nvPr/>
        </p:nvGrpSpPr>
        <p:grpSpPr>
          <a:xfrm>
            <a:off x="6248400" y="2266950"/>
            <a:ext cx="5172329" cy="1462374"/>
            <a:chOff x="6248400" y="2266950"/>
            <a:chExt cx="5172329" cy="1462374"/>
          </a:xfrm>
        </p:grpSpPr>
        <p:sp>
          <p:nvSpPr>
            <p:cNvPr id="27" name="Rectangle 27"/>
            <p:cNvSpPr/>
            <p:nvPr/>
          </p:nvSpPr>
          <p:spPr>
            <a:xfrm>
              <a:off x="6381750" y="2409825"/>
              <a:ext cx="19050" cy="6505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6248400" y="22669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42024" y="23407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248400" y="29175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42024" y="29913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59880" y="2301240"/>
              <a:ext cx="20224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查表（自由度 4）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61023" y="2595086"/>
              <a:ext cx="35195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χ²₀.₉₇₅(4) = 0.484，χ²₀.₀₂₅(4) = 11.143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59880" y="295179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算平方和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61023" y="3245644"/>
              <a:ext cx="47597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样本均值 2.638（课件取 2.64），(n − 1)s² = Σ(xᵢ − 2.638)²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4.2141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formula243"/>
              <p:cNvSpPr txBox="1">
                <a:spLocks noGrp="1"/>
              </p:cNvSpPr>
              <p:nvPr/>
            </p:nvSpPr>
            <p:spPr>
              <a:xfrm>
                <a:off x="6248400" y="3908108"/>
                <a:ext cx="5410200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4.2141</m:t>
                              </m:r>
                            </m:num>
                            <m:den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11.143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f>
                            <m:fPr>
                              <m:type m:val="bar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4.2141</m:t>
                              </m:r>
                            </m:num>
                            <m:den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0.484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0.378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8.707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44" name="c2-callout-3"/>
          <p:cNvGrpSpPr/>
          <p:nvPr/>
        </p:nvGrpSpPr>
        <p:grpSpPr>
          <a:xfrm>
            <a:off x="6248400" y="4612958"/>
            <a:ext cx="5410200" cy="782955"/>
            <a:chOff x="6248400" y="4612958"/>
            <a:chExt cx="5410200" cy="782955"/>
          </a:xfrm>
        </p:grpSpPr>
        <p:sp>
          <p:nvSpPr>
            <p:cNvPr id="38" name="Rectangle 38"/>
            <p:cNvSpPr/>
            <p:nvPr/>
          </p:nvSpPr>
          <p:spPr>
            <a:xfrm>
              <a:off x="6248400" y="4612958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453188" y="4904423"/>
              <a:ext cx="200026" cy="200026"/>
              <a:chOff x="6453188" y="4904423"/>
              <a:chExt cx="200026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453188" y="490442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553200" y="49710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542088" y="500443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755130" y="4761548"/>
              <a:ext cx="40062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用精确分位点 0.4844 算上限得 8.699，与表值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0.484 的差别只在第三位小数。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5" name="Rectangle 4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130" y="5991225"/>
              <a:ext cx="100713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μ 已知多用了一条信息，自由度多 1，区间 (0.379, 5.860) 比 (0.378, 8.707) 短得多。两问都已用脚本复核。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468237" cy="2997517"/>
            <a:chOff x="667512" y="1835468"/>
            <a:chExt cx="6468237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两个正态总体与单侧置信区间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45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比较两个总体时估计均值差和方差比；只关心一侧时用单侧置信限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8010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均值差：方差已知用 U，方差相等未知用 t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741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方差比：用 F 分布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196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单侧置信限：α/2 换成 α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44737" cy="909257"/>
            <a:chOff x="520446" y="342900"/>
            <a:chExt cx="69447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两个正态总体与单侧置信区间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447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例19：两总体方差已知时，均值差的置信区间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ard-1"/>
          <p:cNvGrpSpPr/>
          <p:nvPr/>
        </p:nvGrpSpPr>
        <p:grpSpPr>
          <a:xfrm>
            <a:off x="533400" y="1524000"/>
            <a:ext cx="5410200" cy="1263968"/>
            <a:chOff x="533400" y="1524000"/>
            <a:chExt cx="5410200" cy="12639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63968"/>
            </a:xfrm>
            <a:prstGeom prst="roundRect">
              <a:avLst>
                <a:gd name="adj" fmla="val 1055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117348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7135" y="1763554"/>
              <a:ext cx="10336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σ₁²、σ₂² 已知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formula250"/>
                <p:cNvSpPr txBox="1">
                  <a:spLocks noGrp="1"/>
                </p:cNvSpPr>
                <p:nvPr/>
              </p:nvSpPr>
              <p:spPr>
                <a:xfrm>
                  <a:off x="737235" y="2077402"/>
                  <a:ext cx="500253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bar>
                              <m:barPr>
                                <m:pos m:val="top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∓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ad>
                              <m:radPr>
                                <m:degHide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sSubSup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σ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num>
                                  <m:den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sSubSup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σ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num>
                                  <m:den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rad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7" name="c1-card-2"/>
          <p:cNvGrpSpPr/>
          <p:nvPr/>
        </p:nvGrpSpPr>
        <p:grpSpPr>
          <a:xfrm>
            <a:off x="533400" y="2973705"/>
            <a:ext cx="5410200" cy="1545908"/>
            <a:chOff x="533400" y="2973705"/>
            <a:chExt cx="5410200" cy="1545908"/>
          </a:xfrm>
        </p:grpSpPr>
        <p:sp>
          <p:nvSpPr>
            <p:cNvPr id="12" name="Rectangle 12"/>
            <p:cNvSpPr/>
            <p:nvPr/>
          </p:nvSpPr>
          <p:spPr>
            <a:xfrm>
              <a:off x="533400" y="2973705"/>
              <a:ext cx="541020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42925" y="3107055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75335" y="317754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65543" y="321325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推导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8096" y="3550444"/>
              <a:ext cx="461314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两个样本均值独立且都服从正态分布，它们的差服从 N(μ₁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μ₂, σ₁²/n₁ + σ₂²/n₂)，标准化后得到 N(0, 1) 的枢轴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量，推导与单总体相同。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formula251"/>
              <p:cNvSpPr txBox="1">
                <a:spLocks noGrp="1"/>
              </p:cNvSpPr>
              <p:nvPr/>
            </p:nvSpPr>
            <p:spPr>
              <a:xfrm>
                <a:off x="533400" y="4705350"/>
                <a:ext cx="5410200" cy="4371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bar>
                            <m:barPr>
                              <m:pos m:val="top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ar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ba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bar>
                            <m:barPr>
                              <m:pos m:val="top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ar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</m:ba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μ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μ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sSubSup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Sup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∼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4" name="c2-card-1"/>
          <p:cNvGrpSpPr/>
          <p:nvPr/>
        </p:nvGrpSpPr>
        <p:grpSpPr>
          <a:xfrm>
            <a:off x="6248400" y="1524000"/>
            <a:ext cx="5410200" cy="1545908"/>
            <a:chOff x="6248400" y="1524000"/>
            <a:chExt cx="5410200" cy="1545908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57925" y="165735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90335" y="1727835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80288" y="1763554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例19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83096" y="2100739"/>
              <a:ext cx="472135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~ N(μ₁, 4)，Y ~ N(μ₂, 6)，独立抽取容量 16 和 24 的样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本，样本均值分别为 16.9 和 15.3。求 μ₁ − μ₂ 的 0.95 置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信区间。</a:t>
              </a:r>
            </a:p>
          </p:txBody>
        </p:sp>
      </p:grpSp>
      <p:grpSp>
        <p:nvGrpSpPr>
          <p:cNvPr id="38" name="c2-steps-2"/>
          <p:cNvGrpSpPr/>
          <p:nvPr/>
        </p:nvGrpSpPr>
        <p:grpSpPr>
          <a:xfrm>
            <a:off x="6248400" y="3265170"/>
            <a:ext cx="2848356" cy="1790128"/>
            <a:chOff x="6248400" y="3265170"/>
            <a:chExt cx="2848356" cy="1790128"/>
          </a:xfrm>
        </p:grpSpPr>
        <p:sp>
          <p:nvSpPr>
            <p:cNvPr id="25" name="Rectangle 25"/>
            <p:cNvSpPr/>
            <p:nvPr/>
          </p:nvSpPr>
          <p:spPr>
            <a:xfrm>
              <a:off x="6381750" y="3408045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6248400" y="326517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42024" y="33389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248400" y="388620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42024" y="39600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248400" y="450723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42024" y="4581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60261" y="329803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均值差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61404" y="3578542"/>
              <a:ext cx="13610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16.9 − 15.3 = 1.6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60261" y="391906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61404" y="4199572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√(4/16 + 6/24) = √0.5 = 0.7071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0261" y="454009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61404" y="4820602"/>
              <a:ext cx="18053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1.96 × 0.7071 = 1.3859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formula252"/>
              <p:cNvSpPr txBox="1">
                <a:spLocks noGrp="1"/>
              </p:cNvSpPr>
              <p:nvPr/>
            </p:nvSpPr>
            <p:spPr>
              <a:xfrm>
                <a:off x="6248400" y="5231130"/>
                <a:ext cx="54102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1.6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1.3859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1.6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1.3859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0.214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2.986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46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0" name="Rectangle 4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511" y="6004084"/>
              <a:ext cx="104327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区间 (0.214, 2.986) 整个落在 0 的右边，可以在 0.95 的置信水平下认为 μ₁ &gt; μ₂；区间若含 0，就判断不了谁的均值大。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71362" cy="909257"/>
            <a:chOff x="520446" y="342900"/>
            <a:chExt cx="90713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两个正态总体与单侧置信区间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713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两总体方差相等但未知：合并样本方差，用 t(n₁ + n₂ − 2)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1601152"/>
            <a:chOff x="533400" y="1524000"/>
            <a:chExt cx="5626418" cy="16011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601152"/>
            </a:xfrm>
            <a:prstGeom prst="roundRect">
              <a:avLst>
                <a:gd name="adj" fmla="val 832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1373505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9413" y="1737836"/>
              <a:ext cx="12434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σ₁² = σ₂² = σ² 未知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formula277"/>
                <p:cNvSpPr txBox="1">
                  <a:spLocks noGrp="1"/>
                </p:cNvSpPr>
                <p:nvPr/>
              </p:nvSpPr>
              <p:spPr>
                <a:xfrm>
                  <a:off x="714375" y="2024062"/>
                  <a:ext cx="5264468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bar>
                              <m:barPr>
                                <m:pos m:val="top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∓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d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</m:sub>
                            </m:sSub>
                            <m:rad>
                              <m:radPr>
                                <m:degHide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zh-CN" sz="12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zh-CN" sz="12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rad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278"/>
                <p:cNvSpPr txBox="1">
                  <a:spLocks noGrp="1"/>
                </p:cNvSpPr>
                <p:nvPr/>
              </p:nvSpPr>
              <p:spPr>
                <a:xfrm>
                  <a:off x="714375" y="2516505"/>
                  <a:ext cx="5264468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zh-CN" sz="12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  <m:sSubSup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zh-CN" sz="12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  <m:sSubSup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ra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9" name="c1-callout-2"/>
          <p:cNvGrpSpPr/>
          <p:nvPr/>
        </p:nvGrpSpPr>
        <p:grpSpPr>
          <a:xfrm>
            <a:off x="533400" y="3289935"/>
            <a:ext cx="5626418" cy="702945"/>
            <a:chOff x="533400" y="3289935"/>
            <a:chExt cx="5626418" cy="702945"/>
          </a:xfrm>
        </p:grpSpPr>
        <p:sp>
          <p:nvSpPr>
            <p:cNvPr id="13" name="Rectangle 13"/>
            <p:cNvSpPr/>
            <p:nvPr/>
          </p:nvSpPr>
          <p:spPr>
            <a:xfrm>
              <a:off x="533400" y="3289935"/>
              <a:ext cx="5626418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3541395"/>
              <a:ext cx="200026" cy="200025"/>
              <a:chOff x="738188" y="3541395"/>
              <a:chExt cx="200026" cy="2000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35413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77926" y="35858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12642" y="36969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1273" y="3435191"/>
              <a:ext cx="45890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Sw² 是两个样本方差按自由度加权的平均，把两组数据的离散信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息合起来估计公共的 σ²。</a:t>
              </a:r>
            </a:p>
          </p:txBody>
        </p:sp>
      </p:grpSp>
      <p:grpSp>
        <p:nvGrpSpPr>
          <p:cNvPr id="25" name="c1-card-3"/>
          <p:cNvGrpSpPr/>
          <p:nvPr/>
        </p:nvGrpSpPr>
        <p:grpSpPr>
          <a:xfrm>
            <a:off x="533400" y="4157662"/>
            <a:ext cx="5626418" cy="1432560"/>
            <a:chOff x="533400" y="4157662"/>
            <a:chExt cx="5626418" cy="1432560"/>
          </a:xfrm>
        </p:grpSpPr>
        <p:sp>
          <p:nvSpPr>
            <p:cNvPr id="20" name="Rectangle 20"/>
            <p:cNvSpPr/>
            <p:nvPr/>
          </p:nvSpPr>
          <p:spPr>
            <a:xfrm>
              <a:off x="533400" y="4157662"/>
              <a:ext cx="5626418" cy="1432560"/>
            </a:xfrm>
            <a:prstGeom prst="roundRect">
              <a:avLst>
                <a:gd name="adj" fmla="val 9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4291012"/>
              <a:ext cx="47625" cy="11658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52475" y="4338638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9894" y="437149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自由度从哪来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5998" y="4678204"/>
              <a:ext cx="497916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(n₁ − 1)S₁²/σ² 与 (n₂ − 1)S₂²/σ² 独立，分别服从 χ²(n₁ − 1)、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χ²(n₂ − 1)，相加得 χ²(n₁ + n₂ − 2)。两组各用掉一个自由度估计自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己的均值。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formula279"/>
              <p:cNvSpPr txBox="1">
                <a:spLocks noGrp="1"/>
              </p:cNvSpPr>
              <p:nvPr/>
            </p:nvSpPr>
            <p:spPr>
              <a:xfrm>
                <a:off x="6464618" y="1524000"/>
                <a:ext cx="5193982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bar>
                                <m:barPr>
                                  <m:pos m:val="top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barPr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ba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bar>
                                <m:barPr>
                                  <m:pos m:val="top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barPr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</m:bar>
                            </m:e>
                          </m:d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μ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μ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∼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formula280"/>
              <p:cNvSpPr txBox="1">
                <a:spLocks noGrp="1"/>
              </p:cNvSpPr>
              <p:nvPr/>
            </p:nvSpPr>
            <p:spPr>
              <a:xfrm>
                <a:off x="6464618" y="2100262"/>
                <a:ext cx="5193982" cy="3857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sepChr m:val=""/>
                                  <m:endChr m:val="|"/>
                                  <m:grow m:val="on"/>
                                  <m:ctrl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1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bar>
                                        <m:barPr>
                                          <m:pos m:val="top"/>
                                          <m:ctrlPr>
                                            <a:rPr lang="zh-CN" sz="11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barPr>
                                        <m:e>
                                          <m:r>
                                            <a:rPr lang="zh-CN" sz="11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</m:bar>
                                      <m:r>
                                        <m:rPr>
                                          <m:sty m:val="p"/>
                                        </m:rPr>
                                        <a:rPr lang="zh-CN" sz="11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bar>
                                        <m:barPr>
                                          <m:pos m:val="top"/>
                                          <m:ctrlPr>
                                            <a:rPr lang="zh-CN" sz="11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barPr>
                                        <m:e>
                                          <m:r>
                                            <a:rPr lang="zh-CN" sz="11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Y</m:t>
                                          </m:r>
                                        </m:e>
                                      </m:ba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1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zh-CN" sz="11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μ</m:t>
                                          </m:r>
                                        </m:e>
                                        <m:sub>
                                          <m:r>
                                            <a:rPr lang="zh-CN" sz="11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zh-CN" sz="11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sSub>
                                        <m:e>
                                          <m:r>
                                            <a:rPr lang="zh-CN" sz="11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μ</m:t>
                                          </m:r>
                                        </m:e>
                                        <m:sub>
                                          <m:r>
                                            <a:rPr lang="zh-CN" sz="11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num>
                            <m:den>
                              <m:sSub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w</m:t>
                                  </m:r>
                                </m:sub>
                              </m:sSub>
                              <m:rad>
                                <m:radPr>
                                  <m:degHide m:val="on"/>
                                  <m:ctrl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sSub>
                                    <m:e>
                                      <m:r>
                                        <a:rPr lang="zh-CN" sz="11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</m:e>
                                    <m:sub>
                                      <m:r>
                                        <a:rPr lang="zh-CN" sz="11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sSub>
                                    <m:e>
                                      <m:r>
                                        <a:rPr lang="zh-CN" sz="11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</m:e>
                                    <m:sub>
                                      <m:r>
                                        <a:rPr lang="zh-CN" sz="11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sSub>
                            <m:e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α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33" name="c2-card-3"/>
          <p:cNvGrpSpPr/>
          <p:nvPr/>
        </p:nvGrpSpPr>
        <p:grpSpPr>
          <a:xfrm>
            <a:off x="6464618" y="2650808"/>
            <a:ext cx="5193982" cy="1386840"/>
            <a:chOff x="6464618" y="2650808"/>
            <a:chExt cx="5193982" cy="1386840"/>
          </a:xfrm>
        </p:grpSpPr>
        <p:sp>
          <p:nvSpPr>
            <p:cNvPr id="28" name="Rectangle 28"/>
            <p:cNvSpPr/>
            <p:nvPr/>
          </p:nvSpPr>
          <p:spPr>
            <a:xfrm>
              <a:off x="6464618" y="2650808"/>
              <a:ext cx="5193982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74142" y="2784158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683692" y="283178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69214" y="286464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使用条件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77216" y="3172301"/>
              <a:ext cx="461340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必须先有“两方差相等”这个前提（题目给出或事先检验过）。方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差不等时 Sw 估计的不是同一个 σ²，t 统计量不再服从 t 分布；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这种情形不在本课范围内。</a:t>
              </a:r>
            </a:p>
          </p:txBody>
        </p:sp>
      </p:grpSp>
      <p:grpSp>
        <p:nvGrpSpPr>
          <p:cNvPr id="39" name="c2-card-4"/>
          <p:cNvGrpSpPr/>
          <p:nvPr/>
        </p:nvGrpSpPr>
        <p:grpSpPr>
          <a:xfrm>
            <a:off x="6464618" y="4202430"/>
            <a:ext cx="5193982" cy="1386840"/>
            <a:chOff x="6464618" y="4202430"/>
            <a:chExt cx="5193982" cy="1386840"/>
          </a:xfrm>
        </p:grpSpPr>
        <p:sp>
          <p:nvSpPr>
            <p:cNvPr id="34" name="Rectangle 34"/>
            <p:cNvSpPr/>
            <p:nvPr/>
          </p:nvSpPr>
          <p:spPr>
            <a:xfrm>
              <a:off x="6464618" y="4202430"/>
              <a:ext cx="5193982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74142" y="4335780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683692" y="4383405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58013" y="441626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两组容量相等时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77216" y="4723924"/>
              <a:ext cx="461340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 = n₂ = n 时 Sw² = (S₁² + S₂²)/2，区间简化为两样本均值之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 ∓ tα/2(2n − 2)·√((S₁² + S₂²)/n)。例20 就是 n = 10 的情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形。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0" name="Rectangle 4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1273" y="6039326"/>
              <a:ext cx="60005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方差已知用 U，方差相等但未知用 t；两种区间的中心都是两个样本均值之差。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76628" cy="909257"/>
            <a:chOff x="520446" y="342900"/>
            <a:chExt cx="84766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两个正态总体与单侧置信区间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766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例20：磷肥是否增产，均值差的区间在 9 到 51 kg 之间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977765" cy="3179445"/>
            <a:chOff x="533400" y="1524000"/>
            <a:chExt cx="4977765" cy="31794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3179445"/>
            </a:xfrm>
            <a:prstGeom prst="roundRect">
              <a:avLst>
                <a:gd name="adj" fmla="val 41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9127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003" y="1769269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301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 20 块条件大致相同的地，10 块施磷肥、10 块不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施，单位面积产量（kg）：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1770"/>
              <a:ext cx="3672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施磷肥：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620 570 650 600 630 580 570 600 600 580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4156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352800"/>
              <a:ext cx="3672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不施：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560 590 560 570 580 570 600 550 570 550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3430" y="3973830"/>
              <a:ext cx="4196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设产量分别服从 N(μ₁, σ²)、N(μ₂, σ²)，求 μ₁ 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μ₂ 的 0.95 置信区间。</a:t>
              </a:r>
            </a:p>
          </p:txBody>
        </p:sp>
      </p:grpSp>
      <p:grpSp>
        <p:nvGrpSpPr>
          <p:cNvPr id="23" name="c1-callout-2"/>
          <p:cNvGrpSpPr/>
          <p:nvPr/>
        </p:nvGrpSpPr>
        <p:grpSpPr>
          <a:xfrm>
            <a:off x="533400" y="4893945"/>
            <a:ext cx="4977765" cy="782955"/>
            <a:chOff x="533400" y="4893945"/>
            <a:chExt cx="4977765" cy="782955"/>
          </a:xfrm>
        </p:grpSpPr>
        <p:sp>
          <p:nvSpPr>
            <p:cNvPr id="18" name="Rectangle 18"/>
            <p:cNvSpPr/>
            <p:nvPr/>
          </p:nvSpPr>
          <p:spPr>
            <a:xfrm>
              <a:off x="533400" y="4893945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5185410"/>
              <a:ext cx="200026" cy="200026"/>
              <a:chOff x="738188" y="5185410"/>
              <a:chExt cx="200026" cy="20002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51854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04863" y="526319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130" y="5042535"/>
              <a:ext cx="40062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区间整个落在 0 的右边，说明在 0.95 的置信水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平下施磷肥的平均产量更高。</a:t>
              </a:r>
            </a:p>
          </p:txBody>
        </p:sp>
      </p:grpSp>
      <p:grpSp>
        <p:nvGrpSpPr>
          <p:cNvPr id="41" name="c2-steps-1"/>
          <p:cNvGrpSpPr/>
          <p:nvPr/>
        </p:nvGrpSpPr>
        <p:grpSpPr>
          <a:xfrm>
            <a:off x="5815965" y="1533525"/>
            <a:ext cx="5315382" cy="2529173"/>
            <a:chOff x="5815965" y="1533525"/>
            <a:chExt cx="5315382" cy="2529173"/>
          </a:xfrm>
        </p:grpSpPr>
        <p:sp>
          <p:nvSpPr>
            <p:cNvPr id="24" name="Rectangle 24"/>
            <p:cNvSpPr/>
            <p:nvPr/>
          </p:nvSpPr>
          <p:spPr>
            <a:xfrm>
              <a:off x="5949315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815965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909589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815965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09589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5815965" y="34861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909589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27445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两组均值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28588" y="1861661"/>
              <a:ext cx="23047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施磷肥 600，不施 570，差 30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27445" y="221837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两组样本方差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28588" y="2512219"/>
              <a:ext cx="22874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s₁² = 6400/9，s₂² = 2400/9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27445" y="286893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合并标准差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28588" y="3162776"/>
              <a:ext cx="49027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Sw² = (6400 + 2400)/18 = 488.9，Sw = 22.11（课件取 22）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27445" y="352044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查表与半径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28588" y="3813334"/>
              <a:ext cx="47860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t₀.₀₂₅(18) = 2.1009，半径 22.11 × √0.2 × 2.1009 = 20.77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formula282"/>
              <p:cNvSpPr txBox="1">
                <a:spLocks noGrp="1"/>
              </p:cNvSpPr>
              <p:nvPr/>
            </p:nvSpPr>
            <p:spPr>
              <a:xfrm>
                <a:off x="5815965" y="4241482"/>
                <a:ext cx="584263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30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20.77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30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20.77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9.23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50.77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9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51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49" name="c2-callout-3"/>
          <p:cNvGrpSpPr/>
          <p:nvPr/>
        </p:nvGrpSpPr>
        <p:grpSpPr>
          <a:xfrm>
            <a:off x="5815965" y="4812982"/>
            <a:ext cx="5842635" cy="863918"/>
            <a:chOff x="5815965" y="4812982"/>
            <a:chExt cx="5842635" cy="863918"/>
          </a:xfrm>
        </p:grpSpPr>
        <p:sp>
          <p:nvSpPr>
            <p:cNvPr id="43" name="Rectangle 43"/>
            <p:cNvSpPr/>
            <p:nvPr/>
          </p:nvSpPr>
          <p:spPr>
            <a:xfrm>
              <a:off x="5815965" y="4812982"/>
              <a:ext cx="5842635" cy="863918"/>
            </a:xfrm>
            <a:prstGeom prst="roundRect">
              <a:avLst>
                <a:gd name="adj" fmla="val 1323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020753" y="5144453"/>
              <a:ext cx="200026" cy="200026"/>
              <a:chOff x="6020753" y="5144453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020753" y="514445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120765" y="52111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109653" y="524446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322695" y="5001578"/>
              <a:ext cx="47682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课件取 Sw = 22 算得 (9.33, 50.67)，与精确的 (9.23,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50.77) 取整后都是 (9, 51)。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34075" cy="909257"/>
            <a:chOff x="520446" y="342900"/>
            <a:chExt cx="71340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两个正态总体与单侧置信区间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340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方差比 σ₁²/σ₂²，两均值已知：用 F(n₁, n₂)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286"/>
              <p:cNvSpPr txBox="1">
                <a:spLocks noGrp="1"/>
              </p:cNvSpPr>
              <p:nvPr/>
            </p:nvSpPr>
            <p:spPr>
              <a:xfrm>
                <a:off x="533400" y="1524000"/>
                <a:ext cx="5951220" cy="59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  <m:e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sSub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μ</m:t>
                                          </m:r>
                                        </m:e>
                                        <m:sub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  <m:e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Y</m:t>
                                          </m:r>
                                        </m:e>
                                        <m:sub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sSub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μ</m:t>
                                          </m:r>
                                        </m:e>
                                        <m:sub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sSub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sSub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∼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287"/>
              <p:cNvSpPr txBox="1">
                <a:spLocks noGrp="1"/>
              </p:cNvSpPr>
              <p:nvPr/>
            </p:nvSpPr>
            <p:spPr>
              <a:xfrm>
                <a:off x="533400" y="2311718"/>
                <a:ext cx="595122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α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3" name="c1-card-3"/>
          <p:cNvGrpSpPr/>
          <p:nvPr/>
        </p:nvGrpSpPr>
        <p:grpSpPr>
          <a:xfrm>
            <a:off x="533400" y="2864168"/>
            <a:ext cx="5951220" cy="1356360"/>
            <a:chOff x="533400" y="2864168"/>
            <a:chExt cx="5951220" cy="1356360"/>
          </a:xfrm>
        </p:grpSpPr>
        <p:sp>
          <p:nvSpPr>
            <p:cNvPr id="9" name="Rectangle 9"/>
            <p:cNvSpPr/>
            <p:nvPr/>
          </p:nvSpPr>
          <p:spPr>
            <a:xfrm>
              <a:off x="533400" y="2864168"/>
              <a:ext cx="5951220" cy="1356360"/>
            </a:xfrm>
            <a:prstGeom prst="roundRect">
              <a:avLst>
                <a:gd name="adj" fmla="val 983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42950" y="3073718"/>
              <a:ext cx="297084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3764" y="3109436"/>
              <a:ext cx="29482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置信区间（记 R 为两平方和之比乘 n₂/n₁）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288"/>
                <p:cNvSpPr txBox="1">
                  <a:spLocks noGrp="1"/>
                </p:cNvSpPr>
                <p:nvPr/>
              </p:nvSpPr>
              <p:spPr>
                <a:xfrm>
                  <a:off x="742950" y="3426142"/>
                  <a:ext cx="553212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sup>
                              <m:e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a:rPr lang="zh-CN" sz="13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sSub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μ</m:t>
                                            </m:r>
                                          </m:e>
                                          <m:sub>
                                            <m:r>
                                              <a:rPr lang="zh-CN" sz="13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sup>
                              <m:e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Y</m:t>
                                            </m:r>
                                          </m:e>
                                          <m:sub>
                                            <m:r>
                                              <a:rPr lang="zh-CN" sz="13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sSub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μ</m:t>
                                            </m:r>
                                          </m:e>
                                          <m:sub>
                                            <m:r>
                                              <a:rPr lang="zh-CN" sz="13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num>
                              <m:den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α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/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⋅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9" name="c1-card-4"/>
          <p:cNvGrpSpPr/>
          <p:nvPr/>
        </p:nvGrpSpPr>
        <p:grpSpPr>
          <a:xfrm>
            <a:off x="533400" y="4411028"/>
            <a:ext cx="5951220" cy="1573530"/>
            <a:chOff x="533400" y="4411028"/>
            <a:chExt cx="5951220" cy="1573530"/>
          </a:xfrm>
        </p:grpSpPr>
        <p:sp>
          <p:nvSpPr>
            <p:cNvPr id="14" name="Rectangle 14"/>
            <p:cNvSpPr/>
            <p:nvPr/>
          </p:nvSpPr>
          <p:spPr>
            <a:xfrm>
              <a:off x="533400" y="4411028"/>
              <a:ext cx="5951220" cy="1573530"/>
            </a:xfrm>
            <a:prstGeom prst="roundRect">
              <a:avLst>
                <a:gd name="adj" fmla="val 847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4544378"/>
              <a:ext cx="47625" cy="13068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4620578"/>
              <a:ext cx="152495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3488" y="4656296"/>
              <a:ext cx="14210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为什么是 F(n₁, n₂)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3430" y="4997768"/>
              <a:ext cx="5234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Σ(Xᵢ − μ₁)²/σ₁² ~ χ²(n₁)，Σ(Yⱼ − μ₂)²/σ₂² ~ χ²(n₂)，两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者独立。各除以自由度再相除，就是上面的 F。</a:t>
              </a:r>
            </a:p>
          </p:txBody>
        </p:sp>
      </p:grpSp>
      <p:grpSp>
        <p:nvGrpSpPr>
          <p:cNvPr id="29" name="c2-steps-1"/>
          <p:cNvGrpSpPr/>
          <p:nvPr/>
        </p:nvGrpSpPr>
        <p:grpSpPr>
          <a:xfrm>
            <a:off x="6789420" y="1533525"/>
            <a:ext cx="4635881" cy="1696689"/>
            <a:chOff x="6789420" y="1533525"/>
            <a:chExt cx="4635881" cy="1696689"/>
          </a:xfrm>
        </p:grpSpPr>
        <p:sp>
          <p:nvSpPr>
            <p:cNvPr id="20" name="Rectangle 20"/>
            <p:cNvSpPr/>
            <p:nvPr/>
          </p:nvSpPr>
          <p:spPr>
            <a:xfrm>
              <a:off x="6922770" y="1676400"/>
              <a:ext cx="19050" cy="885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678942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88304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789420" y="24193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8304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00900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解不等式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02043" y="1861661"/>
              <a:ext cx="42232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σ₁²/σ₂² 在 F 的分母里，得 R/Fα/2(n₁, n₂) &lt; σ₁²/σ₂² &lt;</a:t>
              </a:r>
              <a:br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R/F₁₋α/2(n₁, n₂)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00900" y="245364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换算左端分位点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02043" y="2746534"/>
              <a:ext cx="41501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F₁₋α/2(n₁, n₂) = 1/Fα/2(n₂, n₁)，所以上限可写成 R·</a:t>
              </a:r>
              <a:br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Fα/2(n₂, n₁)</a:t>
              </a:r>
            </a:p>
          </p:txBody>
        </p:sp>
      </p:grpSp>
      <p:grpSp>
        <p:nvGrpSpPr>
          <p:cNvPr id="36" name="c2-callout-2"/>
          <p:cNvGrpSpPr/>
          <p:nvPr/>
        </p:nvGrpSpPr>
        <p:grpSpPr>
          <a:xfrm>
            <a:off x="6789420" y="3408998"/>
            <a:ext cx="4869180" cy="782955"/>
            <a:chOff x="6789420" y="3408998"/>
            <a:chExt cx="4869180" cy="782955"/>
          </a:xfrm>
        </p:grpSpPr>
        <p:sp>
          <p:nvSpPr>
            <p:cNvPr id="30" name="Rectangle 30"/>
            <p:cNvSpPr/>
            <p:nvPr/>
          </p:nvSpPr>
          <p:spPr>
            <a:xfrm>
              <a:off x="6789420" y="3408998"/>
              <a:ext cx="486918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982149" y="3696771"/>
              <a:ext cx="224134" cy="192560"/>
              <a:chOff x="6982149" y="3696771"/>
              <a:chExt cx="224134" cy="19256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094220" y="376713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982149" y="369677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094220" y="384492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7296150" y="3557588"/>
              <a:ext cx="39395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上限里的 F 分位点自由度要对调成 (n₂, n₁)，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这是最常见的抄错位置。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789420" y="4382452"/>
            <a:ext cx="4869180" cy="1602105"/>
            <a:chOff x="6789420" y="4382452"/>
            <a:chExt cx="4869180" cy="1602105"/>
          </a:xfrm>
        </p:grpSpPr>
        <p:sp>
          <p:nvSpPr>
            <p:cNvPr id="37" name="Rectangle 37"/>
            <p:cNvSpPr/>
            <p:nvPr/>
          </p:nvSpPr>
          <p:spPr>
            <a:xfrm>
              <a:off x="6789420" y="4382452"/>
              <a:ext cx="486918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798945" y="4515802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037070" y="459200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119379" y="462772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查表技巧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29450" y="4969192"/>
              <a:ext cx="40633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表一般只列右尾小概率的分位点。例如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F₀.₉₇₅(6, 5) 查不到，就用 1/F₀.₀₂₅(5, 6)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1/5.99 = 0.167。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14894" cy="909257"/>
            <a:chOff x="520446" y="342900"/>
            <a:chExt cx="59148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两个正态总体与单侧置信区间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148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例21：两均值已知时方差比的置信区间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760595" cy="2322195"/>
            <a:chOff x="533400" y="1524000"/>
            <a:chExt cx="4760595" cy="23221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322195"/>
            </a:xfrm>
            <a:prstGeom prst="roundRect">
              <a:avLst>
                <a:gd name="adj" fmla="val 57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554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003" y="1769269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996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~ N(24, σ₁²)，Y ~ N(20, σ₂²)，独立抽得样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本值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1770"/>
              <a:ext cx="25254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X：23, 22, 26, 24, 22, 25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12991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067050"/>
              <a:ext cx="21316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Y：22, 18, 19, 23, 17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3430" y="3402330"/>
              <a:ext cx="4104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σ₁²/σ₂² 的置信水平为 0.95 的置信区间。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036695"/>
            <a:ext cx="4760595" cy="1026795"/>
            <a:chOff x="533400" y="4036695"/>
            <a:chExt cx="4760595" cy="1026795"/>
          </a:xfrm>
        </p:grpSpPr>
        <p:sp>
          <p:nvSpPr>
            <p:cNvPr id="18" name="Rectangle 18"/>
            <p:cNvSpPr/>
            <p:nvPr/>
          </p:nvSpPr>
          <p:spPr>
            <a:xfrm>
              <a:off x="533400" y="4036695"/>
              <a:ext cx="4760595" cy="1026795"/>
            </a:xfrm>
            <a:prstGeom prst="roundRect">
              <a:avLst>
                <a:gd name="adj" fmla="val 1113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4450080"/>
              <a:ext cx="200026" cy="200025"/>
              <a:chOff x="738188" y="4450080"/>
              <a:chExt cx="200026" cy="2000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44500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77926" y="44945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12642" y="46056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130" y="4307205"/>
              <a:ext cx="39014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均值已知就直接用已知的 24 和 20 求平方和，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不要先算样本均值。</a:t>
              </a:r>
            </a:p>
          </p:txBody>
        </p:sp>
      </p:grpSp>
      <p:grpSp>
        <p:nvGrpSpPr>
          <p:cNvPr id="38" name="c2-steps-1"/>
          <p:cNvGrpSpPr/>
          <p:nvPr/>
        </p:nvGrpSpPr>
        <p:grpSpPr>
          <a:xfrm>
            <a:off x="5598795" y="1533525"/>
            <a:ext cx="5798185" cy="2112930"/>
            <a:chOff x="5598795" y="1533525"/>
            <a:chExt cx="5798185" cy="2112930"/>
          </a:xfrm>
        </p:grpSpPr>
        <p:sp>
          <p:nvSpPr>
            <p:cNvPr id="25" name="Rectangle 25"/>
            <p:cNvSpPr/>
            <p:nvPr/>
          </p:nvSpPr>
          <p:spPr>
            <a:xfrm>
              <a:off x="5732145" y="1676400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598795" y="24193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692419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598795" y="30699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92419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10275" y="1567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平方和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11418" y="1861661"/>
              <a:ext cx="538556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Σ(xᵢ − 24)² = 1 + 4 + 4 + 0 + 4 + 1 = 14；Σ(yⱼ − 20)² = 4 + 4 + 1 + 9 + 9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27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10275" y="2453640"/>
              <a:ext cx="609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比值 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11418" y="2746534"/>
              <a:ext cx="37622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 = 6，n₂ = 5，R = 5 × 14/(6 × 27) = 0.4321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10275" y="310419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11418" y="3397091"/>
              <a:ext cx="3717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F₀.₀₂₅(6, 5) = 6.98，F₀.₀₂₅(5, 6) = 5.99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formula290"/>
              <p:cNvSpPr txBox="1">
                <a:spLocks noGrp="1"/>
              </p:cNvSpPr>
              <p:nvPr/>
            </p:nvSpPr>
            <p:spPr>
              <a:xfrm>
                <a:off x="5598795" y="3825240"/>
                <a:ext cx="6059805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×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14</m:t>
                              </m:r>
                            </m:num>
                            <m:den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6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×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27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×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6.98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f>
                            <m:fPr>
                              <m:type m:val="bar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×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14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×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5.99</m:t>
                              </m:r>
                            </m:num>
                            <m:den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6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×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27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0.06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2.59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45" name="c2-callout-3"/>
          <p:cNvGrpSpPr/>
          <p:nvPr/>
        </p:nvGrpSpPr>
        <p:grpSpPr>
          <a:xfrm>
            <a:off x="5598795" y="4530090"/>
            <a:ext cx="6059805" cy="533400"/>
            <a:chOff x="5598795" y="4530090"/>
            <a:chExt cx="6059805" cy="533400"/>
          </a:xfrm>
        </p:grpSpPr>
        <p:sp>
          <p:nvSpPr>
            <p:cNvPr id="40" name="Rectangle 40"/>
            <p:cNvSpPr/>
            <p:nvPr/>
          </p:nvSpPr>
          <p:spPr>
            <a:xfrm>
              <a:off x="5598795" y="4530090"/>
              <a:ext cx="6059805" cy="533400"/>
            </a:xfrm>
            <a:prstGeom prst="roundRect">
              <a:avLst>
                <a:gd name="adj" fmla="val 2142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5803583" y="4696778"/>
              <a:ext cx="200026" cy="200026"/>
              <a:chOff x="5803583" y="4696778"/>
              <a:chExt cx="200026" cy="20002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5803583" y="469677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5870258" y="477456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105525" y="4692015"/>
              <a:ext cx="36196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区间包含 1，不能认为两个方差有差别。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6" name="Rectangle 4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130" y="5991225"/>
              <a:ext cx="71332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区间 (0.06, 2.59) 很宽，两组只有 6 个和 5 个数据，方差比本来就很难估准。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26635" cy="909257"/>
            <a:chOff x="520446" y="342900"/>
            <a:chExt cx="76266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两个正态总体与单侧置信区间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266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例22：两均值未知时方差比用 F(n₁ − 1, n₂ − 1)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294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sSub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sSub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∼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2" name="c1-card-2"/>
          <p:cNvGrpSpPr/>
          <p:nvPr/>
        </p:nvGrpSpPr>
        <p:grpSpPr>
          <a:xfrm>
            <a:off x="533400" y="2203132"/>
            <a:ext cx="5410200" cy="1253490"/>
            <a:chOff x="533400" y="2203132"/>
            <a:chExt cx="5410200" cy="1253490"/>
          </a:xfrm>
        </p:grpSpPr>
        <p:sp>
          <p:nvSpPr>
            <p:cNvPr id="8" name="Rectangle 8"/>
            <p:cNvSpPr/>
            <p:nvPr/>
          </p:nvSpPr>
          <p:spPr>
            <a:xfrm>
              <a:off x="533400" y="2203132"/>
              <a:ext cx="5410200" cy="1253490"/>
            </a:xfrm>
            <a:prstGeom prst="roundRect">
              <a:avLst>
                <a:gd name="adj" fmla="val 1063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42950" y="241268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5259" y="24484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置信区间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295"/>
                <p:cNvSpPr txBox="1">
                  <a:spLocks noGrp="1"/>
                </p:cNvSpPr>
                <p:nvPr/>
              </p:nvSpPr>
              <p:spPr>
                <a:xfrm>
                  <a:off x="742950" y="2765108"/>
                  <a:ext cx="4991100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Sup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sSubSup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⋅</m:t>
                            </m:r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α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/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Sup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sSubSup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⋅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8" name="c1-card-3"/>
          <p:cNvGrpSpPr/>
          <p:nvPr/>
        </p:nvGrpSpPr>
        <p:grpSpPr>
          <a:xfrm>
            <a:off x="533400" y="3647122"/>
            <a:ext cx="5410200" cy="1965008"/>
            <a:chOff x="533400" y="3647122"/>
            <a:chExt cx="5410200" cy="1965008"/>
          </a:xfrm>
        </p:grpSpPr>
        <p:sp>
          <p:nvSpPr>
            <p:cNvPr id="13" name="Rectangle 13"/>
            <p:cNvSpPr/>
            <p:nvPr/>
          </p:nvSpPr>
          <p:spPr>
            <a:xfrm>
              <a:off x="533400" y="3647122"/>
              <a:ext cx="5410200" cy="1965008"/>
            </a:xfrm>
            <a:prstGeom prst="roundRect">
              <a:avLst>
                <a:gd name="adj" fmla="val 67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780472"/>
              <a:ext cx="47625" cy="16983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3856672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1003" y="3892391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3430" y="4233862"/>
              <a:ext cx="44538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两正态总体的参数都未知，独立抽样，n₁ = 10、n₂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8，样本方差 s₁² = 3.6、s₂² = 2.8。求 σ₁²/σ₂²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0.95 置信区间。</a:t>
              </a:r>
            </a:p>
          </p:txBody>
        </p:sp>
      </p:grpSp>
      <p:grpSp>
        <p:nvGrpSpPr>
          <p:cNvPr id="32" name="c2-steps-1"/>
          <p:cNvGrpSpPr/>
          <p:nvPr/>
        </p:nvGrpSpPr>
        <p:grpSpPr>
          <a:xfrm>
            <a:off x="6248400" y="1533525"/>
            <a:ext cx="4130319" cy="1878615"/>
            <a:chOff x="6248400" y="1533525"/>
            <a:chExt cx="4130319" cy="1878615"/>
          </a:xfrm>
        </p:grpSpPr>
        <p:sp>
          <p:nvSpPr>
            <p:cNvPr id="19" name="Rectangle 19"/>
            <p:cNvSpPr/>
            <p:nvPr/>
          </p:nvSpPr>
          <p:spPr>
            <a:xfrm>
              <a:off x="6381750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248400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42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248400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42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59880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61023" y="1861661"/>
              <a:ext cx="3717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F₀.₀₂₅(9, 7) = 4.82，F₀.₀₂₅(7, 9) = 4.20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59880" y="221837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样本方差比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61023" y="2512219"/>
              <a:ext cx="1443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3.6/2.8 = 1.2857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59880" y="2868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61023" y="3162776"/>
              <a:ext cx="37176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1.2857/4.82 = 0.267，1.2857 × 4.20 = 5.400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formula296"/>
              <p:cNvSpPr txBox="1">
                <a:spLocks noGrp="1"/>
              </p:cNvSpPr>
              <p:nvPr/>
            </p:nvSpPr>
            <p:spPr>
              <a:xfrm>
                <a:off x="6248400" y="3590925"/>
                <a:ext cx="5410200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3.6</m:t>
                              </m:r>
                            </m:num>
                            <m:den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2.8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f>
                            <m:fPr>
                              <m:type m:val="bar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4.82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f>
                            <m:fPr>
                              <m:type m:val="bar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3.6</m:t>
                              </m:r>
                            </m:num>
                            <m:den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2.8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4.20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0.27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5.40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9" name="c2-card-3"/>
          <p:cNvGrpSpPr/>
          <p:nvPr/>
        </p:nvGrpSpPr>
        <p:grpSpPr>
          <a:xfrm>
            <a:off x="6248400" y="4295775"/>
            <a:ext cx="5410200" cy="1316355"/>
            <a:chOff x="6248400" y="4295775"/>
            <a:chExt cx="5410200" cy="1316355"/>
          </a:xfrm>
        </p:grpSpPr>
        <p:sp>
          <p:nvSpPr>
            <p:cNvPr id="34" name="Rectangle 34"/>
            <p:cNvSpPr/>
            <p:nvPr/>
          </p:nvSpPr>
          <p:spPr>
            <a:xfrm>
              <a:off x="6248400" y="4295775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57925" y="4429125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96050" y="450532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86258" y="45410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88430" y="4882515"/>
              <a:ext cx="4596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原课件上限写作 5.42。1.2857 × 4.20 = 5.400，用精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确分位点 4.197 算是 5.396，两位小数都是 5.40。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0" name="Rectangle 4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130" y="5991225"/>
              <a:ext cx="101218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区间 (0.27, 5.40) 包含 1，不能认为两个总体的方差有差别，这时再用“方差相等”的 t 区间比较均值才有底气。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08908" cy="909257"/>
            <a:chOff x="520446" y="342900"/>
            <a:chExt cx="80089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两个正态总体与单侧置信区间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089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单侧置信限：只要下限或只要上限时，把 α/2 换成 α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193982" cy="2137410"/>
            <a:chOff x="533400" y="1524000"/>
            <a:chExt cx="5193982" cy="21374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137410"/>
            </a:xfrm>
            <a:prstGeom prst="roundRect">
              <a:avLst>
                <a:gd name="adj" fmla="val 62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7071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31558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对给定的 α，若统计量 θ₁ 满足 P{θ &gt; θ₁} = 1 − α，称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(θ₁, +∞) 为 θ 的置信水平 1 − α 的 </a:t>
              </a: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单侧置信区间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，θ₁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为单侧置信下限。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963704"/>
              <a:ext cx="445084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θ₂ 满足 P{θ &lt; θ₂} = 1 − α，称 (−∞, θ₂) 为单侧置信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区间，θ₂ 为单侧置信上限。</a:t>
              </a:r>
            </a:p>
          </p:txBody>
        </p:sp>
      </p:grpSp>
      <p:grpSp>
        <p:nvGrpSpPr>
          <p:cNvPr id="20" name="c1-callout-2"/>
          <p:cNvGrpSpPr/>
          <p:nvPr/>
        </p:nvGrpSpPr>
        <p:grpSpPr>
          <a:xfrm>
            <a:off x="533400" y="3847148"/>
            <a:ext cx="5193982" cy="1769745"/>
            <a:chOff x="533400" y="3847148"/>
            <a:chExt cx="5193982" cy="1769745"/>
          </a:xfrm>
        </p:grpSpPr>
        <p:sp>
          <p:nvSpPr>
            <p:cNvPr id="14" name="Rectangle 14"/>
            <p:cNvSpPr/>
            <p:nvPr/>
          </p:nvSpPr>
          <p:spPr>
            <a:xfrm>
              <a:off x="533400" y="3847148"/>
              <a:ext cx="5193982" cy="1769745"/>
            </a:xfrm>
            <a:prstGeom prst="roundRect">
              <a:avLst>
                <a:gd name="adj" fmla="val 64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4632008"/>
              <a:ext cx="200026" cy="200025"/>
              <a:chOff x="738188" y="4632008"/>
              <a:chExt cx="200026" cy="20002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46320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77926" y="46764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12642" y="47875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511" y="4501039"/>
              <a:ext cx="41622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灯泡寿命、强度只怕太小，要下限；次品率、杂质含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量只怕太大，要上限。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032182" y="1524000"/>
            <a:ext cx="5626418" cy="1844992"/>
            <a:chOff x="6032182" y="1524000"/>
            <a:chExt cx="5626418" cy="1844992"/>
          </a:xfrm>
        </p:grpSpPr>
        <p:sp>
          <p:nvSpPr>
            <p:cNvPr id="21" name="Rectangle 21"/>
            <p:cNvSpPr/>
            <p:nvPr/>
          </p:nvSpPr>
          <p:spPr>
            <a:xfrm>
              <a:off x="6032182" y="1524000"/>
              <a:ext cx="5626418" cy="1844992"/>
            </a:xfrm>
            <a:prstGeom prst="roundRect">
              <a:avLst>
                <a:gd name="adj" fmla="val 722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36018" y="1727835"/>
              <a:ext cx="1967865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82261" y="1763554"/>
              <a:ext cx="18753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σ² 未知，μ 的单侧置信下限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formula305"/>
                <p:cNvSpPr txBox="1">
                  <a:spLocks noGrp="1"/>
                </p:cNvSpPr>
                <p:nvPr/>
              </p:nvSpPr>
              <p:spPr>
                <a:xfrm>
                  <a:off x="6236018" y="2077402"/>
                  <a:ext cx="5218748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bar>
                                  <m:barPr>
                                    <m:pos m:val="top"/>
                                    <m:ctrl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barPr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ba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num>
                              <m:den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</m:ra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α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formula306"/>
                <p:cNvSpPr txBox="1">
                  <a:spLocks noGrp="1"/>
                </p:cNvSpPr>
                <p:nvPr/>
              </p:nvSpPr>
              <p:spPr>
                <a:xfrm>
                  <a:off x="6236018" y="2658428"/>
                  <a:ext cx="5218748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⇒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</m:rad>
                              </m:den>
                            </m:f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2" name="c2-card-2"/>
          <p:cNvGrpSpPr/>
          <p:nvPr/>
        </p:nvGrpSpPr>
        <p:grpSpPr>
          <a:xfrm>
            <a:off x="6032182" y="3554730"/>
            <a:ext cx="5626418" cy="2062162"/>
            <a:chOff x="6032182" y="3554730"/>
            <a:chExt cx="5626418" cy="2062162"/>
          </a:xfrm>
        </p:grpSpPr>
        <p:sp>
          <p:nvSpPr>
            <p:cNvPr id="27" name="Rectangle 27"/>
            <p:cNvSpPr/>
            <p:nvPr/>
          </p:nvSpPr>
          <p:spPr>
            <a:xfrm>
              <a:off x="6032182" y="3554730"/>
              <a:ext cx="5626418" cy="2062162"/>
            </a:xfrm>
            <a:prstGeom prst="roundRect">
              <a:avLst>
                <a:gd name="adj" fmla="val 646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36018" y="3758565"/>
              <a:ext cx="1967865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2261" y="3794284"/>
              <a:ext cx="18753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μ 已知，σ² 的单侧置信上限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formula307"/>
                <p:cNvSpPr txBox="1">
                  <a:spLocks noGrp="1"/>
                </p:cNvSpPr>
                <p:nvPr/>
              </p:nvSpPr>
              <p:spPr>
                <a:xfrm>
                  <a:off x="6236018" y="4108132"/>
                  <a:ext cx="5218748" cy="597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p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42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a:rPr lang="zh-CN" sz="142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μ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&gt;</m:t>
                            </m:r>
                            <m:sSubSup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χ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sub>
                              <m:sup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α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formula308"/>
                <p:cNvSpPr txBox="1">
                  <a:spLocks noGrp="1"/>
                </p:cNvSpPr>
                <p:nvPr/>
              </p:nvSpPr>
              <p:spPr>
                <a:xfrm>
                  <a:off x="6236018" y="4797742"/>
                  <a:ext cx="5218748" cy="597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⇒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p>
                                  <m:e>
                                    <m:sSup>
                                      <m:e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42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e>
                                                <m:r>
                                                  <a:rPr lang="zh-CN" sz="1420" dirty="0">
                                                    <a:solidFill>
                                                      <a:srgbClr val="FFFFFF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X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sz="1420" dirty="0">
                                                    <a:solidFill>
                                                      <a:srgbClr val="FFFFFF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i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42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zh-CN" sz="142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μ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num>
                              <m:den>
                                <m:sSubSup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χ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α</m:t>
                                    </m:r>
                                  </m:sub>
                                  <m:sup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9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3" name="Rectangle 33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511" y="6004084"/>
              <a:ext cx="88460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单侧只有一条尾巴，整条尾巴面积是 α，所以查上 α 分位点（χ² 下尾查上 1 − α 分位点），不再用 α/2。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31631" cy="909257"/>
            <a:chOff x="520446" y="342900"/>
            <a:chExt cx="81316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两个正态总体与单侧置信区间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316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例23：灯泡寿命均值的 0.95 单侧置信下限是 1065 h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544378" cy="1817370"/>
            <a:chOff x="533400" y="1524000"/>
            <a:chExt cx="4544378" cy="18173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1817370"/>
            </a:xfrm>
            <a:prstGeom prst="roundRect">
              <a:avLst>
                <a:gd name="adj" fmla="val 73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506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288" y="1763554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3828669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从一批灯泡中随机取 5 只做寿命试验，测得寿命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（h）：1050, 1100, 1120, 1250, 1280。设寿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命服从正态分布，求均值 μ 的置信水平为 0.95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的单侧置信下限。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527108"/>
            <a:ext cx="4544378" cy="2024062"/>
            <a:chOff x="533400" y="3527108"/>
            <a:chExt cx="4544378" cy="2024062"/>
          </a:xfrm>
        </p:grpSpPr>
        <p:sp>
          <p:nvSpPr>
            <p:cNvPr id="13" name="Rectangle 13"/>
            <p:cNvSpPr/>
            <p:nvPr/>
          </p:nvSpPr>
          <p:spPr>
            <a:xfrm>
              <a:off x="533400" y="3527108"/>
              <a:ext cx="4544378" cy="2024062"/>
            </a:xfrm>
            <a:prstGeom prst="roundRect">
              <a:avLst>
                <a:gd name="adj" fmla="val 65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660458"/>
              <a:ext cx="47625" cy="17573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75335" y="373094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5543" y="37666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8096" y="4103846"/>
              <a:ext cx="364832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原课件代入式写成 99.78/√4 × 2.1318。应为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99.75、除以 √n = √5；按原式算得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1053.6，与课件答案 1065 对不上。</a:t>
              </a:r>
            </a:p>
          </p:txBody>
        </p:sp>
      </p:grpSp>
      <p:grpSp>
        <p:nvGrpSpPr>
          <p:cNvPr id="36" name="c2-steps-1"/>
          <p:cNvGrpSpPr/>
          <p:nvPr/>
        </p:nvGrpSpPr>
        <p:grpSpPr>
          <a:xfrm>
            <a:off x="5382578" y="1533525"/>
            <a:ext cx="5578450" cy="2411159"/>
            <a:chOff x="5382578" y="1533525"/>
            <a:chExt cx="5578450" cy="2411159"/>
          </a:xfrm>
        </p:grpSpPr>
        <p:sp>
          <p:nvSpPr>
            <p:cNvPr id="19" name="Rectangle 19"/>
            <p:cNvSpPr/>
            <p:nvPr/>
          </p:nvSpPr>
          <p:spPr>
            <a:xfrm>
              <a:off x="5515928" y="1676400"/>
              <a:ext cx="19050" cy="1862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5382578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47620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82578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476201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382578" y="2775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476201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382578" y="33956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76201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94438" y="15663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样本均值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95582" y="1846898"/>
              <a:ext cx="10864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5800/5 = 1160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794438" y="218741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样本标准差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795582" y="2467927"/>
              <a:ext cx="51654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离差 −110, −60, −40, 90, 120，平方和 39800，s² = 9950，s = 99.75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794438" y="280844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95582" y="3088957"/>
              <a:ext cx="22334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 = 0.05，t₀.₀₅(4) = 2.1318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94438" y="342947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95582" y="3709988"/>
              <a:ext cx="38730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1160 − 99.75/√5 × 2.1318 = 1160 − 95.10 = 1064.9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formula311"/>
              <p:cNvSpPr txBox="1">
                <a:spLocks noGrp="1"/>
              </p:cNvSpPr>
              <p:nvPr/>
            </p:nvSpPr>
            <p:spPr>
              <a:xfrm>
                <a:off x="5382578" y="4120515"/>
                <a:ext cx="6276022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1160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99.75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</m:rad>
                            </m:den>
                          </m:f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2.1318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+∞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1065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+∞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44" name="c2-callout-3"/>
          <p:cNvGrpSpPr/>
          <p:nvPr/>
        </p:nvGrpSpPr>
        <p:grpSpPr>
          <a:xfrm>
            <a:off x="5382578" y="4794885"/>
            <a:ext cx="6276022" cy="756285"/>
            <a:chOff x="5382578" y="4794885"/>
            <a:chExt cx="6276022" cy="756285"/>
          </a:xfrm>
        </p:grpSpPr>
        <p:sp>
          <p:nvSpPr>
            <p:cNvPr id="38" name="Rectangle 38"/>
            <p:cNvSpPr/>
            <p:nvPr/>
          </p:nvSpPr>
          <p:spPr>
            <a:xfrm>
              <a:off x="5382578" y="4794885"/>
              <a:ext cx="6276022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5587365" y="5073015"/>
              <a:ext cx="200026" cy="200025"/>
              <a:chOff x="5587365" y="5073015"/>
              <a:chExt cx="200026" cy="20002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5587365" y="50730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5627104" y="51174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5661819" y="52285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5889688" y="4942046"/>
              <a:ext cx="528942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对照双侧 0.95 区间 (1036.1, 1283.9)：单侧只在一边留 5%，下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限 1065 比双侧的下限高。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5" name="Rectangle 45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511" y="6004084"/>
              <a:ext cx="88460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若要的是单侧置信上限，改用样本均值加同一个半径：1160 + 95.10 = 1255.1，区间为 (−∞, 1255.1)。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两个正态总体与单侧置信区间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附表一：单个正态总体参数的置信区间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129868" cy="308039"/>
            <a:chOff x="525399" y="1550194"/>
            <a:chExt cx="1012986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12986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选公式先问两件事：估均值还是方差？另一个参数已知还是未知？下面四张卡片的区间都取置信水平 1 − α。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67865"/>
            <a:ext cx="5410200" cy="1279208"/>
            <a:chOff x="533400" y="1967865"/>
            <a:chExt cx="5410200" cy="1279208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1279208"/>
            </a:xfrm>
            <a:prstGeom prst="roundRect">
              <a:avLst>
                <a:gd name="adj" fmla="val 104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101250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189071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01191" y="2213134"/>
              <a:ext cx="1851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μ，σ² 已知 · U ~ N(0, 1)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316"/>
                <p:cNvSpPr txBox="1">
                  <a:spLocks noGrp="1"/>
                </p:cNvSpPr>
                <p:nvPr/>
              </p:nvSpPr>
              <p:spPr>
                <a:xfrm>
                  <a:off x="781050" y="2529840"/>
                  <a:ext cx="495300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</m:rad>
                              </m:den>
                            </m:f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bar>
                              <m:barPr>
                                <m:pos m:val="top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</m:rad>
                              </m:den>
                            </m:f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0" name="c1-card-2"/>
          <p:cNvGrpSpPr/>
          <p:nvPr/>
        </p:nvGrpSpPr>
        <p:grpSpPr>
          <a:xfrm>
            <a:off x="533400" y="3437572"/>
            <a:ext cx="5410200" cy="1470660"/>
            <a:chOff x="533400" y="3437572"/>
            <a:chExt cx="5410200" cy="1470660"/>
          </a:xfrm>
        </p:grpSpPr>
        <p:sp>
          <p:nvSpPr>
            <p:cNvPr id="15" name="Rectangle 15"/>
            <p:cNvSpPr/>
            <p:nvPr/>
          </p:nvSpPr>
          <p:spPr>
            <a:xfrm>
              <a:off x="533400" y="3437572"/>
              <a:ext cx="5410200" cy="1470660"/>
            </a:xfrm>
            <a:prstGeom prst="roundRect">
              <a:avLst>
                <a:gd name="adj" fmla="val 90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570922"/>
              <a:ext cx="47625" cy="120396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3647122"/>
              <a:ext cx="193548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8251" y="3682841"/>
              <a:ext cx="18410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μ，σ² 未知 · t ~ t(n − 1)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317"/>
                <p:cNvSpPr txBox="1">
                  <a:spLocks noGrp="1"/>
                </p:cNvSpPr>
                <p:nvPr/>
              </p:nvSpPr>
              <p:spPr>
                <a:xfrm>
                  <a:off x="781050" y="3999548"/>
                  <a:ext cx="495300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</m:rad>
                              </m:den>
                            </m:f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bar>
                              <m:barPr>
                                <m:pos m:val="top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</m:rad>
                              </m:den>
                            </m:f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6" name="c2-card-1"/>
          <p:cNvGrpSpPr/>
          <p:nvPr/>
        </p:nvGrpSpPr>
        <p:grpSpPr>
          <a:xfrm>
            <a:off x="6248400" y="1967865"/>
            <a:ext cx="5410200" cy="1419225"/>
            <a:chOff x="6248400" y="1967865"/>
            <a:chExt cx="5410200" cy="1419225"/>
          </a:xfrm>
        </p:grpSpPr>
        <p:sp>
          <p:nvSpPr>
            <p:cNvPr id="21" name="Rectangle 21"/>
            <p:cNvSpPr/>
            <p:nvPr/>
          </p:nvSpPr>
          <p:spPr>
            <a:xfrm>
              <a:off x="6248400" y="1967865"/>
              <a:ext cx="5410200" cy="1419225"/>
            </a:xfrm>
            <a:prstGeom prst="roundRect">
              <a:avLst>
                <a:gd name="adj" fmla="val 93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57925" y="2101215"/>
              <a:ext cx="47625" cy="115252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96050" y="2177415"/>
              <a:ext cx="1845945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45978" y="2213134"/>
              <a:ext cx="17460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σ²，μ 已知 · χ² ~ χ²(n)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formula318"/>
                <p:cNvSpPr txBox="1">
                  <a:spLocks noGrp="1"/>
                </p:cNvSpPr>
                <p:nvPr/>
              </p:nvSpPr>
              <p:spPr>
                <a:xfrm>
                  <a:off x="6496050" y="2529840"/>
                  <a:ext cx="4953000" cy="628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p>
                                  <m:e>
                                    <m:sSup>
                                      <m:e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e>
                                                <m:r>
                                                  <a:rPr lang="zh-CN" sz="15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X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sz="15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i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μ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num>
                              <m:den>
                                <m:sSubSup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χ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α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/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</m: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f>
                              <m:fPr>
                                <m:type m:val="bar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p>
                                  <m:e>
                                    <m:sSup>
                                      <m:e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e>
                                                <m:r>
                                                  <a:rPr lang="zh-CN" sz="15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X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sz="15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i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μ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num>
                              <m:den>
                                <m:sSubSup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χ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α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/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2" name="c2-card-2"/>
          <p:cNvGrpSpPr/>
          <p:nvPr/>
        </p:nvGrpSpPr>
        <p:grpSpPr>
          <a:xfrm>
            <a:off x="6248400" y="3577590"/>
            <a:ext cx="5410200" cy="1330642"/>
            <a:chOff x="6248400" y="3577590"/>
            <a:chExt cx="5410200" cy="1330642"/>
          </a:xfrm>
        </p:grpSpPr>
        <p:sp>
          <p:nvSpPr>
            <p:cNvPr id="27" name="Rectangle 27"/>
            <p:cNvSpPr/>
            <p:nvPr/>
          </p:nvSpPr>
          <p:spPr>
            <a:xfrm>
              <a:off x="6248400" y="3577590"/>
              <a:ext cx="5410200" cy="1330642"/>
            </a:xfrm>
            <a:prstGeom prst="roundRect">
              <a:avLst>
                <a:gd name="adj" fmla="val 100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57925" y="3710940"/>
              <a:ext cx="47625" cy="106394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96050" y="3787140"/>
              <a:ext cx="210026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38094" y="3822859"/>
              <a:ext cx="20152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σ²，μ 未知 · χ² ~ χ²(n − 1)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formula319"/>
                <p:cNvSpPr txBox="1">
                  <a:spLocks noGrp="1"/>
                </p:cNvSpPr>
                <p:nvPr/>
              </p:nvSpPr>
              <p:spPr>
                <a:xfrm>
                  <a:off x="6496050" y="4139565"/>
                  <a:ext cx="4953000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  <m:sSup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</m:t>
                                    </m:r>
                                  </m:e>
                                  <m:sup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Sup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χ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α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/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f>
                              <m:fPr>
                                <m:type m:val="bar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  <m:sSup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</m:t>
                                    </m:r>
                                  </m:e>
                                  <m:sup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Sup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χ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α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/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3" name="Rectangle 3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130" y="5991225"/>
              <a:ext cx="93343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更正：原课件附表 μ 已知一行把求和上限写成 m，应为 n。单侧区间把 α/2 换成 α，只保留需要的一端。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 · 两个正态总体与单侧置信区间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附表二：两个正态总体参数的置信区间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173480"/>
            <a:chOff x="533400" y="1524000"/>
            <a:chExt cx="5410200" cy="11734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173480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0678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2619375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4059" y="1750695"/>
              <a:ext cx="2619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μ₁ − μ₂，σ₁²、σ₂² 已知 · U ~ N(0, 1)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340"/>
                <p:cNvSpPr txBox="1">
                  <a:spLocks noGrp="1"/>
                </p:cNvSpPr>
                <p:nvPr/>
              </p:nvSpPr>
              <p:spPr>
                <a:xfrm>
                  <a:off x="763905" y="2050732"/>
                  <a:ext cx="4987290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bar>
                          <m:barPr>
                            <m:pos m:val="top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ba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bar>
                          <m:barPr>
                            <m:pos m:val="top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ba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∓</m:t>
                        </m:r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Sup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Sup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ra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8" name="c1-card-2"/>
          <p:cNvGrpSpPr/>
          <p:nvPr/>
        </p:nvGrpSpPr>
        <p:grpSpPr>
          <a:xfrm>
            <a:off x="533400" y="2872740"/>
            <a:ext cx="5410200" cy="1173480"/>
            <a:chOff x="533400" y="2872740"/>
            <a:chExt cx="5410200" cy="1173480"/>
          </a:xfrm>
        </p:grpSpPr>
        <p:sp>
          <p:nvSpPr>
            <p:cNvPr id="13" name="Rectangle 13"/>
            <p:cNvSpPr/>
            <p:nvPr/>
          </p:nvSpPr>
          <p:spPr>
            <a:xfrm>
              <a:off x="533400" y="2872740"/>
              <a:ext cx="5410200" cy="1173480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006090"/>
              <a:ext cx="47625" cy="90678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3905" y="3065145"/>
              <a:ext cx="308133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76943" y="3099435"/>
              <a:ext cx="30543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μ₁ − μ₂，σ₁² = σ₂² 未知 · t ~ t(n₁ + n₂ − 2)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formula341"/>
                <p:cNvSpPr txBox="1">
                  <a:spLocks noGrp="1"/>
                </p:cNvSpPr>
                <p:nvPr/>
              </p:nvSpPr>
              <p:spPr>
                <a:xfrm>
                  <a:off x="763905" y="3399472"/>
                  <a:ext cx="4987290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bar>
                          <m:barPr>
                            <m:pos m:val="top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ba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bar>
                          <m:barPr>
                            <m:pos m:val="top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ba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∓</m:t>
                        </m:r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d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ra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4" name="c1-card-3"/>
          <p:cNvGrpSpPr/>
          <p:nvPr/>
        </p:nvGrpSpPr>
        <p:grpSpPr>
          <a:xfrm>
            <a:off x="533400" y="4221480"/>
            <a:ext cx="5410200" cy="2114550"/>
            <a:chOff x="533400" y="4221480"/>
            <a:chExt cx="5410200" cy="2114550"/>
          </a:xfrm>
        </p:grpSpPr>
        <p:sp>
          <p:nvSpPr>
            <p:cNvPr id="19" name="Rectangle 19"/>
            <p:cNvSpPr/>
            <p:nvPr/>
          </p:nvSpPr>
          <p:spPr>
            <a:xfrm>
              <a:off x="533400" y="4221480"/>
              <a:ext cx="5410200" cy="2114550"/>
            </a:xfrm>
            <a:prstGeom prst="roundRect">
              <a:avLst>
                <a:gd name="adj" fmla="val 63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354830"/>
              <a:ext cx="47625" cy="18478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63905" y="441388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5345" y="44481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7047" y="4770120"/>
              <a:ext cx="467715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原课件附表第一行条件写成“σ₁² = σ₂² = σ² 已知”，应为两方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差各自已知；前两行统计量漏了 −(μ₁ − μ₂)，并混用 m、n 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n₁、n₂；最后一行写成 S₁²/S₂² ~ F(m − 1, n − 1)，漏了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σ₂²/σ₁² 因子。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147762"/>
            <a:chOff x="6248400" y="1524000"/>
            <a:chExt cx="5410200" cy="114776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147762"/>
            </a:xfrm>
            <a:prstGeom prst="roundRect">
              <a:avLst>
                <a:gd name="adj" fmla="val 116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57925" y="1657350"/>
              <a:ext cx="47625" cy="88106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78905" y="1716405"/>
              <a:ext cx="268890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88433" y="1750695"/>
              <a:ext cx="26708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σ₁²/σ₂²，μ₁、μ₂ 已知 · F ~ F(n₁, n₂)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formula342"/>
                <p:cNvSpPr txBox="1">
                  <a:spLocks noGrp="1"/>
                </p:cNvSpPr>
                <p:nvPr/>
              </p:nvSpPr>
              <p:spPr>
                <a:xfrm>
                  <a:off x="6478905" y="2050732"/>
                  <a:ext cx="4987290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num>
                              <m:den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α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/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sSub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n"/>
                                <m:supHide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sSub>
                                          <m:e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μ</m:t>
                                            </m:r>
                                          </m:e>
                                          <m:sub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n"/>
                                <m:supHide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Y</m:t>
                                            </m:r>
                                          </m:e>
                                          <m:sub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sSub>
                                          <m:e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μ</m:t>
                                            </m:r>
                                          </m:e>
                                          <m:sub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6" name="c2-card-2"/>
          <p:cNvGrpSpPr/>
          <p:nvPr/>
        </p:nvGrpSpPr>
        <p:grpSpPr>
          <a:xfrm>
            <a:off x="6248400" y="2847022"/>
            <a:ext cx="5410200" cy="1147762"/>
            <a:chOff x="6248400" y="2847022"/>
            <a:chExt cx="5410200" cy="1147762"/>
          </a:xfrm>
        </p:grpSpPr>
        <p:sp>
          <p:nvSpPr>
            <p:cNvPr id="31" name="Rectangle 31"/>
            <p:cNvSpPr/>
            <p:nvPr/>
          </p:nvSpPr>
          <p:spPr>
            <a:xfrm>
              <a:off x="6248400" y="2847022"/>
              <a:ext cx="5410200" cy="1147762"/>
            </a:xfrm>
            <a:prstGeom prst="roundRect">
              <a:avLst>
                <a:gd name="adj" fmla="val 116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2980372"/>
              <a:ext cx="47625" cy="88106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78905" y="3039428"/>
              <a:ext cx="316515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67106" y="3073718"/>
              <a:ext cx="31897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σ₁²/σ₂²，μ₁、μ₂ 未知 · F ~ F(n₁ − 1, n₂ − 1)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formula343"/>
                <p:cNvSpPr txBox="1">
                  <a:spLocks noGrp="1"/>
                </p:cNvSpPr>
                <p:nvPr/>
              </p:nvSpPr>
              <p:spPr>
                <a:xfrm>
                  <a:off x="6478905" y="3373755"/>
                  <a:ext cx="4987290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Sup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sSubSup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⋅</m:t>
                            </m:r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α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/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sSub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Sup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sSubSup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2" name="c2-callout-3"/>
          <p:cNvGrpSpPr/>
          <p:nvPr/>
        </p:nvGrpSpPr>
        <p:grpSpPr>
          <a:xfrm>
            <a:off x="6248400" y="4170045"/>
            <a:ext cx="5410200" cy="488632"/>
            <a:chOff x="6248400" y="4170045"/>
            <a:chExt cx="5410200" cy="488632"/>
          </a:xfrm>
        </p:grpSpPr>
        <p:sp>
          <p:nvSpPr>
            <p:cNvPr id="37" name="Rectangle 37"/>
            <p:cNvSpPr/>
            <p:nvPr/>
          </p:nvSpPr>
          <p:spPr>
            <a:xfrm>
              <a:off x="6248400" y="4170045"/>
              <a:ext cx="5410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453188" y="4314827"/>
              <a:ext cx="200023" cy="200023"/>
              <a:chOff x="6453188" y="4314827"/>
              <a:chExt cx="200023" cy="20002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453188" y="431482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586538" y="4381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755892" y="4320540"/>
              <a:ext cx="44144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方差比区间的上限一律把 F 分位点的两个自由度对调。</a:t>
              </a:r>
            </a:p>
          </p:txBody>
        </p:sp>
      </p:grpSp>
      <p:grpSp>
        <p:nvGrpSpPr>
          <p:cNvPr id="49" name="c2-card-4"/>
          <p:cNvGrpSpPr/>
          <p:nvPr/>
        </p:nvGrpSpPr>
        <p:grpSpPr>
          <a:xfrm>
            <a:off x="6248400" y="4833938"/>
            <a:ext cx="5410200" cy="1502092"/>
            <a:chOff x="6248400" y="4833938"/>
            <a:chExt cx="5410200" cy="1502092"/>
          </a:xfrm>
        </p:grpSpPr>
        <p:sp>
          <p:nvSpPr>
            <p:cNvPr id="43" name="Rectangle 43"/>
            <p:cNvSpPr/>
            <p:nvPr/>
          </p:nvSpPr>
          <p:spPr>
            <a:xfrm>
              <a:off x="6248400" y="4833938"/>
              <a:ext cx="5410200" cy="1502092"/>
            </a:xfrm>
            <a:prstGeom prst="roundRect">
              <a:avLst>
                <a:gd name="adj" fmla="val 88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57925" y="4967288"/>
              <a:ext cx="47625" cy="123539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78905" y="5026342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58344" y="5060633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对调的来源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formula344"/>
                <p:cNvSpPr txBox="1">
                  <a:spLocks noGrp="1"/>
                </p:cNvSpPr>
                <p:nvPr/>
              </p:nvSpPr>
              <p:spPr>
                <a:xfrm>
                  <a:off x="6478905" y="5360670"/>
                  <a:ext cx="4987290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8" name="TextBox 48"/>
            <p:cNvSpPr txBox="1"/>
            <p:nvPr/>
          </p:nvSpPr>
          <p:spPr>
            <a:xfrm>
              <a:off x="6472047" y="5932170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除以左端小分位点，等于乘以自由度对调后的右端分位点。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自测题（一）点估计与评选标准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223135"/>
            <a:chOff x="533400" y="1524000"/>
            <a:chExt cx="3505200" cy="22231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矩估计的理论依据是什么？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446020"/>
              <a:ext cx="29013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辛钦大数定律：样本 k 阶矩依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概率收敛于总体 k 阶矩，样本矩的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连续函数也收敛于总体矩的同一函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937635"/>
            <a:ext cx="3505200" cy="2223135"/>
            <a:chOff x="533400" y="3937635"/>
            <a:chExt cx="3505200" cy="2223135"/>
          </a:xfrm>
        </p:grpSpPr>
        <p:sp>
          <p:nvSpPr>
            <p:cNvPr id="13" name="Rectangle 13"/>
            <p:cNvSpPr/>
            <p:nvPr/>
          </p:nvSpPr>
          <p:spPr>
            <a:xfrm>
              <a:off x="533400" y="3937635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5243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最大似然估计为什么常先取对数？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859655"/>
              <a:ext cx="2901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ln 严格单调，最大点不变；连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乘变成求和，求导更容易。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1937385"/>
            <a:chOff x="4343400" y="1524000"/>
            <a:chExt cx="3505200" cy="1937385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5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4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45330" y="2110740"/>
              <a:ext cx="269890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总体 X ~ U(0, θ)，求 θ 的矩估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45330" y="2731770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E(X) = θ/2，令其等于样本均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值，θ 的矩估计为 2 倍样本均值。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651885"/>
            <a:ext cx="3505200" cy="2508885"/>
            <a:chOff x="4343400" y="3651885"/>
            <a:chExt cx="3505200" cy="2508885"/>
          </a:xfrm>
        </p:grpSpPr>
        <p:sp>
          <p:nvSpPr>
            <p:cNvPr id="25" name="Rectangle 25"/>
            <p:cNvSpPr/>
            <p:nvPr/>
          </p:nvSpPr>
          <p:spPr>
            <a:xfrm>
              <a:off x="4343400" y="3651885"/>
              <a:ext cx="3505200" cy="2508885"/>
            </a:xfrm>
            <a:prstGeom prst="roundRect">
              <a:avLst>
                <a:gd name="adj" fmla="val 5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52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40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45330" y="4238625"/>
              <a:ext cx="2917984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X₁, X₂ 是样本，(X₁ + 2X₂)/3 是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 的无偏估计吗？和样本均值比谁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更有效？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45330" y="5145405"/>
              <a:ext cx="26536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系数和为 1，无偏。方差为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(1/9 + 4/9)σ² = 5σ²/9，大于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σ²/2，样本均值更有效。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223135"/>
            <a:chOff x="8153400" y="1524000"/>
            <a:chExt cx="3505200" cy="2223135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6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5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55330" y="2110740"/>
              <a:ext cx="282940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总体 X ~ U(0, θ)，θ 的最大似然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估计是什么？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55330" y="2731770"/>
              <a:ext cx="28917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L(θ) = 1/θⁿ（θ ≥ max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xᵢ），随 θ 减小而增大，所以取 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max Xᵢ。似然方程在这里无解。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937635"/>
            <a:ext cx="3505200" cy="2223135"/>
            <a:chOff x="8153400" y="3937635"/>
            <a:chExt cx="3505200" cy="2223135"/>
          </a:xfrm>
        </p:grpSpPr>
        <p:sp>
          <p:nvSpPr>
            <p:cNvPr id="37" name="Rectangle 37"/>
            <p:cNvSpPr/>
            <p:nvPr/>
          </p:nvSpPr>
          <p:spPr>
            <a:xfrm>
              <a:off x="8153400" y="3937635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62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50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55330" y="4524375"/>
              <a:ext cx="292131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B₂ 是 σ² 的无偏估计吗？是一致估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计吗？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55330" y="5145405"/>
              <a:ext cx="29298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不是无偏估计，E(B₂) = (n 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1)σ²/n；但它是渐近无偏的，也是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一致估计量。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自测题（二）区间估计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408872"/>
            <a:chOff x="533400" y="1524000"/>
            <a:chExt cx="3505200" cy="240887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408872"/>
            </a:xfrm>
            <a:prstGeom prst="roundRect">
              <a:avLst>
                <a:gd name="adj" fmla="val 553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996" y="2100739"/>
              <a:ext cx="278405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算出的 0.95 置信区间是 (21.5,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22.1)，能说“μ 落在其中的概率是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0.95”吗？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9996" y="2963704"/>
              <a:ext cx="28999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不能。μ 是常数，这个具体区间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要么盖住它、要么没盖住。0.95 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述的是造区间的方法长期的命中率。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4118610"/>
            <a:ext cx="3505200" cy="2137410"/>
            <a:chOff x="533400" y="4118610"/>
            <a:chExt cx="3505200" cy="2137410"/>
          </a:xfrm>
        </p:grpSpPr>
        <p:sp>
          <p:nvSpPr>
            <p:cNvPr id="13" name="Rectangle 13"/>
            <p:cNvSpPr/>
            <p:nvPr/>
          </p:nvSpPr>
          <p:spPr>
            <a:xfrm>
              <a:off x="533400" y="4118610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7235" y="432244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4722" y="435816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996" y="4695349"/>
              <a:ext cx="286114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σ² 的置信区间时，下限用哪个分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位点？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9996" y="5286851"/>
              <a:ext cx="296303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用右端较大的那个分位点（上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α/2 分位点）。σ² 在分母，除以较大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的数得到下限。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137410"/>
            <a:chOff x="4343400" y="1524000"/>
            <a:chExt cx="3505200" cy="2137410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4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3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39996" y="2100739"/>
              <a:ext cx="275474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未知、n = 9、样本均值 10、s =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3，求 μ 的 0.95 置信区间。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39996" y="2692241"/>
              <a:ext cx="286385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t₀.₀₂₅(8) = 2.306，半径 3/3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 2.306 = 2.306，区间 (7.694,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12.306)。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847148"/>
            <a:ext cx="3505200" cy="2408872"/>
            <a:chOff x="4343400" y="3847148"/>
            <a:chExt cx="3505200" cy="2408872"/>
          </a:xfrm>
        </p:grpSpPr>
        <p:sp>
          <p:nvSpPr>
            <p:cNvPr id="25" name="Rectangle 25"/>
            <p:cNvSpPr/>
            <p:nvPr/>
          </p:nvSpPr>
          <p:spPr>
            <a:xfrm>
              <a:off x="4343400" y="3847148"/>
              <a:ext cx="3505200" cy="2408872"/>
            </a:xfrm>
            <a:prstGeom prst="roundRect">
              <a:avLst>
                <a:gd name="adj" fmla="val 553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47235" y="4050982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34722" y="408670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39996" y="4423886"/>
              <a:ext cx="31127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两总体均值差的 t 区间要什么前提？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39996" y="4743926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两总体正态、样本独立、两方差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相等（数值可以未知）。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1865948"/>
            <a:chOff x="8153400" y="1524000"/>
            <a:chExt cx="3505200" cy="1865948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1865948"/>
            </a:xfrm>
            <a:prstGeom prst="roundRect">
              <a:avLst>
                <a:gd name="adj" fmla="val 714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5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4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49996" y="2100739"/>
              <a:ext cx="291795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已知时，想把 μ 的置信区间长度缩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为原来的一半，样本量要怎么变？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49996" y="2692241"/>
              <a:ext cx="284581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长度与 √n 成反比，样本量要变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为原来的 4 倍。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575685"/>
            <a:ext cx="3505200" cy="2680335"/>
            <a:chOff x="8153400" y="3575685"/>
            <a:chExt cx="3505200" cy="2680335"/>
          </a:xfrm>
        </p:grpSpPr>
        <p:sp>
          <p:nvSpPr>
            <p:cNvPr id="37" name="Rectangle 37"/>
            <p:cNvSpPr/>
            <p:nvPr/>
          </p:nvSpPr>
          <p:spPr>
            <a:xfrm>
              <a:off x="8153400" y="3575685"/>
              <a:ext cx="3505200" cy="2680335"/>
            </a:xfrm>
            <a:prstGeom prst="roundRect">
              <a:avLst>
                <a:gd name="adj" fmla="val 497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57235" y="377952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44722" y="381523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49996" y="4152424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单侧置信下限与双侧区间的公式有什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么区别？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49996" y="4743926"/>
              <a:ext cx="291795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分位点从 α/2 换成 α，只保留一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端。例23 用的是 t₀.₀₅(4)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2.1318 而不是 2.7764。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参数估计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table-1"/>
          <p:cNvGrpSpPr/>
          <p:nvPr/>
        </p:nvGrpSpPr>
        <p:grpSpPr>
          <a:xfrm>
            <a:off x="533400" y="1524000"/>
            <a:ext cx="6059805" cy="2840355"/>
            <a:chOff x="533400" y="1524000"/>
            <a:chExt cx="6059805" cy="2840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4366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2199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09756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0540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矩估计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66912" y="205406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样本矩等于总体矩，解方程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90072" y="2054066"/>
              <a:ext cx="7795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μₖ(θ) = Aₖ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3076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35530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4598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最大似然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66912" y="245983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对数似然求导，失效时看单调性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90072" y="2459831"/>
              <a:ext cx="909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ln L/dθ = 0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3653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28655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无偏性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66912" y="286559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期望等于真值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90072" y="2865596"/>
              <a:ext cx="12113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S² 无偏，B₂ 有偏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4229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47060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327136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有效性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66912" y="327136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无偏估计中方差小者优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90072" y="327136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样本均值最有效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5480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367712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66912" y="367712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依概率收敛于真值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90072" y="3677126"/>
              <a:ext cx="8699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无偏且 D → 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95382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958590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3412" y="40828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置信区间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966912" y="408289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枢轴量、分位点、解不等式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390072" y="4082891"/>
              <a:ext cx="15514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P{θ₁ &lt; θ &lt; θ₂} = 1 − α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6059805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862138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285298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1-callout-2"/>
          <p:cNvGrpSpPr/>
          <p:nvPr/>
        </p:nvGrpSpPr>
        <p:grpSpPr>
          <a:xfrm>
            <a:off x="533400" y="4539615"/>
            <a:ext cx="6059805" cy="834390"/>
            <a:chOff x="533400" y="4539615"/>
            <a:chExt cx="6059805" cy="834390"/>
          </a:xfrm>
        </p:grpSpPr>
        <p:sp>
          <p:nvSpPr>
            <p:cNvPr id="41" name="Rectangle 41"/>
            <p:cNvSpPr/>
            <p:nvPr/>
          </p:nvSpPr>
          <p:spPr>
            <a:xfrm>
              <a:off x="533400" y="4539615"/>
              <a:ext cx="6059805" cy="834390"/>
            </a:xfrm>
            <a:prstGeom prst="roundRect">
              <a:avLst>
                <a:gd name="adj" fmla="val 1369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4856800"/>
              <a:ext cx="200023" cy="200023"/>
              <a:chOff x="738188" y="4856800"/>
              <a:chExt cx="200023" cy="20002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485680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71538" y="49234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892" y="4862512"/>
              <a:ext cx="49866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区间估计的枢轴量：均值用 U 或 t，方差用 χ²，方差比用 F。</a:t>
              </a:r>
            </a:p>
          </p:txBody>
        </p:sp>
      </p:grpSp>
      <p:grpSp>
        <p:nvGrpSpPr>
          <p:cNvPr id="69" name="c2-card-1"/>
          <p:cNvGrpSpPr/>
          <p:nvPr/>
        </p:nvGrpSpPr>
        <p:grpSpPr>
          <a:xfrm>
            <a:off x="6898005" y="1524000"/>
            <a:ext cx="4760595" cy="2465070"/>
            <a:chOff x="6898005" y="1524000"/>
            <a:chExt cx="4760595" cy="2465070"/>
          </a:xfrm>
        </p:grpSpPr>
        <p:sp>
          <p:nvSpPr>
            <p:cNvPr id="47" name="Rectangle 47"/>
            <p:cNvSpPr/>
            <p:nvPr/>
          </p:nvSpPr>
          <p:spPr>
            <a:xfrm>
              <a:off x="6898005" y="1524000"/>
              <a:ext cx="4760595" cy="2465070"/>
            </a:xfrm>
            <a:prstGeom prst="roundRect">
              <a:avLst>
                <a:gd name="adj" fmla="val 54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907530" y="1657350"/>
              <a:ext cx="47625" cy="21983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128510" y="1716405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187946" y="175069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127558" y="2061210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83236" y="209959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08354" y="2072640"/>
              <a:ext cx="38392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例9 最大似然估计值 0.2829，课件写 0.2809。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127558" y="2363152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183236" y="240153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08354" y="2375535"/>
              <a:ext cx="17765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例14 的“&lt;”应为“≤”。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127558" y="2666048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183236" y="270443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408354" y="2678430"/>
              <a:ext cx="26307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例22 上限 5.40，课件写 5.42。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7127558" y="2967990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183236" y="300732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408354" y="2980372"/>
              <a:ext cx="23944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例23 代入式应为 99.75/√5。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127558" y="3270885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83236" y="330927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408354" y="3283268"/>
              <a:ext cx="33304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例17 区间末位应为 (21.344, 22.256)。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7127558" y="3573780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183236" y="361216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408354" y="358521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两张附表的笔误已按推导改正。</a:t>
              </a:r>
            </a:p>
          </p:txBody>
        </p:sp>
      </p:grpSp>
      <p:grpSp>
        <p:nvGrpSpPr>
          <p:cNvPr id="75" name="c2-card-2"/>
          <p:cNvGrpSpPr/>
          <p:nvPr/>
        </p:nvGrpSpPr>
        <p:grpSpPr>
          <a:xfrm>
            <a:off x="6898005" y="4164330"/>
            <a:ext cx="4760595" cy="1209675"/>
            <a:chOff x="6898005" y="4164330"/>
            <a:chExt cx="4760595" cy="1209675"/>
          </a:xfrm>
        </p:grpSpPr>
        <p:sp>
          <p:nvSpPr>
            <p:cNvPr id="70" name="Rectangle 70"/>
            <p:cNvSpPr/>
            <p:nvPr/>
          </p:nvSpPr>
          <p:spPr>
            <a:xfrm>
              <a:off x="6898005" y="4164330"/>
              <a:ext cx="4760595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6907530" y="429768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7128510" y="4356735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199948" y="439102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与第八章的接口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121652" y="4712970"/>
              <a:ext cx="39656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假设检验用的是同一批统计量 U、t、χ²、F，只是把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“解出参数范围”换成“看统计量是否落入拒绝域”。</a:t>
              </a:r>
            </a:p>
          </p:txBody>
        </p:sp>
      </p:grpSp>
      <p:grpSp>
        <p:nvGrpSpPr>
          <p:cNvPr id="8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6" name="Rectangle 7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040892" y="6023610"/>
              <a:ext cx="6556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做题时先写枢轴量和它的分布，再去查表，分位点的下标和自由度就不容易写错。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第7章 参数估计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rob_ch7">
  <a:themeElements>
    <a:clrScheme name="prob_ch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b_ch7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b_ch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2026-09-23T11:08:40Z</dcterms:created>
  <dcterms:modified xsi:type="dcterms:W3CDTF">2026-09-23T11:08:40Z</dcterms:modified>
  <cp:category/>
  <cp:contentStatus/>
</cp:coreProperties>
</file>