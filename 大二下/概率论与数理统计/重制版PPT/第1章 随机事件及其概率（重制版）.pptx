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b_ch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b_ch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838970fe9a99c9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0ba8c70797d37e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07241e7a52e456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61332" cy="3437763"/>
            <a:chOff x="666750" y="1619250"/>
            <a:chExt cx="456133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概率论与数理统计 · 第一章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随机事件及其概率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从随机现象到概率的三种算法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样本空间与事件运算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频率、概率与三条公理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古典概型：数个数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几何概型：量大小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自学复习版｜据吉林大学《概率论与数理统计》第一章课件整理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随机试验与样本空间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随机现象、三个特点、样本点与样本空间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事件的关系与运算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七种关系、八条运算律、文氏图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频率与概率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频率稳定性、公理化定义、七条性质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古典概型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排列组合工具与六类经典模型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几何概型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面积比、会面问题、蒲丰投针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写出一个随机试验的样本空间，并判断它是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有限、可列还是连续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把一句中文翻译成 A、B、C 的事件表达式，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并用运算律化简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用逆事件、减法、加法公式由已知概率求未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知概率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判断一道题该用古典概型还是几何概型，并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算出结果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说清频率与概率的区别，以及“概率为 0”意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味着什么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随机试验与样本空间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先把试验、样本点、样本空间、事件这四个词定下来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必然现象与随机现象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随机试验的三个特点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样本空间与随机事件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随机试验与样本空间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取球试验：结果能不能事先说定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205560" cy="308039"/>
            <a:chOff x="525399" y="1550194"/>
            <a:chExt cx="620556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2055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概率论研究的是“单次说不定、大量重复又有规律”的那一类现象。</a:t>
              </a:r>
            </a:p>
          </p:txBody>
        </p:sp>
      </p:grpSp>
      <p:grpSp>
        <p:nvGrpSpPr>
          <p:cNvPr id="29" name="c1-compare-1"/>
          <p:cNvGrpSpPr/>
          <p:nvPr/>
        </p:nvGrpSpPr>
        <p:grpSpPr>
          <a:xfrm>
            <a:off x="533400" y="1967865"/>
            <a:ext cx="5842636" cy="2245995"/>
            <a:chOff x="533400" y="1967865"/>
            <a:chExt cx="5842636" cy="224599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2673668" cy="2245995"/>
            </a:xfrm>
            <a:prstGeom prst="roundRect">
              <a:avLst>
                <a:gd name="adj" fmla="val 5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9792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430" y="2202180"/>
              <a:ext cx="2049304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试验1 袋中 10 个球全是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8765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8136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任取一个，一定是红球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2118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1489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结果事先就能说定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5471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4842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这是必然现象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02368" y="1967865"/>
              <a:ext cx="2673668" cy="2245995"/>
            </a:xfrm>
            <a:prstGeom prst="roundRect">
              <a:avLst>
                <a:gd name="adj" fmla="val 5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11892" y="2101215"/>
              <a:ext cx="47625" cy="1979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42398" y="2202180"/>
              <a:ext cx="1978819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试验2 袋中 5 红球 5 白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55732" y="28765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13848" y="281368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任取一个，可能红也可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能白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55732" y="349758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13848" y="34347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结果事先说不定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955732" y="38328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13848" y="37699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这是随机现象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254692" y="2890838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08032" y="30251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引例</a:t>
              </a:r>
            </a:p>
          </p:txBody>
        </p:sp>
      </p:grpSp>
      <p:grpSp>
        <p:nvGrpSpPr>
          <p:cNvPr id="35" name="c1-kv-2"/>
          <p:cNvGrpSpPr/>
          <p:nvPr/>
        </p:nvGrpSpPr>
        <p:grpSpPr>
          <a:xfrm>
            <a:off x="525780" y="4429125"/>
            <a:ext cx="5850255" cy="1015365"/>
            <a:chOff x="525780" y="4429125"/>
            <a:chExt cx="5850255" cy="1015365"/>
          </a:xfrm>
        </p:grpSpPr>
        <p:sp>
          <p:nvSpPr>
            <p:cNvPr id="30" name="TextBox 30"/>
            <p:cNvSpPr txBox="1"/>
            <p:nvPr/>
          </p:nvSpPr>
          <p:spPr>
            <a:xfrm>
              <a:off x="525780" y="4429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必然现象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66862" y="44291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在一定条件下必然会发生的现象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7491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5780" y="48691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随机现象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66862" y="4869180"/>
              <a:ext cx="4396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在相同条件下可能发生也可能不发生；大量重复时呈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现统计规律性</a:t>
              </a:r>
            </a:p>
          </p:txBody>
        </p:sp>
      </p:grpSp>
      <p:grpSp>
        <p:nvGrpSpPr>
          <p:cNvPr id="38" name="c2-image-1"/>
          <p:cNvGrpSpPr/>
          <p:nvPr/>
        </p:nvGrpSpPr>
        <p:grpSpPr>
          <a:xfrm>
            <a:off x="7551420" y="1967865"/>
            <a:ext cx="3236595" cy="2741772"/>
            <a:chOff x="7551420" y="1967865"/>
            <a:chExt cx="3236595" cy="2741772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0" t="10" r="0" b="10"/>
            <a:stretch>
              <a:fillRect/>
            </a:stretch>
          </p:blipFill>
          <p:spPr>
            <a:xfrm>
              <a:off x="7551420" y="1967865"/>
              <a:ext cx="3236595" cy="2426970"/>
            </a:xfrm>
            <a:prstGeom prst="roundRect">
              <a:avLst>
                <a:gd name="adj" fmla="val 5494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8183969" y="448960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左袋只有红球，右袋红白各半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680835" y="4874895"/>
            <a:ext cx="4977765" cy="782955"/>
            <a:chOff x="6680835" y="4874895"/>
            <a:chExt cx="4977765" cy="782955"/>
          </a:xfrm>
        </p:grpSpPr>
        <p:sp>
          <p:nvSpPr>
            <p:cNvPr id="39" name="Rectangle 39"/>
            <p:cNvSpPr/>
            <p:nvPr/>
          </p:nvSpPr>
          <p:spPr>
            <a:xfrm>
              <a:off x="6680835" y="487489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885623" y="5166362"/>
              <a:ext cx="200023" cy="200023"/>
              <a:chOff x="6885623" y="5166362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885623" y="51663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18973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187565" y="502348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概率论与数理统计研究并揭示随机现象的统计规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律性。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10515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判断是不是随机现象看两点：单次结果是否确定，以及能否在相同条件下大量重复。只发生一次的事谈不上统计规律。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28686" cy="909257"/>
            <a:chOff x="520446" y="342900"/>
            <a:chExt cx="6528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随机试验与样本空间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28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随机试验 E：可重复、可观测、结果不确定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410200" cy="2134552"/>
            <a:chOff x="533400" y="1524000"/>
            <a:chExt cx="5410200" cy="21345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4552"/>
            </a:xfrm>
            <a:prstGeom prst="roundRect">
              <a:avLst>
                <a:gd name="adj" fmla="val 62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78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912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随机试验 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同时具备下面三条的试验称为随机试验，通常用字母 E 表示，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简称试验。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3905" y="263747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9583" y="26768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4702" y="264985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可重复性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：可以在相同条件下重复进行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3905" y="29403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583" y="2978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4702" y="29527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可观测性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：试验之前所有可能结果都已明确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3905" y="324326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9583" y="3281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4702" y="325469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：每次到底出现哪个结果不确定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833812"/>
            <a:ext cx="5410200" cy="1511618"/>
            <a:chOff x="533400" y="3833812"/>
            <a:chExt cx="5410200" cy="1511618"/>
          </a:xfrm>
        </p:grpSpPr>
        <p:sp>
          <p:nvSpPr>
            <p:cNvPr id="23" name="Rectangle 23"/>
            <p:cNvSpPr/>
            <p:nvPr/>
          </p:nvSpPr>
          <p:spPr>
            <a:xfrm>
              <a:off x="533400" y="3833812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967162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402621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5345" y="40605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44386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4382452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“明天本市是否下雨”无法在相同条件下重复，不算随机试验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2478" y="47415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497" y="468534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三条缺一不可；掷骰子、抽检产品、测灯泡寿命都同时满足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1792605"/>
            <a:chOff x="6248400" y="1524000"/>
            <a:chExt cx="5410200" cy="1792605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62597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样本点与样本空间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87478" y="21469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3497" y="2090738"/>
              <a:ext cx="462443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样本点 ω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：随机试验最基本的结果，一次试验只会出现其中一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87478" y="270605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3497" y="2649855"/>
              <a:ext cx="41384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样本空间 Ω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：全体样本点组成的集合，记作 Ω = {ω}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3190" y="2948464"/>
              <a:ext cx="4398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写样本空间，就是把“这次试验可能出现什么”一个不漏地列出来。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6248400" y="3491865"/>
            <a:ext cx="5410200" cy="1823085"/>
            <a:chOff x="6248400" y="3491865"/>
            <a:chExt cx="5410200" cy="1823085"/>
          </a:xfrm>
        </p:grpSpPr>
        <p:sp>
          <p:nvSpPr>
            <p:cNvPr id="43" name="Rectangle 43"/>
            <p:cNvSpPr/>
            <p:nvPr/>
          </p:nvSpPr>
          <p:spPr>
            <a:xfrm>
              <a:off x="6248400" y="3491865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26505" y="36161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样本空间的类型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08541" y="36161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48412" y="40219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有限个样本点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71472" y="4021931"/>
              <a:ext cx="2564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掷一颗骰子，Ω = {1, 2, 3, 4, 5, 6}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2986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430339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8412" y="45277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可列无限个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71472" y="4427696"/>
              <a:ext cx="30767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生产到第 10 件正品为止的总件数，Ω = {10, 11,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12, …}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49044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8412" y="503348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连续（不可列）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71472" y="5033486"/>
              <a:ext cx="180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灯泡寿命，Ω = {t : t ≥ 0}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491865"/>
              <a:ext cx="5410200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66698" y="349186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样本点要做到不重不漏：任何一次试验的结果，都恰好落在一个样本点上。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随机试验与样本空间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写样本空间：同一个试验，观察角度不同结果也不同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38535" cy="264033"/>
            <a:chOff x="526542" y="1545907"/>
            <a:chExt cx="47385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38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源课件给出的六个试验，Ω 怎么写取决于“你要观察什么”。</a:t>
              </a:r>
            </a:p>
          </p:txBody>
        </p:sp>
      </p:grpSp>
      <p:grpSp>
        <p:nvGrpSpPr>
          <p:cNvPr id="50" name="c1-table-1"/>
          <p:cNvGrpSpPr/>
          <p:nvPr/>
        </p:nvGrpSpPr>
        <p:grpSpPr>
          <a:xfrm>
            <a:off x="533400" y="1928812"/>
            <a:ext cx="11125200" cy="2669858"/>
            <a:chOff x="533400" y="1928812"/>
            <a:chExt cx="11125200" cy="26698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53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试验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1277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1966" y="2045970"/>
              <a:ext cx="709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样本空间 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2228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6633" y="24269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7714" y="2426970"/>
              <a:ext cx="2853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抛一枚硬币，观察正面 H、反面 T 出现的情况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89601" y="2426970"/>
              <a:ext cx="466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{H, T}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22280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6633" y="280892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7714" y="2808923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将一枚硬币抛掷三次，观察正、反面出现的情况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9601" y="2808923"/>
              <a:ext cx="3035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{HHH, HHT, HTH, THH, HTT, THT, TTH, TTT}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22280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6633" y="318992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7714" y="3189923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将一枚硬币抛掷三次，观察正面出现的次数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89601" y="3189923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{0, 1, 2, 3}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2280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49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6633" y="3571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7714" y="357187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掷一颗骰子，观察出现的点数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89601" y="3571875"/>
              <a:ext cx="1233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3, 4, 5, 6}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22280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30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86633" y="3952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7714" y="3952875"/>
              <a:ext cx="3219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生产一大批产品直到有 10 件正品为止，记录总件数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89601" y="3952875"/>
              <a:ext cx="1070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{10, 11, 12, …}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80929" y="3952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可列无限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21671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6633" y="4333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7714" y="4333875"/>
              <a:ext cx="2109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检查一大批灯泡的寿命（单位 h）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89601" y="4333875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{t : t ≥ 0}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22280" y="4333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928812"/>
              <a:ext cx="11125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41827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09016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87361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1-compare-2"/>
          <p:cNvGrpSpPr/>
          <p:nvPr/>
        </p:nvGrpSpPr>
        <p:grpSpPr>
          <a:xfrm>
            <a:off x="533400" y="4763452"/>
            <a:ext cx="11125200" cy="1599248"/>
            <a:chOff x="533400" y="4763452"/>
            <a:chExt cx="11125200" cy="1599248"/>
          </a:xfrm>
        </p:grpSpPr>
        <p:sp>
          <p:nvSpPr>
            <p:cNvPr id="51" name="Rectangle 51"/>
            <p:cNvSpPr/>
            <p:nvPr/>
          </p:nvSpPr>
          <p:spPr>
            <a:xfrm>
              <a:off x="533400" y="4763452"/>
              <a:ext cx="5334000" cy="1599248"/>
            </a:xfrm>
            <a:prstGeom prst="roundRect">
              <a:avLst>
                <a:gd name="adj" fmla="val 8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4896802"/>
              <a:ext cx="47625" cy="13325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5998" y="4964906"/>
              <a:ext cx="1811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E₂ 与 E₃ 是同一个试验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62000" y="53187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7448" y="526589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都抛三次硬币，只是记录方式不同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62000" y="56035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7448" y="5551646"/>
              <a:ext cx="2468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关心“情况”就写长度为 3 的序列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62000" y="58883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7448" y="5836444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关心“次数”就只写数字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324600" y="4763452"/>
              <a:ext cx="5334000" cy="1599248"/>
            </a:xfrm>
            <a:prstGeom prst="roundRect">
              <a:avLst>
                <a:gd name="adj" fmla="val 8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334125" y="4896802"/>
              <a:ext cx="47625" cy="13325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37198" y="49649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写错的两种典型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553200" y="53187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08648" y="5265896"/>
              <a:ext cx="3312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E₂ 写成 {正, 反}：漏掉了“三次”这一层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553200" y="56035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08648" y="5551646"/>
              <a:ext cx="3984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E₆ 写成 {合格, 不合格}：那是事件不是样本空间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915025" y="5381625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70080" y="550735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分清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随机试验与样本空间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随机事件就是样本空间的一个子集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134552"/>
            <a:chOff x="533400" y="1524000"/>
            <a:chExt cx="5410200" cy="21345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4552"/>
            </a:xfrm>
            <a:prstGeom prst="roundRect">
              <a:avLst>
                <a:gd name="adj" fmla="val 62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78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事件与它的三种特例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随机事件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：样本空间 Ω 的子集，由若干样本点构成，常记为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4985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基本事件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：由一个样本点组成的事件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52750"/>
              <a:ext cx="3869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必然事件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：样本空间 Ω 本身，每次试验必然发生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31089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254692"/>
              <a:ext cx="362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不可能事件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：空集 ∅，每次试验都不可能发生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833812"/>
            <a:ext cx="5410200" cy="1623060"/>
            <a:chOff x="533400" y="3833812"/>
            <a:chExt cx="5410200" cy="1623060"/>
          </a:xfrm>
        </p:grpSpPr>
        <p:sp>
          <p:nvSpPr>
            <p:cNvPr id="20" name="Rectangle 20"/>
            <p:cNvSpPr/>
            <p:nvPr/>
          </p:nvSpPr>
          <p:spPr>
            <a:xfrm>
              <a:off x="533400" y="3833812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19327" y="39581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集合论的说法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24427" y="39581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概率论的说法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3412" y="4363879"/>
              <a:ext cx="748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的子集 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22295" y="4363879"/>
              <a:ext cx="44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A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6405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64534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4769644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全集 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22295" y="4769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必然事件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046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517540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空集 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22295" y="51754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不可能事件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33812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17520" y="383381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3"/>
          <p:cNvGrpSpPr/>
          <p:nvPr/>
        </p:nvGrpSpPr>
        <p:grpSpPr>
          <a:xfrm>
            <a:off x="533400" y="5631180"/>
            <a:ext cx="5410200" cy="729615"/>
            <a:chOff x="533400" y="5631180"/>
            <a:chExt cx="5410200" cy="729615"/>
          </a:xfrm>
        </p:grpSpPr>
        <p:sp>
          <p:nvSpPr>
            <p:cNvPr id="35" name="Rectangle 35"/>
            <p:cNvSpPr/>
            <p:nvPr/>
          </p:nvSpPr>
          <p:spPr>
            <a:xfrm>
              <a:off x="533400" y="563118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895977"/>
              <a:ext cx="200023" cy="200023"/>
              <a:chOff x="738188" y="5895977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8959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5962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5777865"/>
              <a:ext cx="435140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 A 发生 ⇔ 本次试验的结果落在 A 里。A 所含的样本点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出现了一个，就说 A 发生了。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6248400" y="1524000"/>
            <a:ext cx="5410200" cy="3188018"/>
            <a:chOff x="6248400" y="1524000"/>
            <a:chExt cx="5410200" cy="3188018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3188018"/>
            </a:xfrm>
            <a:prstGeom prst="roundRect">
              <a:avLst>
                <a:gd name="adj" fmla="val 41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29213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8905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4346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29247" y="1756410"/>
              <a:ext cx="3473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E₄ 掷一颗骰子，Ω = {1, 2, 3, 4, 5, 6}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78905" y="2067878"/>
              <a:ext cx="498729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18451" y="21921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用中文说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12096" y="21921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写成集合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78917" y="25979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出现偶数点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73490" y="2597944"/>
              <a:ext cx="991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{2, 4, 6}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78905" y="2874645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8905" y="2879408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8917" y="30037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出现奇数点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3490" y="3003709"/>
              <a:ext cx="991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{1, 3, 5}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78905" y="3280410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8917" y="340947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出现的点数不超过 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73490" y="3409474"/>
              <a:ext cx="991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{1, 2, 3}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78905" y="3686175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8905" y="3690938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78917" y="3815239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出现的点数是 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73490" y="3815239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∅，不可能事件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8905" y="4091940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78917" y="4221004"/>
              <a:ext cx="1732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出现的点数在 1 到 6 之间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73490" y="4221004"/>
              <a:ext cx="852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Ω，必然事件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78905" y="2067878"/>
              <a:ext cx="498729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768715" y="206787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llout-2"/>
          <p:cNvGrpSpPr/>
          <p:nvPr/>
        </p:nvGrpSpPr>
        <p:grpSpPr>
          <a:xfrm>
            <a:off x="6248400" y="4887278"/>
            <a:ext cx="5410200" cy="1473518"/>
            <a:chOff x="6248400" y="4887278"/>
            <a:chExt cx="5410200" cy="1473518"/>
          </a:xfrm>
        </p:grpSpPr>
        <p:sp>
          <p:nvSpPr>
            <p:cNvPr id="68" name="Rectangle 68"/>
            <p:cNvSpPr/>
            <p:nvPr/>
          </p:nvSpPr>
          <p:spPr>
            <a:xfrm>
              <a:off x="6248400" y="4887278"/>
              <a:ext cx="5410200" cy="1473518"/>
            </a:xfrm>
            <a:prstGeom prst="roundRect">
              <a:avLst>
                <a:gd name="adj" fmla="val 775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53188" y="5524500"/>
              <a:ext cx="200026" cy="200025"/>
              <a:chOff x="6453188" y="5524500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453188" y="55245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492926" y="55689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27642" y="56800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55892" y="553021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把中文句子翻译成集合，是后面所有事件运算题的第一步。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事件的关系与运算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把中文句子翻成集合表达式，是概率题的第一道关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七种关系与它们的文氏图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八条运算律与运算顺序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三道翻译与化简的例题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事件的关系与运算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七种关系：记号、含义与常用等价式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6276022" cy="3817620"/>
            <a:chOff x="533400" y="1524000"/>
            <a:chExt cx="6276022" cy="3817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80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025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866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7126" y="2108359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⊂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30218" y="2108359"/>
              <a:ext cx="1583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发生必导致 B 发生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47126" y="2556986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30218" y="2556986"/>
              <a:ext cx="1410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是同一事件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并（和）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7126" y="3005614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∪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30218" y="3005614"/>
              <a:ext cx="1755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至少有一个发生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交（积）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47126" y="3454241"/>
              <a:ext cx="832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∩ B = AB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30218" y="3454241"/>
              <a:ext cx="123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同时发生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7126" y="3903821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− 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30218" y="3903821"/>
              <a:ext cx="1410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发生而 B 不发生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5244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互不相容（互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斥）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47126" y="4465796"/>
              <a:ext cx="522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 = 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30218" y="4465796"/>
              <a:ext cx="1583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不能同时发生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8872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50277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对立（互逆）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47126" y="5027771"/>
              <a:ext cx="1523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 = ∅ 且 A ∪ B = 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0218" y="5027771"/>
              <a:ext cx="210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中有且只有一个发生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6276022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034540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17632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ompare-1"/>
          <p:cNvGrpSpPr/>
          <p:nvPr/>
        </p:nvGrpSpPr>
        <p:grpSpPr>
          <a:xfrm>
            <a:off x="7114222" y="1524000"/>
            <a:ext cx="4544378" cy="2560320"/>
            <a:chOff x="7114222" y="1524000"/>
            <a:chExt cx="4544378" cy="2560320"/>
          </a:xfrm>
        </p:grpSpPr>
        <p:sp>
          <p:nvSpPr>
            <p:cNvPr id="45" name="Rectangle 45"/>
            <p:cNvSpPr/>
            <p:nvPr/>
          </p:nvSpPr>
          <p:spPr>
            <a:xfrm>
              <a:off x="7114222" y="1524000"/>
              <a:ext cx="2025015" cy="2560320"/>
            </a:xfrm>
            <a:prstGeom prst="roundRect">
              <a:avLst>
                <a:gd name="adj" fmla="val 65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3748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54252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互不相容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67588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25702" y="2112645"/>
              <a:ext cx="12824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只要求 AB = ∅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67588" y="2510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25702" y="2447925"/>
              <a:ext cx="115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允许两个都不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367588" y="31318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25702" y="3068955"/>
              <a:ext cx="115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三个以上事件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可以两两互斥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633585" y="1524000"/>
              <a:ext cx="2025015" cy="2560320"/>
            </a:xfrm>
            <a:prstGeom prst="roundRect">
              <a:avLst>
                <a:gd name="adj" fmla="val 658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35515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对立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848850" y="21755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06965" y="2112645"/>
              <a:ext cx="1177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 = ∅ 还要加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 A ∪ B = 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848850" y="27965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06965" y="273367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必有一个发生且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只有一个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848850" y="34175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006965" y="335470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只在两个事件之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间说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185910" y="260413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239250" y="27384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分清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7114222" y="4274820"/>
            <a:ext cx="4544378" cy="1066800"/>
            <a:chOff x="7114222" y="4274820"/>
            <a:chExt cx="4544378" cy="1066800"/>
          </a:xfrm>
        </p:grpSpPr>
        <p:sp>
          <p:nvSpPr>
            <p:cNvPr id="65" name="Rectangle 65"/>
            <p:cNvSpPr/>
            <p:nvPr/>
          </p:nvSpPr>
          <p:spPr>
            <a:xfrm>
              <a:off x="7114222" y="4274820"/>
              <a:ext cx="4544378" cy="1066800"/>
            </a:xfrm>
            <a:prstGeom prst="roundRect">
              <a:avLst>
                <a:gd name="adj" fmla="val 1071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06952" y="4704516"/>
              <a:ext cx="224134" cy="192560"/>
              <a:chOff x="7306952" y="4704516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419023" y="47748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306952" y="47045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419023" y="48526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620952" y="4565332"/>
              <a:ext cx="3549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对立一定互斥，互斥不一定对立。没有“三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个事件互为对立”这种说法。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2" name="Rectangle 7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130" y="5991225"/>
              <a:ext cx="69471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常用等价式：A ⊂ B 时 A ∪ B = B 且 AB = A；差总能化成积，A − B = A − AB。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事件的关系与运算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六张文氏图：把关系画出来就不会记混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venn0"/>
          <p:cNvGrpSpPr/>
          <p:nvPr/>
        </p:nvGrpSpPr>
        <p:grpSpPr>
          <a:xfrm>
            <a:off x="533400" y="1524000"/>
            <a:ext cx="3600450" cy="2343150"/>
            <a:chOff x="533400" y="1524000"/>
            <a:chExt cx="3600450" cy="2343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653064"/>
              <a:ext cx="845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包含 A ⊂ B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924050"/>
              <a:ext cx="3143250" cy="13716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5240">
              <a:solidFill>
                <a:srgbClr val="C7CDD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97615" y="30694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1847850" y="2057400"/>
              <a:ext cx="1104900" cy="1104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4B9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924050" y="2324100"/>
              <a:ext cx="571500" cy="571500"/>
            </a:xfrm>
            <a:prstGeom prst="ellipse">
              <a:avLst/>
            </a:prstGeom>
            <a:solidFill>
              <a:srgbClr val="A9BBE4"/>
            </a:solidFill>
            <a:ln w="19050">
              <a:solidFill>
                <a:srgbClr val="2F4B9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54418" y="25374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64018" y="21755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9135" y="3440906"/>
              <a:ext cx="1385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发生必导致 B 发生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9135" y="3631406"/>
              <a:ext cx="1237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∪ B = B，AB = A</a:t>
              </a:r>
            </a:p>
          </p:txBody>
        </p:sp>
      </p:grpSp>
      <p:grpSp>
        <p:nvGrpSpPr>
          <p:cNvPr id="28" name="venn1"/>
          <p:cNvGrpSpPr/>
          <p:nvPr/>
        </p:nvGrpSpPr>
        <p:grpSpPr>
          <a:xfrm>
            <a:off x="4286250" y="1524000"/>
            <a:ext cx="3600450" cy="2343150"/>
            <a:chOff x="4286250" y="1524000"/>
            <a:chExt cx="3600450" cy="2343150"/>
          </a:xfrm>
        </p:grpSpPr>
        <p:sp>
          <p:nvSpPr>
            <p:cNvPr id="18" name="Rectangle 18"/>
            <p:cNvSpPr/>
            <p:nvPr/>
          </p:nvSpPr>
          <p:spPr>
            <a:xfrm>
              <a:off x="4286250" y="152400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1223" y="1653064"/>
              <a:ext cx="12948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互不相容 AB = 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14850" y="1924050"/>
              <a:ext cx="3143250" cy="13716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5240">
              <a:solidFill>
                <a:srgbClr val="C7CDD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50465" y="30694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991100" y="2133600"/>
              <a:ext cx="952500" cy="952500"/>
            </a:xfrm>
            <a:prstGeom prst="ellipse">
              <a:avLst/>
            </a:prstGeom>
            <a:solidFill>
              <a:srgbClr val="D6DFF3"/>
            </a:solidFill>
            <a:ln w="19050">
              <a:solidFill>
                <a:srgbClr val="2F4B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11968" y="25374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229350" y="2133600"/>
              <a:ext cx="952500" cy="952500"/>
            </a:xfrm>
            <a:prstGeom prst="ellipse">
              <a:avLst/>
            </a:prstGeom>
            <a:solidFill>
              <a:srgbClr val="D6DFF3"/>
            </a:solidFill>
            <a:ln w="19050">
              <a:solidFill>
                <a:srgbClr val="2F4B9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0218" y="25374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1985" y="3440906"/>
              <a:ext cx="1289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A、B 不能同时发生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51985" y="3631406"/>
              <a:ext cx="1700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P(A ∪ B) = P(A) + P(B)</a:t>
              </a:r>
            </a:p>
          </p:txBody>
        </p:sp>
      </p:grpSp>
      <p:grpSp>
        <p:nvGrpSpPr>
          <p:cNvPr id="39" name="venn2"/>
          <p:cNvGrpSpPr/>
          <p:nvPr/>
        </p:nvGrpSpPr>
        <p:grpSpPr>
          <a:xfrm>
            <a:off x="8039100" y="1524000"/>
            <a:ext cx="3600450" cy="2343150"/>
            <a:chOff x="8039100" y="1524000"/>
            <a:chExt cx="3600450" cy="23431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52400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04073" y="1653064"/>
              <a:ext cx="1189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并（和） A ∪ 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67700" y="1924050"/>
              <a:ext cx="3143250" cy="13716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5240">
              <a:solidFill>
                <a:srgbClr val="C7CDD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203315" y="30694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896350" y="2114550"/>
              <a:ext cx="990600" cy="990600"/>
            </a:xfrm>
            <a:prstGeom prst="ellipse">
              <a:avLst/>
            </a:prstGeom>
            <a:solidFill>
              <a:srgbClr val="A9BBE4"/>
            </a:solidFill>
            <a:ln w="19050">
              <a:solidFill>
                <a:srgbClr val="2F4B9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791700" y="2114550"/>
              <a:ext cx="990600" cy="990600"/>
            </a:xfrm>
            <a:prstGeom prst="ellipse">
              <a:avLst/>
            </a:prstGeom>
            <a:solidFill>
              <a:srgbClr val="A9BBE4"/>
            </a:solidFill>
            <a:ln w="19050">
              <a:solidFill>
                <a:srgbClr val="2F4B9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50518" y="25374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17368" y="25374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04835" y="3440906"/>
              <a:ext cx="1440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A、B 至少有一个发生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04835" y="36314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至少有一个 = 并</a:t>
              </a:r>
            </a:p>
          </p:txBody>
        </p:sp>
      </p:grpSp>
      <p:grpSp>
        <p:nvGrpSpPr>
          <p:cNvPr id="51" name="venn3"/>
          <p:cNvGrpSpPr/>
          <p:nvPr/>
        </p:nvGrpSpPr>
        <p:grpSpPr>
          <a:xfrm>
            <a:off x="533400" y="4019550"/>
            <a:ext cx="3600450" cy="2343150"/>
            <a:chOff x="533400" y="4019550"/>
            <a:chExt cx="3600450" cy="2343150"/>
          </a:xfrm>
        </p:grpSpPr>
        <p:sp>
          <p:nvSpPr>
            <p:cNvPr id="40" name="Rectangle 40"/>
            <p:cNvSpPr/>
            <p:nvPr/>
          </p:nvSpPr>
          <p:spPr>
            <a:xfrm>
              <a:off x="533400" y="401955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8373" y="4148614"/>
              <a:ext cx="16198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交（积） A ∩ B = AB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2000" y="4419600"/>
              <a:ext cx="3143250" cy="13716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5240">
              <a:solidFill>
                <a:srgbClr val="C7CDD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97615" y="556498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1390650" y="4610100"/>
              <a:ext cx="990600" cy="990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2286000" y="4610100"/>
              <a:ext cx="990600" cy="990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4B9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270123" y="4893478"/>
              <a:ext cx="127005" cy="423843"/>
            </a:xfrm>
            <a:custGeom>
              <a:avLst/>
              <a:gdLst/>
              <a:ahLst/>
              <a:cxnLst/>
              <a:rect l="l" t="t" r="r" b="b"/>
              <a:pathLst>
                <a:path w="127005" h="423843">
                  <a:moveTo>
                    <a:pt x="63502" y="0"/>
                  </a:moveTo>
                  <a:cubicBezTo>
                    <a:pt x="127005" y="134145"/>
                    <a:pt x="127005" y="289698"/>
                    <a:pt x="63502" y="423843"/>
                  </a:cubicBezTo>
                  <a:cubicBezTo>
                    <a:pt x="0" y="289698"/>
                    <a:pt x="0" y="134145"/>
                    <a:pt x="63502" y="0"/>
                  </a:cubicBezTo>
                  <a:close/>
                </a:path>
              </a:pathLst>
            </a:custGeom>
            <a:solidFill>
              <a:srgbClr val="A9BBE4"/>
            </a:solidFill>
            <a:ln w="19050">
              <a:solidFill>
                <a:srgbClr val="2F4B9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44818" y="50330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11668" y="50330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9135" y="5936456"/>
              <a:ext cx="988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A、B 同时发生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9135" y="612695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同时发生 = 交</a:t>
              </a:r>
            </a:p>
          </p:txBody>
        </p:sp>
      </p:grpSp>
      <p:grpSp>
        <p:nvGrpSpPr>
          <p:cNvPr id="63" name="venn4"/>
          <p:cNvGrpSpPr/>
          <p:nvPr/>
        </p:nvGrpSpPr>
        <p:grpSpPr>
          <a:xfrm>
            <a:off x="4286250" y="4019550"/>
            <a:ext cx="3600450" cy="2343150"/>
            <a:chOff x="4286250" y="4019550"/>
            <a:chExt cx="3600450" cy="2343150"/>
          </a:xfrm>
        </p:grpSpPr>
        <p:sp>
          <p:nvSpPr>
            <p:cNvPr id="52" name="Rectangle 52"/>
            <p:cNvSpPr/>
            <p:nvPr/>
          </p:nvSpPr>
          <p:spPr>
            <a:xfrm>
              <a:off x="4286250" y="401955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451223" y="4148614"/>
              <a:ext cx="672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差 A − B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514850" y="4419600"/>
              <a:ext cx="3143250" cy="13716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5240">
              <a:solidFill>
                <a:srgbClr val="C7CDD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50465" y="556498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143500" y="4610100"/>
              <a:ext cx="990600" cy="990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6038850" y="4610100"/>
              <a:ext cx="990600" cy="990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4B9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143502" y="4571348"/>
              <a:ext cx="942973" cy="1068103"/>
            </a:xfrm>
            <a:custGeom>
              <a:avLst/>
              <a:gdLst/>
              <a:ahLst/>
              <a:cxnLst/>
              <a:rect l="l" t="t" r="r" b="b"/>
              <a:pathLst>
                <a:path w="942973" h="1068103">
                  <a:moveTo>
                    <a:pt x="942973" y="322130"/>
                  </a:moveTo>
                  <a:cubicBezTo>
                    <a:pt x="843836" y="112708"/>
                    <a:pt x="612760" y="0"/>
                    <a:pt x="386696" y="50805"/>
                  </a:cubicBezTo>
                  <a:cubicBezTo>
                    <a:pt x="160633" y="101610"/>
                    <a:pt x="0" y="302350"/>
                    <a:pt x="0" y="534052"/>
                  </a:cubicBezTo>
                  <a:cubicBezTo>
                    <a:pt x="0" y="765754"/>
                    <a:pt x="160633" y="966493"/>
                    <a:pt x="386696" y="1017298"/>
                  </a:cubicBezTo>
                  <a:cubicBezTo>
                    <a:pt x="612760" y="1068103"/>
                    <a:pt x="843836" y="955396"/>
                    <a:pt x="942973" y="745973"/>
                  </a:cubicBezTo>
                  <a:cubicBezTo>
                    <a:pt x="879471" y="611828"/>
                    <a:pt x="879471" y="456275"/>
                    <a:pt x="942973" y="322130"/>
                  </a:cubicBezTo>
                  <a:close/>
                </a:path>
              </a:pathLst>
            </a:custGeom>
            <a:solidFill>
              <a:srgbClr val="A9BBE4"/>
            </a:solidFill>
            <a:ln w="19050">
              <a:solidFill>
                <a:srgbClr val="2F4B9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97668" y="50330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64518" y="50330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451985" y="5936456"/>
              <a:ext cx="1234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发生而 B 不发生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451985" y="6126956"/>
              <a:ext cx="999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− B = A − AB</a:t>
              </a:r>
            </a:p>
          </p:txBody>
        </p:sp>
      </p:grpSp>
      <p:grpSp>
        <p:nvGrpSpPr>
          <p:cNvPr id="75" name="venn5"/>
          <p:cNvGrpSpPr/>
          <p:nvPr/>
        </p:nvGrpSpPr>
        <p:grpSpPr>
          <a:xfrm>
            <a:off x="8039100" y="4019550"/>
            <a:ext cx="3600450" cy="2343150"/>
            <a:chOff x="8039100" y="4019550"/>
            <a:chExt cx="3600450" cy="2343150"/>
          </a:xfrm>
        </p:grpSpPr>
        <p:sp>
          <p:nvSpPr>
            <p:cNvPr id="64" name="Rectangle 64"/>
            <p:cNvSpPr/>
            <p:nvPr/>
          </p:nvSpPr>
          <p:spPr>
            <a:xfrm>
              <a:off x="8039100" y="401955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204073" y="4148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对立（互逆）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267700" y="4419600"/>
              <a:ext cx="3143250" cy="13716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5240">
              <a:solidFill>
                <a:srgbClr val="C7CDD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203315" y="556498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4419600"/>
              <a:ext cx="3143250" cy="1371600"/>
            </a:xfrm>
            <a:prstGeom prst="roundRect">
              <a:avLst>
                <a:gd name="adj" fmla="val 4167"/>
              </a:avLst>
            </a:prstGeom>
            <a:solidFill>
              <a:srgbClr val="A9BBE4"/>
            </a:solidFill>
            <a:ln w="15240">
              <a:solidFill>
                <a:srgbClr val="C7CDD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203315" y="556498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12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972550" y="4610100"/>
              <a:ext cx="990600" cy="990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4B9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12468" y="50330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231682" y="5041106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 的对立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04835" y="59364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恰好有一个发生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04835" y="6126956"/>
              <a:ext cx="1333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∪ Ā = Ω 且 AĀ = ∅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事件的关系与运算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八条运算律：对偶律和差化积最常用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193982" cy="2692718"/>
            <a:chOff x="533400" y="1524000"/>
            <a:chExt cx="5193982" cy="2692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1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226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4223" y="2108359"/>
              <a:ext cx="182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∪ B = B ∪ A；AB = BA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结合律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84223" y="2556986"/>
              <a:ext cx="344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∪ B) ∪ C = A ∪ (B ∪ C)；(AB)C = A(BC)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84223" y="3005614"/>
              <a:ext cx="3653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∪ B)C = AC ∪ BC；A ∪ BC = (A ∪ B)(A ∪ C)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吸收律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84223" y="3454241"/>
              <a:ext cx="2450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 ⊂ B，则 A ∪ B = B，AB = 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84223" y="3903821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 → 交 → 并与差，括号优先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19398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7163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407218"/>
            <a:ext cx="5193982" cy="782955"/>
            <a:chOff x="533400" y="4407218"/>
            <a:chExt cx="5193982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440721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4694991"/>
              <a:ext cx="224134" cy="192560"/>
              <a:chOff x="726129" y="4694991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47653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46949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48431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455580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分配律有两个方向，第二个方向（并对交分配）最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容易忘，例3 就要用它。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032182" y="1524000"/>
            <a:ext cx="5626418" cy="1902142"/>
            <a:chOff x="6032182" y="1524000"/>
            <a:chExt cx="5626418" cy="1902142"/>
          </a:xfrm>
        </p:grpSpPr>
        <p:sp>
          <p:nvSpPr>
            <p:cNvPr id="36" name="Rectangle 36"/>
            <p:cNvSpPr/>
            <p:nvPr/>
          </p:nvSpPr>
          <p:spPr>
            <a:xfrm>
              <a:off x="6032182" y="1524000"/>
              <a:ext cx="5626418" cy="1902142"/>
            </a:xfrm>
            <a:prstGeom prst="roundRect">
              <a:avLst>
                <a:gd name="adj" fmla="val 70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1708" y="1657350"/>
              <a:ext cx="47625" cy="16354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79832" y="1733550"/>
              <a:ext cx="165258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29643" y="1769269"/>
              <a:ext cx="15520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对偶律（De Morgan）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5"/>
                <p:cNvSpPr txBox="1">
                  <a:spLocks noGrp="1"/>
                </p:cNvSpPr>
                <p:nvPr/>
              </p:nvSpPr>
              <p:spPr>
                <a:xfrm>
                  <a:off x="6279832" y="208597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ba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bar>
                          <m:barPr>
                            <m:pos m:val="top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bar>
                          <m:barPr>
                            <m:pos m:val="top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  <m:bar>
                          <m:barPr>
                            <m:pos m:val="top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ba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6"/>
                <p:cNvSpPr txBox="1">
                  <a:spLocks noGrp="1"/>
                </p:cNvSpPr>
                <p:nvPr/>
              </p:nvSpPr>
              <p:spPr>
                <a:xfrm>
                  <a:off x="6279832" y="2600325"/>
                  <a:ext cx="5169218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nary>
                              <m:naryPr>
                                <m:chr m:val="⋃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e>
                        </m:ba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⋂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ba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bar>
                          <m:barPr>
                            <m:pos m:val="top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nary>
                              <m:naryPr>
                                <m:chr m:val="⋂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e>
                        </m:ba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⋃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ba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7" name="c2-card-2"/>
          <p:cNvGrpSpPr/>
          <p:nvPr/>
        </p:nvGrpSpPr>
        <p:grpSpPr>
          <a:xfrm>
            <a:off x="6032182" y="3616642"/>
            <a:ext cx="5626418" cy="1573530"/>
            <a:chOff x="6032182" y="3616642"/>
            <a:chExt cx="5626418" cy="1573530"/>
          </a:xfrm>
        </p:grpSpPr>
        <p:sp>
          <p:nvSpPr>
            <p:cNvPr id="43" name="Rectangle 43"/>
            <p:cNvSpPr/>
            <p:nvPr/>
          </p:nvSpPr>
          <p:spPr>
            <a:xfrm>
              <a:off x="6032182" y="3616642"/>
              <a:ext cx="5626418" cy="1573530"/>
            </a:xfrm>
            <a:prstGeom prst="roundRect">
              <a:avLst>
                <a:gd name="adj" fmla="val 847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1732" y="382619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19139" y="38619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差化积与逆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7"/>
                <p:cNvSpPr txBox="1">
                  <a:spLocks noGrp="1"/>
                </p:cNvSpPr>
                <p:nvPr/>
              </p:nvSpPr>
              <p:spPr>
                <a:xfrm>
                  <a:off x="6241732" y="4178618"/>
                  <a:ext cx="5207318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bar>
                          <m:barPr>
                            <m:pos m:val="top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AB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bar>
                          <m:barPr>
                            <m:pos m:val="top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bar>
                              <m:barPr>
                                <m:pos m:val="top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</m:e>
                        </m:ba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对偶律的一句话记法：横线越过运算符时，并与交互换。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4480" cy="909257"/>
            <a:chOff x="520446" y="342900"/>
            <a:chExt cx="62744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事件的关系与运算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44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把“至少”“不多于”翻译成事件表达式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480223" cy="278702"/>
            <a:chOff x="526161" y="1547336"/>
            <a:chExt cx="548022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4802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A、B、C 是同一试验 E 的三个事件，用它们表示下面四句话。</a:t>
              </a:r>
            </a:p>
          </p:txBody>
        </p:sp>
      </p:grpSp>
      <p:grpSp>
        <p:nvGrpSpPr>
          <p:cNvPr id="25" name="c1-card-1"/>
          <p:cNvGrpSpPr/>
          <p:nvPr/>
        </p:nvGrpSpPr>
        <p:grpSpPr>
          <a:xfrm>
            <a:off x="533400" y="1941195"/>
            <a:ext cx="4977765" cy="1860232"/>
            <a:chOff x="533400" y="1941195"/>
            <a:chExt cx="4977765" cy="186023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6630" y="216789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3905" y="247840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9583" y="25167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4702" y="2490788"/>
              <a:ext cx="1833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发生，C 不发生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3905" y="278130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583" y="28196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4702" y="2792730"/>
              <a:ext cx="2205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 中至少有一个发生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3905" y="308324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9583" y="31216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4702" y="3095625"/>
              <a:ext cx="2023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 不多于两个发生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3905" y="338613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9583" y="34245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4702" y="3398520"/>
              <a:ext cx="2205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 中至少有两个发生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976688"/>
            <a:ext cx="4977765" cy="1511618"/>
            <a:chOff x="533400" y="3976688"/>
            <a:chExt cx="4977765" cy="1511618"/>
          </a:xfrm>
        </p:grpSpPr>
        <p:sp>
          <p:nvSpPr>
            <p:cNvPr id="26" name="Rectangle 26"/>
            <p:cNvSpPr/>
            <p:nvPr/>
          </p:nvSpPr>
          <p:spPr>
            <a:xfrm>
              <a:off x="533400" y="3976688"/>
              <a:ext cx="4977765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110038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41690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5345" y="42033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72478" y="458152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8497" y="4525328"/>
              <a:ext cx="4093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至少有一个 → 并；同时发生 → 交；不发生 → 取对立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488442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4828222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“不多于两个”正面写要分三类，先写它的对立“三个都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发生”再取逆，快得多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5815965" y="1941195"/>
            <a:ext cx="5842635" cy="1586865"/>
            <a:chOff x="5815965" y="1941195"/>
            <a:chExt cx="5842635" cy="1586865"/>
          </a:xfrm>
        </p:grpSpPr>
        <p:sp>
          <p:nvSpPr>
            <p:cNvPr id="35" name="Rectangle 35"/>
            <p:cNvSpPr/>
            <p:nvPr/>
          </p:nvSpPr>
          <p:spPr>
            <a:xfrm>
              <a:off x="5815965" y="1941195"/>
              <a:ext cx="5842635" cy="1586865"/>
            </a:xfrm>
            <a:prstGeom prst="roundRect">
              <a:avLst>
                <a:gd name="adj" fmla="val 840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08370" y="213360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03811" y="21678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12"/>
                <p:cNvSpPr txBox="1">
                  <a:spLocks noGrp="1"/>
                </p:cNvSpPr>
                <p:nvPr/>
              </p:nvSpPr>
              <p:spPr>
                <a:xfrm>
                  <a:off x="6008370" y="2467928"/>
                  <a:ext cx="5457825" cy="8505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</m: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ABC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</m: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AC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BC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5" name="c2-callout-2"/>
          <p:cNvGrpSpPr/>
          <p:nvPr/>
        </p:nvGrpSpPr>
        <p:grpSpPr>
          <a:xfrm>
            <a:off x="5815965" y="3703320"/>
            <a:ext cx="5842635" cy="1784985"/>
            <a:chOff x="5815965" y="3703320"/>
            <a:chExt cx="5842635" cy="1784985"/>
          </a:xfrm>
        </p:grpSpPr>
        <p:sp>
          <p:nvSpPr>
            <p:cNvPr id="40" name="Rectangle 40"/>
            <p:cNvSpPr/>
            <p:nvPr/>
          </p:nvSpPr>
          <p:spPr>
            <a:xfrm>
              <a:off x="5815965" y="3703320"/>
              <a:ext cx="5842635" cy="1784985"/>
            </a:xfrm>
            <a:prstGeom prst="roundRect">
              <a:avLst>
                <a:gd name="adj" fmla="val 640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020753" y="4495800"/>
              <a:ext cx="200026" cy="200026"/>
              <a:chOff x="6020753" y="4495800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020753" y="44958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087428" y="45735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323457" y="4377690"/>
              <a:ext cx="48400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(4) 也可以按“恰好两个”与“三个都发生”分成四项写，合并之后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就是 AB ∪ AC ∪ BC。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6" name="Rectangle 4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6201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“不多于两个发生”包含 0 个、1 个、2 个三种情况，不等于“恰好两个发生”。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事件的关系与运算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三个零件：六句话，六个表达式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94484" cy="308039"/>
            <a:chOff x="525399" y="1550194"/>
            <a:chExt cx="70944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944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某工人加工三个零件，Aᵢ 表示事件“第 i 个零件是合格品”（i = 1, 2, 3）。</a:t>
              </a:r>
            </a:p>
          </p:txBody>
        </p:sp>
      </p:grpSp>
      <p:grpSp>
        <p:nvGrpSpPr>
          <p:cNvPr id="28" name="c1-bullets-1"/>
          <p:cNvGrpSpPr/>
          <p:nvPr/>
        </p:nvGrpSpPr>
        <p:grpSpPr>
          <a:xfrm>
            <a:off x="525780" y="1992630"/>
            <a:ext cx="2747010" cy="2371725"/>
            <a:chOff x="525780" y="1992630"/>
            <a:chExt cx="2747010" cy="237172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要表示的事件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3362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375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34696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只有第一个零件是合格品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7843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720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691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只有一个零件是合格品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0232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065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03657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至少有一个零件是合格品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36804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410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3813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最多有一个零件是合格品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7128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37551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3726180"/>
              <a:ext cx="18023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个零件都是合格品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05765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4099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40709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至少有一个零件是不合格品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495800"/>
            <a:ext cx="4544378" cy="782955"/>
            <a:chOff x="533400" y="4495800"/>
            <a:chExt cx="4544378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4495800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4787265"/>
              <a:ext cx="200026" cy="200025"/>
              <a:chOff x="738188" y="4787265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47872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48317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49428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4644390"/>
              <a:ext cx="3672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“只有”“最多”这类词要把三个零件的状态逐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个写清楚，漏掉“其余不合格”就错。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5382578" y="1967865"/>
            <a:ext cx="6276022" cy="3310890"/>
            <a:chOff x="5382578" y="1967865"/>
            <a:chExt cx="6276022" cy="3310890"/>
          </a:xfrm>
        </p:grpSpPr>
        <p:sp>
          <p:nvSpPr>
            <p:cNvPr id="36" name="Rectangle 36"/>
            <p:cNvSpPr/>
            <p:nvPr/>
          </p:nvSpPr>
          <p:spPr>
            <a:xfrm>
              <a:off x="5382578" y="1967865"/>
              <a:ext cx="6276022" cy="3310890"/>
            </a:xfrm>
            <a:prstGeom prst="roundRect">
              <a:avLst>
                <a:gd name="adj" fmla="val 402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92128" y="21774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87238" y="22131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15"/>
                <p:cNvSpPr txBox="1">
                  <a:spLocks noGrp="1"/>
                </p:cNvSpPr>
                <p:nvPr/>
              </p:nvSpPr>
              <p:spPr>
                <a:xfrm>
                  <a:off x="5592128" y="2529840"/>
                  <a:ext cx="5856922" cy="6257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ba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bar>
                          </m: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ba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ba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ba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ba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</m:e>
                            </m:ba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16"/>
                <p:cNvSpPr txBox="1">
                  <a:spLocks noGrp="1"/>
                </p:cNvSpPr>
                <p:nvPr/>
              </p:nvSpPr>
              <p:spPr>
                <a:xfrm>
                  <a:off x="5592128" y="3250882"/>
                  <a:ext cx="5856922" cy="6610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∪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∪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bar>
                          </m: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ba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9142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(3) 和 (6) 展示了同一件事的两种写法：正面列举与取对立。考试里写哪一种都对，取对立通常更短。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4782" cy="909257"/>
            <a:chOff x="520446" y="342900"/>
            <a:chExt cx="58247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事件的关系与运算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4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化简：先拆外层的逆，再用分配律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2038350"/>
            <a:chOff x="533400" y="1524000"/>
            <a:chExt cx="4760595" cy="2038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424" y="1769269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例3-1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5900" y="1768792"/>
              <a:ext cx="1987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化简 (A ∪ B)(B ∪ C)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直接展开会得到四项，不如反着用分配律。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30339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AC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4573" y="2918936"/>
              <a:ext cx="3930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对照分配律 A ∪ BC = (A ∪ B)(A ∪ C)，把公共的 B 当成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那个“A”即可。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752850"/>
            <a:ext cx="4760595" cy="782955"/>
            <a:chOff x="533400" y="3752850"/>
            <a:chExt cx="4760595" cy="782955"/>
          </a:xfrm>
        </p:grpSpPr>
        <p:sp>
          <p:nvSpPr>
            <p:cNvPr id="16" name="Rectangle 16"/>
            <p:cNvSpPr/>
            <p:nvPr/>
          </p:nvSpPr>
          <p:spPr>
            <a:xfrm>
              <a:off x="533400" y="375285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044315"/>
              <a:ext cx="200026" cy="200025"/>
              <a:chOff x="738188" y="4044315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0443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40887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41998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390144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两个括号里有公共事件时，优先反用分配律把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它提出来。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5598795" y="1524000"/>
            <a:ext cx="6059805" cy="3011805"/>
            <a:chOff x="5598795" y="1524000"/>
            <a:chExt cx="6059805" cy="3011805"/>
          </a:xfrm>
        </p:grpSpPr>
        <p:sp>
          <p:nvSpPr>
            <p:cNvPr id="23" name="Rectangle 23"/>
            <p:cNvSpPr/>
            <p:nvPr/>
          </p:nvSpPr>
          <p:spPr>
            <a:xfrm>
              <a:off x="5598795" y="1524000"/>
              <a:ext cx="6059805" cy="3011805"/>
            </a:xfrm>
            <a:prstGeom prst="roundRect">
              <a:avLst>
                <a:gd name="adj" fmla="val 44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608320" y="1657350"/>
              <a:ext cx="47625" cy="27451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46445" y="1733550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33819" y="1769269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例3-2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20"/>
                <p:cNvSpPr txBox="1">
                  <a:spLocks noGrp="1"/>
                </p:cNvSpPr>
                <p:nvPr/>
              </p:nvSpPr>
              <p:spPr>
                <a:xfrm>
                  <a:off x="5846445" y="2085975"/>
                  <a:ext cx="5602605" cy="11658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</m:ba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</m:t>
                                        </m:r>
                                      </m:e>
                                    </m:ba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∪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</m:d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AC</m:t>
                                    </m:r>
                                  </m:e>
                                </m:bar>
                              </m:e>
                            </m:ba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ba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ba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∪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AC</m:t>
                            </m:r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ba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ba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AC</m:t>
                            </m:r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∪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AC</m:t>
                            </m:r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AC</m:t>
                            </m:r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</m:ba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∪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ba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728335"/>
              <a:ext cx="9511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化简的固定顺序：对偶律拆掉最外层的横线 → 分配律展开 → 用 A ∪ 非A = Ω 与吸收律合并。结果已用真值表逐行验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580638" cy="2997517"/>
            <a:chOff x="667512" y="1835468"/>
            <a:chExt cx="358063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频率与概率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先有频率的稳定值，才有概率这个数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频率的定义与三条性质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概率的统计定义与公理化定义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七条性质：减法公式与加法公式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3355" cy="909257"/>
            <a:chOff x="520446" y="342900"/>
            <a:chExt cx="59133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频率与概率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33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频率：做 n 次试验，A 出现了多大比例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879282"/>
            <a:chOff x="533400" y="1524000"/>
            <a:chExt cx="5193982" cy="18792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79282"/>
            </a:xfrm>
            <a:prstGeom prst="roundRect">
              <a:avLst>
                <a:gd name="adj" fmla="val 70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258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频数与频率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4199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把试验 E 在相同条件下重复 n 次，事件 A 发生 n_A 次，称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n_A 为频数。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5"/>
                <p:cNvSpPr txBox="1">
                  <a:spLocks noGrp="1"/>
                </p:cNvSpPr>
                <p:nvPr/>
              </p:nvSpPr>
              <p:spPr>
                <a:xfrm>
                  <a:off x="763905" y="2627948"/>
                  <a:ext cx="477107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1-card-2"/>
          <p:cNvGrpSpPr/>
          <p:nvPr/>
        </p:nvGrpSpPr>
        <p:grpSpPr>
          <a:xfrm>
            <a:off x="533400" y="3578542"/>
            <a:ext cx="5193982" cy="2048828"/>
            <a:chOff x="533400" y="3578542"/>
            <a:chExt cx="5193982" cy="2048828"/>
          </a:xfrm>
        </p:grpSpPr>
        <p:sp>
          <p:nvSpPr>
            <p:cNvPr id="15" name="Rectangle 15"/>
            <p:cNvSpPr/>
            <p:nvPr/>
          </p:nvSpPr>
          <p:spPr>
            <a:xfrm>
              <a:off x="533400" y="3578542"/>
              <a:ext cx="5193982" cy="204882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11892"/>
              <a:ext cx="47625" cy="178212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77094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5342" y="380523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频率的三条性质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3905" y="411480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9583" y="41541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4702" y="4127182"/>
              <a:ext cx="3143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非负性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：对任意事件 A，0 ≤ fₙ(A) ≤ 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3905" y="441769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9583" y="44560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4702" y="4430078"/>
              <a:ext cx="2825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规范性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：对必然事件 Ω，fₙ(Ω) = 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3905" y="472059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9583" y="47589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4702" y="4732020"/>
              <a:ext cx="42142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有限可加性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：A₁, …, A_m 两两互不相容时，并的频率等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于频率之和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026848" y="1524000"/>
            <a:ext cx="5631752" cy="2714244"/>
            <a:chOff x="6026848" y="1524000"/>
            <a:chExt cx="5631752" cy="2714244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657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试验者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40741" y="164830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抛掷次数 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4629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正面次数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1775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正面的频率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32195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德摩根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3664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98121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1061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49602" y="205406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0.5181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32195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蒲丰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3664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4040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98121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9602" y="24598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0.5069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2195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费歇尔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40738" y="2865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98121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4979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49602" y="28655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0.4979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32182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32195" y="32713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皮尔逊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40738" y="3271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98121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6019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49602" y="32713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0.5016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32195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皮尔逊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40738" y="3677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15195" y="3677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49602" y="36771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1524000"/>
              <a:ext cx="562641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5995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76204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13650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26848" y="403288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掷一枚硬币，观察正面向上的次数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032182" y="4371975"/>
            <a:ext cx="5626418" cy="1254442"/>
            <a:chOff x="6032182" y="4371975"/>
            <a:chExt cx="5626418" cy="1254442"/>
          </a:xfrm>
        </p:grpSpPr>
        <p:sp>
          <p:nvSpPr>
            <p:cNvPr id="66" name="Rectangle 66"/>
            <p:cNvSpPr/>
            <p:nvPr/>
          </p:nvSpPr>
          <p:spPr>
            <a:xfrm>
              <a:off x="6032182" y="4371975"/>
              <a:ext cx="5626418" cy="1254442"/>
            </a:xfrm>
            <a:prstGeom prst="roundRect">
              <a:avLst>
                <a:gd name="adj" fmla="val 106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24588" y="456438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08027" y="45986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两条现象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233160" y="497776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89180" y="4921568"/>
              <a:ext cx="4884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频率有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随机波动性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：同样掷 2048 次，两个人的结果不会一样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233160" y="527970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89180" y="5223510"/>
              <a:ext cx="4918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频率有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稳定性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：n 越大，fₙ(A) 越稳定地在某个常数附近摆动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4" name="Rectangle 7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6023610"/>
              <a:ext cx="10281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Dewey 统计 438023 个英语单词，字母 E 出现频率 0.1268、Z 只有 0.0006。键盘布局和密码破译都以这种稳定的频率为依据。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频率与概率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概率的两种定义：一种告诉你怎么估，一种告诉你它是什么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152650"/>
            <a:chOff x="533400" y="1524000"/>
            <a:chExt cx="5193982" cy="2152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统计定义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概率是频率的稳定值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82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在相同条件下重复 n 次试验，当 n 增大时事件 A 发生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的频率稳定地在常数 p 附近摆动，就称 p 为事件 A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概率，记作 P(A)。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33236"/>
              <a:ext cx="4418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这个定义直观，但它依赖“稳定”这种说不清的说法，也无法用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来证明定理。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867150"/>
            <a:ext cx="5193982" cy="1079182"/>
            <a:chOff x="533400" y="3867150"/>
            <a:chExt cx="5193982" cy="1079182"/>
          </a:xfrm>
        </p:grpSpPr>
        <p:sp>
          <p:nvSpPr>
            <p:cNvPr id="15" name="Rectangle 15"/>
            <p:cNvSpPr/>
            <p:nvPr/>
          </p:nvSpPr>
          <p:spPr>
            <a:xfrm>
              <a:off x="533400" y="3867150"/>
              <a:ext cx="5193982" cy="1079182"/>
            </a:xfrm>
            <a:prstGeom prst="roundRect">
              <a:avLst>
                <a:gd name="adj" fmla="val 105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6129" y="4302561"/>
              <a:ext cx="224134" cy="192560"/>
              <a:chOff x="726129" y="4302561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8200" y="43729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6129" y="43025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4507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16337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频率是试验做出来的，会变；概率是这个试验本身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固有的数，不变。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032182" y="1524000"/>
            <a:ext cx="5626418" cy="3422332"/>
            <a:chOff x="6032182" y="1524000"/>
            <a:chExt cx="5626418" cy="3422332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3422332"/>
            </a:xfrm>
            <a:prstGeom prst="roundRect">
              <a:avLst>
                <a:gd name="adj" fmla="val 38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31556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983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723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公理化定义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662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柯尔莫哥洛夫的三条公理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2212" y="2129790"/>
              <a:ext cx="4892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Ω 是试验 E 的样本空间。若对 Ω 中每个事件 A 都有唯一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实数 P(A) 与之对应，且满足下面三条，就称 P(A) 为事件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的概率。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79832" y="30232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1682" y="3065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80823" y="3036570"/>
              <a:ext cx="3048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非负性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：对任意事件 A，P(A) ≥ 0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79832" y="33585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1682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80823" y="3371850"/>
              <a:ext cx="1655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规范性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：P(Ω) = 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79832" y="36937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1682" y="37360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80823" y="3707130"/>
              <a:ext cx="3653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可列可加性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：A₁, A₂, … 两两互不相容时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7"/>
                <p:cNvSpPr txBox="1">
                  <a:spLocks noGrp="1"/>
                </p:cNvSpPr>
                <p:nvPr/>
              </p:nvSpPr>
              <p:spPr>
                <a:xfrm>
                  <a:off x="6279832" y="4017645"/>
                  <a:ext cx="5169218" cy="700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⋃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101319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后面所有性质都是从这三条公理推出来的，不再依赖“做试验”。公理里只有可列可加性，有限可加性是它的推论。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频率与概率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概率的七条性质：逆事件、减法、加法三个公式最常用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626418" cy="1906905"/>
            <a:chOff x="533400" y="1524000"/>
            <a:chExt cx="5626418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203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747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不可能事件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78724" y="202311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P(∅) = 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有限可加性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8724" y="2404110"/>
              <a:ext cx="398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A₁, …, Aₙ 两两互斥时，P(A₁ ∪ … ∪ Aₙ) = P(A₁) + … + P(Aₙ)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8724" y="2785110"/>
              <a:ext cx="3599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 ⊂ B，则 P(A) ≤ P(B)，且 P(B − A) = P(B) − P(A)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有界性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78724" y="3167062"/>
              <a:ext cx="18220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对任一事件 A，0 ≤ P(A) ≤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7928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3595688"/>
            <a:ext cx="5626418" cy="2699385"/>
            <a:chOff x="533400" y="3595688"/>
            <a:chExt cx="5626418" cy="2699385"/>
          </a:xfrm>
        </p:grpSpPr>
        <p:sp>
          <p:nvSpPr>
            <p:cNvPr id="26" name="Rectangle 26"/>
            <p:cNvSpPr/>
            <p:nvPr/>
          </p:nvSpPr>
          <p:spPr>
            <a:xfrm>
              <a:off x="533400" y="3595688"/>
              <a:ext cx="5626418" cy="2699385"/>
            </a:xfrm>
            <a:prstGeom prst="roundRect">
              <a:avLst>
                <a:gd name="adj" fmla="val 49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729038"/>
              <a:ext cx="47625" cy="2432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3776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147" y="3809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41690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4117181"/>
              <a:ext cx="4686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A ⊂ B 时才有 P(B − A) = P(B) − P(A)；一般情形要用减法公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469677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4644866"/>
              <a:ext cx="4343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= 0 不能推出 A = ∅，几何概型里随处可见这种事件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524000"/>
            <a:ext cx="5193982" cy="1983105"/>
            <a:chOff x="6464618" y="1524000"/>
            <a:chExt cx="5193982" cy="1983105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1983105"/>
            </a:xfrm>
            <a:prstGeom prst="roundRect">
              <a:avLst>
                <a:gd name="adj" fmla="val 67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45592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23012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三个必背公式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46"/>
                <p:cNvSpPr txBox="1">
                  <a:spLocks noGrp="1"/>
                </p:cNvSpPr>
                <p:nvPr/>
              </p:nvSpPr>
              <p:spPr>
                <a:xfrm>
                  <a:off x="6645592" y="2024062"/>
                  <a:ext cx="483203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47"/>
                <p:cNvSpPr txBox="1">
                  <a:spLocks noGrp="1"/>
                </p:cNvSpPr>
                <p:nvPr/>
              </p:nvSpPr>
              <p:spPr>
                <a:xfrm>
                  <a:off x="6645592" y="2486025"/>
                  <a:ext cx="483203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48"/>
                <p:cNvSpPr txBox="1">
                  <a:spLocks noGrp="1"/>
                </p:cNvSpPr>
                <p:nvPr/>
              </p:nvSpPr>
              <p:spPr>
                <a:xfrm>
                  <a:off x="6645592" y="2947988"/>
                  <a:ext cx="483203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4" name="c2-card-2"/>
          <p:cNvGrpSpPr/>
          <p:nvPr/>
        </p:nvGrpSpPr>
        <p:grpSpPr>
          <a:xfrm>
            <a:off x="6464618" y="3671888"/>
            <a:ext cx="5193982" cy="1756410"/>
            <a:chOff x="6464618" y="3671888"/>
            <a:chExt cx="5193982" cy="1756410"/>
          </a:xfrm>
        </p:grpSpPr>
        <p:sp>
          <p:nvSpPr>
            <p:cNvPr id="42" name="Rectangle 42"/>
            <p:cNvSpPr/>
            <p:nvPr/>
          </p:nvSpPr>
          <p:spPr>
            <a:xfrm>
              <a:off x="6464618" y="3671888"/>
              <a:ext cx="5193982" cy="1756410"/>
            </a:xfrm>
            <a:prstGeom prst="roundRect">
              <a:avLst>
                <a:gd name="adj" fmla="val 7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3805238"/>
              <a:ext cx="47625" cy="14897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83692" y="385286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61112" y="38857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按问法选公式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93218" y="42452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48666" y="4193381"/>
              <a:ext cx="3034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求“都不发生”：先算 P(A ∪ B)，再取逆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93218" y="4530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48666" y="4478179"/>
              <a:ext cx="2828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求“只发生一个”：P(A ∪ B) − P(AB)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93218" y="481584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48666" y="4762976"/>
              <a:ext cx="2787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求“至少发生一个”：直接用加法公式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93218" y="51006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48666" y="5047774"/>
              <a:ext cx="2639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求“A 发生而 B 不发生”：减法公式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464618" y="5593080"/>
            <a:ext cx="5193982" cy="702945"/>
            <a:chOff x="6464618" y="5593080"/>
            <a:chExt cx="5193982" cy="702945"/>
          </a:xfrm>
        </p:grpSpPr>
        <p:sp>
          <p:nvSpPr>
            <p:cNvPr id="55" name="Rectangle 55"/>
            <p:cNvSpPr/>
            <p:nvPr/>
          </p:nvSpPr>
          <p:spPr>
            <a:xfrm>
              <a:off x="6464618" y="5593080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69405" y="5844540"/>
              <a:ext cx="200026" cy="200025"/>
              <a:chOff x="6669405" y="5844540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69405" y="58445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09144" y="58889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43859" y="60001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2491" y="5737384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题目里出现“至少”“不多于”“都不”，先想逆事件公式，往往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比正面算少一半工夫。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频率与概率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加法公式：先加单个，再减重复，交替进行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486650" cy="293370"/>
            <a:chOff x="525780" y="1548765"/>
            <a:chExt cx="74866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并的概率不能直接相加，被重复计入的交必须减掉；三个以上事件按容斥交替加减。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55"/>
              <p:cNvSpPr txBox="1">
                <a:spLocks noGrp="1"/>
              </p:cNvSpPr>
              <p:nvPr/>
            </p:nvSpPr>
            <p:spPr>
              <a:xfrm>
                <a:off x="533400" y="1954530"/>
                <a:ext cx="11125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∪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56"/>
              <p:cNvSpPr txBox="1">
                <a:spLocks noGrp="1"/>
              </p:cNvSpPr>
              <p:nvPr/>
            </p:nvSpPr>
            <p:spPr>
              <a:xfrm>
                <a:off x="533400" y="2578418"/>
                <a:ext cx="11125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∪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∪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ABC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57"/>
              <p:cNvSpPr txBox="1">
                <a:spLocks noGrp="1"/>
              </p:cNvSpPr>
              <p:nvPr/>
            </p:nvSpPr>
            <p:spPr>
              <a:xfrm>
                <a:off x="533400" y="3144202"/>
                <a:ext cx="11125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−⋯+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1" name="c1-table-4"/>
          <p:cNvGrpSpPr/>
          <p:nvPr/>
        </p:nvGrpSpPr>
        <p:grpSpPr>
          <a:xfrm>
            <a:off x="533400" y="3863340"/>
            <a:ext cx="11125200" cy="1720215"/>
            <a:chOff x="533400" y="3863340"/>
            <a:chExt cx="11125200" cy="1720215"/>
          </a:xfrm>
        </p:grpSpPr>
        <p:sp>
          <p:nvSpPr>
            <p:cNvPr id="12" name="Rectangle 12"/>
            <p:cNvSpPr/>
            <p:nvPr/>
          </p:nvSpPr>
          <p:spPr>
            <a:xfrm>
              <a:off x="533400" y="386334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19944" y="399478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事件个数 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85731" y="3994785"/>
              <a:ext cx="118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右端项数 2ⁿ − 1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61882" y="39947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互斥时退化成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68476" y="44243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27307" y="442436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1966" y="4424362"/>
              <a:ext cx="95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+ P(B)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7186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72344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68476" y="48548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27307" y="48548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1966" y="4854892"/>
              <a:ext cx="1531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+ P(B) + P(C)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1492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68476" y="52844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45570" y="528447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 − 1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1966" y="528447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所有单项之和（有限可加性）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63340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05225" y="386334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41858" y="386334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2" name="Rectangle 3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6004084"/>
              <a:ext cx="8148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两两互斥只能保证两两的交为空，n ≥ 3 时仍要检查三重交；但两两互斥已足以让所有交项为空。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4782" cy="909257"/>
            <a:chOff x="520446" y="342900"/>
            <a:chExt cx="58247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频率与概率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4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 已知两两交的概率，求三事件的并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348984" cy="293370"/>
            <a:chOff x="525780" y="1548765"/>
            <a:chExt cx="634898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3489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P(A) = P(B) = P(C) = 1/3，P(AB) = P(AC) = 1/8，P(BC) = 0。</a:t>
              </a:r>
            </a:p>
          </p:txBody>
        </p:sp>
      </p:grpSp>
      <p:grpSp>
        <p:nvGrpSpPr>
          <p:cNvPr id="22" name="c1-card-1"/>
          <p:cNvGrpSpPr/>
          <p:nvPr/>
        </p:nvGrpSpPr>
        <p:grpSpPr>
          <a:xfrm>
            <a:off x="533400" y="1954530"/>
            <a:ext cx="4544378" cy="1982152"/>
            <a:chOff x="533400" y="1954530"/>
            <a:chExt cx="4544378" cy="198215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544378" cy="1982152"/>
            </a:xfrm>
            <a:prstGeom prst="roundRect">
              <a:avLst>
                <a:gd name="adj" fmla="val 6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7154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867" y="219408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6736" y="219789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要求的四个量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60985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550319"/>
              <a:ext cx="17154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的对立事件的概率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29298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2870359"/>
              <a:ext cx="8022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P(B − A)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32499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3190399"/>
              <a:ext cx="8022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P(B ∪ C)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35699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3510439"/>
              <a:ext cx="1145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 ∪ B ∪ C)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121468"/>
            <a:ext cx="4544378" cy="1505902"/>
            <a:chOff x="533400" y="4121468"/>
            <a:chExt cx="4544378" cy="1505902"/>
          </a:xfrm>
        </p:grpSpPr>
        <p:sp>
          <p:nvSpPr>
            <p:cNvPr id="23" name="Rectangle 23"/>
            <p:cNvSpPr/>
            <p:nvPr/>
          </p:nvSpPr>
          <p:spPr>
            <a:xfrm>
              <a:off x="533400" y="4121468"/>
              <a:ext cx="4544378" cy="1505902"/>
            </a:xfrm>
            <a:prstGeom prst="roundRect">
              <a:avLst>
                <a:gd name="adj" fmla="val 88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254818"/>
              <a:ext cx="47625" cy="12392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432530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7644" y="43610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4699159"/>
              <a:ext cx="41824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三事件加法公式里需要 P(ABC)，题目没直接给。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9239" y="5014912"/>
              <a:ext cx="37307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ABC ⊂ BC 与单调性得 0 ≤ P(ABC) ≤ P(BC) = 0，所以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P(ABC) = 0。</a:t>
              </a:r>
            </a:p>
          </p:txBody>
        </p:sp>
      </p:grpSp>
      <p:grpSp>
        <p:nvGrpSpPr>
          <p:cNvPr id="47" name="c2-steps-1"/>
          <p:cNvGrpSpPr/>
          <p:nvPr/>
        </p:nvGrpSpPr>
        <p:grpSpPr>
          <a:xfrm>
            <a:off x="5382578" y="1964055"/>
            <a:ext cx="5597042" cy="2411159"/>
            <a:chOff x="5382578" y="1964055"/>
            <a:chExt cx="5597042" cy="2411159"/>
          </a:xfrm>
        </p:grpSpPr>
        <p:sp>
          <p:nvSpPr>
            <p:cNvPr id="30" name="Rectangle 30"/>
            <p:cNvSpPr/>
            <p:nvPr/>
          </p:nvSpPr>
          <p:spPr>
            <a:xfrm>
              <a:off x="5515928" y="210693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382578" y="19640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76201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382578" y="25850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76201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382578" y="32061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76201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382578" y="38261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76201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4438" y="19969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逆事件公式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95582" y="2277428"/>
              <a:ext cx="3031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 的对立) = 1 − P(A) = 1 − 1/3 = 2/3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94438" y="26179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减法公式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95582" y="2898457"/>
              <a:ext cx="34430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P(B − A) = P(B) − P(AB) = 1/3 − 1/8 = 5/24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94438" y="323897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两事件加法公式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95582" y="3519488"/>
              <a:ext cx="4211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P(B ∪ C) = P(B) + P(C) − P(BC) = 1/3 + 1/3 − 0 = 2/3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94438" y="386000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三事件加法公式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95582" y="4140518"/>
              <a:ext cx="51840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 ∪ B ∪ C) = 1/3 + 1/3 + 1/3 − 1/8 − 1/8 − 0 + 0 = 1 − 1/4 = 3/4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5382578" y="4551045"/>
            <a:ext cx="6276022" cy="1076325"/>
            <a:chOff x="5382578" y="4551045"/>
            <a:chExt cx="6276022" cy="1076325"/>
          </a:xfrm>
        </p:grpSpPr>
        <p:sp>
          <p:nvSpPr>
            <p:cNvPr id="48" name="Rectangle 48"/>
            <p:cNvSpPr/>
            <p:nvPr/>
          </p:nvSpPr>
          <p:spPr>
            <a:xfrm>
              <a:off x="5382578" y="4551045"/>
              <a:ext cx="6276022" cy="1076325"/>
            </a:xfrm>
            <a:prstGeom prst="roundRect">
              <a:avLst>
                <a:gd name="adj" fmla="val 1061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5587365" y="4989195"/>
              <a:ext cx="200026" cy="200026"/>
              <a:chOff x="5587365" y="498919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587365" y="49891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654040" y="50669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5889688" y="4989671"/>
              <a:ext cx="3541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四个答案依次是 2/3、5/24、2/3、3/4。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04084"/>
              <a:ext cx="7449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P(BC) = 0 并不意味着 BC = ∅，但用单调性照样能夹出 P(ABC) = 0，这一步不能跳过。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4782" cy="909257"/>
            <a:chOff x="520446" y="342900"/>
            <a:chExt cx="58247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频率与概率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4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 已知逆事件的概率，反推四个概率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74468" cy="264033"/>
            <a:chOff x="526542" y="1545907"/>
            <a:chExt cx="877446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74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A、B 是同一试验 E 的两个事件，A 不发生的概率为 0.5，B 发生而 A 不发生的概率为 0.2，P(B) = 0.4。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4544378" cy="1612582"/>
            <a:chOff x="533400" y="1928812"/>
            <a:chExt cx="4544378" cy="161258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544378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2062" y="2148364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3"/>
                <p:cNvSpPr txBox="1">
                  <a:spLocks noGrp="1"/>
                </p:cNvSpPr>
                <p:nvPr/>
              </p:nvSpPr>
              <p:spPr>
                <a:xfrm>
                  <a:off x="758190" y="2437448"/>
                  <a:ext cx="413289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0.4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2886075"/>
              <a:ext cx="38027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P(AB)、P(A − B)、P(A ∪ B) 以及“A、B 都不发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生”的概率。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710940"/>
            <a:ext cx="4544378" cy="1971675"/>
            <a:chOff x="533400" y="3710940"/>
            <a:chExt cx="4544378" cy="1971675"/>
          </a:xfrm>
        </p:grpSpPr>
        <p:sp>
          <p:nvSpPr>
            <p:cNvPr id="16" name="Rectangle 16"/>
            <p:cNvSpPr/>
            <p:nvPr/>
          </p:nvSpPr>
          <p:spPr>
            <a:xfrm>
              <a:off x="533400" y="3710940"/>
              <a:ext cx="4544378" cy="1971675"/>
            </a:xfrm>
            <a:prstGeom prst="roundRect">
              <a:avLst>
                <a:gd name="adj" fmla="val 6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44290"/>
              <a:ext cx="47625" cy="1704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38976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0862" y="39304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4241482"/>
              <a:ext cx="38884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 按 A 发生与否切成两块：B = AB ∪ (B − A)，这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两块互斥。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475" y="4795361"/>
              <a:ext cx="4178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于是 P(B) = P(AB) + P(B − A)，未知的 P(AB) 就露出来了。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5382578" y="1938338"/>
            <a:ext cx="4090339" cy="2851309"/>
            <a:chOff x="5382578" y="1938338"/>
            <a:chExt cx="4090339" cy="2851309"/>
          </a:xfrm>
        </p:grpSpPr>
        <p:sp>
          <p:nvSpPr>
            <p:cNvPr id="23" name="Rectangle 23"/>
            <p:cNvSpPr/>
            <p:nvPr/>
          </p:nvSpPr>
          <p:spPr>
            <a:xfrm>
              <a:off x="5515928" y="2081212"/>
              <a:ext cx="19050" cy="2331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382578" y="19383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7620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82578" y="252126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76201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82578" y="31041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76201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82578" y="36871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76201" y="37609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382578" y="427005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76201" y="43438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4820" y="1969770"/>
              <a:ext cx="1062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先补出 P(A)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5962" y="2237899"/>
              <a:ext cx="1524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= 1 − 0.5 = 0.5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4820" y="2552700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拆开 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5962" y="2820829"/>
              <a:ext cx="2767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P(AB) = P(B) − 0.2 = 0.4 − 0.2 = 0.2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94820" y="31356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减法公式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5962" y="3403759"/>
              <a:ext cx="31259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 − B) = P(A) − P(AB) = 0.5 − 0.2 = 0.3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94820" y="37185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加法公式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95962" y="3986689"/>
              <a:ext cx="24169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 ∪ B) = 0.5 + 0.4 − 0.2 = 0.7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94820" y="43014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对偶律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95962" y="4569619"/>
              <a:ext cx="3676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都不发生就是 A ∪ B 的对立事件，概率 = 1 − 0.7 = 0.3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5382578" y="4953000"/>
            <a:ext cx="6276022" cy="729615"/>
            <a:chOff x="5382578" y="4953000"/>
            <a:chExt cx="6276022" cy="729615"/>
          </a:xfrm>
        </p:grpSpPr>
        <p:sp>
          <p:nvSpPr>
            <p:cNvPr id="45" name="Rectangle 45"/>
            <p:cNvSpPr/>
            <p:nvPr/>
          </p:nvSpPr>
          <p:spPr>
            <a:xfrm>
              <a:off x="5382578" y="495300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587365" y="5217795"/>
              <a:ext cx="200026" cy="200026"/>
              <a:chOff x="5587365" y="521779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587365" y="5217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654040" y="52955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890070" y="5098733"/>
              <a:ext cx="49771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P(AB) = 0.2，P(A − B) = 0.3，P(A ∪ B) = 0.7，都不发生的概率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0.3。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1" name="Rectangle 5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8373"/>
              <a:ext cx="7137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原课件这道题只给了题面。“都不发生”一律换成“并的对立”，是这类填空题的标准解法。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97655" cy="909257"/>
            <a:chOff x="520446" y="342900"/>
            <a:chExt cx="46976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频率与概率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976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 夹住 P(AB) 的一组不等式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1722120"/>
            <a:chOff x="533400" y="1524000"/>
            <a:chExt cx="4760595" cy="1722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22120"/>
            </a:xfrm>
            <a:prstGeom prst="roundRect">
              <a:avLst>
                <a:gd name="adj" fmla="val 77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54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要证的不等式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6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30339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bar>
                          </m:e>
                        </m:d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e>
                        </m:d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4573" y="2602706"/>
              <a:ext cx="40038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右半边靠单调性，左半边靠对偶律加上“并的概率不超过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概率之和”。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436620"/>
            <a:ext cx="4760595" cy="1504950"/>
            <a:chOff x="533400" y="3436620"/>
            <a:chExt cx="4760595" cy="1504950"/>
          </a:xfrm>
        </p:grpSpPr>
        <p:sp>
          <p:nvSpPr>
            <p:cNvPr id="15" name="Rectangle 15"/>
            <p:cNvSpPr/>
            <p:nvPr/>
          </p:nvSpPr>
          <p:spPr>
            <a:xfrm>
              <a:off x="533400" y="3436620"/>
              <a:ext cx="4760595" cy="1504950"/>
            </a:xfrm>
            <a:prstGeom prst="roundRect">
              <a:avLst>
                <a:gd name="adj" fmla="val 75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089083"/>
              <a:ext cx="200026" cy="200025"/>
              <a:chOff x="738188" y="4089083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0890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41335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42446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3946208"/>
              <a:ext cx="3844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见到“证明某个概率被夹在两个式子之间”，先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找包含关系，再找一个能取对立的式子。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598795" y="1524000"/>
            <a:ext cx="6059805" cy="2444115"/>
            <a:chOff x="5598795" y="1524000"/>
            <a:chExt cx="6059805" cy="2444115"/>
          </a:xfrm>
        </p:grpSpPr>
        <p:sp>
          <p:nvSpPr>
            <p:cNvPr id="22" name="Rectangle 22"/>
            <p:cNvSpPr/>
            <p:nvPr/>
          </p:nvSpPr>
          <p:spPr>
            <a:xfrm>
              <a:off x="5598795" y="1524000"/>
              <a:ext cx="6059805" cy="2444115"/>
            </a:xfrm>
            <a:prstGeom prst="roundRect">
              <a:avLst>
                <a:gd name="adj" fmla="val 54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608320" y="1657350"/>
              <a:ext cx="47625" cy="21774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4644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41555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38825" y="2110740"/>
              <a:ext cx="5063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右半边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由 AB ⊂ A ⊂ A ∪ B 及单调性，直接得 P(AB) ≤ P(A 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38825" y="2731770"/>
              <a:ext cx="3204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左半边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对 AB 取对立并用对偶律：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67"/>
                <p:cNvSpPr txBox="1">
                  <a:spLocks noGrp="1"/>
                </p:cNvSpPr>
                <p:nvPr/>
              </p:nvSpPr>
              <p:spPr>
                <a:xfrm>
                  <a:off x="5846445" y="3042285"/>
                  <a:ext cx="560260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AB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ba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5838825" y="35242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移项即得左半边的不等式。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5598795" y="4158615"/>
            <a:ext cx="6059805" cy="782955"/>
            <a:chOff x="5598795" y="4158615"/>
            <a:chExt cx="6059805" cy="782955"/>
          </a:xfrm>
        </p:grpSpPr>
        <p:sp>
          <p:nvSpPr>
            <p:cNvPr id="31" name="Rectangle 31"/>
            <p:cNvSpPr/>
            <p:nvPr/>
          </p:nvSpPr>
          <p:spPr>
            <a:xfrm>
              <a:off x="5598795" y="415861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803583" y="4450080"/>
              <a:ext cx="200026" cy="200026"/>
              <a:chOff x="5803583" y="4450080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803583" y="44500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870258" y="45278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105525" y="4307205"/>
              <a:ext cx="5044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两边合起来，P(AB) 被 1 − P(非A) − P(非B) 和 P(A ∪ B) 夹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住。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9315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P(A ∪ B) ≤ P(A) + P(B) 叫次可加性，它就是加法公式减去非负的 P(AB) 得到的，别当成新公式去背。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古典概型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样本点有限且等可能时，算概率就是数两个数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排列组合：两个原理与三种计数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摸球、抽签、分房、分组、取数五类模型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每类模型的固定套路与易错点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古典概型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古典概型的算数工具：两个原理，四种计数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1840230"/>
            <a:chOff x="533400" y="1524000"/>
            <a:chExt cx="4977765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两个原理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391883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加法原理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：完成一件事有 n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方法，第 i 类有 mᵢ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种，共 m₁ + … + mₙ 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72239"/>
              <a:ext cx="391883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乘法原理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：完成一件事要 n 个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步骤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i 步有 mᵢ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种，共 m₁ × … × mₙ 种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544252"/>
            <a:ext cx="4977765" cy="2123123"/>
            <a:chOff x="533400" y="3544252"/>
            <a:chExt cx="4977765" cy="2123123"/>
          </a:xfrm>
        </p:grpSpPr>
        <p:sp>
          <p:nvSpPr>
            <p:cNvPr id="16" name="Rectangle 16"/>
            <p:cNvSpPr/>
            <p:nvPr/>
          </p:nvSpPr>
          <p:spPr>
            <a:xfrm>
              <a:off x="533400" y="3544252"/>
              <a:ext cx="4977765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78496" y="36728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问自己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05834" y="36728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用哪个原理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889" y="409765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几种做法里挑一种就完成了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2904" y="40976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加法原理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3881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392930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452151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每种做法都得做一遍才完成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22904" y="45215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乘法原理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812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494633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取出来要排先后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22904" y="49463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用排列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2377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242560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537019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取出来不分先后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22904" y="537019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用组合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544252"/>
              <a:ext cx="497776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15652" y="354425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card-1"/>
          <p:cNvGrpSpPr/>
          <p:nvPr/>
        </p:nvGrpSpPr>
        <p:grpSpPr>
          <a:xfrm>
            <a:off x="5815965" y="1524000"/>
            <a:ext cx="5842635" cy="1519238"/>
            <a:chOff x="5815965" y="1524000"/>
            <a:chExt cx="5842635" cy="1519238"/>
          </a:xfrm>
        </p:grpSpPr>
        <p:sp>
          <p:nvSpPr>
            <p:cNvPr id="35" name="Rectangle 35"/>
            <p:cNvSpPr/>
            <p:nvPr/>
          </p:nvSpPr>
          <p:spPr>
            <a:xfrm>
              <a:off x="5815965" y="1524000"/>
              <a:ext cx="5842635" cy="1519238"/>
            </a:xfrm>
            <a:prstGeom prst="roundRect">
              <a:avLst>
                <a:gd name="adj" fmla="val 877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1408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0552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77"/>
                <p:cNvSpPr txBox="1">
                  <a:spLocks noGrp="1"/>
                </p:cNvSpPr>
                <p:nvPr/>
              </p:nvSpPr>
              <p:spPr>
                <a:xfrm>
                  <a:off x="6014085" y="2059305"/>
                  <a:ext cx="544639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!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TextBox 39"/>
            <p:cNvSpPr txBox="1"/>
            <p:nvPr/>
          </p:nvSpPr>
          <p:spPr>
            <a:xfrm>
              <a:off x="6007989" y="2657475"/>
              <a:ext cx="4729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可重复排列：从 n 个元素中可重复地取 m 个排成一排，共 nᵐ 种。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5815965" y="3223260"/>
            <a:ext cx="5842635" cy="2443162"/>
            <a:chOff x="5815965" y="3223260"/>
            <a:chExt cx="5842635" cy="2443162"/>
          </a:xfrm>
        </p:grpSpPr>
        <p:sp>
          <p:nvSpPr>
            <p:cNvPr id="41" name="Rectangle 41"/>
            <p:cNvSpPr/>
            <p:nvPr/>
          </p:nvSpPr>
          <p:spPr>
            <a:xfrm>
              <a:off x="5815965" y="3223260"/>
              <a:ext cx="5842635" cy="2443162"/>
            </a:xfrm>
            <a:prstGeom prst="roundRect">
              <a:avLst>
                <a:gd name="adj" fmla="val 545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14085" y="342138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93524" y="34556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组合与分组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78"/>
                <p:cNvSpPr txBox="1">
                  <a:spLocks noGrp="1"/>
                </p:cNvSpPr>
                <p:nvPr/>
              </p:nvSpPr>
              <p:spPr>
                <a:xfrm>
                  <a:off x="6014085" y="3758565"/>
                  <a:ext cx="5446395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79"/>
                <p:cNvSpPr txBox="1">
                  <a:spLocks noGrp="1"/>
                </p:cNvSpPr>
                <p:nvPr/>
              </p:nvSpPr>
              <p:spPr>
                <a:xfrm>
                  <a:off x="6014085" y="4388168"/>
                  <a:ext cx="544639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p>
                        </m:sSubSup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</m:sSub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sub>
                          <m: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sup>
                        </m:sSub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!⋯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7" name="Rectangle 4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11704"/>
              <a:ext cx="7574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分组公式就是把 n 个元素排成一排后，除掉每组内部的排列数。例14 用的正是这个式子。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11383" cy="909257"/>
            <a:chOff x="520446" y="342900"/>
            <a:chExt cx="6311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古典概型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11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古典概型：数清“一共多少”和“有利多少”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4977765" cy="2304098"/>
            <a:chOff x="533400" y="1524000"/>
            <a:chExt cx="4977765" cy="23040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04098"/>
            </a:xfrm>
            <a:prstGeom prst="roundRect">
              <a:avLst>
                <a:gd name="adj" fmla="val 57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739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古典（等可能）概型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42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随机试验 E 同时满足两条时，称 E 为古典概型。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24650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基本事件的个数有限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040" y="28003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每个基本事件等可能发生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81"/>
                <p:cNvSpPr txBox="1">
                  <a:spLocks noGrp="1"/>
                </p:cNvSpPr>
                <p:nvPr/>
              </p:nvSpPr>
              <p:spPr>
                <a:xfrm>
                  <a:off x="781050" y="3110865"/>
                  <a:ext cx="452056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包含的基本事件数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中基本事件总数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1-callout-2"/>
          <p:cNvGrpSpPr/>
          <p:nvPr/>
        </p:nvGrpSpPr>
        <p:grpSpPr>
          <a:xfrm>
            <a:off x="533400" y="4018598"/>
            <a:ext cx="4977765" cy="1086802"/>
            <a:chOff x="533400" y="4018598"/>
            <a:chExt cx="4977765" cy="1086802"/>
          </a:xfrm>
        </p:grpSpPr>
        <p:sp>
          <p:nvSpPr>
            <p:cNvPr id="21" name="Rectangle 21"/>
            <p:cNvSpPr/>
            <p:nvPr/>
          </p:nvSpPr>
          <p:spPr>
            <a:xfrm>
              <a:off x="533400" y="4018598"/>
              <a:ext cx="4977765" cy="1086802"/>
            </a:xfrm>
            <a:prstGeom prst="roundRect">
              <a:avLst>
                <a:gd name="adj" fmla="val 1051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4458771"/>
              <a:ext cx="224134" cy="192560"/>
              <a:chOff x="726129" y="4458771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45291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44587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6069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181475"/>
              <a:ext cx="4110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等可能是前提不是结论。“明天下雨或不下雨，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所以概率各 1/2”就是把不等可能的结果硬当成等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可能。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5815965" y="1524000"/>
            <a:ext cx="5842635" cy="1384935"/>
            <a:chOff x="5815965" y="1524000"/>
            <a:chExt cx="5842635" cy="1384935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25490" y="1657350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63615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55194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03683" y="176879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抛一枚硬币三次，求恰有一次出现正面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55995" y="2129790"/>
              <a:ext cx="5354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{HHH, HHT, HTH, THH, HTT, THT, TTH, TTT}，n = 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55995" y="2465070"/>
              <a:ext cx="4424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{HTT, THT, TTH}，k = 3，所以 P(A) = 3/8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5815965" y="3099435"/>
            <a:ext cx="5842635" cy="2005965"/>
            <a:chOff x="5815965" y="3099435"/>
            <a:chExt cx="5842635" cy="2005965"/>
          </a:xfrm>
        </p:grpSpPr>
        <p:sp>
          <p:nvSpPr>
            <p:cNvPr id="36" name="Rectangle 36"/>
            <p:cNvSpPr/>
            <p:nvPr/>
          </p:nvSpPr>
          <p:spPr>
            <a:xfrm>
              <a:off x="5815965" y="3099435"/>
              <a:ext cx="5842635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5490" y="3232785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63615" y="330898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55194" y="334470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3683" y="334422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将一颗匀称骰子抛掷两次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55995" y="3705225"/>
              <a:ext cx="4912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(i, j) 为“第一次 i 点、第二次 j 点”，n = 6 × 6 = 36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69330" y="41033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27445" y="4040505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点数之和为 8：A = {(2,6), (3,5), (4,4), (5,3),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(6,2)}，P(A) = 5/36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69330" y="47244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27445" y="4661535"/>
              <a:ext cx="4835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两次点数相同：B 有 6 个样本点，P(B) = 6/36 = 1/6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92868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 Ω 时要让所有样本点等可能。骰子题必须区分两次的先后，写成有序对，否则 21 种组合并不等可能。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古典概型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例9、例10 抽样与逐次试开：正面数不如反面数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3429000"/>
            <a:chOff x="533400" y="1524000"/>
            <a:chExt cx="5410200" cy="34290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4290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1623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764881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个元件中有 95 个合格、5 个不合格，任取 4 个，恰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1 个不合格的概率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851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22245"/>
              <a:ext cx="4030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不分先后，用组合：基本事件总数 n = C₁₀₀⁴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03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57525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有利情形：5 个次品里挑 1 个，95 个正品里挑 3 个，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C₅¹C₉₅³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84"/>
                <p:cNvSpPr txBox="1">
                  <a:spLocks noGrp="1"/>
                </p:cNvSpPr>
                <p:nvPr/>
              </p:nvSpPr>
              <p:spPr>
                <a:xfrm>
                  <a:off x="781050" y="3653790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95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100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27683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156849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0.1765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4573" y="4259104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原课件写 0.176，精确值 0.17649，取三位小数应为 0.176，四位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 0.1765。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3429000"/>
            <a:chOff x="6248400" y="1524000"/>
            <a:chExt cx="5410200" cy="34290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34290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31623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96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6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430" y="2110740"/>
              <a:ext cx="4645819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把钥匙中有 2 把能开锁，逐次试开，求 3 次内打开的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430" y="2722245"/>
              <a:ext cx="473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正面算要分“第 1 次开”“第 2 次开”“第 3 次开”三类，不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如算对立事件。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3343275"/>
              <a:ext cx="47572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的对立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：前三次拿到的都是打不开的钥匙。试开是不放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回的，分母逐次减 1。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85"/>
                <p:cNvSpPr txBox="1">
                  <a:spLocks noGrp="1"/>
                </p:cNvSpPr>
                <p:nvPr/>
              </p:nvSpPr>
              <p:spPr>
                <a:xfrm>
                  <a:off x="6496050" y="3939540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0.9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489573" y="4544854"/>
              <a:ext cx="4872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5! = 120 种试开顺序逐一枚举，得到的也是 108/120 = 0.9。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991225"/>
              <a:ext cx="79006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不放回抽取的分母每次都要减 1；只要题面出现“逐次”“直到”，先考虑能不能用逆事件。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23027" cy="909257"/>
            <a:chOff x="520446" y="342900"/>
            <a:chExt cx="60230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古典概型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230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例11 抽签问题：第几个抽，概率都一样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818495" cy="293370"/>
            <a:chOff x="525780" y="1548765"/>
            <a:chExt cx="1081849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818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袋中有 a 只白球、b 只红球，每次任取一只，取后不放回，共取 k + 1 次（k + 1 ≤ a + b）。求最后一次取到白球的概率。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54530"/>
            <a:ext cx="5842635" cy="1603058"/>
            <a:chOff x="533400" y="1954530"/>
            <a:chExt cx="5842635" cy="16030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1603058"/>
            </a:xfrm>
            <a:prstGeom prst="roundRect">
              <a:avLst>
                <a:gd name="adj" fmla="val 831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34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解法一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80566" y="219789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按排列直接算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996" y="2550319"/>
              <a:ext cx="3866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把前 k 次与最后一次看成一个有序抽取过程。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88"/>
                <p:cNvSpPr txBox="1">
                  <a:spLocks noGrp="1"/>
                </p:cNvSpPr>
                <p:nvPr/>
              </p:nvSpPr>
              <p:spPr>
                <a:xfrm>
                  <a:off x="737235" y="2846070"/>
                  <a:ext cx="543496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rd-2"/>
          <p:cNvGrpSpPr/>
          <p:nvPr/>
        </p:nvGrpSpPr>
        <p:grpSpPr>
          <a:xfrm>
            <a:off x="533400" y="3742372"/>
            <a:ext cx="5842635" cy="1894522"/>
            <a:chOff x="533400" y="3742372"/>
            <a:chExt cx="5842635" cy="1894522"/>
          </a:xfrm>
        </p:grpSpPr>
        <p:sp>
          <p:nvSpPr>
            <p:cNvPr id="16" name="Rectangle 16"/>
            <p:cNvSpPr/>
            <p:nvPr/>
          </p:nvSpPr>
          <p:spPr>
            <a:xfrm>
              <a:off x="533400" y="3742372"/>
              <a:ext cx="5842635" cy="1894522"/>
            </a:xfrm>
            <a:prstGeom prst="roundRect">
              <a:avLst>
                <a:gd name="adj" fmla="val 70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7235" y="394620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3493" y="39819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解法二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80566" y="398668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把全部球排成一排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9996" y="4338161"/>
              <a:ext cx="53860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想象把 a + b 只球一次性排成一排，共 (a + b)! 种等可能排法。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996" y="4658201"/>
              <a:ext cx="516318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k + 1 个位置放白球：先选一只白球放进去有 a 种，其余 a + b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− 1 只任意排，得 a·(a + b − 1)! 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139" y="5246370"/>
              <a:ext cx="2742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两数相除仍是 a/(a + b)，与 k 无关。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675120" y="1954530"/>
            <a:ext cx="4983480" cy="2446497"/>
            <a:chOff x="6675120" y="1954530"/>
            <a:chExt cx="4983480" cy="2446497"/>
          </a:xfrm>
        </p:grpSpPr>
        <p:sp>
          <p:nvSpPr>
            <p:cNvPr id="24" name="Rectangle 24"/>
            <p:cNvSpPr/>
            <p:nvPr/>
          </p:nvSpPr>
          <p:spPr>
            <a:xfrm>
              <a:off x="6680835" y="1954530"/>
              <a:ext cx="497776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95604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抽取次序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42170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取到白球的概率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9615" y="2515552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96602" y="251555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a/(a+b)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0835" y="281463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59615" y="2946082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96602" y="294608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a/(a+b)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32404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25400" y="33766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96602" y="337661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a/(a+b)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80835" y="367474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66324" y="3806190"/>
              <a:ext cx="716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k+1 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96602" y="380619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a/(a+b)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1954530"/>
              <a:ext cx="497776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6397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75120" y="4180999"/>
              <a:ext cx="4610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4、b = 6、k = 5 时模拟 20 万次，第 6 次取到白球的频率 0.4003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680835" y="4542472"/>
            <a:ext cx="4977765" cy="1095375"/>
            <a:chOff x="6680835" y="4542472"/>
            <a:chExt cx="4977765" cy="1095375"/>
          </a:xfrm>
        </p:grpSpPr>
        <p:sp>
          <p:nvSpPr>
            <p:cNvPr id="44" name="Rectangle 44"/>
            <p:cNvSpPr/>
            <p:nvPr/>
          </p:nvSpPr>
          <p:spPr>
            <a:xfrm>
              <a:off x="6680835" y="4542472"/>
              <a:ext cx="4977765" cy="1095375"/>
            </a:xfrm>
            <a:prstGeom prst="roundRect">
              <a:avLst>
                <a:gd name="adj" fmla="val 1043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885623" y="4990148"/>
              <a:ext cx="200026" cy="200026"/>
              <a:chOff x="6885623" y="499014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885623" y="49901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952298" y="50679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187946" y="4859179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抽签的公平性：只要事先不知道结果，先抽后抽机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会完全相同。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04084"/>
              <a:ext cx="88556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这个结论只在“不看前面抽的结果”时成立。一旦已知前 k 次的具体结果，就变成条件概率，答案会改变。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5284" cy="909257"/>
            <a:chOff x="520446" y="342900"/>
            <a:chExt cx="76152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古典概型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52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例12、例13 分房与生日：都是 n 个球放进 N 个盒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977765" cy="3927158"/>
            <a:chOff x="533400" y="1524000"/>
            <a:chExt cx="4977765" cy="39271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927158"/>
            </a:xfrm>
            <a:prstGeom prst="roundRect">
              <a:avLst>
                <a:gd name="adj" fmla="val 3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604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583" y="17564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3886" y="1756886"/>
              <a:ext cx="343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 个人随机分配到 N 个房间（n ≤ 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3164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每人独立挑一间，基本事件总数 Nⁿ。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784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18874"/>
              <a:ext cx="40090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每个房间至多一人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：n 个人占 N 间中的 n 间且有先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后，方法数 A_Nⁿ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6800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007519"/>
              <a:ext cx="40464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某指定的 n 个房间各有一人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：只是这 n 人的一个全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排列，方法数 n!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98"/>
                <p:cNvSpPr txBox="1">
                  <a:spLocks noGrp="1"/>
                </p:cNvSpPr>
                <p:nvPr/>
              </p:nvSpPr>
              <p:spPr>
                <a:xfrm>
                  <a:off x="769620" y="3573780"/>
                  <a:ext cx="454342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bSup>
                          </m:num>
                          <m:den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2-card-1"/>
          <p:cNvGrpSpPr/>
          <p:nvPr/>
        </p:nvGrpSpPr>
        <p:grpSpPr>
          <a:xfrm>
            <a:off x="5815965" y="1524000"/>
            <a:ext cx="5842635" cy="2232660"/>
            <a:chOff x="5815965" y="1524000"/>
            <a:chExt cx="5842635" cy="2232660"/>
          </a:xfrm>
        </p:grpSpPr>
        <p:sp>
          <p:nvSpPr>
            <p:cNvPr id="19" name="Rectangle 19"/>
            <p:cNvSpPr/>
            <p:nvPr/>
          </p:nvSpPr>
          <p:spPr>
            <a:xfrm>
              <a:off x="5815965" y="1524000"/>
              <a:ext cx="5842635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825490" y="1657350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52185" y="1722120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42195" y="17564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55498" y="1756886"/>
              <a:ext cx="35428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名大学生都在 2003 年出生（365 天）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99"/>
                <p:cNvSpPr txBox="1">
                  <a:spLocks noGrp="1"/>
                </p:cNvSpPr>
                <p:nvPr/>
              </p:nvSpPr>
              <p:spPr>
                <a:xfrm>
                  <a:off x="6052185" y="2077402"/>
                  <a:ext cx="540829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至少两人同生日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365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p>
                            </m:sSub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36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0.1169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00"/>
                <p:cNvSpPr txBox="1">
                  <a:spLocks noGrp="1"/>
                </p:cNvSpPr>
                <p:nvPr/>
              </p:nvSpPr>
              <p:spPr>
                <a:xfrm>
                  <a:off x="6052185" y="2604135"/>
                  <a:ext cx="540829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至少一人在10月1日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36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36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0.0271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046089" y="3150870"/>
              <a:ext cx="5087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两问都用逆事件。前者是“n 个人生日互不相同”，后者是“10 个人都不在 10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月 1 日”。</a:t>
              </a:r>
            </a:p>
          </p:txBody>
        </p:sp>
      </p:grpSp>
      <p:grpSp>
        <p:nvGrpSpPr>
          <p:cNvPr id="54" name="c2-table-2"/>
          <p:cNvGrpSpPr/>
          <p:nvPr/>
        </p:nvGrpSpPr>
        <p:grpSpPr>
          <a:xfrm>
            <a:off x="5810631" y="3937635"/>
            <a:ext cx="5847969" cy="1555052"/>
            <a:chOff x="5810631" y="3937635"/>
            <a:chExt cx="5847969" cy="1555052"/>
          </a:xfrm>
        </p:grpSpPr>
        <p:sp>
          <p:nvSpPr>
            <p:cNvPr id="28" name="Rectangle 28"/>
            <p:cNvSpPr/>
            <p:nvPr/>
          </p:nvSpPr>
          <p:spPr>
            <a:xfrm>
              <a:off x="5815965" y="3937635"/>
              <a:ext cx="5842635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04560" y="40652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6712" y="40652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9185" y="40652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61657" y="40652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95082" y="40652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27555" y="40652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60027" y="40652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92500" y="40652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18454" y="4490085"/>
              <a:ext cx="4693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至少两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人同生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7881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0.411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00353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0.476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32826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66251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98724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0.891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31196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63668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3937635"/>
              <a:ext cx="5842635" cy="12753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524625" y="3937635"/>
              <a:ext cx="9525" cy="12753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257098" y="3937635"/>
              <a:ext cx="9525" cy="12753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990522" y="3937635"/>
              <a:ext cx="9525" cy="12753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722995" y="3937635"/>
              <a:ext cx="9525" cy="12753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455468" y="3937635"/>
              <a:ext cx="9525" cy="12753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187940" y="3937635"/>
              <a:ext cx="9525" cy="12753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921365" y="3937635"/>
              <a:ext cx="9525" cy="12753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10631" y="5287328"/>
              <a:ext cx="2611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 人时就超过一半，这是著名的生日悖论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5" name="Rectangle 5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11704"/>
              <a:ext cx="94202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更正：原课件表中 22 人一栏写作 0.467，按 1 − A₃₆₅²²/365²² 计算应为 0.476。其余各栏与计算结果一致。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37539" cy="909257"/>
            <a:chOff x="520446" y="342900"/>
            <a:chExt cx="64375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古典概型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375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 分组分配：只盯着 3 名特长生落在哪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 名新生（其中有 3 名特长生）随机分到三个班级，一班 4 名、二班 5 名、三班 6 名。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28812"/>
            <a:ext cx="4977765" cy="1934528"/>
            <a:chOff x="533400" y="1928812"/>
            <a:chExt cx="4977765" cy="193452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934528"/>
            </a:xfrm>
            <a:prstGeom prst="roundRect">
              <a:avLst>
                <a:gd name="adj" fmla="val 6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6678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换一个更小的样本空间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3873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原课件按分组公式数，基本事件总数是 15!/(4!5!6!)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630630。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2994184"/>
              <a:ext cx="4328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其实只有 3 名特长生的去向要紧：把 15 个名额看成 15 个位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置，为特长生选 3 个位置，共 C₁₅³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455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种，且等可能。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141" y="351758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两种算法结果完全一致，后者的数字小得多，手算不易错。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028122"/>
            <a:ext cx="4977765" cy="1695450"/>
            <a:chOff x="533400" y="4028122"/>
            <a:chExt cx="4977765" cy="1695450"/>
          </a:xfrm>
        </p:grpSpPr>
        <p:sp>
          <p:nvSpPr>
            <p:cNvPr id="18" name="Rectangle 18"/>
            <p:cNvSpPr/>
            <p:nvPr/>
          </p:nvSpPr>
          <p:spPr>
            <a:xfrm>
              <a:off x="533400" y="4028122"/>
              <a:ext cx="4977765" cy="1695450"/>
            </a:xfrm>
            <a:prstGeom prst="roundRect">
              <a:avLst>
                <a:gd name="adj" fmla="val 78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61472"/>
              <a:ext cx="47625" cy="14287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420909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946" y="424195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2000" y="460152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48" y="4548664"/>
              <a:ext cx="372176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原课件第 (2) 问算出 2/91 后写成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0.2198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，实际是</a:t>
              </a:r>
              <a:br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0.02198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，小数点错了一位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2000" y="512921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7448" y="5076349"/>
              <a:ext cx="4117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原课件只解了 (1)(2)，第 (3) 问“3 名特长生分到同一个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班级”没有解答，这里补上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815965" y="1928812"/>
            <a:ext cx="5842635" cy="1525905"/>
            <a:chOff x="5815965" y="1928812"/>
            <a:chExt cx="5842635" cy="1525905"/>
          </a:xfrm>
        </p:grpSpPr>
        <p:sp>
          <p:nvSpPr>
            <p:cNvPr id="27" name="Rectangle 27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2461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9516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有利情形数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6035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10644" y="2426970"/>
              <a:ext cx="1289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每班各分到一名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96606" y="2426970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5 × 6 = 120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50159" y="2426970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120/455 = 24/91 ≈ 0.2637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10644" y="2808923"/>
              <a:ext cx="1274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3 名都分到二班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96606" y="2808923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C₅³ = 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50159" y="2808923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10/455 = 2/91 ≈ 0.0220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10644" y="3189923"/>
              <a:ext cx="1415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3 名分到同一个班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96606" y="3189923"/>
              <a:ext cx="142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C₄³ + C₅³ + C₆³ = 34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50159" y="3189923"/>
              <a:ext cx="110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34/455 ≈ 0.0747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1928812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97165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5071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llout-2"/>
          <p:cNvGrpSpPr/>
          <p:nvPr/>
        </p:nvGrpSpPr>
        <p:grpSpPr>
          <a:xfrm>
            <a:off x="5815965" y="3618548"/>
            <a:ext cx="5842635" cy="467678"/>
            <a:chOff x="5815965" y="3618548"/>
            <a:chExt cx="5842635" cy="467678"/>
          </a:xfrm>
        </p:grpSpPr>
        <p:sp>
          <p:nvSpPr>
            <p:cNvPr id="47" name="Rectangle 47"/>
            <p:cNvSpPr/>
            <p:nvPr/>
          </p:nvSpPr>
          <p:spPr>
            <a:xfrm>
              <a:off x="5815965" y="3618548"/>
              <a:ext cx="5842635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020753" y="3752850"/>
              <a:ext cx="200026" cy="200026"/>
              <a:chOff x="6020753" y="375285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020753" y="37528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87428" y="38306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323838" y="3763804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(3) 问是三个班各自情形之和，所以三项相加。</a:t>
              </a:r>
            </a:p>
          </p:txBody>
        </p:sp>
      </p:grpSp>
      <p:grpSp>
        <p:nvGrpSpPr>
          <p:cNvPr id="62" name="c2-card-3"/>
          <p:cNvGrpSpPr/>
          <p:nvPr/>
        </p:nvGrpSpPr>
        <p:grpSpPr>
          <a:xfrm>
            <a:off x="5815965" y="4251960"/>
            <a:ext cx="5842635" cy="1471612"/>
            <a:chOff x="5815965" y="4251960"/>
            <a:chExt cx="5842635" cy="1471612"/>
          </a:xfrm>
        </p:grpSpPr>
        <p:sp>
          <p:nvSpPr>
            <p:cNvPr id="53" name="Rectangle 53"/>
            <p:cNvSpPr/>
            <p:nvPr/>
          </p:nvSpPr>
          <p:spPr>
            <a:xfrm>
              <a:off x="5815965" y="4251960"/>
              <a:ext cx="584263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25490" y="4385310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35040" y="443293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04357" y="446579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与原课件解法对照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28563" y="4772501"/>
              <a:ext cx="50186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原课件按分组公式算，基本事件总数 n = 15!/(4!5!6!) = 630630。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044565" y="511016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00013" y="5057299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有利数 3!·12!/(3!4!5!) = 166320，166320/630630 = 24/91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44565" y="53949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00013" y="5343049"/>
              <a:ext cx="4441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有利数 12!/(4!2!6!) = 13860，13860/630630 = 2/91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7611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分组分配题的通用技巧：只对“关心的那几个人”建立样本空间，其余人的排法在分子分母里会约掉。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2798" cy="909257"/>
            <a:chOff x="520446" y="342900"/>
            <a:chExt cx="67627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古典概型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例15、例16 随机取数：最大号码与中间数字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3765232"/>
            <a:chOff x="533400" y="1524000"/>
            <a:chExt cx="5626418" cy="37652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765232"/>
            </a:xfrm>
            <a:prstGeom prst="roundRect">
              <a:avLst>
                <a:gd name="adj" fmla="val 3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985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85348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城市有 N 辆车，车牌 1 到 N；抄下遇到的 n 辆车（可重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复），求最大号码恰为 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22245"/>
              <a:ext cx="4834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抄法相当于从 N 个号码中可重复地取 n 个排成一列，基本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事件总数 Nⁿ。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4061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343275"/>
              <a:ext cx="2175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号码都 ≤ k 的取法 kⁿ 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7414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67855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号码都 ≤ k − 1 的取法 (k − 1)ⁿ 种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103"/>
                <p:cNvSpPr txBox="1">
                  <a:spLocks noGrp="1"/>
                </p:cNvSpPr>
                <p:nvPr/>
              </p:nvSpPr>
              <p:spPr>
                <a:xfrm>
                  <a:off x="781050" y="3989070"/>
                  <a:ext cx="5169218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74573" y="4645819"/>
              <a:ext cx="4979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“恰好等于 k”＝“不超过 k”减去“不超过 k − 1”，这是计数里的差分技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巧。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2280285"/>
            <a:chOff x="6464618" y="1524000"/>
            <a:chExt cx="5193982" cy="2280285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2280285"/>
            </a:xfrm>
            <a:prstGeom prst="roundRect">
              <a:avLst>
                <a:gd name="adj" fmla="val 58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4142" y="1657350"/>
              <a:ext cx="47625" cy="20135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12268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2221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35202" y="1768792"/>
              <a:ext cx="403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1 到 10 任取三个数，求中间那个恰好是 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04648" y="2129790"/>
              <a:ext cx="2618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不分先后，n = C₁₀³ = 120。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4648" y="246507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要让 5 居中，必须从 1–4 里取 1 个、从 6–10 里取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个，5 自己取 1 个。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04"/>
                <p:cNvSpPr txBox="1">
                  <a:spLocks noGrp="1"/>
                </p:cNvSpPr>
                <p:nvPr/>
              </p:nvSpPr>
              <p:spPr>
                <a:xfrm>
                  <a:off x="6712268" y="3061335"/>
                  <a:ext cx="473678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20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callout-2"/>
          <p:cNvGrpSpPr/>
          <p:nvPr/>
        </p:nvGrpSpPr>
        <p:grpSpPr>
          <a:xfrm>
            <a:off x="6464618" y="3994785"/>
            <a:ext cx="5193982" cy="1294448"/>
            <a:chOff x="6464618" y="3994785"/>
            <a:chExt cx="5193982" cy="1294448"/>
          </a:xfrm>
        </p:grpSpPr>
        <p:sp>
          <p:nvSpPr>
            <p:cNvPr id="29" name="Rectangle 29"/>
            <p:cNvSpPr/>
            <p:nvPr/>
          </p:nvSpPr>
          <p:spPr>
            <a:xfrm>
              <a:off x="6464618" y="3994785"/>
              <a:ext cx="5193982" cy="1294448"/>
            </a:xfrm>
            <a:prstGeom prst="roundRect">
              <a:avLst>
                <a:gd name="adj" fmla="val 883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669405" y="4541520"/>
              <a:ext cx="200026" cy="200025"/>
              <a:chOff x="6669405" y="4541520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669405" y="45415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09144" y="45859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43859" y="46970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71348" y="4398645"/>
              <a:ext cx="4225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两题都用“把条件拆成几个互不干扰的选择”，然后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按乘法原理相乘。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6" name="Rectangle 36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728335"/>
              <a:ext cx="9768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例15 里车牌可以重复，用的是可重复排列 Nⁿ；例16 里三个数互不相同且不分先后，用的是组合。模型选错，答案全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1978" cy="909257"/>
            <a:chOff x="520446" y="342900"/>
            <a:chExt cx="65619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古典概型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19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例17、例18 排成四位偶数；被 6 或 8 整除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card-1"/>
          <p:cNvGrpSpPr/>
          <p:nvPr/>
        </p:nvGrpSpPr>
        <p:grpSpPr>
          <a:xfrm>
            <a:off x="533400" y="1524000"/>
            <a:ext cx="5842635" cy="3818572"/>
            <a:chOff x="533400" y="1524000"/>
            <a:chExt cx="5842635" cy="38185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8572"/>
            </a:xfrm>
            <a:prstGeom prst="roundRect">
              <a:avLst>
                <a:gd name="adj" fmla="val 34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518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2847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0–9 中无重复地取 4 个排成一行，求能排成四位偶数的概率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439829"/>
              <a:ext cx="4365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基本事件总数 n = A₁₀⁴ = 5040（有序，无重复）。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59869"/>
              <a:ext cx="50446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四位偶数要同时满足：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首位不是 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末位是偶数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。两个条件都管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0，必须分类。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75335" y="3327082"/>
              <a:ext cx="539686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17320" y="34585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14713" y="34585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3520" y="34585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0681" y="3889057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末位是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99932" y="3889057"/>
              <a:ext cx="192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首位 9 种 × 中间两位 8 × 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74514" y="3889057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75335" y="4183380"/>
              <a:ext cx="53968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188142"/>
              <a:ext cx="53968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0681" y="4318635"/>
              <a:ext cx="1200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末位是 2/4/6/8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99932" y="4318635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首位 8 种 × 8 × 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74514" y="43186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1792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75335" y="3327082"/>
              <a:ext cx="539686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89822" y="33270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764405" y="33270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9239" y="4730115"/>
              <a:ext cx="5073396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k = 504 + 1792 = 2296，P = 2296/5040 =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41/90 ≈ 0.4556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。已用 5040 种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排列逐一枚举复核。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680835" y="1524000"/>
            <a:ext cx="4977765" cy="2760345"/>
            <a:chOff x="6680835" y="1524000"/>
            <a:chExt cx="4977765" cy="2760345"/>
          </a:xfrm>
        </p:grpSpPr>
        <p:sp>
          <p:nvSpPr>
            <p:cNvPr id="31" name="Rectangle 31"/>
            <p:cNvSpPr/>
            <p:nvPr/>
          </p:nvSpPr>
          <p:spPr>
            <a:xfrm>
              <a:off x="6680835" y="1524000"/>
              <a:ext cx="4977765" cy="2760345"/>
            </a:xfrm>
            <a:prstGeom prst="roundRect">
              <a:avLst>
                <a:gd name="adj" fmla="val 48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1657350"/>
              <a:ext cx="47625" cy="24936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22770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12723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15531" y="2100739"/>
              <a:ext cx="44479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1 到 100 中任取 1 个，求能被 6 或 8 整除的概率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15531" y="2439829"/>
              <a:ext cx="41893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是“能被 6 整除”，B 是“能被 8 整除”，AB 是“能被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整除”。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30390" y="30908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86981" y="3031331"/>
              <a:ext cx="39549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有 16 个数，B 有 12 个，AB 有 4 个（24、48、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72、96）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107"/>
                <p:cNvSpPr txBox="1">
                  <a:spLocks noGrp="1"/>
                </p:cNvSpPr>
                <p:nvPr/>
              </p:nvSpPr>
              <p:spPr>
                <a:xfrm>
                  <a:off x="6922770" y="3598545"/>
                  <a:ext cx="453199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∪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24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0.24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6" name="c2-callout-2"/>
          <p:cNvGrpSpPr/>
          <p:nvPr/>
        </p:nvGrpSpPr>
        <p:grpSpPr>
          <a:xfrm>
            <a:off x="6680835" y="4469130"/>
            <a:ext cx="4977765" cy="872490"/>
            <a:chOff x="6680835" y="4469130"/>
            <a:chExt cx="4977765" cy="872490"/>
          </a:xfrm>
        </p:grpSpPr>
        <p:sp>
          <p:nvSpPr>
            <p:cNvPr id="41" name="Rectangle 41"/>
            <p:cNvSpPr/>
            <p:nvPr/>
          </p:nvSpPr>
          <p:spPr>
            <a:xfrm>
              <a:off x="6680835" y="4469130"/>
              <a:ext cx="4977765" cy="872490"/>
            </a:xfrm>
            <a:prstGeom prst="roundRect">
              <a:avLst>
                <a:gd name="adj" fmla="val 1310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885623" y="4806315"/>
              <a:ext cx="200026" cy="200026"/>
              <a:chOff x="6885623" y="4806315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885623" y="48063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52298" y="48841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187946" y="467534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古典概型也常常要用加法公式：先分别数，再把重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复数过的减掉。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67234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例18 里 AB 是“被 24 整除”而不是“被 48 整除”，取的是 6 与 8 的最小公倍数。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几何概型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样本点充满一个区域时，把数个数换成量大小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定义与计算公式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两道积分型例题与一处更正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会面问题与蒲丰投针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24821" cy="909257"/>
            <a:chOff x="520446" y="342900"/>
            <a:chExt cx="5624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几何概型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24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几何概型：把“数个数”换成“量大小”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169795"/>
            <a:chOff x="533400" y="1524000"/>
            <a:chExt cx="5410200" cy="21697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69795"/>
            </a:xfrm>
            <a:prstGeom prst="roundRect">
              <a:avLst>
                <a:gd name="adj" fmla="val 61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030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几何概型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若随机试验相当于从直线、平面或空间的某一区域 Ω 上任取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一点，且落在任意两个度量相等的子区域内的可能性相同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（与形状、位置无关），就称此试验为几何概型。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11"/>
                <p:cNvSpPr txBox="1">
                  <a:spLocks noGrp="1"/>
                </p:cNvSpPr>
                <p:nvPr/>
              </p:nvSpPr>
              <p:spPr>
                <a:xfrm>
                  <a:off x="769620" y="2937510"/>
                  <a:ext cx="497586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nor m:val="on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的度量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nor m:val="on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的度量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4" name="c1-table-2"/>
          <p:cNvGrpSpPr/>
          <p:nvPr/>
        </p:nvGrpSpPr>
        <p:grpSpPr>
          <a:xfrm>
            <a:off x="533400" y="3873818"/>
            <a:ext cx="5410200" cy="1697355"/>
            <a:chOff x="533400" y="3873818"/>
            <a:chExt cx="5410200" cy="1697355"/>
          </a:xfrm>
        </p:grpSpPr>
        <p:sp>
          <p:nvSpPr>
            <p:cNvPr id="15" name="Rectangle 15"/>
            <p:cNvSpPr/>
            <p:nvPr/>
          </p:nvSpPr>
          <p:spPr>
            <a:xfrm>
              <a:off x="533400" y="3873818"/>
              <a:ext cx="5410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9178" y="40024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85060" y="40024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5970" y="40024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178" y="44272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85060" y="44272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28607" y="442722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公交车等候时间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7186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72344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9178" y="4851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85060" y="4851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8607" y="485108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会面问题、两数之积之和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1425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9178" y="52758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85060" y="52758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28607" y="527589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空间中随机取点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873818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874520" y="387381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21355" y="387381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steps-1"/>
          <p:cNvGrpSpPr/>
          <p:nvPr/>
        </p:nvGrpSpPr>
        <p:grpSpPr>
          <a:xfrm>
            <a:off x="6248400" y="1533525"/>
            <a:ext cx="3882238" cy="2398776"/>
            <a:chOff x="6248400" y="1533525"/>
            <a:chExt cx="3882238" cy="2398776"/>
          </a:xfrm>
        </p:grpSpPr>
        <p:sp>
          <p:nvSpPr>
            <p:cNvPr id="35" name="Rectangle 35"/>
            <p:cNvSpPr/>
            <p:nvPr/>
          </p:nvSpPr>
          <p:spPr>
            <a:xfrm>
              <a:off x="638175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33842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0261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设变量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1846898"/>
              <a:ext cx="3469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把试验结果写成一个点，例如两人的到达时刻 (x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0261" y="2183606"/>
              <a:ext cx="577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404" y="2464118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写出变量的取值范围，算它的度量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0261" y="279987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把条件翻成不等式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404" y="3080385"/>
              <a:ext cx="2827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A 是 Ω 中满足某组不等式的那部分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0261" y="341709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画区域再积分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1404" y="369760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先画图判断边界谁上谁下，再算面积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4103370"/>
            <a:ext cx="5410200" cy="1568768"/>
            <a:chOff x="6248400" y="4103370"/>
            <a:chExt cx="5410200" cy="1568768"/>
          </a:xfrm>
        </p:grpSpPr>
        <p:sp>
          <p:nvSpPr>
            <p:cNvPr id="53" name="Rectangle 53"/>
            <p:cNvSpPr/>
            <p:nvPr/>
          </p:nvSpPr>
          <p:spPr>
            <a:xfrm>
              <a:off x="6248400" y="410337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23672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84620" y="43014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6060" y="4335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92240" y="47224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48831" y="4662011"/>
              <a:ext cx="45567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P(A) = 0 不等于 A = ∅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：正方形里“取到对角线上的点”面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积为 0，但它确实可能发生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92240" y="531114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48831" y="5251609"/>
              <a:ext cx="48793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同理 P(A) = 1 也不等于 A = Ω，这种事件叫几乎必然发生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2" name="Rectangle 6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1170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几何概型题的失分点几乎都在画区域这一步。把不等式画成图，边界交点解出来，剩下的只是积分。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9432" cy="909257"/>
            <a:chOff x="520446" y="342900"/>
            <a:chExt cx="7739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几何概型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9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例1、例2 两道积分型几何概型：先画区域，再积分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geo0"/>
          <p:cNvGrpSpPr/>
          <p:nvPr/>
        </p:nvGrpSpPr>
        <p:grpSpPr>
          <a:xfrm>
            <a:off x="533400" y="1524000"/>
            <a:ext cx="5524500" cy="4838700"/>
            <a:chOff x="533400" y="1524000"/>
            <a:chExt cx="5524500" cy="48387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838700"/>
            </a:xfrm>
            <a:prstGeom prst="roundRect">
              <a:avLst>
                <a:gd name="adj" fmla="val 236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232" y="1668066"/>
              <a:ext cx="386282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例1 x、y 是两个小于 1 的正数，求 P(xy &lt; 1/3)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185" y="1955006"/>
              <a:ext cx="5048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样本空间 Ω 是单位正方形，面积 S = 1；A 是曲线 y = 1/(3x) 下方的部分。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047750" y="2724150"/>
              <a:ext cx="1809750" cy="1809750"/>
            </a:xfrm>
            <a:custGeom>
              <a:avLst/>
              <a:gdLst/>
              <a:ahLst/>
              <a:cxnLst/>
              <a:rect l="l" t="t" r="r" b="b"/>
              <a:pathLst>
                <a:path w="1809750" h="1809750">
                  <a:moveTo>
                    <a:pt x="0" y="1809750"/>
                  </a:moveTo>
                  <a:lnTo>
                    <a:pt x="0" y="0"/>
                  </a:lnTo>
                  <a:lnTo>
                    <a:pt x="603247" y="0"/>
                  </a:lnTo>
                  <a:lnTo>
                    <a:pt x="603247" y="0"/>
                  </a:lnTo>
                  <a:lnTo>
                    <a:pt x="633412" y="86182"/>
                  </a:lnTo>
                  <a:lnTo>
                    <a:pt x="663578" y="164525"/>
                  </a:lnTo>
                  <a:lnTo>
                    <a:pt x="693734" y="236058"/>
                  </a:lnTo>
                  <a:lnTo>
                    <a:pt x="723900" y="301628"/>
                  </a:lnTo>
                  <a:lnTo>
                    <a:pt x="754066" y="361950"/>
                  </a:lnTo>
                  <a:lnTo>
                    <a:pt x="784222" y="417633"/>
                  </a:lnTo>
                  <a:lnTo>
                    <a:pt x="814388" y="469192"/>
                  </a:lnTo>
                  <a:lnTo>
                    <a:pt x="844553" y="517074"/>
                  </a:lnTo>
                  <a:lnTo>
                    <a:pt x="874709" y="561651"/>
                  </a:lnTo>
                  <a:lnTo>
                    <a:pt x="904875" y="603247"/>
                  </a:lnTo>
                  <a:lnTo>
                    <a:pt x="935041" y="642166"/>
                  </a:lnTo>
                  <a:lnTo>
                    <a:pt x="965197" y="678656"/>
                  </a:lnTo>
                  <a:lnTo>
                    <a:pt x="995362" y="712927"/>
                  </a:lnTo>
                  <a:lnTo>
                    <a:pt x="1025528" y="745188"/>
                  </a:lnTo>
                  <a:lnTo>
                    <a:pt x="1055684" y="775611"/>
                  </a:lnTo>
                  <a:lnTo>
                    <a:pt x="1085850" y="804329"/>
                  </a:lnTo>
                  <a:lnTo>
                    <a:pt x="1116016" y="831504"/>
                  </a:lnTo>
                  <a:lnTo>
                    <a:pt x="1146172" y="857250"/>
                  </a:lnTo>
                  <a:lnTo>
                    <a:pt x="1176338" y="881672"/>
                  </a:lnTo>
                  <a:lnTo>
                    <a:pt x="1206503" y="904875"/>
                  </a:lnTo>
                  <a:lnTo>
                    <a:pt x="1236659" y="926944"/>
                  </a:lnTo>
                  <a:lnTo>
                    <a:pt x="1266825" y="947966"/>
                  </a:lnTo>
                  <a:lnTo>
                    <a:pt x="1296991" y="968007"/>
                  </a:lnTo>
                  <a:lnTo>
                    <a:pt x="1327147" y="987133"/>
                  </a:lnTo>
                  <a:lnTo>
                    <a:pt x="1357312" y="1005421"/>
                  </a:lnTo>
                  <a:lnTo>
                    <a:pt x="1387478" y="1022899"/>
                  </a:lnTo>
                  <a:lnTo>
                    <a:pt x="1417634" y="1039644"/>
                  </a:lnTo>
                  <a:lnTo>
                    <a:pt x="1447800" y="1055684"/>
                  </a:lnTo>
                  <a:lnTo>
                    <a:pt x="1477966" y="1071077"/>
                  </a:lnTo>
                  <a:lnTo>
                    <a:pt x="1508122" y="1085850"/>
                  </a:lnTo>
                  <a:lnTo>
                    <a:pt x="1538288" y="1100042"/>
                  </a:lnTo>
                  <a:lnTo>
                    <a:pt x="1568453" y="1113692"/>
                  </a:lnTo>
                  <a:lnTo>
                    <a:pt x="1598609" y="1126827"/>
                  </a:lnTo>
                  <a:lnTo>
                    <a:pt x="1628775" y="1139476"/>
                  </a:lnTo>
                  <a:lnTo>
                    <a:pt x="1658941" y="1151658"/>
                  </a:lnTo>
                  <a:lnTo>
                    <a:pt x="1689097" y="1163412"/>
                  </a:lnTo>
                  <a:lnTo>
                    <a:pt x="1719262" y="1174747"/>
                  </a:lnTo>
                  <a:lnTo>
                    <a:pt x="1749428" y="1185701"/>
                  </a:lnTo>
                  <a:lnTo>
                    <a:pt x="1779584" y="1196273"/>
                  </a:lnTo>
                  <a:lnTo>
                    <a:pt x="1809750" y="1206503"/>
                  </a:lnTo>
                  <a:lnTo>
                    <a:pt x="1809750" y="180975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50997" y="2724150"/>
              <a:ext cx="1206503" cy="1206503"/>
            </a:xfrm>
            <a:custGeom>
              <a:avLst/>
              <a:gdLst/>
              <a:ahLst/>
              <a:cxnLst/>
              <a:rect l="l" t="t" r="r" b="b"/>
              <a:pathLst>
                <a:path w="1206503" h="1206503">
                  <a:moveTo>
                    <a:pt x="0" y="0"/>
                  </a:moveTo>
                  <a:lnTo>
                    <a:pt x="0" y="0"/>
                  </a:lnTo>
                  <a:lnTo>
                    <a:pt x="30166" y="86182"/>
                  </a:lnTo>
                  <a:lnTo>
                    <a:pt x="60331" y="164525"/>
                  </a:lnTo>
                  <a:lnTo>
                    <a:pt x="90488" y="236058"/>
                  </a:lnTo>
                  <a:lnTo>
                    <a:pt x="120653" y="301628"/>
                  </a:lnTo>
                  <a:lnTo>
                    <a:pt x="150819" y="361950"/>
                  </a:lnTo>
                  <a:lnTo>
                    <a:pt x="180975" y="417633"/>
                  </a:lnTo>
                  <a:lnTo>
                    <a:pt x="211141" y="469192"/>
                  </a:lnTo>
                  <a:lnTo>
                    <a:pt x="241306" y="517074"/>
                  </a:lnTo>
                  <a:lnTo>
                    <a:pt x="271462" y="561651"/>
                  </a:lnTo>
                  <a:lnTo>
                    <a:pt x="301628" y="603247"/>
                  </a:lnTo>
                  <a:lnTo>
                    <a:pt x="331794" y="642166"/>
                  </a:lnTo>
                  <a:lnTo>
                    <a:pt x="361950" y="678656"/>
                  </a:lnTo>
                  <a:lnTo>
                    <a:pt x="392116" y="712927"/>
                  </a:lnTo>
                  <a:lnTo>
                    <a:pt x="422281" y="745188"/>
                  </a:lnTo>
                  <a:lnTo>
                    <a:pt x="452438" y="775611"/>
                  </a:lnTo>
                  <a:lnTo>
                    <a:pt x="482603" y="804329"/>
                  </a:lnTo>
                  <a:lnTo>
                    <a:pt x="512769" y="831504"/>
                  </a:lnTo>
                  <a:lnTo>
                    <a:pt x="542925" y="857250"/>
                  </a:lnTo>
                  <a:lnTo>
                    <a:pt x="573091" y="881672"/>
                  </a:lnTo>
                  <a:lnTo>
                    <a:pt x="603256" y="904875"/>
                  </a:lnTo>
                  <a:lnTo>
                    <a:pt x="633412" y="926944"/>
                  </a:lnTo>
                  <a:lnTo>
                    <a:pt x="663578" y="947966"/>
                  </a:lnTo>
                  <a:lnTo>
                    <a:pt x="693744" y="968007"/>
                  </a:lnTo>
                  <a:lnTo>
                    <a:pt x="723900" y="987133"/>
                  </a:lnTo>
                  <a:lnTo>
                    <a:pt x="754066" y="1005421"/>
                  </a:lnTo>
                  <a:lnTo>
                    <a:pt x="784231" y="1022899"/>
                  </a:lnTo>
                  <a:lnTo>
                    <a:pt x="814388" y="1039644"/>
                  </a:lnTo>
                  <a:lnTo>
                    <a:pt x="844553" y="1055684"/>
                  </a:lnTo>
                  <a:lnTo>
                    <a:pt x="874719" y="1071077"/>
                  </a:lnTo>
                  <a:lnTo>
                    <a:pt x="904875" y="1085850"/>
                  </a:lnTo>
                  <a:lnTo>
                    <a:pt x="935041" y="1100042"/>
                  </a:lnTo>
                  <a:lnTo>
                    <a:pt x="965206" y="1113692"/>
                  </a:lnTo>
                  <a:lnTo>
                    <a:pt x="995363" y="1126827"/>
                  </a:lnTo>
                  <a:lnTo>
                    <a:pt x="1025528" y="1139476"/>
                  </a:lnTo>
                  <a:lnTo>
                    <a:pt x="1055694" y="1151658"/>
                  </a:lnTo>
                  <a:lnTo>
                    <a:pt x="1085850" y="1163412"/>
                  </a:lnTo>
                  <a:lnTo>
                    <a:pt x="1116016" y="1174747"/>
                  </a:lnTo>
                  <a:lnTo>
                    <a:pt x="1146181" y="1185701"/>
                  </a:lnTo>
                  <a:lnTo>
                    <a:pt x="1176338" y="1196273"/>
                  </a:lnTo>
                  <a:lnTo>
                    <a:pt x="1206503" y="1206503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47750" y="2724150"/>
              <a:ext cx="1809750" cy="1809750"/>
            </a:xfrm>
            <a:prstGeom prst="rect">
              <a:avLst/>
            </a:prstGeom>
            <a:noFill/>
            <a:ln w="17145">
              <a:solidFill>
                <a:srgbClr val="7D8AA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650997" y="272415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1809750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1047750" y="3930653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15" name="Line 15"/>
            <p:cNvSpPr/>
            <p:nvPr/>
          </p:nvSpPr>
          <p:spPr>
            <a:xfrm>
              <a:off x="990600" y="453390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038475" y="45038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1047750" y="2543175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20478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017746" y="24765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37535" y="4574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1535" y="23931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684" y="4582478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650997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33681" y="4605576"/>
              <a:ext cx="2346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8575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814966" y="4605576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000125" y="3930653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2537" y="3868979"/>
              <a:ext cx="2346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000125" y="272415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2100" y="2662476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64652" y="3302556"/>
              <a:ext cx="69011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y = 1/(3x)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30833" y="358187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7085" y="2545556"/>
              <a:ext cx="2543302" cy="1096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1（单位正方形）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≤ 1/3 时，任何 y 都满足 xy &lt; 1/3，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这一条竖直长条整块属于 A，面积 1/3。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&gt; 1/3 时，要求 y &lt; 1/(3x)，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这部分面积是曲线下的积分。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3900" y="4953000"/>
              <a:ext cx="5143500" cy="121920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3425" y="506730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4400" y="5067300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5365" y="51206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8876" y="5388054"/>
              <a:ext cx="4766120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S_A = ∫ 1/(3x) dx = 1/3 − (1/3)ln3 ≈ −0.033，是负数。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两处错：积分值应为 (1/3)ln3；而且还漏掉了 x ≤ 1/3 的那条长条。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正确结果 P(A) = 1/3 + (1/3)ln3 ≈ 0.6995（蒙特卡洛 40 万次得 0.7002）。</a:t>
              </a:r>
            </a:p>
          </p:txBody>
        </p:sp>
      </p:grpSp>
      <p:grpSp>
        <p:nvGrpSpPr>
          <p:cNvPr id="74" name="geo1"/>
          <p:cNvGrpSpPr/>
          <p:nvPr/>
        </p:nvGrpSpPr>
        <p:grpSpPr>
          <a:xfrm>
            <a:off x="6134100" y="1524000"/>
            <a:ext cx="5524500" cy="4838700"/>
            <a:chOff x="6134100" y="1524000"/>
            <a:chExt cx="5524500" cy="4838700"/>
          </a:xfrm>
        </p:grpSpPr>
        <p:sp>
          <p:nvSpPr>
            <p:cNvPr id="39" name="Rectangle 39"/>
            <p:cNvSpPr/>
            <p:nvPr/>
          </p:nvSpPr>
          <p:spPr>
            <a:xfrm>
              <a:off x="6134100" y="1524000"/>
              <a:ext cx="5524500" cy="4838700"/>
            </a:xfrm>
            <a:prstGeom prst="roundRect">
              <a:avLst>
                <a:gd name="adj" fmla="val 236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17932" y="1668066"/>
              <a:ext cx="467873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例2 任取两个不大于 1 的正数，求积 &gt; 2/9 且和 ≤ 1 的概率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18885" y="1955006"/>
              <a:ext cx="5265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夹在直线 x + y = 1 与双曲线 xy = 2/9 之间，交点由 9x² − 9x + 2 = 0 给出。</a:t>
              </a:r>
            </a:p>
          </p:txBody>
        </p:sp>
        <p:sp>
          <p:nvSpPr>
            <p:cNvPr id="42" name="Polygon 42"/>
            <p:cNvSpPr/>
            <p:nvPr/>
          </p:nvSpPr>
          <p:spPr>
            <a:xfrm>
              <a:off x="7251697" y="3327397"/>
              <a:ext cx="603256" cy="603256"/>
            </a:xfrm>
            <a:custGeom>
              <a:avLst/>
              <a:gdLst/>
              <a:ahLst/>
              <a:cxnLst/>
              <a:rect l="l" t="t" r="r" b="b"/>
              <a:pathLst>
                <a:path w="603256" h="603256">
                  <a:moveTo>
                    <a:pt x="0" y="0"/>
                  </a:moveTo>
                  <a:lnTo>
                    <a:pt x="15088" y="15088"/>
                  </a:lnTo>
                  <a:lnTo>
                    <a:pt x="30166" y="30166"/>
                  </a:lnTo>
                  <a:lnTo>
                    <a:pt x="45244" y="45244"/>
                  </a:lnTo>
                  <a:lnTo>
                    <a:pt x="60331" y="60331"/>
                  </a:lnTo>
                  <a:lnTo>
                    <a:pt x="75409" y="75409"/>
                  </a:lnTo>
                  <a:lnTo>
                    <a:pt x="90488" y="90488"/>
                  </a:lnTo>
                  <a:lnTo>
                    <a:pt x="105575" y="105575"/>
                  </a:lnTo>
                  <a:lnTo>
                    <a:pt x="120653" y="120653"/>
                  </a:lnTo>
                  <a:lnTo>
                    <a:pt x="135731" y="135731"/>
                  </a:lnTo>
                  <a:lnTo>
                    <a:pt x="150819" y="150819"/>
                  </a:lnTo>
                  <a:lnTo>
                    <a:pt x="165897" y="165897"/>
                  </a:lnTo>
                  <a:lnTo>
                    <a:pt x="180975" y="180975"/>
                  </a:lnTo>
                  <a:lnTo>
                    <a:pt x="196063" y="196063"/>
                  </a:lnTo>
                  <a:lnTo>
                    <a:pt x="211141" y="211141"/>
                  </a:lnTo>
                  <a:lnTo>
                    <a:pt x="226219" y="226219"/>
                  </a:lnTo>
                  <a:lnTo>
                    <a:pt x="241306" y="241306"/>
                  </a:lnTo>
                  <a:lnTo>
                    <a:pt x="256384" y="256384"/>
                  </a:lnTo>
                  <a:lnTo>
                    <a:pt x="271462" y="271462"/>
                  </a:lnTo>
                  <a:lnTo>
                    <a:pt x="286550" y="286550"/>
                  </a:lnTo>
                  <a:lnTo>
                    <a:pt x="301628" y="301628"/>
                  </a:lnTo>
                  <a:lnTo>
                    <a:pt x="316706" y="316706"/>
                  </a:lnTo>
                  <a:lnTo>
                    <a:pt x="331794" y="331794"/>
                  </a:lnTo>
                  <a:lnTo>
                    <a:pt x="346872" y="346872"/>
                  </a:lnTo>
                  <a:lnTo>
                    <a:pt x="361950" y="361950"/>
                  </a:lnTo>
                  <a:lnTo>
                    <a:pt x="377038" y="377038"/>
                  </a:lnTo>
                  <a:lnTo>
                    <a:pt x="392116" y="392116"/>
                  </a:lnTo>
                  <a:lnTo>
                    <a:pt x="407194" y="407194"/>
                  </a:lnTo>
                  <a:lnTo>
                    <a:pt x="422281" y="422281"/>
                  </a:lnTo>
                  <a:lnTo>
                    <a:pt x="437359" y="437359"/>
                  </a:lnTo>
                  <a:lnTo>
                    <a:pt x="452438" y="452438"/>
                  </a:lnTo>
                  <a:lnTo>
                    <a:pt x="467525" y="467525"/>
                  </a:lnTo>
                  <a:lnTo>
                    <a:pt x="482603" y="482603"/>
                  </a:lnTo>
                  <a:lnTo>
                    <a:pt x="497681" y="497681"/>
                  </a:lnTo>
                  <a:lnTo>
                    <a:pt x="512769" y="512769"/>
                  </a:lnTo>
                  <a:lnTo>
                    <a:pt x="527847" y="527847"/>
                  </a:lnTo>
                  <a:lnTo>
                    <a:pt x="542925" y="542925"/>
                  </a:lnTo>
                  <a:lnTo>
                    <a:pt x="558013" y="558013"/>
                  </a:lnTo>
                  <a:lnTo>
                    <a:pt x="573091" y="573091"/>
                  </a:lnTo>
                  <a:lnTo>
                    <a:pt x="588169" y="588169"/>
                  </a:lnTo>
                  <a:lnTo>
                    <a:pt x="603256" y="603256"/>
                  </a:lnTo>
                  <a:lnTo>
                    <a:pt x="603256" y="603256"/>
                  </a:lnTo>
                  <a:lnTo>
                    <a:pt x="588169" y="595617"/>
                  </a:lnTo>
                  <a:lnTo>
                    <a:pt x="573091" y="587788"/>
                  </a:lnTo>
                  <a:lnTo>
                    <a:pt x="558013" y="579749"/>
                  </a:lnTo>
                  <a:lnTo>
                    <a:pt x="542925" y="571500"/>
                  </a:lnTo>
                  <a:lnTo>
                    <a:pt x="527847" y="563032"/>
                  </a:lnTo>
                  <a:lnTo>
                    <a:pt x="512769" y="554345"/>
                  </a:lnTo>
                  <a:lnTo>
                    <a:pt x="497681" y="545411"/>
                  </a:lnTo>
                  <a:lnTo>
                    <a:pt x="482603" y="536229"/>
                  </a:lnTo>
                  <a:lnTo>
                    <a:pt x="467525" y="526780"/>
                  </a:lnTo>
                  <a:lnTo>
                    <a:pt x="452438" y="517074"/>
                  </a:lnTo>
                  <a:lnTo>
                    <a:pt x="437359" y="507082"/>
                  </a:lnTo>
                  <a:lnTo>
                    <a:pt x="422281" y="496795"/>
                  </a:lnTo>
                  <a:lnTo>
                    <a:pt x="407194" y="486204"/>
                  </a:lnTo>
                  <a:lnTo>
                    <a:pt x="392116" y="475288"/>
                  </a:lnTo>
                  <a:lnTo>
                    <a:pt x="377038" y="464039"/>
                  </a:lnTo>
                  <a:lnTo>
                    <a:pt x="361950" y="452438"/>
                  </a:lnTo>
                  <a:lnTo>
                    <a:pt x="346872" y="440474"/>
                  </a:lnTo>
                  <a:lnTo>
                    <a:pt x="331794" y="428120"/>
                  </a:lnTo>
                  <a:lnTo>
                    <a:pt x="316706" y="415357"/>
                  </a:lnTo>
                  <a:lnTo>
                    <a:pt x="301628" y="402174"/>
                  </a:lnTo>
                  <a:lnTo>
                    <a:pt x="286550" y="388534"/>
                  </a:lnTo>
                  <a:lnTo>
                    <a:pt x="271462" y="374437"/>
                  </a:lnTo>
                  <a:lnTo>
                    <a:pt x="256384" y="359835"/>
                  </a:lnTo>
                  <a:lnTo>
                    <a:pt x="241306" y="344719"/>
                  </a:lnTo>
                  <a:lnTo>
                    <a:pt x="226219" y="329051"/>
                  </a:lnTo>
                  <a:lnTo>
                    <a:pt x="211141" y="312801"/>
                  </a:lnTo>
                  <a:lnTo>
                    <a:pt x="196063" y="295942"/>
                  </a:lnTo>
                  <a:lnTo>
                    <a:pt x="180975" y="278425"/>
                  </a:lnTo>
                  <a:lnTo>
                    <a:pt x="165897" y="260233"/>
                  </a:lnTo>
                  <a:lnTo>
                    <a:pt x="150819" y="241306"/>
                  </a:lnTo>
                  <a:lnTo>
                    <a:pt x="135731" y="221609"/>
                  </a:lnTo>
                  <a:lnTo>
                    <a:pt x="120653" y="201082"/>
                  </a:lnTo>
                  <a:lnTo>
                    <a:pt x="105575" y="179699"/>
                  </a:lnTo>
                  <a:lnTo>
                    <a:pt x="90488" y="157372"/>
                  </a:lnTo>
                  <a:lnTo>
                    <a:pt x="75409" y="134055"/>
                  </a:lnTo>
                  <a:lnTo>
                    <a:pt x="60331" y="109680"/>
                  </a:lnTo>
                  <a:lnTo>
                    <a:pt x="45244" y="84182"/>
                  </a:lnTo>
                  <a:lnTo>
                    <a:pt x="30166" y="57455"/>
                  </a:lnTo>
                  <a:lnTo>
                    <a:pt x="15088" y="29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648450" y="2724150"/>
              <a:ext cx="1809750" cy="1809750"/>
            </a:xfrm>
            <a:custGeom>
              <a:avLst/>
              <a:gdLst/>
              <a:ahLst/>
              <a:cxnLst/>
              <a:rect l="l" t="t" r="r" b="b"/>
              <a:pathLst>
                <a:path w="1809750" h="1809750">
                  <a:moveTo>
                    <a:pt x="0" y="0"/>
                  </a:moveTo>
                  <a:lnTo>
                    <a:pt x="1809750" y="1809750"/>
                  </a:lnTo>
                </a:path>
              </a:pathLst>
            </a:custGeom>
            <a:noFill/>
            <a:ln w="17145">
              <a:solidFill>
                <a:srgbClr val="6B7A99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082790" y="2858205"/>
              <a:ext cx="1375410" cy="1273531"/>
            </a:xfrm>
            <a:custGeom>
              <a:avLst/>
              <a:gdLst/>
              <a:ahLst/>
              <a:cxnLst/>
              <a:rect l="l" t="t" r="r" b="b"/>
              <a:pathLst>
                <a:path w="1375410" h="1273531">
                  <a:moveTo>
                    <a:pt x="0" y="0"/>
                  </a:moveTo>
                  <a:lnTo>
                    <a:pt x="22927" y="84010"/>
                  </a:lnTo>
                  <a:lnTo>
                    <a:pt x="45844" y="159991"/>
                  </a:lnTo>
                  <a:lnTo>
                    <a:pt x="68771" y="229057"/>
                  </a:lnTo>
                  <a:lnTo>
                    <a:pt x="91697" y="292094"/>
                  </a:lnTo>
                  <a:lnTo>
                    <a:pt x="114614" y="349872"/>
                  </a:lnTo>
                  <a:lnTo>
                    <a:pt x="137541" y="403012"/>
                  </a:lnTo>
                  <a:lnTo>
                    <a:pt x="160468" y="452066"/>
                  </a:lnTo>
                  <a:lnTo>
                    <a:pt x="183385" y="497472"/>
                  </a:lnTo>
                  <a:lnTo>
                    <a:pt x="206311" y="539629"/>
                  </a:lnTo>
                  <a:lnTo>
                    <a:pt x="229238" y="578872"/>
                  </a:lnTo>
                  <a:lnTo>
                    <a:pt x="252155" y="615506"/>
                  </a:lnTo>
                  <a:lnTo>
                    <a:pt x="275082" y="649757"/>
                  </a:lnTo>
                  <a:lnTo>
                    <a:pt x="298009" y="681876"/>
                  </a:lnTo>
                  <a:lnTo>
                    <a:pt x="320926" y="712041"/>
                  </a:lnTo>
                  <a:lnTo>
                    <a:pt x="343853" y="740426"/>
                  </a:lnTo>
                  <a:lnTo>
                    <a:pt x="366779" y="767182"/>
                  </a:lnTo>
                  <a:lnTo>
                    <a:pt x="389696" y="792461"/>
                  </a:lnTo>
                  <a:lnTo>
                    <a:pt x="412623" y="816369"/>
                  </a:lnTo>
                  <a:lnTo>
                    <a:pt x="435550" y="839010"/>
                  </a:lnTo>
                  <a:lnTo>
                    <a:pt x="458467" y="860488"/>
                  </a:lnTo>
                  <a:lnTo>
                    <a:pt x="481393" y="880901"/>
                  </a:lnTo>
                  <a:lnTo>
                    <a:pt x="504320" y="900313"/>
                  </a:lnTo>
                  <a:lnTo>
                    <a:pt x="527237" y="918791"/>
                  </a:lnTo>
                  <a:lnTo>
                    <a:pt x="550164" y="936422"/>
                  </a:lnTo>
                  <a:lnTo>
                    <a:pt x="573091" y="953243"/>
                  </a:lnTo>
                  <a:lnTo>
                    <a:pt x="596008" y="969312"/>
                  </a:lnTo>
                  <a:lnTo>
                    <a:pt x="618935" y="984685"/>
                  </a:lnTo>
                  <a:lnTo>
                    <a:pt x="641861" y="999411"/>
                  </a:lnTo>
                  <a:lnTo>
                    <a:pt x="664778" y="1013508"/>
                  </a:lnTo>
                  <a:lnTo>
                    <a:pt x="687705" y="1027043"/>
                  </a:lnTo>
                  <a:lnTo>
                    <a:pt x="710632" y="1040025"/>
                  </a:lnTo>
                  <a:lnTo>
                    <a:pt x="733549" y="1052503"/>
                  </a:lnTo>
                  <a:lnTo>
                    <a:pt x="756475" y="1064495"/>
                  </a:lnTo>
                  <a:lnTo>
                    <a:pt x="779402" y="1076039"/>
                  </a:lnTo>
                  <a:lnTo>
                    <a:pt x="802319" y="1087155"/>
                  </a:lnTo>
                  <a:lnTo>
                    <a:pt x="825246" y="1097871"/>
                  </a:lnTo>
                  <a:lnTo>
                    <a:pt x="848173" y="1108196"/>
                  </a:lnTo>
                  <a:lnTo>
                    <a:pt x="871090" y="1118159"/>
                  </a:lnTo>
                  <a:lnTo>
                    <a:pt x="894017" y="1127789"/>
                  </a:lnTo>
                  <a:lnTo>
                    <a:pt x="916943" y="1137075"/>
                  </a:lnTo>
                  <a:lnTo>
                    <a:pt x="939860" y="1146067"/>
                  </a:lnTo>
                  <a:lnTo>
                    <a:pt x="962787" y="1154754"/>
                  </a:lnTo>
                  <a:lnTo>
                    <a:pt x="985714" y="1163164"/>
                  </a:lnTo>
                  <a:lnTo>
                    <a:pt x="1008631" y="1171308"/>
                  </a:lnTo>
                  <a:lnTo>
                    <a:pt x="1031557" y="1179195"/>
                  </a:lnTo>
                  <a:lnTo>
                    <a:pt x="1054484" y="1186834"/>
                  </a:lnTo>
                  <a:lnTo>
                    <a:pt x="1077401" y="1194254"/>
                  </a:lnTo>
                  <a:lnTo>
                    <a:pt x="1100328" y="1201445"/>
                  </a:lnTo>
                  <a:lnTo>
                    <a:pt x="1123255" y="1208418"/>
                  </a:lnTo>
                  <a:lnTo>
                    <a:pt x="1146172" y="1215199"/>
                  </a:lnTo>
                  <a:lnTo>
                    <a:pt x="1169098" y="1221781"/>
                  </a:lnTo>
                  <a:lnTo>
                    <a:pt x="1192025" y="1228182"/>
                  </a:lnTo>
                  <a:lnTo>
                    <a:pt x="1214942" y="1234402"/>
                  </a:lnTo>
                  <a:lnTo>
                    <a:pt x="1237869" y="1240450"/>
                  </a:lnTo>
                  <a:lnTo>
                    <a:pt x="1260796" y="1246337"/>
                  </a:lnTo>
                  <a:lnTo>
                    <a:pt x="1283713" y="1252061"/>
                  </a:lnTo>
                  <a:lnTo>
                    <a:pt x="1306639" y="1257643"/>
                  </a:lnTo>
                  <a:lnTo>
                    <a:pt x="1329566" y="1263072"/>
                  </a:lnTo>
                  <a:lnTo>
                    <a:pt x="1352483" y="1268368"/>
                  </a:lnTo>
                  <a:lnTo>
                    <a:pt x="1375410" y="1273531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48450" y="2724150"/>
              <a:ext cx="1809750" cy="1809750"/>
            </a:xfrm>
            <a:prstGeom prst="rect">
              <a:avLst/>
            </a:prstGeom>
            <a:noFill/>
            <a:ln w="17145">
              <a:solidFill>
                <a:srgbClr val="7D8AA8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251697" y="3327397"/>
              <a:ext cx="9525" cy="1206503"/>
            </a:xfrm>
            <a:custGeom>
              <a:avLst/>
              <a:gdLst/>
              <a:ahLst/>
              <a:cxnLst/>
              <a:rect l="l" t="t" r="r" b="b"/>
              <a:pathLst>
                <a:path w="9525" h="1206503">
                  <a:moveTo>
                    <a:pt x="0" y="1206503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47" name="Line 47"/>
            <p:cNvSpPr/>
            <p:nvPr/>
          </p:nvSpPr>
          <p:spPr>
            <a:xfrm>
              <a:off x="7854953" y="3930653"/>
              <a:ext cx="9525" cy="603247"/>
            </a:xfrm>
            <a:custGeom>
              <a:avLst/>
              <a:gdLst/>
              <a:ahLst/>
              <a:cxnLst/>
              <a:rect l="l" t="t" r="r" b="b"/>
              <a:pathLst>
                <a:path w="9525" h="603247">
                  <a:moveTo>
                    <a:pt x="0" y="603247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48" name="Line 48"/>
            <p:cNvSpPr/>
            <p:nvPr/>
          </p:nvSpPr>
          <p:spPr>
            <a:xfrm>
              <a:off x="6591300" y="453390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8639175" y="45038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6648450" y="2543175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20478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6618446" y="24765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738235" y="4574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2235" y="23931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01384" y="4582478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251697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34381" y="4605576"/>
              <a:ext cx="2346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7854953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37638" y="4605576"/>
              <a:ext cx="2346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2/3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84582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15666" y="4605576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600825" y="272415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82800" y="2662476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10132" y="3483531"/>
              <a:ext cx="54735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41506F"/>
                  </a:solidFill>
                  <a:latin typeface="+mn-lt"/>
                  <a:ea typeface="+mn-ea"/>
                  <a:cs typeface="+mn-cs"/>
                </a:rPr>
                <a:t>x + y =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46326" y="4062651"/>
              <a:ext cx="54055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xy = 2/9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7593330" y="3411855"/>
              <a:ext cx="177165" cy="236220"/>
            </a:xfrm>
            <a:custGeom>
              <a:avLst/>
              <a:gdLst/>
              <a:ahLst/>
              <a:cxnLst/>
              <a:rect l="l" t="t" r="r" b="b"/>
              <a:pathLst>
                <a:path w="177165" h="236220">
                  <a:moveTo>
                    <a:pt x="177165" y="0"/>
                  </a:moveTo>
                  <a:lnTo>
                    <a:pt x="0" y="236220"/>
                  </a:lnTo>
                </a:path>
              </a:pathLst>
            </a:custGeom>
            <a:noFill/>
            <a:ln w="15240">
              <a:solidFill>
                <a:srgbClr val="F26B3A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7553325" y="3630073"/>
              <a:ext cx="64008" cy="71342"/>
            </a:xfrm>
            <a:custGeom>
              <a:avLst/>
              <a:gdLst/>
              <a:ahLst/>
              <a:cxnLst/>
              <a:rect l="l" t="t" r="r" b="b"/>
              <a:pathLst>
                <a:path w="64008" h="71342">
                  <a:moveTo>
                    <a:pt x="0" y="71342"/>
                  </a:moveTo>
                  <a:lnTo>
                    <a:pt x="16002" y="0"/>
                  </a:lnTo>
                  <a:lnTo>
                    <a:pt x="64008" y="36004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82497" y="3218974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47785" y="2545556"/>
              <a:ext cx="2329942" cy="1315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两条边界交于 x = 1/3 与 x = 2/3：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x = 2/(9x) ⇒ 9x² − 9x + 2 = 0。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1/3 &lt; x &lt; 2/3 上，上边界是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1 − x，下边界是 y = 2/(9x)，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把两者之差沿 x 积分即得 A 的面积。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1，所以 P(A) 就等于这块面积。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324600" y="4953000"/>
              <a:ext cx="5143500" cy="121920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334125" y="506730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515100" y="5067300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16065" y="51206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09576" y="5388054"/>
              <a:ext cx="4302379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区域很窄，P(A) ≈ 0.0126。画图时若把上下边界搞反，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积分会得到负数；先解交点、再判断谁在上面，是这类题的固定步骤。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本页结果已用 40 万次蒙特卡洛复核（0.01269）。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82713" cy="909257"/>
            <a:chOff x="520446" y="342900"/>
            <a:chExt cx="80827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几何概型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82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例3、例4 会面问题与蒲丰投针：把时间和角度当坐标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geo2_0"/>
          <p:cNvGrpSpPr/>
          <p:nvPr/>
        </p:nvGrpSpPr>
        <p:grpSpPr>
          <a:xfrm>
            <a:off x="533400" y="1524000"/>
            <a:ext cx="5524500" cy="4838700"/>
            <a:chOff x="533400" y="1524000"/>
            <a:chExt cx="5524500" cy="48387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838700"/>
            </a:xfrm>
            <a:prstGeom prst="roundRect">
              <a:avLst>
                <a:gd name="adj" fmla="val 236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232" y="1668066"/>
              <a:ext cx="426342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例3（会面问题） 先到者等 t 小时，两人能会面的概率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185" y="1955006"/>
              <a:ext cx="4566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x、y 是两人到达的时刻，Ω 是边长 T 的正方形；会面 ⇔ |x − y| ≤ t。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047750" y="2724150"/>
              <a:ext cx="1809750" cy="1809750"/>
            </a:xfrm>
            <a:custGeom>
              <a:avLst/>
              <a:gdLst/>
              <a:ahLst/>
              <a:cxnLst/>
              <a:rect l="l" t="t" r="r" b="b"/>
              <a:pathLst>
                <a:path w="1809750" h="1809750">
                  <a:moveTo>
                    <a:pt x="0" y="1809750"/>
                  </a:moveTo>
                  <a:lnTo>
                    <a:pt x="0" y="1266825"/>
                  </a:lnTo>
                  <a:lnTo>
                    <a:pt x="1266825" y="0"/>
                  </a:lnTo>
                  <a:lnTo>
                    <a:pt x="1809750" y="0"/>
                  </a:lnTo>
                  <a:lnTo>
                    <a:pt x="1809750" y="542925"/>
                  </a:lnTo>
                  <a:lnTo>
                    <a:pt x="542925" y="180975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724150"/>
              <a:ext cx="1809750" cy="1809750"/>
            </a:xfrm>
            <a:prstGeom prst="rect">
              <a:avLst/>
            </a:prstGeom>
            <a:noFill/>
            <a:ln w="17145">
              <a:solidFill>
                <a:srgbClr val="7D8AA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47750" y="2724150"/>
              <a:ext cx="1266825" cy="1266825"/>
            </a:xfrm>
            <a:custGeom>
              <a:avLst/>
              <a:gdLst/>
              <a:ahLst/>
              <a:cxnLst/>
              <a:rect l="l" t="t" r="r" b="b"/>
              <a:pathLst>
                <a:path w="1266825" h="1266825">
                  <a:moveTo>
                    <a:pt x="0" y="1266825"/>
                  </a:moveTo>
                  <a:lnTo>
                    <a:pt x="1266825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90675" y="3267075"/>
              <a:ext cx="1266825" cy="1266825"/>
            </a:xfrm>
            <a:custGeom>
              <a:avLst/>
              <a:gdLst/>
              <a:ahLst/>
              <a:cxnLst/>
              <a:rect l="l" t="t" r="r" b="b"/>
              <a:pathLst>
                <a:path w="1266825" h="1266825">
                  <a:moveTo>
                    <a:pt x="0" y="1266825"/>
                  </a:moveTo>
                  <a:lnTo>
                    <a:pt x="1266825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90600" y="453390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038475" y="45038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1047750" y="2543175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20478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1017746" y="24765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37535" y="4574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1535" y="23931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0684" y="4582478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590675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48141" y="4605576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8575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12849" y="4605576"/>
              <a:ext cx="8930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00125" y="399097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2100" y="3929301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000125" y="272415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7867" y="2662476"/>
              <a:ext cx="8930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46148" y="359997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23772" y="3089434"/>
              <a:ext cx="531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1506F"/>
                  </a:solidFill>
                  <a:latin typeface="+mn-lt"/>
                  <a:ea typeface="+mn-ea"/>
                  <a:cs typeface="+mn-cs"/>
                </a:rPr>
                <a:t>y − x &gt; 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64842" y="4175284"/>
              <a:ext cx="531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1506F"/>
                  </a:solidFill>
                  <a:latin typeface="+mn-lt"/>
                  <a:ea typeface="+mn-ea"/>
                  <a:cs typeface="+mn-cs"/>
                </a:rPr>
                <a:t>x − y &gt; 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7085" y="2545556"/>
              <a:ext cx="2507742" cy="1315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{(x, y) : 0 ≤ x ≤ T, 0 ≤ y ≤ T}，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面积 S = T²。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不能会面的是左上、右下两个直角三角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形，直角边都是 T − t，合起来正好拼成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一个边长 T − t 的正方形。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A 的面积 = T² − (T − t)²。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3900" y="4953000"/>
              <a:ext cx="5143500" cy="121920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3425" y="506730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4400" y="5067300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7364" y="51206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常见变形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8876" y="5388054"/>
              <a:ext cx="4101656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把“等 t 小时”改成两人等待时间不同（甲等 t₁、乙等 t₂），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两个三角形的直角边分别是 T − t₁ 和 T − t₂，面积要分开算。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1、t = 1/4 时 P(A) = 7/16 = 0.4375，与模拟值 0.438 一致。</a:t>
              </a:r>
            </a:p>
          </p:txBody>
        </p:sp>
      </p:grpSp>
      <p:grpSp>
        <p:nvGrpSpPr>
          <p:cNvPr id="69" name="geo2_1"/>
          <p:cNvGrpSpPr/>
          <p:nvPr/>
        </p:nvGrpSpPr>
        <p:grpSpPr>
          <a:xfrm>
            <a:off x="6134100" y="1524000"/>
            <a:ext cx="5524500" cy="4838700"/>
            <a:chOff x="6134100" y="1524000"/>
            <a:chExt cx="5524500" cy="4838700"/>
          </a:xfrm>
        </p:grpSpPr>
        <p:sp>
          <p:nvSpPr>
            <p:cNvPr id="39" name="Rectangle 39"/>
            <p:cNvSpPr/>
            <p:nvPr/>
          </p:nvSpPr>
          <p:spPr>
            <a:xfrm>
              <a:off x="6134100" y="1524000"/>
              <a:ext cx="5524500" cy="4838700"/>
            </a:xfrm>
            <a:prstGeom prst="roundRect">
              <a:avLst>
                <a:gd name="adj" fmla="val 236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17932" y="1668066"/>
              <a:ext cx="316871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例4（蒲丰投针） 针与平行线相交的概率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18885" y="1955006"/>
              <a:ext cx="5115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线距 2a，针长 2l（l &lt; a）。用针中点到最近平行线的距离 x 和夹角 φ 定位。</a:t>
              </a:r>
            </a:p>
          </p:txBody>
        </p:sp>
        <p:sp>
          <p:nvSpPr>
            <p:cNvPr id="42" name="Polygon 42"/>
            <p:cNvSpPr/>
            <p:nvPr/>
          </p:nvSpPr>
          <p:spPr>
            <a:xfrm>
              <a:off x="6648450" y="3411855"/>
              <a:ext cx="1809750" cy="1122045"/>
            </a:xfrm>
            <a:custGeom>
              <a:avLst/>
              <a:gdLst/>
              <a:ahLst/>
              <a:cxnLst/>
              <a:rect l="l" t="t" r="r" b="b"/>
              <a:pathLst>
                <a:path w="1809750" h="1122045">
                  <a:moveTo>
                    <a:pt x="0" y="1122045"/>
                  </a:moveTo>
                  <a:lnTo>
                    <a:pt x="0" y="1122045"/>
                  </a:lnTo>
                  <a:lnTo>
                    <a:pt x="30166" y="1063323"/>
                  </a:lnTo>
                  <a:lnTo>
                    <a:pt x="60322" y="1004764"/>
                  </a:lnTo>
                  <a:lnTo>
                    <a:pt x="90488" y="946518"/>
                  </a:lnTo>
                  <a:lnTo>
                    <a:pt x="120653" y="888759"/>
                  </a:lnTo>
                  <a:lnTo>
                    <a:pt x="150809" y="831637"/>
                  </a:lnTo>
                  <a:lnTo>
                    <a:pt x="180975" y="775316"/>
                  </a:lnTo>
                  <a:lnTo>
                    <a:pt x="211141" y="719938"/>
                  </a:lnTo>
                  <a:lnTo>
                    <a:pt x="241297" y="665664"/>
                  </a:lnTo>
                  <a:lnTo>
                    <a:pt x="271462" y="612648"/>
                  </a:lnTo>
                  <a:lnTo>
                    <a:pt x="301628" y="561023"/>
                  </a:lnTo>
                  <a:lnTo>
                    <a:pt x="331784" y="510940"/>
                  </a:lnTo>
                  <a:lnTo>
                    <a:pt x="361950" y="462524"/>
                  </a:lnTo>
                  <a:lnTo>
                    <a:pt x="392116" y="415919"/>
                  </a:lnTo>
                  <a:lnTo>
                    <a:pt x="422272" y="371246"/>
                  </a:lnTo>
                  <a:lnTo>
                    <a:pt x="452438" y="328641"/>
                  </a:lnTo>
                  <a:lnTo>
                    <a:pt x="482603" y="288207"/>
                  </a:lnTo>
                  <a:lnTo>
                    <a:pt x="512759" y="250050"/>
                  </a:lnTo>
                  <a:lnTo>
                    <a:pt x="542925" y="214293"/>
                  </a:lnTo>
                  <a:lnTo>
                    <a:pt x="573091" y="181023"/>
                  </a:lnTo>
                  <a:lnTo>
                    <a:pt x="603247" y="150324"/>
                  </a:lnTo>
                  <a:lnTo>
                    <a:pt x="633412" y="122291"/>
                  </a:lnTo>
                  <a:lnTo>
                    <a:pt x="663578" y="97003"/>
                  </a:lnTo>
                  <a:lnTo>
                    <a:pt x="693734" y="74524"/>
                  </a:lnTo>
                  <a:lnTo>
                    <a:pt x="723900" y="54921"/>
                  </a:lnTo>
                  <a:lnTo>
                    <a:pt x="754066" y="38233"/>
                  </a:lnTo>
                  <a:lnTo>
                    <a:pt x="784222" y="24517"/>
                  </a:lnTo>
                  <a:lnTo>
                    <a:pt x="814388" y="13811"/>
                  </a:lnTo>
                  <a:lnTo>
                    <a:pt x="844553" y="6144"/>
                  </a:lnTo>
                  <a:lnTo>
                    <a:pt x="874709" y="1534"/>
                  </a:lnTo>
                  <a:lnTo>
                    <a:pt x="904875" y="0"/>
                  </a:lnTo>
                  <a:lnTo>
                    <a:pt x="935041" y="1534"/>
                  </a:lnTo>
                  <a:lnTo>
                    <a:pt x="965197" y="6144"/>
                  </a:lnTo>
                  <a:lnTo>
                    <a:pt x="995362" y="13811"/>
                  </a:lnTo>
                  <a:lnTo>
                    <a:pt x="1025528" y="24517"/>
                  </a:lnTo>
                  <a:lnTo>
                    <a:pt x="1055684" y="38233"/>
                  </a:lnTo>
                  <a:lnTo>
                    <a:pt x="1085850" y="54921"/>
                  </a:lnTo>
                  <a:lnTo>
                    <a:pt x="1116016" y="74524"/>
                  </a:lnTo>
                  <a:lnTo>
                    <a:pt x="1146172" y="97003"/>
                  </a:lnTo>
                  <a:lnTo>
                    <a:pt x="1176338" y="122291"/>
                  </a:lnTo>
                  <a:lnTo>
                    <a:pt x="1206503" y="150324"/>
                  </a:lnTo>
                  <a:lnTo>
                    <a:pt x="1236659" y="181023"/>
                  </a:lnTo>
                  <a:lnTo>
                    <a:pt x="1266825" y="214293"/>
                  </a:lnTo>
                  <a:lnTo>
                    <a:pt x="1296991" y="250050"/>
                  </a:lnTo>
                  <a:lnTo>
                    <a:pt x="1327147" y="288207"/>
                  </a:lnTo>
                  <a:lnTo>
                    <a:pt x="1357312" y="328641"/>
                  </a:lnTo>
                  <a:lnTo>
                    <a:pt x="1387478" y="371246"/>
                  </a:lnTo>
                  <a:lnTo>
                    <a:pt x="1417634" y="415919"/>
                  </a:lnTo>
                  <a:lnTo>
                    <a:pt x="1447800" y="462524"/>
                  </a:lnTo>
                  <a:lnTo>
                    <a:pt x="1477966" y="510940"/>
                  </a:lnTo>
                  <a:lnTo>
                    <a:pt x="1508122" y="561023"/>
                  </a:lnTo>
                  <a:lnTo>
                    <a:pt x="1538288" y="612648"/>
                  </a:lnTo>
                  <a:lnTo>
                    <a:pt x="1568453" y="665664"/>
                  </a:lnTo>
                  <a:lnTo>
                    <a:pt x="1598609" y="719938"/>
                  </a:lnTo>
                  <a:lnTo>
                    <a:pt x="1628775" y="775316"/>
                  </a:lnTo>
                  <a:lnTo>
                    <a:pt x="1658941" y="831637"/>
                  </a:lnTo>
                  <a:lnTo>
                    <a:pt x="1689097" y="888759"/>
                  </a:lnTo>
                  <a:lnTo>
                    <a:pt x="1719262" y="946518"/>
                  </a:lnTo>
                  <a:lnTo>
                    <a:pt x="1749428" y="1004764"/>
                  </a:lnTo>
                  <a:lnTo>
                    <a:pt x="1779584" y="1063323"/>
                  </a:lnTo>
                  <a:lnTo>
                    <a:pt x="1809750" y="1122045"/>
                  </a:lnTo>
                  <a:lnTo>
                    <a:pt x="1809750" y="1122045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648450" y="3411855"/>
              <a:ext cx="1809750" cy="1122045"/>
            </a:xfrm>
            <a:custGeom>
              <a:avLst/>
              <a:gdLst/>
              <a:ahLst/>
              <a:cxnLst/>
              <a:rect l="l" t="t" r="r" b="b"/>
              <a:pathLst>
                <a:path w="1809750" h="1122045">
                  <a:moveTo>
                    <a:pt x="0" y="1122045"/>
                  </a:moveTo>
                  <a:lnTo>
                    <a:pt x="30166" y="1063323"/>
                  </a:lnTo>
                  <a:lnTo>
                    <a:pt x="60322" y="1004764"/>
                  </a:lnTo>
                  <a:lnTo>
                    <a:pt x="90488" y="946518"/>
                  </a:lnTo>
                  <a:lnTo>
                    <a:pt x="120653" y="888759"/>
                  </a:lnTo>
                  <a:lnTo>
                    <a:pt x="150809" y="831637"/>
                  </a:lnTo>
                  <a:lnTo>
                    <a:pt x="180975" y="775316"/>
                  </a:lnTo>
                  <a:lnTo>
                    <a:pt x="211141" y="719938"/>
                  </a:lnTo>
                  <a:lnTo>
                    <a:pt x="241297" y="665664"/>
                  </a:lnTo>
                  <a:lnTo>
                    <a:pt x="271462" y="612648"/>
                  </a:lnTo>
                  <a:lnTo>
                    <a:pt x="301628" y="561023"/>
                  </a:lnTo>
                  <a:lnTo>
                    <a:pt x="331784" y="510940"/>
                  </a:lnTo>
                  <a:lnTo>
                    <a:pt x="361950" y="462524"/>
                  </a:lnTo>
                  <a:lnTo>
                    <a:pt x="392116" y="415919"/>
                  </a:lnTo>
                  <a:lnTo>
                    <a:pt x="422272" y="371246"/>
                  </a:lnTo>
                  <a:lnTo>
                    <a:pt x="452438" y="328641"/>
                  </a:lnTo>
                  <a:lnTo>
                    <a:pt x="482603" y="288207"/>
                  </a:lnTo>
                  <a:lnTo>
                    <a:pt x="512759" y="250050"/>
                  </a:lnTo>
                  <a:lnTo>
                    <a:pt x="542925" y="214293"/>
                  </a:lnTo>
                  <a:lnTo>
                    <a:pt x="573091" y="181023"/>
                  </a:lnTo>
                  <a:lnTo>
                    <a:pt x="603247" y="150324"/>
                  </a:lnTo>
                  <a:lnTo>
                    <a:pt x="633412" y="122291"/>
                  </a:lnTo>
                  <a:lnTo>
                    <a:pt x="663578" y="97003"/>
                  </a:lnTo>
                  <a:lnTo>
                    <a:pt x="693734" y="74524"/>
                  </a:lnTo>
                  <a:lnTo>
                    <a:pt x="723900" y="54921"/>
                  </a:lnTo>
                  <a:lnTo>
                    <a:pt x="754066" y="38233"/>
                  </a:lnTo>
                  <a:lnTo>
                    <a:pt x="784222" y="24517"/>
                  </a:lnTo>
                  <a:lnTo>
                    <a:pt x="814388" y="13811"/>
                  </a:lnTo>
                  <a:lnTo>
                    <a:pt x="844553" y="6144"/>
                  </a:lnTo>
                  <a:lnTo>
                    <a:pt x="874709" y="1534"/>
                  </a:lnTo>
                  <a:lnTo>
                    <a:pt x="904875" y="0"/>
                  </a:lnTo>
                  <a:lnTo>
                    <a:pt x="935041" y="1534"/>
                  </a:lnTo>
                  <a:lnTo>
                    <a:pt x="965197" y="6144"/>
                  </a:lnTo>
                  <a:lnTo>
                    <a:pt x="995362" y="13811"/>
                  </a:lnTo>
                  <a:lnTo>
                    <a:pt x="1025528" y="24517"/>
                  </a:lnTo>
                  <a:lnTo>
                    <a:pt x="1055684" y="38233"/>
                  </a:lnTo>
                  <a:lnTo>
                    <a:pt x="1085850" y="54921"/>
                  </a:lnTo>
                  <a:lnTo>
                    <a:pt x="1116016" y="74524"/>
                  </a:lnTo>
                  <a:lnTo>
                    <a:pt x="1146172" y="97003"/>
                  </a:lnTo>
                  <a:lnTo>
                    <a:pt x="1176338" y="122291"/>
                  </a:lnTo>
                  <a:lnTo>
                    <a:pt x="1206503" y="150324"/>
                  </a:lnTo>
                  <a:lnTo>
                    <a:pt x="1236659" y="181023"/>
                  </a:lnTo>
                  <a:lnTo>
                    <a:pt x="1266825" y="214293"/>
                  </a:lnTo>
                  <a:lnTo>
                    <a:pt x="1296991" y="250050"/>
                  </a:lnTo>
                  <a:lnTo>
                    <a:pt x="1327147" y="288207"/>
                  </a:lnTo>
                  <a:lnTo>
                    <a:pt x="1357312" y="328641"/>
                  </a:lnTo>
                  <a:lnTo>
                    <a:pt x="1387478" y="371246"/>
                  </a:lnTo>
                  <a:lnTo>
                    <a:pt x="1417634" y="415919"/>
                  </a:lnTo>
                  <a:lnTo>
                    <a:pt x="1447800" y="462524"/>
                  </a:lnTo>
                  <a:lnTo>
                    <a:pt x="1477966" y="510940"/>
                  </a:lnTo>
                  <a:lnTo>
                    <a:pt x="1508122" y="561023"/>
                  </a:lnTo>
                  <a:lnTo>
                    <a:pt x="1538288" y="612648"/>
                  </a:lnTo>
                  <a:lnTo>
                    <a:pt x="1568453" y="665664"/>
                  </a:lnTo>
                  <a:lnTo>
                    <a:pt x="1598609" y="719938"/>
                  </a:lnTo>
                  <a:lnTo>
                    <a:pt x="1628775" y="775316"/>
                  </a:lnTo>
                  <a:lnTo>
                    <a:pt x="1658941" y="831637"/>
                  </a:lnTo>
                  <a:lnTo>
                    <a:pt x="1689097" y="888759"/>
                  </a:lnTo>
                  <a:lnTo>
                    <a:pt x="1719262" y="946518"/>
                  </a:lnTo>
                  <a:lnTo>
                    <a:pt x="1749428" y="1004764"/>
                  </a:lnTo>
                  <a:lnTo>
                    <a:pt x="1779584" y="1063323"/>
                  </a:lnTo>
                  <a:lnTo>
                    <a:pt x="1809750" y="112204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48450" y="2724150"/>
              <a:ext cx="1809750" cy="1809750"/>
            </a:xfrm>
            <a:prstGeom prst="rect">
              <a:avLst/>
            </a:prstGeom>
            <a:noFill/>
            <a:ln w="17145">
              <a:solidFill>
                <a:srgbClr val="7D8AA8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6648450" y="3411855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46" name="Line 46"/>
            <p:cNvSpPr/>
            <p:nvPr/>
          </p:nvSpPr>
          <p:spPr>
            <a:xfrm>
              <a:off x="6591300" y="453390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8639175" y="45038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6648450" y="2543175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20478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6618446" y="24765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38235" y="4574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52235" y="23931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01384" y="4582478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84582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15666" y="4605576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553325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36009" y="4605576"/>
              <a:ext cx="2346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π/2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6600825" y="272415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82800" y="2662476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600825" y="341185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16792" y="3350181"/>
              <a:ext cx="5107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46848" y="399811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38669" y="3157776"/>
              <a:ext cx="62893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1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x = l sin 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7785" y="2545556"/>
              <a:ext cx="2429510" cy="1315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{(φ, x) : 0 ≤ φ ≤ π, 0 ≤ x ≤ a}，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面积 S = aπ。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针与某条平行线相交，当且仅当中点到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该线的距离不超过针在垂直方向的半投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影，即 x ≤ l sin φ。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的面积 = ∫₀^π l sin φ dφ = 2l。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324600" y="4953000"/>
              <a:ext cx="5143500" cy="121920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334125" y="506730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515100" y="5067300"/>
              <a:ext cx="10143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00488" y="5120640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用投针估计 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09576" y="5388054"/>
              <a:ext cx="4281614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2l/(aπ)，反过来 π = 2l/(ap)。投 n 次有 N 次相交时，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用频率 N/n 代替 p，得到 π ≈ 2lN/(an)，这是最早的蒙特卡洛方法。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a = 1、l = 0.6 模拟 40 万次，相交频率 0.3817，理论值 0.3820。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 · 几何概型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蒲丰投针：反过来用频率估计 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970722"/>
            <a:chOff x="533400" y="1524000"/>
            <a:chExt cx="5626418" cy="19707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70722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0402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74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相交概率与 π 的关系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3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5169218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2l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aπ</m:t>
                            </m:r>
                          </m:den>
                        </m:f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⟹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2l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ap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2lN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2765108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 n 次，其中 N 次与平行线相交，用频率 N/n 代替 p 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π 的估计。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85222"/>
            <a:ext cx="5626418" cy="1631632"/>
            <a:chOff x="533400" y="3685222"/>
            <a:chExt cx="5626418" cy="1631632"/>
          </a:xfrm>
        </p:grpSpPr>
        <p:sp>
          <p:nvSpPr>
            <p:cNvPr id="15" name="Rectangle 15"/>
            <p:cNvSpPr/>
            <p:nvPr/>
          </p:nvSpPr>
          <p:spPr>
            <a:xfrm>
              <a:off x="533400" y="3685222"/>
              <a:ext cx="5626418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18572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8947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930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930015"/>
              <a:ext cx="32768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George-Louis Leclerc de Buffon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291012"/>
              <a:ext cx="4872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法国数学家、自然科学家，几何概型的开创者。1777 年给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出了第一个几何概型的例子，就是这道投针问题。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490870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它也是最早的蒙特卡洛方法：用随机试验的频率去算一个确定的数。</a:t>
              </a:r>
            </a:p>
          </p:txBody>
        </p:sp>
      </p:grpSp>
      <p:grpSp>
        <p:nvGrpSpPr>
          <p:cNvPr id="25" name="c2-image-1"/>
          <p:cNvGrpSpPr/>
          <p:nvPr/>
        </p:nvGrpSpPr>
        <p:grpSpPr>
          <a:xfrm>
            <a:off x="7147560" y="1524000"/>
            <a:ext cx="3828098" cy="3185637"/>
            <a:chOff x="7147560" y="1524000"/>
            <a:chExt cx="3828098" cy="3185637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4" r="0" b="4"/>
            <a:stretch>
              <a:fillRect/>
            </a:stretch>
          </p:blipFill>
          <p:spPr>
            <a:xfrm>
              <a:off x="7147560" y="1524000"/>
              <a:ext cx="3828098" cy="2870835"/>
            </a:xfrm>
            <a:prstGeom prst="roundRect">
              <a:avLst>
                <a:gd name="adj" fmla="val 4644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8012257" y="4489609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针与平行线相交的次数，藏着 π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6464618" y="4874895"/>
            <a:ext cx="5193982" cy="782955"/>
            <a:chOff x="6464618" y="4874895"/>
            <a:chExt cx="5193982" cy="782955"/>
          </a:xfrm>
        </p:grpSpPr>
        <p:sp>
          <p:nvSpPr>
            <p:cNvPr id="26" name="Rectangle 26"/>
            <p:cNvSpPr/>
            <p:nvPr/>
          </p:nvSpPr>
          <p:spPr>
            <a:xfrm>
              <a:off x="6464618" y="487489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669405" y="5166362"/>
              <a:ext cx="200023" cy="200023"/>
              <a:chOff x="6669405" y="5166362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669405" y="51663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802755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971348" y="5023485"/>
              <a:ext cx="3758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 a = 1、l = 0.6 做 40 万次模拟，相交频率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0.3817，理论值 2l/(aπ) = 0.3820。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8455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这种估计收敛很慢：误差大致按 1/√n 缩小，要多一位有效数字就得把投掷次数放大约一百倍。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自测题（一）事件运算与概率公式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83142"/>
            <a:chOff x="533400" y="1524000"/>
            <a:chExt cx="3505200" cy="22831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035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{1, 2, 3, 4, 5, 6}，A = {2, 4,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6}。A 是基本事件吗？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不是。基本事件只含一个样本点，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含三个，它由三个基本事件组成。只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{2}、{4}、{6} 这样的单点集才是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基本事件。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82402"/>
            <a:ext cx="3505200" cy="2283142"/>
            <a:chOff x="533400" y="3982402"/>
            <a:chExt cx="3505200" cy="2283142"/>
          </a:xfrm>
        </p:grpSpPr>
        <p:sp>
          <p:nvSpPr>
            <p:cNvPr id="13" name="Rectangle 13"/>
            <p:cNvSpPr/>
            <p:nvPr/>
          </p:nvSpPr>
          <p:spPr>
            <a:xfrm>
              <a:off x="533400" y="3982402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531995"/>
              <a:ext cx="25537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P(A) = 0.4、P(B) = 0.7，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P(AB) 最大和最小各是多少？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5091112"/>
              <a:ext cx="283406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AB ⊂ A 得 P(AB) ≤ 0.4；由例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的左半边得 P(AB) ≥ P(A) + P(B)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= 0.1。所以 0.1 ≤ P(AB) ≤ 0.4，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两端都能取到。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83142"/>
            <a:chOff x="4343400" y="1524000"/>
            <a:chExt cx="3505200" cy="228314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981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“互斥”和“对立”差在哪里？举一个互斥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但不对立的例子。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632710"/>
              <a:ext cx="297980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对立 = 互斥 + 并为 Ω。互斥只要求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不能同时发生，允许都不发生。掷骰子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A = {1}、B = {2} 互斥，但可能都不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发生，所以不对立。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82402"/>
            <a:ext cx="3505200" cy="2283142"/>
            <a:chOff x="4343400" y="3982402"/>
            <a:chExt cx="3505200" cy="2283142"/>
          </a:xfrm>
        </p:grpSpPr>
        <p:sp>
          <p:nvSpPr>
            <p:cNvPr id="25" name="Rectangle 25"/>
            <p:cNvSpPr/>
            <p:nvPr/>
          </p:nvSpPr>
          <p:spPr>
            <a:xfrm>
              <a:off x="4343400" y="3982402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53199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掷两颗骰子观察点数之和，样本空间是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什么？能直接按古典概型算吗？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5091112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{2, 3, …, 12} 共 11 个样本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点，但它们并不等可能，不能直接用古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典概型。要改用 36 个有序对做样本空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间，那才是等可能的。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83142"/>
            <a:chOff x="8153400" y="1524000"/>
            <a:chExt cx="3505200" cy="228314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733342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P(A) = 0.6，P(B) = 0.5，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P(AB) = 0.3，求 P(A − B)、P(A ∪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 和两个都不发生的概率。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889885"/>
              <a:ext cx="29197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 − B) = 0.6 − 0.3 = 0.3；P(A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∪ B) = 0.6 + 0.5 − 0.3 = 0.8；都不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发生的概率 1 − 0.8 = 0.2。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82402"/>
            <a:ext cx="3505200" cy="2283142"/>
            <a:chOff x="8153400" y="3982402"/>
            <a:chExt cx="3505200" cy="2283142"/>
          </a:xfrm>
        </p:grpSpPr>
        <p:sp>
          <p:nvSpPr>
            <p:cNvPr id="37" name="Rectangle 37"/>
            <p:cNvSpPr/>
            <p:nvPr/>
          </p:nvSpPr>
          <p:spPr>
            <a:xfrm>
              <a:off x="8153400" y="3982402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531995"/>
              <a:ext cx="297722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P(A) = 0.3、P(B) = 0.4。A、B 互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斥时和 A ⊂ B 时，P(AB)、P(A ∪ B)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5348288"/>
              <a:ext cx="267976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互斥时 P(AB) = 0，P(A ∪ B)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0.7。A ⊂ B 时 P(AB) = 0.3，P(A 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 = 0.4。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自测题（二）古典概型与几何概型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83142"/>
            <a:chOff x="533400" y="1524000"/>
            <a:chExt cx="3505200" cy="22831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8717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1 到 100 任取一个数，能被 5 或 7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整除的概率是多少？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 5 整除的有 20 个，被 7 整除的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14 个，被 35 整除的有 2 个。用加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法公式 P = (20 + 14 − 2)/100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82402"/>
            <a:ext cx="3505200" cy="2283142"/>
            <a:chOff x="533400" y="3982402"/>
            <a:chExt cx="3505200" cy="2283142"/>
          </a:xfrm>
        </p:grpSpPr>
        <p:sp>
          <p:nvSpPr>
            <p:cNvPr id="13" name="Rectangle 13"/>
            <p:cNvSpPr/>
            <p:nvPr/>
          </p:nvSpPr>
          <p:spPr>
            <a:xfrm>
              <a:off x="533400" y="3982402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531995"/>
              <a:ext cx="292708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平行线间距 2a、针长 2l 的蒲丰投针，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相交概率是多少？怎样用它估计 π？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5091112"/>
              <a:ext cx="297122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的面积 aπ，A 的面积 ∫₀^π 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 φ dφ = 2l，所以 p = 2l/(aπ)。投 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次有 N 次相交时，用频率 N/n 代替 p，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π ≈ 2lN/(an)。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83142"/>
            <a:chOff x="4343400" y="1524000"/>
            <a:chExt cx="3505200" cy="228314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9995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袋中 3 白 2 黑，不放回连取两次，第二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次取到白球的概率是多少？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632710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仍是 3/5。这就是抽签问题，取到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白球的概率与次序无关。前提是不去看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第一次抽到了什么，一旦知道就变成条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件概率。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82402"/>
            <a:ext cx="3505200" cy="2283142"/>
            <a:chOff x="4343400" y="3982402"/>
            <a:chExt cx="3505200" cy="2283142"/>
          </a:xfrm>
        </p:grpSpPr>
        <p:sp>
          <p:nvSpPr>
            <p:cNvPr id="25" name="Rectangle 25"/>
            <p:cNvSpPr/>
            <p:nvPr/>
          </p:nvSpPr>
          <p:spPr>
            <a:xfrm>
              <a:off x="4343400" y="3982402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531995"/>
              <a:ext cx="29995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4 个不同的球随机放进 3 个盒子，至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少有一个盒子空着的概率是多少？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5091112"/>
              <a:ext cx="299694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总放法 3⁴ = 81。无空盒只能是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2+1+1：选同盒两球 C₄² = 6，三组分给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三盒 3! = 6，共 36 种。所求 1 −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36/81 = 5/9。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025968"/>
            <a:chOff x="8153400" y="1524000"/>
            <a:chExt cx="3505200" cy="202596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在边长为 1 的正方形内随机取一点，它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落在某条对角线上的概率是多少？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632710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0。对角线面积为 0，样本空间面积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1。但这件事确实可能发生，说明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= 0 推不出 A = ∅。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725228"/>
            <a:ext cx="3505200" cy="2540318"/>
            <a:chOff x="8153400" y="3725228"/>
            <a:chExt cx="3505200" cy="2540318"/>
          </a:xfrm>
        </p:grpSpPr>
        <p:sp>
          <p:nvSpPr>
            <p:cNvPr id="37" name="Rectangle 37"/>
            <p:cNvSpPr/>
            <p:nvPr/>
          </p:nvSpPr>
          <p:spPr>
            <a:xfrm>
              <a:off x="8153400" y="3725228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274820"/>
              <a:ext cx="28915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公交车每 10 分钟一班，随机到站，等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车不超过 3 分钟的概率是多少？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4833937"/>
              <a:ext cx="28512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一维几何概型。Ω 是长度 10 的时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间区间，A 是其中长度 3 的一段，P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 = 0.3。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随机事件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1712595"/>
            <a:chOff x="533400" y="1524000"/>
            <a:chExt cx="5842635" cy="17125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249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564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0253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116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古典概型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9638" y="211645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样本点有限且等可能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7074" y="2023110"/>
              <a:ext cx="205759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= A 含的样本点数 / 样本点总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68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7364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59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几何概型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79638" y="25908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样本点充满一个区域且等可能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17074" y="2590800"/>
              <a:ext cx="178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= A 的度量 / Ω 的度量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49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971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频率估计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79638" y="29718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既不有限也说不清等可能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17074" y="2971800"/>
              <a:ext cx="1557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≈ fₙ(A) = n_A / 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580198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17632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401378"/>
            <a:ext cx="5842635" cy="1471612"/>
            <a:chOff x="533400" y="3401378"/>
            <a:chExt cx="5842635" cy="1471612"/>
          </a:xfrm>
        </p:grpSpPr>
        <p:sp>
          <p:nvSpPr>
            <p:cNvPr id="27" name="Rectangle 27"/>
            <p:cNvSpPr/>
            <p:nvPr/>
          </p:nvSpPr>
          <p:spPr>
            <a:xfrm>
              <a:off x="533400" y="3401378"/>
              <a:ext cx="584263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534728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358235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3440" y="361521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本讲义对原课件的更正与补充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2000" y="397478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7448" y="3921919"/>
              <a:ext cx="52254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几何概型例1：原式算出负数，正确结果为 1/3 + (1/3)ln3 ≈ 0.6995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2595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206716"/>
              <a:ext cx="5285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例14：2/91 原写作 0.2198，应为 0.02198，并补上未解的第 (3) 问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54437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492466"/>
              <a:ext cx="5311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生日问题表中 22 人一栏应为 0.476；只给题面的四道例题已补全过程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4969632" cy="1432845"/>
            <a:chOff x="6681788" y="1533525"/>
            <a:chExt cx="4969632" cy="1432845"/>
          </a:xfrm>
        </p:grpSpPr>
        <p:sp>
          <p:nvSpPr>
            <p:cNvPr id="38" name="Ellipse 38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1536" y="15454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随机试验要同时满足可重复、可观测、结果不确定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83784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事件是样本空间的子集，做题第一步是把中文翻成集合表达式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131219"/>
              <a:ext cx="46998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对偶律把“都不发生”换成“并的对立”，是化简和求概率的主力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4245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加法公式要减掉重复计入的交，只有互斥时才能直接相加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271700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古典概型数个数，几何概型量大小，两者都以等可能为前提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3081338"/>
            <a:ext cx="4977765" cy="1790700"/>
            <a:chOff x="6680835" y="3081338"/>
            <a:chExt cx="4977765" cy="1790700"/>
          </a:xfrm>
        </p:grpSpPr>
        <p:sp>
          <p:nvSpPr>
            <p:cNvPr id="54" name="Rectangle 54"/>
            <p:cNvSpPr/>
            <p:nvPr/>
          </p:nvSpPr>
          <p:spPr>
            <a:xfrm>
              <a:off x="6680835" y="3081338"/>
              <a:ext cx="4977765" cy="179070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90360" y="3214688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99910" y="326231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77329" y="329517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本章其余内容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93433" y="360283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第一章还包括条件概率、事件的独立性和伯努利概型，这份课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件文件（概率1.1）没有涉及，复习时要另找材料补上。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793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拿到题先问三句：样本空间是什么，事件怎么写成集合，等可能成立吗。三句答完，公式自然就选定了。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第1章 随机事件及其概率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b_ch1">
  <a:themeElements>
    <a:clrScheme name="prob_ch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_ch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b_ch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2026-09-19T12:51:38Z</dcterms:created>
  <dcterms:modified xsi:type="dcterms:W3CDTF">2026-09-19T12:51:38Z</dcterms:modified>
  <cp:category/>
  <cp:contentStatus/>
</cp:coreProperties>
</file>