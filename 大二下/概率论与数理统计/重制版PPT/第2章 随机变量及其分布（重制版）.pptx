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rob_ch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rob_ch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ca0b112fc238906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c2409a180813047.png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103aff726166480.png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632198" cy="3437763"/>
            <a:chOff x="666750" y="1619250"/>
            <a:chExt cx="4632198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203132" cy="3429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95722" y="1718310"/>
              <a:ext cx="19842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概率论与数理统计 · 第二章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456133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随机变量及其分布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把随机试验的结果换成数，再用函数描述它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分布函数是统一工具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离散型：分布律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连续型：概率密度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八种常用分布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696454" cy="205359"/>
            <a:chOff x="680466" y="6192202"/>
            <a:chExt cx="4696454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696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自学复习版｜据吉林大学《概率论与数理统计》第二章课件整理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随机变量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3689317"/>
            <a:chOff x="521970" y="1515428"/>
            <a:chExt cx="6287453" cy="3689317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随机变量与分布函数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29793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定义、五条性质、用 F 求各种区间概率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离散型随机变量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分布律与五种常用离散分布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连续型随机变量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27894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概率密度、由密度求 F、由 F 求密度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三种常用连续型分布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均匀、指数、正态与标准正态查表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随机变量函数的分布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分布函数法与公式法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3800475"/>
            <a:chOff x="7114222" y="1524000"/>
            <a:chExt cx="4544378" cy="3800475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3800475"/>
            </a:xfrm>
            <a:prstGeom prst="roundRect">
              <a:avLst>
                <a:gd name="adj" fmla="val 35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353377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由分布律或密度写出分布函数，并反过来由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求分布律或密度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认出一道题该用二项、几何还是泊松，并算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出所求概率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用待定系数法由归一性和已知概率定出密度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里的常数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把一般正态标准化后查表，求出任意区间的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594860"/>
              <a:ext cx="36728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用分布函数法和公式法两条路求出 Y = g(X)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的分布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357622" cy="2997517"/>
            <a:chOff x="667512" y="1835468"/>
            <a:chExt cx="5357622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随机变量与分布函数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先把试验结果换成数，再用一个函数把概率全部装进去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随机变量的定义与写法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3993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分布函数 F(x) = P{X ≤ x}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五条性质与区间概率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随机变量 · 随机变量与分布函数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随机变量：给每个试验结果贴一个数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4011930" cy="264033"/>
            <a:chOff x="526542" y="1545907"/>
            <a:chExt cx="401193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有了数，事件就能写成不等式，微积分才用得上。</a:t>
              </a:r>
            </a:p>
          </p:txBody>
        </p:sp>
      </p:grpSp>
      <p:grpSp>
        <p:nvGrpSpPr>
          <p:cNvPr id="20" name="c1-card-1"/>
          <p:cNvGrpSpPr/>
          <p:nvPr/>
        </p:nvGrpSpPr>
        <p:grpSpPr>
          <a:xfrm>
            <a:off x="533400" y="1928812"/>
            <a:ext cx="5626418" cy="2219325"/>
            <a:chOff x="533400" y="1928812"/>
            <a:chExt cx="5626418" cy="221932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626418" cy="2219325"/>
            </a:xfrm>
            <a:prstGeom prst="roundRect">
              <a:avLst>
                <a:gd name="adj" fmla="val 60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95262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2475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5147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18450" y="2149316"/>
              <a:ext cx="8647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随机变量 X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5998" y="2465546"/>
              <a:ext cx="488162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设随机试验 E 的样本空间为 Ω = {ω}。如果对每个样本点 ω 都有一个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实数 X(ω) 与之对应，就称 X = X(ω) 为 Ω 上的随机变量。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7141" y="2989898"/>
              <a:ext cx="39684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它是定义在样本空间上的函数，自变量是样本点，取值是实数。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62000" y="329279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17448" y="3239929"/>
              <a:ext cx="48941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一般用大写字母 X、Y、Z 表示，也可以用小写希腊字母 ξ、η、ζ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62000" y="357759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17448" y="3524726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试验前所有可能取值和相应概率都已确定，但这一次到底取哪个值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事先不知道</a:t>
              </a:r>
            </a:p>
          </p:txBody>
        </p:sp>
      </p:grpSp>
      <p:grpSp>
        <p:nvGrpSpPr>
          <p:cNvPr id="26" name="c1-callout-2"/>
          <p:cNvGrpSpPr/>
          <p:nvPr/>
        </p:nvGrpSpPr>
        <p:grpSpPr>
          <a:xfrm>
            <a:off x="533400" y="4312920"/>
            <a:ext cx="5626418" cy="1175385"/>
            <a:chOff x="533400" y="4312920"/>
            <a:chExt cx="5626418" cy="1175385"/>
          </a:xfrm>
        </p:grpSpPr>
        <p:sp>
          <p:nvSpPr>
            <p:cNvPr id="21" name="Rectangle 21"/>
            <p:cNvSpPr/>
            <p:nvPr/>
          </p:nvSpPr>
          <p:spPr>
            <a:xfrm>
              <a:off x="533400" y="4312920"/>
              <a:ext cx="5626418" cy="1175385"/>
            </a:xfrm>
            <a:prstGeom prst="roundRect">
              <a:avLst>
                <a:gd name="adj" fmla="val 9724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38188" y="4800602"/>
              <a:ext cx="200023" cy="200023"/>
              <a:chOff x="738188" y="4800602"/>
              <a:chExt cx="200023" cy="200023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8188" y="480060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71538" y="48672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1273" y="4693444"/>
              <a:ext cx="473532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引入随机变量以后，“事件”变成了“X 落在某个数集里”，概率问题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就转成了函数问题。</a:t>
              </a:r>
            </a:p>
          </p:txBody>
        </p:sp>
      </p:grpSp>
      <p:grpSp>
        <p:nvGrpSpPr>
          <p:cNvPr id="51" name="c2-table-1"/>
          <p:cNvGrpSpPr/>
          <p:nvPr/>
        </p:nvGrpSpPr>
        <p:grpSpPr>
          <a:xfrm>
            <a:off x="6464618" y="1928812"/>
            <a:ext cx="5193982" cy="1906905"/>
            <a:chOff x="6464618" y="1928812"/>
            <a:chExt cx="5193982" cy="1906905"/>
          </a:xfrm>
        </p:grpSpPr>
        <p:sp>
          <p:nvSpPr>
            <p:cNvPr id="27" name="Rectangle 27"/>
            <p:cNvSpPr/>
            <p:nvPr/>
          </p:nvSpPr>
          <p:spPr>
            <a:xfrm>
              <a:off x="6464618" y="1928812"/>
              <a:ext cx="5193982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51904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随机试验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68029" y="2045970"/>
              <a:ext cx="11804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随机变量 X 的规定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595446" y="2045970"/>
              <a:ext cx="5680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 的取值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59296" y="242697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掷一颗骰子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09941" y="2426970"/>
              <a:ext cx="9713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出现的点数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194989" y="2426970"/>
              <a:ext cx="1077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1, 2, 3, 4, 5, 6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464618" y="268700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64618" y="2691765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59296" y="2808923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掷一枚硬币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09941" y="2808923"/>
              <a:ext cx="20445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1 表示正面，X = 0 表示反面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194989" y="2808923"/>
              <a:ext cx="2863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0, 1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464618" y="306800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59296" y="3189923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测电脑寿命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909941" y="3189923"/>
              <a:ext cx="15367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能正常工作的小时数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194989" y="3189923"/>
              <a:ext cx="12686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[0, +∞) 上任一实数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64618" y="344900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64618" y="3453765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59296" y="357187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一页书的错字数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909941" y="3571875"/>
              <a:ext cx="16780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这一页的印刷错误个数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194989" y="3571875"/>
              <a:ext cx="6820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0, 1, 2, …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64618" y="1928812"/>
              <a:ext cx="5193982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7810500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10095548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3" name="c2-card-2"/>
          <p:cNvGrpSpPr/>
          <p:nvPr/>
        </p:nvGrpSpPr>
        <p:grpSpPr>
          <a:xfrm>
            <a:off x="6464618" y="4000500"/>
            <a:ext cx="5193982" cy="1487805"/>
            <a:chOff x="6464618" y="4000500"/>
            <a:chExt cx="5193982" cy="1487805"/>
          </a:xfrm>
        </p:grpSpPr>
        <p:sp>
          <p:nvSpPr>
            <p:cNvPr id="52" name="Rectangle 52"/>
            <p:cNvSpPr/>
            <p:nvPr/>
          </p:nvSpPr>
          <p:spPr>
            <a:xfrm>
              <a:off x="6464618" y="4000500"/>
              <a:ext cx="5193982" cy="1487805"/>
            </a:xfrm>
            <a:prstGeom prst="roundRect">
              <a:avLst>
                <a:gd name="adj" fmla="val 89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474142" y="4133850"/>
              <a:ext cx="47625" cy="12211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683692" y="41814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76364" y="42143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会用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250620" y="4221004"/>
              <a:ext cx="1783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事件怎么写成 X 的式子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693218" y="459009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848666" y="4537234"/>
              <a:ext cx="38123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掷骰子出现偶数点：{X = 2} ∪ {X = 4} ∪ {X = 6}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693218" y="487489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848666" y="4822984"/>
              <a:ext cx="21294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寿命超过一年：{X &gt; 8760}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693218" y="515969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848666" y="5107781"/>
              <a:ext cx="25183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一页上不多于两个错字：{X ≤ 2}</a:t>
              </a:r>
            </a:p>
          </p:txBody>
        </p:sp>
      </p:grpSp>
      <p:grpSp>
        <p:nvGrpSpPr>
          <p:cNvPr id="7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4" name="Rectangle 6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1273" y="6039326"/>
              <a:ext cx="62162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硬币这种非数值结果也能编号，编号方式可以自己定，但一旦定下就不许中途改。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随机变量 · 随机变量与分布函数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分布函数：对任何随机变量都写得出来的那个函数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410200" cy="2210752"/>
            <a:chOff x="533400" y="1524000"/>
            <a:chExt cx="5410200" cy="22107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210752"/>
            </a:xfrm>
            <a:prstGeom prst="roundRect">
              <a:avLst>
                <a:gd name="adj" fmla="val 603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4405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597" y="1756410"/>
              <a:ext cx="1231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分布函数 F(x)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31695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 是一个随机变量，对任意实数 x 令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5"/>
                <p:cNvSpPr txBox="1">
                  <a:spLocks noGrp="1"/>
                </p:cNvSpPr>
                <p:nvPr/>
              </p:nvSpPr>
              <p:spPr>
                <a:xfrm>
                  <a:off x="763905" y="2370772"/>
                  <a:ext cx="498729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−∞&lt;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&lt;+∞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57047" y="2860358"/>
              <a:ext cx="29386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称 F(x) 为随机变量 X 的分布函数。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8190" y="3158966"/>
              <a:ext cx="474802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注意 F 的定义域是整条实轴，不是 X 的取值范围。X 取不到的地方 F 照样有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定义。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910012"/>
            <a:ext cx="5410200" cy="1661160"/>
            <a:chOff x="533400" y="3910012"/>
            <a:chExt cx="5410200" cy="1661160"/>
          </a:xfrm>
        </p:grpSpPr>
        <p:sp>
          <p:nvSpPr>
            <p:cNvPr id="17" name="Rectangle 17"/>
            <p:cNvSpPr/>
            <p:nvPr/>
          </p:nvSpPr>
          <p:spPr>
            <a:xfrm>
              <a:off x="533400" y="3910012"/>
              <a:ext cx="5410200" cy="1661160"/>
            </a:xfrm>
            <a:prstGeom prst="roundRect">
              <a:avLst>
                <a:gd name="adj" fmla="val 802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4043362"/>
              <a:ext cx="47625" cy="139446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63905" y="4102418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7344" y="413670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几何意义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7047" y="4458652"/>
              <a:ext cx="477145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X 看成数轴上的随机点，F(a) 就是这个点落在区间 (−∞,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a] 上的概率。x 从左往右扫过数轴，F(x) 把扫过的概率一点一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点累积起来。</a:t>
              </a:r>
            </a:p>
          </p:txBody>
        </p:sp>
      </p:grpSp>
      <p:grpSp>
        <p:nvGrpSpPr>
          <p:cNvPr id="33" name="c2-card-1"/>
          <p:cNvGrpSpPr/>
          <p:nvPr/>
        </p:nvGrpSpPr>
        <p:grpSpPr>
          <a:xfrm>
            <a:off x="6248400" y="1524000"/>
            <a:ext cx="5410200" cy="2117408"/>
            <a:chOff x="6248400" y="1524000"/>
            <a:chExt cx="5410200" cy="2117408"/>
          </a:xfrm>
        </p:grpSpPr>
        <p:sp>
          <p:nvSpPr>
            <p:cNvPr id="23" name="Rectangle 23"/>
            <p:cNvSpPr/>
            <p:nvPr/>
          </p:nvSpPr>
          <p:spPr>
            <a:xfrm>
              <a:off x="6248400" y="1524000"/>
              <a:ext cx="5410200" cy="2117408"/>
            </a:xfrm>
            <a:prstGeom prst="roundRect">
              <a:avLst>
                <a:gd name="adj" fmla="val 6298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40805" y="1716405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16243" y="175069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为什么需要它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33947" y="2072640"/>
              <a:ext cx="453142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离散型用分布律，连续型用密度，两者互不通用；而 F(x) =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P{X ≤ x} 不管 X 是哪一类都写得出来。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449378" y="2688907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05397" y="2632710"/>
              <a:ext cx="29029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有了 F，任何区间的概率都能算出来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449378" y="299180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05397" y="2935605"/>
              <a:ext cx="29605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连续型的概率密度正是用 F 来定义的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449378" y="329374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05397" y="3237548"/>
              <a:ext cx="42209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3 章两个随机变量的联合分布，也是沿用这套写法</a:t>
              </a:r>
            </a:p>
          </p:txBody>
        </p:sp>
      </p:grpSp>
      <p:grpSp>
        <p:nvGrpSpPr>
          <p:cNvPr id="50" name="c2-compare-2"/>
          <p:cNvGrpSpPr/>
          <p:nvPr/>
        </p:nvGrpSpPr>
        <p:grpSpPr>
          <a:xfrm>
            <a:off x="6248400" y="3815715"/>
            <a:ext cx="5410200" cy="1754505"/>
            <a:chOff x="6248400" y="3815715"/>
            <a:chExt cx="5410200" cy="1754505"/>
          </a:xfrm>
        </p:grpSpPr>
        <p:sp>
          <p:nvSpPr>
            <p:cNvPr id="34" name="Rectangle 34"/>
            <p:cNvSpPr/>
            <p:nvPr/>
          </p:nvSpPr>
          <p:spPr>
            <a:xfrm>
              <a:off x="6248400" y="3815715"/>
              <a:ext cx="2466022" cy="1754505"/>
            </a:xfrm>
            <a:prstGeom prst="roundRect">
              <a:avLst>
                <a:gd name="adj" fmla="val 76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57925" y="3949065"/>
              <a:ext cx="47625" cy="148780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72047" y="4030980"/>
              <a:ext cx="11630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 与 f(x)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487478" y="440721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43497" y="4351020"/>
              <a:ext cx="164249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 是概率，一定在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到 1 之间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487478" y="496633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43497" y="4910138"/>
              <a:ext cx="1728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单调不减，从 0 升到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192578" y="3815715"/>
              <a:ext cx="2466022" cy="1754505"/>
            </a:xfrm>
            <a:prstGeom prst="roundRect">
              <a:avLst>
                <a:gd name="adj" fmla="val 76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9202102" y="3949065"/>
              <a:ext cx="47625" cy="14878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416224" y="403098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容易混的写法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9431655" y="440721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587674" y="4351020"/>
              <a:ext cx="165106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 = P{X ≤ x} 用的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是闭号 ≤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9431655" y="496633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587674" y="4910138"/>
              <a:ext cx="164249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写成 P{X &lt; x} 就不是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分布函数了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8762048" y="4501515"/>
              <a:ext cx="382905" cy="38290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816619" y="463248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分清</a:t>
              </a:r>
            </a:p>
          </p:txBody>
        </p:sp>
      </p:grpSp>
      <p:grpSp>
        <p:nvGrpSpPr>
          <p:cNvPr id="56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1" name="Rectangle 51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0892" y="6023610"/>
              <a:ext cx="89579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定义里的小于等于号不能改成小于号。正是这个等号，决定了 F 在跳跃点处取的是上面那个值，也就是右连续。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随机变量 · 随机变量与分布函数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分布函数长什么样：一条连续曲线，或者一条阶梯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" name="cdfA"/>
          <p:cNvGrpSpPr/>
          <p:nvPr/>
        </p:nvGrpSpPr>
        <p:grpSpPr>
          <a:xfrm>
            <a:off x="533400" y="1524000"/>
            <a:ext cx="5524500" cy="4762500"/>
            <a:chOff x="533400" y="1524000"/>
            <a:chExt cx="5524500" cy="4762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524500" cy="4762500"/>
            </a:xfrm>
            <a:prstGeom prst="roundRect">
              <a:avLst>
                <a:gd name="adj" fmla="val 24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7232" y="1658541"/>
              <a:ext cx="3322326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1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F(a) = P{X ≤ a}：a 左边累积了多少概率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18376" y="1930479"/>
              <a:ext cx="4550446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 X 看成数轴上的随机点，F(a) 就是这个点落在 a 及其左侧的概率。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971550" y="25146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66675" cap="rnd">
              <a:solidFill>
                <a:srgbClr val="A9BBE4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914400" y="2514600"/>
              <a:ext cx="4600575" cy="9525"/>
            </a:xfrm>
            <a:custGeom>
              <a:avLst/>
              <a:gdLst/>
              <a:ahLst/>
              <a:cxnLst/>
              <a:rect l="l" t="t" r="r" b="b"/>
              <a:pathLst>
                <a:path w="4600575" h="9525">
                  <a:moveTo>
                    <a:pt x="0" y="0"/>
                  </a:moveTo>
                  <a:lnTo>
                    <a:pt x="4600575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5514975" y="2484596"/>
              <a:ext cx="66675" cy="60007"/>
            </a:xfrm>
            <a:custGeom>
              <a:avLst/>
              <a:gdLst/>
              <a:ahLst/>
              <a:cxnLst/>
              <a:rect l="l" t="t" r="r" b="b"/>
              <a:pathLst>
                <a:path w="66675" h="60007">
                  <a:moveTo>
                    <a:pt x="66675" y="30004"/>
                  </a:moveTo>
                  <a:lnTo>
                    <a:pt x="0" y="60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13" name="Line 13"/>
            <p:cNvSpPr/>
            <p:nvPr/>
          </p:nvSpPr>
          <p:spPr>
            <a:xfrm>
              <a:off x="1000125" y="2514600"/>
              <a:ext cx="2828925" cy="9525"/>
            </a:xfrm>
            <a:custGeom>
              <a:avLst/>
              <a:gdLst/>
              <a:ahLst/>
              <a:cxnLst/>
              <a:rect l="l" t="t" r="r" b="b"/>
              <a:pathLst>
                <a:path w="2828925" h="9525">
                  <a:moveTo>
                    <a:pt x="282892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2F4B9A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933450" y="2484596"/>
              <a:ext cx="66675" cy="60007"/>
            </a:xfrm>
            <a:custGeom>
              <a:avLst/>
              <a:gdLst/>
              <a:ahLst/>
              <a:cxnLst/>
              <a:rect l="l" t="t" r="r" b="b"/>
              <a:pathLst>
                <a:path w="66675" h="60007">
                  <a:moveTo>
                    <a:pt x="0" y="30004"/>
                  </a:moveTo>
                  <a:lnTo>
                    <a:pt x="66675" y="0"/>
                  </a:lnTo>
                  <a:lnTo>
                    <a:pt x="66675" y="60007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3971925" y="2466975"/>
              <a:ext cx="95250" cy="952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973401" y="26108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14416" y="244887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95006" y="2271951"/>
              <a:ext cx="1625463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概率 F(a) 全部落在这一侧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1047750" y="4667250"/>
              <a:ext cx="1971675" cy="9525"/>
            </a:xfrm>
            <a:custGeom>
              <a:avLst/>
              <a:gdLst/>
              <a:ahLst/>
              <a:cxnLst/>
              <a:rect l="l" t="t" r="r" b="b"/>
              <a:pathLst>
                <a:path w="1971675" h="9525">
                  <a:moveTo>
                    <a:pt x="0" y="0"/>
                  </a:moveTo>
                  <a:lnTo>
                    <a:pt x="1971675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3019425" y="4637246"/>
              <a:ext cx="66675" cy="60007"/>
            </a:xfrm>
            <a:custGeom>
              <a:avLst/>
              <a:gdLst/>
              <a:ahLst/>
              <a:cxnLst/>
              <a:rect l="l" t="t" r="r" b="b"/>
              <a:pathLst>
                <a:path w="66675" h="60007">
                  <a:moveTo>
                    <a:pt x="66675" y="30004"/>
                  </a:moveTo>
                  <a:lnTo>
                    <a:pt x="0" y="60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21" name="Line 21"/>
            <p:cNvSpPr/>
            <p:nvPr/>
          </p:nvSpPr>
          <p:spPr>
            <a:xfrm>
              <a:off x="1104900" y="3038475"/>
              <a:ext cx="9525" cy="1685925"/>
            </a:xfrm>
            <a:custGeom>
              <a:avLst/>
              <a:gdLst/>
              <a:ahLst/>
              <a:cxnLst/>
              <a:rect l="l" t="t" r="r" b="b"/>
              <a:pathLst>
                <a:path w="9525" h="1685925">
                  <a:moveTo>
                    <a:pt x="0" y="168592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1074896" y="2971800"/>
              <a:ext cx="60008" cy="66675"/>
            </a:xfrm>
            <a:custGeom>
              <a:avLst/>
              <a:gdLst/>
              <a:ahLst/>
              <a:cxnLst/>
              <a:rect l="l" t="t" r="r" b="b"/>
              <a:pathLst>
                <a:path w="60008" h="66675">
                  <a:moveTo>
                    <a:pt x="30004" y="0"/>
                  </a:moveTo>
                  <a:lnTo>
                    <a:pt x="60008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118866" y="47063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2643" y="2801302"/>
              <a:ext cx="3304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52424" y="4723924"/>
              <a:ext cx="1144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1104900" y="3307471"/>
              <a:ext cx="1809750" cy="1358846"/>
            </a:xfrm>
            <a:custGeom>
              <a:avLst/>
              <a:gdLst/>
              <a:ahLst/>
              <a:cxnLst/>
              <a:rect l="l" t="t" r="r" b="b"/>
              <a:pathLst>
                <a:path w="1809750" h="1358846">
                  <a:moveTo>
                    <a:pt x="0" y="1358846"/>
                  </a:moveTo>
                  <a:lnTo>
                    <a:pt x="22622" y="1358551"/>
                  </a:lnTo>
                  <a:lnTo>
                    <a:pt x="45244" y="1358170"/>
                  </a:lnTo>
                  <a:lnTo>
                    <a:pt x="67866" y="1357684"/>
                  </a:lnTo>
                  <a:lnTo>
                    <a:pt x="90488" y="1357074"/>
                  </a:lnTo>
                  <a:lnTo>
                    <a:pt x="113109" y="1356303"/>
                  </a:lnTo>
                  <a:lnTo>
                    <a:pt x="135731" y="1355341"/>
                  </a:lnTo>
                  <a:lnTo>
                    <a:pt x="158353" y="1354141"/>
                  </a:lnTo>
                  <a:lnTo>
                    <a:pt x="180975" y="1352655"/>
                  </a:lnTo>
                  <a:lnTo>
                    <a:pt x="203597" y="1350845"/>
                  </a:lnTo>
                  <a:lnTo>
                    <a:pt x="226219" y="1348626"/>
                  </a:lnTo>
                  <a:lnTo>
                    <a:pt x="248841" y="1345940"/>
                  </a:lnTo>
                  <a:lnTo>
                    <a:pt x="271462" y="1342711"/>
                  </a:lnTo>
                  <a:lnTo>
                    <a:pt x="294084" y="1338844"/>
                  </a:lnTo>
                  <a:lnTo>
                    <a:pt x="316706" y="1334252"/>
                  </a:lnTo>
                  <a:lnTo>
                    <a:pt x="339328" y="1328823"/>
                  </a:lnTo>
                  <a:lnTo>
                    <a:pt x="361950" y="1322461"/>
                  </a:lnTo>
                  <a:lnTo>
                    <a:pt x="384572" y="1315031"/>
                  </a:lnTo>
                  <a:lnTo>
                    <a:pt x="407194" y="1306430"/>
                  </a:lnTo>
                  <a:lnTo>
                    <a:pt x="429816" y="1296533"/>
                  </a:lnTo>
                  <a:lnTo>
                    <a:pt x="452438" y="1285218"/>
                  </a:lnTo>
                  <a:lnTo>
                    <a:pt x="475059" y="1272350"/>
                  </a:lnTo>
                  <a:lnTo>
                    <a:pt x="497681" y="1257814"/>
                  </a:lnTo>
                  <a:lnTo>
                    <a:pt x="520303" y="1241517"/>
                  </a:lnTo>
                  <a:lnTo>
                    <a:pt x="542925" y="1223334"/>
                  </a:lnTo>
                  <a:lnTo>
                    <a:pt x="565547" y="1203198"/>
                  </a:lnTo>
                  <a:lnTo>
                    <a:pt x="588169" y="1181043"/>
                  </a:lnTo>
                  <a:lnTo>
                    <a:pt x="610791" y="1156802"/>
                  </a:lnTo>
                  <a:lnTo>
                    <a:pt x="633412" y="1130465"/>
                  </a:lnTo>
                  <a:lnTo>
                    <a:pt x="656034" y="1102023"/>
                  </a:lnTo>
                  <a:lnTo>
                    <a:pt x="678656" y="1071505"/>
                  </a:lnTo>
                  <a:lnTo>
                    <a:pt x="701278" y="1038977"/>
                  </a:lnTo>
                  <a:lnTo>
                    <a:pt x="723900" y="1004516"/>
                  </a:lnTo>
                  <a:lnTo>
                    <a:pt x="746522" y="968245"/>
                  </a:lnTo>
                  <a:lnTo>
                    <a:pt x="769144" y="930316"/>
                  </a:lnTo>
                  <a:lnTo>
                    <a:pt x="791766" y="890911"/>
                  </a:lnTo>
                  <a:lnTo>
                    <a:pt x="814388" y="850211"/>
                  </a:lnTo>
                  <a:lnTo>
                    <a:pt x="837009" y="808463"/>
                  </a:lnTo>
                  <a:lnTo>
                    <a:pt x="859631" y="765905"/>
                  </a:lnTo>
                  <a:lnTo>
                    <a:pt x="882253" y="722805"/>
                  </a:lnTo>
                  <a:lnTo>
                    <a:pt x="904875" y="679418"/>
                  </a:lnTo>
                  <a:lnTo>
                    <a:pt x="927497" y="636041"/>
                  </a:lnTo>
                  <a:lnTo>
                    <a:pt x="950119" y="592941"/>
                  </a:lnTo>
                  <a:lnTo>
                    <a:pt x="972741" y="550383"/>
                  </a:lnTo>
                  <a:lnTo>
                    <a:pt x="995362" y="508635"/>
                  </a:lnTo>
                  <a:lnTo>
                    <a:pt x="1017984" y="467935"/>
                  </a:lnTo>
                  <a:lnTo>
                    <a:pt x="1040606" y="428530"/>
                  </a:lnTo>
                  <a:lnTo>
                    <a:pt x="1063228" y="390601"/>
                  </a:lnTo>
                  <a:lnTo>
                    <a:pt x="1085850" y="354330"/>
                  </a:lnTo>
                  <a:lnTo>
                    <a:pt x="1108472" y="319869"/>
                  </a:lnTo>
                  <a:lnTo>
                    <a:pt x="1131094" y="287341"/>
                  </a:lnTo>
                  <a:lnTo>
                    <a:pt x="1153716" y="256823"/>
                  </a:lnTo>
                  <a:lnTo>
                    <a:pt x="1176338" y="228381"/>
                  </a:lnTo>
                  <a:lnTo>
                    <a:pt x="1198959" y="202044"/>
                  </a:lnTo>
                  <a:lnTo>
                    <a:pt x="1221581" y="177803"/>
                  </a:lnTo>
                  <a:lnTo>
                    <a:pt x="1244203" y="155639"/>
                  </a:lnTo>
                  <a:lnTo>
                    <a:pt x="1266825" y="135512"/>
                  </a:lnTo>
                  <a:lnTo>
                    <a:pt x="1289447" y="117329"/>
                  </a:lnTo>
                  <a:lnTo>
                    <a:pt x="1312069" y="101032"/>
                  </a:lnTo>
                  <a:lnTo>
                    <a:pt x="1334691" y="86497"/>
                  </a:lnTo>
                  <a:lnTo>
                    <a:pt x="1357312" y="73628"/>
                  </a:lnTo>
                  <a:lnTo>
                    <a:pt x="1379934" y="62313"/>
                  </a:lnTo>
                  <a:lnTo>
                    <a:pt x="1402556" y="52407"/>
                  </a:lnTo>
                  <a:lnTo>
                    <a:pt x="1425178" y="43815"/>
                  </a:lnTo>
                  <a:lnTo>
                    <a:pt x="1447800" y="36385"/>
                  </a:lnTo>
                  <a:lnTo>
                    <a:pt x="1470422" y="30023"/>
                  </a:lnTo>
                  <a:lnTo>
                    <a:pt x="1493044" y="24594"/>
                  </a:lnTo>
                  <a:lnTo>
                    <a:pt x="1515666" y="20003"/>
                  </a:lnTo>
                  <a:lnTo>
                    <a:pt x="1538288" y="16135"/>
                  </a:lnTo>
                  <a:lnTo>
                    <a:pt x="1560909" y="12906"/>
                  </a:lnTo>
                  <a:lnTo>
                    <a:pt x="1583531" y="10220"/>
                  </a:lnTo>
                  <a:lnTo>
                    <a:pt x="1606153" y="8001"/>
                  </a:lnTo>
                  <a:lnTo>
                    <a:pt x="1628775" y="6191"/>
                  </a:lnTo>
                  <a:lnTo>
                    <a:pt x="1651397" y="4705"/>
                  </a:lnTo>
                  <a:lnTo>
                    <a:pt x="1674019" y="3505"/>
                  </a:lnTo>
                  <a:lnTo>
                    <a:pt x="1696641" y="2543"/>
                  </a:lnTo>
                  <a:lnTo>
                    <a:pt x="1719262" y="1772"/>
                  </a:lnTo>
                  <a:lnTo>
                    <a:pt x="1741884" y="1162"/>
                  </a:lnTo>
                  <a:lnTo>
                    <a:pt x="1764506" y="676"/>
                  </a:lnTo>
                  <a:lnTo>
                    <a:pt x="1787128" y="295"/>
                  </a:lnTo>
                  <a:lnTo>
                    <a:pt x="1809750" y="0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1104900" y="3306537"/>
              <a:ext cx="1809750" cy="9525"/>
            </a:xfrm>
            <a:custGeom>
              <a:avLst/>
              <a:gdLst/>
              <a:ahLst/>
              <a:cxnLst/>
              <a:rect l="l" t="t" r="r" b="b"/>
              <a:pathLst>
                <a:path w="1809750" h="9525">
                  <a:moveTo>
                    <a:pt x="0" y="0"/>
                  </a:moveTo>
                  <a:lnTo>
                    <a:pt x="1809750" y="0"/>
                  </a:lnTo>
                </a:path>
              </a:pathLst>
            </a:custGeom>
            <a:noFill/>
            <a:ln w="12382">
              <a:solidFill>
                <a:srgbClr val="D9DFEA"/>
              </a:solidFill>
              <a:custDash>
                <a:ds d="384615" sp="307692"/>
              </a:custDash>
            </a:ln>
          </p:spPr>
        </p:sp>
        <p:sp>
          <p:nvSpPr>
            <p:cNvPr id="28" name="Line 28"/>
            <p:cNvSpPr/>
            <p:nvPr/>
          </p:nvSpPr>
          <p:spPr>
            <a:xfrm>
              <a:off x="1057275" y="3306537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41662" y="3244148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1057275" y="3679717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15767" y="3617328"/>
              <a:ext cx="3083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F(a)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1104900" y="3679717"/>
              <a:ext cx="1074534" cy="9525"/>
            </a:xfrm>
            <a:custGeom>
              <a:avLst/>
              <a:gdLst/>
              <a:ahLst/>
              <a:cxnLst/>
              <a:rect l="l" t="t" r="r" b="b"/>
              <a:pathLst>
                <a:path w="1074534" h="9525">
                  <a:moveTo>
                    <a:pt x="0" y="0"/>
                  </a:moveTo>
                  <a:lnTo>
                    <a:pt x="1074534" y="0"/>
                  </a:lnTo>
                </a:path>
              </a:pathLst>
            </a:custGeom>
            <a:noFill/>
            <a:ln w="12382">
              <a:solidFill>
                <a:srgbClr val="8FA0C4"/>
              </a:solidFill>
              <a:custDash>
                <a:ds d="384615" sp="307692"/>
              </a:custDash>
            </a:ln>
          </p:spPr>
        </p:sp>
        <p:sp>
          <p:nvSpPr>
            <p:cNvPr id="33" name="Line 33"/>
            <p:cNvSpPr/>
            <p:nvPr/>
          </p:nvSpPr>
          <p:spPr>
            <a:xfrm>
              <a:off x="2179434" y="3679717"/>
              <a:ext cx="9525" cy="987533"/>
            </a:xfrm>
            <a:custGeom>
              <a:avLst/>
              <a:gdLst/>
              <a:ahLst/>
              <a:cxnLst/>
              <a:rect l="l" t="t" r="r" b="b"/>
              <a:pathLst>
                <a:path w="9525" h="987533">
                  <a:moveTo>
                    <a:pt x="0" y="987533"/>
                  </a:moveTo>
                  <a:lnTo>
                    <a:pt x="0" y="0"/>
                  </a:lnTo>
                </a:path>
              </a:pathLst>
            </a:custGeom>
            <a:noFill/>
            <a:ln w="12382">
              <a:solidFill>
                <a:srgbClr val="8FA0C4"/>
              </a:solidFill>
              <a:custDash>
                <a:ds d="384615" sp="307692"/>
              </a:custDash>
            </a:ln>
          </p:spPr>
        </p:sp>
        <p:sp>
          <p:nvSpPr>
            <p:cNvPr id="34" name="Line 34"/>
            <p:cNvSpPr/>
            <p:nvPr/>
          </p:nvSpPr>
          <p:spPr>
            <a:xfrm>
              <a:off x="2179434" y="46672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138201" y="47429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2141334" y="3641617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347085" y="3269456"/>
              <a:ext cx="2187702" cy="877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 定义在整条实轴上，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取值永远在 0 与 1 之间。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往右移，累积的概率只增不减；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→ −∞ 时 F → 0，x → +∞ 时 F → 1。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23900" y="4933950"/>
              <a:ext cx="5143500" cy="1162050"/>
            </a:xfrm>
            <a:prstGeom prst="roundRect">
              <a:avLst>
                <a:gd name="adj" fmla="val 819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33425" y="5038725"/>
              <a:ext cx="47625" cy="95250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95350" y="5038725"/>
              <a:ext cx="101436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77177" y="5092065"/>
              <a:ext cx="8507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为什么要用 F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89826" y="5349954"/>
              <a:ext cx="3907854" cy="6127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分布律只对离散型有意义，密度只对连续型有意义，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而 F(x) = P{X ≤ x} 对任何随机变量都定义得出来。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所以它是描述随机变量的统一工具，第 3 节的密度也由它定义。</a:t>
              </a:r>
            </a:p>
          </p:txBody>
        </p:sp>
      </p:grpSp>
      <p:grpSp>
        <p:nvGrpSpPr>
          <p:cNvPr id="103" name="cdfB"/>
          <p:cNvGrpSpPr/>
          <p:nvPr/>
        </p:nvGrpSpPr>
        <p:grpSpPr>
          <a:xfrm>
            <a:off x="6134100" y="1524000"/>
            <a:ext cx="5524500" cy="4762500"/>
            <a:chOff x="6134100" y="1524000"/>
            <a:chExt cx="5524500" cy="4762500"/>
          </a:xfrm>
        </p:grpSpPr>
        <p:sp>
          <p:nvSpPr>
            <p:cNvPr id="44" name="Rectangle 44"/>
            <p:cNvSpPr/>
            <p:nvPr/>
          </p:nvSpPr>
          <p:spPr>
            <a:xfrm>
              <a:off x="6134100" y="1524000"/>
              <a:ext cx="5524500" cy="4762500"/>
            </a:xfrm>
            <a:prstGeom prst="roundRect">
              <a:avLst>
                <a:gd name="adj" fmla="val 24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17932" y="1658541"/>
              <a:ext cx="4118082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1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离散型的 F 是一条阶梯：跳多高就是取到那点的概率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319076" y="1930479"/>
              <a:ext cx="4151767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掷一颗均匀骰子，X 是点数，F(x) 在 1、2、…、6 处各跳 1/6。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6667500" y="4476750"/>
              <a:ext cx="2333625" cy="9525"/>
            </a:xfrm>
            <a:custGeom>
              <a:avLst/>
              <a:gdLst/>
              <a:ahLst/>
              <a:cxnLst/>
              <a:rect l="l" t="t" r="r" b="b"/>
              <a:pathLst>
                <a:path w="2333625" h="9525">
                  <a:moveTo>
                    <a:pt x="0" y="0"/>
                  </a:moveTo>
                  <a:lnTo>
                    <a:pt x="2333625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48" name="Polygon 48"/>
            <p:cNvSpPr/>
            <p:nvPr/>
          </p:nvSpPr>
          <p:spPr>
            <a:xfrm>
              <a:off x="9001125" y="4446746"/>
              <a:ext cx="66675" cy="60007"/>
            </a:xfrm>
            <a:custGeom>
              <a:avLst/>
              <a:gdLst/>
              <a:ahLst/>
              <a:cxnLst/>
              <a:rect l="l" t="t" r="r" b="b"/>
              <a:pathLst>
                <a:path w="66675" h="60007">
                  <a:moveTo>
                    <a:pt x="66675" y="30004"/>
                  </a:moveTo>
                  <a:lnTo>
                    <a:pt x="0" y="60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49" name="Line 49"/>
            <p:cNvSpPr/>
            <p:nvPr/>
          </p:nvSpPr>
          <p:spPr>
            <a:xfrm>
              <a:off x="6724650" y="2371725"/>
              <a:ext cx="9525" cy="2162175"/>
            </a:xfrm>
            <a:custGeom>
              <a:avLst/>
              <a:gdLst/>
              <a:ahLst/>
              <a:cxnLst/>
              <a:rect l="l" t="t" r="r" b="b"/>
              <a:pathLst>
                <a:path w="9525" h="2162175">
                  <a:moveTo>
                    <a:pt x="0" y="216217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50" name="Polygon 50"/>
            <p:cNvSpPr/>
            <p:nvPr/>
          </p:nvSpPr>
          <p:spPr>
            <a:xfrm>
              <a:off x="6694646" y="2305050"/>
              <a:ext cx="60007" cy="66675"/>
            </a:xfrm>
            <a:custGeom>
              <a:avLst/>
              <a:gdLst/>
              <a:ahLst/>
              <a:cxnLst/>
              <a:rect l="l" t="t" r="r" b="b"/>
              <a:pathLst>
                <a:path w="60007" h="66675">
                  <a:moveTo>
                    <a:pt x="30004" y="0"/>
                  </a:moveTo>
                  <a:lnTo>
                    <a:pt x="60007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100566" y="45158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342393" y="2134552"/>
              <a:ext cx="3304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572174" y="4533424"/>
              <a:ext cx="1144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54" name="Freeform 54"/>
            <p:cNvSpPr/>
            <p:nvPr/>
          </p:nvSpPr>
          <p:spPr>
            <a:xfrm>
              <a:off x="6724650" y="4476750"/>
              <a:ext cx="304267" cy="9525"/>
            </a:xfrm>
            <a:custGeom>
              <a:avLst/>
              <a:gdLst/>
              <a:ahLst/>
              <a:cxnLst/>
              <a:rect l="l" t="t" r="r" b="b"/>
              <a:pathLst>
                <a:path w="304267" h="9525">
                  <a:moveTo>
                    <a:pt x="0" y="0"/>
                  </a:moveTo>
                  <a:lnTo>
                    <a:pt x="304267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7028917" y="4183885"/>
              <a:ext cx="304276" cy="9525"/>
            </a:xfrm>
            <a:custGeom>
              <a:avLst/>
              <a:gdLst/>
              <a:ahLst/>
              <a:cxnLst/>
              <a:rect l="l" t="t" r="r" b="b"/>
              <a:pathLst>
                <a:path w="304276" h="9525">
                  <a:moveTo>
                    <a:pt x="0" y="0"/>
                  </a:moveTo>
                  <a:lnTo>
                    <a:pt x="304276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7028917" y="4183885"/>
              <a:ext cx="9525" cy="292865"/>
            </a:xfrm>
            <a:custGeom>
              <a:avLst/>
              <a:gdLst/>
              <a:ahLst/>
              <a:cxnLst/>
              <a:rect l="l" t="t" r="r" b="b"/>
              <a:pathLst>
                <a:path w="9525" h="292865">
                  <a:moveTo>
                    <a:pt x="0" y="292865"/>
                  </a:moveTo>
                  <a:lnTo>
                    <a:pt x="0" y="0"/>
                  </a:lnTo>
                </a:path>
              </a:pathLst>
            </a:custGeom>
            <a:noFill/>
            <a:ln w="12382">
              <a:solidFill>
                <a:srgbClr val="8FA0C4"/>
              </a:solidFill>
              <a:custDash>
                <a:ds d="384615" sp="307692"/>
              </a:custDash>
            </a:ln>
          </p:spPr>
        </p:sp>
        <p:sp>
          <p:nvSpPr>
            <p:cNvPr id="57" name="Ellipse 57"/>
            <p:cNvSpPr/>
            <p:nvPr/>
          </p:nvSpPr>
          <p:spPr>
            <a:xfrm>
              <a:off x="6990817" y="414578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6990817" y="4438650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7333193" y="3891020"/>
              <a:ext cx="304267" cy="9525"/>
            </a:xfrm>
            <a:custGeom>
              <a:avLst/>
              <a:gdLst/>
              <a:ahLst/>
              <a:cxnLst/>
              <a:rect l="l" t="t" r="r" b="b"/>
              <a:pathLst>
                <a:path w="304267" h="9525">
                  <a:moveTo>
                    <a:pt x="0" y="0"/>
                  </a:moveTo>
                  <a:lnTo>
                    <a:pt x="304267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60" name="Line 60"/>
            <p:cNvSpPr/>
            <p:nvPr/>
          </p:nvSpPr>
          <p:spPr>
            <a:xfrm>
              <a:off x="7333193" y="3891020"/>
              <a:ext cx="9525" cy="292865"/>
            </a:xfrm>
            <a:custGeom>
              <a:avLst/>
              <a:gdLst/>
              <a:ahLst/>
              <a:cxnLst/>
              <a:rect l="l" t="t" r="r" b="b"/>
              <a:pathLst>
                <a:path w="9525" h="292865">
                  <a:moveTo>
                    <a:pt x="0" y="292865"/>
                  </a:moveTo>
                  <a:lnTo>
                    <a:pt x="0" y="0"/>
                  </a:lnTo>
                </a:path>
              </a:pathLst>
            </a:custGeom>
            <a:noFill/>
            <a:ln w="12382">
              <a:solidFill>
                <a:srgbClr val="8FA0C4"/>
              </a:solidFill>
              <a:custDash>
                <a:ds d="384615" sp="307692"/>
              </a:custDash>
            </a:ln>
          </p:spPr>
        </p:sp>
        <p:sp>
          <p:nvSpPr>
            <p:cNvPr id="61" name="Ellipse 61"/>
            <p:cNvSpPr/>
            <p:nvPr/>
          </p:nvSpPr>
          <p:spPr>
            <a:xfrm>
              <a:off x="7295093" y="3852920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7295093" y="4145785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7637459" y="3598154"/>
              <a:ext cx="304276" cy="9525"/>
            </a:xfrm>
            <a:custGeom>
              <a:avLst/>
              <a:gdLst/>
              <a:ahLst/>
              <a:cxnLst/>
              <a:rect l="l" t="t" r="r" b="b"/>
              <a:pathLst>
                <a:path w="304276" h="9525">
                  <a:moveTo>
                    <a:pt x="0" y="0"/>
                  </a:moveTo>
                  <a:lnTo>
                    <a:pt x="304276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64" name="Line 64"/>
            <p:cNvSpPr/>
            <p:nvPr/>
          </p:nvSpPr>
          <p:spPr>
            <a:xfrm>
              <a:off x="7637459" y="3598154"/>
              <a:ext cx="9525" cy="292865"/>
            </a:xfrm>
            <a:custGeom>
              <a:avLst/>
              <a:gdLst/>
              <a:ahLst/>
              <a:cxnLst/>
              <a:rect l="l" t="t" r="r" b="b"/>
              <a:pathLst>
                <a:path w="9525" h="292865">
                  <a:moveTo>
                    <a:pt x="0" y="292865"/>
                  </a:moveTo>
                  <a:lnTo>
                    <a:pt x="0" y="0"/>
                  </a:lnTo>
                </a:path>
              </a:pathLst>
            </a:custGeom>
            <a:noFill/>
            <a:ln w="12382">
              <a:solidFill>
                <a:srgbClr val="8FA0C4"/>
              </a:solidFill>
              <a:custDash>
                <a:ds d="384615" sp="307692"/>
              </a:custDash>
            </a:ln>
          </p:spPr>
        </p:sp>
        <p:sp>
          <p:nvSpPr>
            <p:cNvPr id="65" name="Ellipse 65"/>
            <p:cNvSpPr/>
            <p:nvPr/>
          </p:nvSpPr>
          <p:spPr>
            <a:xfrm>
              <a:off x="7599359" y="3560054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7599359" y="3852920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7941735" y="3305280"/>
              <a:ext cx="304267" cy="9525"/>
            </a:xfrm>
            <a:custGeom>
              <a:avLst/>
              <a:gdLst/>
              <a:ahLst/>
              <a:cxnLst/>
              <a:rect l="l" t="t" r="r" b="b"/>
              <a:pathLst>
                <a:path w="304267" h="9525">
                  <a:moveTo>
                    <a:pt x="0" y="0"/>
                  </a:moveTo>
                  <a:lnTo>
                    <a:pt x="304267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68" name="Line 68"/>
            <p:cNvSpPr/>
            <p:nvPr/>
          </p:nvSpPr>
          <p:spPr>
            <a:xfrm>
              <a:off x="7941735" y="3305280"/>
              <a:ext cx="9525" cy="292875"/>
            </a:xfrm>
            <a:custGeom>
              <a:avLst/>
              <a:gdLst/>
              <a:ahLst/>
              <a:cxnLst/>
              <a:rect l="l" t="t" r="r" b="b"/>
              <a:pathLst>
                <a:path w="9525" h="292875">
                  <a:moveTo>
                    <a:pt x="0" y="292875"/>
                  </a:moveTo>
                  <a:lnTo>
                    <a:pt x="0" y="0"/>
                  </a:lnTo>
                </a:path>
              </a:pathLst>
            </a:custGeom>
            <a:noFill/>
            <a:ln w="12382">
              <a:solidFill>
                <a:srgbClr val="8FA0C4"/>
              </a:solidFill>
              <a:custDash>
                <a:ds d="384615" sp="307692"/>
              </a:custDash>
            </a:ln>
          </p:spPr>
        </p:sp>
        <p:sp>
          <p:nvSpPr>
            <p:cNvPr id="69" name="Ellipse 69"/>
            <p:cNvSpPr/>
            <p:nvPr/>
          </p:nvSpPr>
          <p:spPr>
            <a:xfrm>
              <a:off x="7903635" y="3267180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7903635" y="3560054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8246002" y="3012415"/>
              <a:ext cx="304276" cy="9525"/>
            </a:xfrm>
            <a:custGeom>
              <a:avLst/>
              <a:gdLst/>
              <a:ahLst/>
              <a:cxnLst/>
              <a:rect l="l" t="t" r="r" b="b"/>
              <a:pathLst>
                <a:path w="304276" h="9525">
                  <a:moveTo>
                    <a:pt x="0" y="0"/>
                  </a:moveTo>
                  <a:lnTo>
                    <a:pt x="304276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72" name="Line 72"/>
            <p:cNvSpPr/>
            <p:nvPr/>
          </p:nvSpPr>
          <p:spPr>
            <a:xfrm>
              <a:off x="8246002" y="3012415"/>
              <a:ext cx="9525" cy="292865"/>
            </a:xfrm>
            <a:custGeom>
              <a:avLst/>
              <a:gdLst/>
              <a:ahLst/>
              <a:cxnLst/>
              <a:rect l="l" t="t" r="r" b="b"/>
              <a:pathLst>
                <a:path w="9525" h="292865">
                  <a:moveTo>
                    <a:pt x="0" y="292865"/>
                  </a:moveTo>
                  <a:lnTo>
                    <a:pt x="0" y="0"/>
                  </a:lnTo>
                </a:path>
              </a:pathLst>
            </a:custGeom>
            <a:noFill/>
            <a:ln w="12382">
              <a:solidFill>
                <a:srgbClr val="8FA0C4"/>
              </a:solidFill>
              <a:custDash>
                <a:ds d="384615" sp="307692"/>
              </a:custDash>
            </a:ln>
          </p:spPr>
        </p:sp>
        <p:sp>
          <p:nvSpPr>
            <p:cNvPr id="73" name="Ellipse 73"/>
            <p:cNvSpPr/>
            <p:nvPr/>
          </p:nvSpPr>
          <p:spPr>
            <a:xfrm>
              <a:off x="8207902" y="297431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8207902" y="3267180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5" name="Freeform 75"/>
            <p:cNvSpPr/>
            <p:nvPr/>
          </p:nvSpPr>
          <p:spPr>
            <a:xfrm>
              <a:off x="8550278" y="2719549"/>
              <a:ext cx="334699" cy="9525"/>
            </a:xfrm>
            <a:custGeom>
              <a:avLst/>
              <a:gdLst/>
              <a:ahLst/>
              <a:cxnLst/>
              <a:rect l="l" t="t" r="r" b="b"/>
              <a:pathLst>
                <a:path w="334699" h="9525">
                  <a:moveTo>
                    <a:pt x="0" y="0"/>
                  </a:moveTo>
                  <a:lnTo>
                    <a:pt x="334699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76" name="Line 76"/>
            <p:cNvSpPr/>
            <p:nvPr/>
          </p:nvSpPr>
          <p:spPr>
            <a:xfrm>
              <a:off x="8550278" y="2719549"/>
              <a:ext cx="9525" cy="292865"/>
            </a:xfrm>
            <a:custGeom>
              <a:avLst/>
              <a:gdLst/>
              <a:ahLst/>
              <a:cxnLst/>
              <a:rect l="l" t="t" r="r" b="b"/>
              <a:pathLst>
                <a:path w="9525" h="292865">
                  <a:moveTo>
                    <a:pt x="0" y="292865"/>
                  </a:moveTo>
                  <a:lnTo>
                    <a:pt x="0" y="0"/>
                  </a:lnTo>
                </a:path>
              </a:pathLst>
            </a:custGeom>
            <a:noFill/>
            <a:ln w="12382">
              <a:solidFill>
                <a:srgbClr val="8FA0C4"/>
              </a:solidFill>
              <a:custDash>
                <a:ds d="384615" sp="307692"/>
              </a:custDash>
            </a:ln>
          </p:spPr>
        </p:sp>
        <p:sp>
          <p:nvSpPr>
            <p:cNvPr id="77" name="Ellipse 77"/>
            <p:cNvSpPr/>
            <p:nvPr/>
          </p:nvSpPr>
          <p:spPr>
            <a:xfrm>
              <a:off x="8512178" y="2681449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8" name="Ellipse 78"/>
            <p:cNvSpPr/>
            <p:nvPr/>
          </p:nvSpPr>
          <p:spPr>
            <a:xfrm>
              <a:off x="8512178" y="2974315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9" name="Line 79"/>
            <p:cNvSpPr/>
            <p:nvPr/>
          </p:nvSpPr>
          <p:spPr>
            <a:xfrm>
              <a:off x="6677025" y="2719549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561412" y="265716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1" name="Line 81"/>
            <p:cNvSpPr/>
            <p:nvPr/>
          </p:nvSpPr>
          <p:spPr>
            <a:xfrm>
              <a:off x="6677025" y="3598154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416291" y="3535766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3/6</a:t>
              </a:r>
            </a:p>
          </p:txBody>
        </p:sp>
        <p:sp>
          <p:nvSpPr>
            <p:cNvPr id="83" name="Line 83"/>
            <p:cNvSpPr/>
            <p:nvPr/>
          </p:nvSpPr>
          <p:spPr>
            <a:xfrm>
              <a:off x="7028917" y="44767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987684" y="45524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5" name="Line 85"/>
            <p:cNvSpPr/>
            <p:nvPr/>
          </p:nvSpPr>
          <p:spPr>
            <a:xfrm>
              <a:off x="7333193" y="44767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7291960" y="45524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7" name="Line 87"/>
            <p:cNvSpPr/>
            <p:nvPr/>
          </p:nvSpPr>
          <p:spPr>
            <a:xfrm>
              <a:off x="7637459" y="44767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7596226" y="45524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9" name="Line 89"/>
            <p:cNvSpPr/>
            <p:nvPr/>
          </p:nvSpPr>
          <p:spPr>
            <a:xfrm>
              <a:off x="7941735" y="44767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7900502" y="45524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1" name="Line 91"/>
            <p:cNvSpPr/>
            <p:nvPr/>
          </p:nvSpPr>
          <p:spPr>
            <a:xfrm>
              <a:off x="8246002" y="44767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8204769" y="45524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3" name="Line 93"/>
            <p:cNvSpPr/>
            <p:nvPr/>
          </p:nvSpPr>
          <p:spPr>
            <a:xfrm>
              <a:off x="8550278" y="44767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8509045" y="45524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5" name="Line 95"/>
            <p:cNvSpPr/>
            <p:nvPr/>
          </p:nvSpPr>
          <p:spPr>
            <a:xfrm>
              <a:off x="7732709" y="3598154"/>
              <a:ext cx="9525" cy="292865"/>
            </a:xfrm>
            <a:custGeom>
              <a:avLst/>
              <a:gdLst/>
              <a:ahLst/>
              <a:cxnLst/>
              <a:rect l="l" t="t" r="r" b="b"/>
              <a:pathLst>
                <a:path w="9525" h="292865">
                  <a:moveTo>
                    <a:pt x="0" y="292865"/>
                  </a:moveTo>
                  <a:lnTo>
                    <a:pt x="0" y="0"/>
                  </a:lnTo>
                </a:path>
              </a:pathLst>
            </a:custGeom>
            <a:noFill/>
            <a:ln w="22860">
              <a:solidFill>
                <a:srgbClr val="F26B3A"/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7784716" y="3682908"/>
              <a:ext cx="411387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跳 1/6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9271635" y="2621756"/>
              <a:ext cx="1746758" cy="17535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读法：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F(2.7) = P{X ≤ 2.7}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1/6 + 1/6 = 2/6。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每个取值点都是间断点，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跳跃高度恰好是 P{X = k}。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平台上的点用实心，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左端断开处用空心：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这正是右连续。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6324600" y="4933950"/>
              <a:ext cx="5143500" cy="1162050"/>
            </a:xfrm>
            <a:prstGeom prst="roundRect">
              <a:avLst>
                <a:gd name="adj" fmla="val 819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9" name="Rectangle 99"/>
            <p:cNvSpPr/>
            <p:nvPr/>
          </p:nvSpPr>
          <p:spPr>
            <a:xfrm>
              <a:off x="6334125" y="5038725"/>
              <a:ext cx="47625" cy="9525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6496050" y="5038725"/>
              <a:ext cx="156210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6565011" y="5092065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两类随机变量的分水岭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6490526" y="5349954"/>
              <a:ext cx="4025519" cy="6127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处处连续，随机变量是连续型；F 是阶梯，随机变量是离散型。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阶梯的跳跃点集中了全部概率，所以离散型用分布律描述最方便；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连续型的 F 没有跳跃，任何单点的概率都是 0，只能用密度描述。</a:t>
              </a:r>
            </a:p>
          </p:txBody>
        </p:sp>
      </p:grpSp>
      <p:grpSp>
        <p:nvGrpSpPr>
          <p:cNvPr id="10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4" name="TextBox 104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86222" cy="909257"/>
            <a:chOff x="520446" y="342900"/>
            <a:chExt cx="698622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随机变量 · 随机变量与分布函数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8622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五条性质，以及怎样用 F 算出任意区间的概率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card-1"/>
          <p:cNvGrpSpPr/>
          <p:nvPr/>
        </p:nvGrpSpPr>
        <p:grpSpPr>
          <a:xfrm>
            <a:off x="533400" y="1524000"/>
            <a:ext cx="5193982" cy="2540318"/>
            <a:chOff x="533400" y="1524000"/>
            <a:chExt cx="5193982" cy="25403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540318"/>
            </a:xfrm>
            <a:prstGeom prst="roundRect">
              <a:avLst>
                <a:gd name="adj" fmla="val 52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7361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52931" y="175688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分布函数的五条基本性质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9620" y="2088832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27965" y="212821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60514" y="2100739"/>
              <a:ext cx="318936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有界性：对任意实数 x，0 ≤ F(x) ≤ 1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9620" y="2406015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27965" y="244635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0514" y="2418874"/>
              <a:ext cx="387375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区间概率：x₁ &lt; x₂ 时 P{x₁ &lt; X ≤ x₂} = F(x₂) −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F(x₁)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69620" y="2995612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27965" y="303499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0514" y="3007519"/>
              <a:ext cx="2959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两端极限：F(−∞) = 0，F(+∞) = 1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69620" y="3312795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27965" y="335313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60514" y="3325654"/>
              <a:ext cx="32253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单调不减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：x₁ &lt; x₂ 时 F(x₁) ≤ F(x₂)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69620" y="3630930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27965" y="367126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60514" y="3642836"/>
              <a:ext cx="22042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右连续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：F(x + 0) = F(x)</a:t>
              </a:r>
            </a:p>
          </p:txBody>
        </p:sp>
      </p:grpSp>
      <p:grpSp>
        <p:nvGrpSpPr>
          <p:cNvPr id="34" name="c1-callout-2"/>
          <p:cNvGrpSpPr/>
          <p:nvPr/>
        </p:nvGrpSpPr>
        <p:grpSpPr>
          <a:xfrm>
            <a:off x="533400" y="4244340"/>
            <a:ext cx="5193982" cy="1430655"/>
            <a:chOff x="533400" y="4244340"/>
            <a:chExt cx="5193982" cy="1430655"/>
          </a:xfrm>
        </p:grpSpPr>
        <p:sp>
          <p:nvSpPr>
            <p:cNvPr id="28" name="Rectangle 28"/>
            <p:cNvSpPr/>
            <p:nvPr/>
          </p:nvSpPr>
          <p:spPr>
            <a:xfrm>
              <a:off x="533400" y="4244340"/>
              <a:ext cx="5193982" cy="1430655"/>
            </a:xfrm>
            <a:prstGeom prst="roundRect">
              <a:avLst>
                <a:gd name="adj" fmla="val 798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4859655"/>
              <a:ext cx="200026" cy="200025"/>
              <a:chOff x="738188" y="4859655"/>
              <a:chExt cx="200026" cy="20002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485965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77926" y="490410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12642" y="501523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511" y="4597241"/>
              <a:ext cx="4306570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 1、3、4、5 反过来也成立：满足这四条的函数一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定是某个随机变量的分布函数。判断一个给定函数能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不能当 F，就逐条核对这四项。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6032182" y="1524000"/>
            <a:ext cx="5626418" cy="1847850"/>
            <a:chOff x="6032182" y="1524000"/>
            <a:chExt cx="5626418" cy="1847850"/>
          </a:xfrm>
        </p:grpSpPr>
        <p:sp>
          <p:nvSpPr>
            <p:cNvPr id="35" name="Rectangle 35"/>
            <p:cNvSpPr/>
            <p:nvPr/>
          </p:nvSpPr>
          <p:spPr>
            <a:xfrm>
              <a:off x="6032182" y="1524000"/>
              <a:ext cx="5626418" cy="1847850"/>
            </a:xfrm>
            <a:prstGeom prst="roundRect">
              <a:avLst>
                <a:gd name="adj" fmla="val 7216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30302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21742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13614" y="1756886"/>
              <a:ext cx="14053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 F 求四种概率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formula9"/>
                <p:cNvSpPr txBox="1">
                  <a:spLocks noGrp="1"/>
                </p:cNvSpPr>
                <p:nvPr/>
              </p:nvSpPr>
              <p:spPr>
                <a:xfrm>
                  <a:off x="6230302" y="2077402"/>
                  <a:ext cx="5230178" cy="7610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d>
                              <m:dPr>
                                <m:begChr m:val="{"/>
                                <m:sepChr m:val=""/>
                                <m:endChr m:val="}"/>
                                <m:grow m:val="on"/>
                                <m:ctrl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d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d>
                          </m:e>
                          <m:e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d>
                              <m:dPr>
                                <m:begChr m:val="{"/>
                                <m:sepChr m:val=""/>
                                <m:endChr m:val="}"/>
                                <m:grow m:val="on"/>
                                <m:ctrl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&lt;</m:t>
                                </m:r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d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d>
                          </m:e>
                          <m:e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d>
                              <m:dPr>
                                <m:begChr m:val="{"/>
                                <m:sepChr m:val=""/>
                                <m:endChr m:val="}"/>
                                <m:grow m:val="on"/>
                                <m:ctrl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d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d>
                          </m:e>
                          <m:e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d>
                              <m:dPr>
                                <m:begChr m:val="{"/>
                                <m:sepChr m:val=""/>
                                <m:endChr m:val="}"/>
                                <m:grow m:val="on"/>
                                <m:ctrl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&gt;</m:t>
                                </m:r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d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d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0" name="TextBox 40"/>
            <p:cNvSpPr txBox="1"/>
            <p:nvPr/>
          </p:nvSpPr>
          <p:spPr>
            <a:xfrm>
              <a:off x="6223064" y="2951321"/>
              <a:ext cx="326276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其中 F(a − 0) 是 F 在 a 处的左极限。</a:t>
              </a:r>
            </a:p>
          </p:txBody>
        </p:sp>
      </p:grpSp>
      <p:grpSp>
        <p:nvGrpSpPr>
          <p:cNvPr id="60" name="c2-table-2"/>
          <p:cNvGrpSpPr/>
          <p:nvPr/>
        </p:nvGrpSpPr>
        <p:grpSpPr>
          <a:xfrm>
            <a:off x="6032182" y="3551872"/>
            <a:ext cx="5626418" cy="2123123"/>
            <a:chOff x="6032182" y="3551872"/>
            <a:chExt cx="5626418" cy="2123123"/>
          </a:xfrm>
        </p:grpSpPr>
        <p:sp>
          <p:nvSpPr>
            <p:cNvPr id="42" name="Rectangle 42"/>
            <p:cNvSpPr/>
            <p:nvPr/>
          </p:nvSpPr>
          <p:spPr>
            <a:xfrm>
              <a:off x="6032182" y="3551872"/>
              <a:ext cx="5626418" cy="42481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03326" y="36804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想求的概率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594731" y="3680460"/>
              <a:ext cx="8644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 F 写出来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134672" y="4105275"/>
              <a:ext cx="9889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P{a &lt; X ≤ b}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97824" y="4105275"/>
              <a:ext cx="9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F(b) − F(a)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032182" y="439674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032182" y="4401502"/>
              <a:ext cx="562641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134672" y="4529138"/>
              <a:ext cx="9889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P{a ≤ X ≤ b}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497824" y="4529138"/>
              <a:ext cx="12165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F(b) − F(a − 0)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032182" y="482060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134672" y="4953952"/>
              <a:ext cx="9889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P{a &lt; X &lt; b}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497824" y="4953952"/>
              <a:ext cx="12165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F(b − 0) − F(a)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032182" y="524541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032182" y="5250180"/>
              <a:ext cx="562641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134672" y="5378767"/>
              <a:ext cx="6986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P{X ≥ a}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497824" y="5378767"/>
              <a:ext cx="9424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1 − F(a − 0)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032182" y="3551872"/>
              <a:ext cx="5626418" cy="21221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8390572" y="3551872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7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61" name="Rectangle 61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26129" y="6007536"/>
              <a:ext cx="224134" cy="192560"/>
              <a:chOff x="726129" y="6007536"/>
              <a:chExt cx="224134" cy="19256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838200" y="607790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26129" y="600753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38200" y="615569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0511" y="6011704"/>
              <a:ext cx="93685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单点概率 P{X = a} 等于 F 在 a 处的跳跃高度。F 在 a 处连续时这个跳跃是 0，此时四个区间的概率全都相等。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89773" cy="909257"/>
            <a:chOff x="520446" y="342900"/>
            <a:chExt cx="708977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随机变量 · 随机变量与分布函数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8977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例1：由待定系数写出分布函数，再求区间概率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977765" cy="1848802"/>
            <a:chOff x="533400" y="1524000"/>
            <a:chExt cx="4977765" cy="184880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848802"/>
            </a:xfrm>
            <a:prstGeom prst="roundRect">
              <a:avLst>
                <a:gd name="adj" fmla="val 72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8210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0576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6347" y="1737836"/>
              <a:ext cx="2180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66063" y="1744504"/>
              <a:ext cx="26451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 X 的分布函数含一个待定常数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6"/>
                <p:cNvSpPr txBox="1">
                  <a:spLocks noGrp="1"/>
                </p:cNvSpPr>
                <p:nvPr/>
              </p:nvSpPr>
              <p:spPr>
                <a:xfrm>
                  <a:off x="752475" y="2040255"/>
                  <a:ext cx="4577715" cy="8496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&lt;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  <m:sSup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&gt;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45998" y="2992279"/>
              <a:ext cx="40893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求：(1) 常数 A；(2) X 落在 (0.3, 0.7] 内的概率。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537585"/>
            <a:ext cx="4977765" cy="2084070"/>
            <a:chOff x="533400" y="3537585"/>
            <a:chExt cx="4977765" cy="2084070"/>
          </a:xfrm>
        </p:grpSpPr>
        <p:sp>
          <p:nvSpPr>
            <p:cNvPr id="15" name="Rectangle 15"/>
            <p:cNvSpPr/>
            <p:nvPr/>
          </p:nvSpPr>
          <p:spPr>
            <a:xfrm>
              <a:off x="533400" y="3537585"/>
              <a:ext cx="4977765" cy="2084070"/>
            </a:xfrm>
            <a:prstGeom prst="roundRect">
              <a:avLst>
                <a:gd name="adj" fmla="val 639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670935"/>
              <a:ext cx="47625" cy="181737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52475" y="371856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5147" y="375142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5998" y="4058126"/>
              <a:ext cx="440207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待定常数从哪来？分布函数在每一段内部都连续，关键只看两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段的接口。这里 x = 1 处必须和右边的常值 1 接得上，一个等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式就把 A 定死了。</a:t>
              </a:r>
            </a:p>
          </p:txBody>
        </p:sp>
      </p:grpSp>
      <p:grpSp>
        <p:nvGrpSpPr>
          <p:cNvPr id="38" name="c2-steps-1"/>
          <p:cNvGrpSpPr/>
          <p:nvPr/>
        </p:nvGrpSpPr>
        <p:grpSpPr>
          <a:xfrm>
            <a:off x="5815965" y="1533525"/>
            <a:ext cx="4130097" cy="2149412"/>
            <a:chOff x="5815965" y="1533525"/>
            <a:chExt cx="4130097" cy="2149412"/>
          </a:xfrm>
        </p:grpSpPr>
        <p:sp>
          <p:nvSpPr>
            <p:cNvPr id="21" name="Rectangle 21"/>
            <p:cNvSpPr/>
            <p:nvPr/>
          </p:nvSpPr>
          <p:spPr>
            <a:xfrm>
              <a:off x="5949315" y="1676400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5815965" y="20869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909589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815965" y="26393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909589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815965" y="31927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909589" y="32665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28588" y="1564481"/>
              <a:ext cx="10370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用右连续定 A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29731" y="1818322"/>
              <a:ext cx="37163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x = 1 处 F(1) = A，而 F(1 + 0) = 1，由右连续得 A = 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28588" y="2116931"/>
              <a:ext cx="10370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写出完整的 F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29731" y="2371725"/>
              <a:ext cx="28860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 = 0 (x &lt; 0)，x² (0 ≤ x ≤ 1)，1 (x &gt; 1)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28588" y="267033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套区间公式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29731" y="2925128"/>
              <a:ext cx="25048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P{0.3 &lt; X ≤ 0.7} = F(0.7) − F(0.3)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28588" y="322278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代入计算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29731" y="3477578"/>
              <a:ext cx="23358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0.7² − 0.3² = 0.49 − 0.09 = 0.40</a:t>
              </a:r>
            </a:p>
          </p:txBody>
        </p:sp>
      </p:grpSp>
      <p:grpSp>
        <p:nvGrpSpPr>
          <p:cNvPr id="44" name="c2-callout-2"/>
          <p:cNvGrpSpPr/>
          <p:nvPr/>
        </p:nvGrpSpPr>
        <p:grpSpPr>
          <a:xfrm>
            <a:off x="5815965" y="3844290"/>
            <a:ext cx="5842635" cy="467678"/>
            <a:chOff x="5815965" y="3844290"/>
            <a:chExt cx="5842635" cy="467678"/>
          </a:xfrm>
        </p:grpSpPr>
        <p:sp>
          <p:nvSpPr>
            <p:cNvPr id="39" name="Rectangle 39"/>
            <p:cNvSpPr/>
            <p:nvPr/>
          </p:nvSpPr>
          <p:spPr>
            <a:xfrm>
              <a:off x="5815965" y="3844290"/>
              <a:ext cx="5842635" cy="467678"/>
            </a:xfrm>
            <a:prstGeom prst="roundRect">
              <a:avLst>
                <a:gd name="adj" fmla="val 24440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020753" y="3978593"/>
              <a:ext cx="200026" cy="200026"/>
              <a:chOff x="6020753" y="3978593"/>
              <a:chExt cx="200026" cy="200026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6020753" y="397859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087428" y="405638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6323838" y="3989546"/>
              <a:ext cx="26971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 = 1，P{0.3 &lt; X ≤ 0.7} = 0.4。</a:t>
              </a:r>
            </a:p>
          </p:txBody>
        </p:sp>
      </p:grpSp>
      <p:grpSp>
        <p:nvGrpSpPr>
          <p:cNvPr id="50" name="c2-card-3"/>
          <p:cNvGrpSpPr/>
          <p:nvPr/>
        </p:nvGrpSpPr>
        <p:grpSpPr>
          <a:xfrm>
            <a:off x="5815965" y="4477702"/>
            <a:ext cx="5842635" cy="1143952"/>
            <a:chOff x="5815965" y="4477702"/>
            <a:chExt cx="5842635" cy="1143952"/>
          </a:xfrm>
        </p:grpSpPr>
        <p:sp>
          <p:nvSpPr>
            <p:cNvPr id="45" name="Rectangle 45"/>
            <p:cNvSpPr/>
            <p:nvPr/>
          </p:nvSpPr>
          <p:spPr>
            <a:xfrm>
              <a:off x="5815965" y="4477702"/>
              <a:ext cx="5842635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5825490" y="4611052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035040" y="465867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119609" y="469153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顺带一提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028563" y="4998244"/>
              <a:ext cx="514985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 F 对应的密度是 F′(x) = 2x（0 &lt; x &lt; 1），并不是均匀分布。U(0,</a:t>
              </a:r>
            </a:p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1) 的分布函数是 F(x) = x。</a:t>
              </a:r>
            </a:p>
          </p:txBody>
        </p:sp>
      </p:grpSp>
      <p:grpSp>
        <p:nvGrpSpPr>
          <p:cNvPr id="57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1" name="Rectangle 51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1273" y="6039326"/>
              <a:ext cx="9694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也可以用 F(+∞) = 1 来定常数，但只有当待定系数出现在最右一段时才行。这里最右段已经是常数 1，所以只能从接口处下手。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336792" cy="2997517"/>
            <a:chOff x="667512" y="1835468"/>
            <a:chExt cx="6336792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33679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离散型随机变量及其概率分布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56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取值可以一个一个数出来时，把每个值的概率列成一张表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分布律的两条性质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由分布律求分布函数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五种常用的离散分布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随机变量 · 离散型随机变量及其概率分布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分布律：把每个取值的概率列成一张表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626418" cy="1868805"/>
            <a:chOff x="533400" y="1524000"/>
            <a:chExt cx="5626418" cy="18688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868805"/>
            </a:xfrm>
            <a:prstGeom prst="roundRect">
              <a:avLst>
                <a:gd name="adj" fmla="val 713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0210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离散型随机变量与它的分布律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91413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如果随机变量 X 的全部可能取值只有有限个或可列无穷多个，并且以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确定的概率取这些值，就称 X 为离散型随机变量。称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35"/>
                <p:cNvSpPr txBox="1">
                  <a:spLocks noGrp="1"/>
                </p:cNvSpPr>
                <p:nvPr/>
              </p:nvSpPr>
              <p:spPr>
                <a:xfrm>
                  <a:off x="752475" y="2567940"/>
                  <a:ext cx="5226368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,…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45998" y="3013234"/>
              <a:ext cx="24624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X 的分布律，也叫概率分布。</a:t>
              </a:r>
            </a:p>
          </p:txBody>
        </p:sp>
      </p:grpSp>
      <p:grpSp>
        <p:nvGrpSpPr>
          <p:cNvPr id="36" name="c1-table-2"/>
          <p:cNvGrpSpPr/>
          <p:nvPr/>
        </p:nvGrpSpPr>
        <p:grpSpPr>
          <a:xfrm>
            <a:off x="528447" y="3557588"/>
            <a:ext cx="5631371" cy="1027461"/>
            <a:chOff x="528447" y="3557588"/>
            <a:chExt cx="5631371" cy="1027461"/>
          </a:xfrm>
        </p:grpSpPr>
        <p:sp>
          <p:nvSpPr>
            <p:cNvPr id="16" name="Rectangle 16"/>
            <p:cNvSpPr/>
            <p:nvPr/>
          </p:nvSpPr>
          <p:spPr>
            <a:xfrm>
              <a:off x="533400" y="3557588"/>
              <a:ext cx="5626418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5473" y="367569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24703" y="367569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781013" y="367569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638121" y="367569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13598" y="367569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xₖ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523118" y="367569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35473" y="405669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28590" y="405669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84900" y="405669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640064" y="405669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17485" y="405669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pₖ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525062" y="405669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557588"/>
              <a:ext cx="5626418" cy="762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428750" y="3557588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2385060" y="3557588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3342322" y="3557588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016692" y="3557588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973955" y="3557588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8447" y="439435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分布律的表格写法</a:t>
              </a:r>
            </a:p>
          </p:txBody>
        </p:sp>
      </p:grpSp>
      <p:grpSp>
        <p:nvGrpSpPr>
          <p:cNvPr id="43" name="c1-callout-3"/>
          <p:cNvGrpSpPr/>
          <p:nvPr/>
        </p:nvGrpSpPr>
        <p:grpSpPr>
          <a:xfrm>
            <a:off x="533400" y="4711065"/>
            <a:ext cx="5626418" cy="937260"/>
            <a:chOff x="533400" y="4711065"/>
            <a:chExt cx="5626418" cy="937260"/>
          </a:xfrm>
        </p:grpSpPr>
        <p:sp>
          <p:nvSpPr>
            <p:cNvPr id="37" name="Rectangle 37"/>
            <p:cNvSpPr/>
            <p:nvPr/>
          </p:nvSpPr>
          <p:spPr>
            <a:xfrm>
              <a:off x="533400" y="4711065"/>
              <a:ext cx="5626418" cy="937260"/>
            </a:xfrm>
            <a:prstGeom prst="roundRect">
              <a:avLst>
                <a:gd name="adj" fmla="val 1219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5079683"/>
              <a:ext cx="200026" cy="200025"/>
              <a:chOff x="738188" y="5079683"/>
              <a:chExt cx="200026" cy="20002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507968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77926" y="512413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12642" y="523525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1273" y="4856321"/>
              <a:ext cx="4670298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小练：pₖ = k/10（k = 1…4）各项非负且和为 1，可以当分布律；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pₖ = (k − 2)/2（k = 1…4）和也是 1，但 p₁ = −1/2 &lt; 0，不可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以。</a:t>
              </a:r>
            </a:p>
          </p:txBody>
        </p:sp>
      </p:grpSp>
      <p:grpSp>
        <p:nvGrpSpPr>
          <p:cNvPr id="57" name="c2-card-1"/>
          <p:cNvGrpSpPr/>
          <p:nvPr/>
        </p:nvGrpSpPr>
        <p:grpSpPr>
          <a:xfrm>
            <a:off x="6464618" y="1524000"/>
            <a:ext cx="5193982" cy="2288858"/>
            <a:chOff x="6464618" y="1524000"/>
            <a:chExt cx="5193982" cy="2288858"/>
          </a:xfrm>
        </p:grpSpPr>
        <p:sp>
          <p:nvSpPr>
            <p:cNvPr id="44" name="Rectangle 44"/>
            <p:cNvSpPr/>
            <p:nvPr/>
          </p:nvSpPr>
          <p:spPr>
            <a:xfrm>
              <a:off x="6464618" y="1524000"/>
              <a:ext cx="5193982" cy="2288858"/>
            </a:xfrm>
            <a:prstGeom prst="roundRect">
              <a:avLst>
                <a:gd name="adj" fmla="val 58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474142" y="1657350"/>
              <a:ext cx="47625" cy="202215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683692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76364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250620" y="174450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分布律必须同时满足两条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683692" y="2049780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35599" y="208540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954393" y="2061686"/>
              <a:ext cx="22271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非负性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：pₖ ≥ 0，k = 1, 2, …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683692" y="2335530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35599" y="237020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954393" y="2346484"/>
              <a:ext cx="21754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规范性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：所有 pₖ 之和等于 1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5" name="formula36"/>
                <p:cNvSpPr txBox="1">
                  <a:spLocks noGrp="1"/>
                </p:cNvSpPr>
                <p:nvPr/>
              </p:nvSpPr>
              <p:spPr>
                <a:xfrm>
                  <a:off x="6683692" y="2609850"/>
                  <a:ext cx="4793932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∞</m:t>
                            </m:r>
                          </m:sup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</m:e>
                        </m:nary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56" name="TextBox 56"/>
            <p:cNvSpPr txBox="1"/>
            <p:nvPr/>
          </p:nvSpPr>
          <p:spPr>
            <a:xfrm>
              <a:off x="6678359" y="3274695"/>
              <a:ext cx="454456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反过来，满足这两条的一列数就能当作某个随机变量的分布律。判断题基本都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靠这两条。</a:t>
              </a:r>
            </a:p>
          </p:txBody>
        </p:sp>
      </p:grpSp>
      <p:grpSp>
        <p:nvGrpSpPr>
          <p:cNvPr id="63" name="c2-card-2"/>
          <p:cNvGrpSpPr/>
          <p:nvPr/>
        </p:nvGrpSpPr>
        <p:grpSpPr>
          <a:xfrm>
            <a:off x="6464618" y="3977640"/>
            <a:ext cx="5193982" cy="1670685"/>
            <a:chOff x="6464618" y="3977640"/>
            <a:chExt cx="5193982" cy="1670685"/>
          </a:xfrm>
        </p:grpSpPr>
        <p:sp>
          <p:nvSpPr>
            <p:cNvPr id="58" name="Rectangle 58"/>
            <p:cNvSpPr/>
            <p:nvPr/>
          </p:nvSpPr>
          <p:spPr>
            <a:xfrm>
              <a:off x="6464618" y="3977640"/>
              <a:ext cx="5193982" cy="1670685"/>
            </a:xfrm>
            <a:prstGeom prst="roundRect">
              <a:avLst>
                <a:gd name="adj" fmla="val 7982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645592" y="4158615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711810" y="4191476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由分布律求分布函数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" name="formula37"/>
                <p:cNvSpPr txBox="1">
                  <a:spLocks noGrp="1"/>
                </p:cNvSpPr>
                <p:nvPr/>
              </p:nvSpPr>
              <p:spPr>
                <a:xfrm>
                  <a:off x="6645592" y="4477702"/>
                  <a:ext cx="4832032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sub>
                          <m:sup/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62" name="TextBox 62"/>
            <p:cNvSpPr txBox="1"/>
            <p:nvPr/>
          </p:nvSpPr>
          <p:spPr>
            <a:xfrm>
              <a:off x="6639116" y="5144929"/>
              <a:ext cx="38297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把不超过 x 的那些取值点的概率全部加起来就行。</a:t>
              </a:r>
            </a:p>
          </p:txBody>
        </p:sp>
      </p:grpSp>
      <p:grpSp>
        <p:nvGrpSpPr>
          <p:cNvPr id="7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4" name="Rectangle 6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1273" y="6039326"/>
              <a:ext cx="88698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拿到一串带参数的 pₖ，先用规范性把参数解出来，再回头验非负性。两条缺一不可，只验一条常会漏掉负值的情形。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随机变量 · 离散型随机变量及其概率分布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由分布律求分布函数：每经过一个取值点就抬一级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977765" cy="1245870"/>
            <a:chOff x="533400" y="1524000"/>
            <a:chExt cx="4977765" cy="12458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245870"/>
            </a:xfrm>
            <a:prstGeom prst="roundRect">
              <a:avLst>
                <a:gd name="adj" fmla="val 107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7917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0576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2062" y="1743551"/>
              <a:ext cx="2180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71397" y="1745932"/>
              <a:ext cx="34017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是掷一颗均匀骰子出现的点数，求 F(x)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2071688"/>
              <a:ext cx="40487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分布律：P{X = k} = 1/6，k = 1, 2, 3, 4, 5, 6。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1332" y="2371725"/>
              <a:ext cx="30206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F(x) = Σ_{xₖ ≤ x} pₖ 逐段累加。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2939415"/>
            <a:ext cx="4977765" cy="2740342"/>
            <a:chOff x="533400" y="2939415"/>
            <a:chExt cx="4977765" cy="2740342"/>
          </a:xfrm>
        </p:grpSpPr>
        <p:sp>
          <p:nvSpPr>
            <p:cNvPr id="15" name="Rectangle 15"/>
            <p:cNvSpPr/>
            <p:nvPr/>
          </p:nvSpPr>
          <p:spPr>
            <a:xfrm>
              <a:off x="533400" y="2939415"/>
              <a:ext cx="4977765" cy="2740342"/>
            </a:xfrm>
            <a:prstGeom prst="roundRect">
              <a:avLst>
                <a:gd name="adj" fmla="val 4866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0090" y="3126105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15861" y="315896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formula43"/>
                <p:cNvSpPr txBox="1">
                  <a:spLocks noGrp="1"/>
                </p:cNvSpPr>
                <p:nvPr/>
              </p:nvSpPr>
              <p:spPr>
                <a:xfrm>
                  <a:off x="720090" y="3448050"/>
                  <a:ext cx="4604385" cy="157924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&lt;</m:t>
                                </m:r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&lt;</m:t>
                                </m:r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&lt;</m:t>
                                </m:r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&lt;</m:t>
                                </m:r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&lt;</m:t>
                                </m:r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&lt;</m:t>
                                </m:r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≥</m:t>
                                </m:r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3" name="c2-card-1"/>
          <p:cNvGrpSpPr/>
          <p:nvPr/>
        </p:nvGrpSpPr>
        <p:grpSpPr>
          <a:xfrm>
            <a:off x="5815965" y="1524000"/>
            <a:ext cx="5842635" cy="1845945"/>
            <a:chOff x="5815965" y="1524000"/>
            <a:chExt cx="5842635" cy="1845945"/>
          </a:xfrm>
        </p:grpSpPr>
        <p:sp>
          <p:nvSpPr>
            <p:cNvPr id="20" name="Rectangle 20"/>
            <p:cNvSpPr/>
            <p:nvPr/>
          </p:nvSpPr>
          <p:spPr>
            <a:xfrm>
              <a:off x="5815965" y="1524000"/>
              <a:ext cx="5842635" cy="1845945"/>
            </a:xfrm>
            <a:prstGeom prst="roundRect">
              <a:avLst>
                <a:gd name="adj" fmla="val 72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825490" y="1657350"/>
              <a:ext cx="47625" cy="157924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040755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132474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06349" y="1745932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离散型的分布函数是一条阶梯形曲线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049328" y="212788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05347" y="2071688"/>
              <a:ext cx="25971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所有可能取值点都是 F 的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间断点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049328" y="242792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205347" y="2371725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每个间断点处的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跳跃高度恰好等于取该点的概率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049328" y="272796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205347" y="2671762"/>
              <a:ext cx="35058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两个取值点之间 F 保持水平，概率没有增加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049328" y="302895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205347" y="2972752"/>
              <a:ext cx="29605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每段左端闭、右端开，所以 F 右连续</a:t>
              </a:r>
            </a:p>
          </p:txBody>
        </p:sp>
      </p:grpSp>
      <p:grpSp>
        <p:nvGrpSpPr>
          <p:cNvPr id="42" name="c2-card-2"/>
          <p:cNvGrpSpPr/>
          <p:nvPr/>
        </p:nvGrpSpPr>
        <p:grpSpPr>
          <a:xfrm>
            <a:off x="5815965" y="3539490"/>
            <a:ext cx="5842635" cy="2139315"/>
            <a:chOff x="5815965" y="3539490"/>
            <a:chExt cx="5842635" cy="2139315"/>
          </a:xfrm>
        </p:grpSpPr>
        <p:sp>
          <p:nvSpPr>
            <p:cNvPr id="34" name="Rectangle 34"/>
            <p:cNvSpPr/>
            <p:nvPr/>
          </p:nvSpPr>
          <p:spPr>
            <a:xfrm>
              <a:off x="5815965" y="3539490"/>
              <a:ext cx="5842635" cy="2139315"/>
            </a:xfrm>
            <a:prstGeom prst="roundRect">
              <a:avLst>
                <a:gd name="adj" fmla="val 62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825490" y="3672840"/>
              <a:ext cx="47625" cy="187261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040755" y="372618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125324" y="375904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反过来用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54952" y="3761422"/>
              <a:ext cx="20629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由阶梯形的 F 读出分布律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033897" y="4087177"/>
              <a:ext cx="520865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 F 在哪些点跳，跳多高。跳跃点就是 X 的取值，跳跃高度就是对应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的概率。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035040" y="4641056"/>
              <a:ext cx="516051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例如某个 F 只在 x = 0 和 x = 1 处分别跳 0.6 和 0.4，那么 X 只取 0 和 1，概率分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别是 0.6 和 0.4。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035040" y="5109686"/>
              <a:ext cx="518896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写分段表达式时区间要写成左闭右开的 [k, k + 1)，写成 (k, k + 1] 就与右连续矛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盾。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43" name="Rectangle 43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892" y="6028373"/>
              <a:ext cx="103127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分布律与分布函数是同一份信息的两种写法，离散型的题里哪种方便用哪种，但求 P{X = a} 这类单点概率时只有分布律最直接。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373368" cy="909257"/>
            <a:chOff x="520446" y="342900"/>
            <a:chExt cx="537336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随机变量 · 离散型随机变量及其概率分布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37336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例3：首次停车前通过了几盏信号灯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137464" cy="264033"/>
            <a:chOff x="526542" y="1545907"/>
            <a:chExt cx="713746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1374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汽车途经 4 盏信号灯，每盏独立地以概率 p 允许通过。X 表示首次停下时已通过的盏数。</a:t>
              </a:r>
            </a:p>
          </p:txBody>
        </p:sp>
      </p:grpSp>
      <p:grpSp>
        <p:nvGrpSpPr>
          <p:cNvPr id="15" name="c1-card-1"/>
          <p:cNvGrpSpPr/>
          <p:nvPr/>
        </p:nvGrpSpPr>
        <p:grpSpPr>
          <a:xfrm>
            <a:off x="533400" y="1928812"/>
            <a:ext cx="4760595" cy="1444942"/>
            <a:chOff x="533400" y="1928812"/>
            <a:chExt cx="4760595" cy="144494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4760595" cy="1444942"/>
            </a:xfrm>
            <a:prstGeom prst="roundRect">
              <a:avLst>
                <a:gd name="adj" fmla="val 92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17824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2475" y="2109788"/>
              <a:ext cx="40576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6347" y="2142649"/>
              <a:ext cx="2180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5998" y="2449354"/>
              <a:ext cx="40928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X 的分布律、p = 0.4 时的 F(x) 与 P{1 ≤ X ≤ 3}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5998" y="2751296"/>
              <a:ext cx="413385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取 0 到 4。X = k（k ≤ 3）表示前 k 盏放行、第 k + 1 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拦下；X = 4 表示四盏全放行。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3538538"/>
            <a:ext cx="4760595" cy="1902142"/>
            <a:chOff x="533400" y="3538538"/>
            <a:chExt cx="4760595" cy="1902142"/>
          </a:xfrm>
        </p:grpSpPr>
        <p:sp>
          <p:nvSpPr>
            <p:cNvPr id="16" name="Rectangle 16"/>
            <p:cNvSpPr/>
            <p:nvPr/>
          </p:nvSpPr>
          <p:spPr>
            <a:xfrm>
              <a:off x="533400" y="3538538"/>
              <a:ext cx="4760595" cy="1902142"/>
            </a:xfrm>
            <a:prstGeom prst="roundRect">
              <a:avLst>
                <a:gd name="adj" fmla="val 7011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14375" y="3719512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2996" y="375237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分布律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formula56"/>
                <p:cNvSpPr txBox="1">
                  <a:spLocks noGrp="1"/>
                </p:cNvSpPr>
                <p:nvPr/>
              </p:nvSpPr>
              <p:spPr>
                <a:xfrm>
                  <a:off x="714375" y="4038600"/>
                  <a:ext cx="4398645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p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;</m:t>
                        </m:r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p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0" name="TextBox 20"/>
            <p:cNvSpPr txBox="1"/>
            <p:nvPr/>
          </p:nvSpPr>
          <p:spPr>
            <a:xfrm>
              <a:off x="709041" y="4422458"/>
              <a:ext cx="4137850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最后一项不带 (1 − p)，因为第 4 盏之后没有第 5 盏灯可拦，这是本题</a:t>
              </a:r>
              <a:br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最容易写错的地方。</a:t>
              </a:r>
            </a:p>
          </p:txBody>
        </p:sp>
      </p:grpSp>
      <p:grpSp>
        <p:nvGrpSpPr>
          <p:cNvPr id="50" name="c2-table-1"/>
          <p:cNvGrpSpPr/>
          <p:nvPr/>
        </p:nvGrpSpPr>
        <p:grpSpPr>
          <a:xfrm>
            <a:off x="5593842" y="1928812"/>
            <a:ext cx="6064758" cy="1407509"/>
            <a:chOff x="5593842" y="1928812"/>
            <a:chExt cx="6064758" cy="1407509"/>
          </a:xfrm>
        </p:grpSpPr>
        <p:sp>
          <p:nvSpPr>
            <p:cNvPr id="22" name="Rectangle 22"/>
            <p:cNvSpPr/>
            <p:nvPr/>
          </p:nvSpPr>
          <p:spPr>
            <a:xfrm>
              <a:off x="5598795" y="1928812"/>
              <a:ext cx="6059805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19396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70968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40613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310258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249423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158108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788629" y="2426970"/>
              <a:ext cx="9538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pₖ（p = 0.4）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295169" y="242697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25942" y="242697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156716" y="242697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0.096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057009" y="242697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0.0384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965694" y="242697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0.0256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598795" y="268700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598795" y="2691765"/>
              <a:ext cx="605980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052212" y="2808923"/>
              <a:ext cx="426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累积 F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295169" y="2808923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25942" y="2808923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156716" y="2808923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0.936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057009" y="2808923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0.9744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160052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598795" y="1928812"/>
              <a:ext cx="6059805" cy="1143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927532" y="1928812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7897178" y="1928812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866822" y="1928812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836468" y="1928812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10745152" y="1928812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593842" y="3145631"/>
              <a:ext cx="21009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五个概率之和恰为 1，已用脚本核对</a:t>
              </a:r>
            </a:p>
          </p:txBody>
        </p:sp>
      </p:grpSp>
      <p:grpSp>
        <p:nvGrpSpPr>
          <p:cNvPr id="55" name="c2-card-2"/>
          <p:cNvGrpSpPr/>
          <p:nvPr/>
        </p:nvGrpSpPr>
        <p:grpSpPr>
          <a:xfrm>
            <a:off x="5598795" y="3463290"/>
            <a:ext cx="6059805" cy="1977390"/>
            <a:chOff x="5598795" y="3463290"/>
            <a:chExt cx="6059805" cy="1977390"/>
          </a:xfrm>
        </p:grpSpPr>
        <p:sp>
          <p:nvSpPr>
            <p:cNvPr id="51" name="Rectangle 51"/>
            <p:cNvSpPr/>
            <p:nvPr/>
          </p:nvSpPr>
          <p:spPr>
            <a:xfrm>
              <a:off x="5598795" y="3463290"/>
              <a:ext cx="6059805" cy="1977390"/>
            </a:xfrm>
            <a:prstGeom prst="roundRect">
              <a:avLst>
                <a:gd name="adj" fmla="val 6744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779770" y="364426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865292" y="367712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分布函数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formula57"/>
                <p:cNvSpPr txBox="1">
                  <a:spLocks noGrp="1"/>
                </p:cNvSpPr>
                <p:nvPr/>
              </p:nvSpPr>
              <p:spPr>
                <a:xfrm>
                  <a:off x="5779770" y="3963352"/>
                  <a:ext cx="5697855" cy="1280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0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&lt;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0.6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&lt;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0.84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&lt;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0.936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&lt;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0.9744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&lt;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≥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62" name="takeaway"/>
          <p:cNvGrpSpPr/>
          <p:nvPr/>
        </p:nvGrpSpPr>
        <p:grpSpPr>
          <a:xfrm>
            <a:off x="533400" y="5895022"/>
            <a:ext cx="11320013" cy="467678"/>
            <a:chOff x="533400" y="5895022"/>
            <a:chExt cx="11320013" cy="467678"/>
          </a:xfrm>
        </p:grpSpPr>
        <p:sp>
          <p:nvSpPr>
            <p:cNvPr id="56" name="Rectangle 56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1273" y="6039326"/>
              <a:ext cx="108121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P{1 ≤ X ≤ 3} 含左端点，等于 F(3) − F(1 − 0) = 0.9744 − 0.6 = 0.3744；若误用 F(3) − F(1) 只得 0.1344。离散型必须分清区间开闭。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69176" cy="909257"/>
            <a:chOff x="520446" y="342900"/>
            <a:chExt cx="70691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随机变量 · 离散型随机变量及其概率分布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691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最简单的两个：离散型均匀分布与 (0-1) 分布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410200" cy="2450782"/>
            <a:chOff x="533400" y="1524000"/>
            <a:chExt cx="5410200" cy="245078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450782"/>
            </a:xfrm>
            <a:prstGeom prst="roundRect">
              <a:avLst>
                <a:gd name="adj" fmla="val 54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18408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离散型均匀分布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349648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X 的取值 x₁, x₂, …, xₙ 两两不同，且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62"/>
                <p:cNvSpPr txBox="1">
                  <a:spLocks noGrp="1"/>
                </p:cNvSpPr>
                <p:nvPr/>
              </p:nvSpPr>
              <p:spPr>
                <a:xfrm>
                  <a:off x="775335" y="2415540"/>
                  <a:ext cx="4964430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,…,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68096" y="3046571"/>
              <a:ext cx="254068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就称 X 服从离散型均匀分布。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9239" y="3362325"/>
              <a:ext cx="47365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这正是第 1 章古典概型的随机变量写法：n 个结果等可能。掷骰子的点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数、抽签的号码都属于它。</a:t>
              </a:r>
            </a:p>
          </p:txBody>
        </p:sp>
      </p:grpSp>
      <p:grpSp>
        <p:nvGrpSpPr>
          <p:cNvPr id="40" name="c1-table-2"/>
          <p:cNvGrpSpPr/>
          <p:nvPr/>
        </p:nvGrpSpPr>
        <p:grpSpPr>
          <a:xfrm>
            <a:off x="527685" y="4160520"/>
            <a:ext cx="5415915" cy="1155859"/>
            <a:chOff x="527685" y="4160520"/>
            <a:chExt cx="5415915" cy="1155859"/>
          </a:xfrm>
        </p:grpSpPr>
        <p:sp>
          <p:nvSpPr>
            <p:cNvPr id="17" name="Rectangle 17"/>
            <p:cNvSpPr/>
            <p:nvPr/>
          </p:nvSpPr>
          <p:spPr>
            <a:xfrm>
              <a:off x="533400" y="4160520"/>
              <a:ext cx="5410200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10453" y="4291012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24623" y="429101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482813" y="429101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240051" y="429101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997288" y="429101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54526" y="429101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511763" y="429101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10453" y="4721542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37995" y="472154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1/6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396185" y="472154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153423" y="472154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910660" y="472154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1/6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67898" y="472154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425135" y="472154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1/6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160520"/>
              <a:ext cx="5410200" cy="86010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394460" y="4160520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2151698" y="4160520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2908935" y="4160520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666172" y="4160520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424362" y="4160520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181600" y="4160520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7685" y="509635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掷一颗均匀骰子的点数</a:t>
              </a:r>
            </a:p>
          </p:txBody>
        </p:sp>
      </p:grpSp>
      <p:grpSp>
        <p:nvGrpSpPr>
          <p:cNvPr id="48" name="c2-card-1"/>
          <p:cNvGrpSpPr/>
          <p:nvPr/>
        </p:nvGrpSpPr>
        <p:grpSpPr>
          <a:xfrm>
            <a:off x="6248400" y="1524000"/>
            <a:ext cx="5410200" cy="2019300"/>
            <a:chOff x="6248400" y="1524000"/>
            <a:chExt cx="5410200" cy="2019300"/>
          </a:xfrm>
        </p:grpSpPr>
        <p:sp>
          <p:nvSpPr>
            <p:cNvPr id="41" name="Rectangle 41"/>
            <p:cNvSpPr/>
            <p:nvPr/>
          </p:nvSpPr>
          <p:spPr>
            <a:xfrm>
              <a:off x="6248400" y="1524000"/>
              <a:ext cx="5410200" cy="2019300"/>
            </a:xfrm>
            <a:prstGeom prst="roundRect">
              <a:avLst>
                <a:gd name="adj" fmla="val 66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57925" y="1657350"/>
              <a:ext cx="47625" cy="175260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90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80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91744" y="1767364"/>
              <a:ext cx="21559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(0-1) 分布（两点分布）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83096" y="2119789"/>
              <a:ext cx="4631182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X 只取 0 与 1 两个值，P{X = 0} = 1 − p，P{X = 1} = p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（0 &lt; p &lt; 1），就称 X 服从参数为 p 的 (0-1) 分布。分布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律也能合写成一条式子：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formula63"/>
                <p:cNvSpPr txBox="1">
                  <a:spLocks noGrp="1"/>
                </p:cNvSpPr>
                <p:nvPr/>
              </p:nvSpPr>
              <p:spPr>
                <a:xfrm>
                  <a:off x="6490335" y="2958465"/>
                  <a:ext cx="4964430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sup>
                        </m:sSup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</m:d>
                          </m:e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59" name="c2-card-2"/>
          <p:cNvGrpSpPr/>
          <p:nvPr/>
        </p:nvGrpSpPr>
        <p:grpSpPr>
          <a:xfrm>
            <a:off x="6248400" y="3728085"/>
            <a:ext cx="5410200" cy="1933575"/>
            <a:chOff x="6248400" y="3728085"/>
            <a:chExt cx="5410200" cy="1933575"/>
          </a:xfrm>
        </p:grpSpPr>
        <p:sp>
          <p:nvSpPr>
            <p:cNvPr id="49" name="Rectangle 49"/>
            <p:cNvSpPr/>
            <p:nvPr/>
          </p:nvSpPr>
          <p:spPr>
            <a:xfrm>
              <a:off x="6248400" y="3728085"/>
              <a:ext cx="5410200" cy="1933575"/>
            </a:xfrm>
            <a:prstGeom prst="roundRect">
              <a:avLst>
                <a:gd name="adj" fmla="val 689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57925" y="3861435"/>
              <a:ext cx="47625" cy="166687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90335" y="393192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80543" y="396763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用处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091744" y="397240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只有两个结果的试验都用它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83096" y="4323874"/>
              <a:ext cx="464921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X = 1 表示事件 A 发生，X = 0 表示 A 不发生，就把任何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一个事件变成了随机变量。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497955" y="497586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54546" y="4915376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产品是否合格、人口性别统计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497955" y="529590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654546" y="5235416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系统是否正常、电力消耗是否超标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60" name="Rectangle 60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0511" y="6004084"/>
              <a:ext cx="103180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(0-1) 分布是后面所有离散分布的基石：二项分布是 n 个独立的 (0-1) 相加，几何分布是重复做 (0-1) 直到第一次成功。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11344" cy="909257"/>
            <a:chOff x="520446" y="342900"/>
            <a:chExt cx="651134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随机变量 · 离散型随机变量及其概率分布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1134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二项分布：n 次独立重复试验里成功了几次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2086928"/>
            <a:chOff x="533400" y="1524000"/>
            <a:chExt cx="5410200" cy="208692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086928"/>
            </a:xfrm>
            <a:prstGeom prst="roundRect">
              <a:avLst>
                <a:gd name="adj" fmla="val 639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2022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157669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二项分布 B(n, p)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42379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n 重伯努利试验中，用 X 表示事件 A 发生的次数，设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P(A) = p（0 &lt; p &lt; 1），则 X 的取值为 0, 1, …, n，且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66"/>
                <p:cNvSpPr txBox="1">
                  <a:spLocks noGrp="1"/>
                </p:cNvSpPr>
                <p:nvPr/>
              </p:nvSpPr>
              <p:spPr>
                <a:xfrm>
                  <a:off x="775335" y="2687002"/>
                  <a:ext cx="496443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Sup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p>
                        </m:sSubSup>
                        <m:sSup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p>
                        </m:sSup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</m:d>
                          </m:e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,…,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68096" y="3184684"/>
              <a:ext cx="47310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称 X 服从参数为 n、p 的二项分布，记作 X ~ B(n, p)。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795712"/>
            <a:ext cx="5410200" cy="1827848"/>
            <a:chOff x="533400" y="3795712"/>
            <a:chExt cx="5410200" cy="1827848"/>
          </a:xfrm>
        </p:grpSpPr>
        <p:sp>
          <p:nvSpPr>
            <p:cNvPr id="16" name="Rectangle 16"/>
            <p:cNvSpPr/>
            <p:nvPr/>
          </p:nvSpPr>
          <p:spPr>
            <a:xfrm>
              <a:off x="533400" y="3795712"/>
              <a:ext cx="5410200" cy="1827848"/>
            </a:xfrm>
            <a:prstGeom prst="roundRect">
              <a:avLst>
                <a:gd name="adj" fmla="val 72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929062"/>
              <a:ext cx="47625" cy="156114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75335" y="3999548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61593" y="403526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规范性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8096" y="4373404"/>
              <a:ext cx="4748403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由二项式定理立刻可得：把 n + 1 个概率加起来就是 [p +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(1 − p)]ⁿ = 1，所以它确实是一个分布律。名字里的“二项”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就是这么来的。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9239" y="5232082"/>
              <a:ext cx="26322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= 1 时 B(1, p) 就是 (0-1) 分布。</a:t>
              </a:r>
            </a:p>
          </p:txBody>
        </p:sp>
      </p:grpSp>
      <p:grpSp>
        <p:nvGrpSpPr>
          <p:cNvPr id="40" name="c2-steps-1"/>
          <p:cNvGrpSpPr/>
          <p:nvPr/>
        </p:nvGrpSpPr>
        <p:grpSpPr>
          <a:xfrm>
            <a:off x="6248400" y="1533525"/>
            <a:ext cx="5485333" cy="2411159"/>
            <a:chOff x="6248400" y="1533525"/>
            <a:chExt cx="5485333" cy="2411159"/>
          </a:xfrm>
        </p:grpSpPr>
        <p:sp>
          <p:nvSpPr>
            <p:cNvPr id="23" name="Rectangle 23"/>
            <p:cNvSpPr/>
            <p:nvPr/>
          </p:nvSpPr>
          <p:spPr>
            <a:xfrm>
              <a:off x="6381750" y="1676400"/>
              <a:ext cx="19050" cy="18621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6248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42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248400" y="21545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42024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248400" y="27755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42024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248400" y="339566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42024" y="3469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60261" y="1566386"/>
              <a:ext cx="234806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判断是不是 n 重伯努利试验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61404" y="1846898"/>
              <a:ext cx="50723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同一试验独立重复 n 次，每次只关心 A 发生与否，且每次 P(A) 都相同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60261" y="2187416"/>
              <a:ext cx="9893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认清 n 和 p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61404" y="2467927"/>
              <a:ext cx="41881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是重复次数，p 是单次成功的概率，别把 n 写成样本总量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60261" y="2808446"/>
              <a:ext cx="178765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把问题写成 X 的事件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61404" y="3088957"/>
              <a:ext cx="42431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“至少一次”写成 {X ≥ 1}，通常改求对立事件 1 − P{X = 0}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60261" y="342947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代公式算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61404" y="3709988"/>
              <a:ext cx="31057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需要多个 k 时列表算，避免重复计算组合数</a:t>
              </a:r>
            </a:p>
          </p:txBody>
        </p:sp>
      </p:grpSp>
      <p:grpSp>
        <p:nvGrpSpPr>
          <p:cNvPr id="47" name="c2-callout-2"/>
          <p:cNvGrpSpPr/>
          <p:nvPr/>
        </p:nvGrpSpPr>
        <p:grpSpPr>
          <a:xfrm>
            <a:off x="6248400" y="4120515"/>
            <a:ext cx="5410200" cy="1503045"/>
            <a:chOff x="6248400" y="4120515"/>
            <a:chExt cx="5410200" cy="1503045"/>
          </a:xfrm>
        </p:grpSpPr>
        <p:sp>
          <p:nvSpPr>
            <p:cNvPr id="41" name="Rectangle 41"/>
            <p:cNvSpPr/>
            <p:nvPr/>
          </p:nvSpPr>
          <p:spPr>
            <a:xfrm>
              <a:off x="6248400" y="4120515"/>
              <a:ext cx="5410200" cy="1503045"/>
            </a:xfrm>
            <a:prstGeom prst="roundRect">
              <a:avLst>
                <a:gd name="adj" fmla="val 760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6441129" y="4768333"/>
              <a:ext cx="224134" cy="192560"/>
              <a:chOff x="6441129" y="4768333"/>
              <a:chExt cx="224134" cy="19256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553200" y="483870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441129" y="476833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553200" y="49164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6755511" y="4641056"/>
              <a:ext cx="45229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有放回抽样每次概率不变，用二项分布；不放回抽样每次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概率会变，那是超几何分布，不能套这个公式。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8" name="Rectangle 48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511" y="6004084"/>
              <a:ext cx="84255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判断二项分布只看三件事：次数固定、各次独立、每次成功概率相同。三条有一条不满足就换模型。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56674" cy="909257"/>
            <a:chOff x="520446" y="342900"/>
            <a:chExt cx="735667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随机变量 · 离散型随机变量及其概率分布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5667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例4：命中率 0.7 的射手打 5 枪，恰好命中 k 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760595" cy="2021205"/>
            <a:chOff x="533400" y="1524000"/>
            <a:chExt cx="4760595" cy="20212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2021205"/>
            </a:xfrm>
            <a:prstGeom prst="roundRect">
              <a:avLst>
                <a:gd name="adj" fmla="val 65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545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3434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867" y="1763554"/>
              <a:ext cx="249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065365" cy="523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2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独立射击 5 次，命中率 0.7，求恰好命中 k 次的概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683669"/>
              <a:ext cx="37027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 表示命中的次数，则 X ~ B(5, 0.7)，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69"/>
                <p:cNvSpPr txBox="1">
                  <a:spLocks noGrp="1"/>
                </p:cNvSpPr>
                <p:nvPr/>
              </p:nvSpPr>
              <p:spPr>
                <a:xfrm>
                  <a:off x="775335" y="2980372"/>
                  <a:ext cx="4314825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5</m:t>
                            </m:r>
                          </m:sub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p>
                        </m:sSubSup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</m:t>
                        </m:r>
                        <m:s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7</m:t>
                            </m:r>
                          </m:e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p>
                        </m:sSup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</m:t>
                        </m:r>
                        <m:s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e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,…,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5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1" name="c1-card-2"/>
          <p:cNvGrpSpPr/>
          <p:nvPr/>
        </p:nvGrpSpPr>
        <p:grpSpPr>
          <a:xfrm>
            <a:off x="533400" y="3730942"/>
            <a:ext cx="4760595" cy="1777365"/>
            <a:chOff x="533400" y="3730942"/>
            <a:chExt cx="4760595" cy="1777365"/>
          </a:xfrm>
        </p:grpSpPr>
        <p:sp>
          <p:nvSpPr>
            <p:cNvPr id="15" name="Rectangle 15"/>
            <p:cNvSpPr/>
            <p:nvPr/>
          </p:nvSpPr>
          <p:spPr>
            <a:xfrm>
              <a:off x="533400" y="3730942"/>
              <a:ext cx="4760595" cy="1777365"/>
            </a:xfrm>
            <a:prstGeom prst="roundRect">
              <a:avLst>
                <a:gd name="adj" fmla="val 75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864292"/>
              <a:ext cx="47625" cy="151066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75335" y="3934778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2741" y="397049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怎么算得快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8096" y="4307681"/>
              <a:ext cx="399097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先算 0.3⁵ = 0.00243，再每次乘 (0.7/0.3) 并换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组合数，比逐项从头算省事。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9239" y="4895850"/>
              <a:ext cx="37993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检验手段：六个概率之和必须等于 1。本页六个值相加为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1.0000，已用脚本核对。</a:t>
              </a:r>
            </a:p>
          </p:txBody>
        </p:sp>
      </p:grpSp>
      <p:grpSp>
        <p:nvGrpSpPr>
          <p:cNvPr id="46" name="c2-table-1"/>
          <p:cNvGrpSpPr/>
          <p:nvPr/>
        </p:nvGrpSpPr>
        <p:grpSpPr>
          <a:xfrm>
            <a:off x="5593080" y="1524000"/>
            <a:ext cx="6065520" cy="1155859"/>
            <a:chOff x="5593080" y="1524000"/>
            <a:chExt cx="6065520" cy="1155859"/>
          </a:xfrm>
        </p:grpSpPr>
        <p:sp>
          <p:nvSpPr>
            <p:cNvPr id="22" name="Rectangle 22"/>
            <p:cNvSpPr/>
            <p:nvPr/>
          </p:nvSpPr>
          <p:spPr>
            <a:xfrm>
              <a:off x="5598795" y="1524000"/>
              <a:ext cx="6059805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30876" y="16554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40513" y="16554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88238" y="16554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36916" y="16554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84641" y="16554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333318" y="16554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181996" y="16554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734279" y="2085022"/>
              <a:ext cx="6986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P{X = k}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20611" y="208502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0.0024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68336" y="208502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0.0284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275320" y="1964055"/>
              <a:ext cx="829628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417014" y="208502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0.1323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264739" y="208502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0.3087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113416" y="208502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0.3602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962094" y="208502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0.1681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598795" y="1524000"/>
              <a:ext cx="6059805" cy="86010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563678" y="1524000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412355" y="1524000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8261032" y="1524000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9108758" y="1524000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9957435" y="1524000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10805160" y="1524000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593080" y="2459831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概率最大的是 k = 4，其次是 k = 3</a:t>
              </a:r>
            </a:p>
          </p:txBody>
        </p:sp>
      </p:grpSp>
      <p:grpSp>
        <p:nvGrpSpPr>
          <p:cNvPr id="53" name="c2-card-2"/>
          <p:cNvGrpSpPr/>
          <p:nvPr/>
        </p:nvGrpSpPr>
        <p:grpSpPr>
          <a:xfrm>
            <a:off x="5598795" y="2821305"/>
            <a:ext cx="6059805" cy="1556385"/>
            <a:chOff x="5598795" y="2821305"/>
            <a:chExt cx="6059805" cy="1556385"/>
          </a:xfrm>
        </p:grpSpPr>
        <p:sp>
          <p:nvSpPr>
            <p:cNvPr id="47" name="Rectangle 47"/>
            <p:cNvSpPr/>
            <p:nvPr/>
          </p:nvSpPr>
          <p:spPr>
            <a:xfrm>
              <a:off x="5598795" y="2821305"/>
              <a:ext cx="6059805" cy="1556385"/>
            </a:xfrm>
            <a:prstGeom prst="roundRect">
              <a:avLst>
                <a:gd name="adj" fmla="val 85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5608320" y="2954655"/>
              <a:ext cx="47625" cy="12896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840730" y="302514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931891" y="306085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833491" y="3398044"/>
              <a:ext cx="508203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原课件表中 k = 2 一栏写作 0.1322。精确值 C₅² × 0.7² × 0.3³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= 10 × 0.49 × 0.027 = 0.1323，四位小数应为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0.1323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834634" y="3986212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其余五个值与原课件一致。</a:t>
              </a:r>
            </a:p>
          </p:txBody>
        </p:sp>
      </p:grpSp>
      <p:grpSp>
        <p:nvGrpSpPr>
          <p:cNvPr id="59" name="c2-callout-3"/>
          <p:cNvGrpSpPr/>
          <p:nvPr/>
        </p:nvGrpSpPr>
        <p:grpSpPr>
          <a:xfrm>
            <a:off x="5598795" y="4562475"/>
            <a:ext cx="6059805" cy="945832"/>
            <a:chOff x="5598795" y="4562475"/>
            <a:chExt cx="6059805" cy="945832"/>
          </a:xfrm>
        </p:grpSpPr>
        <p:sp>
          <p:nvSpPr>
            <p:cNvPr id="54" name="Rectangle 54"/>
            <p:cNvSpPr/>
            <p:nvPr/>
          </p:nvSpPr>
          <p:spPr>
            <a:xfrm>
              <a:off x="5598795" y="4562475"/>
              <a:ext cx="6059805" cy="945832"/>
            </a:xfrm>
            <a:prstGeom prst="roundRect">
              <a:avLst>
                <a:gd name="adj" fmla="val 12085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5803583" y="4934903"/>
              <a:ext cx="200026" cy="200026"/>
              <a:chOff x="5803583" y="4934903"/>
              <a:chExt cx="200026" cy="200026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5803583" y="493490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5870258" y="501269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6105906" y="4803934"/>
              <a:ext cx="4982845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顺带可得 P{X ≥ 4} = 0.3602 + 0.1681 = 0.5283，这位射手过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半的场次能打出 4 环以上的成绩。</a:t>
              </a:r>
            </a:p>
          </p:txBody>
        </p:sp>
      </p:grpSp>
      <p:grpSp>
        <p:nvGrpSpPr>
          <p:cNvPr id="66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60" name="Rectangle 60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040511" y="6004084"/>
              <a:ext cx="101842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概率最大的那个 k 不是平均值 np = 3.5，而是下一页要讲的最可能取值。这里 (n + 1)p = 4.2，取整得 4，与表格吻合。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随机变量 · 离散型随机变量及其概率分布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二项分布的最可能取值：看相邻两项的比值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1293495"/>
            <a:chOff x="533400" y="1524000"/>
            <a:chExt cx="5626418" cy="12934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最可能出现的次数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89267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若对任意 j 都有 P{X = k} ≥ P{X = j}，就称 k 为最可能出现的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次数，记作 k₀。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3002280"/>
            <a:ext cx="5626418" cy="2333625"/>
            <a:chOff x="533400" y="3002280"/>
            <a:chExt cx="5626418" cy="2333625"/>
          </a:xfrm>
        </p:grpSpPr>
        <p:sp>
          <p:nvSpPr>
            <p:cNvPr id="14" name="Rectangle 14"/>
            <p:cNvSpPr/>
            <p:nvPr/>
          </p:nvSpPr>
          <p:spPr>
            <a:xfrm>
              <a:off x="533400" y="3002280"/>
              <a:ext cx="5626418" cy="2333625"/>
            </a:xfrm>
            <a:prstGeom prst="roundRect">
              <a:avLst>
                <a:gd name="adj" fmla="val 5714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37235" y="32061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27443" y="32418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推导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38644" y="324659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相邻两项之比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formula74"/>
                <p:cNvSpPr txBox="1">
                  <a:spLocks noGrp="1"/>
                </p:cNvSpPr>
                <p:nvPr/>
              </p:nvSpPr>
              <p:spPr>
                <a:xfrm>
                  <a:off x="737235" y="3574732"/>
                  <a:ext cx="5218748" cy="4371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</m:num>
                          <m:den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num>
                          <m:den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</m:d>
                          </m:den>
                        </m:f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num>
                          <m:den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</m:d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9" name="Ellipse 19"/>
            <p:cNvSpPr/>
            <p:nvPr/>
          </p:nvSpPr>
          <p:spPr>
            <a:xfrm>
              <a:off x="744855" y="418814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1446" y="4127659"/>
              <a:ext cx="37898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 &lt; (n + 1)p 时比值大于 1，概率还在往上走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44855" y="450818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01446" y="4447699"/>
              <a:ext cx="37898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 &gt; (n + 1)p 时比值小于 1，概率开始往下掉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44855" y="482822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01446" y="4767739"/>
              <a:ext cx="37898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 = (n + 1)p 时比值等于 1，相邻两项一样大</a:t>
              </a:r>
            </a:p>
          </p:txBody>
        </p:sp>
      </p:grpSp>
      <p:grpSp>
        <p:nvGrpSpPr>
          <p:cNvPr id="33" name="c2-card-1"/>
          <p:cNvGrpSpPr/>
          <p:nvPr/>
        </p:nvGrpSpPr>
        <p:grpSpPr>
          <a:xfrm>
            <a:off x="6464618" y="1524000"/>
            <a:ext cx="5193982" cy="1654492"/>
            <a:chOff x="6464618" y="1524000"/>
            <a:chExt cx="5193982" cy="1654492"/>
          </a:xfrm>
        </p:grpSpPr>
        <p:sp>
          <p:nvSpPr>
            <p:cNvPr id="26" name="Rectangle 26"/>
            <p:cNvSpPr/>
            <p:nvPr/>
          </p:nvSpPr>
          <p:spPr>
            <a:xfrm>
              <a:off x="6464618" y="1524000"/>
              <a:ext cx="5193982" cy="1654492"/>
            </a:xfrm>
            <a:prstGeom prst="roundRect">
              <a:avLst>
                <a:gd name="adj" fmla="val 80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74142" y="1657350"/>
              <a:ext cx="47625" cy="138779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706552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9771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07961" y="1767364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最可能取值的公式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formula75"/>
                <p:cNvSpPr txBox="1">
                  <a:spLocks noGrp="1"/>
                </p:cNvSpPr>
                <p:nvPr/>
              </p:nvSpPr>
              <p:spPr>
                <a:xfrm>
                  <a:off x="6706552" y="2095500"/>
                  <a:ext cx="4748212" cy="579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r>
                                  <m:rPr>
                                    <m:nor m:val="on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与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r>
                                  <m:rPr>
                                    <m:nor m:val="on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为整数</m:t>
                                </m:r>
                              </m:e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d>
                                  <m:dPr>
                                    <m:begChr m:val="⌊"/>
                                    <m:sepChr m:val=""/>
                                    <m:endChr m:val="⌋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+</m:t>
                                        </m:r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r>
                                  <m:rPr>
                                    <m:nor m:val="on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不是整数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2" name="TextBox 32"/>
            <p:cNvSpPr txBox="1"/>
            <p:nvPr/>
          </p:nvSpPr>
          <p:spPr>
            <a:xfrm>
              <a:off x="6700456" y="2787015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方括号是取整符号，指不超过该数的最大整数。</a:t>
              </a:r>
            </a:p>
          </p:txBody>
        </p:sp>
      </p:grpSp>
      <p:grpSp>
        <p:nvGrpSpPr>
          <p:cNvPr id="59" name="c2-table-2"/>
          <p:cNvGrpSpPr/>
          <p:nvPr/>
        </p:nvGrpSpPr>
        <p:grpSpPr>
          <a:xfrm>
            <a:off x="6458902" y="3364230"/>
            <a:ext cx="5199698" cy="2015967"/>
            <a:chOff x="6458902" y="3364230"/>
            <a:chExt cx="5199698" cy="2015967"/>
          </a:xfrm>
        </p:grpSpPr>
        <p:sp>
          <p:nvSpPr>
            <p:cNvPr id="34" name="Rectangle 34"/>
            <p:cNvSpPr/>
            <p:nvPr/>
          </p:nvSpPr>
          <p:spPr>
            <a:xfrm>
              <a:off x="6464618" y="3364230"/>
              <a:ext cx="5193982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925273" y="349472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994931" y="349472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916680" y="3494722"/>
              <a:ext cx="6737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(n + 1)p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251704" y="3494722"/>
              <a:ext cx="10573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最可能取值 k₀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25273" y="392525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908303" y="392525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114168" y="392525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729874" y="39252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64618" y="421957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64618" y="4224338"/>
              <a:ext cx="519398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85336" y="4355782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5000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819453" y="4355782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025318" y="4355782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5.001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729874" y="43557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464618" y="464915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925273" y="47853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908303" y="478536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203017" y="47853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208895" y="47853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和 5 各占一个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464618" y="3364230"/>
              <a:ext cx="5193982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485698" y="336423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8600122" y="336423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9898380" y="336423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458902" y="5160169"/>
              <a:ext cx="2747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第三行是整数的情形，两个 k 的概率相等</a:t>
              </a:r>
            </a:p>
          </p:txBody>
        </p:sp>
      </p:grpSp>
      <p:grpSp>
        <p:nvGrpSpPr>
          <p:cNvPr id="66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60" name="Rectangle 60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26129" y="5880853"/>
              <a:ext cx="224134" cy="192560"/>
              <a:chOff x="726129" y="5880853"/>
              <a:chExt cx="224134" cy="19256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838200" y="595122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26129" y="588085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38200" y="60290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040511" y="5753576"/>
              <a:ext cx="996022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算的是 (n + 1)p 而不是 np。n = 9、p = 0.5 时 np = 4.5，直接取整会得到 4，但实际上 4 和 5 的概率一样大，这就是漏掉一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个答案的典型。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95409" cy="909257"/>
            <a:chOff x="520446" y="342900"/>
            <a:chExt cx="67954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随机变量 · 离散型随机变量及其概率分布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954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例5：独立射击 5000 次，命中率只有 0.001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1202055"/>
            <a:chOff x="533400" y="1524000"/>
            <a:chExt cx="4977765" cy="12020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202055"/>
            </a:xfrm>
            <a:prstGeom prst="roundRect">
              <a:avLst>
                <a:gd name="adj" fmla="val 110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353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0576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6347" y="1737836"/>
              <a:ext cx="2180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3565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求最可能命中次数及相应概率，以及至少命中 1 次的概率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346484"/>
              <a:ext cx="36660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 表示命中次数，则 X ~ B(5000, 0.001)。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2890838"/>
            <a:ext cx="4977765" cy="1143952"/>
            <a:chOff x="533400" y="2890838"/>
            <a:chExt cx="4977765" cy="1143952"/>
          </a:xfrm>
        </p:grpSpPr>
        <p:sp>
          <p:nvSpPr>
            <p:cNvPr id="14" name="Rectangle 14"/>
            <p:cNvSpPr/>
            <p:nvPr/>
          </p:nvSpPr>
          <p:spPr>
            <a:xfrm>
              <a:off x="533400" y="2890838"/>
              <a:ext cx="4977765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024188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52475" y="307181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5147" y="310467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5998" y="3412331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(1) 问直接套最可能取值公式；第 (2) 问“至少一次”的对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立面只有一种情形（一次都没中），改算对立事件只需一项。</a:t>
              </a:r>
            </a:p>
          </p:txBody>
        </p:sp>
      </p:grpSp>
      <p:grpSp>
        <p:nvGrpSpPr>
          <p:cNvPr id="25" name="c1-card-3"/>
          <p:cNvGrpSpPr/>
          <p:nvPr/>
        </p:nvGrpSpPr>
        <p:grpSpPr>
          <a:xfrm>
            <a:off x="533400" y="4200525"/>
            <a:ext cx="4977765" cy="1449705"/>
            <a:chOff x="533400" y="4200525"/>
            <a:chExt cx="4977765" cy="1449705"/>
          </a:xfrm>
        </p:grpSpPr>
        <p:sp>
          <p:nvSpPr>
            <p:cNvPr id="20" name="Rectangle 20"/>
            <p:cNvSpPr/>
            <p:nvPr/>
          </p:nvSpPr>
          <p:spPr>
            <a:xfrm>
              <a:off x="533400" y="4200525"/>
              <a:ext cx="4977765" cy="1449705"/>
            </a:xfrm>
            <a:prstGeom prst="roundRect">
              <a:avLst>
                <a:gd name="adj" fmla="val 91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4333875"/>
              <a:ext cx="47625" cy="11830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52475" y="438150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45147" y="441436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5998" y="4721066"/>
              <a:ext cx="425577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(2) 问的结果写作 0.9934。按 1 − 0.999⁵⁰⁰⁰ 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得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0.9933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（精确值 0.993279）。用泊松近似 1 − e^(−5)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也得 0.9933。</a:t>
              </a:r>
            </a:p>
          </p:txBody>
        </p:sp>
      </p:grpSp>
      <p:grpSp>
        <p:nvGrpSpPr>
          <p:cNvPr id="43" name="c2-steps-1"/>
          <p:cNvGrpSpPr/>
          <p:nvPr/>
        </p:nvGrpSpPr>
        <p:grpSpPr>
          <a:xfrm>
            <a:off x="5815965" y="1533525"/>
            <a:ext cx="4163168" cy="2149412"/>
            <a:chOff x="5815965" y="1533525"/>
            <a:chExt cx="4163168" cy="2149412"/>
          </a:xfrm>
        </p:grpSpPr>
        <p:sp>
          <p:nvSpPr>
            <p:cNvPr id="26" name="Rectangle 26"/>
            <p:cNvSpPr/>
            <p:nvPr/>
          </p:nvSpPr>
          <p:spPr>
            <a:xfrm>
              <a:off x="5949315" y="1676400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5815965" y="20869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909589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5815965" y="26393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909589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5815965" y="31927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909589" y="32665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28588" y="156448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求最可能取值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29731" y="1818322"/>
              <a:ext cx="37494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(n + 1)p = 5001 × 0.001 = 5.001 不是整数，取整得 k₀ = 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28588" y="21169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算相应概率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29731" y="2371725"/>
              <a:ext cx="34980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P{X = 5} = C₅₀₀₀⁵ × 0.001⁵ × 0.999⁴⁹⁹⁵ ≈ 0.1756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28588" y="267033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至少一次转对立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29731" y="2925128"/>
              <a:ext cx="27662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P{X ≥ 1} = 1 − P{X = 0} = 1 − 0.999⁵⁰⁰⁰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228588" y="322278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算出结果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29731" y="3477578"/>
              <a:ext cx="32108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0.999⁵⁰⁰⁰ = 0.006721，所以 P{X ≥ 1} ≈ 0.9933</a:t>
              </a:r>
            </a:p>
          </p:txBody>
        </p:sp>
      </p:grpSp>
      <p:grpSp>
        <p:nvGrpSpPr>
          <p:cNvPr id="49" name="c2-callout-2"/>
          <p:cNvGrpSpPr/>
          <p:nvPr/>
        </p:nvGrpSpPr>
        <p:grpSpPr>
          <a:xfrm>
            <a:off x="5815965" y="3844290"/>
            <a:ext cx="5842635" cy="702945"/>
            <a:chOff x="5815965" y="3844290"/>
            <a:chExt cx="5842635" cy="702945"/>
          </a:xfrm>
        </p:grpSpPr>
        <p:sp>
          <p:nvSpPr>
            <p:cNvPr id="44" name="Rectangle 44"/>
            <p:cNvSpPr/>
            <p:nvPr/>
          </p:nvSpPr>
          <p:spPr>
            <a:xfrm>
              <a:off x="5815965" y="3844290"/>
              <a:ext cx="5842635" cy="702945"/>
            </a:xfrm>
            <a:prstGeom prst="roundRect">
              <a:avLst>
                <a:gd name="adj" fmla="val 16260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020753" y="4095750"/>
              <a:ext cx="200026" cy="200026"/>
              <a:chOff x="6020753" y="4095750"/>
              <a:chExt cx="200026" cy="200026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020753" y="409575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087428" y="417353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6323838" y="3989546"/>
              <a:ext cx="46459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k₀ = 5，P{X = 5} ≈ 0.1756；P{X ≥ 1} ≈ 0.9933。两项都已用脚</a:t>
              </a:r>
              <a:br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本复核。</a:t>
              </a:r>
            </a:p>
          </p:txBody>
        </p:sp>
      </p:grpSp>
      <p:grpSp>
        <p:nvGrpSpPr>
          <p:cNvPr id="55" name="c2-callout-3"/>
          <p:cNvGrpSpPr/>
          <p:nvPr/>
        </p:nvGrpSpPr>
        <p:grpSpPr>
          <a:xfrm>
            <a:off x="5815965" y="4712018"/>
            <a:ext cx="5842635" cy="937260"/>
            <a:chOff x="5815965" y="4712018"/>
            <a:chExt cx="5842635" cy="937260"/>
          </a:xfrm>
        </p:grpSpPr>
        <p:sp>
          <p:nvSpPr>
            <p:cNvPr id="50" name="Rectangle 50"/>
            <p:cNvSpPr/>
            <p:nvPr/>
          </p:nvSpPr>
          <p:spPr>
            <a:xfrm>
              <a:off x="5815965" y="4712018"/>
              <a:ext cx="5842635" cy="937260"/>
            </a:xfrm>
            <a:prstGeom prst="roundRect">
              <a:avLst>
                <a:gd name="adj" fmla="val 12195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020753" y="5080637"/>
              <a:ext cx="200023" cy="200023"/>
              <a:chOff x="6020753" y="5080637"/>
              <a:chExt cx="200023" cy="200023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6020753" y="508063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154103" y="51473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323838" y="4857274"/>
              <a:ext cx="4930394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单次命中率只有千分之一，打 5000 次却几乎一定能中一次。小概率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事件在大量重复下变成几乎必然，这正是第 3 页那句“稀有事件”的含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义。</a:t>
              </a:r>
            </a:p>
          </p:txBody>
        </p:sp>
      </p:grpSp>
      <p:grpSp>
        <p:nvGrpSpPr>
          <p:cNvPr id="6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6" name="Rectangle 56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1273" y="6039326"/>
              <a:ext cx="67676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遇到“至少一次”先想对立事件，遇到“至多一次”也只有两项，都比正面硬加几千项省力。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随机变量 · 离散型随机变量及其概率分布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几何分布：一直做到第一次成功为止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410200" cy="2655570"/>
            <a:chOff x="533400" y="1524000"/>
            <a:chExt cx="5410200" cy="26555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655570"/>
            </a:xfrm>
            <a:prstGeom prst="roundRect">
              <a:avLst>
                <a:gd name="adj" fmla="val 50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38887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3784" y="1745932"/>
              <a:ext cx="1231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几何分布 G(p)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2071688"/>
              <a:ext cx="466858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试验 E 只有 A 与它的对立结果两种，P(A) = p（0 &lt; p &lt; 1）。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E 独立重复下去直到 A 发生为止，用 X 表示试验进行的次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数，则 X 的取值为 1, 2, …，且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86"/>
                <p:cNvSpPr txBox="1">
                  <a:spLocks noGrp="1"/>
                </p:cNvSpPr>
                <p:nvPr/>
              </p:nvSpPr>
              <p:spPr>
                <a:xfrm>
                  <a:off x="758190" y="2864168"/>
                  <a:ext cx="4998720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</m:d>
                          </m:e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,…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51332" y="3312795"/>
              <a:ext cx="13510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记作 X ~ G(p)。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2475" y="3609499"/>
              <a:ext cx="474091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规范性来自等比级数：p 乘以公比 1 − p 的无穷等比和 1/[1 − (1 − p)]，正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好等于 1。</a:t>
              </a:r>
            </a:p>
          </p:txBody>
        </p:sp>
      </p:grpSp>
      <p:grpSp>
        <p:nvGrpSpPr>
          <p:cNvPr id="22" name="c1-callout-2"/>
          <p:cNvGrpSpPr/>
          <p:nvPr/>
        </p:nvGrpSpPr>
        <p:grpSpPr>
          <a:xfrm>
            <a:off x="533400" y="4349115"/>
            <a:ext cx="5410200" cy="1089660"/>
            <a:chOff x="533400" y="4349115"/>
            <a:chExt cx="5410200" cy="1089660"/>
          </a:xfrm>
        </p:grpSpPr>
        <p:sp>
          <p:nvSpPr>
            <p:cNvPr id="17" name="Rectangle 17"/>
            <p:cNvSpPr/>
            <p:nvPr/>
          </p:nvSpPr>
          <p:spPr>
            <a:xfrm>
              <a:off x="533400" y="4349115"/>
              <a:ext cx="5410200" cy="1089660"/>
            </a:xfrm>
            <a:prstGeom prst="roundRect">
              <a:avLst>
                <a:gd name="adj" fmla="val 1049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38188" y="4793935"/>
              <a:ext cx="200023" cy="200023"/>
              <a:chOff x="738188" y="4793935"/>
              <a:chExt cx="200023" cy="200023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38188" y="479393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71538" y="48606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40892" y="4674870"/>
              <a:ext cx="443712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二项分布问“做 n 次成功几次”，几何分布问“成功一次要做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几次”。次数固定的是二项，次数随机的是几何。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6248400" y="1524000"/>
            <a:ext cx="5410200" cy="2285048"/>
            <a:chOff x="6248400" y="1524000"/>
            <a:chExt cx="5410200" cy="2285048"/>
          </a:xfrm>
        </p:grpSpPr>
        <p:sp>
          <p:nvSpPr>
            <p:cNvPr id="23" name="Rectangle 23"/>
            <p:cNvSpPr/>
            <p:nvPr/>
          </p:nvSpPr>
          <p:spPr>
            <a:xfrm>
              <a:off x="6248400" y="1524000"/>
              <a:ext cx="5410200" cy="2285048"/>
            </a:xfrm>
            <a:prstGeom prst="roundRect">
              <a:avLst>
                <a:gd name="adj" fmla="val 583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57925" y="1657350"/>
              <a:ext cx="47625" cy="201834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73190" y="1710690"/>
              <a:ext cx="40576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67062" y="1743551"/>
              <a:ext cx="2180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例6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986397" y="1745932"/>
              <a:ext cx="32263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把钥匙里只有 1 把能开门，试后放回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66332" y="2071688"/>
              <a:ext cx="469430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每次随机取 1 把试开，试完放回，求恰好在第 4 次试开时打开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房门的概率。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66332" y="2628900"/>
              <a:ext cx="47244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每次成功概率 p = 1/10，X ~ G(0.1)，所求为 P{X = 4}。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formula87"/>
                <p:cNvSpPr txBox="1">
                  <a:spLocks noGrp="1"/>
                </p:cNvSpPr>
                <p:nvPr/>
              </p:nvSpPr>
              <p:spPr>
                <a:xfrm>
                  <a:off x="6473190" y="2907030"/>
                  <a:ext cx="4998720" cy="4371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10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10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729</m:t>
                            </m:r>
                          </m:num>
                          <m:den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10000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0.0729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1" name="TextBox 31"/>
            <p:cNvSpPr txBox="1"/>
            <p:nvPr/>
          </p:nvSpPr>
          <p:spPr>
            <a:xfrm>
              <a:off x="6467475" y="3446621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原课件只给了题面，这里补上完整过程。</a:t>
              </a:r>
            </a:p>
          </p:txBody>
        </p:sp>
      </p:grpSp>
      <p:grpSp>
        <p:nvGrpSpPr>
          <p:cNvPr id="39" name="c2-card-2"/>
          <p:cNvGrpSpPr/>
          <p:nvPr/>
        </p:nvGrpSpPr>
        <p:grpSpPr>
          <a:xfrm>
            <a:off x="6248400" y="3978592"/>
            <a:ext cx="5410200" cy="1459230"/>
            <a:chOff x="6248400" y="3978592"/>
            <a:chExt cx="5410200" cy="1459230"/>
          </a:xfrm>
        </p:grpSpPr>
        <p:sp>
          <p:nvSpPr>
            <p:cNvPr id="33" name="Rectangle 33"/>
            <p:cNvSpPr/>
            <p:nvPr/>
          </p:nvSpPr>
          <p:spPr>
            <a:xfrm>
              <a:off x="6248400" y="3978592"/>
              <a:ext cx="5410200" cy="1459230"/>
            </a:xfrm>
            <a:prstGeom prst="roundRect">
              <a:avLst>
                <a:gd name="adj" fmla="val 9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57925" y="4111942"/>
              <a:ext cx="47625" cy="119253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73190" y="4165282"/>
              <a:ext cx="40576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67062" y="4198144"/>
              <a:ext cx="2180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例7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986397" y="4200525"/>
              <a:ext cx="35495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 100 个献血者中只有 2 名合格的 AB 型血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66332" y="4526280"/>
              <a:ext cx="462572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X 表示第一次找到合格者时已化验的人数，则 p = 0.02，X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~ G(0.02)，分布律为 P{X = k} = 0.98ᵏ⁻¹ × 0.02，k = 1,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2, …</a:t>
              </a:r>
            </a:p>
          </p:txBody>
        </p:sp>
      </p:grpSp>
      <p:grpSp>
        <p:nvGrpSpPr>
          <p:cNvPr id="46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40" name="Rectangle 40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26129" y="5894188"/>
              <a:ext cx="224134" cy="192560"/>
              <a:chOff x="726129" y="5894188"/>
              <a:chExt cx="224134" cy="19256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838200" y="596455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26129" y="589418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38200" y="60423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892" y="5779770"/>
              <a:ext cx="9966389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试后放回才是几何分布。若钥匙试过就扔掉不再试，每次成功概率会从 1/10 涨到 1/9、1/8，那时 X 是 1 到 10 上的均匀分布，P{X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= 4} = 1/10。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随机变量 · 离散型随机变量及其概率分布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几何分布的无记忆性：前面白试的次数不影响以后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626418" cy="1390650"/>
            <a:chOff x="533400" y="1524000"/>
            <a:chExt cx="5626418" cy="13906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390650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2395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3784" y="174593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无记忆性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2071688"/>
              <a:ext cx="34591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 ~ G(p)，m、n 为任意两个自然数，则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03"/>
                <p:cNvSpPr txBox="1">
                  <a:spLocks noGrp="1"/>
                </p:cNvSpPr>
                <p:nvPr/>
              </p:nvSpPr>
              <p:spPr>
                <a:xfrm>
                  <a:off x="758190" y="2349818"/>
                  <a:ext cx="5214938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&gt;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&gt;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&gt;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2" name="c1-card-2"/>
          <p:cNvGrpSpPr/>
          <p:nvPr/>
        </p:nvGrpSpPr>
        <p:grpSpPr>
          <a:xfrm>
            <a:off x="533400" y="3085148"/>
            <a:ext cx="5626418" cy="2599372"/>
            <a:chOff x="533400" y="3085148"/>
            <a:chExt cx="5626418" cy="2599372"/>
          </a:xfrm>
        </p:grpSpPr>
        <p:sp>
          <p:nvSpPr>
            <p:cNvPr id="15" name="Rectangle 15"/>
            <p:cNvSpPr/>
            <p:nvPr/>
          </p:nvSpPr>
          <p:spPr>
            <a:xfrm>
              <a:off x="533400" y="3085148"/>
              <a:ext cx="5626418" cy="2599372"/>
            </a:xfrm>
            <a:prstGeom prst="roundRect">
              <a:avLst>
                <a:gd name="adj" fmla="val 513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0090" y="327183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12762" y="33046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证明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3232" y="3615690"/>
              <a:ext cx="36070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先算尾概率。X &gt; n 表示前 n 次都失败，所以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formula104"/>
                <p:cNvSpPr txBox="1">
                  <a:spLocks noGrp="1"/>
                </p:cNvSpPr>
                <p:nvPr/>
              </p:nvSpPr>
              <p:spPr>
                <a:xfrm>
                  <a:off x="720090" y="3893820"/>
                  <a:ext cx="5253038" cy="5343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&gt;</m:t>
                            </m:r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∞</m:t>
                            </m:r>
                          </m:sup>
                          <m:e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</m:d>
                          </m:e>
                          <m:sup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0" name="TextBox 20"/>
            <p:cNvSpPr txBox="1"/>
            <p:nvPr/>
          </p:nvSpPr>
          <p:spPr>
            <a:xfrm>
              <a:off x="713232" y="4533900"/>
              <a:ext cx="491718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由于 {X &gt; n + m} ⊂ {X &gt; n}，两个事件的交就是 {X &gt; n + m}，于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formula105"/>
                <p:cNvSpPr txBox="1">
                  <a:spLocks noGrp="1"/>
                </p:cNvSpPr>
                <p:nvPr/>
              </p:nvSpPr>
              <p:spPr>
                <a:xfrm>
                  <a:off x="720090" y="5069205"/>
                  <a:ext cx="5253038" cy="411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&gt;</m:t>
                            </m:r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&gt;</m:t>
                            </m:r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</m:d>
                          </m:e>
                          <m:sup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&gt;</m:t>
                            </m:r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0" name="c2-card-1"/>
          <p:cNvGrpSpPr/>
          <p:nvPr/>
        </p:nvGrpSpPr>
        <p:grpSpPr>
          <a:xfrm>
            <a:off x="6464618" y="1524000"/>
            <a:ext cx="5193982" cy="1463992"/>
            <a:chOff x="6464618" y="1524000"/>
            <a:chExt cx="5193982" cy="1463992"/>
          </a:xfrm>
        </p:grpSpPr>
        <p:sp>
          <p:nvSpPr>
            <p:cNvPr id="23" name="Rectangle 23"/>
            <p:cNvSpPr/>
            <p:nvPr/>
          </p:nvSpPr>
          <p:spPr>
            <a:xfrm>
              <a:off x="6464618" y="1524000"/>
              <a:ext cx="5193982" cy="1463992"/>
            </a:xfrm>
            <a:prstGeom prst="roundRect">
              <a:avLst>
                <a:gd name="adj" fmla="val 91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74142" y="1657350"/>
              <a:ext cx="47625" cy="119729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689408" y="171069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74929" y="174355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怎么理解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04557" y="174593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硬币没有记性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82549" y="2071688"/>
              <a:ext cx="436854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抛硬币连抛 10 次都是反面，第 11 次出现正面的概率仍是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1/2。前面失败了多少次，对以后一点影响都没有。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83692" y="2625566"/>
              <a:ext cx="39466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赌徒以为“连输这么多把，该轮到我赢了”，错就错在这里。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464618" y="3157538"/>
            <a:ext cx="5193982" cy="1443038"/>
            <a:chOff x="6464618" y="3157538"/>
            <a:chExt cx="5193982" cy="1443038"/>
          </a:xfrm>
        </p:grpSpPr>
        <p:sp>
          <p:nvSpPr>
            <p:cNvPr id="31" name="Rectangle 31"/>
            <p:cNvSpPr/>
            <p:nvPr/>
          </p:nvSpPr>
          <p:spPr>
            <a:xfrm>
              <a:off x="6464618" y="3157538"/>
              <a:ext cx="5193982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74142" y="3290888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689408" y="3344228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78028" y="337708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唯一性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82549" y="3689032"/>
              <a:ext cx="449713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在所有取正整数值的分布中，只有几何分布具有无记忆性；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在连续型分布中，只有指数分布具有这个性质。第 4 节会再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遇到它。</a:t>
              </a:r>
            </a:p>
          </p:txBody>
        </p:sp>
      </p:grpSp>
      <p:grpSp>
        <p:nvGrpSpPr>
          <p:cNvPr id="42" name="c2-callout-3"/>
          <p:cNvGrpSpPr/>
          <p:nvPr/>
        </p:nvGrpSpPr>
        <p:grpSpPr>
          <a:xfrm>
            <a:off x="6464618" y="4770120"/>
            <a:ext cx="5193982" cy="913448"/>
            <a:chOff x="6464618" y="4770120"/>
            <a:chExt cx="5193982" cy="913448"/>
          </a:xfrm>
        </p:grpSpPr>
        <p:sp>
          <p:nvSpPr>
            <p:cNvPr id="37" name="Rectangle 37"/>
            <p:cNvSpPr/>
            <p:nvPr/>
          </p:nvSpPr>
          <p:spPr>
            <a:xfrm>
              <a:off x="6464618" y="4770120"/>
              <a:ext cx="5193982" cy="913448"/>
            </a:xfrm>
            <a:prstGeom prst="roundRect">
              <a:avLst>
                <a:gd name="adj" fmla="val 12513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669405" y="5127308"/>
              <a:ext cx="200026" cy="200026"/>
              <a:chOff x="6669405" y="5127308"/>
              <a:chExt cx="200026" cy="200026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669405" y="51273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736080" y="520509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6972110" y="5009198"/>
              <a:ext cx="3879913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取 p = 0.3、n = 3、m = 4 验算：P{X &gt; 7 | X &gt; 3} =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0.2401 = 0.7⁴ = P{X &gt; 4}，两边完全相等。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43" name="Rectangle 43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892" y="6028373"/>
              <a:ext cx="101950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证明的关键一步是 {X &gt; n + m} 包含在 {X &gt; n} 里，所以交事件就是前者，不必另算。这一步写漏了会卡在条件概率的分子上。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随机变量 · 离散型随机变量及其概率分布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泊松分布：单位时间或单位面积上稀有事件的个数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842635" cy="2014538"/>
            <a:chOff x="533400" y="1524000"/>
            <a:chExt cx="5842635" cy="20145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2014538"/>
            </a:xfrm>
            <a:prstGeom prst="roundRect">
              <a:avLst>
                <a:gd name="adj" fmla="val 66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4783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11673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泊松分布 P(λ)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26433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X 的可能取值为 0, 1, 2, …，且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12"/>
                <p:cNvSpPr txBox="1">
                  <a:spLocks noGrp="1"/>
                </p:cNvSpPr>
                <p:nvPr/>
              </p:nvSpPr>
              <p:spPr>
                <a:xfrm>
                  <a:off x="752475" y="2325052"/>
                  <a:ext cx="5442585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,…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45998" y="2916079"/>
              <a:ext cx="510921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其中 λ &gt; 0 为常数，则称 X 服从参数为 λ 的泊松分布，记作 X ~ P(λ)，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也写成 X ~ π(λ)。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3703320"/>
            <a:ext cx="5842635" cy="1143952"/>
            <a:chOff x="533400" y="3703320"/>
            <a:chExt cx="5842635" cy="1143952"/>
          </a:xfrm>
        </p:grpSpPr>
        <p:sp>
          <p:nvSpPr>
            <p:cNvPr id="16" name="Rectangle 16"/>
            <p:cNvSpPr/>
            <p:nvPr/>
          </p:nvSpPr>
          <p:spPr>
            <a:xfrm>
              <a:off x="533400" y="3703320"/>
              <a:ext cx="5842635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836670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52475" y="388429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1096" y="391715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规范性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5998" y="4224814"/>
              <a:ext cx="514985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把所有项加起来，求和部分正是 e 的幂级数展开 Σ λᵏ/k! = e^λ，再乘上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前面的 e^(−λ) 得 1。所以它确实是一个分布律。</a:t>
              </a:r>
            </a:p>
          </p:txBody>
        </p:sp>
      </p:grpSp>
      <p:grpSp>
        <p:nvGrpSpPr>
          <p:cNvPr id="27" name="c1-callout-3"/>
          <p:cNvGrpSpPr/>
          <p:nvPr/>
        </p:nvGrpSpPr>
        <p:grpSpPr>
          <a:xfrm>
            <a:off x="533400" y="5013008"/>
            <a:ext cx="5842635" cy="702945"/>
            <a:chOff x="533400" y="5013008"/>
            <a:chExt cx="5842635" cy="702945"/>
          </a:xfrm>
        </p:grpSpPr>
        <p:sp>
          <p:nvSpPr>
            <p:cNvPr id="22" name="Rectangle 22"/>
            <p:cNvSpPr/>
            <p:nvPr/>
          </p:nvSpPr>
          <p:spPr>
            <a:xfrm>
              <a:off x="533400" y="5013008"/>
              <a:ext cx="5842635" cy="702945"/>
            </a:xfrm>
            <a:prstGeom prst="roundRect">
              <a:avLst>
                <a:gd name="adj" fmla="val 1626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8188" y="5263517"/>
              <a:ext cx="200023" cy="200023"/>
              <a:chOff x="738188" y="5263517"/>
              <a:chExt cx="200023" cy="200023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38188" y="526351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71538" y="53301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1273" y="5157311"/>
              <a:ext cx="470281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泊松分布只有一个参数 λ，它既是平均发生次数，也是方差。给了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“平均每分钟 4 次”，λ 就是 4。</a:t>
              </a:r>
            </a:p>
          </p:txBody>
        </p:sp>
      </p:grpSp>
      <p:grpSp>
        <p:nvGrpSpPr>
          <p:cNvPr id="30" name="c2-image-1"/>
          <p:cNvGrpSpPr/>
          <p:nvPr/>
        </p:nvGrpSpPr>
        <p:grpSpPr>
          <a:xfrm>
            <a:off x="7826692" y="1524000"/>
            <a:ext cx="2686050" cy="2298096"/>
            <a:chOff x="7826692" y="1524000"/>
            <a:chExt cx="2686050" cy="2298096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26692" y="1524000"/>
              <a:ext cx="2686050" cy="2014538"/>
            </a:xfrm>
            <a:prstGeom prst="roundRect">
              <a:avLst>
                <a:gd name="adj" fmla="val 6619"/>
              </a:avLst>
            </a:prstGeom>
          </p:spPr>
        </p:pic>
        <p:sp>
          <p:nvSpPr>
            <p:cNvPr id="29" name="TextBox 29"/>
            <p:cNvSpPr txBox="1"/>
            <p:nvPr/>
          </p:nvSpPr>
          <p:spPr>
            <a:xfrm>
              <a:off x="8043380" y="3631406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大多数版面干净，偶尔落下一两个墨点</a:t>
              </a:r>
            </a:p>
          </p:txBody>
        </p:sp>
      </p:grpSp>
      <p:grpSp>
        <p:nvGrpSpPr>
          <p:cNvPr id="43" name="c2-card-2"/>
          <p:cNvGrpSpPr/>
          <p:nvPr/>
        </p:nvGrpSpPr>
        <p:grpSpPr>
          <a:xfrm>
            <a:off x="6680835" y="3967162"/>
            <a:ext cx="4977765" cy="1756410"/>
            <a:chOff x="6680835" y="3967162"/>
            <a:chExt cx="4977765" cy="1756410"/>
          </a:xfrm>
        </p:grpSpPr>
        <p:sp>
          <p:nvSpPr>
            <p:cNvPr id="31" name="Rectangle 31"/>
            <p:cNvSpPr/>
            <p:nvPr/>
          </p:nvSpPr>
          <p:spPr>
            <a:xfrm>
              <a:off x="6680835" y="3967162"/>
              <a:ext cx="4977765" cy="1756410"/>
            </a:xfrm>
            <a:prstGeom prst="roundRect">
              <a:avLst>
                <a:gd name="adj" fmla="val 75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690360" y="4100512"/>
              <a:ext cx="47625" cy="148971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899910" y="414813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985432" y="418099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典型场景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909435" y="454056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064883" y="4488656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一本书一页中的印刷错误个数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909435" y="482536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064883" y="477345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医院一小时内来急诊的病人数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909435" y="511016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064883" y="505825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放射性物质在单位时间内的放射次数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909435" y="539591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064883" y="5343049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一段时间内某路口发生的交通事故数</a:t>
              </a:r>
            </a:p>
          </p:txBody>
        </p:sp>
      </p:grpSp>
      <p:grpSp>
        <p:nvGrpSpPr>
          <p:cNvPr id="5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4" name="Rectangle 4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1273" y="6039326"/>
              <a:ext cx="88181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认泊松的标志是“在一段时间、一段长度或一块面积上，数一数某件很少发生的事出现了几回”，而且次数没有上限。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59930" cy="909257"/>
            <a:chOff x="520446" y="342900"/>
            <a:chExt cx="605993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随机变量 · 离散型随机变量及其概率分布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5993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例8：电话交换台每分钟接到的呼叫次数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4760595" cy="1963102"/>
            <a:chOff x="533400" y="1524000"/>
            <a:chExt cx="4760595" cy="196310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963102"/>
            </a:xfrm>
            <a:prstGeom prst="roundRect">
              <a:avLst>
                <a:gd name="adj" fmla="val 67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9640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0576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6347" y="1737836"/>
              <a:ext cx="2180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例8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66063" y="1744504"/>
              <a:ext cx="26334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呼叫次数服从参数为 4 的泊松分布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13385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(1) 每分钟恰有 6 次呼叫的概率；(2) 每分钟呼叫次数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大于 5 的概率。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5998" y="2589371"/>
              <a:ext cx="31724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 X 表示每分钟呼叫的次数，X ~ P(4)，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120"/>
                <p:cNvSpPr txBox="1">
                  <a:spLocks noGrp="1"/>
                </p:cNvSpPr>
                <p:nvPr/>
              </p:nvSpPr>
              <p:spPr>
                <a:xfrm>
                  <a:off x="752475" y="2852738"/>
                  <a:ext cx="4360545" cy="4371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e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,…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1" name="c1-card-2"/>
          <p:cNvGrpSpPr/>
          <p:nvPr/>
        </p:nvGrpSpPr>
        <p:grpSpPr>
          <a:xfrm>
            <a:off x="533400" y="3651885"/>
            <a:ext cx="4760595" cy="2047875"/>
            <a:chOff x="533400" y="3651885"/>
            <a:chExt cx="4760595" cy="2047875"/>
          </a:xfrm>
        </p:grpSpPr>
        <p:sp>
          <p:nvSpPr>
            <p:cNvPr id="16" name="Rectangle 16"/>
            <p:cNvSpPr/>
            <p:nvPr/>
          </p:nvSpPr>
          <p:spPr>
            <a:xfrm>
              <a:off x="533400" y="3651885"/>
              <a:ext cx="4760595" cy="2047875"/>
            </a:xfrm>
            <a:prstGeom prst="roundRect">
              <a:avLst>
                <a:gd name="adj" fmla="val 65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785235"/>
              <a:ext cx="47625" cy="178117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52475" y="383286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5147" y="386572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5998" y="4173379"/>
              <a:ext cx="406069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(2) 问的 {X &gt; 5} 有无穷多项，必须转成对立事件 1 −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P{X ≤ 5}，只需前六项。</a:t>
              </a:r>
            </a:p>
          </p:txBody>
        </p:sp>
      </p:grpSp>
      <p:grpSp>
        <p:nvGrpSpPr>
          <p:cNvPr id="49" name="c2-table-1"/>
          <p:cNvGrpSpPr/>
          <p:nvPr/>
        </p:nvGrpSpPr>
        <p:grpSpPr>
          <a:xfrm>
            <a:off x="5593842" y="1524000"/>
            <a:ext cx="6064758" cy="1026509"/>
            <a:chOff x="5593842" y="1524000"/>
            <a:chExt cx="6064758" cy="1026509"/>
          </a:xfrm>
        </p:grpSpPr>
        <p:sp>
          <p:nvSpPr>
            <p:cNvPr id="22" name="Rectangle 22"/>
            <p:cNvSpPr/>
            <p:nvPr/>
          </p:nvSpPr>
          <p:spPr>
            <a:xfrm>
              <a:off x="5598795" y="1524000"/>
              <a:ext cx="6059805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37468" y="164115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86146" y="164115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12903" y="164115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40613" y="164115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67371" y="164115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795081" y="164115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521838" y="164115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48596" y="164115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777946" y="2023110"/>
              <a:ext cx="6113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P{X = k}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93732" y="202311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0.0183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20489" y="202311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0.0733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48199" y="202311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0.1465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874957" y="202311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0.1954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602667" y="202311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0.1954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329424" y="202311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0.1563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0941368" y="1914525"/>
              <a:ext cx="707708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1056182" y="202311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0.1042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598795" y="1524000"/>
              <a:ext cx="6059805" cy="762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563678" y="1524000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291388" y="1524000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8018145" y="1524000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8744902" y="1524000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9472612" y="1524000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10199370" y="1524000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10927080" y="1524000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593842" y="2359819"/>
              <a:ext cx="30772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λ = 4 时 k = 3 与 k = 4 的概率相等，都是最可能取值</a:t>
              </a:r>
            </a:p>
          </p:txBody>
        </p:sp>
      </p:grpSp>
      <p:grpSp>
        <p:nvGrpSpPr>
          <p:cNvPr id="67" name="c2-steps-2"/>
          <p:cNvGrpSpPr/>
          <p:nvPr/>
        </p:nvGrpSpPr>
        <p:grpSpPr>
          <a:xfrm>
            <a:off x="5598795" y="2687002"/>
            <a:ext cx="4664964" cy="2149412"/>
            <a:chOff x="5598795" y="2687002"/>
            <a:chExt cx="4664964" cy="2149412"/>
          </a:xfrm>
        </p:grpSpPr>
        <p:sp>
          <p:nvSpPr>
            <p:cNvPr id="50" name="Rectangle 50"/>
            <p:cNvSpPr/>
            <p:nvPr/>
          </p:nvSpPr>
          <p:spPr>
            <a:xfrm>
              <a:off x="5732145" y="2829878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5598795" y="268700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692419" y="276082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5598795" y="323945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692419" y="33132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5598795" y="37928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692419" y="38666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5598795" y="434530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692419" y="44191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011418" y="2717006"/>
              <a:ext cx="7646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(1) 问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012561" y="2971800"/>
              <a:ext cx="41031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P{X = 6} = 4⁶ e^(−4) / 6! = 4096 × 0.018316 / 720 ≈ 0.1042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011418" y="3270409"/>
              <a:ext cx="12816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(2) 问转对立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012561" y="3525202"/>
              <a:ext cx="16012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P{X &gt; 5} = 1 − P{X ≤ 5}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011418" y="382285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累加前六项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012561" y="4077652"/>
              <a:ext cx="42511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0.0183 + 0.0733 + 0.1465 + 0.1954 + 0.1954 + 0.1563 = 0.7852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011418" y="437626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得结果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012561" y="4631055"/>
              <a:ext cx="21762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P{X &gt; 5} = 1 − 0.7852 = 0.2148</a:t>
              </a:r>
            </a:p>
          </p:txBody>
        </p:sp>
      </p:grpSp>
      <p:grpSp>
        <p:nvGrpSpPr>
          <p:cNvPr id="73" name="c2-callout-3"/>
          <p:cNvGrpSpPr/>
          <p:nvPr/>
        </p:nvGrpSpPr>
        <p:grpSpPr>
          <a:xfrm>
            <a:off x="5598795" y="4997768"/>
            <a:ext cx="6059805" cy="702945"/>
            <a:chOff x="5598795" y="4997768"/>
            <a:chExt cx="6059805" cy="702945"/>
          </a:xfrm>
        </p:grpSpPr>
        <p:sp>
          <p:nvSpPr>
            <p:cNvPr id="68" name="Rectangle 68"/>
            <p:cNvSpPr/>
            <p:nvPr/>
          </p:nvSpPr>
          <p:spPr>
            <a:xfrm>
              <a:off x="5598795" y="4997768"/>
              <a:ext cx="6059805" cy="702945"/>
            </a:xfrm>
            <a:prstGeom prst="roundRect">
              <a:avLst>
                <a:gd name="adj" fmla="val 16260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5803583" y="5249228"/>
              <a:ext cx="200026" cy="200026"/>
              <a:chOff x="5803583" y="5249228"/>
              <a:chExt cx="200026" cy="200026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5803583" y="52492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5870258" y="532701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6106668" y="5143024"/>
              <a:ext cx="475157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P{X = 6} ≈ 0.1042，P{X &gt; 5} ≈ 0.2148。精确计算得 0.10420 与</a:t>
              </a:r>
              <a:br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0.21487，与查表值一致。</a:t>
              </a:r>
            </a:p>
          </p:txBody>
        </p:sp>
      </p:grpSp>
      <p:grpSp>
        <p:nvGrpSpPr>
          <p:cNvPr id="8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4" name="Rectangle 7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1041273" y="6039326"/>
              <a:ext cx="76983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大于 5 是不含 5 的，要减掉 k = 0 到 5 共六项；写成 1 − P{X ≤ 4} 就把 k = 5 那 0.1563 算进去了。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86301" cy="909257"/>
            <a:chOff x="520446" y="342900"/>
            <a:chExt cx="728630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随机变量 · 离散型随机变量及其概率分布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8630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例9：月底该进多少货，才有 95% 的把握不脱销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977765" cy="1406842"/>
            <a:chOff x="533400" y="1524000"/>
            <a:chExt cx="4977765" cy="14068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406842"/>
            </a:xfrm>
            <a:prstGeom prst="roundRect">
              <a:avLst>
                <a:gd name="adj" fmla="val 94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4014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0576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6347" y="1737836"/>
              <a:ext cx="2180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例9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66063" y="1744504"/>
              <a:ext cx="32498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某商品每月销量服从参数为 10 的泊松分布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3126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为了以 95% 以上的概率保证不脱销，月底应存多少件该商品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（只在月底进货）？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7141" y="2585085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原课件只给出题面，没有解答，这里补全。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095625"/>
            <a:ext cx="4977765" cy="2605088"/>
            <a:chOff x="533400" y="3095625"/>
            <a:chExt cx="4977765" cy="2605088"/>
          </a:xfrm>
        </p:grpSpPr>
        <p:sp>
          <p:nvSpPr>
            <p:cNvPr id="15" name="Rectangle 15"/>
            <p:cNvSpPr/>
            <p:nvPr/>
          </p:nvSpPr>
          <p:spPr>
            <a:xfrm>
              <a:off x="533400" y="3095625"/>
              <a:ext cx="4977765" cy="2605088"/>
            </a:xfrm>
            <a:prstGeom prst="roundRect">
              <a:avLst>
                <a:gd name="adj" fmla="val 51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228975"/>
              <a:ext cx="47625" cy="233838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52475" y="3276600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22744" y="3309461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把题目翻成不等式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5998" y="3616166"/>
              <a:ext cx="426389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设月底存 N 件。不脱销就是这个月的销量 X 不超过 N，即事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 {X ≤ N}。题目要求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formula127"/>
                <p:cNvSpPr txBox="1">
                  <a:spLocks noGrp="1"/>
                </p:cNvSpPr>
                <p:nvPr/>
              </p:nvSpPr>
              <p:spPr>
                <a:xfrm>
                  <a:off x="752475" y="4123372"/>
                  <a:ext cx="4577715" cy="5029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sSup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e>
                                  <m:sup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!</m:t>
                                </m:r>
                              </m:den>
                            </m:f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10</m:t>
                                </m:r>
                              </m:sup>
                            </m:sSup>
                          </m:e>
                        </m:nary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≥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0.95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1" name="TextBox 21"/>
            <p:cNvSpPr txBox="1"/>
            <p:nvPr/>
          </p:nvSpPr>
          <p:spPr>
            <a:xfrm>
              <a:off x="745998" y="4727734"/>
              <a:ext cx="35964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越大左边越大，所以只要找到最小的那个 N。</a:t>
              </a:r>
            </a:p>
          </p:txBody>
        </p:sp>
      </p:grpSp>
      <p:grpSp>
        <p:nvGrpSpPr>
          <p:cNvPr id="44" name="c2-table-1"/>
          <p:cNvGrpSpPr/>
          <p:nvPr/>
        </p:nvGrpSpPr>
        <p:grpSpPr>
          <a:xfrm>
            <a:off x="5811012" y="1524000"/>
            <a:ext cx="5847588" cy="1026509"/>
            <a:chOff x="5811012" y="1524000"/>
            <a:chExt cx="5847588" cy="1026509"/>
          </a:xfrm>
        </p:grpSpPr>
        <p:sp>
          <p:nvSpPr>
            <p:cNvPr id="23" name="Rectangle 23"/>
            <p:cNvSpPr/>
            <p:nvPr/>
          </p:nvSpPr>
          <p:spPr>
            <a:xfrm>
              <a:off x="5815965" y="1524000"/>
              <a:ext cx="5842635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68546" y="1641157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69231" y="1641157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445531" y="1641157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351358" y="1641157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257186" y="1641157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133486" y="1641157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05873" y="2023110"/>
              <a:ext cx="6222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P{X ≤ N}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17632" y="202311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0.8645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93932" y="202311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0.9165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980170" y="1914525"/>
              <a:ext cx="916305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199759" y="202311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0.9513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105587" y="202311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0.9730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981887" y="202311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0.9857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815965" y="1524000"/>
              <a:ext cx="5842635" cy="762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213282" y="1524000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8089582" y="1524000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965882" y="1524000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9901238" y="1524000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10777538" y="1524000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811012" y="2359819"/>
              <a:ext cx="22626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累积概率第一次越过 0.95 是在 N = 15</a:t>
              </a:r>
            </a:p>
          </p:txBody>
        </p:sp>
      </p:grpSp>
      <p:grpSp>
        <p:nvGrpSpPr>
          <p:cNvPr id="62" name="c2-steps-2"/>
          <p:cNvGrpSpPr/>
          <p:nvPr/>
        </p:nvGrpSpPr>
        <p:grpSpPr>
          <a:xfrm>
            <a:off x="5815965" y="2687002"/>
            <a:ext cx="3753250" cy="2149412"/>
            <a:chOff x="5815965" y="2687002"/>
            <a:chExt cx="3753250" cy="2149412"/>
          </a:xfrm>
        </p:grpSpPr>
        <p:sp>
          <p:nvSpPr>
            <p:cNvPr id="45" name="Rectangle 45"/>
            <p:cNvSpPr/>
            <p:nvPr/>
          </p:nvSpPr>
          <p:spPr>
            <a:xfrm>
              <a:off x="5949315" y="2829878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5815965" y="268700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909589" y="276082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5815965" y="323945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909589" y="33132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5815965" y="37928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909589" y="38666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5815965" y="434530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909589" y="44191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228588" y="27170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逐项累加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229731" y="2971800"/>
              <a:ext cx="23253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14 时累积 0.9165，还不够 0.95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228588" y="327040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再加一项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229731" y="3525202"/>
              <a:ext cx="27903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P{X = 15} = 10¹⁵ e^(−10) / 15! ≈ 0.0347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228588" y="38228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越过门槛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229731" y="4077652"/>
              <a:ext cx="33394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0.9165 + 0.0347 = 0.9513 ≥ 0.95，第一次满足要求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228588" y="437626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给出结论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229731" y="4631055"/>
              <a:ext cx="9457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最小的 N 是 15</a:t>
              </a:r>
            </a:p>
          </p:txBody>
        </p:sp>
      </p:grpSp>
      <p:grpSp>
        <p:nvGrpSpPr>
          <p:cNvPr id="68" name="c2-callout-3"/>
          <p:cNvGrpSpPr/>
          <p:nvPr/>
        </p:nvGrpSpPr>
        <p:grpSpPr>
          <a:xfrm>
            <a:off x="5815965" y="4997768"/>
            <a:ext cx="5842635" cy="702945"/>
            <a:chOff x="5815965" y="4997768"/>
            <a:chExt cx="5842635" cy="702945"/>
          </a:xfrm>
        </p:grpSpPr>
        <p:sp>
          <p:nvSpPr>
            <p:cNvPr id="63" name="Rectangle 63"/>
            <p:cNvSpPr/>
            <p:nvPr/>
          </p:nvSpPr>
          <p:spPr>
            <a:xfrm>
              <a:off x="5815965" y="4997768"/>
              <a:ext cx="5842635" cy="702945"/>
            </a:xfrm>
            <a:prstGeom prst="roundRect">
              <a:avLst>
                <a:gd name="adj" fmla="val 16260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6020753" y="5249228"/>
              <a:ext cx="200026" cy="200026"/>
              <a:chOff x="6020753" y="5249228"/>
              <a:chExt cx="200026" cy="200026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6020753" y="52492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087428" y="532701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6323838" y="5143024"/>
              <a:ext cx="4884877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 xml:space="preserve">月底存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15 件</a:t>
              </a: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，不脱销的概率约为 95.1%。存 14 件只有 91.7%，达</a:t>
              </a:r>
              <a:br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不到要求。</a:t>
              </a:r>
            </a:p>
          </p:txBody>
        </p:sp>
      </p:grpSp>
      <p:grpSp>
        <p:nvGrpSpPr>
          <p:cNvPr id="7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9" name="Rectangle 6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041273" y="6039326"/>
              <a:ext cx="93403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不脱销是“存货够卖”，写成 {X ≤ N} 而不是 {X &lt; N}。差一个等号就会多进一件货，这类离散型的边界必须逐字对照题意。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90847" cy="909257"/>
            <a:chOff x="520446" y="342900"/>
            <a:chExt cx="81908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随机变量 · 离散型随机变量及其概率分布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908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泊松定理：n 很大、p 很小时二项分布近似成泊松分布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2027872"/>
            <a:chOff x="533400" y="1524000"/>
            <a:chExt cx="5410200" cy="202787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027872"/>
            </a:xfrm>
            <a:prstGeom prst="roundRect">
              <a:avLst>
                <a:gd name="adj" fmla="val 65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6117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泊松定理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78409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λ &gt; 0 为常数，n 为任意正整数，且 npₙ = λ，则对任一固定的非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负整数 k 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40"/>
                <p:cNvSpPr txBox="1">
                  <a:spLocks noGrp="1"/>
                </p:cNvSpPr>
                <p:nvPr/>
              </p:nvSpPr>
              <p:spPr>
                <a:xfrm>
                  <a:off x="752475" y="2567940"/>
                  <a:ext cx="5010150" cy="5019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sSub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p>
                            </m:sSubSup>
                          </m:e>
                        </m:func>
                        <m:sSubSup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p>
                        </m:sSubSup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45998" y="3172301"/>
              <a:ext cx="41915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于是 n 充分大时可以用右边近似左边，其中取 λ = np。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716655"/>
            <a:ext cx="5410200" cy="1826895"/>
            <a:chOff x="533400" y="3716655"/>
            <a:chExt cx="5410200" cy="1826895"/>
          </a:xfrm>
        </p:grpSpPr>
        <p:sp>
          <p:nvSpPr>
            <p:cNvPr id="16" name="Rectangle 16"/>
            <p:cNvSpPr/>
            <p:nvPr/>
          </p:nvSpPr>
          <p:spPr>
            <a:xfrm>
              <a:off x="533400" y="3716655"/>
              <a:ext cx="5410200" cy="1826895"/>
            </a:xfrm>
            <a:prstGeom prst="roundRect">
              <a:avLst>
                <a:gd name="adj" fmla="val 729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850005"/>
              <a:ext cx="47625" cy="15601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52475" y="389763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5147" y="393049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背景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5998" y="4238149"/>
              <a:ext cx="469468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泊松分布最早就是 1837 年法国数学家泊松作为二项分布的近似引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入的。n 重伯努利试验中稀有事件出现的次数，近似服从泊松分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7141" y="5005388"/>
              <a:ext cx="457123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实用判据：n ≥ 20 且 p ≤ 0.05 时误差已经很小，n ≥ 100 且 np ≤ 10 时近似相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当好。</a:t>
              </a:r>
            </a:p>
          </p:txBody>
        </p:sp>
      </p:grpSp>
      <p:grpSp>
        <p:nvGrpSpPr>
          <p:cNvPr id="31" name="c2-card-1"/>
          <p:cNvGrpSpPr/>
          <p:nvPr/>
        </p:nvGrpSpPr>
        <p:grpSpPr>
          <a:xfrm>
            <a:off x="6248400" y="1524000"/>
            <a:ext cx="5410200" cy="2035492"/>
            <a:chOff x="6248400" y="1524000"/>
            <a:chExt cx="5410200" cy="2035492"/>
          </a:xfrm>
        </p:grpSpPr>
        <p:sp>
          <p:nvSpPr>
            <p:cNvPr id="23" name="Rectangle 23"/>
            <p:cNvSpPr/>
            <p:nvPr/>
          </p:nvSpPr>
          <p:spPr>
            <a:xfrm>
              <a:off x="6248400" y="1524000"/>
              <a:ext cx="5410200" cy="2035492"/>
            </a:xfrm>
            <a:prstGeom prst="roundRect">
              <a:avLst>
                <a:gd name="adj" fmla="val 655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57925" y="1657350"/>
              <a:ext cx="47625" cy="176879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67475" y="1704975"/>
              <a:ext cx="47815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59448" y="1737836"/>
              <a:ext cx="2942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53453" y="1744504"/>
              <a:ext cx="35923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2000 个产品中有 40 个次品，放回抽检 100 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60998" y="2061686"/>
              <a:ext cx="479221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求抽检的 100 个产品中至少有两件次品的概率。设 X 为次品数，单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次取到次品的概率 p = 40/2000 = 0.02，X ~ B(100, 0.02)，λ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np = 2。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formula141"/>
                <p:cNvSpPr txBox="1">
                  <a:spLocks noGrp="1"/>
                </p:cNvSpPr>
                <p:nvPr/>
              </p:nvSpPr>
              <p:spPr>
                <a:xfrm>
                  <a:off x="6467475" y="2810828"/>
                  <a:ext cx="5010150" cy="266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≥</m:t>
                            </m:r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0" name="TextBox 30"/>
            <p:cNvSpPr txBox="1"/>
            <p:nvPr/>
          </p:nvSpPr>
          <p:spPr>
            <a:xfrm>
              <a:off x="6460998" y="3179921"/>
              <a:ext cx="8055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0.594。</a:t>
              </a:r>
            </a:p>
          </p:txBody>
        </p:sp>
      </p:grpSp>
      <p:grpSp>
        <p:nvGrpSpPr>
          <p:cNvPr id="48" name="c2-table-2"/>
          <p:cNvGrpSpPr/>
          <p:nvPr/>
        </p:nvGrpSpPr>
        <p:grpSpPr>
          <a:xfrm>
            <a:off x="6243447" y="3724275"/>
            <a:ext cx="5415153" cy="1408461"/>
            <a:chOff x="6243447" y="3724275"/>
            <a:chExt cx="5415153" cy="1408461"/>
          </a:xfrm>
        </p:grpSpPr>
        <p:sp>
          <p:nvSpPr>
            <p:cNvPr id="32" name="Rectangle 32"/>
            <p:cNvSpPr/>
            <p:nvPr/>
          </p:nvSpPr>
          <p:spPr>
            <a:xfrm>
              <a:off x="6248400" y="3724275"/>
              <a:ext cx="5410200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183755" y="384238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912878" y="3842385"/>
              <a:ext cx="6222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P{X ≥ 2}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700385" y="384238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误差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43079" y="422338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二项分布精确值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985447" y="4223385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0.5967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802864" y="422338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48400" y="448246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48400" y="4487228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43079" y="4604385"/>
              <a:ext cx="9545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泊松近似 λ = 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985447" y="4604385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0.5940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608507" y="4604385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0.0027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48400" y="3724275"/>
              <a:ext cx="5410200" cy="1143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8407718" y="3724275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10030778" y="3724275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243447" y="4942046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近似值与精确值只差千分之三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9" name="Rectangle 4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1273" y="6039326"/>
              <a:ext cx="96883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放回抽样才满足“每次概率相同”。这道题若改成不放回，严格说应该用超几何分布，不过 2000 件里抽 100 件时两者差别很小。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55208" cy="909257"/>
            <a:chOff x="520446" y="342900"/>
            <a:chExt cx="385520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随机变量 · 离散型随机变量及其概率分布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5520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例11：保险公司会亏本吗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760595" cy="2044065"/>
            <a:chOff x="533400" y="1524000"/>
            <a:chExt cx="4760595" cy="20440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2044065"/>
            </a:xfrm>
            <a:prstGeom prst="roundRect">
              <a:avLst>
                <a:gd name="adj" fmla="val 65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7736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97205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4868" y="1750695"/>
              <a:ext cx="3152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68552" y="1756410"/>
              <a:ext cx="37120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2500 人投保，每人交 12 元，死亡赔 2000 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413708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每人每年死亡概率 0.002。求保险公司亏本、以及获利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不少于 10000 元和 20000 元的概率。原课件只给题面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没有解答。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7047" y="2907030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 为一年内死亡人数，X ~ B(2500, 0.002)。n 大 p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小，用泊松近似，λ = np = 5。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742372"/>
            <a:ext cx="4760595" cy="1651635"/>
            <a:chOff x="533400" y="3742372"/>
            <a:chExt cx="4760595" cy="1651635"/>
          </a:xfrm>
        </p:grpSpPr>
        <p:sp>
          <p:nvSpPr>
            <p:cNvPr id="15" name="Rectangle 15"/>
            <p:cNvSpPr/>
            <p:nvPr/>
          </p:nvSpPr>
          <p:spPr>
            <a:xfrm>
              <a:off x="533400" y="3742372"/>
              <a:ext cx="4760595" cy="1651635"/>
            </a:xfrm>
            <a:prstGeom prst="roundRect">
              <a:avLst>
                <a:gd name="adj" fmla="val 8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875722"/>
              <a:ext cx="47625" cy="138493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3905" y="3934778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39343" y="396906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先把钱算清楚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72478" y="434816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28497" y="4291965"/>
              <a:ext cx="2940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全年保费收入 2500 × 12 =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30000 元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72478" y="465010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28497" y="4593908"/>
              <a:ext cx="36086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赔付支出 2000X 元，利润 = 30000 − 2000X</a:t>
              </a:r>
            </a:p>
          </p:txBody>
        </p:sp>
      </p:grpSp>
      <p:grpSp>
        <p:nvGrpSpPr>
          <p:cNvPr id="44" name="c2-table-1"/>
          <p:cNvGrpSpPr/>
          <p:nvPr/>
        </p:nvGrpSpPr>
        <p:grpSpPr>
          <a:xfrm>
            <a:off x="5593461" y="1524000"/>
            <a:ext cx="6065139" cy="2102739"/>
            <a:chOff x="5593461" y="1524000"/>
            <a:chExt cx="6065139" cy="2102739"/>
          </a:xfrm>
        </p:grpSpPr>
        <p:sp>
          <p:nvSpPr>
            <p:cNvPr id="24" name="Rectangle 24"/>
            <p:cNvSpPr/>
            <p:nvPr/>
          </p:nvSpPr>
          <p:spPr>
            <a:xfrm>
              <a:off x="5598795" y="1524000"/>
              <a:ext cx="6059805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5194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92549" y="1648301"/>
              <a:ext cx="11084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翻译成 X 的条件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41149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概率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98808" y="215407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亏本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84059" y="2054066"/>
              <a:ext cx="172542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30000 − 2000X &lt; 0，即 X ≥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230569" y="2154079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0.000069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598795" y="25307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598795" y="2535555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698808" y="2659856"/>
              <a:ext cx="930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获利 ≥ 10000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18023" y="2659856"/>
              <a:ext cx="4574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≤ 10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313495" y="265985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0.9863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598795" y="293655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698808" y="3065621"/>
              <a:ext cx="930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获利 ≥ 20000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61833" y="3065621"/>
              <a:ext cx="3698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≤ 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313495" y="306562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0.6160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598795" y="1524000"/>
              <a:ext cx="6059805" cy="18230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412355" y="1524000"/>
              <a:ext cx="9525" cy="18230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9472612" y="1524000"/>
              <a:ext cx="9525" cy="18230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593461" y="3421380"/>
              <a:ext cx="28164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概率按 λ = 5 的泊松分布累加，已用脚本复核</a:t>
              </a:r>
            </a:p>
          </p:txBody>
        </p:sp>
      </p:grpSp>
      <p:grpSp>
        <p:nvGrpSpPr>
          <p:cNvPr id="50" name="c2-callout-2"/>
          <p:cNvGrpSpPr/>
          <p:nvPr/>
        </p:nvGrpSpPr>
        <p:grpSpPr>
          <a:xfrm>
            <a:off x="5598795" y="3760470"/>
            <a:ext cx="6059805" cy="729615"/>
            <a:chOff x="5598795" y="3760470"/>
            <a:chExt cx="6059805" cy="729615"/>
          </a:xfrm>
        </p:grpSpPr>
        <p:sp>
          <p:nvSpPr>
            <p:cNvPr id="45" name="Rectangle 45"/>
            <p:cNvSpPr/>
            <p:nvPr/>
          </p:nvSpPr>
          <p:spPr>
            <a:xfrm>
              <a:off x="5598795" y="3760470"/>
              <a:ext cx="6059805" cy="729615"/>
            </a:xfrm>
            <a:prstGeom prst="roundRect">
              <a:avLst>
                <a:gd name="adj" fmla="val 15666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5803583" y="4025267"/>
              <a:ext cx="200023" cy="200023"/>
              <a:chOff x="5803583" y="4025267"/>
              <a:chExt cx="200023" cy="200023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5803583" y="402526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5936933" y="409194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6106287" y="3907155"/>
              <a:ext cx="495147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三问都只要把利润条件解成 X 的整数范围，再按 λ = 5 累加 P{X ≤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m} = Σ 5ᵏe^(−5)/k!。</a:t>
              </a:r>
            </a:p>
          </p:txBody>
        </p:sp>
      </p:grpSp>
      <p:grpSp>
        <p:nvGrpSpPr>
          <p:cNvPr id="56" name="c2-callout-3"/>
          <p:cNvGrpSpPr/>
          <p:nvPr/>
        </p:nvGrpSpPr>
        <p:grpSpPr>
          <a:xfrm>
            <a:off x="5598795" y="4665345"/>
            <a:ext cx="6059805" cy="729615"/>
            <a:chOff x="5598795" y="4665345"/>
            <a:chExt cx="6059805" cy="729615"/>
          </a:xfrm>
        </p:grpSpPr>
        <p:sp>
          <p:nvSpPr>
            <p:cNvPr id="51" name="Rectangle 51"/>
            <p:cNvSpPr/>
            <p:nvPr/>
          </p:nvSpPr>
          <p:spPr>
            <a:xfrm>
              <a:off x="5598795" y="4665345"/>
              <a:ext cx="6059805" cy="729615"/>
            </a:xfrm>
            <a:prstGeom prst="roundRect">
              <a:avLst>
                <a:gd name="adj" fmla="val 1566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5803583" y="4930140"/>
              <a:ext cx="200026" cy="200026"/>
              <a:chOff x="5803583" y="4930140"/>
              <a:chExt cx="200026" cy="200026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5803583" y="493014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5870258" y="500792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6106287" y="4811078"/>
              <a:ext cx="5062919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亏本概率不到万分之一，而有近 99% 的把握赚到一万元以上。保险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公司靠的就是大量同类保单把随机性摊平。</a:t>
              </a:r>
            </a:p>
          </p:txBody>
        </p:sp>
      </p:grpSp>
      <p:grpSp>
        <p:nvGrpSpPr>
          <p:cNvPr id="63" name="takeaway"/>
          <p:cNvGrpSpPr/>
          <p:nvPr/>
        </p:nvGrpSpPr>
        <p:grpSpPr>
          <a:xfrm>
            <a:off x="533400" y="5874068"/>
            <a:ext cx="11134649" cy="488632"/>
            <a:chOff x="533400" y="5874068"/>
            <a:chExt cx="11134649" cy="488632"/>
          </a:xfrm>
        </p:grpSpPr>
        <p:sp>
          <p:nvSpPr>
            <p:cNvPr id="57" name="Rectangle 57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892" y="6023610"/>
              <a:ext cx="106271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死亡人数的平均值是 λ = 5，对应赔付 10000 元，利润 20000 元。所以“获利不少于 20000”的概率只有六成，恰好落在平均值附近。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随机变量 · 离散型随机变量及其概率分布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五种常用离散分布放在一起看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911150" cy="293370"/>
            <a:chOff x="525780" y="1548765"/>
            <a:chExt cx="691115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9111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期望与方差在第 4 章证明，这里先列出来，做题时可以用来检查答案的量级。</a:t>
              </a:r>
            </a:p>
          </p:txBody>
        </p:sp>
      </p:grpSp>
      <p:grpSp>
        <p:nvGrpSpPr>
          <p:cNvPr id="58" name="c1-table-1"/>
          <p:cNvGrpSpPr/>
          <p:nvPr/>
        </p:nvGrpSpPr>
        <p:grpSpPr>
          <a:xfrm>
            <a:off x="533400" y="1954530"/>
            <a:ext cx="11125200" cy="2581275"/>
            <a:chOff x="533400" y="1954530"/>
            <a:chExt cx="11125200" cy="258127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11125200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44905" y="2085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分布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57488" y="2085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记号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13198" y="208597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分布律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71967" y="2085975"/>
              <a:ext cx="40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E(X)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562617" y="2085975"/>
              <a:ext cx="40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D(X)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272141" y="208597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典型场景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8746" y="251555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离散均匀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74607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53344" y="2515552"/>
              <a:ext cx="12165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P{X = xₖ} = 1/n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324687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15337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650349" y="251555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掷骰子、抽签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80987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2814638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8746" y="2946082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(0-1) 分布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874607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786122" y="2946082"/>
              <a:ext cx="9509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P{X = 1} = p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24687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44751" y="2946082"/>
              <a:ext cx="6422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p(1 − p)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650349" y="294608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一次成败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24040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8746" y="337661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二项分布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622766" y="3376612"/>
              <a:ext cx="6047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B(n, p)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68342" y="3376612"/>
              <a:ext cx="13865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Cₙᵏ pᵏ (1 − p)ⁿ⁻ᵏ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280262" y="337661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np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400326" y="3376612"/>
              <a:ext cx="7310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np(1 − p)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650349" y="3376612"/>
              <a:ext cx="1118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次里成功几次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366998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33400" y="3674745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8746" y="380619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几何分布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736304" y="3806190"/>
              <a:ext cx="3776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G(p)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782998" y="3806190"/>
              <a:ext cx="9572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(1 − p)ᵏ⁻¹ p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235838" y="380619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1/p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55902" y="380619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(1 − p)/p²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650349" y="380619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第一次成功要几次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41005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8746" y="423672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泊松分布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736304" y="4236720"/>
              <a:ext cx="3776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P(λ)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714342" y="4236720"/>
              <a:ext cx="10945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λᵏ e^(−λ) / k!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24687" y="423672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715337" y="423672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650349" y="423672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稀有事件计数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1954530"/>
              <a:ext cx="11125200" cy="25812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2085975" y="195453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3754755" y="195453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758940" y="195453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7982902" y="195453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9540240" y="195453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9" name="c1-compare-2"/>
          <p:cNvGrpSpPr/>
          <p:nvPr/>
        </p:nvGrpSpPr>
        <p:grpSpPr>
          <a:xfrm>
            <a:off x="533400" y="4720590"/>
            <a:ext cx="11125200" cy="1642110"/>
            <a:chOff x="533400" y="4720590"/>
            <a:chExt cx="11125200" cy="1642110"/>
          </a:xfrm>
        </p:grpSpPr>
        <p:sp>
          <p:nvSpPr>
            <p:cNvPr id="59" name="Rectangle 59"/>
            <p:cNvSpPr/>
            <p:nvPr/>
          </p:nvSpPr>
          <p:spPr>
            <a:xfrm>
              <a:off x="533400" y="4720590"/>
              <a:ext cx="5248275" cy="1642110"/>
            </a:xfrm>
            <a:prstGeom prst="roundRect">
              <a:avLst>
                <a:gd name="adj" fmla="val 81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542925" y="4853940"/>
              <a:ext cx="47625" cy="137541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68096" y="4947761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看题目问的是什么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782955" y="534638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39546" y="5286851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次数固定问成功几次：二项分布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782955" y="566642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939546" y="5606891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成功一次问做了几次：几何分布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782955" y="598646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39546" y="5926931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一段时间里数几件事：泊松分布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410325" y="4720590"/>
              <a:ext cx="5248275" cy="1642110"/>
            </a:xfrm>
            <a:prstGeom prst="roundRect">
              <a:avLst>
                <a:gd name="adj" fmla="val 81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419850" y="4853940"/>
              <a:ext cx="47625" cy="137541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645021" y="494776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三条常被忽略的前提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6659880" y="534638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816471" y="5286851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二项要求各次独立且概率不变，不放回抽样不满足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6659880" y="566642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816471" y="5606891"/>
              <a:ext cx="37038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几何的取值从 1 开始，写成 0 开头就错位了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6659880" y="598646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816471" y="5926931"/>
              <a:ext cx="39141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泊松近似要求 p 小 n 大，p 接近 0.5 时不能用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5829300" y="5274945"/>
              <a:ext cx="533400" cy="5334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5878640" y="547592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怎么选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336792" cy="2997517"/>
            <a:chOff x="667512" y="1835468"/>
            <a:chExt cx="6336792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33679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连续型随机变量及其概率密度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取值填满一整段区间时，概率要用面积来表示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概率密度的定义与五条性质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59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由密度求 F、由 F 求密度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四道待定系数的例题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随机变量 · 连续型随机变量及其概率密度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概率密度：用一条曲线下的面积表示概率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626418" cy="2818448"/>
            <a:chOff x="533400" y="1524000"/>
            <a:chExt cx="5626418" cy="281844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818448"/>
            </a:xfrm>
            <a:prstGeom prst="roundRect">
              <a:avLst>
                <a:gd name="adj" fmla="val 473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55174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连续型随机变量与概率密度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91070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设随机变量 X 的分布函数为 F(x)。如果存在非负函数 f(x)，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使对任意实数 x 都有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44"/>
                <p:cNvSpPr txBox="1">
                  <a:spLocks noGrp="1"/>
                </p:cNvSpPr>
                <p:nvPr/>
              </p:nvSpPr>
              <p:spPr>
                <a:xfrm>
                  <a:off x="775335" y="2687002"/>
                  <a:ext cx="5180648" cy="5600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−∞</m:t>
                            </m:r>
                          </m:sub>
                          <m:sup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sup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</m:d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68096" y="3363754"/>
              <a:ext cx="482053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就称 X 为连续型随机变量，f(x) 称为 X 的概率密度，记作 X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~ f(x)。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9239" y="3950970"/>
              <a:ext cx="5020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连续型随机变量的分布函数处处连续，这是它与离散型最根本的区别。</a:t>
              </a:r>
            </a:p>
          </p:txBody>
        </p:sp>
      </p:grpSp>
      <p:grpSp>
        <p:nvGrpSpPr>
          <p:cNvPr id="19" name="c1-image-2"/>
          <p:cNvGrpSpPr/>
          <p:nvPr/>
        </p:nvGrpSpPr>
        <p:grpSpPr>
          <a:xfrm>
            <a:off x="2059788" y="4528185"/>
            <a:ext cx="2574595" cy="1170147"/>
            <a:chOff x="2059788" y="4528185"/>
            <a:chExt cx="2574595" cy="1170147"/>
          </a:xfrm>
        </p:grpSpPr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2"/>
            <a:srcRect l="14" t="0" r="14" b="0"/>
            <a:stretch>
              <a:fillRect/>
            </a:stretch>
          </p:blipFill>
          <p:spPr>
            <a:xfrm>
              <a:off x="2776538" y="4528185"/>
              <a:ext cx="1140142" cy="855345"/>
            </a:xfrm>
            <a:prstGeom prst="roundRect">
              <a:avLst>
                <a:gd name="adj" fmla="val 15590"/>
              </a:avLst>
            </a:prstGeom>
          </p:spPr>
        </p:pic>
        <p:sp>
          <p:nvSpPr>
            <p:cNvPr id="18" name="TextBox 18"/>
            <p:cNvSpPr txBox="1"/>
            <p:nvPr/>
          </p:nvSpPr>
          <p:spPr>
            <a:xfrm>
              <a:off x="2059788" y="5478304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左边一颗一颗可以数，右边只能量体积</a:t>
              </a:r>
            </a:p>
          </p:txBody>
        </p:sp>
      </p:grpSp>
      <p:grpSp>
        <p:nvGrpSpPr>
          <p:cNvPr id="49" name="c2-card-1"/>
          <p:cNvGrpSpPr/>
          <p:nvPr/>
        </p:nvGrpSpPr>
        <p:grpSpPr>
          <a:xfrm>
            <a:off x="6464618" y="1524000"/>
            <a:ext cx="5193982" cy="2945130"/>
            <a:chOff x="6464618" y="1524000"/>
            <a:chExt cx="5193982" cy="2945130"/>
          </a:xfrm>
        </p:grpSpPr>
        <p:sp>
          <p:nvSpPr>
            <p:cNvPr id="20" name="Rectangle 20"/>
            <p:cNvSpPr/>
            <p:nvPr/>
          </p:nvSpPr>
          <p:spPr>
            <a:xfrm>
              <a:off x="6464618" y="1524000"/>
              <a:ext cx="5193982" cy="2945130"/>
            </a:xfrm>
            <a:prstGeom prst="roundRect">
              <a:avLst>
                <a:gd name="adj" fmla="val 452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474142" y="1657350"/>
              <a:ext cx="47625" cy="267843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706552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9771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对照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07961" y="1767364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离散型与连续型的四点不同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706552" y="2095500"/>
              <a:ext cx="4748212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251382" y="22269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89848" y="22269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离散型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351960" y="22269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连续型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11899" y="265747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描述工具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36839" y="2657475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分布律 pₖ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50374" y="2657475"/>
              <a:ext cx="10622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概率密度 f(x)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706552" y="2951798"/>
              <a:ext cx="474821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706552" y="2956560"/>
              <a:ext cx="474821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811899" y="3087052"/>
              <a:ext cx="3260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F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36839" y="3087052"/>
              <a:ext cx="7714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pₖ 累加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850374" y="3087052"/>
              <a:ext cx="12560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f 从 −∞ 积到 x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706552" y="3381375"/>
              <a:ext cx="474821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11899" y="3517582"/>
              <a:ext cx="6986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P{X = a}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36839" y="3517582"/>
              <a:ext cx="5614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等于 pₖ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850374" y="3517582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恒等于 0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706552" y="3811905"/>
              <a:ext cx="474821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706552" y="3816668"/>
              <a:ext cx="474821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11899" y="3948112"/>
              <a:ext cx="6491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的样子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36839" y="394811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阶梯形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850374" y="394811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处处连续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706552" y="2095500"/>
              <a:ext cx="4748212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8126730" y="209550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9740265" y="209550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c2-callout-2"/>
          <p:cNvGrpSpPr/>
          <p:nvPr/>
        </p:nvGrpSpPr>
        <p:grpSpPr>
          <a:xfrm>
            <a:off x="6464618" y="4653915"/>
            <a:ext cx="5193982" cy="982028"/>
            <a:chOff x="6464618" y="4653915"/>
            <a:chExt cx="5193982" cy="982028"/>
          </a:xfrm>
        </p:grpSpPr>
        <p:sp>
          <p:nvSpPr>
            <p:cNvPr id="50" name="Rectangle 50"/>
            <p:cNvSpPr/>
            <p:nvPr/>
          </p:nvSpPr>
          <p:spPr>
            <a:xfrm>
              <a:off x="6464618" y="4653915"/>
              <a:ext cx="5193982" cy="982028"/>
            </a:xfrm>
            <a:prstGeom prst="roundRect">
              <a:avLst>
                <a:gd name="adj" fmla="val 1163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6657347" y="5041701"/>
              <a:ext cx="224134" cy="192560"/>
              <a:chOff x="6657347" y="5041701"/>
              <a:chExt cx="224134" cy="19256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6769418" y="511206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657347" y="504170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769418" y="518985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6971729" y="4914424"/>
              <a:ext cx="425246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f(x) 不是概率，它的值可以大于 1。只有 f 在一段区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间上的积分才是概率。</a:t>
              </a:r>
            </a:p>
          </p:txBody>
        </p:sp>
      </p:grpSp>
      <p:grpSp>
        <p:nvGrpSpPr>
          <p:cNvPr id="62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7" name="Rectangle 57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0511" y="6004084"/>
              <a:ext cx="95724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离散型把概率一粒一粒堆在若干个点上，连续型把同样多的概率抹开摊在整条实轴上，任何一点上都只剩下密度。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随机变量 · 连续型随机变量及其概率密度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密度、面积与分布函数：三者是同一件事的三种看法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pdfA"/>
          <p:cNvGrpSpPr/>
          <p:nvPr/>
        </p:nvGrpSpPr>
        <p:grpSpPr>
          <a:xfrm>
            <a:off x="533400" y="1524000"/>
            <a:ext cx="5524500" cy="4762500"/>
            <a:chOff x="533400" y="1524000"/>
            <a:chExt cx="5524500" cy="4762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524500" cy="4762500"/>
            </a:xfrm>
            <a:prstGeom prst="roundRect">
              <a:avLst>
                <a:gd name="adj" fmla="val 24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7232" y="1658541"/>
              <a:ext cx="2129561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1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密度曲线下的面积就是概率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18376" y="1930479"/>
              <a:ext cx="3312605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f(x) 本身不是概率，一段区间上的积分才是概率。</a:t>
              </a:r>
            </a:p>
          </p:txBody>
        </p:sp>
        <p:sp>
          <p:nvSpPr>
            <p:cNvPr id="10" name="Polygon 10"/>
            <p:cNvSpPr/>
            <p:nvPr/>
          </p:nvSpPr>
          <p:spPr>
            <a:xfrm>
              <a:off x="2041989" y="2716711"/>
              <a:ext cx="601475" cy="1569539"/>
            </a:xfrm>
            <a:custGeom>
              <a:avLst/>
              <a:gdLst/>
              <a:ahLst/>
              <a:cxnLst/>
              <a:rect l="l" t="t" r="r" b="b"/>
              <a:pathLst>
                <a:path w="601475" h="1569539">
                  <a:moveTo>
                    <a:pt x="0" y="1569539"/>
                  </a:moveTo>
                  <a:lnTo>
                    <a:pt x="14773" y="153276"/>
                  </a:lnTo>
                  <a:lnTo>
                    <a:pt x="32718" y="118748"/>
                  </a:lnTo>
                  <a:lnTo>
                    <a:pt x="50654" y="88154"/>
                  </a:lnTo>
                  <a:lnTo>
                    <a:pt x="68590" y="61760"/>
                  </a:lnTo>
                  <a:lnTo>
                    <a:pt x="86535" y="39815"/>
                  </a:lnTo>
                  <a:lnTo>
                    <a:pt x="104470" y="22517"/>
                  </a:lnTo>
                  <a:lnTo>
                    <a:pt x="122406" y="10049"/>
                  </a:lnTo>
                  <a:lnTo>
                    <a:pt x="140351" y="2524"/>
                  </a:lnTo>
                  <a:lnTo>
                    <a:pt x="158286" y="0"/>
                  </a:lnTo>
                  <a:lnTo>
                    <a:pt x="176222" y="2524"/>
                  </a:lnTo>
                  <a:lnTo>
                    <a:pt x="194167" y="10049"/>
                  </a:lnTo>
                  <a:lnTo>
                    <a:pt x="212103" y="22517"/>
                  </a:lnTo>
                  <a:lnTo>
                    <a:pt x="230038" y="39815"/>
                  </a:lnTo>
                  <a:lnTo>
                    <a:pt x="247983" y="61760"/>
                  </a:lnTo>
                  <a:lnTo>
                    <a:pt x="265919" y="88154"/>
                  </a:lnTo>
                  <a:lnTo>
                    <a:pt x="283855" y="118748"/>
                  </a:lnTo>
                  <a:lnTo>
                    <a:pt x="301800" y="153276"/>
                  </a:lnTo>
                  <a:lnTo>
                    <a:pt x="319735" y="191405"/>
                  </a:lnTo>
                  <a:lnTo>
                    <a:pt x="337671" y="232810"/>
                  </a:lnTo>
                  <a:lnTo>
                    <a:pt x="355616" y="277130"/>
                  </a:lnTo>
                  <a:lnTo>
                    <a:pt x="373551" y="323983"/>
                  </a:lnTo>
                  <a:lnTo>
                    <a:pt x="391487" y="372989"/>
                  </a:lnTo>
                  <a:lnTo>
                    <a:pt x="409432" y="423758"/>
                  </a:lnTo>
                  <a:lnTo>
                    <a:pt x="427368" y="475879"/>
                  </a:lnTo>
                  <a:lnTo>
                    <a:pt x="445303" y="528980"/>
                  </a:lnTo>
                  <a:lnTo>
                    <a:pt x="463248" y="582682"/>
                  </a:lnTo>
                  <a:lnTo>
                    <a:pt x="481184" y="636603"/>
                  </a:lnTo>
                  <a:lnTo>
                    <a:pt x="499120" y="690410"/>
                  </a:lnTo>
                  <a:lnTo>
                    <a:pt x="517065" y="743769"/>
                  </a:lnTo>
                  <a:lnTo>
                    <a:pt x="535000" y="796376"/>
                  </a:lnTo>
                  <a:lnTo>
                    <a:pt x="552936" y="847954"/>
                  </a:lnTo>
                  <a:lnTo>
                    <a:pt x="570881" y="898255"/>
                  </a:lnTo>
                  <a:lnTo>
                    <a:pt x="588816" y="947042"/>
                  </a:lnTo>
                  <a:lnTo>
                    <a:pt x="601475" y="1569539"/>
                  </a:lnTo>
                  <a:close/>
                </a:path>
              </a:pathLst>
            </a:custGeom>
            <a:solidFill>
              <a:srgbClr val="A9BBE4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123950" y="2716711"/>
              <a:ext cx="2152650" cy="1564691"/>
            </a:xfrm>
            <a:custGeom>
              <a:avLst/>
              <a:gdLst/>
              <a:ahLst/>
              <a:cxnLst/>
              <a:rect l="l" t="t" r="r" b="b"/>
              <a:pathLst>
                <a:path w="2152650" h="1564691">
                  <a:moveTo>
                    <a:pt x="0" y="1564691"/>
                  </a:moveTo>
                  <a:lnTo>
                    <a:pt x="17936" y="1563672"/>
                  </a:lnTo>
                  <a:lnTo>
                    <a:pt x="35881" y="1562462"/>
                  </a:lnTo>
                  <a:lnTo>
                    <a:pt x="53816" y="1561024"/>
                  </a:lnTo>
                  <a:lnTo>
                    <a:pt x="71752" y="1559328"/>
                  </a:lnTo>
                  <a:lnTo>
                    <a:pt x="89697" y="1557338"/>
                  </a:lnTo>
                  <a:lnTo>
                    <a:pt x="107633" y="1555004"/>
                  </a:lnTo>
                  <a:lnTo>
                    <a:pt x="125568" y="1552280"/>
                  </a:lnTo>
                  <a:lnTo>
                    <a:pt x="143513" y="1549108"/>
                  </a:lnTo>
                  <a:lnTo>
                    <a:pt x="161449" y="1545431"/>
                  </a:lnTo>
                  <a:lnTo>
                    <a:pt x="179384" y="1541193"/>
                  </a:lnTo>
                  <a:lnTo>
                    <a:pt x="197329" y="1536306"/>
                  </a:lnTo>
                  <a:lnTo>
                    <a:pt x="215265" y="1530706"/>
                  </a:lnTo>
                  <a:lnTo>
                    <a:pt x="233201" y="1524305"/>
                  </a:lnTo>
                  <a:lnTo>
                    <a:pt x="251146" y="1517018"/>
                  </a:lnTo>
                  <a:lnTo>
                    <a:pt x="269081" y="1508760"/>
                  </a:lnTo>
                  <a:lnTo>
                    <a:pt x="287017" y="1499426"/>
                  </a:lnTo>
                  <a:lnTo>
                    <a:pt x="304962" y="1488910"/>
                  </a:lnTo>
                  <a:lnTo>
                    <a:pt x="322898" y="1477118"/>
                  </a:lnTo>
                  <a:lnTo>
                    <a:pt x="340833" y="1463945"/>
                  </a:lnTo>
                  <a:lnTo>
                    <a:pt x="358778" y="1449276"/>
                  </a:lnTo>
                  <a:lnTo>
                    <a:pt x="376714" y="1433017"/>
                  </a:lnTo>
                  <a:lnTo>
                    <a:pt x="394649" y="1415053"/>
                  </a:lnTo>
                  <a:lnTo>
                    <a:pt x="412594" y="1395279"/>
                  </a:lnTo>
                  <a:lnTo>
                    <a:pt x="430530" y="1373610"/>
                  </a:lnTo>
                  <a:lnTo>
                    <a:pt x="448466" y="1349959"/>
                  </a:lnTo>
                  <a:lnTo>
                    <a:pt x="466411" y="1324232"/>
                  </a:lnTo>
                  <a:lnTo>
                    <a:pt x="484346" y="1296372"/>
                  </a:lnTo>
                  <a:lnTo>
                    <a:pt x="502282" y="1266320"/>
                  </a:lnTo>
                  <a:lnTo>
                    <a:pt x="520227" y="1234049"/>
                  </a:lnTo>
                  <a:lnTo>
                    <a:pt x="538162" y="1199531"/>
                  </a:lnTo>
                  <a:lnTo>
                    <a:pt x="556098" y="1162764"/>
                  </a:lnTo>
                  <a:lnTo>
                    <a:pt x="574043" y="1123779"/>
                  </a:lnTo>
                  <a:lnTo>
                    <a:pt x="591979" y="1082631"/>
                  </a:lnTo>
                  <a:lnTo>
                    <a:pt x="609914" y="1039378"/>
                  </a:lnTo>
                  <a:lnTo>
                    <a:pt x="627859" y="994143"/>
                  </a:lnTo>
                  <a:lnTo>
                    <a:pt x="645795" y="947042"/>
                  </a:lnTo>
                  <a:lnTo>
                    <a:pt x="663731" y="898255"/>
                  </a:lnTo>
                  <a:lnTo>
                    <a:pt x="681676" y="847954"/>
                  </a:lnTo>
                  <a:lnTo>
                    <a:pt x="699611" y="796376"/>
                  </a:lnTo>
                  <a:lnTo>
                    <a:pt x="717547" y="743769"/>
                  </a:lnTo>
                  <a:lnTo>
                    <a:pt x="735492" y="690410"/>
                  </a:lnTo>
                  <a:lnTo>
                    <a:pt x="753428" y="636603"/>
                  </a:lnTo>
                  <a:lnTo>
                    <a:pt x="771363" y="582682"/>
                  </a:lnTo>
                  <a:lnTo>
                    <a:pt x="789308" y="528980"/>
                  </a:lnTo>
                  <a:lnTo>
                    <a:pt x="807244" y="475879"/>
                  </a:lnTo>
                  <a:lnTo>
                    <a:pt x="825179" y="423758"/>
                  </a:lnTo>
                  <a:lnTo>
                    <a:pt x="843124" y="372989"/>
                  </a:lnTo>
                  <a:lnTo>
                    <a:pt x="861060" y="323983"/>
                  </a:lnTo>
                  <a:lnTo>
                    <a:pt x="878996" y="277130"/>
                  </a:lnTo>
                  <a:lnTo>
                    <a:pt x="896941" y="232810"/>
                  </a:lnTo>
                  <a:lnTo>
                    <a:pt x="914876" y="191405"/>
                  </a:lnTo>
                  <a:lnTo>
                    <a:pt x="932812" y="153276"/>
                  </a:lnTo>
                  <a:lnTo>
                    <a:pt x="950757" y="118748"/>
                  </a:lnTo>
                  <a:lnTo>
                    <a:pt x="968692" y="88154"/>
                  </a:lnTo>
                  <a:lnTo>
                    <a:pt x="986628" y="61760"/>
                  </a:lnTo>
                  <a:lnTo>
                    <a:pt x="1004573" y="39815"/>
                  </a:lnTo>
                  <a:lnTo>
                    <a:pt x="1022509" y="22517"/>
                  </a:lnTo>
                  <a:lnTo>
                    <a:pt x="1040444" y="10049"/>
                  </a:lnTo>
                  <a:lnTo>
                    <a:pt x="1058389" y="2524"/>
                  </a:lnTo>
                  <a:lnTo>
                    <a:pt x="1076325" y="0"/>
                  </a:lnTo>
                  <a:lnTo>
                    <a:pt x="1094261" y="2524"/>
                  </a:lnTo>
                  <a:lnTo>
                    <a:pt x="1112206" y="10049"/>
                  </a:lnTo>
                  <a:lnTo>
                    <a:pt x="1130141" y="22517"/>
                  </a:lnTo>
                  <a:lnTo>
                    <a:pt x="1148077" y="39815"/>
                  </a:lnTo>
                  <a:lnTo>
                    <a:pt x="1166022" y="61760"/>
                  </a:lnTo>
                  <a:lnTo>
                    <a:pt x="1183958" y="88154"/>
                  </a:lnTo>
                  <a:lnTo>
                    <a:pt x="1201893" y="118748"/>
                  </a:lnTo>
                  <a:lnTo>
                    <a:pt x="1219838" y="153276"/>
                  </a:lnTo>
                  <a:lnTo>
                    <a:pt x="1237774" y="191405"/>
                  </a:lnTo>
                  <a:lnTo>
                    <a:pt x="1255709" y="232810"/>
                  </a:lnTo>
                  <a:lnTo>
                    <a:pt x="1273654" y="277130"/>
                  </a:lnTo>
                  <a:lnTo>
                    <a:pt x="1291590" y="323983"/>
                  </a:lnTo>
                  <a:lnTo>
                    <a:pt x="1309526" y="372989"/>
                  </a:lnTo>
                  <a:lnTo>
                    <a:pt x="1327471" y="423758"/>
                  </a:lnTo>
                  <a:lnTo>
                    <a:pt x="1345406" y="475879"/>
                  </a:lnTo>
                  <a:lnTo>
                    <a:pt x="1363342" y="528980"/>
                  </a:lnTo>
                  <a:lnTo>
                    <a:pt x="1381287" y="582682"/>
                  </a:lnTo>
                  <a:lnTo>
                    <a:pt x="1399222" y="636603"/>
                  </a:lnTo>
                  <a:lnTo>
                    <a:pt x="1417158" y="690410"/>
                  </a:lnTo>
                  <a:lnTo>
                    <a:pt x="1435103" y="743769"/>
                  </a:lnTo>
                  <a:lnTo>
                    <a:pt x="1453039" y="796376"/>
                  </a:lnTo>
                  <a:lnTo>
                    <a:pt x="1470974" y="847954"/>
                  </a:lnTo>
                  <a:lnTo>
                    <a:pt x="1488919" y="898255"/>
                  </a:lnTo>
                  <a:lnTo>
                    <a:pt x="1506855" y="947042"/>
                  </a:lnTo>
                  <a:lnTo>
                    <a:pt x="1524791" y="994143"/>
                  </a:lnTo>
                  <a:lnTo>
                    <a:pt x="1542736" y="1039378"/>
                  </a:lnTo>
                  <a:lnTo>
                    <a:pt x="1560671" y="1082631"/>
                  </a:lnTo>
                  <a:lnTo>
                    <a:pt x="1578607" y="1123779"/>
                  </a:lnTo>
                  <a:lnTo>
                    <a:pt x="1596552" y="1162764"/>
                  </a:lnTo>
                  <a:lnTo>
                    <a:pt x="1614488" y="1199531"/>
                  </a:lnTo>
                  <a:lnTo>
                    <a:pt x="1632423" y="1234049"/>
                  </a:lnTo>
                  <a:lnTo>
                    <a:pt x="1650368" y="1266320"/>
                  </a:lnTo>
                  <a:lnTo>
                    <a:pt x="1668304" y="1296372"/>
                  </a:lnTo>
                  <a:lnTo>
                    <a:pt x="1686239" y="1324232"/>
                  </a:lnTo>
                  <a:lnTo>
                    <a:pt x="1704184" y="1349959"/>
                  </a:lnTo>
                  <a:lnTo>
                    <a:pt x="1722120" y="1373610"/>
                  </a:lnTo>
                  <a:lnTo>
                    <a:pt x="1740056" y="1395279"/>
                  </a:lnTo>
                  <a:lnTo>
                    <a:pt x="1758001" y="1415053"/>
                  </a:lnTo>
                  <a:lnTo>
                    <a:pt x="1775936" y="1433017"/>
                  </a:lnTo>
                  <a:lnTo>
                    <a:pt x="1793872" y="1449276"/>
                  </a:lnTo>
                  <a:lnTo>
                    <a:pt x="1811817" y="1463945"/>
                  </a:lnTo>
                  <a:lnTo>
                    <a:pt x="1829753" y="1477118"/>
                  </a:lnTo>
                  <a:lnTo>
                    <a:pt x="1847688" y="1488910"/>
                  </a:lnTo>
                  <a:lnTo>
                    <a:pt x="1865633" y="1499426"/>
                  </a:lnTo>
                  <a:lnTo>
                    <a:pt x="1883569" y="1508760"/>
                  </a:lnTo>
                  <a:lnTo>
                    <a:pt x="1901504" y="1517018"/>
                  </a:lnTo>
                  <a:lnTo>
                    <a:pt x="1919449" y="1524305"/>
                  </a:lnTo>
                  <a:lnTo>
                    <a:pt x="1937385" y="1530706"/>
                  </a:lnTo>
                  <a:lnTo>
                    <a:pt x="1955321" y="1536306"/>
                  </a:lnTo>
                  <a:lnTo>
                    <a:pt x="1973266" y="1541193"/>
                  </a:lnTo>
                  <a:lnTo>
                    <a:pt x="1991201" y="1545431"/>
                  </a:lnTo>
                  <a:lnTo>
                    <a:pt x="2009137" y="1549108"/>
                  </a:lnTo>
                  <a:lnTo>
                    <a:pt x="2027082" y="1552280"/>
                  </a:lnTo>
                  <a:lnTo>
                    <a:pt x="2045018" y="1555004"/>
                  </a:lnTo>
                  <a:lnTo>
                    <a:pt x="2062953" y="1557338"/>
                  </a:lnTo>
                  <a:lnTo>
                    <a:pt x="2080898" y="1559328"/>
                  </a:lnTo>
                  <a:lnTo>
                    <a:pt x="2098834" y="1561024"/>
                  </a:lnTo>
                  <a:lnTo>
                    <a:pt x="2116769" y="1562462"/>
                  </a:lnTo>
                  <a:lnTo>
                    <a:pt x="2134714" y="1563672"/>
                  </a:lnTo>
                  <a:lnTo>
                    <a:pt x="2152650" y="1564691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066800" y="4286250"/>
              <a:ext cx="2295525" cy="9525"/>
            </a:xfrm>
            <a:custGeom>
              <a:avLst/>
              <a:gdLst/>
              <a:ahLst/>
              <a:cxnLst/>
              <a:rect l="l" t="t" r="r" b="b"/>
              <a:pathLst>
                <a:path w="2295525" h="9525">
                  <a:moveTo>
                    <a:pt x="0" y="0"/>
                  </a:moveTo>
                  <a:lnTo>
                    <a:pt x="2295525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3362325" y="4256246"/>
              <a:ext cx="66675" cy="60007"/>
            </a:xfrm>
            <a:custGeom>
              <a:avLst/>
              <a:gdLst/>
              <a:ahLst/>
              <a:cxnLst/>
              <a:rect l="l" t="t" r="r" b="b"/>
              <a:pathLst>
                <a:path w="66675" h="60007">
                  <a:moveTo>
                    <a:pt x="66675" y="30004"/>
                  </a:moveTo>
                  <a:lnTo>
                    <a:pt x="0" y="60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14" name="Line 14"/>
            <p:cNvSpPr/>
            <p:nvPr/>
          </p:nvSpPr>
          <p:spPr>
            <a:xfrm>
              <a:off x="1123950" y="2409825"/>
              <a:ext cx="9525" cy="1933575"/>
            </a:xfrm>
            <a:custGeom>
              <a:avLst/>
              <a:gdLst/>
              <a:ahLst/>
              <a:cxnLst/>
              <a:rect l="l" t="t" r="r" b="b"/>
              <a:pathLst>
                <a:path w="9525" h="1933575">
                  <a:moveTo>
                    <a:pt x="0" y="193357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1093946" y="2343150"/>
              <a:ext cx="60008" cy="66675"/>
            </a:xfrm>
            <a:custGeom>
              <a:avLst/>
              <a:gdLst/>
              <a:ahLst/>
              <a:cxnLst/>
              <a:rect l="l" t="t" r="r" b="b"/>
              <a:pathLst>
                <a:path w="60008" h="66675">
                  <a:moveTo>
                    <a:pt x="30004" y="0"/>
                  </a:moveTo>
                  <a:lnTo>
                    <a:pt x="60008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461766" y="43253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0494" y="217265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71474" y="4342924"/>
              <a:ext cx="1144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2041989" y="2901144"/>
              <a:ext cx="9525" cy="1385106"/>
            </a:xfrm>
            <a:custGeom>
              <a:avLst/>
              <a:gdLst/>
              <a:ahLst/>
              <a:cxnLst/>
              <a:rect l="l" t="t" r="r" b="b"/>
              <a:pathLst>
                <a:path w="9525" h="1385106">
                  <a:moveTo>
                    <a:pt x="0" y="1385106"/>
                  </a:moveTo>
                  <a:lnTo>
                    <a:pt x="0" y="0"/>
                  </a:lnTo>
                </a:path>
              </a:pathLst>
            </a:custGeom>
            <a:noFill/>
            <a:ln w="12382">
              <a:solidFill>
                <a:srgbClr val="6B7A99"/>
              </a:solidFill>
              <a:custDash>
                <a:ds d="384615" sp="307692"/>
              </a:custDash>
            </a:ln>
          </p:spPr>
        </p:sp>
        <p:sp>
          <p:nvSpPr>
            <p:cNvPr id="20" name="Line 20"/>
            <p:cNvSpPr/>
            <p:nvPr/>
          </p:nvSpPr>
          <p:spPr>
            <a:xfrm>
              <a:off x="2643464" y="3697186"/>
              <a:ext cx="9525" cy="589064"/>
            </a:xfrm>
            <a:custGeom>
              <a:avLst/>
              <a:gdLst/>
              <a:ahLst/>
              <a:cxnLst/>
              <a:rect l="l" t="t" r="r" b="b"/>
              <a:pathLst>
                <a:path w="9525" h="589064">
                  <a:moveTo>
                    <a:pt x="0" y="589064"/>
                  </a:moveTo>
                  <a:lnTo>
                    <a:pt x="0" y="0"/>
                  </a:lnTo>
                </a:path>
              </a:pathLst>
            </a:custGeom>
            <a:noFill/>
            <a:ln w="12382">
              <a:solidFill>
                <a:srgbClr val="6B7A99"/>
              </a:solidFill>
              <a:custDash>
                <a:ds d="384615" sp="307692"/>
              </a:custDash>
            </a:ln>
          </p:spPr>
        </p:sp>
        <p:sp>
          <p:nvSpPr>
            <p:cNvPr id="21" name="Line 21"/>
            <p:cNvSpPr/>
            <p:nvPr/>
          </p:nvSpPr>
          <p:spPr>
            <a:xfrm>
              <a:off x="2041989" y="42862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000755" y="43619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2643464" y="42862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602231" y="43619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894233" y="3661448"/>
              <a:ext cx="8653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6346E"/>
                  </a:solidFill>
                  <a:latin typeface="+mn-lt"/>
                  <a:ea typeface="+mn-ea"/>
                  <a:cs typeface="+mn-cs"/>
                </a:rPr>
                <a:t>P{a &lt; X ≤ b}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728085" y="2621756"/>
              <a:ext cx="1576070" cy="15344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两条基本性质：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 ≥ 0，曲线不落到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轴下方；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曲线与 x 轴之间的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总面积等于 1。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区间概率就是这块面积，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端点算不算都一样。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23900" y="4876800"/>
              <a:ext cx="5143500" cy="1219200"/>
            </a:xfrm>
            <a:prstGeom prst="roundRect">
              <a:avLst>
                <a:gd name="adj" fmla="val 78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33425" y="4981575"/>
              <a:ext cx="47625" cy="10096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895350" y="4981575"/>
              <a:ext cx="762000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88314" y="503491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常见误解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89826" y="5292804"/>
              <a:ext cx="4606925" cy="6127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 可以大于 1。把上图的横轴压缩到 (0, 0.1)，密度峰值就会超过 10，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它是“单位长度上的概率”，不是概率本身。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真正受 1 约束的是面积，不是高度。</a:t>
              </a:r>
            </a:p>
          </p:txBody>
        </p:sp>
      </p:grpSp>
      <p:grpSp>
        <p:nvGrpSpPr>
          <p:cNvPr id="71" name="pdfB"/>
          <p:cNvGrpSpPr/>
          <p:nvPr/>
        </p:nvGrpSpPr>
        <p:grpSpPr>
          <a:xfrm>
            <a:off x="6134100" y="1524000"/>
            <a:ext cx="5524500" cy="4762500"/>
            <a:chOff x="6134100" y="1524000"/>
            <a:chExt cx="5524500" cy="4762500"/>
          </a:xfrm>
        </p:grpSpPr>
        <p:sp>
          <p:nvSpPr>
            <p:cNvPr id="33" name="Rectangle 33"/>
            <p:cNvSpPr/>
            <p:nvPr/>
          </p:nvSpPr>
          <p:spPr>
            <a:xfrm>
              <a:off x="6134100" y="1524000"/>
              <a:ext cx="5524500" cy="4762500"/>
            </a:xfrm>
            <a:prstGeom prst="roundRect">
              <a:avLst>
                <a:gd name="adj" fmla="val 24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17932" y="1658541"/>
              <a:ext cx="2714851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1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F 是 f 的累积面积，f 是 F 的斜率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19076" y="1930479"/>
              <a:ext cx="4137370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把左边的阴影从 −∞ 一直扫到 x，扫过的面积画出来就是 F(x)。</a:t>
              </a:r>
            </a:p>
          </p:txBody>
        </p:sp>
        <p:sp>
          <p:nvSpPr>
            <p:cNvPr id="36" name="Polygon 36"/>
            <p:cNvSpPr/>
            <p:nvPr/>
          </p:nvSpPr>
          <p:spPr>
            <a:xfrm>
              <a:off x="6724650" y="2587590"/>
              <a:ext cx="1235450" cy="974760"/>
            </a:xfrm>
            <a:custGeom>
              <a:avLst/>
              <a:gdLst/>
              <a:ahLst/>
              <a:cxnLst/>
              <a:rect l="l" t="t" r="r" b="b"/>
              <a:pathLst>
                <a:path w="1235450" h="974760">
                  <a:moveTo>
                    <a:pt x="0" y="974760"/>
                  </a:moveTo>
                  <a:lnTo>
                    <a:pt x="0" y="971750"/>
                  </a:lnTo>
                  <a:lnTo>
                    <a:pt x="16669" y="971112"/>
                  </a:lnTo>
                  <a:lnTo>
                    <a:pt x="33338" y="970359"/>
                  </a:lnTo>
                  <a:lnTo>
                    <a:pt x="50006" y="969474"/>
                  </a:lnTo>
                  <a:lnTo>
                    <a:pt x="66675" y="968416"/>
                  </a:lnTo>
                  <a:lnTo>
                    <a:pt x="83344" y="967178"/>
                  </a:lnTo>
                  <a:lnTo>
                    <a:pt x="100012" y="965730"/>
                  </a:lnTo>
                  <a:lnTo>
                    <a:pt x="116681" y="964035"/>
                  </a:lnTo>
                  <a:lnTo>
                    <a:pt x="133350" y="962073"/>
                  </a:lnTo>
                  <a:lnTo>
                    <a:pt x="150019" y="959787"/>
                  </a:lnTo>
                  <a:lnTo>
                    <a:pt x="166688" y="957148"/>
                  </a:lnTo>
                  <a:lnTo>
                    <a:pt x="183356" y="954119"/>
                  </a:lnTo>
                  <a:lnTo>
                    <a:pt x="200025" y="950643"/>
                  </a:lnTo>
                  <a:lnTo>
                    <a:pt x="216694" y="946671"/>
                  </a:lnTo>
                  <a:lnTo>
                    <a:pt x="233362" y="942146"/>
                  </a:lnTo>
                  <a:lnTo>
                    <a:pt x="250031" y="937012"/>
                  </a:lnTo>
                  <a:lnTo>
                    <a:pt x="266700" y="931212"/>
                  </a:lnTo>
                  <a:lnTo>
                    <a:pt x="283369" y="924687"/>
                  </a:lnTo>
                  <a:lnTo>
                    <a:pt x="300038" y="917362"/>
                  </a:lnTo>
                  <a:lnTo>
                    <a:pt x="316706" y="909180"/>
                  </a:lnTo>
                  <a:lnTo>
                    <a:pt x="333375" y="900074"/>
                  </a:lnTo>
                  <a:lnTo>
                    <a:pt x="350044" y="889968"/>
                  </a:lnTo>
                  <a:lnTo>
                    <a:pt x="366712" y="878815"/>
                  </a:lnTo>
                  <a:lnTo>
                    <a:pt x="383381" y="866537"/>
                  </a:lnTo>
                  <a:lnTo>
                    <a:pt x="400050" y="853078"/>
                  </a:lnTo>
                  <a:lnTo>
                    <a:pt x="416719" y="838390"/>
                  </a:lnTo>
                  <a:lnTo>
                    <a:pt x="433388" y="822408"/>
                  </a:lnTo>
                  <a:lnTo>
                    <a:pt x="450056" y="805110"/>
                  </a:lnTo>
                  <a:lnTo>
                    <a:pt x="466725" y="786451"/>
                  </a:lnTo>
                  <a:lnTo>
                    <a:pt x="483394" y="766401"/>
                  </a:lnTo>
                  <a:lnTo>
                    <a:pt x="500062" y="744960"/>
                  </a:lnTo>
                  <a:lnTo>
                    <a:pt x="516731" y="722128"/>
                  </a:lnTo>
                  <a:lnTo>
                    <a:pt x="533400" y="697916"/>
                  </a:lnTo>
                  <a:lnTo>
                    <a:pt x="550069" y="672360"/>
                  </a:lnTo>
                  <a:lnTo>
                    <a:pt x="566738" y="645500"/>
                  </a:lnTo>
                  <a:lnTo>
                    <a:pt x="583406" y="617410"/>
                  </a:lnTo>
                  <a:lnTo>
                    <a:pt x="600075" y="588159"/>
                  </a:lnTo>
                  <a:lnTo>
                    <a:pt x="616744" y="557860"/>
                  </a:lnTo>
                  <a:lnTo>
                    <a:pt x="633412" y="526618"/>
                  </a:lnTo>
                  <a:lnTo>
                    <a:pt x="650081" y="494586"/>
                  </a:lnTo>
                  <a:lnTo>
                    <a:pt x="666750" y="461915"/>
                  </a:lnTo>
                  <a:lnTo>
                    <a:pt x="683419" y="428777"/>
                  </a:lnTo>
                  <a:lnTo>
                    <a:pt x="700088" y="395354"/>
                  </a:lnTo>
                  <a:lnTo>
                    <a:pt x="716756" y="361864"/>
                  </a:lnTo>
                  <a:lnTo>
                    <a:pt x="733425" y="328517"/>
                  </a:lnTo>
                  <a:lnTo>
                    <a:pt x="750094" y="295542"/>
                  </a:lnTo>
                  <a:lnTo>
                    <a:pt x="766762" y="263166"/>
                  </a:lnTo>
                  <a:lnTo>
                    <a:pt x="783431" y="231638"/>
                  </a:lnTo>
                  <a:lnTo>
                    <a:pt x="800100" y="201206"/>
                  </a:lnTo>
                  <a:lnTo>
                    <a:pt x="816769" y="172107"/>
                  </a:lnTo>
                  <a:lnTo>
                    <a:pt x="833438" y="144580"/>
                  </a:lnTo>
                  <a:lnTo>
                    <a:pt x="850106" y="118872"/>
                  </a:lnTo>
                  <a:lnTo>
                    <a:pt x="866775" y="95183"/>
                  </a:lnTo>
                  <a:lnTo>
                    <a:pt x="883444" y="73743"/>
                  </a:lnTo>
                  <a:lnTo>
                    <a:pt x="900112" y="54740"/>
                  </a:lnTo>
                  <a:lnTo>
                    <a:pt x="916781" y="38348"/>
                  </a:lnTo>
                  <a:lnTo>
                    <a:pt x="933450" y="24717"/>
                  </a:lnTo>
                  <a:lnTo>
                    <a:pt x="950119" y="13983"/>
                  </a:lnTo>
                  <a:lnTo>
                    <a:pt x="966788" y="6239"/>
                  </a:lnTo>
                  <a:lnTo>
                    <a:pt x="983456" y="1562"/>
                  </a:lnTo>
                  <a:lnTo>
                    <a:pt x="1000125" y="0"/>
                  </a:lnTo>
                  <a:lnTo>
                    <a:pt x="1016794" y="1562"/>
                  </a:lnTo>
                  <a:lnTo>
                    <a:pt x="1033462" y="6239"/>
                  </a:lnTo>
                  <a:lnTo>
                    <a:pt x="1050131" y="13983"/>
                  </a:lnTo>
                  <a:lnTo>
                    <a:pt x="1066800" y="24717"/>
                  </a:lnTo>
                  <a:lnTo>
                    <a:pt x="1083469" y="38348"/>
                  </a:lnTo>
                  <a:lnTo>
                    <a:pt x="1100138" y="54740"/>
                  </a:lnTo>
                  <a:lnTo>
                    <a:pt x="1116806" y="73743"/>
                  </a:lnTo>
                  <a:lnTo>
                    <a:pt x="1133475" y="95183"/>
                  </a:lnTo>
                  <a:lnTo>
                    <a:pt x="1150144" y="118872"/>
                  </a:lnTo>
                  <a:lnTo>
                    <a:pt x="1166812" y="144580"/>
                  </a:lnTo>
                  <a:lnTo>
                    <a:pt x="1183481" y="172107"/>
                  </a:lnTo>
                  <a:lnTo>
                    <a:pt x="1200150" y="201206"/>
                  </a:lnTo>
                  <a:lnTo>
                    <a:pt x="1216819" y="231638"/>
                  </a:lnTo>
                  <a:lnTo>
                    <a:pt x="1233488" y="263166"/>
                  </a:lnTo>
                  <a:lnTo>
                    <a:pt x="1235450" y="974760"/>
                  </a:lnTo>
                  <a:close/>
                </a:path>
              </a:pathLst>
            </a:custGeom>
            <a:solidFill>
              <a:srgbClr val="A9BBE4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6724650" y="2587590"/>
              <a:ext cx="2000250" cy="971750"/>
            </a:xfrm>
            <a:custGeom>
              <a:avLst/>
              <a:gdLst/>
              <a:ahLst/>
              <a:cxnLst/>
              <a:rect l="l" t="t" r="r" b="b"/>
              <a:pathLst>
                <a:path w="2000250" h="971750">
                  <a:moveTo>
                    <a:pt x="0" y="971750"/>
                  </a:moveTo>
                  <a:lnTo>
                    <a:pt x="16669" y="971112"/>
                  </a:lnTo>
                  <a:lnTo>
                    <a:pt x="33338" y="970359"/>
                  </a:lnTo>
                  <a:lnTo>
                    <a:pt x="50006" y="969474"/>
                  </a:lnTo>
                  <a:lnTo>
                    <a:pt x="66675" y="968416"/>
                  </a:lnTo>
                  <a:lnTo>
                    <a:pt x="83344" y="967178"/>
                  </a:lnTo>
                  <a:lnTo>
                    <a:pt x="100012" y="965730"/>
                  </a:lnTo>
                  <a:lnTo>
                    <a:pt x="116681" y="964035"/>
                  </a:lnTo>
                  <a:lnTo>
                    <a:pt x="133350" y="962073"/>
                  </a:lnTo>
                  <a:lnTo>
                    <a:pt x="150019" y="959787"/>
                  </a:lnTo>
                  <a:lnTo>
                    <a:pt x="166688" y="957148"/>
                  </a:lnTo>
                  <a:lnTo>
                    <a:pt x="183356" y="954119"/>
                  </a:lnTo>
                  <a:lnTo>
                    <a:pt x="200025" y="950643"/>
                  </a:lnTo>
                  <a:lnTo>
                    <a:pt x="216694" y="946671"/>
                  </a:lnTo>
                  <a:lnTo>
                    <a:pt x="233362" y="942146"/>
                  </a:lnTo>
                  <a:lnTo>
                    <a:pt x="250031" y="937012"/>
                  </a:lnTo>
                  <a:lnTo>
                    <a:pt x="266700" y="931212"/>
                  </a:lnTo>
                  <a:lnTo>
                    <a:pt x="283369" y="924687"/>
                  </a:lnTo>
                  <a:lnTo>
                    <a:pt x="300038" y="917362"/>
                  </a:lnTo>
                  <a:lnTo>
                    <a:pt x="316706" y="909180"/>
                  </a:lnTo>
                  <a:lnTo>
                    <a:pt x="333375" y="900074"/>
                  </a:lnTo>
                  <a:lnTo>
                    <a:pt x="350044" y="889968"/>
                  </a:lnTo>
                  <a:lnTo>
                    <a:pt x="366712" y="878815"/>
                  </a:lnTo>
                  <a:lnTo>
                    <a:pt x="383381" y="866537"/>
                  </a:lnTo>
                  <a:lnTo>
                    <a:pt x="400050" y="853078"/>
                  </a:lnTo>
                  <a:lnTo>
                    <a:pt x="416719" y="838390"/>
                  </a:lnTo>
                  <a:lnTo>
                    <a:pt x="433388" y="822408"/>
                  </a:lnTo>
                  <a:lnTo>
                    <a:pt x="450056" y="805110"/>
                  </a:lnTo>
                  <a:lnTo>
                    <a:pt x="466725" y="786451"/>
                  </a:lnTo>
                  <a:lnTo>
                    <a:pt x="483394" y="766401"/>
                  </a:lnTo>
                  <a:lnTo>
                    <a:pt x="500062" y="744960"/>
                  </a:lnTo>
                  <a:lnTo>
                    <a:pt x="516731" y="722128"/>
                  </a:lnTo>
                  <a:lnTo>
                    <a:pt x="533400" y="697916"/>
                  </a:lnTo>
                  <a:lnTo>
                    <a:pt x="550069" y="672360"/>
                  </a:lnTo>
                  <a:lnTo>
                    <a:pt x="566738" y="645500"/>
                  </a:lnTo>
                  <a:lnTo>
                    <a:pt x="583406" y="617410"/>
                  </a:lnTo>
                  <a:lnTo>
                    <a:pt x="600075" y="588159"/>
                  </a:lnTo>
                  <a:lnTo>
                    <a:pt x="616744" y="557860"/>
                  </a:lnTo>
                  <a:lnTo>
                    <a:pt x="633412" y="526618"/>
                  </a:lnTo>
                  <a:lnTo>
                    <a:pt x="650081" y="494586"/>
                  </a:lnTo>
                  <a:lnTo>
                    <a:pt x="666750" y="461915"/>
                  </a:lnTo>
                  <a:lnTo>
                    <a:pt x="683419" y="428777"/>
                  </a:lnTo>
                  <a:lnTo>
                    <a:pt x="700088" y="395354"/>
                  </a:lnTo>
                  <a:lnTo>
                    <a:pt x="716756" y="361864"/>
                  </a:lnTo>
                  <a:lnTo>
                    <a:pt x="733425" y="328517"/>
                  </a:lnTo>
                  <a:lnTo>
                    <a:pt x="750094" y="295542"/>
                  </a:lnTo>
                  <a:lnTo>
                    <a:pt x="766762" y="263166"/>
                  </a:lnTo>
                  <a:lnTo>
                    <a:pt x="783431" y="231638"/>
                  </a:lnTo>
                  <a:lnTo>
                    <a:pt x="800100" y="201206"/>
                  </a:lnTo>
                  <a:lnTo>
                    <a:pt x="816769" y="172107"/>
                  </a:lnTo>
                  <a:lnTo>
                    <a:pt x="833438" y="144580"/>
                  </a:lnTo>
                  <a:lnTo>
                    <a:pt x="850106" y="118872"/>
                  </a:lnTo>
                  <a:lnTo>
                    <a:pt x="866775" y="95183"/>
                  </a:lnTo>
                  <a:lnTo>
                    <a:pt x="883444" y="73743"/>
                  </a:lnTo>
                  <a:lnTo>
                    <a:pt x="900112" y="54740"/>
                  </a:lnTo>
                  <a:lnTo>
                    <a:pt x="916781" y="38348"/>
                  </a:lnTo>
                  <a:lnTo>
                    <a:pt x="933450" y="24717"/>
                  </a:lnTo>
                  <a:lnTo>
                    <a:pt x="950119" y="13983"/>
                  </a:lnTo>
                  <a:lnTo>
                    <a:pt x="966788" y="6239"/>
                  </a:lnTo>
                  <a:lnTo>
                    <a:pt x="983456" y="1562"/>
                  </a:lnTo>
                  <a:lnTo>
                    <a:pt x="1000125" y="0"/>
                  </a:lnTo>
                  <a:lnTo>
                    <a:pt x="1016794" y="1562"/>
                  </a:lnTo>
                  <a:lnTo>
                    <a:pt x="1033462" y="6239"/>
                  </a:lnTo>
                  <a:lnTo>
                    <a:pt x="1050131" y="13983"/>
                  </a:lnTo>
                  <a:lnTo>
                    <a:pt x="1066800" y="24717"/>
                  </a:lnTo>
                  <a:lnTo>
                    <a:pt x="1083469" y="38348"/>
                  </a:lnTo>
                  <a:lnTo>
                    <a:pt x="1100138" y="54740"/>
                  </a:lnTo>
                  <a:lnTo>
                    <a:pt x="1116806" y="73743"/>
                  </a:lnTo>
                  <a:lnTo>
                    <a:pt x="1133475" y="95183"/>
                  </a:lnTo>
                  <a:lnTo>
                    <a:pt x="1150144" y="118872"/>
                  </a:lnTo>
                  <a:lnTo>
                    <a:pt x="1166812" y="144580"/>
                  </a:lnTo>
                  <a:lnTo>
                    <a:pt x="1183481" y="172107"/>
                  </a:lnTo>
                  <a:lnTo>
                    <a:pt x="1200150" y="201206"/>
                  </a:lnTo>
                  <a:lnTo>
                    <a:pt x="1216819" y="231638"/>
                  </a:lnTo>
                  <a:lnTo>
                    <a:pt x="1233488" y="263166"/>
                  </a:lnTo>
                  <a:lnTo>
                    <a:pt x="1250156" y="295542"/>
                  </a:lnTo>
                  <a:lnTo>
                    <a:pt x="1266825" y="328517"/>
                  </a:lnTo>
                  <a:lnTo>
                    <a:pt x="1283494" y="361864"/>
                  </a:lnTo>
                  <a:lnTo>
                    <a:pt x="1300162" y="395354"/>
                  </a:lnTo>
                  <a:lnTo>
                    <a:pt x="1316831" y="428777"/>
                  </a:lnTo>
                  <a:lnTo>
                    <a:pt x="1333500" y="461915"/>
                  </a:lnTo>
                  <a:lnTo>
                    <a:pt x="1350169" y="494586"/>
                  </a:lnTo>
                  <a:lnTo>
                    <a:pt x="1366838" y="526618"/>
                  </a:lnTo>
                  <a:lnTo>
                    <a:pt x="1383506" y="557860"/>
                  </a:lnTo>
                  <a:lnTo>
                    <a:pt x="1400175" y="588159"/>
                  </a:lnTo>
                  <a:lnTo>
                    <a:pt x="1416844" y="617410"/>
                  </a:lnTo>
                  <a:lnTo>
                    <a:pt x="1433512" y="645500"/>
                  </a:lnTo>
                  <a:lnTo>
                    <a:pt x="1450181" y="672360"/>
                  </a:lnTo>
                  <a:lnTo>
                    <a:pt x="1466850" y="697916"/>
                  </a:lnTo>
                  <a:lnTo>
                    <a:pt x="1483519" y="722128"/>
                  </a:lnTo>
                  <a:lnTo>
                    <a:pt x="1500188" y="744960"/>
                  </a:lnTo>
                  <a:lnTo>
                    <a:pt x="1516856" y="766401"/>
                  </a:lnTo>
                  <a:lnTo>
                    <a:pt x="1533525" y="786451"/>
                  </a:lnTo>
                  <a:lnTo>
                    <a:pt x="1550194" y="805110"/>
                  </a:lnTo>
                  <a:lnTo>
                    <a:pt x="1566862" y="822408"/>
                  </a:lnTo>
                  <a:lnTo>
                    <a:pt x="1583531" y="838390"/>
                  </a:lnTo>
                  <a:lnTo>
                    <a:pt x="1600200" y="853078"/>
                  </a:lnTo>
                  <a:lnTo>
                    <a:pt x="1616869" y="866537"/>
                  </a:lnTo>
                  <a:lnTo>
                    <a:pt x="1633538" y="878815"/>
                  </a:lnTo>
                  <a:lnTo>
                    <a:pt x="1650206" y="889968"/>
                  </a:lnTo>
                  <a:lnTo>
                    <a:pt x="1666875" y="900074"/>
                  </a:lnTo>
                  <a:lnTo>
                    <a:pt x="1683544" y="909180"/>
                  </a:lnTo>
                  <a:lnTo>
                    <a:pt x="1700212" y="917362"/>
                  </a:lnTo>
                  <a:lnTo>
                    <a:pt x="1716881" y="924687"/>
                  </a:lnTo>
                  <a:lnTo>
                    <a:pt x="1733550" y="931212"/>
                  </a:lnTo>
                  <a:lnTo>
                    <a:pt x="1750219" y="937012"/>
                  </a:lnTo>
                  <a:lnTo>
                    <a:pt x="1766888" y="942146"/>
                  </a:lnTo>
                  <a:lnTo>
                    <a:pt x="1783556" y="946671"/>
                  </a:lnTo>
                  <a:lnTo>
                    <a:pt x="1800225" y="950643"/>
                  </a:lnTo>
                  <a:lnTo>
                    <a:pt x="1816894" y="954119"/>
                  </a:lnTo>
                  <a:lnTo>
                    <a:pt x="1833562" y="957148"/>
                  </a:lnTo>
                  <a:lnTo>
                    <a:pt x="1850231" y="959787"/>
                  </a:lnTo>
                  <a:lnTo>
                    <a:pt x="1866900" y="962073"/>
                  </a:lnTo>
                  <a:lnTo>
                    <a:pt x="1883569" y="964035"/>
                  </a:lnTo>
                  <a:lnTo>
                    <a:pt x="1900238" y="965730"/>
                  </a:lnTo>
                  <a:lnTo>
                    <a:pt x="1916906" y="967178"/>
                  </a:lnTo>
                  <a:lnTo>
                    <a:pt x="1933575" y="968416"/>
                  </a:lnTo>
                  <a:lnTo>
                    <a:pt x="1950244" y="969474"/>
                  </a:lnTo>
                  <a:lnTo>
                    <a:pt x="1966912" y="970359"/>
                  </a:lnTo>
                  <a:lnTo>
                    <a:pt x="1983581" y="971112"/>
                  </a:lnTo>
                  <a:lnTo>
                    <a:pt x="2000250" y="971750"/>
                  </a:lnTo>
                </a:path>
              </a:pathLst>
            </a:custGeom>
            <a:noFill/>
            <a:ln w="19050">
              <a:solidFill>
                <a:srgbClr val="2F4B9A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6667500" y="3562350"/>
              <a:ext cx="2124075" cy="9525"/>
            </a:xfrm>
            <a:custGeom>
              <a:avLst/>
              <a:gdLst/>
              <a:ahLst/>
              <a:cxnLst/>
              <a:rect l="l" t="t" r="r" b="b"/>
              <a:pathLst>
                <a:path w="2124075" h="9525">
                  <a:moveTo>
                    <a:pt x="0" y="0"/>
                  </a:moveTo>
                  <a:lnTo>
                    <a:pt x="2124075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39" name="Polygon 39"/>
            <p:cNvSpPr/>
            <p:nvPr/>
          </p:nvSpPr>
          <p:spPr>
            <a:xfrm>
              <a:off x="8791575" y="3532346"/>
              <a:ext cx="66675" cy="60007"/>
            </a:xfrm>
            <a:custGeom>
              <a:avLst/>
              <a:gdLst/>
              <a:ahLst/>
              <a:cxnLst/>
              <a:rect l="l" t="t" r="r" b="b"/>
              <a:pathLst>
                <a:path w="66675" h="60007">
                  <a:moveTo>
                    <a:pt x="66675" y="30004"/>
                  </a:moveTo>
                  <a:lnTo>
                    <a:pt x="0" y="60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40" name="Line 40"/>
            <p:cNvSpPr/>
            <p:nvPr/>
          </p:nvSpPr>
          <p:spPr>
            <a:xfrm>
              <a:off x="6724650" y="2390775"/>
              <a:ext cx="9525" cy="1228725"/>
            </a:xfrm>
            <a:custGeom>
              <a:avLst/>
              <a:gdLst/>
              <a:ahLst/>
              <a:cxnLst/>
              <a:rect l="l" t="t" r="r" b="b"/>
              <a:pathLst>
                <a:path w="9525" h="1228725">
                  <a:moveTo>
                    <a:pt x="0" y="122872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41" name="Polygon 41"/>
            <p:cNvSpPr/>
            <p:nvPr/>
          </p:nvSpPr>
          <p:spPr>
            <a:xfrm>
              <a:off x="6694646" y="2324100"/>
              <a:ext cx="60007" cy="66675"/>
            </a:xfrm>
            <a:custGeom>
              <a:avLst/>
              <a:gdLst/>
              <a:ahLst/>
              <a:cxnLst/>
              <a:rect l="l" t="t" r="r" b="b"/>
              <a:pathLst>
                <a:path w="60007" h="66675">
                  <a:moveTo>
                    <a:pt x="30004" y="0"/>
                  </a:moveTo>
                  <a:lnTo>
                    <a:pt x="60007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891016" y="36014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351194" y="215360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f(t)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72174" y="3619024"/>
              <a:ext cx="1144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7960100" y="2854528"/>
              <a:ext cx="9525" cy="707822"/>
            </a:xfrm>
            <a:custGeom>
              <a:avLst/>
              <a:gdLst/>
              <a:ahLst/>
              <a:cxnLst/>
              <a:rect l="l" t="t" r="r" b="b"/>
              <a:pathLst>
                <a:path w="9525" h="707822">
                  <a:moveTo>
                    <a:pt x="0" y="707822"/>
                  </a:moveTo>
                  <a:lnTo>
                    <a:pt x="0" y="0"/>
                  </a:lnTo>
                </a:path>
              </a:pathLst>
            </a:custGeom>
            <a:noFill/>
            <a:ln w="12382">
              <a:solidFill>
                <a:srgbClr val="6B7A99"/>
              </a:solidFill>
              <a:custDash>
                <a:ds d="384615" sp="307692"/>
              </a:custDash>
            </a:ln>
          </p:spPr>
        </p:sp>
        <p:sp>
          <p:nvSpPr>
            <p:cNvPr id="46" name="Line 46"/>
            <p:cNvSpPr/>
            <p:nvPr/>
          </p:nvSpPr>
          <p:spPr>
            <a:xfrm>
              <a:off x="7960100" y="35623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918867" y="36380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52235" y="3159843"/>
              <a:ext cx="33325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10" b="1" dirty="0">
                  <a:solidFill>
                    <a:srgbClr val="16346E"/>
                  </a:solidFill>
                  <a:latin typeface="+mn-lt"/>
                  <a:ea typeface="+mn-ea"/>
                  <a:cs typeface="+mn-cs"/>
                </a:rPr>
                <a:t>F(x)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6724650" y="4197458"/>
              <a:ext cx="2000250" cy="1002859"/>
            </a:xfrm>
            <a:custGeom>
              <a:avLst/>
              <a:gdLst/>
              <a:ahLst/>
              <a:cxnLst/>
              <a:rect l="l" t="t" r="r" b="b"/>
              <a:pathLst>
                <a:path w="2000250" h="1002859">
                  <a:moveTo>
                    <a:pt x="0" y="1002859"/>
                  </a:moveTo>
                  <a:lnTo>
                    <a:pt x="16669" y="1002773"/>
                  </a:lnTo>
                  <a:lnTo>
                    <a:pt x="33338" y="1002687"/>
                  </a:lnTo>
                  <a:lnTo>
                    <a:pt x="50006" y="1002573"/>
                  </a:lnTo>
                  <a:lnTo>
                    <a:pt x="66675" y="1002440"/>
                  </a:lnTo>
                  <a:lnTo>
                    <a:pt x="83344" y="1002278"/>
                  </a:lnTo>
                  <a:lnTo>
                    <a:pt x="100012" y="1002078"/>
                  </a:lnTo>
                  <a:lnTo>
                    <a:pt x="116681" y="1001849"/>
                  </a:lnTo>
                  <a:lnTo>
                    <a:pt x="133350" y="1001582"/>
                  </a:lnTo>
                  <a:lnTo>
                    <a:pt x="150019" y="1001258"/>
                  </a:lnTo>
                  <a:lnTo>
                    <a:pt x="166688" y="1000877"/>
                  </a:lnTo>
                  <a:lnTo>
                    <a:pt x="183356" y="1000439"/>
                  </a:lnTo>
                  <a:lnTo>
                    <a:pt x="200025" y="999915"/>
                  </a:lnTo>
                  <a:lnTo>
                    <a:pt x="216694" y="999306"/>
                  </a:lnTo>
                  <a:lnTo>
                    <a:pt x="233362" y="998601"/>
                  </a:lnTo>
                  <a:lnTo>
                    <a:pt x="250031" y="997791"/>
                  </a:lnTo>
                  <a:lnTo>
                    <a:pt x="266700" y="996839"/>
                  </a:lnTo>
                  <a:lnTo>
                    <a:pt x="283369" y="995753"/>
                  </a:lnTo>
                  <a:lnTo>
                    <a:pt x="300038" y="994505"/>
                  </a:lnTo>
                  <a:lnTo>
                    <a:pt x="316706" y="993076"/>
                  </a:lnTo>
                  <a:lnTo>
                    <a:pt x="333375" y="991448"/>
                  </a:lnTo>
                  <a:lnTo>
                    <a:pt x="350044" y="989590"/>
                  </a:lnTo>
                  <a:lnTo>
                    <a:pt x="366712" y="987495"/>
                  </a:lnTo>
                  <a:lnTo>
                    <a:pt x="383381" y="985114"/>
                  </a:lnTo>
                  <a:lnTo>
                    <a:pt x="400050" y="982447"/>
                  </a:lnTo>
                  <a:lnTo>
                    <a:pt x="416719" y="979446"/>
                  </a:lnTo>
                  <a:lnTo>
                    <a:pt x="433388" y="976084"/>
                  </a:lnTo>
                  <a:lnTo>
                    <a:pt x="450056" y="972341"/>
                  </a:lnTo>
                  <a:lnTo>
                    <a:pt x="466725" y="968178"/>
                  </a:lnTo>
                  <a:lnTo>
                    <a:pt x="483394" y="963568"/>
                  </a:lnTo>
                  <a:lnTo>
                    <a:pt x="500062" y="958472"/>
                  </a:lnTo>
                  <a:lnTo>
                    <a:pt x="516731" y="952862"/>
                  </a:lnTo>
                  <a:lnTo>
                    <a:pt x="533400" y="946699"/>
                  </a:lnTo>
                  <a:lnTo>
                    <a:pt x="550069" y="939965"/>
                  </a:lnTo>
                  <a:lnTo>
                    <a:pt x="566738" y="932612"/>
                  </a:lnTo>
                  <a:lnTo>
                    <a:pt x="583406" y="924630"/>
                  </a:lnTo>
                  <a:lnTo>
                    <a:pt x="600075" y="915972"/>
                  </a:lnTo>
                  <a:lnTo>
                    <a:pt x="616744" y="906618"/>
                  </a:lnTo>
                  <a:lnTo>
                    <a:pt x="633412" y="896560"/>
                  </a:lnTo>
                  <a:lnTo>
                    <a:pt x="650081" y="885758"/>
                  </a:lnTo>
                  <a:lnTo>
                    <a:pt x="666750" y="874204"/>
                  </a:lnTo>
                  <a:lnTo>
                    <a:pt x="683419" y="861879"/>
                  </a:lnTo>
                  <a:lnTo>
                    <a:pt x="700088" y="848782"/>
                  </a:lnTo>
                  <a:lnTo>
                    <a:pt x="716756" y="834914"/>
                  </a:lnTo>
                  <a:lnTo>
                    <a:pt x="733425" y="820255"/>
                  </a:lnTo>
                  <a:lnTo>
                    <a:pt x="750094" y="804834"/>
                  </a:lnTo>
                  <a:lnTo>
                    <a:pt x="766762" y="788651"/>
                  </a:lnTo>
                  <a:lnTo>
                    <a:pt x="783431" y="771715"/>
                  </a:lnTo>
                  <a:lnTo>
                    <a:pt x="800100" y="754066"/>
                  </a:lnTo>
                  <a:lnTo>
                    <a:pt x="816769" y="735721"/>
                  </a:lnTo>
                  <a:lnTo>
                    <a:pt x="833438" y="716718"/>
                  </a:lnTo>
                  <a:lnTo>
                    <a:pt x="850106" y="697087"/>
                  </a:lnTo>
                  <a:lnTo>
                    <a:pt x="866775" y="676894"/>
                  </a:lnTo>
                  <a:lnTo>
                    <a:pt x="883444" y="656168"/>
                  </a:lnTo>
                  <a:lnTo>
                    <a:pt x="900112" y="634965"/>
                  </a:lnTo>
                  <a:lnTo>
                    <a:pt x="916781" y="613362"/>
                  </a:lnTo>
                  <a:lnTo>
                    <a:pt x="933450" y="591407"/>
                  </a:lnTo>
                  <a:lnTo>
                    <a:pt x="950119" y="569166"/>
                  </a:lnTo>
                  <a:lnTo>
                    <a:pt x="966788" y="546706"/>
                  </a:lnTo>
                  <a:lnTo>
                    <a:pt x="983456" y="524104"/>
                  </a:lnTo>
                  <a:lnTo>
                    <a:pt x="1000125" y="501425"/>
                  </a:lnTo>
                  <a:lnTo>
                    <a:pt x="1016794" y="478755"/>
                  </a:lnTo>
                  <a:lnTo>
                    <a:pt x="1033462" y="456152"/>
                  </a:lnTo>
                  <a:lnTo>
                    <a:pt x="1050131" y="433692"/>
                  </a:lnTo>
                  <a:lnTo>
                    <a:pt x="1066800" y="411451"/>
                  </a:lnTo>
                  <a:lnTo>
                    <a:pt x="1083469" y="389496"/>
                  </a:lnTo>
                  <a:lnTo>
                    <a:pt x="1100138" y="367884"/>
                  </a:lnTo>
                  <a:lnTo>
                    <a:pt x="1116806" y="346691"/>
                  </a:lnTo>
                  <a:lnTo>
                    <a:pt x="1133475" y="325965"/>
                  </a:lnTo>
                  <a:lnTo>
                    <a:pt x="1150144" y="305762"/>
                  </a:lnTo>
                  <a:lnTo>
                    <a:pt x="1166812" y="286141"/>
                  </a:lnTo>
                  <a:lnTo>
                    <a:pt x="1183481" y="267138"/>
                  </a:lnTo>
                  <a:lnTo>
                    <a:pt x="1200150" y="248793"/>
                  </a:lnTo>
                  <a:lnTo>
                    <a:pt x="1216819" y="231143"/>
                  </a:lnTo>
                  <a:lnTo>
                    <a:pt x="1233488" y="214208"/>
                  </a:lnTo>
                  <a:lnTo>
                    <a:pt x="1250156" y="198025"/>
                  </a:lnTo>
                  <a:lnTo>
                    <a:pt x="1266825" y="182604"/>
                  </a:lnTo>
                  <a:lnTo>
                    <a:pt x="1283494" y="167945"/>
                  </a:lnTo>
                  <a:lnTo>
                    <a:pt x="1300162" y="154076"/>
                  </a:lnTo>
                  <a:lnTo>
                    <a:pt x="1316831" y="140980"/>
                  </a:lnTo>
                  <a:lnTo>
                    <a:pt x="1333500" y="128654"/>
                  </a:lnTo>
                  <a:lnTo>
                    <a:pt x="1350169" y="117100"/>
                  </a:lnTo>
                  <a:lnTo>
                    <a:pt x="1366838" y="106299"/>
                  </a:lnTo>
                  <a:lnTo>
                    <a:pt x="1383506" y="96231"/>
                  </a:lnTo>
                  <a:lnTo>
                    <a:pt x="1400175" y="86887"/>
                  </a:lnTo>
                  <a:lnTo>
                    <a:pt x="1416844" y="78229"/>
                  </a:lnTo>
                  <a:lnTo>
                    <a:pt x="1433512" y="70247"/>
                  </a:lnTo>
                  <a:lnTo>
                    <a:pt x="1450181" y="62894"/>
                  </a:lnTo>
                  <a:lnTo>
                    <a:pt x="1466850" y="56159"/>
                  </a:lnTo>
                  <a:lnTo>
                    <a:pt x="1483519" y="49997"/>
                  </a:lnTo>
                  <a:lnTo>
                    <a:pt x="1500188" y="44387"/>
                  </a:lnTo>
                  <a:lnTo>
                    <a:pt x="1516856" y="39291"/>
                  </a:lnTo>
                  <a:lnTo>
                    <a:pt x="1533525" y="34681"/>
                  </a:lnTo>
                  <a:lnTo>
                    <a:pt x="1550194" y="30518"/>
                  </a:lnTo>
                  <a:lnTo>
                    <a:pt x="1566862" y="26775"/>
                  </a:lnTo>
                  <a:lnTo>
                    <a:pt x="1583531" y="23412"/>
                  </a:lnTo>
                  <a:lnTo>
                    <a:pt x="1600200" y="20412"/>
                  </a:lnTo>
                  <a:lnTo>
                    <a:pt x="1616869" y="17745"/>
                  </a:lnTo>
                  <a:lnTo>
                    <a:pt x="1633538" y="15364"/>
                  </a:lnTo>
                  <a:lnTo>
                    <a:pt x="1650206" y="13268"/>
                  </a:lnTo>
                  <a:lnTo>
                    <a:pt x="1666875" y="11411"/>
                  </a:lnTo>
                  <a:lnTo>
                    <a:pt x="1683544" y="9782"/>
                  </a:lnTo>
                  <a:lnTo>
                    <a:pt x="1700212" y="8353"/>
                  </a:lnTo>
                  <a:lnTo>
                    <a:pt x="1716881" y="7106"/>
                  </a:lnTo>
                  <a:lnTo>
                    <a:pt x="1733550" y="6020"/>
                  </a:lnTo>
                  <a:lnTo>
                    <a:pt x="1750219" y="5067"/>
                  </a:lnTo>
                  <a:lnTo>
                    <a:pt x="1766888" y="4248"/>
                  </a:lnTo>
                  <a:lnTo>
                    <a:pt x="1783556" y="3543"/>
                  </a:lnTo>
                  <a:lnTo>
                    <a:pt x="1800225" y="2943"/>
                  </a:lnTo>
                  <a:lnTo>
                    <a:pt x="1816894" y="2419"/>
                  </a:lnTo>
                  <a:lnTo>
                    <a:pt x="1833562" y="1981"/>
                  </a:lnTo>
                  <a:lnTo>
                    <a:pt x="1850231" y="1600"/>
                  </a:lnTo>
                  <a:lnTo>
                    <a:pt x="1866900" y="1276"/>
                  </a:lnTo>
                  <a:lnTo>
                    <a:pt x="1883569" y="1010"/>
                  </a:lnTo>
                  <a:lnTo>
                    <a:pt x="1900238" y="772"/>
                  </a:lnTo>
                  <a:lnTo>
                    <a:pt x="1916906" y="581"/>
                  </a:lnTo>
                  <a:lnTo>
                    <a:pt x="1933575" y="419"/>
                  </a:lnTo>
                  <a:lnTo>
                    <a:pt x="1950244" y="286"/>
                  </a:lnTo>
                  <a:lnTo>
                    <a:pt x="1966912" y="171"/>
                  </a:lnTo>
                  <a:lnTo>
                    <a:pt x="1983581" y="76"/>
                  </a:lnTo>
                  <a:lnTo>
                    <a:pt x="2000250" y="0"/>
                  </a:lnTo>
                </a:path>
              </a:pathLst>
            </a:custGeom>
            <a:noFill/>
            <a:ln w="19050">
              <a:solidFill>
                <a:srgbClr val="2F4B9A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6667500" y="5200650"/>
              <a:ext cx="2124075" cy="9525"/>
            </a:xfrm>
            <a:custGeom>
              <a:avLst/>
              <a:gdLst/>
              <a:ahLst/>
              <a:cxnLst/>
              <a:rect l="l" t="t" r="r" b="b"/>
              <a:pathLst>
                <a:path w="2124075" h="9525">
                  <a:moveTo>
                    <a:pt x="0" y="0"/>
                  </a:moveTo>
                  <a:lnTo>
                    <a:pt x="2124075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51" name="Polygon 51"/>
            <p:cNvSpPr/>
            <p:nvPr/>
          </p:nvSpPr>
          <p:spPr>
            <a:xfrm>
              <a:off x="8791575" y="5170646"/>
              <a:ext cx="66675" cy="60007"/>
            </a:xfrm>
            <a:custGeom>
              <a:avLst/>
              <a:gdLst/>
              <a:ahLst/>
              <a:cxnLst/>
              <a:rect l="l" t="t" r="r" b="b"/>
              <a:pathLst>
                <a:path w="66675" h="60007">
                  <a:moveTo>
                    <a:pt x="66675" y="30004"/>
                  </a:moveTo>
                  <a:lnTo>
                    <a:pt x="0" y="60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52" name="Line 52"/>
            <p:cNvSpPr/>
            <p:nvPr/>
          </p:nvSpPr>
          <p:spPr>
            <a:xfrm>
              <a:off x="6724650" y="4029075"/>
              <a:ext cx="9525" cy="1228725"/>
            </a:xfrm>
            <a:custGeom>
              <a:avLst/>
              <a:gdLst/>
              <a:ahLst/>
              <a:cxnLst/>
              <a:rect l="l" t="t" r="r" b="b"/>
              <a:pathLst>
                <a:path w="9525" h="1228725">
                  <a:moveTo>
                    <a:pt x="0" y="122872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53" name="Polygon 53"/>
            <p:cNvSpPr/>
            <p:nvPr/>
          </p:nvSpPr>
          <p:spPr>
            <a:xfrm>
              <a:off x="6694646" y="3962400"/>
              <a:ext cx="60007" cy="66675"/>
            </a:xfrm>
            <a:custGeom>
              <a:avLst/>
              <a:gdLst/>
              <a:ahLst/>
              <a:cxnLst/>
              <a:rect l="l" t="t" r="r" b="b"/>
              <a:pathLst>
                <a:path w="60007" h="66675">
                  <a:moveTo>
                    <a:pt x="30004" y="0"/>
                  </a:moveTo>
                  <a:lnTo>
                    <a:pt x="60007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891016" y="52397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342393" y="3791902"/>
              <a:ext cx="3304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572174" y="5257324"/>
              <a:ext cx="1144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6724650" y="4197125"/>
              <a:ext cx="2000250" cy="9525"/>
            </a:xfrm>
            <a:custGeom>
              <a:avLst/>
              <a:gdLst/>
              <a:ahLst/>
              <a:cxnLst/>
              <a:rect l="l" t="t" r="r" b="b"/>
              <a:pathLst>
                <a:path w="2000250" h="9525">
                  <a:moveTo>
                    <a:pt x="0" y="0"/>
                  </a:moveTo>
                  <a:lnTo>
                    <a:pt x="2000250" y="0"/>
                  </a:lnTo>
                </a:path>
              </a:pathLst>
            </a:custGeom>
            <a:noFill/>
            <a:ln w="11430">
              <a:solidFill>
                <a:srgbClr val="D9DFEA"/>
              </a:solidFill>
              <a:custDash>
                <a:ds d="416667" sp="333333"/>
              </a:custDash>
            </a:ln>
          </p:spPr>
        </p:sp>
        <p:sp>
          <p:nvSpPr>
            <p:cNvPr id="58" name="Line 58"/>
            <p:cNvSpPr/>
            <p:nvPr/>
          </p:nvSpPr>
          <p:spPr>
            <a:xfrm>
              <a:off x="6677025" y="4197125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561412" y="4134736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0" name="Line 60"/>
            <p:cNvSpPr/>
            <p:nvPr/>
          </p:nvSpPr>
          <p:spPr>
            <a:xfrm>
              <a:off x="6724650" y="4409723"/>
              <a:ext cx="1235450" cy="9525"/>
            </a:xfrm>
            <a:custGeom>
              <a:avLst/>
              <a:gdLst/>
              <a:ahLst/>
              <a:cxnLst/>
              <a:rect l="l" t="t" r="r" b="b"/>
              <a:pathLst>
                <a:path w="1235450" h="9525">
                  <a:moveTo>
                    <a:pt x="0" y="0"/>
                  </a:moveTo>
                  <a:lnTo>
                    <a:pt x="1235450" y="0"/>
                  </a:lnTo>
                </a:path>
              </a:pathLst>
            </a:custGeom>
            <a:noFill/>
            <a:ln w="11430">
              <a:solidFill>
                <a:srgbClr val="8FA0C4"/>
              </a:solidFill>
              <a:custDash>
                <a:ds d="416667" sp="333333"/>
              </a:custDash>
            </a:ln>
          </p:spPr>
        </p:sp>
        <p:sp>
          <p:nvSpPr>
            <p:cNvPr id="61" name="Line 61"/>
            <p:cNvSpPr/>
            <p:nvPr/>
          </p:nvSpPr>
          <p:spPr>
            <a:xfrm>
              <a:off x="7960100" y="4409723"/>
              <a:ext cx="9525" cy="790927"/>
            </a:xfrm>
            <a:custGeom>
              <a:avLst/>
              <a:gdLst/>
              <a:ahLst/>
              <a:cxnLst/>
              <a:rect l="l" t="t" r="r" b="b"/>
              <a:pathLst>
                <a:path w="9525" h="790927">
                  <a:moveTo>
                    <a:pt x="0" y="790927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8FA0C4"/>
              </a:solidFill>
              <a:custDash>
                <a:ds d="416667" sp="333333"/>
              </a:custDash>
            </a:ln>
          </p:spPr>
        </p:sp>
        <p:sp>
          <p:nvSpPr>
            <p:cNvPr id="62" name="Ellipse 62"/>
            <p:cNvSpPr/>
            <p:nvPr/>
          </p:nvSpPr>
          <p:spPr>
            <a:xfrm>
              <a:off x="7922000" y="4371623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3" name="Line 63"/>
            <p:cNvSpPr/>
            <p:nvPr/>
          </p:nvSpPr>
          <p:spPr>
            <a:xfrm>
              <a:off x="7960100" y="52006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918867" y="52763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100185" y="2526506"/>
              <a:ext cx="2024126" cy="1972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上图阴影的面积，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就是下图在同一个 x 处的高度。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反过来，f 在连续点处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等于 F 的导数：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上升得越陡，密度越高。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连续型的 F 处处连续，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没有跳跃，所以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P{X = a} = 0：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一条竖线没有面积。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324600" y="5295900"/>
              <a:ext cx="5143500" cy="800100"/>
            </a:xfrm>
            <a:prstGeom prst="roundRect">
              <a:avLst>
                <a:gd name="adj" fmla="val 1190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334125" y="5400675"/>
              <a:ext cx="47625" cy="59055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6496050" y="5400675"/>
              <a:ext cx="762000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589014" y="545401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由此可得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490526" y="5711904"/>
              <a:ext cx="3347212" cy="412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P{a &lt; X ≤ b}、P{a ≤ X ≤ b}、P{a &lt; X &lt; b} 三者相等，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连续型里不必纠结区间的开闭；离散型则必须分清。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随机变量 · 连续型随机变量及其概率密度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密度的五条性质，以及单点概率为零该怎么理解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card-1"/>
          <p:cNvGrpSpPr/>
          <p:nvPr/>
        </p:nvGrpSpPr>
        <p:grpSpPr>
          <a:xfrm>
            <a:off x="533400" y="1524000"/>
            <a:ext cx="5410200" cy="2300288"/>
            <a:chOff x="533400" y="1524000"/>
            <a:chExt cx="5410200" cy="230028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300288"/>
            </a:xfrm>
            <a:prstGeom prst="roundRect">
              <a:avLst>
                <a:gd name="adj" fmla="val 579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3358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概率密度的五条性质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52475" y="2049780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04382" y="208540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22223" y="2061686"/>
              <a:ext cx="13742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非负性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：f(x) ≥ 0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52475" y="2335530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04382" y="237020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22223" y="2346484"/>
              <a:ext cx="31749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规范性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：f(x) 在整条实轴上的积分等于 1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52475" y="2620328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04382" y="265595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22223" y="2631281"/>
              <a:ext cx="39062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区间概率：a &lt; b 时 P{a &lt; X ≤ b} = F(b) − F(a) = ∫ₐᵇ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f(x)dx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52475" y="3148012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4382" y="318363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22223" y="3158966"/>
              <a:ext cx="29061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f 在点 x 处连续，则 F′(x) = f(x)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52475" y="3432810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04382" y="346843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22223" y="3443764"/>
              <a:ext cx="21946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对任意实数 a，P{X = a} = 0</a:t>
              </a:r>
            </a:p>
          </p:txBody>
        </p:sp>
      </p:grpSp>
      <p:grpSp>
        <p:nvGrpSpPr>
          <p:cNvPr id="33" name="c1-card-2"/>
          <p:cNvGrpSpPr/>
          <p:nvPr/>
        </p:nvGrpSpPr>
        <p:grpSpPr>
          <a:xfrm>
            <a:off x="533400" y="3989070"/>
            <a:ext cx="5410200" cy="1651635"/>
            <a:chOff x="533400" y="3989070"/>
            <a:chExt cx="5410200" cy="1651635"/>
          </a:xfrm>
        </p:grpSpPr>
        <p:sp>
          <p:nvSpPr>
            <p:cNvPr id="28" name="Rectangle 28"/>
            <p:cNvSpPr/>
            <p:nvPr/>
          </p:nvSpPr>
          <p:spPr>
            <a:xfrm>
              <a:off x="533400" y="3989070"/>
              <a:ext cx="5410200" cy="1651635"/>
            </a:xfrm>
            <a:prstGeom prst="roundRect">
              <a:avLst>
                <a:gd name="adj" fmla="val 8074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14375" y="4170045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80593" y="4202906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两条方向相反的工具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formula158"/>
                <p:cNvSpPr txBox="1">
                  <a:spLocks noGrp="1"/>
                </p:cNvSpPr>
                <p:nvPr/>
              </p:nvSpPr>
              <p:spPr>
                <a:xfrm>
                  <a:off x="714375" y="4489132"/>
                  <a:ext cx="5048250" cy="4267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−∞</m:t>
                            </m:r>
                          </m:sub>
                          <m:sup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sup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</m:d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</m:nary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⟺</m:t>
                        </m:r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2" name="TextBox 32"/>
            <p:cNvSpPr txBox="1"/>
            <p:nvPr/>
          </p:nvSpPr>
          <p:spPr>
            <a:xfrm>
              <a:off x="707898" y="5018246"/>
              <a:ext cx="477596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给密度求 F 就积分，给 F 求密度就求导。后面所有例题都在这两条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之间来回走。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6248400" y="1524000"/>
            <a:ext cx="5410200" cy="1730692"/>
            <a:chOff x="6248400" y="1524000"/>
            <a:chExt cx="5410200" cy="1730692"/>
          </a:xfrm>
        </p:grpSpPr>
        <p:sp>
          <p:nvSpPr>
            <p:cNvPr id="34" name="Rectangle 34"/>
            <p:cNvSpPr/>
            <p:nvPr/>
          </p:nvSpPr>
          <p:spPr>
            <a:xfrm>
              <a:off x="6248400" y="1524000"/>
              <a:ext cx="5410200" cy="1730692"/>
            </a:xfrm>
            <a:prstGeom prst="roundRect">
              <a:avLst>
                <a:gd name="adj" fmla="val 770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57925" y="1657350"/>
              <a:ext cx="47625" cy="146399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67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60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辨析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33451" y="1744504"/>
              <a:ext cx="17718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概率为 0 不等于不可能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477000" y="211359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32448" y="2061686"/>
              <a:ext cx="48118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连续型随机变量取任一常数的概率都是 0，但它总得取到某个值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477000" y="239839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32448" y="2346484"/>
              <a:ext cx="4622749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概率为 0 的事件未必是不可能事件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，概率为 1 的事件也未必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是必然事件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477000" y="292703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32448" y="2874169"/>
              <a:ext cx="47860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反过来，不可能事件的概率一定是 0，必然事件的概率一定是 1</a:t>
              </a:r>
            </a:p>
          </p:txBody>
        </p:sp>
      </p:grpSp>
      <p:grpSp>
        <p:nvGrpSpPr>
          <p:cNvPr id="53" name="c2-card-2"/>
          <p:cNvGrpSpPr/>
          <p:nvPr/>
        </p:nvGrpSpPr>
        <p:grpSpPr>
          <a:xfrm>
            <a:off x="6248400" y="3419475"/>
            <a:ext cx="5410200" cy="2222182"/>
            <a:chOff x="6248400" y="3419475"/>
            <a:chExt cx="5410200" cy="2222182"/>
          </a:xfrm>
        </p:grpSpPr>
        <p:sp>
          <p:nvSpPr>
            <p:cNvPr id="46" name="Rectangle 46"/>
            <p:cNvSpPr/>
            <p:nvPr/>
          </p:nvSpPr>
          <p:spPr>
            <a:xfrm>
              <a:off x="6248400" y="3419475"/>
              <a:ext cx="5410200" cy="2222182"/>
            </a:xfrm>
            <a:prstGeom prst="roundRect">
              <a:avLst>
                <a:gd name="adj" fmla="val 60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257925" y="3552825"/>
              <a:ext cx="47625" cy="195548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67475" y="3600450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40843" y="3633311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由此得到的便利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60998" y="3940016"/>
              <a:ext cx="42949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既然端点的概率是 0，连续型就不必严格区分开闭区间：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formula159"/>
                <p:cNvSpPr txBox="1">
                  <a:spLocks noGrp="1"/>
                </p:cNvSpPr>
                <p:nvPr/>
              </p:nvSpPr>
              <p:spPr>
                <a:xfrm>
                  <a:off x="6467475" y="4204335"/>
                  <a:ext cx="501015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&lt;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&lt;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52" name="TextBox 52"/>
            <p:cNvSpPr txBox="1"/>
            <p:nvPr/>
          </p:nvSpPr>
          <p:spPr>
            <a:xfrm>
              <a:off x="6462141" y="4607242"/>
              <a:ext cx="27175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离散型没有这个便利，例 3 就栽在这上面。</a:t>
              </a:r>
            </a:p>
          </p:txBody>
        </p:sp>
      </p:grpSp>
      <p:grpSp>
        <p:nvGrpSpPr>
          <p:cNvPr id="6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4" name="Rectangle 5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1273" y="6039326"/>
              <a:ext cx="97314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第 1 章几何概型里“取到对角线上的点”概率为 0 却确实可能发生，说的就是同一件事。连续型随机变量把这个现象变成了常态。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98489" cy="909257"/>
            <a:chOff x="520446" y="342900"/>
            <a:chExt cx="419848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随机变量 · 连续型随机变量及其概率密度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984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例12：两个条件定两个系数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4760595" cy="2228850"/>
            <a:chOff x="533400" y="1524000"/>
            <a:chExt cx="4760595" cy="22288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2228850"/>
            </a:xfrm>
            <a:prstGeom prst="roundRect">
              <a:avLst>
                <a:gd name="adj" fmla="val 59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621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97205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4868" y="1750695"/>
              <a:ext cx="3152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68552" y="175641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密度在一段区间上是一次函数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64"/>
                <p:cNvSpPr txBox="1">
                  <a:spLocks noGrp="1"/>
                </p:cNvSpPr>
                <p:nvPr/>
              </p:nvSpPr>
              <p:spPr>
                <a:xfrm>
                  <a:off x="763905" y="2067878"/>
                  <a:ext cx="4337685" cy="6515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&lt;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&lt;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m:rPr>
                                    <m:nor m:val="on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其他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57047" y="2828925"/>
              <a:ext cx="403421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 X 落在 (2, 3) 内的概率是它落在 (1, 2) 内概率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的两倍，求 k、b 及 P{1.5 &lt; X &lt; 2.5}。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8190" y="3384709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原课件只给题面没有解答。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3928110"/>
            <a:ext cx="4760595" cy="1578292"/>
            <a:chOff x="533400" y="3928110"/>
            <a:chExt cx="4760595" cy="1578292"/>
          </a:xfrm>
        </p:grpSpPr>
        <p:sp>
          <p:nvSpPr>
            <p:cNvPr id="16" name="Rectangle 16"/>
            <p:cNvSpPr/>
            <p:nvPr/>
          </p:nvSpPr>
          <p:spPr>
            <a:xfrm>
              <a:off x="533400" y="3928110"/>
              <a:ext cx="4760595" cy="1578292"/>
            </a:xfrm>
            <a:prstGeom prst="roundRect">
              <a:avLst>
                <a:gd name="adj" fmla="val 84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4061460"/>
              <a:ext cx="47625" cy="131159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3905" y="412051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55345" y="415480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7047" y="4476750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两个未知数就要两个方程：一个来自规范性（总积分为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1），另一个来自题目给的倍数关系。</a:t>
              </a:r>
            </a:p>
          </p:txBody>
        </p:sp>
      </p:grpSp>
      <p:grpSp>
        <p:nvGrpSpPr>
          <p:cNvPr id="43" name="c2-steps-1"/>
          <p:cNvGrpSpPr/>
          <p:nvPr/>
        </p:nvGrpSpPr>
        <p:grpSpPr>
          <a:xfrm>
            <a:off x="5598795" y="1533525"/>
            <a:ext cx="5581015" cy="3075146"/>
            <a:chOff x="5598795" y="1533525"/>
            <a:chExt cx="5581015" cy="3075146"/>
          </a:xfrm>
        </p:grpSpPr>
        <p:sp>
          <p:nvSpPr>
            <p:cNvPr id="22" name="Rectangle 22"/>
            <p:cNvSpPr/>
            <p:nvPr/>
          </p:nvSpPr>
          <p:spPr>
            <a:xfrm>
              <a:off x="5732145" y="1676400"/>
              <a:ext cx="19050" cy="23479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598795" y="21202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692419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5598795" y="270700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692419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5598795" y="329469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692419" y="33685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5598795" y="388143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692419" y="3955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11037" y="1564957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规范性方程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12180" y="1833086"/>
              <a:ext cx="1994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∫₁³ (kx + b)dx = 4k + 2b = 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11037" y="215265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倍数关系方程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012180" y="2419826"/>
              <a:ext cx="49568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∫₂³ = 2.5k + b，∫₁² = 1.5k + b，由 2.5k + b = 2(1.5k + b) 得 b = −k/2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011037" y="273939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解出系数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012180" y="3006566"/>
              <a:ext cx="32681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代回得 4k − k = 3k = 1，所以 k = 1/3，b = −1/6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011037" y="332613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验非负性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012180" y="3593306"/>
              <a:ext cx="46929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f(1) = 1/6 &gt; 0，f(3) = 5/6 &gt; 0，一次函数在 (1, 3) 上全为正，合格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011037" y="391287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求所问概率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012180" y="4180999"/>
              <a:ext cx="516763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x/3 − 1/6 从 1.5 积到 2.5 得 (1/6)(2.5² − 1.5²) − (1/6)(1) = 4/6 − 1/6 =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1/2</a:t>
              </a:r>
            </a:p>
          </p:txBody>
        </p:sp>
      </p:grpSp>
      <p:grpSp>
        <p:nvGrpSpPr>
          <p:cNvPr id="49" name="c2-callout-2"/>
          <p:cNvGrpSpPr/>
          <p:nvPr/>
        </p:nvGrpSpPr>
        <p:grpSpPr>
          <a:xfrm>
            <a:off x="5598795" y="4776788"/>
            <a:ext cx="6059805" cy="729615"/>
            <a:chOff x="5598795" y="4776788"/>
            <a:chExt cx="6059805" cy="729615"/>
          </a:xfrm>
        </p:grpSpPr>
        <p:sp>
          <p:nvSpPr>
            <p:cNvPr id="44" name="Rectangle 44"/>
            <p:cNvSpPr/>
            <p:nvPr/>
          </p:nvSpPr>
          <p:spPr>
            <a:xfrm>
              <a:off x="5598795" y="4776788"/>
              <a:ext cx="6059805" cy="729615"/>
            </a:xfrm>
            <a:prstGeom prst="roundRect">
              <a:avLst>
                <a:gd name="adj" fmla="val 1566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5803583" y="5041583"/>
              <a:ext cx="200026" cy="200026"/>
              <a:chOff x="5803583" y="5041583"/>
              <a:chExt cx="200026" cy="200026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5803583" y="504158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5870258" y="511937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6106287" y="4922520"/>
              <a:ext cx="505434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k = 1/3，b = −1/6，P{1.5 &lt; X &lt; 2.5} = 1/2。结果已用 sympy 复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核。</a:t>
              </a:r>
            </a:p>
          </p:txBody>
        </p:sp>
      </p:grpSp>
      <p:grpSp>
        <p:nvGrpSpPr>
          <p:cNvPr id="56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0" name="Rectangle 50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0892" y="6023610"/>
              <a:ext cx="90187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解完一定要回头验 f ≥ 0。若某组解让密度在区间内变成负数，那组解就得舍掉，这一步在考试里经常是踩分点。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01456" cy="909257"/>
            <a:chOff x="520446" y="342900"/>
            <a:chExt cx="66014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随机变量 · 连续型随机变量及其概率密度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014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例13：分段密度求分布函数，要一段一段积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544378" cy="1798320"/>
            <a:chOff x="533400" y="1524000"/>
            <a:chExt cx="4544378" cy="17983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1798320"/>
            </a:xfrm>
            <a:prstGeom prst="roundRect">
              <a:avLst>
                <a:gd name="adj" fmla="val 74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316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7815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4448" y="1737836"/>
              <a:ext cx="2942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38453" y="174450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三角形密度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77"/>
                <p:cNvSpPr txBox="1">
                  <a:spLocks noGrp="1"/>
                </p:cNvSpPr>
                <p:nvPr/>
              </p:nvSpPr>
              <p:spPr>
                <a:xfrm>
                  <a:off x="752475" y="2040255"/>
                  <a:ext cx="4144328" cy="800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&lt;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&lt;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m:rPr>
                                    <m:nor m:val="on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其他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45998" y="2942749"/>
              <a:ext cx="39392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X 的分布函数 F(x)。原课件只给题面没有解答。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3487102"/>
            <a:ext cx="4544378" cy="1867852"/>
            <a:chOff x="533400" y="3487102"/>
            <a:chExt cx="4544378" cy="1867852"/>
          </a:xfrm>
        </p:grpSpPr>
        <p:sp>
          <p:nvSpPr>
            <p:cNvPr id="15" name="Rectangle 15"/>
            <p:cNvSpPr/>
            <p:nvPr/>
          </p:nvSpPr>
          <p:spPr>
            <a:xfrm>
              <a:off x="533400" y="3487102"/>
              <a:ext cx="4544378" cy="1867852"/>
            </a:xfrm>
            <a:prstGeom prst="roundRect">
              <a:avLst>
                <a:gd name="adj" fmla="val 71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620452"/>
              <a:ext cx="47625" cy="160115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52475" y="366807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5147" y="370093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5998" y="4008596"/>
              <a:ext cx="393877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 是从 −∞ 积到 x 的面积。x 每跨过一个分段点，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被积函数就换一个表达式，所以 F 也要跟着分段，分段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点与 f 的完全一致。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7141" y="4775835"/>
              <a:ext cx="33960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积到第二段时别忘了带上第一段已经攒下的面积 1/2。</a:t>
              </a:r>
            </a:p>
          </p:txBody>
        </p:sp>
      </p:grpSp>
      <p:grpSp>
        <p:nvGrpSpPr>
          <p:cNvPr id="35" name="c2-steps-1"/>
          <p:cNvGrpSpPr/>
          <p:nvPr/>
        </p:nvGrpSpPr>
        <p:grpSpPr>
          <a:xfrm>
            <a:off x="5382578" y="1533525"/>
            <a:ext cx="3252940" cy="1596962"/>
            <a:chOff x="5382578" y="1533525"/>
            <a:chExt cx="3252940" cy="1596962"/>
          </a:xfrm>
        </p:grpSpPr>
        <p:sp>
          <p:nvSpPr>
            <p:cNvPr id="22" name="Rectangle 22"/>
            <p:cNvSpPr/>
            <p:nvPr/>
          </p:nvSpPr>
          <p:spPr>
            <a:xfrm>
              <a:off x="5515928" y="1676400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5382578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47620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382578" y="20869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476201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5382578" y="26393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476201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795201" y="1564481"/>
              <a:ext cx="7276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≤ x &lt; 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796344" y="1818322"/>
              <a:ext cx="27767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 = ∫₀ˣ t dt = x²/2；x &lt; 0 时 F(x) = 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795201" y="2116931"/>
              <a:ext cx="7276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≤ x &lt; 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796344" y="2371725"/>
              <a:ext cx="28391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 = 1/2 + ∫₁ˣ (2 − t)dt = 2x − x²/2 − 1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795201" y="2670334"/>
              <a:ext cx="4200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≥ 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796344" y="2925128"/>
              <a:ext cx="15669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面积全部积完，F(x) = 1</a:t>
              </a:r>
            </a:p>
          </p:txBody>
        </p:sp>
      </p:grpSp>
      <p:grpSp>
        <p:nvGrpSpPr>
          <p:cNvPr id="41" name="c2-card-2"/>
          <p:cNvGrpSpPr/>
          <p:nvPr/>
        </p:nvGrpSpPr>
        <p:grpSpPr>
          <a:xfrm>
            <a:off x="5382578" y="3291840"/>
            <a:ext cx="6276022" cy="2063115"/>
            <a:chOff x="5382578" y="3291840"/>
            <a:chExt cx="6276022" cy="2063115"/>
          </a:xfrm>
        </p:grpSpPr>
        <p:sp>
          <p:nvSpPr>
            <p:cNvPr id="36" name="Rectangle 36"/>
            <p:cNvSpPr/>
            <p:nvPr/>
          </p:nvSpPr>
          <p:spPr>
            <a:xfrm>
              <a:off x="5382578" y="3291840"/>
              <a:ext cx="6276022" cy="2063115"/>
            </a:xfrm>
            <a:prstGeom prst="roundRect">
              <a:avLst>
                <a:gd name="adj" fmla="val 6464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563552" y="347281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656224" y="350567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formula178"/>
                <p:cNvSpPr txBox="1">
                  <a:spLocks noGrp="1"/>
                </p:cNvSpPr>
                <p:nvPr/>
              </p:nvSpPr>
              <p:spPr>
                <a:xfrm>
                  <a:off x="5563552" y="3791902"/>
                  <a:ext cx="5914072" cy="11201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0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&lt;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sSup>
                                      <m:e>
                                        <m:r>
                                          <a:rPr lang="zh-CN" sz="10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p>
                                        <m:r>
                                          <a:rPr lang="zh-CN" sz="10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&lt;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sSup>
                                      <m:e>
                                        <m:r>
                                          <a:rPr lang="zh-CN" sz="10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p>
                                        <m:r>
                                          <a:rPr lang="zh-CN" sz="10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&lt;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≥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0" name="TextBox 40"/>
            <p:cNvSpPr txBox="1"/>
            <p:nvPr/>
          </p:nvSpPr>
          <p:spPr>
            <a:xfrm>
              <a:off x="5558219" y="5010150"/>
              <a:ext cx="47668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接口检查：x = 1 处两段都给 1/2，x = 2 处第三段给 1，F 连续且终值为 1。</a:t>
              </a:r>
            </a:p>
          </p:txBody>
        </p:sp>
      </p:grpSp>
      <p:grpSp>
        <p:nvGrpSpPr>
          <p:cNvPr id="47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2" name="Rectangle 42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1273" y="6039326"/>
              <a:ext cx="101080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分段积分的通用做法是“累加前面各段的完整面积，再加上本段从左端点积到 x 的部分”。写完用接口连续性和 F(+∞) = 1 各验一次。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28332" cy="909257"/>
            <a:chOff x="520446" y="342900"/>
            <a:chExt cx="52283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随机变量 · 连续型随机变量及其概率密度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283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例14：由分布函数反求常数与密度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760595" cy="2243138"/>
            <a:chOff x="533400" y="1524000"/>
            <a:chExt cx="4760595" cy="22431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2243138"/>
            </a:xfrm>
            <a:prstGeom prst="roundRect">
              <a:avLst>
                <a:gd name="adj" fmla="val 59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764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97205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4868" y="1750695"/>
              <a:ext cx="3152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68552" y="175641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分布函数里含反正弦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83"/>
                <p:cNvSpPr txBox="1">
                  <a:spLocks noGrp="1"/>
                </p:cNvSpPr>
                <p:nvPr/>
              </p:nvSpPr>
              <p:spPr>
                <a:xfrm>
                  <a:off x="763905" y="2067878"/>
                  <a:ext cx="4337685" cy="929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&lt;−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  <m:func>
                                  <m:funcPr/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arcsin</m:t>
                                    </m:r>
                                  </m:fName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num>
                                      <m:den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a</m:t>
                                        </m:r>
                                      </m:den>
                                    </m:f>
                                  </m:e>
                                </m:func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&lt;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≥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57047" y="3107055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其中 a &gt; 0。求 (1) 常数 A、B；(2) P{−a/2 ≤ X ≤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a/2}；(3) X 的密度函数。原课件只给题面没有解答。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942398"/>
            <a:ext cx="4760595" cy="1564005"/>
            <a:chOff x="533400" y="3942398"/>
            <a:chExt cx="4760595" cy="1564005"/>
          </a:xfrm>
        </p:grpSpPr>
        <p:sp>
          <p:nvSpPr>
            <p:cNvPr id="15" name="Rectangle 15"/>
            <p:cNvSpPr/>
            <p:nvPr/>
          </p:nvSpPr>
          <p:spPr>
            <a:xfrm>
              <a:off x="533400" y="3942398"/>
              <a:ext cx="4760595" cy="1564005"/>
            </a:xfrm>
            <a:prstGeom prst="roundRect">
              <a:avLst>
                <a:gd name="adj" fmla="val 85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075748"/>
              <a:ext cx="47625" cy="12973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3905" y="413480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5345" y="416909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7047" y="4491038"/>
              <a:ext cx="415423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连续型的 F 处处连续，两个接口各给一个方程，正好定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出两个常数。</a:t>
              </a:r>
            </a:p>
          </p:txBody>
        </p:sp>
      </p:grpSp>
      <p:grpSp>
        <p:nvGrpSpPr>
          <p:cNvPr id="42" name="c2-steps-1"/>
          <p:cNvGrpSpPr/>
          <p:nvPr/>
        </p:nvGrpSpPr>
        <p:grpSpPr>
          <a:xfrm>
            <a:off x="5598795" y="1533525"/>
            <a:ext cx="5673471" cy="3074194"/>
            <a:chOff x="5598795" y="1533525"/>
            <a:chExt cx="5673471" cy="3074194"/>
          </a:xfrm>
        </p:grpSpPr>
        <p:sp>
          <p:nvSpPr>
            <p:cNvPr id="21" name="Rectangle 21"/>
            <p:cNvSpPr/>
            <p:nvPr/>
          </p:nvSpPr>
          <p:spPr>
            <a:xfrm>
              <a:off x="5732145" y="1676400"/>
              <a:ext cx="19050" cy="25546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5598795" y="21202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692419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598795" y="270700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692419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598795" y="329469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692419" y="33685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5598795" y="408813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692419" y="41619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11037" y="1564957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左接口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12180" y="1833086"/>
              <a:ext cx="2892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F(−a) = A + B·arcsin(−1) = A − Bπ/2 = 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11037" y="215265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右接口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12180" y="2419826"/>
              <a:ext cx="28075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F(a⁻) = A + B·arcsin(1) = A + Bπ/2 = 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011037" y="273939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解方程组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012180" y="3006566"/>
              <a:ext cx="2963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两式相加得 2A = 1，所以 A = 1/2，B = 1/π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011037" y="332613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求区间概率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012180" y="3593306"/>
              <a:ext cx="526008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F(a/2) − F(−a/2) = (1/π)[arcsin(1/2) − arcsin(−1/2)] = (1/π)(π/6 + π/6) =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011037" y="412051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求导得密度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012180" y="4387691"/>
              <a:ext cx="38899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|x| &lt; a 上 f(x) = F′(x) = 1/(π√(a² − x²))，其余为 0</a:t>
              </a:r>
            </a:p>
          </p:txBody>
        </p:sp>
      </p:grpSp>
      <p:grpSp>
        <p:nvGrpSpPr>
          <p:cNvPr id="48" name="c2-callout-2"/>
          <p:cNvGrpSpPr/>
          <p:nvPr/>
        </p:nvGrpSpPr>
        <p:grpSpPr>
          <a:xfrm>
            <a:off x="5598795" y="4776788"/>
            <a:ext cx="6059805" cy="729615"/>
            <a:chOff x="5598795" y="4776788"/>
            <a:chExt cx="6059805" cy="729615"/>
          </a:xfrm>
        </p:grpSpPr>
        <p:sp>
          <p:nvSpPr>
            <p:cNvPr id="43" name="Rectangle 43"/>
            <p:cNvSpPr/>
            <p:nvPr/>
          </p:nvSpPr>
          <p:spPr>
            <a:xfrm>
              <a:off x="5598795" y="4776788"/>
              <a:ext cx="6059805" cy="729615"/>
            </a:xfrm>
            <a:prstGeom prst="roundRect">
              <a:avLst>
                <a:gd name="adj" fmla="val 1566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5803583" y="5041583"/>
              <a:ext cx="200026" cy="200026"/>
              <a:chOff x="5803583" y="5041583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5803583" y="504158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5870258" y="511937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106287" y="4922520"/>
              <a:ext cx="496004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 = 1/2，B = 1/π，P{−a/2 ≤ X ≤ a/2} = 1/3。这个分布叫反正弦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分布，密度在 ±a 处趋于无穷，但积分仍是 1。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9" name="Rectangle 49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892" y="6023610"/>
              <a:ext cx="105362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求导时里层是 x/a，链式法则会多出一个 1/a，正好与根号里提出的 a 约掉。漏掉这一步得到的密度积分不等于 1，一验就能发现。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32887" cy="909257"/>
            <a:chOff x="520446" y="342900"/>
            <a:chExt cx="733288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随机变量 · 连续型随机变量及其概率密度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328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例15：一道题走完“定常数、求概率、求 F”三步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544378" cy="2037398"/>
            <a:chOff x="533400" y="1524000"/>
            <a:chExt cx="4544378" cy="203739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2037398"/>
            </a:xfrm>
            <a:prstGeom prst="roundRect">
              <a:avLst>
                <a:gd name="adj" fmla="val 65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7069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51625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288" y="1763554"/>
              <a:ext cx="336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98651" y="176736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二次型密度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86"/>
                <p:cNvSpPr txBox="1">
                  <a:spLocks noGrp="1"/>
                </p:cNvSpPr>
                <p:nvPr/>
              </p:nvSpPr>
              <p:spPr>
                <a:xfrm>
                  <a:off x="775335" y="2095500"/>
                  <a:ext cx="4098608" cy="6515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8x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  <m:sSup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p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&lt;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&lt;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m:rPr>
                                    <m:nor m:val="on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其他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68096" y="2863691"/>
              <a:ext cx="360324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(1) 常数 A；(2) P{X &gt; 1}；(3) 分布函数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746182"/>
            <a:ext cx="4544378" cy="1750695"/>
            <a:chOff x="533400" y="3746182"/>
            <a:chExt cx="4544378" cy="1750695"/>
          </a:xfrm>
        </p:grpSpPr>
        <p:sp>
          <p:nvSpPr>
            <p:cNvPr id="15" name="Rectangle 15"/>
            <p:cNvSpPr/>
            <p:nvPr/>
          </p:nvSpPr>
          <p:spPr>
            <a:xfrm>
              <a:off x="533400" y="3746182"/>
              <a:ext cx="4544378" cy="1750695"/>
            </a:xfrm>
            <a:prstGeom prst="roundRect">
              <a:avLst>
                <a:gd name="adj" fmla="val 76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879532"/>
              <a:ext cx="47625" cy="148399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75335" y="395001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5543" y="398573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8096" y="4323874"/>
              <a:ext cx="389178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(1) 问永远先用规范性；第 (2) 问既可以正面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积分也可以用 1 − F(1)；第 (3) 问按分段点把实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轴切成三段。</a:t>
              </a:r>
            </a:p>
          </p:txBody>
        </p:sp>
      </p:grpSp>
      <p:grpSp>
        <p:nvGrpSpPr>
          <p:cNvPr id="42" name="c2-steps-1"/>
          <p:cNvGrpSpPr/>
          <p:nvPr/>
        </p:nvGrpSpPr>
        <p:grpSpPr>
          <a:xfrm>
            <a:off x="5382578" y="1533525"/>
            <a:ext cx="5658277" cy="3031236"/>
            <a:chOff x="5382578" y="1533525"/>
            <a:chExt cx="5658277" cy="3031236"/>
          </a:xfrm>
        </p:grpSpPr>
        <p:sp>
          <p:nvSpPr>
            <p:cNvPr id="21" name="Rectangle 21"/>
            <p:cNvSpPr/>
            <p:nvPr/>
          </p:nvSpPr>
          <p:spPr>
            <a:xfrm>
              <a:off x="5515928" y="1676400"/>
              <a:ext cx="19050" cy="24831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5382578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47620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5382578" y="21545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476201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382578" y="27755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476201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382578" y="339566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476201" y="3469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5382578" y="401669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476201" y="40905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794438" y="156638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定常数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795582" y="1846898"/>
              <a:ext cx="52452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∫₀² A(8t − 3t²)dt = A[4t² − t³]₀² = A(16 − 8) = 8A = 1，故 A = 1/8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794438" y="2187416"/>
              <a:ext cx="10963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P{X &gt; 1}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795582" y="2467927"/>
              <a:ext cx="4373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∫₁² (1/8)(8x − 3x²)dx = (1/8)[(16 − 8) − (4 − 1)] = 5/8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794438" y="2808446"/>
              <a:ext cx="7174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&lt; 0 段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795582" y="3088957"/>
              <a:ext cx="6600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 = 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794438" y="3429476"/>
              <a:ext cx="10586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≤ x &lt; 2 段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795582" y="3709988"/>
              <a:ext cx="37621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 = (1/8)∫₀ˣ (8t − 3t²)dt = (1/8)(4x² − x³)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794438" y="4049554"/>
              <a:ext cx="7174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≥ 2 段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795582" y="4330065"/>
              <a:ext cx="3373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 = 1，代 x = 2 验算 (1/8)(16 − 8) = 1 ✓</a:t>
              </a:r>
            </a:p>
          </p:txBody>
        </p:sp>
      </p:grpSp>
      <p:grpSp>
        <p:nvGrpSpPr>
          <p:cNvPr id="48" name="c2-callout-2"/>
          <p:cNvGrpSpPr/>
          <p:nvPr/>
        </p:nvGrpSpPr>
        <p:grpSpPr>
          <a:xfrm>
            <a:off x="5382578" y="4741545"/>
            <a:ext cx="6276022" cy="756285"/>
            <a:chOff x="5382578" y="4741545"/>
            <a:chExt cx="6276022" cy="756285"/>
          </a:xfrm>
        </p:grpSpPr>
        <p:sp>
          <p:nvSpPr>
            <p:cNvPr id="43" name="Rectangle 43"/>
            <p:cNvSpPr/>
            <p:nvPr/>
          </p:nvSpPr>
          <p:spPr>
            <a:xfrm>
              <a:off x="5382578" y="4741545"/>
              <a:ext cx="6276022" cy="756285"/>
            </a:xfrm>
            <a:prstGeom prst="roundRect">
              <a:avLst>
                <a:gd name="adj" fmla="val 15113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5587365" y="5019675"/>
              <a:ext cx="200026" cy="200026"/>
              <a:chOff x="5587365" y="5019675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5587365" y="501967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5654040" y="509746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5889688" y="4888706"/>
              <a:ext cx="5136134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 = 1/8，P{X &gt; 1} = 5/8 = 0.625，F(x) = (4x² − x³)/8 在 0 ≤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x &lt; 2 上。三问已全部用 sympy 复核。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9" name="Rectangle 49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511" y="6004084"/>
              <a:ext cx="104996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积分上限是变量 x 时，被积变量一定要换个字母写成 t，写成 ∫₀ˣ f(x)dx 会把自变量和积分变量搞混，答题时这属于硬伤。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852160" cy="2997517"/>
            <a:chOff x="667512" y="1835468"/>
            <a:chExt cx="5852160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几种常用的连续型随机变量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均匀、指数、正态，三种分布覆盖了绝大多数应用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均匀分布与几何概型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指数分布与无记忆性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正态分布与标准化查表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随机变量 · 几种常用的连续型随机变量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均匀分布：落在哪一小段只看这段有多长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1927860"/>
            <a:chOff x="533400" y="1524000"/>
            <a:chExt cx="5410200" cy="19278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27860"/>
            </a:xfrm>
            <a:prstGeom prst="roundRect">
              <a:avLst>
                <a:gd name="adj" fmla="val 69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6116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597" y="1756410"/>
              <a:ext cx="14989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均匀分布 U(a, b)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99"/>
                <p:cNvSpPr txBox="1">
                  <a:spLocks noGrp="1"/>
                </p:cNvSpPr>
                <p:nvPr/>
              </p:nvSpPr>
              <p:spPr>
                <a:xfrm>
                  <a:off x="763905" y="2067878"/>
                  <a:ext cx="4987290" cy="8715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&lt;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&lt;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m:rPr>
                                    <m:nor m:val="on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其他</m:t>
                                </m:r>
                              </m:e>
                            </m:eqArr>
                          </m:e>
                        </m:d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num>
                                  <m:den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&lt;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&lt;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≥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57047" y="3048952"/>
              <a:ext cx="16054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记作 X ~ U(a, b)。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627120"/>
            <a:ext cx="5410200" cy="2051685"/>
            <a:chOff x="533400" y="3627120"/>
            <a:chExt cx="5410200" cy="2051685"/>
          </a:xfrm>
        </p:grpSpPr>
        <p:sp>
          <p:nvSpPr>
            <p:cNvPr id="15" name="Rectangle 15"/>
            <p:cNvSpPr/>
            <p:nvPr/>
          </p:nvSpPr>
          <p:spPr>
            <a:xfrm>
              <a:off x="533400" y="3627120"/>
              <a:ext cx="5410200" cy="2051685"/>
            </a:xfrm>
            <a:prstGeom prst="roundRect">
              <a:avLst>
                <a:gd name="adj" fmla="val 65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760470"/>
              <a:ext cx="47625" cy="178498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3905" y="381952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7344" y="385381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关键性质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7047" y="4175760"/>
              <a:ext cx="22490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(a, b) 内任意 x₁ &lt; x₂，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formula200"/>
                <p:cNvSpPr txBox="1">
                  <a:spLocks noGrp="1"/>
                </p:cNvSpPr>
                <p:nvPr/>
              </p:nvSpPr>
              <p:spPr>
                <a:xfrm>
                  <a:off x="763905" y="4455795"/>
                  <a:ext cx="4987290" cy="4533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&lt;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&lt;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sub>
                          <m:sup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num>
                              <m:den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den>
                            </m:f>
                          </m:e>
                        </m:nary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1" name="TextBox 21"/>
            <p:cNvSpPr txBox="1"/>
            <p:nvPr/>
          </p:nvSpPr>
          <p:spPr>
            <a:xfrm>
              <a:off x="757047" y="5018723"/>
              <a:ext cx="475430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概率只依赖子区间的长度，与它在 (a, b) 中的位置无关。这就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是第 1 章一维几何概型的随机变量说法。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6248400" y="1524000"/>
            <a:ext cx="5410200" cy="2586990"/>
            <a:chOff x="6248400" y="1524000"/>
            <a:chExt cx="5410200" cy="2586990"/>
          </a:xfrm>
        </p:grpSpPr>
        <p:sp>
          <p:nvSpPr>
            <p:cNvPr id="23" name="Rectangle 23"/>
            <p:cNvSpPr/>
            <p:nvPr/>
          </p:nvSpPr>
          <p:spPr>
            <a:xfrm>
              <a:off x="6248400" y="1524000"/>
              <a:ext cx="5410200" cy="2586990"/>
            </a:xfrm>
            <a:prstGeom prst="roundRect">
              <a:avLst>
                <a:gd name="adj" fmla="val 51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57925" y="1657350"/>
              <a:ext cx="47625" cy="232029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78905" y="1716405"/>
              <a:ext cx="497205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69868" y="1750695"/>
              <a:ext cx="3152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例16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83552" y="1756410"/>
              <a:ext cx="30917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乘客在车站等车的时间服从 U(0, 10)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72047" y="2090738"/>
              <a:ext cx="475430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 求等车时间不超过 5 min 的概率；(2) 求 10 位乘客中恰有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位等车不超过 5 min 的概率。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72047" y="2649855"/>
              <a:ext cx="4659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 为等车时间，P{X &lt; 5} = ∫₀⁵ dx/10 = 5/10 = 0.5。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72047" y="2952750"/>
              <a:ext cx="47971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再设 Y 为 10 人中等车不超过 5 min 的人数，各人独立且概率都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0.5，故 Y ~ B(10, 0.5)，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formula201"/>
                <p:cNvSpPr txBox="1">
                  <a:spLocks noGrp="1"/>
                </p:cNvSpPr>
                <p:nvPr/>
              </p:nvSpPr>
              <p:spPr>
                <a:xfrm>
                  <a:off x="6478905" y="3489960"/>
                  <a:ext cx="4987290" cy="411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5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Sup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10</m:t>
                            </m:r>
                          </m:sub>
                          <m:sup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5</m:t>
                            </m:r>
                          </m:sup>
                        </m:sSubSup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0.5</m:t>
                                </m:r>
                              </m:e>
                            </m:d>
                          </m:e>
                          <m:sup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5</m:t>
                            </m:r>
                          </m:sup>
                        </m:sSup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0.5</m:t>
                                </m:r>
                              </m:e>
                            </m:d>
                          </m:e>
                          <m:sup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252</m:t>
                            </m:r>
                          </m:num>
                          <m:den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1024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0.2461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8" name="c2-card-2"/>
          <p:cNvGrpSpPr/>
          <p:nvPr/>
        </p:nvGrpSpPr>
        <p:grpSpPr>
          <a:xfrm>
            <a:off x="6248400" y="4286250"/>
            <a:ext cx="5410200" cy="1392555"/>
            <a:chOff x="6248400" y="4286250"/>
            <a:chExt cx="5410200" cy="1392555"/>
          </a:xfrm>
        </p:grpSpPr>
        <p:sp>
          <p:nvSpPr>
            <p:cNvPr id="33" name="Rectangle 33"/>
            <p:cNvSpPr/>
            <p:nvPr/>
          </p:nvSpPr>
          <p:spPr>
            <a:xfrm>
              <a:off x="6248400" y="4286250"/>
              <a:ext cx="5410200" cy="1392555"/>
            </a:xfrm>
            <a:prstGeom prst="roundRect">
              <a:avLst>
                <a:gd name="adj" fmla="val 95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57925" y="4419600"/>
              <a:ext cx="47625" cy="11258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78905" y="447865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70345" y="451294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72047" y="4834890"/>
              <a:ext cx="472001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原课件这一步的结果写作 0.256。252/1024 = 0.24609，应为</a:t>
              </a:r>
              <a:br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0.2461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（保留三位小数是 0.246）。</a:t>
              </a:r>
            </a:p>
          </p:txBody>
        </p:sp>
      </p:grpSp>
      <p:grpSp>
        <p:nvGrpSpPr>
          <p:cNvPr id="45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9" name="Rectangle 39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892" y="6023610"/>
              <a:ext cx="96185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这道题把连续型和离散型套在了一起：先用均匀分布算出单人的概率，再把它当成二项分布的 p。考试里很爱这么出题。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随机变量 · 几种常用的连续型随机变量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均匀分布与指数分布：两组密度和分布函数的图像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4" name="ueA"/>
          <p:cNvGrpSpPr/>
          <p:nvPr/>
        </p:nvGrpSpPr>
        <p:grpSpPr>
          <a:xfrm>
            <a:off x="525351" y="1524000"/>
            <a:ext cx="5532549" cy="4762500"/>
            <a:chOff x="525351" y="1524000"/>
            <a:chExt cx="5532549" cy="4762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524500" cy="4762500"/>
            </a:xfrm>
            <a:prstGeom prst="roundRect">
              <a:avLst>
                <a:gd name="adj" fmla="val 24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7232" y="1658541"/>
              <a:ext cx="3041702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1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均匀分布 U(a, b)：密度是一段水平线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18376" y="1930479"/>
              <a:ext cx="3972916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落在子区间的概率只跟子区间的长度有关，与它在哪儿无关。</a:t>
              </a:r>
            </a:p>
          </p:txBody>
        </p:sp>
        <p:sp>
          <p:nvSpPr>
            <p:cNvPr id="10" name="Polygon 10"/>
            <p:cNvSpPr/>
            <p:nvPr/>
          </p:nvSpPr>
          <p:spPr>
            <a:xfrm>
              <a:off x="1509579" y="2623957"/>
              <a:ext cx="1101814" cy="747893"/>
            </a:xfrm>
            <a:custGeom>
              <a:avLst/>
              <a:gdLst/>
              <a:ahLst/>
              <a:cxnLst/>
              <a:rect l="l" t="t" r="r" b="b"/>
              <a:pathLst>
                <a:path w="1101814" h="747893">
                  <a:moveTo>
                    <a:pt x="0" y="747893"/>
                  </a:moveTo>
                  <a:lnTo>
                    <a:pt x="0" y="0"/>
                  </a:lnTo>
                  <a:lnTo>
                    <a:pt x="1101814" y="0"/>
                  </a:lnTo>
                  <a:lnTo>
                    <a:pt x="1101814" y="747893"/>
                  </a:lnTo>
                  <a:close/>
                </a:path>
              </a:pathLst>
            </a:custGeom>
            <a:solidFill>
              <a:srgbClr val="D6DFF3"/>
            </a:solidFill>
            <a:ln>
              <a:noFill/>
            </a:ln>
          </p:spPr>
        </p:sp>
        <p:sp>
          <p:nvSpPr>
            <p:cNvPr id="11" name="Polygon 11"/>
            <p:cNvSpPr/>
            <p:nvPr/>
          </p:nvSpPr>
          <p:spPr>
            <a:xfrm>
              <a:off x="1818094" y="2623957"/>
              <a:ext cx="374609" cy="747893"/>
            </a:xfrm>
            <a:custGeom>
              <a:avLst/>
              <a:gdLst/>
              <a:ahLst/>
              <a:cxnLst/>
              <a:rect l="l" t="t" r="r" b="b"/>
              <a:pathLst>
                <a:path w="374609" h="747893">
                  <a:moveTo>
                    <a:pt x="0" y="747893"/>
                  </a:moveTo>
                  <a:lnTo>
                    <a:pt x="0" y="0"/>
                  </a:lnTo>
                  <a:lnTo>
                    <a:pt x="374609" y="0"/>
                  </a:lnTo>
                  <a:lnTo>
                    <a:pt x="374609" y="747893"/>
                  </a:lnTo>
                  <a:close/>
                </a:path>
              </a:pathLst>
            </a:custGeom>
            <a:solidFill>
              <a:srgbClr val="A9BBE4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1123950" y="3371850"/>
              <a:ext cx="385629" cy="9525"/>
            </a:xfrm>
            <a:custGeom>
              <a:avLst/>
              <a:gdLst/>
              <a:ahLst/>
              <a:cxnLst/>
              <a:rect l="l" t="t" r="r" b="b"/>
              <a:pathLst>
                <a:path w="385629" h="9525">
                  <a:moveTo>
                    <a:pt x="0" y="0"/>
                  </a:moveTo>
                  <a:lnTo>
                    <a:pt x="385629" y="0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509579" y="2623957"/>
              <a:ext cx="1101814" cy="9525"/>
            </a:xfrm>
            <a:custGeom>
              <a:avLst/>
              <a:gdLst/>
              <a:ahLst/>
              <a:cxnLst/>
              <a:rect l="l" t="t" r="r" b="b"/>
              <a:pathLst>
                <a:path w="1101814" h="9525">
                  <a:moveTo>
                    <a:pt x="0" y="0"/>
                  </a:moveTo>
                  <a:lnTo>
                    <a:pt x="1101814" y="0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611393" y="3371850"/>
              <a:ext cx="550907" cy="9525"/>
            </a:xfrm>
            <a:custGeom>
              <a:avLst/>
              <a:gdLst/>
              <a:ahLst/>
              <a:cxnLst/>
              <a:rect l="l" t="t" r="r" b="b"/>
              <a:pathLst>
                <a:path w="550907" h="9525">
                  <a:moveTo>
                    <a:pt x="0" y="0"/>
                  </a:moveTo>
                  <a:lnTo>
                    <a:pt x="550907" y="0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1509579" y="2623957"/>
              <a:ext cx="9525" cy="747893"/>
            </a:xfrm>
            <a:custGeom>
              <a:avLst/>
              <a:gdLst/>
              <a:ahLst/>
              <a:cxnLst/>
              <a:rect l="l" t="t" r="r" b="b"/>
              <a:pathLst>
                <a:path w="9525" h="747893">
                  <a:moveTo>
                    <a:pt x="0" y="747893"/>
                  </a:moveTo>
                  <a:lnTo>
                    <a:pt x="0" y="0"/>
                  </a:lnTo>
                </a:path>
              </a:pathLst>
            </a:custGeom>
            <a:noFill/>
            <a:ln w="13335">
              <a:solidFill>
                <a:srgbClr val="2F4B9A"/>
              </a:solidFill>
              <a:custDash>
                <a:ds d="357143" sp="285714"/>
              </a:custDash>
            </a:ln>
          </p:spPr>
        </p:sp>
        <p:sp>
          <p:nvSpPr>
            <p:cNvPr id="16" name="Line 16"/>
            <p:cNvSpPr/>
            <p:nvPr/>
          </p:nvSpPr>
          <p:spPr>
            <a:xfrm>
              <a:off x="2611393" y="2623957"/>
              <a:ext cx="9525" cy="747893"/>
            </a:xfrm>
            <a:custGeom>
              <a:avLst/>
              <a:gdLst/>
              <a:ahLst/>
              <a:cxnLst/>
              <a:rect l="l" t="t" r="r" b="b"/>
              <a:pathLst>
                <a:path w="9525" h="747893">
                  <a:moveTo>
                    <a:pt x="0" y="747893"/>
                  </a:moveTo>
                  <a:lnTo>
                    <a:pt x="0" y="0"/>
                  </a:lnTo>
                </a:path>
              </a:pathLst>
            </a:custGeom>
            <a:noFill/>
            <a:ln w="13335">
              <a:solidFill>
                <a:srgbClr val="2F4B9A"/>
              </a:solidFill>
              <a:custDash>
                <a:ds d="357143" sp="285714"/>
              </a:custDash>
            </a:ln>
          </p:spPr>
        </p:sp>
        <p:sp>
          <p:nvSpPr>
            <p:cNvPr id="17" name="Line 17"/>
            <p:cNvSpPr/>
            <p:nvPr/>
          </p:nvSpPr>
          <p:spPr>
            <a:xfrm>
              <a:off x="1066800" y="3371850"/>
              <a:ext cx="2162175" cy="9525"/>
            </a:xfrm>
            <a:custGeom>
              <a:avLst/>
              <a:gdLst/>
              <a:ahLst/>
              <a:cxnLst/>
              <a:rect l="l" t="t" r="r" b="b"/>
              <a:pathLst>
                <a:path w="2162175" h="9525">
                  <a:moveTo>
                    <a:pt x="0" y="0"/>
                  </a:moveTo>
                  <a:lnTo>
                    <a:pt x="2162175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3228975" y="3341846"/>
              <a:ext cx="66675" cy="60007"/>
            </a:xfrm>
            <a:custGeom>
              <a:avLst/>
              <a:gdLst/>
              <a:ahLst/>
              <a:cxnLst/>
              <a:rect l="l" t="t" r="r" b="b"/>
              <a:pathLst>
                <a:path w="66675" h="60007">
                  <a:moveTo>
                    <a:pt x="66675" y="30004"/>
                  </a:moveTo>
                  <a:lnTo>
                    <a:pt x="0" y="60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19" name="Line 19"/>
            <p:cNvSpPr/>
            <p:nvPr/>
          </p:nvSpPr>
          <p:spPr>
            <a:xfrm>
              <a:off x="1123950" y="2314575"/>
              <a:ext cx="9525" cy="1114425"/>
            </a:xfrm>
            <a:custGeom>
              <a:avLst/>
              <a:gdLst/>
              <a:ahLst/>
              <a:cxnLst/>
              <a:rect l="l" t="t" r="r" b="b"/>
              <a:pathLst>
                <a:path w="9525" h="1114425">
                  <a:moveTo>
                    <a:pt x="0" y="111442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1093946" y="2247900"/>
              <a:ext cx="60008" cy="66675"/>
            </a:xfrm>
            <a:custGeom>
              <a:avLst/>
              <a:gdLst/>
              <a:ahLst/>
              <a:cxnLst/>
              <a:rect l="l" t="t" r="r" b="b"/>
              <a:pathLst>
                <a:path w="60008" h="66675">
                  <a:moveTo>
                    <a:pt x="30004" y="0"/>
                  </a:moveTo>
                  <a:lnTo>
                    <a:pt x="60008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328416" y="34109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0494" y="207740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71474" y="3428524"/>
              <a:ext cx="1144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1509579" y="33718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468346" y="34475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2611393" y="33718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570160" y="34475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1076325" y="2623957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25351" y="2561568"/>
              <a:ext cx="5178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1/(b−a)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19517" y="2926004"/>
              <a:ext cx="171773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10" b="1" dirty="0">
                  <a:solidFill>
                    <a:srgbClr val="16346E"/>
                  </a:solidFill>
                  <a:latin typeface="+mn-lt"/>
                  <a:ea typeface="+mn-ea"/>
                  <a:cs typeface="+mn-cs"/>
                </a:rPr>
                <a:t>Δx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1123950" y="4953000"/>
              <a:ext cx="385629" cy="9525"/>
            </a:xfrm>
            <a:custGeom>
              <a:avLst/>
              <a:gdLst/>
              <a:ahLst/>
              <a:cxnLst/>
              <a:rect l="l" t="t" r="r" b="b"/>
              <a:pathLst>
                <a:path w="385629" h="9525">
                  <a:moveTo>
                    <a:pt x="0" y="0"/>
                  </a:moveTo>
                  <a:lnTo>
                    <a:pt x="385629" y="0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1509579" y="4156643"/>
              <a:ext cx="1101814" cy="796357"/>
            </a:xfrm>
            <a:custGeom>
              <a:avLst/>
              <a:gdLst/>
              <a:ahLst/>
              <a:cxnLst/>
              <a:rect l="l" t="t" r="r" b="b"/>
              <a:pathLst>
                <a:path w="1101814" h="796357">
                  <a:moveTo>
                    <a:pt x="0" y="796357"/>
                  </a:moveTo>
                  <a:lnTo>
                    <a:pt x="1101814" y="0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2611393" y="4156643"/>
              <a:ext cx="550907" cy="9525"/>
            </a:xfrm>
            <a:custGeom>
              <a:avLst/>
              <a:gdLst/>
              <a:ahLst/>
              <a:cxnLst/>
              <a:rect l="l" t="t" r="r" b="b"/>
              <a:pathLst>
                <a:path w="550907" h="9525">
                  <a:moveTo>
                    <a:pt x="0" y="0"/>
                  </a:moveTo>
                  <a:lnTo>
                    <a:pt x="550907" y="0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1066800" y="4953000"/>
              <a:ext cx="2162175" cy="9525"/>
            </a:xfrm>
            <a:custGeom>
              <a:avLst/>
              <a:gdLst/>
              <a:ahLst/>
              <a:cxnLst/>
              <a:rect l="l" t="t" r="r" b="b"/>
              <a:pathLst>
                <a:path w="2162175" h="9525">
                  <a:moveTo>
                    <a:pt x="0" y="0"/>
                  </a:moveTo>
                  <a:lnTo>
                    <a:pt x="2162175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35" name="Polygon 35"/>
            <p:cNvSpPr/>
            <p:nvPr/>
          </p:nvSpPr>
          <p:spPr>
            <a:xfrm>
              <a:off x="3228975" y="4922996"/>
              <a:ext cx="66675" cy="60007"/>
            </a:xfrm>
            <a:custGeom>
              <a:avLst/>
              <a:gdLst/>
              <a:ahLst/>
              <a:cxnLst/>
              <a:rect l="l" t="t" r="r" b="b"/>
              <a:pathLst>
                <a:path w="66675" h="60007">
                  <a:moveTo>
                    <a:pt x="66675" y="30004"/>
                  </a:moveTo>
                  <a:lnTo>
                    <a:pt x="0" y="60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36" name="Line 36"/>
            <p:cNvSpPr/>
            <p:nvPr/>
          </p:nvSpPr>
          <p:spPr>
            <a:xfrm>
              <a:off x="1123950" y="3933825"/>
              <a:ext cx="9525" cy="1076325"/>
            </a:xfrm>
            <a:custGeom>
              <a:avLst/>
              <a:gdLst/>
              <a:ahLst/>
              <a:cxnLst/>
              <a:rect l="l" t="t" r="r" b="b"/>
              <a:pathLst>
                <a:path w="9525" h="1076325">
                  <a:moveTo>
                    <a:pt x="0" y="107632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37" name="Polygon 37"/>
            <p:cNvSpPr/>
            <p:nvPr/>
          </p:nvSpPr>
          <p:spPr>
            <a:xfrm>
              <a:off x="1093946" y="3867150"/>
              <a:ext cx="60008" cy="66675"/>
            </a:xfrm>
            <a:custGeom>
              <a:avLst/>
              <a:gdLst/>
              <a:ahLst/>
              <a:cxnLst/>
              <a:rect l="l" t="t" r="r" b="b"/>
              <a:pathLst>
                <a:path w="60008" h="66675">
                  <a:moveTo>
                    <a:pt x="30004" y="0"/>
                  </a:moveTo>
                  <a:lnTo>
                    <a:pt x="60008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328416" y="49920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41693" y="3696652"/>
              <a:ext cx="3304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71474" y="5009674"/>
              <a:ext cx="1144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1123950" y="4156643"/>
              <a:ext cx="1487443" cy="9525"/>
            </a:xfrm>
            <a:custGeom>
              <a:avLst/>
              <a:gdLst/>
              <a:ahLst/>
              <a:cxnLst/>
              <a:rect l="l" t="t" r="r" b="b"/>
              <a:pathLst>
                <a:path w="1487443" h="9525">
                  <a:moveTo>
                    <a:pt x="0" y="0"/>
                  </a:moveTo>
                  <a:lnTo>
                    <a:pt x="1487443" y="0"/>
                  </a:lnTo>
                </a:path>
              </a:pathLst>
            </a:custGeom>
            <a:noFill/>
            <a:ln w="11430">
              <a:solidFill>
                <a:srgbClr val="D9DFEA"/>
              </a:solidFill>
              <a:custDash>
                <a:ds d="416667" sp="333333"/>
              </a:custDash>
            </a:ln>
          </p:spPr>
        </p:sp>
        <p:sp>
          <p:nvSpPr>
            <p:cNvPr id="42" name="Line 42"/>
            <p:cNvSpPr/>
            <p:nvPr/>
          </p:nvSpPr>
          <p:spPr>
            <a:xfrm>
              <a:off x="1076325" y="4156643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60712" y="4094255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1509579" y="49530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468346" y="502872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2611393" y="49530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2570160" y="502872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537585" y="2507456"/>
              <a:ext cx="1860550" cy="1972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密度在 (a, b) 上是常数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1/(b − a)，别处为 0。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 F 在 (a, b) 上是一条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斜率相同的直线，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两端分别接 0 和 1。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深色小块的概率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Δx / (b − a)，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把它平移到区间内任何位置，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概率都不变。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23900" y="5334000"/>
              <a:ext cx="5143500" cy="781050"/>
            </a:xfrm>
            <a:prstGeom prst="roundRect">
              <a:avLst>
                <a:gd name="adj" fmla="val 121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33425" y="5438775"/>
              <a:ext cx="47625" cy="57150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895350" y="5438775"/>
              <a:ext cx="923020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83479" y="5492115"/>
              <a:ext cx="7467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对应第 1 章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89826" y="5750004"/>
              <a:ext cx="3762502" cy="412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一维几何概型说的“长度之比”，写成随机变量就是均匀分布。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公交车等车时间、量取长度的舍入误差都按它建模。</a:t>
              </a:r>
            </a:p>
          </p:txBody>
        </p:sp>
      </p:grpSp>
      <p:grpSp>
        <p:nvGrpSpPr>
          <p:cNvPr id="91" name="ueB"/>
          <p:cNvGrpSpPr/>
          <p:nvPr/>
        </p:nvGrpSpPr>
        <p:grpSpPr>
          <a:xfrm>
            <a:off x="6134100" y="1524000"/>
            <a:ext cx="5524500" cy="4762500"/>
            <a:chOff x="6134100" y="1524000"/>
            <a:chExt cx="5524500" cy="4762500"/>
          </a:xfrm>
        </p:grpSpPr>
        <p:sp>
          <p:nvSpPr>
            <p:cNvPr id="55" name="Rectangle 55"/>
            <p:cNvSpPr/>
            <p:nvPr/>
          </p:nvSpPr>
          <p:spPr>
            <a:xfrm>
              <a:off x="6134100" y="1524000"/>
              <a:ext cx="5524500" cy="4762500"/>
            </a:xfrm>
            <a:prstGeom prst="roundRect">
              <a:avLst>
                <a:gd name="adj" fmla="val 24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317932" y="1658541"/>
              <a:ext cx="2958292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1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指数分布 E(λ)：密度按指数速度衰减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319076" y="1930479"/>
              <a:ext cx="3804169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常用来描述寿命和等待时间，λ 越大衰减越快、寿命越短。</a:t>
              </a:r>
            </a:p>
          </p:txBody>
        </p:sp>
        <p:sp>
          <p:nvSpPr>
            <p:cNvPr id="58" name="Polygon 58"/>
            <p:cNvSpPr/>
            <p:nvPr/>
          </p:nvSpPr>
          <p:spPr>
            <a:xfrm>
              <a:off x="6894509" y="2498636"/>
              <a:ext cx="1811874" cy="873214"/>
            </a:xfrm>
            <a:custGeom>
              <a:avLst/>
              <a:gdLst/>
              <a:ahLst/>
              <a:cxnLst/>
              <a:rect l="l" t="t" r="r" b="b"/>
              <a:pathLst>
                <a:path w="1811874" h="873214">
                  <a:moveTo>
                    <a:pt x="0" y="873214"/>
                  </a:moveTo>
                  <a:lnTo>
                    <a:pt x="0" y="0"/>
                  </a:lnTo>
                  <a:lnTo>
                    <a:pt x="18126" y="43586"/>
                  </a:lnTo>
                  <a:lnTo>
                    <a:pt x="36243" y="84992"/>
                  </a:lnTo>
                  <a:lnTo>
                    <a:pt x="54359" y="124339"/>
                  </a:lnTo>
                  <a:lnTo>
                    <a:pt x="72476" y="161715"/>
                  </a:lnTo>
                  <a:lnTo>
                    <a:pt x="90592" y="197225"/>
                  </a:lnTo>
                  <a:lnTo>
                    <a:pt x="108718" y="230962"/>
                  </a:lnTo>
                  <a:lnTo>
                    <a:pt x="126835" y="263023"/>
                  </a:lnTo>
                  <a:lnTo>
                    <a:pt x="144951" y="293475"/>
                  </a:lnTo>
                  <a:lnTo>
                    <a:pt x="163068" y="322412"/>
                  </a:lnTo>
                  <a:lnTo>
                    <a:pt x="181194" y="349901"/>
                  </a:lnTo>
                  <a:lnTo>
                    <a:pt x="199311" y="376018"/>
                  </a:lnTo>
                  <a:lnTo>
                    <a:pt x="217427" y="400841"/>
                  </a:lnTo>
                  <a:lnTo>
                    <a:pt x="235544" y="424415"/>
                  </a:lnTo>
                  <a:lnTo>
                    <a:pt x="253660" y="446818"/>
                  </a:lnTo>
                  <a:lnTo>
                    <a:pt x="271786" y="468097"/>
                  </a:lnTo>
                  <a:lnTo>
                    <a:pt x="289903" y="488318"/>
                  </a:lnTo>
                  <a:lnTo>
                    <a:pt x="308019" y="507530"/>
                  </a:lnTo>
                  <a:lnTo>
                    <a:pt x="326136" y="525780"/>
                  </a:lnTo>
                  <a:lnTo>
                    <a:pt x="344262" y="543115"/>
                  </a:lnTo>
                  <a:lnTo>
                    <a:pt x="362379" y="559594"/>
                  </a:lnTo>
                  <a:lnTo>
                    <a:pt x="380495" y="575253"/>
                  </a:lnTo>
                  <a:lnTo>
                    <a:pt x="398612" y="590121"/>
                  </a:lnTo>
                  <a:lnTo>
                    <a:pt x="416728" y="604247"/>
                  </a:lnTo>
                  <a:lnTo>
                    <a:pt x="434854" y="617677"/>
                  </a:lnTo>
                  <a:lnTo>
                    <a:pt x="452971" y="630431"/>
                  </a:lnTo>
                  <a:lnTo>
                    <a:pt x="471087" y="642547"/>
                  </a:lnTo>
                  <a:lnTo>
                    <a:pt x="489204" y="654063"/>
                  </a:lnTo>
                  <a:lnTo>
                    <a:pt x="507330" y="664997"/>
                  </a:lnTo>
                  <a:lnTo>
                    <a:pt x="525447" y="675389"/>
                  </a:lnTo>
                  <a:lnTo>
                    <a:pt x="543563" y="685267"/>
                  </a:lnTo>
                  <a:lnTo>
                    <a:pt x="561680" y="694649"/>
                  </a:lnTo>
                  <a:lnTo>
                    <a:pt x="579796" y="703555"/>
                  </a:lnTo>
                  <a:lnTo>
                    <a:pt x="597922" y="712022"/>
                  </a:lnTo>
                  <a:lnTo>
                    <a:pt x="616039" y="720071"/>
                  </a:lnTo>
                  <a:lnTo>
                    <a:pt x="634155" y="727710"/>
                  </a:lnTo>
                  <a:lnTo>
                    <a:pt x="652272" y="734978"/>
                  </a:lnTo>
                  <a:lnTo>
                    <a:pt x="670398" y="741874"/>
                  </a:lnTo>
                  <a:lnTo>
                    <a:pt x="688515" y="748427"/>
                  </a:lnTo>
                  <a:lnTo>
                    <a:pt x="706631" y="754656"/>
                  </a:lnTo>
                  <a:lnTo>
                    <a:pt x="724748" y="760581"/>
                  </a:lnTo>
                  <a:lnTo>
                    <a:pt x="742864" y="766201"/>
                  </a:lnTo>
                  <a:lnTo>
                    <a:pt x="760990" y="771544"/>
                  </a:lnTo>
                  <a:lnTo>
                    <a:pt x="779107" y="776611"/>
                  </a:lnTo>
                  <a:lnTo>
                    <a:pt x="797223" y="781431"/>
                  </a:lnTo>
                  <a:lnTo>
                    <a:pt x="815340" y="786013"/>
                  </a:lnTo>
                  <a:lnTo>
                    <a:pt x="833466" y="790365"/>
                  </a:lnTo>
                  <a:lnTo>
                    <a:pt x="851583" y="794499"/>
                  </a:lnTo>
                  <a:lnTo>
                    <a:pt x="869699" y="798433"/>
                  </a:lnTo>
                  <a:lnTo>
                    <a:pt x="887816" y="802167"/>
                  </a:lnTo>
                  <a:lnTo>
                    <a:pt x="905932" y="805710"/>
                  </a:lnTo>
                  <a:lnTo>
                    <a:pt x="924058" y="809082"/>
                  </a:lnTo>
                  <a:lnTo>
                    <a:pt x="942175" y="812282"/>
                  </a:lnTo>
                  <a:lnTo>
                    <a:pt x="960291" y="815321"/>
                  </a:lnTo>
                  <a:lnTo>
                    <a:pt x="978408" y="818207"/>
                  </a:lnTo>
                  <a:lnTo>
                    <a:pt x="996534" y="820960"/>
                  </a:lnTo>
                  <a:lnTo>
                    <a:pt x="1014651" y="823570"/>
                  </a:lnTo>
                  <a:lnTo>
                    <a:pt x="1032767" y="826046"/>
                  </a:lnTo>
                  <a:lnTo>
                    <a:pt x="1050884" y="828399"/>
                  </a:lnTo>
                  <a:lnTo>
                    <a:pt x="1069000" y="830637"/>
                  </a:lnTo>
                  <a:lnTo>
                    <a:pt x="1087126" y="832761"/>
                  </a:lnTo>
                  <a:lnTo>
                    <a:pt x="1105243" y="834781"/>
                  </a:lnTo>
                  <a:lnTo>
                    <a:pt x="1123359" y="836695"/>
                  </a:lnTo>
                  <a:lnTo>
                    <a:pt x="1141476" y="838524"/>
                  </a:lnTo>
                  <a:lnTo>
                    <a:pt x="1159602" y="840248"/>
                  </a:lnTo>
                  <a:lnTo>
                    <a:pt x="1177719" y="841896"/>
                  </a:lnTo>
                  <a:lnTo>
                    <a:pt x="1195835" y="843458"/>
                  </a:lnTo>
                  <a:lnTo>
                    <a:pt x="1213952" y="844944"/>
                  </a:lnTo>
                  <a:lnTo>
                    <a:pt x="1232068" y="846353"/>
                  </a:lnTo>
                  <a:lnTo>
                    <a:pt x="1250194" y="847696"/>
                  </a:lnTo>
                  <a:lnTo>
                    <a:pt x="1268311" y="848973"/>
                  </a:lnTo>
                  <a:lnTo>
                    <a:pt x="1286427" y="850182"/>
                  </a:lnTo>
                  <a:lnTo>
                    <a:pt x="1304544" y="851325"/>
                  </a:lnTo>
                  <a:lnTo>
                    <a:pt x="1322670" y="852421"/>
                  </a:lnTo>
                  <a:lnTo>
                    <a:pt x="1340787" y="853459"/>
                  </a:lnTo>
                  <a:lnTo>
                    <a:pt x="1358903" y="854450"/>
                  </a:lnTo>
                  <a:lnTo>
                    <a:pt x="1377020" y="855383"/>
                  </a:lnTo>
                  <a:lnTo>
                    <a:pt x="1395136" y="856269"/>
                  </a:lnTo>
                  <a:lnTo>
                    <a:pt x="1413262" y="857117"/>
                  </a:lnTo>
                  <a:lnTo>
                    <a:pt x="1431379" y="857917"/>
                  </a:lnTo>
                  <a:lnTo>
                    <a:pt x="1449495" y="858688"/>
                  </a:lnTo>
                  <a:lnTo>
                    <a:pt x="1467612" y="859412"/>
                  </a:lnTo>
                  <a:lnTo>
                    <a:pt x="1485738" y="860098"/>
                  </a:lnTo>
                  <a:lnTo>
                    <a:pt x="1503855" y="860755"/>
                  </a:lnTo>
                  <a:lnTo>
                    <a:pt x="1521971" y="861374"/>
                  </a:lnTo>
                  <a:lnTo>
                    <a:pt x="1540088" y="861965"/>
                  </a:lnTo>
                  <a:lnTo>
                    <a:pt x="1558204" y="862527"/>
                  </a:lnTo>
                  <a:lnTo>
                    <a:pt x="1576330" y="863060"/>
                  </a:lnTo>
                  <a:lnTo>
                    <a:pt x="1594447" y="863565"/>
                  </a:lnTo>
                  <a:lnTo>
                    <a:pt x="1612563" y="864051"/>
                  </a:lnTo>
                  <a:lnTo>
                    <a:pt x="1630680" y="864508"/>
                  </a:lnTo>
                  <a:lnTo>
                    <a:pt x="1648806" y="864937"/>
                  </a:lnTo>
                  <a:lnTo>
                    <a:pt x="1666923" y="865356"/>
                  </a:lnTo>
                  <a:lnTo>
                    <a:pt x="1685039" y="865746"/>
                  </a:lnTo>
                  <a:lnTo>
                    <a:pt x="1703156" y="866118"/>
                  </a:lnTo>
                  <a:lnTo>
                    <a:pt x="1721272" y="866470"/>
                  </a:lnTo>
                  <a:lnTo>
                    <a:pt x="1739398" y="866813"/>
                  </a:lnTo>
                  <a:lnTo>
                    <a:pt x="1757515" y="867127"/>
                  </a:lnTo>
                  <a:lnTo>
                    <a:pt x="1775631" y="867432"/>
                  </a:lnTo>
                  <a:lnTo>
                    <a:pt x="1793748" y="867718"/>
                  </a:lnTo>
                  <a:lnTo>
                    <a:pt x="1811874" y="867994"/>
                  </a:lnTo>
                  <a:lnTo>
                    <a:pt x="1811874" y="873214"/>
                  </a:lnTo>
                  <a:close/>
                </a:path>
              </a:pathLst>
            </a:custGeom>
            <a:solidFill>
              <a:srgbClr val="A9BBE4"/>
            </a:solidFill>
            <a:ln>
              <a:noFill/>
            </a:ln>
          </p:spPr>
        </p:sp>
        <p:sp>
          <p:nvSpPr>
            <p:cNvPr id="59" name="Freeform 59"/>
            <p:cNvSpPr/>
            <p:nvPr/>
          </p:nvSpPr>
          <p:spPr>
            <a:xfrm>
              <a:off x="6724650" y="3371850"/>
              <a:ext cx="169859" cy="9525"/>
            </a:xfrm>
            <a:custGeom>
              <a:avLst/>
              <a:gdLst/>
              <a:ahLst/>
              <a:cxnLst/>
              <a:rect l="l" t="t" r="r" b="b"/>
              <a:pathLst>
                <a:path w="169859" h="9525">
                  <a:moveTo>
                    <a:pt x="0" y="0"/>
                  </a:moveTo>
                  <a:lnTo>
                    <a:pt x="169859" y="0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6894509" y="2498636"/>
              <a:ext cx="1811874" cy="867994"/>
            </a:xfrm>
            <a:custGeom>
              <a:avLst/>
              <a:gdLst/>
              <a:ahLst/>
              <a:cxnLst/>
              <a:rect l="l" t="t" r="r" b="b"/>
              <a:pathLst>
                <a:path w="1811874" h="867994">
                  <a:moveTo>
                    <a:pt x="0" y="0"/>
                  </a:moveTo>
                  <a:lnTo>
                    <a:pt x="18126" y="43586"/>
                  </a:lnTo>
                  <a:lnTo>
                    <a:pt x="36243" y="84992"/>
                  </a:lnTo>
                  <a:lnTo>
                    <a:pt x="54359" y="124339"/>
                  </a:lnTo>
                  <a:lnTo>
                    <a:pt x="72476" y="161715"/>
                  </a:lnTo>
                  <a:lnTo>
                    <a:pt x="90592" y="197225"/>
                  </a:lnTo>
                  <a:lnTo>
                    <a:pt x="108718" y="230962"/>
                  </a:lnTo>
                  <a:lnTo>
                    <a:pt x="126835" y="263023"/>
                  </a:lnTo>
                  <a:lnTo>
                    <a:pt x="144951" y="293475"/>
                  </a:lnTo>
                  <a:lnTo>
                    <a:pt x="163068" y="322412"/>
                  </a:lnTo>
                  <a:lnTo>
                    <a:pt x="181194" y="349901"/>
                  </a:lnTo>
                  <a:lnTo>
                    <a:pt x="199311" y="376018"/>
                  </a:lnTo>
                  <a:lnTo>
                    <a:pt x="217427" y="400841"/>
                  </a:lnTo>
                  <a:lnTo>
                    <a:pt x="235544" y="424415"/>
                  </a:lnTo>
                  <a:lnTo>
                    <a:pt x="253660" y="446818"/>
                  </a:lnTo>
                  <a:lnTo>
                    <a:pt x="271786" y="468097"/>
                  </a:lnTo>
                  <a:lnTo>
                    <a:pt x="289903" y="488318"/>
                  </a:lnTo>
                  <a:lnTo>
                    <a:pt x="308019" y="507530"/>
                  </a:lnTo>
                  <a:lnTo>
                    <a:pt x="326136" y="525780"/>
                  </a:lnTo>
                  <a:lnTo>
                    <a:pt x="344262" y="543115"/>
                  </a:lnTo>
                  <a:lnTo>
                    <a:pt x="362379" y="559594"/>
                  </a:lnTo>
                  <a:lnTo>
                    <a:pt x="380495" y="575253"/>
                  </a:lnTo>
                  <a:lnTo>
                    <a:pt x="398612" y="590121"/>
                  </a:lnTo>
                  <a:lnTo>
                    <a:pt x="416728" y="604247"/>
                  </a:lnTo>
                  <a:lnTo>
                    <a:pt x="434854" y="617677"/>
                  </a:lnTo>
                  <a:lnTo>
                    <a:pt x="452971" y="630431"/>
                  </a:lnTo>
                  <a:lnTo>
                    <a:pt x="471087" y="642547"/>
                  </a:lnTo>
                  <a:lnTo>
                    <a:pt x="489204" y="654063"/>
                  </a:lnTo>
                  <a:lnTo>
                    <a:pt x="507330" y="664997"/>
                  </a:lnTo>
                  <a:lnTo>
                    <a:pt x="525447" y="675389"/>
                  </a:lnTo>
                  <a:lnTo>
                    <a:pt x="543563" y="685267"/>
                  </a:lnTo>
                  <a:lnTo>
                    <a:pt x="561680" y="694649"/>
                  </a:lnTo>
                  <a:lnTo>
                    <a:pt x="579796" y="703555"/>
                  </a:lnTo>
                  <a:lnTo>
                    <a:pt x="597922" y="712022"/>
                  </a:lnTo>
                  <a:lnTo>
                    <a:pt x="616039" y="720071"/>
                  </a:lnTo>
                  <a:lnTo>
                    <a:pt x="634155" y="727710"/>
                  </a:lnTo>
                  <a:lnTo>
                    <a:pt x="652272" y="734978"/>
                  </a:lnTo>
                  <a:lnTo>
                    <a:pt x="670398" y="741874"/>
                  </a:lnTo>
                  <a:lnTo>
                    <a:pt x="688515" y="748427"/>
                  </a:lnTo>
                  <a:lnTo>
                    <a:pt x="706631" y="754656"/>
                  </a:lnTo>
                  <a:lnTo>
                    <a:pt x="724748" y="760581"/>
                  </a:lnTo>
                  <a:lnTo>
                    <a:pt x="742864" y="766201"/>
                  </a:lnTo>
                  <a:lnTo>
                    <a:pt x="760990" y="771544"/>
                  </a:lnTo>
                  <a:lnTo>
                    <a:pt x="779107" y="776611"/>
                  </a:lnTo>
                  <a:lnTo>
                    <a:pt x="797223" y="781431"/>
                  </a:lnTo>
                  <a:lnTo>
                    <a:pt x="815340" y="786013"/>
                  </a:lnTo>
                  <a:lnTo>
                    <a:pt x="833466" y="790365"/>
                  </a:lnTo>
                  <a:lnTo>
                    <a:pt x="851583" y="794499"/>
                  </a:lnTo>
                  <a:lnTo>
                    <a:pt x="869699" y="798433"/>
                  </a:lnTo>
                  <a:lnTo>
                    <a:pt x="887816" y="802167"/>
                  </a:lnTo>
                  <a:lnTo>
                    <a:pt x="905932" y="805710"/>
                  </a:lnTo>
                  <a:lnTo>
                    <a:pt x="924058" y="809082"/>
                  </a:lnTo>
                  <a:lnTo>
                    <a:pt x="942175" y="812282"/>
                  </a:lnTo>
                  <a:lnTo>
                    <a:pt x="960291" y="815321"/>
                  </a:lnTo>
                  <a:lnTo>
                    <a:pt x="978408" y="818207"/>
                  </a:lnTo>
                  <a:lnTo>
                    <a:pt x="996534" y="820960"/>
                  </a:lnTo>
                  <a:lnTo>
                    <a:pt x="1014651" y="823570"/>
                  </a:lnTo>
                  <a:lnTo>
                    <a:pt x="1032767" y="826046"/>
                  </a:lnTo>
                  <a:lnTo>
                    <a:pt x="1050884" y="828399"/>
                  </a:lnTo>
                  <a:lnTo>
                    <a:pt x="1069000" y="830637"/>
                  </a:lnTo>
                  <a:lnTo>
                    <a:pt x="1087126" y="832761"/>
                  </a:lnTo>
                  <a:lnTo>
                    <a:pt x="1105243" y="834781"/>
                  </a:lnTo>
                  <a:lnTo>
                    <a:pt x="1123359" y="836695"/>
                  </a:lnTo>
                  <a:lnTo>
                    <a:pt x="1141476" y="838524"/>
                  </a:lnTo>
                  <a:lnTo>
                    <a:pt x="1159602" y="840248"/>
                  </a:lnTo>
                  <a:lnTo>
                    <a:pt x="1177719" y="841896"/>
                  </a:lnTo>
                  <a:lnTo>
                    <a:pt x="1195835" y="843458"/>
                  </a:lnTo>
                  <a:lnTo>
                    <a:pt x="1213952" y="844944"/>
                  </a:lnTo>
                  <a:lnTo>
                    <a:pt x="1232068" y="846353"/>
                  </a:lnTo>
                  <a:lnTo>
                    <a:pt x="1250194" y="847696"/>
                  </a:lnTo>
                  <a:lnTo>
                    <a:pt x="1268311" y="848973"/>
                  </a:lnTo>
                  <a:lnTo>
                    <a:pt x="1286427" y="850182"/>
                  </a:lnTo>
                  <a:lnTo>
                    <a:pt x="1304544" y="851325"/>
                  </a:lnTo>
                  <a:lnTo>
                    <a:pt x="1322670" y="852421"/>
                  </a:lnTo>
                  <a:lnTo>
                    <a:pt x="1340787" y="853459"/>
                  </a:lnTo>
                  <a:lnTo>
                    <a:pt x="1358903" y="854450"/>
                  </a:lnTo>
                  <a:lnTo>
                    <a:pt x="1377020" y="855383"/>
                  </a:lnTo>
                  <a:lnTo>
                    <a:pt x="1395136" y="856269"/>
                  </a:lnTo>
                  <a:lnTo>
                    <a:pt x="1413262" y="857117"/>
                  </a:lnTo>
                  <a:lnTo>
                    <a:pt x="1431379" y="857917"/>
                  </a:lnTo>
                  <a:lnTo>
                    <a:pt x="1449495" y="858688"/>
                  </a:lnTo>
                  <a:lnTo>
                    <a:pt x="1467612" y="859412"/>
                  </a:lnTo>
                  <a:lnTo>
                    <a:pt x="1485738" y="860098"/>
                  </a:lnTo>
                  <a:lnTo>
                    <a:pt x="1503855" y="860755"/>
                  </a:lnTo>
                  <a:lnTo>
                    <a:pt x="1521971" y="861374"/>
                  </a:lnTo>
                  <a:lnTo>
                    <a:pt x="1540088" y="861965"/>
                  </a:lnTo>
                  <a:lnTo>
                    <a:pt x="1558204" y="862527"/>
                  </a:lnTo>
                  <a:lnTo>
                    <a:pt x="1576330" y="863060"/>
                  </a:lnTo>
                  <a:lnTo>
                    <a:pt x="1594447" y="863565"/>
                  </a:lnTo>
                  <a:lnTo>
                    <a:pt x="1612563" y="864051"/>
                  </a:lnTo>
                  <a:lnTo>
                    <a:pt x="1630680" y="864508"/>
                  </a:lnTo>
                  <a:lnTo>
                    <a:pt x="1648806" y="864937"/>
                  </a:lnTo>
                  <a:lnTo>
                    <a:pt x="1666923" y="865356"/>
                  </a:lnTo>
                  <a:lnTo>
                    <a:pt x="1685039" y="865746"/>
                  </a:lnTo>
                  <a:lnTo>
                    <a:pt x="1703156" y="866118"/>
                  </a:lnTo>
                  <a:lnTo>
                    <a:pt x="1721272" y="866470"/>
                  </a:lnTo>
                  <a:lnTo>
                    <a:pt x="1739398" y="866813"/>
                  </a:lnTo>
                  <a:lnTo>
                    <a:pt x="1757515" y="867127"/>
                  </a:lnTo>
                  <a:lnTo>
                    <a:pt x="1775631" y="867432"/>
                  </a:lnTo>
                  <a:lnTo>
                    <a:pt x="1793748" y="867718"/>
                  </a:lnTo>
                  <a:lnTo>
                    <a:pt x="1811874" y="867994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61" name="Line 61"/>
            <p:cNvSpPr/>
            <p:nvPr/>
          </p:nvSpPr>
          <p:spPr>
            <a:xfrm>
              <a:off x="6894509" y="2498636"/>
              <a:ext cx="9525" cy="873214"/>
            </a:xfrm>
            <a:custGeom>
              <a:avLst/>
              <a:gdLst/>
              <a:ahLst/>
              <a:cxnLst/>
              <a:rect l="l" t="t" r="r" b="b"/>
              <a:pathLst>
                <a:path w="9525" h="873214">
                  <a:moveTo>
                    <a:pt x="0" y="873214"/>
                  </a:moveTo>
                  <a:lnTo>
                    <a:pt x="0" y="0"/>
                  </a:lnTo>
                </a:path>
              </a:pathLst>
            </a:custGeom>
            <a:noFill/>
            <a:ln w="13335">
              <a:solidFill>
                <a:srgbClr val="2F4B9A"/>
              </a:solidFill>
              <a:custDash>
                <a:ds d="357143" sp="285714"/>
              </a:custDash>
            </a:ln>
          </p:spPr>
        </p:sp>
        <p:sp>
          <p:nvSpPr>
            <p:cNvPr id="62" name="Line 62"/>
            <p:cNvSpPr/>
            <p:nvPr/>
          </p:nvSpPr>
          <p:spPr>
            <a:xfrm>
              <a:off x="6667500" y="3371850"/>
              <a:ext cx="2162175" cy="9525"/>
            </a:xfrm>
            <a:custGeom>
              <a:avLst/>
              <a:gdLst/>
              <a:ahLst/>
              <a:cxnLst/>
              <a:rect l="l" t="t" r="r" b="b"/>
              <a:pathLst>
                <a:path w="2162175" h="9525">
                  <a:moveTo>
                    <a:pt x="0" y="0"/>
                  </a:moveTo>
                  <a:lnTo>
                    <a:pt x="2162175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63" name="Polygon 63"/>
            <p:cNvSpPr/>
            <p:nvPr/>
          </p:nvSpPr>
          <p:spPr>
            <a:xfrm>
              <a:off x="8829675" y="3341846"/>
              <a:ext cx="66675" cy="60007"/>
            </a:xfrm>
            <a:custGeom>
              <a:avLst/>
              <a:gdLst/>
              <a:ahLst/>
              <a:cxnLst/>
              <a:rect l="l" t="t" r="r" b="b"/>
              <a:pathLst>
                <a:path w="66675" h="60007">
                  <a:moveTo>
                    <a:pt x="66675" y="30004"/>
                  </a:moveTo>
                  <a:lnTo>
                    <a:pt x="0" y="60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64" name="Line 64"/>
            <p:cNvSpPr/>
            <p:nvPr/>
          </p:nvSpPr>
          <p:spPr>
            <a:xfrm>
              <a:off x="6724650" y="2314575"/>
              <a:ext cx="9525" cy="1114425"/>
            </a:xfrm>
            <a:custGeom>
              <a:avLst/>
              <a:gdLst/>
              <a:ahLst/>
              <a:cxnLst/>
              <a:rect l="l" t="t" r="r" b="b"/>
              <a:pathLst>
                <a:path w="9525" h="1114425">
                  <a:moveTo>
                    <a:pt x="0" y="111442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65" name="Polygon 65"/>
            <p:cNvSpPr/>
            <p:nvPr/>
          </p:nvSpPr>
          <p:spPr>
            <a:xfrm>
              <a:off x="6694646" y="2247900"/>
              <a:ext cx="60007" cy="66675"/>
            </a:xfrm>
            <a:custGeom>
              <a:avLst/>
              <a:gdLst/>
              <a:ahLst/>
              <a:cxnLst/>
              <a:rect l="l" t="t" r="r" b="b"/>
              <a:pathLst>
                <a:path w="60007" h="66675">
                  <a:moveTo>
                    <a:pt x="30004" y="0"/>
                  </a:moveTo>
                  <a:lnTo>
                    <a:pt x="60007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929116" y="34109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351194" y="207740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572174" y="3428524"/>
              <a:ext cx="1144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69" name="Line 69"/>
            <p:cNvSpPr/>
            <p:nvPr/>
          </p:nvSpPr>
          <p:spPr>
            <a:xfrm>
              <a:off x="6677025" y="2498636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561412" y="2436247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l-GR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λ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6856409" y="2460536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540504" y="2869606"/>
              <a:ext cx="524919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16346E"/>
                  </a:solidFill>
                  <a:latin typeface="+mn-lt"/>
                  <a:ea typeface="+mn-ea"/>
                  <a:cs typeface="+mn-cs"/>
                </a:rPr>
                <a:t>面积 = 1</a:t>
              </a:r>
            </a:p>
          </p:txBody>
        </p:sp>
        <p:sp>
          <p:nvSpPr>
            <p:cNvPr id="73" name="Freeform 73"/>
            <p:cNvSpPr/>
            <p:nvPr/>
          </p:nvSpPr>
          <p:spPr>
            <a:xfrm>
              <a:off x="6724650" y="4953000"/>
              <a:ext cx="169859" cy="9525"/>
            </a:xfrm>
            <a:custGeom>
              <a:avLst/>
              <a:gdLst/>
              <a:ahLst/>
              <a:cxnLst/>
              <a:rect l="l" t="t" r="r" b="b"/>
              <a:pathLst>
                <a:path w="169859" h="9525">
                  <a:moveTo>
                    <a:pt x="0" y="0"/>
                  </a:moveTo>
                  <a:lnTo>
                    <a:pt x="169859" y="0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74" name="Freeform 74"/>
            <p:cNvSpPr/>
            <p:nvPr/>
          </p:nvSpPr>
          <p:spPr>
            <a:xfrm>
              <a:off x="6894509" y="4161406"/>
              <a:ext cx="1811874" cy="791594"/>
            </a:xfrm>
            <a:custGeom>
              <a:avLst/>
              <a:gdLst/>
              <a:ahLst/>
              <a:cxnLst/>
              <a:rect l="l" t="t" r="r" b="b"/>
              <a:pathLst>
                <a:path w="1811874" h="791594">
                  <a:moveTo>
                    <a:pt x="0" y="791594"/>
                  </a:moveTo>
                  <a:lnTo>
                    <a:pt x="18126" y="751846"/>
                  </a:lnTo>
                  <a:lnTo>
                    <a:pt x="36243" y="714080"/>
                  </a:lnTo>
                  <a:lnTo>
                    <a:pt x="54359" y="678209"/>
                  </a:lnTo>
                  <a:lnTo>
                    <a:pt x="72476" y="644119"/>
                  </a:lnTo>
                  <a:lnTo>
                    <a:pt x="90592" y="611734"/>
                  </a:lnTo>
                  <a:lnTo>
                    <a:pt x="108718" y="580958"/>
                  </a:lnTo>
                  <a:lnTo>
                    <a:pt x="126835" y="551726"/>
                  </a:lnTo>
                  <a:lnTo>
                    <a:pt x="144951" y="523951"/>
                  </a:lnTo>
                  <a:lnTo>
                    <a:pt x="163068" y="497567"/>
                  </a:lnTo>
                  <a:lnTo>
                    <a:pt x="181194" y="472497"/>
                  </a:lnTo>
                  <a:lnTo>
                    <a:pt x="199311" y="448675"/>
                  </a:lnTo>
                  <a:lnTo>
                    <a:pt x="217427" y="426044"/>
                  </a:lnTo>
                  <a:lnTo>
                    <a:pt x="235544" y="404536"/>
                  </a:lnTo>
                  <a:lnTo>
                    <a:pt x="253660" y="384115"/>
                  </a:lnTo>
                  <a:lnTo>
                    <a:pt x="271786" y="364703"/>
                  </a:lnTo>
                  <a:lnTo>
                    <a:pt x="289903" y="346262"/>
                  </a:lnTo>
                  <a:lnTo>
                    <a:pt x="308019" y="328746"/>
                  </a:lnTo>
                  <a:lnTo>
                    <a:pt x="326136" y="312096"/>
                  </a:lnTo>
                  <a:lnTo>
                    <a:pt x="344262" y="296285"/>
                  </a:lnTo>
                  <a:lnTo>
                    <a:pt x="362379" y="281254"/>
                  </a:lnTo>
                  <a:lnTo>
                    <a:pt x="380495" y="266976"/>
                  </a:lnTo>
                  <a:lnTo>
                    <a:pt x="398612" y="253422"/>
                  </a:lnTo>
                  <a:lnTo>
                    <a:pt x="416728" y="240535"/>
                  </a:lnTo>
                  <a:lnTo>
                    <a:pt x="434854" y="228286"/>
                  </a:lnTo>
                  <a:lnTo>
                    <a:pt x="452971" y="216656"/>
                  </a:lnTo>
                  <a:lnTo>
                    <a:pt x="471087" y="205607"/>
                  </a:lnTo>
                  <a:lnTo>
                    <a:pt x="489204" y="195110"/>
                  </a:lnTo>
                  <a:lnTo>
                    <a:pt x="507330" y="185128"/>
                  </a:lnTo>
                  <a:lnTo>
                    <a:pt x="525447" y="175651"/>
                  </a:lnTo>
                  <a:lnTo>
                    <a:pt x="543563" y="166649"/>
                  </a:lnTo>
                  <a:lnTo>
                    <a:pt x="561680" y="158096"/>
                  </a:lnTo>
                  <a:lnTo>
                    <a:pt x="579796" y="149962"/>
                  </a:lnTo>
                  <a:lnTo>
                    <a:pt x="597922" y="142246"/>
                  </a:lnTo>
                  <a:lnTo>
                    <a:pt x="616039" y="134903"/>
                  </a:lnTo>
                  <a:lnTo>
                    <a:pt x="634155" y="127940"/>
                  </a:lnTo>
                  <a:lnTo>
                    <a:pt x="652272" y="121310"/>
                  </a:lnTo>
                  <a:lnTo>
                    <a:pt x="670398" y="115024"/>
                  </a:lnTo>
                  <a:lnTo>
                    <a:pt x="688515" y="109042"/>
                  </a:lnTo>
                  <a:lnTo>
                    <a:pt x="706631" y="103365"/>
                  </a:lnTo>
                  <a:lnTo>
                    <a:pt x="724748" y="97965"/>
                  </a:lnTo>
                  <a:lnTo>
                    <a:pt x="742864" y="92840"/>
                  </a:lnTo>
                  <a:lnTo>
                    <a:pt x="760990" y="87963"/>
                  </a:lnTo>
                  <a:lnTo>
                    <a:pt x="779107" y="83344"/>
                  </a:lnTo>
                  <a:lnTo>
                    <a:pt x="797223" y="78943"/>
                  </a:lnTo>
                  <a:lnTo>
                    <a:pt x="815340" y="74762"/>
                  </a:lnTo>
                  <a:lnTo>
                    <a:pt x="833466" y="70799"/>
                  </a:lnTo>
                  <a:lnTo>
                    <a:pt x="851583" y="67027"/>
                  </a:lnTo>
                  <a:lnTo>
                    <a:pt x="869699" y="63446"/>
                  </a:lnTo>
                  <a:lnTo>
                    <a:pt x="887816" y="60036"/>
                  </a:lnTo>
                  <a:lnTo>
                    <a:pt x="905932" y="56807"/>
                  </a:lnTo>
                  <a:lnTo>
                    <a:pt x="924058" y="53731"/>
                  </a:lnTo>
                  <a:lnTo>
                    <a:pt x="942175" y="50816"/>
                  </a:lnTo>
                  <a:lnTo>
                    <a:pt x="960291" y="48035"/>
                  </a:lnTo>
                  <a:lnTo>
                    <a:pt x="978408" y="45406"/>
                  </a:lnTo>
                  <a:lnTo>
                    <a:pt x="996534" y="42901"/>
                  </a:lnTo>
                  <a:lnTo>
                    <a:pt x="1014651" y="40519"/>
                  </a:lnTo>
                  <a:lnTo>
                    <a:pt x="1032767" y="38262"/>
                  </a:lnTo>
                  <a:lnTo>
                    <a:pt x="1050884" y="36109"/>
                  </a:lnTo>
                  <a:lnTo>
                    <a:pt x="1069000" y="34071"/>
                  </a:lnTo>
                  <a:lnTo>
                    <a:pt x="1087126" y="32137"/>
                  </a:lnTo>
                  <a:lnTo>
                    <a:pt x="1105243" y="30290"/>
                  </a:lnTo>
                  <a:lnTo>
                    <a:pt x="1123359" y="28546"/>
                  </a:lnTo>
                  <a:lnTo>
                    <a:pt x="1141476" y="26880"/>
                  </a:lnTo>
                  <a:lnTo>
                    <a:pt x="1159602" y="25298"/>
                  </a:lnTo>
                  <a:lnTo>
                    <a:pt x="1177719" y="23803"/>
                  </a:lnTo>
                  <a:lnTo>
                    <a:pt x="1195835" y="22374"/>
                  </a:lnTo>
                  <a:lnTo>
                    <a:pt x="1213952" y="21022"/>
                  </a:lnTo>
                  <a:lnTo>
                    <a:pt x="1232068" y="19736"/>
                  </a:lnTo>
                  <a:lnTo>
                    <a:pt x="1250194" y="18517"/>
                  </a:lnTo>
                  <a:lnTo>
                    <a:pt x="1268311" y="17355"/>
                  </a:lnTo>
                  <a:lnTo>
                    <a:pt x="1286427" y="16250"/>
                  </a:lnTo>
                  <a:lnTo>
                    <a:pt x="1304544" y="15202"/>
                  </a:lnTo>
                  <a:lnTo>
                    <a:pt x="1322670" y="14202"/>
                  </a:lnTo>
                  <a:lnTo>
                    <a:pt x="1340787" y="13259"/>
                  </a:lnTo>
                  <a:lnTo>
                    <a:pt x="1358903" y="12354"/>
                  </a:lnTo>
                  <a:lnTo>
                    <a:pt x="1377020" y="11506"/>
                  </a:lnTo>
                  <a:lnTo>
                    <a:pt x="1395136" y="10697"/>
                  </a:lnTo>
                  <a:lnTo>
                    <a:pt x="1413262" y="9925"/>
                  </a:lnTo>
                  <a:lnTo>
                    <a:pt x="1431379" y="9192"/>
                  </a:lnTo>
                  <a:lnTo>
                    <a:pt x="1449495" y="8496"/>
                  </a:lnTo>
                  <a:lnTo>
                    <a:pt x="1467612" y="7830"/>
                  </a:lnTo>
                  <a:lnTo>
                    <a:pt x="1485738" y="7201"/>
                  </a:lnTo>
                  <a:lnTo>
                    <a:pt x="1503855" y="6610"/>
                  </a:lnTo>
                  <a:lnTo>
                    <a:pt x="1521971" y="6039"/>
                  </a:lnTo>
                  <a:lnTo>
                    <a:pt x="1540088" y="5496"/>
                  </a:lnTo>
                  <a:lnTo>
                    <a:pt x="1558204" y="4991"/>
                  </a:lnTo>
                  <a:lnTo>
                    <a:pt x="1576330" y="4505"/>
                  </a:lnTo>
                  <a:lnTo>
                    <a:pt x="1594447" y="4039"/>
                  </a:lnTo>
                  <a:lnTo>
                    <a:pt x="1612563" y="3600"/>
                  </a:lnTo>
                  <a:lnTo>
                    <a:pt x="1630680" y="3181"/>
                  </a:lnTo>
                  <a:lnTo>
                    <a:pt x="1648806" y="2791"/>
                  </a:lnTo>
                  <a:lnTo>
                    <a:pt x="1666923" y="2410"/>
                  </a:lnTo>
                  <a:lnTo>
                    <a:pt x="1685039" y="2048"/>
                  </a:lnTo>
                  <a:lnTo>
                    <a:pt x="1703156" y="1715"/>
                  </a:lnTo>
                  <a:lnTo>
                    <a:pt x="1721272" y="1391"/>
                  </a:lnTo>
                  <a:lnTo>
                    <a:pt x="1739398" y="1086"/>
                  </a:lnTo>
                  <a:lnTo>
                    <a:pt x="1757515" y="791"/>
                  </a:lnTo>
                  <a:lnTo>
                    <a:pt x="1775631" y="514"/>
                  </a:lnTo>
                  <a:lnTo>
                    <a:pt x="1793748" y="248"/>
                  </a:lnTo>
                  <a:lnTo>
                    <a:pt x="1811874" y="0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75" name="Line 75"/>
            <p:cNvSpPr/>
            <p:nvPr/>
          </p:nvSpPr>
          <p:spPr>
            <a:xfrm>
              <a:off x="6667500" y="4953000"/>
              <a:ext cx="2162175" cy="9525"/>
            </a:xfrm>
            <a:custGeom>
              <a:avLst/>
              <a:gdLst/>
              <a:ahLst/>
              <a:cxnLst/>
              <a:rect l="l" t="t" r="r" b="b"/>
              <a:pathLst>
                <a:path w="2162175" h="9525">
                  <a:moveTo>
                    <a:pt x="0" y="0"/>
                  </a:moveTo>
                  <a:lnTo>
                    <a:pt x="2162175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76" name="Polygon 76"/>
            <p:cNvSpPr/>
            <p:nvPr/>
          </p:nvSpPr>
          <p:spPr>
            <a:xfrm>
              <a:off x="8829675" y="4922996"/>
              <a:ext cx="66675" cy="60007"/>
            </a:xfrm>
            <a:custGeom>
              <a:avLst/>
              <a:gdLst/>
              <a:ahLst/>
              <a:cxnLst/>
              <a:rect l="l" t="t" r="r" b="b"/>
              <a:pathLst>
                <a:path w="66675" h="60007">
                  <a:moveTo>
                    <a:pt x="66675" y="30004"/>
                  </a:moveTo>
                  <a:lnTo>
                    <a:pt x="0" y="60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77" name="Line 77"/>
            <p:cNvSpPr/>
            <p:nvPr/>
          </p:nvSpPr>
          <p:spPr>
            <a:xfrm>
              <a:off x="6724650" y="3933825"/>
              <a:ext cx="9525" cy="1076325"/>
            </a:xfrm>
            <a:custGeom>
              <a:avLst/>
              <a:gdLst/>
              <a:ahLst/>
              <a:cxnLst/>
              <a:rect l="l" t="t" r="r" b="b"/>
              <a:pathLst>
                <a:path w="9525" h="1076325">
                  <a:moveTo>
                    <a:pt x="0" y="107632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78" name="Polygon 78"/>
            <p:cNvSpPr/>
            <p:nvPr/>
          </p:nvSpPr>
          <p:spPr>
            <a:xfrm>
              <a:off x="6694646" y="3867150"/>
              <a:ext cx="60007" cy="66675"/>
            </a:xfrm>
            <a:custGeom>
              <a:avLst/>
              <a:gdLst/>
              <a:ahLst/>
              <a:cxnLst/>
              <a:rect l="l" t="t" r="r" b="b"/>
              <a:pathLst>
                <a:path w="60007" h="66675">
                  <a:moveTo>
                    <a:pt x="30004" y="0"/>
                  </a:moveTo>
                  <a:lnTo>
                    <a:pt x="60007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8929116" y="49920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342393" y="3696652"/>
              <a:ext cx="3304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572174" y="5009674"/>
              <a:ext cx="1144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82" name="Line 82"/>
            <p:cNvSpPr/>
            <p:nvPr/>
          </p:nvSpPr>
          <p:spPr>
            <a:xfrm>
              <a:off x="6724650" y="4156643"/>
              <a:ext cx="2038350" cy="9525"/>
            </a:xfrm>
            <a:custGeom>
              <a:avLst/>
              <a:gdLst/>
              <a:ahLst/>
              <a:cxnLst/>
              <a:rect l="l" t="t" r="r" b="b"/>
              <a:pathLst>
                <a:path w="2038350" h="9525">
                  <a:moveTo>
                    <a:pt x="0" y="0"/>
                  </a:moveTo>
                  <a:lnTo>
                    <a:pt x="2038350" y="0"/>
                  </a:lnTo>
                </a:path>
              </a:pathLst>
            </a:custGeom>
            <a:noFill/>
            <a:ln w="11430">
              <a:solidFill>
                <a:srgbClr val="D9DFEA"/>
              </a:solidFill>
              <a:custDash>
                <a:ds d="416667" sp="333333"/>
              </a:custDash>
            </a:ln>
          </p:spPr>
        </p:sp>
        <p:sp>
          <p:nvSpPr>
            <p:cNvPr id="83" name="Line 83"/>
            <p:cNvSpPr/>
            <p:nvPr/>
          </p:nvSpPr>
          <p:spPr>
            <a:xfrm>
              <a:off x="6677025" y="4156643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561412" y="4094255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138285" y="2507456"/>
              <a:ext cx="1853438" cy="15344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密度只在 x &gt; 0 上非零，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x = 0 处取最大值 λ。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 = 1 − e^(−λx)，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 P{X &gt; x} = e^(−λx)，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这就是“还能活过 x”的概率。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 越大，曲线掉得越快，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长寿命的概率越小。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6324600" y="5334000"/>
              <a:ext cx="5143500" cy="781050"/>
            </a:xfrm>
            <a:prstGeom prst="roundRect">
              <a:avLst>
                <a:gd name="adj" fmla="val 121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7" name="Rectangle 87"/>
            <p:cNvSpPr/>
            <p:nvPr/>
          </p:nvSpPr>
          <p:spPr>
            <a:xfrm>
              <a:off x="6334125" y="5438775"/>
              <a:ext cx="47625" cy="5715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6496050" y="5438775"/>
              <a:ext cx="76200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589014" y="549211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无记忆性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490526" y="5750004"/>
              <a:ext cx="4163949" cy="412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P{X &gt; s + t | X &gt; s} = P{X &gt; t}：已经用了 s 小时不影响以后。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离散情形的对应物是几何分布，两者都只有这一族分布有这个性质。</a:t>
              </a:r>
            </a:p>
          </p:txBody>
        </p:sp>
      </p:grpSp>
      <p:grpSp>
        <p:nvGrpSpPr>
          <p:cNvPr id="9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2" name="TextBox 92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随机变量 · 几种常用的连续型随机变量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指数分布：描述寿命和等待时间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4977765" cy="2166938"/>
            <a:chOff x="533400" y="1524000"/>
            <a:chExt cx="4977765" cy="21669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166938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0023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12951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指数分布 E(λ)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208"/>
                <p:cNvSpPr txBox="1">
                  <a:spLocks noGrp="1"/>
                </p:cNvSpPr>
                <p:nvPr/>
              </p:nvSpPr>
              <p:spPr>
                <a:xfrm>
                  <a:off x="775335" y="2095500"/>
                  <a:ext cx="4531995" cy="579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λx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&gt;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m:rPr>
                                    <m:nor m:val="on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其他</m:t>
                                </m:r>
                              </m:e>
                            </m:eqArr>
                          </m:e>
                        </m:d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λx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&gt;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68096" y="2791301"/>
              <a:ext cx="42324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其中 λ &gt; 0 为常数。由 F 立刻得到最常用的一条：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209"/>
                <p:cNvSpPr txBox="1">
                  <a:spLocks noGrp="1"/>
                </p:cNvSpPr>
                <p:nvPr/>
              </p:nvSpPr>
              <p:spPr>
                <a:xfrm>
                  <a:off x="775335" y="3087052"/>
                  <a:ext cx="4531995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&gt;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λx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&gt;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1" name="c1-callout-2"/>
          <p:cNvGrpSpPr/>
          <p:nvPr/>
        </p:nvGrpSpPr>
        <p:grpSpPr>
          <a:xfrm>
            <a:off x="533400" y="3875722"/>
            <a:ext cx="4977765" cy="1204912"/>
            <a:chOff x="533400" y="3875722"/>
            <a:chExt cx="4977765" cy="1204912"/>
          </a:xfrm>
        </p:grpSpPr>
        <p:sp>
          <p:nvSpPr>
            <p:cNvPr id="16" name="Rectangle 16"/>
            <p:cNvSpPr/>
            <p:nvPr/>
          </p:nvSpPr>
          <p:spPr>
            <a:xfrm>
              <a:off x="533400" y="3875722"/>
              <a:ext cx="4977765" cy="1204912"/>
            </a:xfrm>
            <a:prstGeom prst="roundRect">
              <a:avLst>
                <a:gd name="adj" fmla="val 9486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8188" y="4378645"/>
              <a:ext cx="200023" cy="200023"/>
              <a:chOff x="738188" y="4378645"/>
              <a:chExt cx="200023" cy="200023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738188" y="437864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71538" y="44453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511" y="4116229"/>
              <a:ext cx="4036060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题目常写成 f(x) = (1/200)e^(−x/200) 的形式，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此时 λ = 1/200，平均寿命是 200 小时。看到分母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就把它认成 1/λ。</a:t>
              </a:r>
            </a:p>
          </p:txBody>
        </p:sp>
      </p:grpSp>
      <p:grpSp>
        <p:nvGrpSpPr>
          <p:cNvPr id="29" name="c2-card-1"/>
          <p:cNvGrpSpPr/>
          <p:nvPr/>
        </p:nvGrpSpPr>
        <p:grpSpPr>
          <a:xfrm>
            <a:off x="5815965" y="1524000"/>
            <a:ext cx="5842635" cy="1342072"/>
            <a:chOff x="5815965" y="1524000"/>
            <a:chExt cx="5842635" cy="1342072"/>
          </a:xfrm>
        </p:grpSpPr>
        <p:sp>
          <p:nvSpPr>
            <p:cNvPr id="22" name="Rectangle 22"/>
            <p:cNvSpPr/>
            <p:nvPr/>
          </p:nvSpPr>
          <p:spPr>
            <a:xfrm>
              <a:off x="5815965" y="1524000"/>
              <a:ext cx="5842635" cy="1342072"/>
            </a:xfrm>
            <a:prstGeom prst="roundRect">
              <a:avLst>
                <a:gd name="adj" fmla="val 993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825490" y="1657350"/>
              <a:ext cx="47625" cy="107537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057900" y="1727835"/>
              <a:ext cx="51625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147853" y="1763554"/>
              <a:ext cx="336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例17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80264" y="1767364"/>
              <a:ext cx="45057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电子元件寿命的密度是 (1/200)e^(−x/200)，x &gt; 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50661" y="2119789"/>
              <a:ext cx="273851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求能使用 200 小时以上的概率。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50661" y="2439829"/>
              <a:ext cx="44750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P{X &gt; 200} = e^(−200/200) = e^(−1) ≈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0.3679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8" name="c2-card-2"/>
          <p:cNvGrpSpPr/>
          <p:nvPr/>
        </p:nvGrpSpPr>
        <p:grpSpPr>
          <a:xfrm>
            <a:off x="5815965" y="3050858"/>
            <a:ext cx="5842635" cy="2029778"/>
            <a:chOff x="5815965" y="3050858"/>
            <a:chExt cx="5842635" cy="2029778"/>
          </a:xfrm>
        </p:grpSpPr>
        <p:sp>
          <p:nvSpPr>
            <p:cNvPr id="30" name="Rectangle 30"/>
            <p:cNvSpPr/>
            <p:nvPr/>
          </p:nvSpPr>
          <p:spPr>
            <a:xfrm>
              <a:off x="5815965" y="3050858"/>
              <a:ext cx="5842635" cy="2029778"/>
            </a:xfrm>
            <a:prstGeom prst="roundRect">
              <a:avLst>
                <a:gd name="adj" fmla="val 65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825490" y="3184208"/>
              <a:ext cx="47625" cy="176307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057900" y="3254692"/>
              <a:ext cx="51625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47853" y="3290411"/>
              <a:ext cx="336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例18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80264" y="3295174"/>
              <a:ext cx="42596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仪器装有 3 只同型号元件，寿命都服从上面的分布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50661" y="3646646"/>
              <a:ext cx="41053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求最初 200 小时内至少有 1 只元件损坏的概率。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050661" y="3966686"/>
              <a:ext cx="500989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单只元件在 200 小时内损坏的概率 P{X ≤ 200} = 1 − e^(−1)。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Y 为损坏的只数，三只独立，故 Y ~ B(3, 1 − e^(−1))，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formula210"/>
                <p:cNvSpPr txBox="1">
                  <a:spLocks noGrp="1"/>
                </p:cNvSpPr>
                <p:nvPr/>
              </p:nvSpPr>
              <p:spPr>
                <a:xfrm>
                  <a:off x="6057900" y="4534852"/>
                  <a:ext cx="5396865" cy="3238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≥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0.9502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5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39" name="Rectangle 39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26129" y="5880853"/>
              <a:ext cx="224134" cy="192560"/>
              <a:chOff x="726129" y="5880853"/>
              <a:chExt cx="224134" cy="19256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838200" y="595122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26129" y="588085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38200" y="60290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511" y="5753576"/>
              <a:ext cx="9824974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例 18 里 B(3, p) 的 p 是“损坏”的概率 1 − e^(−1) ≈ 0.632，不是“存活”的 e^(−1) ≈ 0.368。把 p 取反会算出 1 − 0.632³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≈ 0.748，与正确答案 0.9502 差得很远。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随机变量 · 几种常用的连续型随机变量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正态分布：自然界里最常见的那条钟形曲线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626418" cy="2079308"/>
            <a:chOff x="533400" y="1524000"/>
            <a:chExt cx="5626418" cy="207930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079308"/>
            </a:xfrm>
            <a:prstGeom prst="roundRect">
              <a:avLst>
                <a:gd name="adj" fmla="val 64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1260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597" y="1756410"/>
              <a:ext cx="16058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正态分布 N(μ, σ²)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27788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若连续型随机变量 X 的概率密度为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215"/>
                <p:cNvSpPr txBox="1">
                  <a:spLocks noGrp="1"/>
                </p:cNvSpPr>
                <p:nvPr/>
              </p:nvSpPr>
              <p:spPr>
                <a:xfrm>
                  <a:off x="763905" y="2370772"/>
                  <a:ext cx="5203508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2π</m:t>
                                </m:r>
                              </m:e>
                            </m:rad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μ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sSup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p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−∞&lt;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&lt;+∞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57047" y="2942272"/>
              <a:ext cx="482288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其中 μ、σ（σ &gt; 0）为常数，则称 X 服从参数为 μ、σ² 的正态分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布，记作 X ~ N(μ, σ²)。</a:t>
              </a:r>
            </a:p>
          </p:txBody>
        </p:sp>
      </p:grpSp>
      <p:grpSp>
        <p:nvGrpSpPr>
          <p:cNvPr id="32" name="c1-card-2"/>
          <p:cNvGrpSpPr/>
          <p:nvPr/>
        </p:nvGrpSpPr>
        <p:grpSpPr>
          <a:xfrm>
            <a:off x="533400" y="3777615"/>
            <a:ext cx="5626418" cy="1860232"/>
            <a:chOff x="533400" y="3777615"/>
            <a:chExt cx="5626418" cy="1860232"/>
          </a:xfrm>
        </p:grpSpPr>
        <p:sp>
          <p:nvSpPr>
            <p:cNvPr id="16" name="Rectangle 16"/>
            <p:cNvSpPr/>
            <p:nvPr/>
          </p:nvSpPr>
          <p:spPr>
            <a:xfrm>
              <a:off x="533400" y="3777615"/>
              <a:ext cx="5626418" cy="1860232"/>
            </a:xfrm>
            <a:prstGeom prst="roundRect">
              <a:avLst>
                <a:gd name="adj" fmla="val 71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910965"/>
              <a:ext cx="47625" cy="159353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3905" y="397002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7344" y="40043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曲线特点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63905" y="4314825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9583" y="435321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44702" y="432720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关于直线 x = μ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对称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，以 x 轴为水平渐近线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63905" y="4617720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19583" y="465610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44702" y="4629150"/>
              <a:ext cx="26761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x = μ 处取最大值 1/(√(2π)σ)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63905" y="4919662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19583" y="495804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44702" y="4932045"/>
              <a:ext cx="24762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x = μ ± σ 对应的点处有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拐点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63905" y="5222558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19583" y="526094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44702" y="5234940"/>
              <a:ext cx="31289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F(μ) = 1/2，即曲线左右各占一半概率</a:t>
              </a:r>
            </a:p>
          </p:txBody>
        </p:sp>
      </p:grpSp>
      <p:grpSp>
        <p:nvGrpSpPr>
          <p:cNvPr id="39" name="c2-card-1"/>
          <p:cNvGrpSpPr/>
          <p:nvPr/>
        </p:nvGrpSpPr>
        <p:grpSpPr>
          <a:xfrm>
            <a:off x="6464618" y="1524000"/>
            <a:ext cx="5193982" cy="1937385"/>
            <a:chOff x="6464618" y="1524000"/>
            <a:chExt cx="5193982" cy="1937385"/>
          </a:xfrm>
        </p:grpSpPr>
        <p:sp>
          <p:nvSpPr>
            <p:cNvPr id="33" name="Rectangle 33"/>
            <p:cNvSpPr/>
            <p:nvPr/>
          </p:nvSpPr>
          <p:spPr>
            <a:xfrm>
              <a:off x="6464618" y="1524000"/>
              <a:ext cx="5193982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74142" y="1657350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695122" y="1716405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62560" y="175069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为什么到处都是它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88264" y="2072640"/>
              <a:ext cx="438569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1733 年棣莫弗为近似计算二项分布最早勾画出这条曲线，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1770 年拉普拉斯证明二项分布的极限分布就是正态分布，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1809 年高斯用它刻画测量误差。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89408" y="2886551"/>
              <a:ext cx="456311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十九世纪建立的中心极限定理指出：在一定条件下，大量随机变量之和都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近似服从正态分布。这就是它反复出现的原因，第 5 章会证。</a:t>
              </a:r>
            </a:p>
          </p:txBody>
        </p:sp>
      </p:grpSp>
      <p:grpSp>
        <p:nvGrpSpPr>
          <p:cNvPr id="52" name="c2-card-2"/>
          <p:cNvGrpSpPr/>
          <p:nvPr/>
        </p:nvGrpSpPr>
        <p:grpSpPr>
          <a:xfrm>
            <a:off x="6464618" y="3636645"/>
            <a:ext cx="5193982" cy="2001202"/>
            <a:chOff x="6464618" y="3636645"/>
            <a:chExt cx="5193982" cy="2001202"/>
          </a:xfrm>
        </p:grpSpPr>
        <p:sp>
          <p:nvSpPr>
            <p:cNvPr id="40" name="Rectangle 40"/>
            <p:cNvSpPr/>
            <p:nvPr/>
          </p:nvSpPr>
          <p:spPr>
            <a:xfrm>
              <a:off x="6464618" y="3636645"/>
              <a:ext cx="5193982" cy="2001202"/>
            </a:xfrm>
            <a:prstGeom prst="roundRect">
              <a:avLst>
                <a:gd name="adj" fmla="val 6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74142" y="3769995"/>
              <a:ext cx="47625" cy="173450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695122" y="3829050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70561" y="386334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现实中的例子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703695" y="424148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859714" y="4185285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成年人的身高、体重、智力测验分数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703695" y="454437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859714" y="448818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医学检查指标，如红细胞数、血小板数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703695" y="484632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859714" y="479012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生产线上瓶装水的包装误差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703695" y="514921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859714" y="50930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高尔顿钉板里小球最终落入的格子</a:t>
              </a:r>
            </a:p>
          </p:txBody>
        </p:sp>
      </p:grpSp>
      <p:grpSp>
        <p:nvGrpSpPr>
          <p:cNvPr id="5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3" name="Rectangle 5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0892" y="6023610"/>
              <a:ext cx="91005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密度里的积分求不出初等原函数，所以正态的概率只能查表。全部功夫都花在把一般正态化成标准正态这一步上。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随机变量 · 几种常用的连续型随机变量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参数怎样改变曲线，以及标准正态表为什么只印一半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7" name="nmA"/>
          <p:cNvGrpSpPr/>
          <p:nvPr/>
        </p:nvGrpSpPr>
        <p:grpSpPr>
          <a:xfrm>
            <a:off x="533400" y="1524000"/>
            <a:ext cx="5524500" cy="4762500"/>
            <a:chOff x="533400" y="1524000"/>
            <a:chExt cx="5524500" cy="4762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524500" cy="4762500"/>
            </a:xfrm>
            <a:prstGeom prst="roundRect">
              <a:avLst>
                <a:gd name="adj" fmla="val 24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7232" y="1658541"/>
              <a:ext cx="1915293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1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μ 决定位置，σ 决定胖瘦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18376" y="1930479"/>
              <a:ext cx="4339755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曲线关于 x = μ 对称，在 μ ± σ 处有拐点，最高点是 1/(√(2π)σ)。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1123950" y="2474633"/>
              <a:ext cx="2247900" cy="859117"/>
            </a:xfrm>
            <a:custGeom>
              <a:avLst/>
              <a:gdLst/>
              <a:ahLst/>
              <a:cxnLst/>
              <a:rect l="l" t="t" r="r" b="b"/>
              <a:pathLst>
                <a:path w="2247900" h="859117">
                  <a:moveTo>
                    <a:pt x="0" y="857802"/>
                  </a:moveTo>
                  <a:lnTo>
                    <a:pt x="14049" y="857393"/>
                  </a:lnTo>
                  <a:lnTo>
                    <a:pt x="28099" y="856879"/>
                  </a:lnTo>
                  <a:lnTo>
                    <a:pt x="42148" y="856231"/>
                  </a:lnTo>
                  <a:lnTo>
                    <a:pt x="56198" y="855412"/>
                  </a:lnTo>
                  <a:lnTo>
                    <a:pt x="70247" y="854383"/>
                  </a:lnTo>
                  <a:lnTo>
                    <a:pt x="84296" y="853097"/>
                  </a:lnTo>
                  <a:lnTo>
                    <a:pt x="98346" y="851516"/>
                  </a:lnTo>
                  <a:lnTo>
                    <a:pt x="112395" y="849573"/>
                  </a:lnTo>
                  <a:lnTo>
                    <a:pt x="126444" y="847201"/>
                  </a:lnTo>
                  <a:lnTo>
                    <a:pt x="140494" y="844315"/>
                  </a:lnTo>
                  <a:lnTo>
                    <a:pt x="154543" y="840838"/>
                  </a:lnTo>
                  <a:lnTo>
                    <a:pt x="168592" y="836676"/>
                  </a:lnTo>
                  <a:lnTo>
                    <a:pt x="182642" y="831713"/>
                  </a:lnTo>
                  <a:lnTo>
                    <a:pt x="196691" y="825846"/>
                  </a:lnTo>
                  <a:lnTo>
                    <a:pt x="210741" y="818950"/>
                  </a:lnTo>
                  <a:lnTo>
                    <a:pt x="224790" y="810892"/>
                  </a:lnTo>
                  <a:lnTo>
                    <a:pt x="238839" y="801538"/>
                  </a:lnTo>
                  <a:lnTo>
                    <a:pt x="252889" y="790766"/>
                  </a:lnTo>
                  <a:lnTo>
                    <a:pt x="266938" y="778431"/>
                  </a:lnTo>
                  <a:lnTo>
                    <a:pt x="280988" y="764400"/>
                  </a:lnTo>
                  <a:lnTo>
                    <a:pt x="295037" y="748551"/>
                  </a:lnTo>
                  <a:lnTo>
                    <a:pt x="309086" y="730777"/>
                  </a:lnTo>
                  <a:lnTo>
                    <a:pt x="323136" y="710984"/>
                  </a:lnTo>
                  <a:lnTo>
                    <a:pt x="337185" y="689096"/>
                  </a:lnTo>
                  <a:lnTo>
                    <a:pt x="351234" y="665074"/>
                  </a:lnTo>
                  <a:lnTo>
                    <a:pt x="365284" y="638889"/>
                  </a:lnTo>
                  <a:lnTo>
                    <a:pt x="379333" y="610581"/>
                  </a:lnTo>
                  <a:lnTo>
                    <a:pt x="393383" y="580206"/>
                  </a:lnTo>
                  <a:lnTo>
                    <a:pt x="407432" y="547868"/>
                  </a:lnTo>
                  <a:lnTo>
                    <a:pt x="421481" y="513731"/>
                  </a:lnTo>
                  <a:lnTo>
                    <a:pt x="435531" y="478003"/>
                  </a:lnTo>
                  <a:lnTo>
                    <a:pt x="449580" y="440941"/>
                  </a:lnTo>
                  <a:lnTo>
                    <a:pt x="463629" y="402841"/>
                  </a:lnTo>
                  <a:lnTo>
                    <a:pt x="477679" y="364074"/>
                  </a:lnTo>
                  <a:lnTo>
                    <a:pt x="491728" y="325012"/>
                  </a:lnTo>
                  <a:lnTo>
                    <a:pt x="505777" y="286112"/>
                  </a:lnTo>
                  <a:lnTo>
                    <a:pt x="519827" y="247812"/>
                  </a:lnTo>
                  <a:lnTo>
                    <a:pt x="533876" y="210626"/>
                  </a:lnTo>
                  <a:lnTo>
                    <a:pt x="547926" y="175031"/>
                  </a:lnTo>
                  <a:lnTo>
                    <a:pt x="561975" y="141522"/>
                  </a:lnTo>
                  <a:lnTo>
                    <a:pt x="576024" y="110604"/>
                  </a:lnTo>
                  <a:lnTo>
                    <a:pt x="590074" y="82734"/>
                  </a:lnTo>
                  <a:lnTo>
                    <a:pt x="604123" y="58331"/>
                  </a:lnTo>
                  <a:lnTo>
                    <a:pt x="618172" y="37805"/>
                  </a:lnTo>
                  <a:lnTo>
                    <a:pt x="632222" y="21479"/>
                  </a:lnTo>
                  <a:lnTo>
                    <a:pt x="646271" y="9611"/>
                  </a:lnTo>
                  <a:lnTo>
                    <a:pt x="660321" y="2419"/>
                  </a:lnTo>
                  <a:lnTo>
                    <a:pt x="674370" y="0"/>
                  </a:lnTo>
                  <a:lnTo>
                    <a:pt x="688419" y="2419"/>
                  </a:lnTo>
                  <a:lnTo>
                    <a:pt x="702469" y="9611"/>
                  </a:lnTo>
                  <a:lnTo>
                    <a:pt x="716518" y="21479"/>
                  </a:lnTo>
                  <a:lnTo>
                    <a:pt x="730567" y="37805"/>
                  </a:lnTo>
                  <a:lnTo>
                    <a:pt x="744617" y="58331"/>
                  </a:lnTo>
                  <a:lnTo>
                    <a:pt x="758666" y="82734"/>
                  </a:lnTo>
                  <a:lnTo>
                    <a:pt x="772716" y="110604"/>
                  </a:lnTo>
                  <a:lnTo>
                    <a:pt x="786765" y="141522"/>
                  </a:lnTo>
                  <a:lnTo>
                    <a:pt x="800814" y="175031"/>
                  </a:lnTo>
                  <a:lnTo>
                    <a:pt x="814864" y="210626"/>
                  </a:lnTo>
                  <a:lnTo>
                    <a:pt x="828913" y="247812"/>
                  </a:lnTo>
                  <a:lnTo>
                    <a:pt x="842962" y="286112"/>
                  </a:lnTo>
                  <a:lnTo>
                    <a:pt x="857012" y="325012"/>
                  </a:lnTo>
                  <a:lnTo>
                    <a:pt x="871061" y="364074"/>
                  </a:lnTo>
                  <a:lnTo>
                    <a:pt x="885111" y="402841"/>
                  </a:lnTo>
                  <a:lnTo>
                    <a:pt x="899160" y="440941"/>
                  </a:lnTo>
                  <a:lnTo>
                    <a:pt x="913209" y="478003"/>
                  </a:lnTo>
                  <a:lnTo>
                    <a:pt x="927259" y="513731"/>
                  </a:lnTo>
                  <a:lnTo>
                    <a:pt x="941308" y="547868"/>
                  </a:lnTo>
                  <a:lnTo>
                    <a:pt x="955358" y="580206"/>
                  </a:lnTo>
                  <a:lnTo>
                    <a:pt x="969407" y="610581"/>
                  </a:lnTo>
                  <a:lnTo>
                    <a:pt x="983456" y="638889"/>
                  </a:lnTo>
                  <a:lnTo>
                    <a:pt x="997506" y="665074"/>
                  </a:lnTo>
                  <a:lnTo>
                    <a:pt x="1011555" y="689096"/>
                  </a:lnTo>
                  <a:lnTo>
                    <a:pt x="1025604" y="710984"/>
                  </a:lnTo>
                  <a:lnTo>
                    <a:pt x="1039654" y="730777"/>
                  </a:lnTo>
                  <a:lnTo>
                    <a:pt x="1053703" y="748551"/>
                  </a:lnTo>
                  <a:lnTo>
                    <a:pt x="1067752" y="764400"/>
                  </a:lnTo>
                  <a:lnTo>
                    <a:pt x="1081802" y="778431"/>
                  </a:lnTo>
                  <a:lnTo>
                    <a:pt x="1095851" y="790766"/>
                  </a:lnTo>
                  <a:lnTo>
                    <a:pt x="1109901" y="801538"/>
                  </a:lnTo>
                  <a:lnTo>
                    <a:pt x="1123950" y="810892"/>
                  </a:lnTo>
                  <a:lnTo>
                    <a:pt x="1137999" y="818950"/>
                  </a:lnTo>
                  <a:lnTo>
                    <a:pt x="1152049" y="825846"/>
                  </a:lnTo>
                  <a:lnTo>
                    <a:pt x="1166098" y="831713"/>
                  </a:lnTo>
                  <a:lnTo>
                    <a:pt x="1180148" y="836676"/>
                  </a:lnTo>
                  <a:lnTo>
                    <a:pt x="1194197" y="840838"/>
                  </a:lnTo>
                  <a:lnTo>
                    <a:pt x="1208246" y="844315"/>
                  </a:lnTo>
                  <a:lnTo>
                    <a:pt x="1222296" y="847201"/>
                  </a:lnTo>
                  <a:lnTo>
                    <a:pt x="1236345" y="849573"/>
                  </a:lnTo>
                  <a:lnTo>
                    <a:pt x="1250394" y="851516"/>
                  </a:lnTo>
                  <a:lnTo>
                    <a:pt x="1264444" y="853097"/>
                  </a:lnTo>
                  <a:lnTo>
                    <a:pt x="1278493" y="854383"/>
                  </a:lnTo>
                  <a:lnTo>
                    <a:pt x="1292542" y="855412"/>
                  </a:lnTo>
                  <a:lnTo>
                    <a:pt x="1306592" y="856231"/>
                  </a:lnTo>
                  <a:lnTo>
                    <a:pt x="1320641" y="856879"/>
                  </a:lnTo>
                  <a:lnTo>
                    <a:pt x="1334691" y="857393"/>
                  </a:lnTo>
                  <a:lnTo>
                    <a:pt x="1348740" y="857802"/>
                  </a:lnTo>
                  <a:lnTo>
                    <a:pt x="1362789" y="858117"/>
                  </a:lnTo>
                  <a:lnTo>
                    <a:pt x="1376839" y="858355"/>
                  </a:lnTo>
                  <a:lnTo>
                    <a:pt x="1390888" y="858545"/>
                  </a:lnTo>
                  <a:lnTo>
                    <a:pt x="1404938" y="858688"/>
                  </a:lnTo>
                  <a:lnTo>
                    <a:pt x="1418987" y="858803"/>
                  </a:lnTo>
                  <a:lnTo>
                    <a:pt x="1433036" y="858879"/>
                  </a:lnTo>
                  <a:lnTo>
                    <a:pt x="1447086" y="858945"/>
                  </a:lnTo>
                  <a:lnTo>
                    <a:pt x="1461135" y="858993"/>
                  </a:lnTo>
                  <a:lnTo>
                    <a:pt x="1475184" y="859022"/>
                  </a:lnTo>
                  <a:lnTo>
                    <a:pt x="1489234" y="859050"/>
                  </a:lnTo>
                  <a:lnTo>
                    <a:pt x="1503283" y="859069"/>
                  </a:lnTo>
                  <a:lnTo>
                    <a:pt x="1517332" y="859079"/>
                  </a:lnTo>
                  <a:lnTo>
                    <a:pt x="1531382" y="859088"/>
                  </a:lnTo>
                  <a:lnTo>
                    <a:pt x="1545431" y="859098"/>
                  </a:lnTo>
                  <a:lnTo>
                    <a:pt x="1559481" y="859107"/>
                  </a:lnTo>
                  <a:lnTo>
                    <a:pt x="1573530" y="859107"/>
                  </a:lnTo>
                  <a:lnTo>
                    <a:pt x="1587579" y="859107"/>
                  </a:lnTo>
                  <a:lnTo>
                    <a:pt x="1601629" y="859117"/>
                  </a:lnTo>
                  <a:lnTo>
                    <a:pt x="1615678" y="859117"/>
                  </a:lnTo>
                  <a:lnTo>
                    <a:pt x="1629728" y="859117"/>
                  </a:lnTo>
                  <a:lnTo>
                    <a:pt x="1643777" y="859117"/>
                  </a:lnTo>
                  <a:lnTo>
                    <a:pt x="1657826" y="859117"/>
                  </a:lnTo>
                  <a:lnTo>
                    <a:pt x="1671876" y="859117"/>
                  </a:lnTo>
                  <a:lnTo>
                    <a:pt x="1685925" y="859117"/>
                  </a:lnTo>
                  <a:lnTo>
                    <a:pt x="1699974" y="859117"/>
                  </a:lnTo>
                  <a:lnTo>
                    <a:pt x="1714024" y="859117"/>
                  </a:lnTo>
                  <a:lnTo>
                    <a:pt x="1728073" y="859117"/>
                  </a:lnTo>
                  <a:lnTo>
                    <a:pt x="1742122" y="859117"/>
                  </a:lnTo>
                  <a:lnTo>
                    <a:pt x="1756172" y="859117"/>
                  </a:lnTo>
                  <a:lnTo>
                    <a:pt x="1770221" y="859117"/>
                  </a:lnTo>
                  <a:lnTo>
                    <a:pt x="1784271" y="859117"/>
                  </a:lnTo>
                  <a:lnTo>
                    <a:pt x="1798320" y="859117"/>
                  </a:lnTo>
                  <a:lnTo>
                    <a:pt x="1812369" y="859117"/>
                  </a:lnTo>
                  <a:lnTo>
                    <a:pt x="1826419" y="859117"/>
                  </a:lnTo>
                  <a:lnTo>
                    <a:pt x="1840468" y="859117"/>
                  </a:lnTo>
                  <a:lnTo>
                    <a:pt x="1854518" y="859117"/>
                  </a:lnTo>
                  <a:lnTo>
                    <a:pt x="1868567" y="859117"/>
                  </a:lnTo>
                  <a:lnTo>
                    <a:pt x="1882616" y="859117"/>
                  </a:lnTo>
                  <a:lnTo>
                    <a:pt x="1896666" y="859117"/>
                  </a:lnTo>
                  <a:lnTo>
                    <a:pt x="1910715" y="859117"/>
                  </a:lnTo>
                  <a:lnTo>
                    <a:pt x="1924764" y="859117"/>
                  </a:lnTo>
                  <a:lnTo>
                    <a:pt x="1938814" y="859117"/>
                  </a:lnTo>
                  <a:lnTo>
                    <a:pt x="1952863" y="859117"/>
                  </a:lnTo>
                  <a:lnTo>
                    <a:pt x="1966912" y="859117"/>
                  </a:lnTo>
                  <a:lnTo>
                    <a:pt x="1980962" y="859117"/>
                  </a:lnTo>
                  <a:lnTo>
                    <a:pt x="1995011" y="859117"/>
                  </a:lnTo>
                  <a:lnTo>
                    <a:pt x="2009061" y="859117"/>
                  </a:lnTo>
                  <a:lnTo>
                    <a:pt x="2023110" y="859117"/>
                  </a:lnTo>
                  <a:lnTo>
                    <a:pt x="2037159" y="859117"/>
                  </a:lnTo>
                  <a:lnTo>
                    <a:pt x="2051209" y="859117"/>
                  </a:lnTo>
                  <a:lnTo>
                    <a:pt x="2065258" y="859117"/>
                  </a:lnTo>
                  <a:lnTo>
                    <a:pt x="2079308" y="859117"/>
                  </a:lnTo>
                  <a:lnTo>
                    <a:pt x="2093357" y="859117"/>
                  </a:lnTo>
                  <a:lnTo>
                    <a:pt x="2107406" y="859117"/>
                  </a:lnTo>
                  <a:lnTo>
                    <a:pt x="2121456" y="859117"/>
                  </a:lnTo>
                  <a:lnTo>
                    <a:pt x="2135505" y="859117"/>
                  </a:lnTo>
                  <a:lnTo>
                    <a:pt x="2149554" y="859117"/>
                  </a:lnTo>
                  <a:lnTo>
                    <a:pt x="2163604" y="859117"/>
                  </a:lnTo>
                  <a:lnTo>
                    <a:pt x="2177653" y="859117"/>
                  </a:lnTo>
                  <a:lnTo>
                    <a:pt x="2191702" y="859117"/>
                  </a:lnTo>
                  <a:lnTo>
                    <a:pt x="2205752" y="859117"/>
                  </a:lnTo>
                  <a:lnTo>
                    <a:pt x="2219801" y="859117"/>
                  </a:lnTo>
                  <a:lnTo>
                    <a:pt x="2233851" y="859117"/>
                  </a:lnTo>
                  <a:lnTo>
                    <a:pt x="2247900" y="859117"/>
                  </a:lnTo>
                </a:path>
              </a:pathLst>
            </a:custGeom>
            <a:noFill/>
            <a:ln w="19050">
              <a:solidFill>
                <a:srgbClr val="8FA0C4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798320" y="33337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720807" y="3409474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μ₁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1123950" y="2474633"/>
              <a:ext cx="2247900" cy="859117"/>
            </a:xfrm>
            <a:custGeom>
              <a:avLst/>
              <a:gdLst/>
              <a:ahLst/>
              <a:cxnLst/>
              <a:rect l="l" t="t" r="r" b="b"/>
              <a:pathLst>
                <a:path w="2247900" h="859117">
                  <a:moveTo>
                    <a:pt x="0" y="859117"/>
                  </a:moveTo>
                  <a:lnTo>
                    <a:pt x="14049" y="859117"/>
                  </a:lnTo>
                  <a:lnTo>
                    <a:pt x="28099" y="859117"/>
                  </a:lnTo>
                  <a:lnTo>
                    <a:pt x="42148" y="859117"/>
                  </a:lnTo>
                  <a:lnTo>
                    <a:pt x="56198" y="859117"/>
                  </a:lnTo>
                  <a:lnTo>
                    <a:pt x="70247" y="859117"/>
                  </a:lnTo>
                  <a:lnTo>
                    <a:pt x="84296" y="859117"/>
                  </a:lnTo>
                  <a:lnTo>
                    <a:pt x="98346" y="859117"/>
                  </a:lnTo>
                  <a:lnTo>
                    <a:pt x="112395" y="859117"/>
                  </a:lnTo>
                  <a:lnTo>
                    <a:pt x="126444" y="859117"/>
                  </a:lnTo>
                  <a:lnTo>
                    <a:pt x="140494" y="859117"/>
                  </a:lnTo>
                  <a:lnTo>
                    <a:pt x="154543" y="859117"/>
                  </a:lnTo>
                  <a:lnTo>
                    <a:pt x="168592" y="859117"/>
                  </a:lnTo>
                  <a:lnTo>
                    <a:pt x="182642" y="859117"/>
                  </a:lnTo>
                  <a:lnTo>
                    <a:pt x="196691" y="859117"/>
                  </a:lnTo>
                  <a:lnTo>
                    <a:pt x="210741" y="859107"/>
                  </a:lnTo>
                  <a:lnTo>
                    <a:pt x="224790" y="859107"/>
                  </a:lnTo>
                  <a:lnTo>
                    <a:pt x="238839" y="859107"/>
                  </a:lnTo>
                  <a:lnTo>
                    <a:pt x="252889" y="859098"/>
                  </a:lnTo>
                  <a:lnTo>
                    <a:pt x="266938" y="859088"/>
                  </a:lnTo>
                  <a:lnTo>
                    <a:pt x="280988" y="859079"/>
                  </a:lnTo>
                  <a:lnTo>
                    <a:pt x="295037" y="859069"/>
                  </a:lnTo>
                  <a:lnTo>
                    <a:pt x="309086" y="859050"/>
                  </a:lnTo>
                  <a:lnTo>
                    <a:pt x="323136" y="859022"/>
                  </a:lnTo>
                  <a:lnTo>
                    <a:pt x="337185" y="858993"/>
                  </a:lnTo>
                  <a:lnTo>
                    <a:pt x="351234" y="858945"/>
                  </a:lnTo>
                  <a:lnTo>
                    <a:pt x="365284" y="858879"/>
                  </a:lnTo>
                  <a:lnTo>
                    <a:pt x="379333" y="858803"/>
                  </a:lnTo>
                  <a:lnTo>
                    <a:pt x="393383" y="858688"/>
                  </a:lnTo>
                  <a:lnTo>
                    <a:pt x="407432" y="858545"/>
                  </a:lnTo>
                  <a:lnTo>
                    <a:pt x="421481" y="858355"/>
                  </a:lnTo>
                  <a:lnTo>
                    <a:pt x="435531" y="858117"/>
                  </a:lnTo>
                  <a:lnTo>
                    <a:pt x="449580" y="857802"/>
                  </a:lnTo>
                  <a:lnTo>
                    <a:pt x="463629" y="857393"/>
                  </a:lnTo>
                  <a:lnTo>
                    <a:pt x="477679" y="856879"/>
                  </a:lnTo>
                  <a:lnTo>
                    <a:pt x="491728" y="856231"/>
                  </a:lnTo>
                  <a:lnTo>
                    <a:pt x="505777" y="855412"/>
                  </a:lnTo>
                  <a:lnTo>
                    <a:pt x="519827" y="854383"/>
                  </a:lnTo>
                  <a:lnTo>
                    <a:pt x="533876" y="853097"/>
                  </a:lnTo>
                  <a:lnTo>
                    <a:pt x="547926" y="851516"/>
                  </a:lnTo>
                  <a:lnTo>
                    <a:pt x="561975" y="849573"/>
                  </a:lnTo>
                  <a:lnTo>
                    <a:pt x="576024" y="847201"/>
                  </a:lnTo>
                  <a:lnTo>
                    <a:pt x="590074" y="844315"/>
                  </a:lnTo>
                  <a:lnTo>
                    <a:pt x="604123" y="840838"/>
                  </a:lnTo>
                  <a:lnTo>
                    <a:pt x="618172" y="836676"/>
                  </a:lnTo>
                  <a:lnTo>
                    <a:pt x="632222" y="831713"/>
                  </a:lnTo>
                  <a:lnTo>
                    <a:pt x="646271" y="825846"/>
                  </a:lnTo>
                  <a:lnTo>
                    <a:pt x="660321" y="818950"/>
                  </a:lnTo>
                  <a:lnTo>
                    <a:pt x="674370" y="810892"/>
                  </a:lnTo>
                  <a:lnTo>
                    <a:pt x="688419" y="801538"/>
                  </a:lnTo>
                  <a:lnTo>
                    <a:pt x="702469" y="790766"/>
                  </a:lnTo>
                  <a:lnTo>
                    <a:pt x="716518" y="778431"/>
                  </a:lnTo>
                  <a:lnTo>
                    <a:pt x="730567" y="764400"/>
                  </a:lnTo>
                  <a:lnTo>
                    <a:pt x="744617" y="748551"/>
                  </a:lnTo>
                  <a:lnTo>
                    <a:pt x="758666" y="730777"/>
                  </a:lnTo>
                  <a:lnTo>
                    <a:pt x="772716" y="710984"/>
                  </a:lnTo>
                  <a:lnTo>
                    <a:pt x="786765" y="689096"/>
                  </a:lnTo>
                  <a:lnTo>
                    <a:pt x="800814" y="665074"/>
                  </a:lnTo>
                  <a:lnTo>
                    <a:pt x="814864" y="638889"/>
                  </a:lnTo>
                  <a:lnTo>
                    <a:pt x="828913" y="610581"/>
                  </a:lnTo>
                  <a:lnTo>
                    <a:pt x="842962" y="580206"/>
                  </a:lnTo>
                  <a:lnTo>
                    <a:pt x="857012" y="547868"/>
                  </a:lnTo>
                  <a:lnTo>
                    <a:pt x="871061" y="513731"/>
                  </a:lnTo>
                  <a:lnTo>
                    <a:pt x="885111" y="478003"/>
                  </a:lnTo>
                  <a:lnTo>
                    <a:pt x="899160" y="440941"/>
                  </a:lnTo>
                  <a:lnTo>
                    <a:pt x="913209" y="402841"/>
                  </a:lnTo>
                  <a:lnTo>
                    <a:pt x="927259" y="364074"/>
                  </a:lnTo>
                  <a:lnTo>
                    <a:pt x="941308" y="325012"/>
                  </a:lnTo>
                  <a:lnTo>
                    <a:pt x="955358" y="286112"/>
                  </a:lnTo>
                  <a:lnTo>
                    <a:pt x="969407" y="247812"/>
                  </a:lnTo>
                  <a:lnTo>
                    <a:pt x="983456" y="210626"/>
                  </a:lnTo>
                  <a:lnTo>
                    <a:pt x="997506" y="175031"/>
                  </a:lnTo>
                  <a:lnTo>
                    <a:pt x="1011555" y="141522"/>
                  </a:lnTo>
                  <a:lnTo>
                    <a:pt x="1025604" y="110604"/>
                  </a:lnTo>
                  <a:lnTo>
                    <a:pt x="1039654" y="82734"/>
                  </a:lnTo>
                  <a:lnTo>
                    <a:pt x="1053703" y="58331"/>
                  </a:lnTo>
                  <a:lnTo>
                    <a:pt x="1067752" y="37805"/>
                  </a:lnTo>
                  <a:lnTo>
                    <a:pt x="1081802" y="21479"/>
                  </a:lnTo>
                  <a:lnTo>
                    <a:pt x="1095851" y="9611"/>
                  </a:lnTo>
                  <a:lnTo>
                    <a:pt x="1109901" y="2419"/>
                  </a:lnTo>
                  <a:lnTo>
                    <a:pt x="1123950" y="0"/>
                  </a:lnTo>
                  <a:lnTo>
                    <a:pt x="1137999" y="2419"/>
                  </a:lnTo>
                  <a:lnTo>
                    <a:pt x="1152049" y="9611"/>
                  </a:lnTo>
                  <a:lnTo>
                    <a:pt x="1166098" y="21479"/>
                  </a:lnTo>
                  <a:lnTo>
                    <a:pt x="1180148" y="37805"/>
                  </a:lnTo>
                  <a:lnTo>
                    <a:pt x="1194197" y="58331"/>
                  </a:lnTo>
                  <a:lnTo>
                    <a:pt x="1208246" y="82734"/>
                  </a:lnTo>
                  <a:lnTo>
                    <a:pt x="1222296" y="110604"/>
                  </a:lnTo>
                  <a:lnTo>
                    <a:pt x="1236345" y="141522"/>
                  </a:lnTo>
                  <a:lnTo>
                    <a:pt x="1250394" y="175031"/>
                  </a:lnTo>
                  <a:lnTo>
                    <a:pt x="1264444" y="210626"/>
                  </a:lnTo>
                  <a:lnTo>
                    <a:pt x="1278493" y="247812"/>
                  </a:lnTo>
                  <a:lnTo>
                    <a:pt x="1292542" y="286112"/>
                  </a:lnTo>
                  <a:lnTo>
                    <a:pt x="1306592" y="325012"/>
                  </a:lnTo>
                  <a:lnTo>
                    <a:pt x="1320641" y="364074"/>
                  </a:lnTo>
                  <a:lnTo>
                    <a:pt x="1334691" y="402841"/>
                  </a:lnTo>
                  <a:lnTo>
                    <a:pt x="1348740" y="440941"/>
                  </a:lnTo>
                  <a:lnTo>
                    <a:pt x="1362789" y="478003"/>
                  </a:lnTo>
                  <a:lnTo>
                    <a:pt x="1376839" y="513731"/>
                  </a:lnTo>
                  <a:lnTo>
                    <a:pt x="1390888" y="547868"/>
                  </a:lnTo>
                  <a:lnTo>
                    <a:pt x="1404938" y="580206"/>
                  </a:lnTo>
                  <a:lnTo>
                    <a:pt x="1418987" y="610581"/>
                  </a:lnTo>
                  <a:lnTo>
                    <a:pt x="1433036" y="638889"/>
                  </a:lnTo>
                  <a:lnTo>
                    <a:pt x="1447086" y="665074"/>
                  </a:lnTo>
                  <a:lnTo>
                    <a:pt x="1461135" y="689096"/>
                  </a:lnTo>
                  <a:lnTo>
                    <a:pt x="1475184" y="710984"/>
                  </a:lnTo>
                  <a:lnTo>
                    <a:pt x="1489234" y="730777"/>
                  </a:lnTo>
                  <a:lnTo>
                    <a:pt x="1503283" y="748551"/>
                  </a:lnTo>
                  <a:lnTo>
                    <a:pt x="1517332" y="764400"/>
                  </a:lnTo>
                  <a:lnTo>
                    <a:pt x="1531382" y="778431"/>
                  </a:lnTo>
                  <a:lnTo>
                    <a:pt x="1545431" y="790766"/>
                  </a:lnTo>
                  <a:lnTo>
                    <a:pt x="1559481" y="801538"/>
                  </a:lnTo>
                  <a:lnTo>
                    <a:pt x="1573530" y="810892"/>
                  </a:lnTo>
                  <a:lnTo>
                    <a:pt x="1587579" y="818950"/>
                  </a:lnTo>
                  <a:lnTo>
                    <a:pt x="1601629" y="825846"/>
                  </a:lnTo>
                  <a:lnTo>
                    <a:pt x="1615678" y="831713"/>
                  </a:lnTo>
                  <a:lnTo>
                    <a:pt x="1629728" y="836676"/>
                  </a:lnTo>
                  <a:lnTo>
                    <a:pt x="1643777" y="840838"/>
                  </a:lnTo>
                  <a:lnTo>
                    <a:pt x="1657826" y="844315"/>
                  </a:lnTo>
                  <a:lnTo>
                    <a:pt x="1671876" y="847201"/>
                  </a:lnTo>
                  <a:lnTo>
                    <a:pt x="1685925" y="849573"/>
                  </a:lnTo>
                  <a:lnTo>
                    <a:pt x="1699974" y="851516"/>
                  </a:lnTo>
                  <a:lnTo>
                    <a:pt x="1714024" y="853097"/>
                  </a:lnTo>
                  <a:lnTo>
                    <a:pt x="1728073" y="854383"/>
                  </a:lnTo>
                  <a:lnTo>
                    <a:pt x="1742122" y="855412"/>
                  </a:lnTo>
                  <a:lnTo>
                    <a:pt x="1756172" y="856231"/>
                  </a:lnTo>
                  <a:lnTo>
                    <a:pt x="1770221" y="856879"/>
                  </a:lnTo>
                  <a:lnTo>
                    <a:pt x="1784271" y="857393"/>
                  </a:lnTo>
                  <a:lnTo>
                    <a:pt x="1798320" y="857802"/>
                  </a:lnTo>
                  <a:lnTo>
                    <a:pt x="1812369" y="858117"/>
                  </a:lnTo>
                  <a:lnTo>
                    <a:pt x="1826419" y="858355"/>
                  </a:lnTo>
                  <a:lnTo>
                    <a:pt x="1840468" y="858545"/>
                  </a:lnTo>
                  <a:lnTo>
                    <a:pt x="1854518" y="858688"/>
                  </a:lnTo>
                  <a:lnTo>
                    <a:pt x="1868567" y="858803"/>
                  </a:lnTo>
                  <a:lnTo>
                    <a:pt x="1882616" y="858879"/>
                  </a:lnTo>
                  <a:lnTo>
                    <a:pt x="1896666" y="858945"/>
                  </a:lnTo>
                  <a:lnTo>
                    <a:pt x="1910715" y="858993"/>
                  </a:lnTo>
                  <a:lnTo>
                    <a:pt x="1924764" y="859022"/>
                  </a:lnTo>
                  <a:lnTo>
                    <a:pt x="1938814" y="859050"/>
                  </a:lnTo>
                  <a:lnTo>
                    <a:pt x="1952863" y="859069"/>
                  </a:lnTo>
                  <a:lnTo>
                    <a:pt x="1966912" y="859079"/>
                  </a:lnTo>
                  <a:lnTo>
                    <a:pt x="1980962" y="859088"/>
                  </a:lnTo>
                  <a:lnTo>
                    <a:pt x="1995011" y="859098"/>
                  </a:lnTo>
                  <a:lnTo>
                    <a:pt x="2009061" y="859107"/>
                  </a:lnTo>
                  <a:lnTo>
                    <a:pt x="2023110" y="859107"/>
                  </a:lnTo>
                  <a:lnTo>
                    <a:pt x="2037159" y="859107"/>
                  </a:lnTo>
                  <a:lnTo>
                    <a:pt x="2051209" y="859117"/>
                  </a:lnTo>
                  <a:lnTo>
                    <a:pt x="2065258" y="859117"/>
                  </a:lnTo>
                  <a:lnTo>
                    <a:pt x="2079308" y="859117"/>
                  </a:lnTo>
                  <a:lnTo>
                    <a:pt x="2093357" y="859117"/>
                  </a:lnTo>
                  <a:lnTo>
                    <a:pt x="2107406" y="859117"/>
                  </a:lnTo>
                  <a:lnTo>
                    <a:pt x="2121456" y="859117"/>
                  </a:lnTo>
                  <a:lnTo>
                    <a:pt x="2135505" y="859117"/>
                  </a:lnTo>
                  <a:lnTo>
                    <a:pt x="2149554" y="859117"/>
                  </a:lnTo>
                  <a:lnTo>
                    <a:pt x="2163604" y="859117"/>
                  </a:lnTo>
                  <a:lnTo>
                    <a:pt x="2177653" y="859117"/>
                  </a:lnTo>
                  <a:lnTo>
                    <a:pt x="2191702" y="859117"/>
                  </a:lnTo>
                  <a:lnTo>
                    <a:pt x="2205752" y="859117"/>
                  </a:lnTo>
                  <a:lnTo>
                    <a:pt x="2219801" y="859117"/>
                  </a:lnTo>
                  <a:lnTo>
                    <a:pt x="2233851" y="859117"/>
                  </a:lnTo>
                  <a:lnTo>
                    <a:pt x="2247900" y="859117"/>
                  </a:lnTo>
                </a:path>
              </a:pathLst>
            </a:custGeom>
            <a:noFill/>
            <a:ln w="19050">
              <a:solidFill>
                <a:srgbClr val="2F4B9A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2247900" y="33337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170387" y="3409474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μ₂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1123950" y="2474633"/>
              <a:ext cx="2247900" cy="859117"/>
            </a:xfrm>
            <a:custGeom>
              <a:avLst/>
              <a:gdLst/>
              <a:ahLst/>
              <a:cxnLst/>
              <a:rect l="l" t="t" r="r" b="b"/>
              <a:pathLst>
                <a:path w="2247900" h="859117">
                  <a:moveTo>
                    <a:pt x="0" y="859117"/>
                  </a:moveTo>
                  <a:lnTo>
                    <a:pt x="14049" y="859117"/>
                  </a:lnTo>
                  <a:lnTo>
                    <a:pt x="28099" y="859117"/>
                  </a:lnTo>
                  <a:lnTo>
                    <a:pt x="42148" y="859117"/>
                  </a:lnTo>
                  <a:lnTo>
                    <a:pt x="56198" y="859117"/>
                  </a:lnTo>
                  <a:lnTo>
                    <a:pt x="70247" y="859117"/>
                  </a:lnTo>
                  <a:lnTo>
                    <a:pt x="84296" y="859117"/>
                  </a:lnTo>
                  <a:lnTo>
                    <a:pt x="98346" y="859117"/>
                  </a:lnTo>
                  <a:lnTo>
                    <a:pt x="112395" y="859117"/>
                  </a:lnTo>
                  <a:lnTo>
                    <a:pt x="126444" y="859117"/>
                  </a:lnTo>
                  <a:lnTo>
                    <a:pt x="140494" y="859117"/>
                  </a:lnTo>
                  <a:lnTo>
                    <a:pt x="154543" y="859117"/>
                  </a:lnTo>
                  <a:lnTo>
                    <a:pt x="168592" y="859117"/>
                  </a:lnTo>
                  <a:lnTo>
                    <a:pt x="182642" y="859117"/>
                  </a:lnTo>
                  <a:lnTo>
                    <a:pt x="196691" y="859117"/>
                  </a:lnTo>
                  <a:lnTo>
                    <a:pt x="210741" y="859117"/>
                  </a:lnTo>
                  <a:lnTo>
                    <a:pt x="224790" y="859117"/>
                  </a:lnTo>
                  <a:lnTo>
                    <a:pt x="238839" y="859117"/>
                  </a:lnTo>
                  <a:lnTo>
                    <a:pt x="252889" y="859117"/>
                  </a:lnTo>
                  <a:lnTo>
                    <a:pt x="266938" y="859117"/>
                  </a:lnTo>
                  <a:lnTo>
                    <a:pt x="280988" y="859117"/>
                  </a:lnTo>
                  <a:lnTo>
                    <a:pt x="295037" y="859117"/>
                  </a:lnTo>
                  <a:lnTo>
                    <a:pt x="309086" y="859117"/>
                  </a:lnTo>
                  <a:lnTo>
                    <a:pt x="323136" y="859117"/>
                  </a:lnTo>
                  <a:lnTo>
                    <a:pt x="337185" y="859117"/>
                  </a:lnTo>
                  <a:lnTo>
                    <a:pt x="351234" y="859117"/>
                  </a:lnTo>
                  <a:lnTo>
                    <a:pt x="365284" y="859117"/>
                  </a:lnTo>
                  <a:lnTo>
                    <a:pt x="379333" y="859117"/>
                  </a:lnTo>
                  <a:lnTo>
                    <a:pt x="393383" y="859117"/>
                  </a:lnTo>
                  <a:lnTo>
                    <a:pt x="407432" y="859117"/>
                  </a:lnTo>
                  <a:lnTo>
                    <a:pt x="421481" y="859117"/>
                  </a:lnTo>
                  <a:lnTo>
                    <a:pt x="435531" y="859117"/>
                  </a:lnTo>
                  <a:lnTo>
                    <a:pt x="449580" y="859117"/>
                  </a:lnTo>
                  <a:lnTo>
                    <a:pt x="463629" y="859117"/>
                  </a:lnTo>
                  <a:lnTo>
                    <a:pt x="477679" y="859117"/>
                  </a:lnTo>
                  <a:lnTo>
                    <a:pt x="491728" y="859117"/>
                  </a:lnTo>
                  <a:lnTo>
                    <a:pt x="505777" y="859117"/>
                  </a:lnTo>
                  <a:lnTo>
                    <a:pt x="519827" y="859117"/>
                  </a:lnTo>
                  <a:lnTo>
                    <a:pt x="533876" y="859117"/>
                  </a:lnTo>
                  <a:lnTo>
                    <a:pt x="547926" y="859117"/>
                  </a:lnTo>
                  <a:lnTo>
                    <a:pt x="561975" y="859117"/>
                  </a:lnTo>
                  <a:lnTo>
                    <a:pt x="576024" y="859117"/>
                  </a:lnTo>
                  <a:lnTo>
                    <a:pt x="590074" y="859117"/>
                  </a:lnTo>
                  <a:lnTo>
                    <a:pt x="604123" y="859117"/>
                  </a:lnTo>
                  <a:lnTo>
                    <a:pt x="618172" y="859117"/>
                  </a:lnTo>
                  <a:lnTo>
                    <a:pt x="632222" y="859117"/>
                  </a:lnTo>
                  <a:lnTo>
                    <a:pt x="646271" y="859117"/>
                  </a:lnTo>
                  <a:lnTo>
                    <a:pt x="660321" y="859107"/>
                  </a:lnTo>
                  <a:lnTo>
                    <a:pt x="674370" y="859107"/>
                  </a:lnTo>
                  <a:lnTo>
                    <a:pt x="688419" y="859107"/>
                  </a:lnTo>
                  <a:lnTo>
                    <a:pt x="702469" y="859098"/>
                  </a:lnTo>
                  <a:lnTo>
                    <a:pt x="716518" y="859088"/>
                  </a:lnTo>
                  <a:lnTo>
                    <a:pt x="730567" y="859079"/>
                  </a:lnTo>
                  <a:lnTo>
                    <a:pt x="744617" y="859069"/>
                  </a:lnTo>
                  <a:lnTo>
                    <a:pt x="758666" y="859050"/>
                  </a:lnTo>
                  <a:lnTo>
                    <a:pt x="772716" y="859022"/>
                  </a:lnTo>
                  <a:lnTo>
                    <a:pt x="786765" y="858993"/>
                  </a:lnTo>
                  <a:lnTo>
                    <a:pt x="800814" y="858945"/>
                  </a:lnTo>
                  <a:lnTo>
                    <a:pt x="814864" y="858879"/>
                  </a:lnTo>
                  <a:lnTo>
                    <a:pt x="828913" y="858803"/>
                  </a:lnTo>
                  <a:lnTo>
                    <a:pt x="842962" y="858688"/>
                  </a:lnTo>
                  <a:lnTo>
                    <a:pt x="857012" y="858545"/>
                  </a:lnTo>
                  <a:lnTo>
                    <a:pt x="871061" y="858355"/>
                  </a:lnTo>
                  <a:lnTo>
                    <a:pt x="885111" y="858117"/>
                  </a:lnTo>
                  <a:lnTo>
                    <a:pt x="899160" y="857802"/>
                  </a:lnTo>
                  <a:lnTo>
                    <a:pt x="913209" y="857393"/>
                  </a:lnTo>
                  <a:lnTo>
                    <a:pt x="927259" y="856879"/>
                  </a:lnTo>
                  <a:lnTo>
                    <a:pt x="941308" y="856231"/>
                  </a:lnTo>
                  <a:lnTo>
                    <a:pt x="955358" y="855412"/>
                  </a:lnTo>
                  <a:lnTo>
                    <a:pt x="969407" y="854383"/>
                  </a:lnTo>
                  <a:lnTo>
                    <a:pt x="983456" y="853097"/>
                  </a:lnTo>
                  <a:lnTo>
                    <a:pt x="997506" y="851516"/>
                  </a:lnTo>
                  <a:lnTo>
                    <a:pt x="1011555" y="849573"/>
                  </a:lnTo>
                  <a:lnTo>
                    <a:pt x="1025604" y="847201"/>
                  </a:lnTo>
                  <a:lnTo>
                    <a:pt x="1039654" y="844315"/>
                  </a:lnTo>
                  <a:lnTo>
                    <a:pt x="1053703" y="840838"/>
                  </a:lnTo>
                  <a:lnTo>
                    <a:pt x="1067752" y="836676"/>
                  </a:lnTo>
                  <a:lnTo>
                    <a:pt x="1081802" y="831713"/>
                  </a:lnTo>
                  <a:lnTo>
                    <a:pt x="1095851" y="825846"/>
                  </a:lnTo>
                  <a:lnTo>
                    <a:pt x="1109901" y="818950"/>
                  </a:lnTo>
                  <a:lnTo>
                    <a:pt x="1123950" y="810892"/>
                  </a:lnTo>
                  <a:lnTo>
                    <a:pt x="1137999" y="801538"/>
                  </a:lnTo>
                  <a:lnTo>
                    <a:pt x="1152049" y="790766"/>
                  </a:lnTo>
                  <a:lnTo>
                    <a:pt x="1166098" y="778431"/>
                  </a:lnTo>
                  <a:lnTo>
                    <a:pt x="1180148" y="764400"/>
                  </a:lnTo>
                  <a:lnTo>
                    <a:pt x="1194197" y="748551"/>
                  </a:lnTo>
                  <a:lnTo>
                    <a:pt x="1208246" y="730777"/>
                  </a:lnTo>
                  <a:lnTo>
                    <a:pt x="1222296" y="710984"/>
                  </a:lnTo>
                  <a:lnTo>
                    <a:pt x="1236345" y="689096"/>
                  </a:lnTo>
                  <a:lnTo>
                    <a:pt x="1250394" y="665074"/>
                  </a:lnTo>
                  <a:lnTo>
                    <a:pt x="1264444" y="638889"/>
                  </a:lnTo>
                  <a:lnTo>
                    <a:pt x="1278493" y="610581"/>
                  </a:lnTo>
                  <a:lnTo>
                    <a:pt x="1292542" y="580206"/>
                  </a:lnTo>
                  <a:lnTo>
                    <a:pt x="1306592" y="547868"/>
                  </a:lnTo>
                  <a:lnTo>
                    <a:pt x="1320641" y="513731"/>
                  </a:lnTo>
                  <a:lnTo>
                    <a:pt x="1334691" y="478003"/>
                  </a:lnTo>
                  <a:lnTo>
                    <a:pt x="1348740" y="440941"/>
                  </a:lnTo>
                  <a:lnTo>
                    <a:pt x="1362789" y="402841"/>
                  </a:lnTo>
                  <a:lnTo>
                    <a:pt x="1376839" y="364074"/>
                  </a:lnTo>
                  <a:lnTo>
                    <a:pt x="1390888" y="325012"/>
                  </a:lnTo>
                  <a:lnTo>
                    <a:pt x="1404938" y="286112"/>
                  </a:lnTo>
                  <a:lnTo>
                    <a:pt x="1418987" y="247812"/>
                  </a:lnTo>
                  <a:lnTo>
                    <a:pt x="1433036" y="210626"/>
                  </a:lnTo>
                  <a:lnTo>
                    <a:pt x="1447086" y="175031"/>
                  </a:lnTo>
                  <a:lnTo>
                    <a:pt x="1461135" y="141522"/>
                  </a:lnTo>
                  <a:lnTo>
                    <a:pt x="1475184" y="110604"/>
                  </a:lnTo>
                  <a:lnTo>
                    <a:pt x="1489234" y="82734"/>
                  </a:lnTo>
                  <a:lnTo>
                    <a:pt x="1503283" y="58331"/>
                  </a:lnTo>
                  <a:lnTo>
                    <a:pt x="1517332" y="37805"/>
                  </a:lnTo>
                  <a:lnTo>
                    <a:pt x="1531382" y="21479"/>
                  </a:lnTo>
                  <a:lnTo>
                    <a:pt x="1545431" y="9611"/>
                  </a:lnTo>
                  <a:lnTo>
                    <a:pt x="1559481" y="2419"/>
                  </a:lnTo>
                  <a:lnTo>
                    <a:pt x="1573530" y="0"/>
                  </a:lnTo>
                  <a:lnTo>
                    <a:pt x="1587579" y="2419"/>
                  </a:lnTo>
                  <a:lnTo>
                    <a:pt x="1601629" y="9611"/>
                  </a:lnTo>
                  <a:lnTo>
                    <a:pt x="1615678" y="21479"/>
                  </a:lnTo>
                  <a:lnTo>
                    <a:pt x="1629728" y="37805"/>
                  </a:lnTo>
                  <a:lnTo>
                    <a:pt x="1643777" y="58331"/>
                  </a:lnTo>
                  <a:lnTo>
                    <a:pt x="1657826" y="82734"/>
                  </a:lnTo>
                  <a:lnTo>
                    <a:pt x="1671876" y="110604"/>
                  </a:lnTo>
                  <a:lnTo>
                    <a:pt x="1685925" y="141522"/>
                  </a:lnTo>
                  <a:lnTo>
                    <a:pt x="1699974" y="175031"/>
                  </a:lnTo>
                  <a:lnTo>
                    <a:pt x="1714024" y="210626"/>
                  </a:lnTo>
                  <a:lnTo>
                    <a:pt x="1728073" y="247812"/>
                  </a:lnTo>
                  <a:lnTo>
                    <a:pt x="1742122" y="286112"/>
                  </a:lnTo>
                  <a:lnTo>
                    <a:pt x="1756172" y="325012"/>
                  </a:lnTo>
                  <a:lnTo>
                    <a:pt x="1770221" y="364074"/>
                  </a:lnTo>
                  <a:lnTo>
                    <a:pt x="1784271" y="402841"/>
                  </a:lnTo>
                  <a:lnTo>
                    <a:pt x="1798320" y="440941"/>
                  </a:lnTo>
                  <a:lnTo>
                    <a:pt x="1812369" y="478003"/>
                  </a:lnTo>
                  <a:lnTo>
                    <a:pt x="1826419" y="513731"/>
                  </a:lnTo>
                  <a:lnTo>
                    <a:pt x="1840468" y="547868"/>
                  </a:lnTo>
                  <a:lnTo>
                    <a:pt x="1854518" y="580206"/>
                  </a:lnTo>
                  <a:lnTo>
                    <a:pt x="1868567" y="610581"/>
                  </a:lnTo>
                  <a:lnTo>
                    <a:pt x="1882616" y="638889"/>
                  </a:lnTo>
                  <a:lnTo>
                    <a:pt x="1896666" y="665074"/>
                  </a:lnTo>
                  <a:lnTo>
                    <a:pt x="1910715" y="689096"/>
                  </a:lnTo>
                  <a:lnTo>
                    <a:pt x="1924764" y="710984"/>
                  </a:lnTo>
                  <a:lnTo>
                    <a:pt x="1938814" y="730777"/>
                  </a:lnTo>
                  <a:lnTo>
                    <a:pt x="1952863" y="748551"/>
                  </a:lnTo>
                  <a:lnTo>
                    <a:pt x="1966912" y="764400"/>
                  </a:lnTo>
                  <a:lnTo>
                    <a:pt x="1980962" y="778431"/>
                  </a:lnTo>
                  <a:lnTo>
                    <a:pt x="1995011" y="790766"/>
                  </a:lnTo>
                  <a:lnTo>
                    <a:pt x="2009061" y="801538"/>
                  </a:lnTo>
                  <a:lnTo>
                    <a:pt x="2023110" y="810892"/>
                  </a:lnTo>
                  <a:lnTo>
                    <a:pt x="2037159" y="818950"/>
                  </a:lnTo>
                  <a:lnTo>
                    <a:pt x="2051209" y="825846"/>
                  </a:lnTo>
                  <a:lnTo>
                    <a:pt x="2065258" y="831713"/>
                  </a:lnTo>
                  <a:lnTo>
                    <a:pt x="2079308" y="836676"/>
                  </a:lnTo>
                  <a:lnTo>
                    <a:pt x="2093357" y="840838"/>
                  </a:lnTo>
                  <a:lnTo>
                    <a:pt x="2107406" y="844315"/>
                  </a:lnTo>
                  <a:lnTo>
                    <a:pt x="2121456" y="847201"/>
                  </a:lnTo>
                  <a:lnTo>
                    <a:pt x="2135505" y="849573"/>
                  </a:lnTo>
                  <a:lnTo>
                    <a:pt x="2149554" y="851516"/>
                  </a:lnTo>
                  <a:lnTo>
                    <a:pt x="2163604" y="853097"/>
                  </a:lnTo>
                  <a:lnTo>
                    <a:pt x="2177653" y="854383"/>
                  </a:lnTo>
                  <a:lnTo>
                    <a:pt x="2191702" y="855412"/>
                  </a:lnTo>
                  <a:lnTo>
                    <a:pt x="2205752" y="856231"/>
                  </a:lnTo>
                  <a:lnTo>
                    <a:pt x="2219801" y="856879"/>
                  </a:lnTo>
                  <a:lnTo>
                    <a:pt x="2233851" y="857393"/>
                  </a:lnTo>
                  <a:lnTo>
                    <a:pt x="2247900" y="857802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2697480" y="33337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619967" y="3409474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μ₃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1066800" y="3333750"/>
              <a:ext cx="2352675" cy="9525"/>
            </a:xfrm>
            <a:custGeom>
              <a:avLst/>
              <a:gdLst/>
              <a:ahLst/>
              <a:cxnLst/>
              <a:rect l="l" t="t" r="r" b="b"/>
              <a:pathLst>
                <a:path w="2352675" h="9525">
                  <a:moveTo>
                    <a:pt x="0" y="0"/>
                  </a:moveTo>
                  <a:lnTo>
                    <a:pt x="2352675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3419475" y="3303746"/>
              <a:ext cx="66675" cy="60007"/>
            </a:xfrm>
            <a:custGeom>
              <a:avLst/>
              <a:gdLst/>
              <a:ahLst/>
              <a:cxnLst/>
              <a:rect l="l" t="t" r="r" b="b"/>
              <a:pathLst>
                <a:path w="66675" h="60007">
                  <a:moveTo>
                    <a:pt x="66675" y="30004"/>
                  </a:moveTo>
                  <a:lnTo>
                    <a:pt x="0" y="60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21" name="Line 21"/>
            <p:cNvSpPr/>
            <p:nvPr/>
          </p:nvSpPr>
          <p:spPr>
            <a:xfrm>
              <a:off x="1123950" y="2314575"/>
              <a:ext cx="9525" cy="1076325"/>
            </a:xfrm>
            <a:custGeom>
              <a:avLst/>
              <a:gdLst/>
              <a:ahLst/>
              <a:cxnLst/>
              <a:rect l="l" t="t" r="r" b="b"/>
              <a:pathLst>
                <a:path w="9525" h="1076325">
                  <a:moveTo>
                    <a:pt x="0" y="107632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1093946" y="2247900"/>
              <a:ext cx="60008" cy="66675"/>
            </a:xfrm>
            <a:custGeom>
              <a:avLst/>
              <a:gdLst/>
              <a:ahLst/>
              <a:cxnLst/>
              <a:rect l="l" t="t" r="r" b="b"/>
              <a:pathLst>
                <a:path w="60008" h="66675">
                  <a:moveTo>
                    <a:pt x="30004" y="0"/>
                  </a:moveTo>
                  <a:lnTo>
                    <a:pt x="60008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518916" y="33728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0494" y="207740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1474" y="3390424"/>
              <a:ext cx="1144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461956" y="2367201"/>
              <a:ext cx="975647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固定 σ 改变 μ：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461956" y="2576751"/>
              <a:ext cx="1164717" cy="3885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101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曲线整体左右平移，</a:t>
              </a:r>
              <a:br/>
              <a:r>
                <a:rPr lang="zh-CN" sz="101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形状一点不变。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1123950" y="4038638"/>
              <a:ext cx="2247900" cy="876262"/>
            </a:xfrm>
            <a:custGeom>
              <a:avLst/>
              <a:gdLst/>
              <a:ahLst/>
              <a:cxnLst/>
              <a:rect l="l" t="t" r="r" b="b"/>
              <a:pathLst>
                <a:path w="2247900" h="876262">
                  <a:moveTo>
                    <a:pt x="0" y="876262"/>
                  </a:moveTo>
                  <a:lnTo>
                    <a:pt x="14049" y="876262"/>
                  </a:lnTo>
                  <a:lnTo>
                    <a:pt x="28099" y="876262"/>
                  </a:lnTo>
                  <a:lnTo>
                    <a:pt x="42148" y="876262"/>
                  </a:lnTo>
                  <a:lnTo>
                    <a:pt x="56198" y="876262"/>
                  </a:lnTo>
                  <a:lnTo>
                    <a:pt x="70247" y="876262"/>
                  </a:lnTo>
                  <a:lnTo>
                    <a:pt x="84296" y="876262"/>
                  </a:lnTo>
                  <a:lnTo>
                    <a:pt x="98346" y="876262"/>
                  </a:lnTo>
                  <a:lnTo>
                    <a:pt x="112395" y="876262"/>
                  </a:lnTo>
                  <a:lnTo>
                    <a:pt x="126444" y="876262"/>
                  </a:lnTo>
                  <a:lnTo>
                    <a:pt x="140494" y="876262"/>
                  </a:lnTo>
                  <a:lnTo>
                    <a:pt x="154543" y="876262"/>
                  </a:lnTo>
                  <a:lnTo>
                    <a:pt x="168592" y="876262"/>
                  </a:lnTo>
                  <a:lnTo>
                    <a:pt x="182642" y="876262"/>
                  </a:lnTo>
                  <a:lnTo>
                    <a:pt x="196691" y="876262"/>
                  </a:lnTo>
                  <a:lnTo>
                    <a:pt x="210741" y="876262"/>
                  </a:lnTo>
                  <a:lnTo>
                    <a:pt x="224790" y="876262"/>
                  </a:lnTo>
                  <a:lnTo>
                    <a:pt x="238839" y="876262"/>
                  </a:lnTo>
                  <a:lnTo>
                    <a:pt x="252889" y="876262"/>
                  </a:lnTo>
                  <a:lnTo>
                    <a:pt x="266938" y="876262"/>
                  </a:lnTo>
                  <a:lnTo>
                    <a:pt x="280988" y="876262"/>
                  </a:lnTo>
                  <a:lnTo>
                    <a:pt x="295037" y="876262"/>
                  </a:lnTo>
                  <a:lnTo>
                    <a:pt x="309086" y="876262"/>
                  </a:lnTo>
                  <a:lnTo>
                    <a:pt x="323136" y="876262"/>
                  </a:lnTo>
                  <a:lnTo>
                    <a:pt x="337185" y="876262"/>
                  </a:lnTo>
                  <a:lnTo>
                    <a:pt x="351234" y="876262"/>
                  </a:lnTo>
                  <a:lnTo>
                    <a:pt x="365284" y="876262"/>
                  </a:lnTo>
                  <a:lnTo>
                    <a:pt x="379333" y="876262"/>
                  </a:lnTo>
                  <a:lnTo>
                    <a:pt x="393383" y="876262"/>
                  </a:lnTo>
                  <a:lnTo>
                    <a:pt x="407432" y="876262"/>
                  </a:lnTo>
                  <a:lnTo>
                    <a:pt x="421481" y="876262"/>
                  </a:lnTo>
                  <a:lnTo>
                    <a:pt x="435531" y="876262"/>
                  </a:lnTo>
                  <a:lnTo>
                    <a:pt x="449580" y="876262"/>
                  </a:lnTo>
                  <a:lnTo>
                    <a:pt x="463629" y="876262"/>
                  </a:lnTo>
                  <a:lnTo>
                    <a:pt x="477679" y="876262"/>
                  </a:lnTo>
                  <a:lnTo>
                    <a:pt x="491728" y="876262"/>
                  </a:lnTo>
                  <a:lnTo>
                    <a:pt x="505777" y="876262"/>
                  </a:lnTo>
                  <a:lnTo>
                    <a:pt x="519827" y="876262"/>
                  </a:lnTo>
                  <a:lnTo>
                    <a:pt x="533876" y="876262"/>
                  </a:lnTo>
                  <a:lnTo>
                    <a:pt x="547926" y="876262"/>
                  </a:lnTo>
                  <a:lnTo>
                    <a:pt x="561975" y="876262"/>
                  </a:lnTo>
                  <a:lnTo>
                    <a:pt x="576024" y="876262"/>
                  </a:lnTo>
                  <a:lnTo>
                    <a:pt x="590074" y="876262"/>
                  </a:lnTo>
                  <a:lnTo>
                    <a:pt x="604123" y="876262"/>
                  </a:lnTo>
                  <a:lnTo>
                    <a:pt x="618172" y="876252"/>
                  </a:lnTo>
                  <a:lnTo>
                    <a:pt x="632222" y="876252"/>
                  </a:lnTo>
                  <a:lnTo>
                    <a:pt x="646271" y="876243"/>
                  </a:lnTo>
                  <a:lnTo>
                    <a:pt x="660321" y="876224"/>
                  </a:lnTo>
                  <a:lnTo>
                    <a:pt x="674370" y="876195"/>
                  </a:lnTo>
                  <a:lnTo>
                    <a:pt x="688419" y="876148"/>
                  </a:lnTo>
                  <a:lnTo>
                    <a:pt x="702469" y="876062"/>
                  </a:lnTo>
                  <a:lnTo>
                    <a:pt x="716518" y="875909"/>
                  </a:lnTo>
                  <a:lnTo>
                    <a:pt x="730567" y="875662"/>
                  </a:lnTo>
                  <a:lnTo>
                    <a:pt x="744617" y="875262"/>
                  </a:lnTo>
                  <a:lnTo>
                    <a:pt x="758666" y="874633"/>
                  </a:lnTo>
                  <a:lnTo>
                    <a:pt x="772716" y="873643"/>
                  </a:lnTo>
                  <a:lnTo>
                    <a:pt x="786765" y="872128"/>
                  </a:lnTo>
                  <a:lnTo>
                    <a:pt x="800814" y="869852"/>
                  </a:lnTo>
                  <a:lnTo>
                    <a:pt x="814864" y="866527"/>
                  </a:lnTo>
                  <a:lnTo>
                    <a:pt x="828913" y="861746"/>
                  </a:lnTo>
                  <a:lnTo>
                    <a:pt x="842962" y="855002"/>
                  </a:lnTo>
                  <a:lnTo>
                    <a:pt x="857012" y="845715"/>
                  </a:lnTo>
                  <a:lnTo>
                    <a:pt x="871061" y="833171"/>
                  </a:lnTo>
                  <a:lnTo>
                    <a:pt x="885111" y="816597"/>
                  </a:lnTo>
                  <a:lnTo>
                    <a:pt x="899160" y="795176"/>
                  </a:lnTo>
                  <a:lnTo>
                    <a:pt x="913209" y="768086"/>
                  </a:lnTo>
                  <a:lnTo>
                    <a:pt x="927259" y="734616"/>
                  </a:lnTo>
                  <a:lnTo>
                    <a:pt x="941308" y="694192"/>
                  </a:lnTo>
                  <a:lnTo>
                    <a:pt x="955358" y="646547"/>
                  </a:lnTo>
                  <a:lnTo>
                    <a:pt x="969407" y="591779"/>
                  </a:lnTo>
                  <a:lnTo>
                    <a:pt x="983456" y="530447"/>
                  </a:lnTo>
                  <a:lnTo>
                    <a:pt x="997506" y="463629"/>
                  </a:lnTo>
                  <a:lnTo>
                    <a:pt x="1011555" y="392973"/>
                  </a:lnTo>
                  <a:lnTo>
                    <a:pt x="1025604" y="320640"/>
                  </a:lnTo>
                  <a:lnTo>
                    <a:pt x="1039654" y="249260"/>
                  </a:lnTo>
                  <a:lnTo>
                    <a:pt x="1053703" y="181737"/>
                  </a:lnTo>
                  <a:lnTo>
                    <a:pt x="1067752" y="121120"/>
                  </a:lnTo>
                  <a:lnTo>
                    <a:pt x="1081802" y="70342"/>
                  </a:lnTo>
                  <a:lnTo>
                    <a:pt x="1095851" y="31994"/>
                  </a:lnTo>
                  <a:lnTo>
                    <a:pt x="1109901" y="8115"/>
                  </a:lnTo>
                  <a:lnTo>
                    <a:pt x="1123950" y="0"/>
                  </a:lnTo>
                  <a:lnTo>
                    <a:pt x="1137999" y="8115"/>
                  </a:lnTo>
                  <a:lnTo>
                    <a:pt x="1152049" y="31994"/>
                  </a:lnTo>
                  <a:lnTo>
                    <a:pt x="1166098" y="70342"/>
                  </a:lnTo>
                  <a:lnTo>
                    <a:pt x="1180148" y="121120"/>
                  </a:lnTo>
                  <a:lnTo>
                    <a:pt x="1194197" y="181737"/>
                  </a:lnTo>
                  <a:lnTo>
                    <a:pt x="1208246" y="249260"/>
                  </a:lnTo>
                  <a:lnTo>
                    <a:pt x="1222296" y="320640"/>
                  </a:lnTo>
                  <a:lnTo>
                    <a:pt x="1236345" y="392973"/>
                  </a:lnTo>
                  <a:lnTo>
                    <a:pt x="1250394" y="463629"/>
                  </a:lnTo>
                  <a:lnTo>
                    <a:pt x="1264444" y="530447"/>
                  </a:lnTo>
                  <a:lnTo>
                    <a:pt x="1278493" y="591779"/>
                  </a:lnTo>
                  <a:lnTo>
                    <a:pt x="1292542" y="646547"/>
                  </a:lnTo>
                  <a:lnTo>
                    <a:pt x="1306592" y="694192"/>
                  </a:lnTo>
                  <a:lnTo>
                    <a:pt x="1320641" y="734616"/>
                  </a:lnTo>
                  <a:lnTo>
                    <a:pt x="1334691" y="768086"/>
                  </a:lnTo>
                  <a:lnTo>
                    <a:pt x="1348740" y="795176"/>
                  </a:lnTo>
                  <a:lnTo>
                    <a:pt x="1362789" y="816597"/>
                  </a:lnTo>
                  <a:lnTo>
                    <a:pt x="1376839" y="833171"/>
                  </a:lnTo>
                  <a:lnTo>
                    <a:pt x="1390888" y="845715"/>
                  </a:lnTo>
                  <a:lnTo>
                    <a:pt x="1404938" y="855002"/>
                  </a:lnTo>
                  <a:lnTo>
                    <a:pt x="1418987" y="861746"/>
                  </a:lnTo>
                  <a:lnTo>
                    <a:pt x="1433036" y="866527"/>
                  </a:lnTo>
                  <a:lnTo>
                    <a:pt x="1447086" y="869852"/>
                  </a:lnTo>
                  <a:lnTo>
                    <a:pt x="1461135" y="872128"/>
                  </a:lnTo>
                  <a:lnTo>
                    <a:pt x="1475184" y="873643"/>
                  </a:lnTo>
                  <a:lnTo>
                    <a:pt x="1489234" y="874633"/>
                  </a:lnTo>
                  <a:lnTo>
                    <a:pt x="1503283" y="875262"/>
                  </a:lnTo>
                  <a:lnTo>
                    <a:pt x="1517332" y="875662"/>
                  </a:lnTo>
                  <a:lnTo>
                    <a:pt x="1531382" y="875909"/>
                  </a:lnTo>
                  <a:lnTo>
                    <a:pt x="1545431" y="876062"/>
                  </a:lnTo>
                  <a:lnTo>
                    <a:pt x="1559481" y="876148"/>
                  </a:lnTo>
                  <a:lnTo>
                    <a:pt x="1573530" y="876195"/>
                  </a:lnTo>
                  <a:lnTo>
                    <a:pt x="1587579" y="876224"/>
                  </a:lnTo>
                  <a:lnTo>
                    <a:pt x="1601629" y="876243"/>
                  </a:lnTo>
                  <a:lnTo>
                    <a:pt x="1615678" y="876252"/>
                  </a:lnTo>
                  <a:lnTo>
                    <a:pt x="1629728" y="876252"/>
                  </a:lnTo>
                  <a:lnTo>
                    <a:pt x="1643777" y="876262"/>
                  </a:lnTo>
                  <a:lnTo>
                    <a:pt x="1657826" y="876262"/>
                  </a:lnTo>
                  <a:lnTo>
                    <a:pt x="1671876" y="876262"/>
                  </a:lnTo>
                  <a:lnTo>
                    <a:pt x="1685925" y="876262"/>
                  </a:lnTo>
                  <a:lnTo>
                    <a:pt x="1699974" y="876262"/>
                  </a:lnTo>
                  <a:lnTo>
                    <a:pt x="1714024" y="876262"/>
                  </a:lnTo>
                  <a:lnTo>
                    <a:pt x="1728073" y="876262"/>
                  </a:lnTo>
                  <a:lnTo>
                    <a:pt x="1742122" y="876262"/>
                  </a:lnTo>
                  <a:lnTo>
                    <a:pt x="1756172" y="876262"/>
                  </a:lnTo>
                  <a:lnTo>
                    <a:pt x="1770221" y="876262"/>
                  </a:lnTo>
                  <a:lnTo>
                    <a:pt x="1784271" y="876262"/>
                  </a:lnTo>
                  <a:lnTo>
                    <a:pt x="1798320" y="876262"/>
                  </a:lnTo>
                  <a:lnTo>
                    <a:pt x="1812369" y="876262"/>
                  </a:lnTo>
                  <a:lnTo>
                    <a:pt x="1826419" y="876262"/>
                  </a:lnTo>
                  <a:lnTo>
                    <a:pt x="1840468" y="876262"/>
                  </a:lnTo>
                  <a:lnTo>
                    <a:pt x="1854518" y="876262"/>
                  </a:lnTo>
                  <a:lnTo>
                    <a:pt x="1868567" y="876262"/>
                  </a:lnTo>
                  <a:lnTo>
                    <a:pt x="1882616" y="876262"/>
                  </a:lnTo>
                  <a:lnTo>
                    <a:pt x="1896666" y="876262"/>
                  </a:lnTo>
                  <a:lnTo>
                    <a:pt x="1910715" y="876262"/>
                  </a:lnTo>
                  <a:lnTo>
                    <a:pt x="1924764" y="876262"/>
                  </a:lnTo>
                  <a:lnTo>
                    <a:pt x="1938814" y="876262"/>
                  </a:lnTo>
                  <a:lnTo>
                    <a:pt x="1952863" y="876262"/>
                  </a:lnTo>
                  <a:lnTo>
                    <a:pt x="1966912" y="876262"/>
                  </a:lnTo>
                  <a:lnTo>
                    <a:pt x="1980962" y="876262"/>
                  </a:lnTo>
                  <a:lnTo>
                    <a:pt x="1995011" y="876262"/>
                  </a:lnTo>
                  <a:lnTo>
                    <a:pt x="2009061" y="876262"/>
                  </a:lnTo>
                  <a:lnTo>
                    <a:pt x="2023110" y="876262"/>
                  </a:lnTo>
                  <a:lnTo>
                    <a:pt x="2037159" y="876262"/>
                  </a:lnTo>
                  <a:lnTo>
                    <a:pt x="2051209" y="876262"/>
                  </a:lnTo>
                  <a:lnTo>
                    <a:pt x="2065258" y="876262"/>
                  </a:lnTo>
                  <a:lnTo>
                    <a:pt x="2079308" y="876262"/>
                  </a:lnTo>
                  <a:lnTo>
                    <a:pt x="2093357" y="876262"/>
                  </a:lnTo>
                  <a:lnTo>
                    <a:pt x="2107406" y="876262"/>
                  </a:lnTo>
                  <a:lnTo>
                    <a:pt x="2121456" y="876262"/>
                  </a:lnTo>
                  <a:lnTo>
                    <a:pt x="2135505" y="876262"/>
                  </a:lnTo>
                  <a:lnTo>
                    <a:pt x="2149554" y="876262"/>
                  </a:lnTo>
                  <a:lnTo>
                    <a:pt x="2163604" y="876262"/>
                  </a:lnTo>
                  <a:lnTo>
                    <a:pt x="2177653" y="876262"/>
                  </a:lnTo>
                  <a:lnTo>
                    <a:pt x="2191702" y="876262"/>
                  </a:lnTo>
                  <a:lnTo>
                    <a:pt x="2205752" y="876262"/>
                  </a:lnTo>
                  <a:lnTo>
                    <a:pt x="2219801" y="876262"/>
                  </a:lnTo>
                  <a:lnTo>
                    <a:pt x="2233851" y="876262"/>
                  </a:lnTo>
                  <a:lnTo>
                    <a:pt x="2247900" y="876262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1123950" y="4432954"/>
              <a:ext cx="2247900" cy="481946"/>
            </a:xfrm>
            <a:custGeom>
              <a:avLst/>
              <a:gdLst/>
              <a:ahLst/>
              <a:cxnLst/>
              <a:rect l="l" t="t" r="r" b="b"/>
              <a:pathLst>
                <a:path w="2247900" h="481946">
                  <a:moveTo>
                    <a:pt x="0" y="481946"/>
                  </a:moveTo>
                  <a:lnTo>
                    <a:pt x="14049" y="481946"/>
                  </a:lnTo>
                  <a:lnTo>
                    <a:pt x="28099" y="481946"/>
                  </a:lnTo>
                  <a:lnTo>
                    <a:pt x="42148" y="481946"/>
                  </a:lnTo>
                  <a:lnTo>
                    <a:pt x="56198" y="481946"/>
                  </a:lnTo>
                  <a:lnTo>
                    <a:pt x="70247" y="481946"/>
                  </a:lnTo>
                  <a:lnTo>
                    <a:pt x="84296" y="481946"/>
                  </a:lnTo>
                  <a:lnTo>
                    <a:pt x="98346" y="481946"/>
                  </a:lnTo>
                  <a:lnTo>
                    <a:pt x="112395" y="481946"/>
                  </a:lnTo>
                  <a:lnTo>
                    <a:pt x="126444" y="481946"/>
                  </a:lnTo>
                  <a:lnTo>
                    <a:pt x="140494" y="481946"/>
                  </a:lnTo>
                  <a:lnTo>
                    <a:pt x="154543" y="481946"/>
                  </a:lnTo>
                  <a:lnTo>
                    <a:pt x="168592" y="481946"/>
                  </a:lnTo>
                  <a:lnTo>
                    <a:pt x="182642" y="481946"/>
                  </a:lnTo>
                  <a:lnTo>
                    <a:pt x="196691" y="481946"/>
                  </a:lnTo>
                  <a:lnTo>
                    <a:pt x="210741" y="481946"/>
                  </a:lnTo>
                  <a:lnTo>
                    <a:pt x="224790" y="481936"/>
                  </a:lnTo>
                  <a:lnTo>
                    <a:pt x="238839" y="481936"/>
                  </a:lnTo>
                  <a:lnTo>
                    <a:pt x="252889" y="481936"/>
                  </a:lnTo>
                  <a:lnTo>
                    <a:pt x="266938" y="481936"/>
                  </a:lnTo>
                  <a:lnTo>
                    <a:pt x="280988" y="481927"/>
                  </a:lnTo>
                  <a:lnTo>
                    <a:pt x="295037" y="481917"/>
                  </a:lnTo>
                  <a:lnTo>
                    <a:pt x="309086" y="481908"/>
                  </a:lnTo>
                  <a:lnTo>
                    <a:pt x="323136" y="481898"/>
                  </a:lnTo>
                  <a:lnTo>
                    <a:pt x="337185" y="481879"/>
                  </a:lnTo>
                  <a:lnTo>
                    <a:pt x="351234" y="481851"/>
                  </a:lnTo>
                  <a:lnTo>
                    <a:pt x="365284" y="481813"/>
                  </a:lnTo>
                  <a:lnTo>
                    <a:pt x="379333" y="481765"/>
                  </a:lnTo>
                  <a:lnTo>
                    <a:pt x="393383" y="481708"/>
                  </a:lnTo>
                  <a:lnTo>
                    <a:pt x="407432" y="481622"/>
                  </a:lnTo>
                  <a:lnTo>
                    <a:pt x="421481" y="481517"/>
                  </a:lnTo>
                  <a:lnTo>
                    <a:pt x="435531" y="481384"/>
                  </a:lnTo>
                  <a:lnTo>
                    <a:pt x="449580" y="481203"/>
                  </a:lnTo>
                  <a:lnTo>
                    <a:pt x="463629" y="480984"/>
                  </a:lnTo>
                  <a:lnTo>
                    <a:pt x="477679" y="480689"/>
                  </a:lnTo>
                  <a:lnTo>
                    <a:pt x="491728" y="480327"/>
                  </a:lnTo>
                  <a:lnTo>
                    <a:pt x="505777" y="479870"/>
                  </a:lnTo>
                  <a:lnTo>
                    <a:pt x="519827" y="479288"/>
                  </a:lnTo>
                  <a:lnTo>
                    <a:pt x="533876" y="478574"/>
                  </a:lnTo>
                  <a:lnTo>
                    <a:pt x="547926" y="477679"/>
                  </a:lnTo>
                  <a:lnTo>
                    <a:pt x="561975" y="476593"/>
                  </a:lnTo>
                  <a:lnTo>
                    <a:pt x="576024" y="475259"/>
                  </a:lnTo>
                  <a:lnTo>
                    <a:pt x="590074" y="473640"/>
                  </a:lnTo>
                  <a:lnTo>
                    <a:pt x="604123" y="471697"/>
                  </a:lnTo>
                  <a:lnTo>
                    <a:pt x="618172" y="469354"/>
                  </a:lnTo>
                  <a:lnTo>
                    <a:pt x="632222" y="466573"/>
                  </a:lnTo>
                  <a:lnTo>
                    <a:pt x="646271" y="463286"/>
                  </a:lnTo>
                  <a:lnTo>
                    <a:pt x="660321" y="459410"/>
                  </a:lnTo>
                  <a:lnTo>
                    <a:pt x="674370" y="454895"/>
                  </a:lnTo>
                  <a:lnTo>
                    <a:pt x="688419" y="449647"/>
                  </a:lnTo>
                  <a:lnTo>
                    <a:pt x="702469" y="443598"/>
                  </a:lnTo>
                  <a:lnTo>
                    <a:pt x="716518" y="436683"/>
                  </a:lnTo>
                  <a:lnTo>
                    <a:pt x="730567" y="428816"/>
                  </a:lnTo>
                  <a:lnTo>
                    <a:pt x="744617" y="419919"/>
                  </a:lnTo>
                  <a:lnTo>
                    <a:pt x="758666" y="409956"/>
                  </a:lnTo>
                  <a:lnTo>
                    <a:pt x="772716" y="398850"/>
                  </a:lnTo>
                  <a:lnTo>
                    <a:pt x="786765" y="386572"/>
                  </a:lnTo>
                  <a:lnTo>
                    <a:pt x="800814" y="373094"/>
                  </a:lnTo>
                  <a:lnTo>
                    <a:pt x="814864" y="358407"/>
                  </a:lnTo>
                  <a:lnTo>
                    <a:pt x="828913" y="342519"/>
                  </a:lnTo>
                  <a:lnTo>
                    <a:pt x="842962" y="325479"/>
                  </a:lnTo>
                  <a:lnTo>
                    <a:pt x="857012" y="307343"/>
                  </a:lnTo>
                  <a:lnTo>
                    <a:pt x="871061" y="288198"/>
                  </a:lnTo>
                  <a:lnTo>
                    <a:pt x="885111" y="268148"/>
                  </a:lnTo>
                  <a:lnTo>
                    <a:pt x="899160" y="247364"/>
                  </a:lnTo>
                  <a:lnTo>
                    <a:pt x="913209" y="225990"/>
                  </a:lnTo>
                  <a:lnTo>
                    <a:pt x="927259" y="204235"/>
                  </a:lnTo>
                  <a:lnTo>
                    <a:pt x="941308" y="182328"/>
                  </a:lnTo>
                  <a:lnTo>
                    <a:pt x="955358" y="160506"/>
                  </a:lnTo>
                  <a:lnTo>
                    <a:pt x="969407" y="139017"/>
                  </a:lnTo>
                  <a:lnTo>
                    <a:pt x="983456" y="118158"/>
                  </a:lnTo>
                  <a:lnTo>
                    <a:pt x="997506" y="98193"/>
                  </a:lnTo>
                  <a:lnTo>
                    <a:pt x="1011555" y="79391"/>
                  </a:lnTo>
                  <a:lnTo>
                    <a:pt x="1025604" y="62046"/>
                  </a:lnTo>
                  <a:lnTo>
                    <a:pt x="1039654" y="46415"/>
                  </a:lnTo>
                  <a:lnTo>
                    <a:pt x="1053703" y="32728"/>
                  </a:lnTo>
                  <a:lnTo>
                    <a:pt x="1067752" y="21212"/>
                  </a:lnTo>
                  <a:lnTo>
                    <a:pt x="1081802" y="12049"/>
                  </a:lnTo>
                  <a:lnTo>
                    <a:pt x="1095851" y="5391"/>
                  </a:lnTo>
                  <a:lnTo>
                    <a:pt x="1109901" y="1362"/>
                  </a:lnTo>
                  <a:lnTo>
                    <a:pt x="1123950" y="0"/>
                  </a:lnTo>
                  <a:lnTo>
                    <a:pt x="1137999" y="1362"/>
                  </a:lnTo>
                  <a:lnTo>
                    <a:pt x="1152049" y="5391"/>
                  </a:lnTo>
                  <a:lnTo>
                    <a:pt x="1166098" y="12049"/>
                  </a:lnTo>
                  <a:lnTo>
                    <a:pt x="1180148" y="21212"/>
                  </a:lnTo>
                  <a:lnTo>
                    <a:pt x="1194197" y="32728"/>
                  </a:lnTo>
                  <a:lnTo>
                    <a:pt x="1208246" y="46415"/>
                  </a:lnTo>
                  <a:lnTo>
                    <a:pt x="1222296" y="62046"/>
                  </a:lnTo>
                  <a:lnTo>
                    <a:pt x="1236345" y="79391"/>
                  </a:lnTo>
                  <a:lnTo>
                    <a:pt x="1250394" y="98193"/>
                  </a:lnTo>
                  <a:lnTo>
                    <a:pt x="1264444" y="118158"/>
                  </a:lnTo>
                  <a:lnTo>
                    <a:pt x="1278493" y="139017"/>
                  </a:lnTo>
                  <a:lnTo>
                    <a:pt x="1292542" y="160506"/>
                  </a:lnTo>
                  <a:lnTo>
                    <a:pt x="1306592" y="182328"/>
                  </a:lnTo>
                  <a:lnTo>
                    <a:pt x="1320641" y="204235"/>
                  </a:lnTo>
                  <a:lnTo>
                    <a:pt x="1334691" y="225990"/>
                  </a:lnTo>
                  <a:lnTo>
                    <a:pt x="1348740" y="247364"/>
                  </a:lnTo>
                  <a:lnTo>
                    <a:pt x="1362789" y="268148"/>
                  </a:lnTo>
                  <a:lnTo>
                    <a:pt x="1376839" y="288198"/>
                  </a:lnTo>
                  <a:lnTo>
                    <a:pt x="1390888" y="307343"/>
                  </a:lnTo>
                  <a:lnTo>
                    <a:pt x="1404938" y="325479"/>
                  </a:lnTo>
                  <a:lnTo>
                    <a:pt x="1418987" y="342519"/>
                  </a:lnTo>
                  <a:lnTo>
                    <a:pt x="1433036" y="358407"/>
                  </a:lnTo>
                  <a:lnTo>
                    <a:pt x="1447086" y="373094"/>
                  </a:lnTo>
                  <a:lnTo>
                    <a:pt x="1461135" y="386572"/>
                  </a:lnTo>
                  <a:lnTo>
                    <a:pt x="1475184" y="398850"/>
                  </a:lnTo>
                  <a:lnTo>
                    <a:pt x="1489234" y="409956"/>
                  </a:lnTo>
                  <a:lnTo>
                    <a:pt x="1503283" y="419919"/>
                  </a:lnTo>
                  <a:lnTo>
                    <a:pt x="1517332" y="428816"/>
                  </a:lnTo>
                  <a:lnTo>
                    <a:pt x="1531382" y="436683"/>
                  </a:lnTo>
                  <a:lnTo>
                    <a:pt x="1545431" y="443598"/>
                  </a:lnTo>
                  <a:lnTo>
                    <a:pt x="1559481" y="449647"/>
                  </a:lnTo>
                  <a:lnTo>
                    <a:pt x="1573530" y="454895"/>
                  </a:lnTo>
                  <a:lnTo>
                    <a:pt x="1587579" y="459410"/>
                  </a:lnTo>
                  <a:lnTo>
                    <a:pt x="1601629" y="463286"/>
                  </a:lnTo>
                  <a:lnTo>
                    <a:pt x="1615678" y="466573"/>
                  </a:lnTo>
                  <a:lnTo>
                    <a:pt x="1629728" y="469354"/>
                  </a:lnTo>
                  <a:lnTo>
                    <a:pt x="1643777" y="471697"/>
                  </a:lnTo>
                  <a:lnTo>
                    <a:pt x="1657826" y="473640"/>
                  </a:lnTo>
                  <a:lnTo>
                    <a:pt x="1671876" y="475259"/>
                  </a:lnTo>
                  <a:lnTo>
                    <a:pt x="1685925" y="476593"/>
                  </a:lnTo>
                  <a:lnTo>
                    <a:pt x="1699974" y="477679"/>
                  </a:lnTo>
                  <a:lnTo>
                    <a:pt x="1714024" y="478574"/>
                  </a:lnTo>
                  <a:lnTo>
                    <a:pt x="1728073" y="479288"/>
                  </a:lnTo>
                  <a:lnTo>
                    <a:pt x="1742122" y="479870"/>
                  </a:lnTo>
                  <a:lnTo>
                    <a:pt x="1756172" y="480327"/>
                  </a:lnTo>
                  <a:lnTo>
                    <a:pt x="1770221" y="480689"/>
                  </a:lnTo>
                  <a:lnTo>
                    <a:pt x="1784271" y="480984"/>
                  </a:lnTo>
                  <a:lnTo>
                    <a:pt x="1798320" y="481203"/>
                  </a:lnTo>
                  <a:lnTo>
                    <a:pt x="1812369" y="481384"/>
                  </a:lnTo>
                  <a:lnTo>
                    <a:pt x="1826419" y="481517"/>
                  </a:lnTo>
                  <a:lnTo>
                    <a:pt x="1840468" y="481622"/>
                  </a:lnTo>
                  <a:lnTo>
                    <a:pt x="1854518" y="481708"/>
                  </a:lnTo>
                  <a:lnTo>
                    <a:pt x="1868567" y="481765"/>
                  </a:lnTo>
                  <a:lnTo>
                    <a:pt x="1882616" y="481813"/>
                  </a:lnTo>
                  <a:lnTo>
                    <a:pt x="1896666" y="481851"/>
                  </a:lnTo>
                  <a:lnTo>
                    <a:pt x="1910715" y="481879"/>
                  </a:lnTo>
                  <a:lnTo>
                    <a:pt x="1924764" y="481898"/>
                  </a:lnTo>
                  <a:lnTo>
                    <a:pt x="1938814" y="481908"/>
                  </a:lnTo>
                  <a:lnTo>
                    <a:pt x="1952863" y="481917"/>
                  </a:lnTo>
                  <a:lnTo>
                    <a:pt x="1966912" y="481927"/>
                  </a:lnTo>
                  <a:lnTo>
                    <a:pt x="1980962" y="481936"/>
                  </a:lnTo>
                  <a:lnTo>
                    <a:pt x="1995011" y="481936"/>
                  </a:lnTo>
                  <a:lnTo>
                    <a:pt x="2009061" y="481936"/>
                  </a:lnTo>
                  <a:lnTo>
                    <a:pt x="2023110" y="481936"/>
                  </a:lnTo>
                  <a:lnTo>
                    <a:pt x="2037159" y="481946"/>
                  </a:lnTo>
                  <a:lnTo>
                    <a:pt x="2051209" y="481946"/>
                  </a:lnTo>
                  <a:lnTo>
                    <a:pt x="2065258" y="481946"/>
                  </a:lnTo>
                  <a:lnTo>
                    <a:pt x="2079308" y="481946"/>
                  </a:lnTo>
                  <a:lnTo>
                    <a:pt x="2093357" y="481946"/>
                  </a:lnTo>
                  <a:lnTo>
                    <a:pt x="2107406" y="481946"/>
                  </a:lnTo>
                  <a:lnTo>
                    <a:pt x="2121456" y="481946"/>
                  </a:lnTo>
                  <a:lnTo>
                    <a:pt x="2135505" y="481946"/>
                  </a:lnTo>
                  <a:lnTo>
                    <a:pt x="2149554" y="481946"/>
                  </a:lnTo>
                  <a:lnTo>
                    <a:pt x="2163604" y="481946"/>
                  </a:lnTo>
                  <a:lnTo>
                    <a:pt x="2177653" y="481946"/>
                  </a:lnTo>
                  <a:lnTo>
                    <a:pt x="2191702" y="481946"/>
                  </a:lnTo>
                  <a:lnTo>
                    <a:pt x="2205752" y="481946"/>
                  </a:lnTo>
                  <a:lnTo>
                    <a:pt x="2219801" y="481946"/>
                  </a:lnTo>
                  <a:lnTo>
                    <a:pt x="2233851" y="481946"/>
                  </a:lnTo>
                  <a:lnTo>
                    <a:pt x="2247900" y="481946"/>
                  </a:lnTo>
                </a:path>
              </a:pathLst>
            </a:custGeom>
            <a:noFill/>
            <a:ln w="19050">
              <a:solidFill>
                <a:srgbClr val="2F4B9A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1123950" y="4661249"/>
              <a:ext cx="2247900" cy="251917"/>
            </a:xfrm>
            <a:custGeom>
              <a:avLst/>
              <a:gdLst/>
              <a:ahLst/>
              <a:cxnLst/>
              <a:rect l="l" t="t" r="r" b="b"/>
              <a:pathLst>
                <a:path w="2247900" h="251917">
                  <a:moveTo>
                    <a:pt x="0" y="251917"/>
                  </a:moveTo>
                  <a:lnTo>
                    <a:pt x="14049" y="251689"/>
                  </a:lnTo>
                  <a:lnTo>
                    <a:pt x="28099" y="251431"/>
                  </a:lnTo>
                  <a:lnTo>
                    <a:pt x="42148" y="251146"/>
                  </a:lnTo>
                  <a:lnTo>
                    <a:pt x="56198" y="250831"/>
                  </a:lnTo>
                  <a:lnTo>
                    <a:pt x="70247" y="250479"/>
                  </a:lnTo>
                  <a:lnTo>
                    <a:pt x="84296" y="250088"/>
                  </a:lnTo>
                  <a:lnTo>
                    <a:pt x="98346" y="249660"/>
                  </a:lnTo>
                  <a:lnTo>
                    <a:pt x="112395" y="249184"/>
                  </a:lnTo>
                  <a:lnTo>
                    <a:pt x="126444" y="248660"/>
                  </a:lnTo>
                  <a:lnTo>
                    <a:pt x="140494" y="248079"/>
                  </a:lnTo>
                  <a:lnTo>
                    <a:pt x="154543" y="247440"/>
                  </a:lnTo>
                  <a:lnTo>
                    <a:pt x="168592" y="246736"/>
                  </a:lnTo>
                  <a:lnTo>
                    <a:pt x="182642" y="245974"/>
                  </a:lnTo>
                  <a:lnTo>
                    <a:pt x="196691" y="245135"/>
                  </a:lnTo>
                  <a:lnTo>
                    <a:pt x="210741" y="244221"/>
                  </a:lnTo>
                  <a:lnTo>
                    <a:pt x="224790" y="243221"/>
                  </a:lnTo>
                  <a:lnTo>
                    <a:pt x="238839" y="242135"/>
                  </a:lnTo>
                  <a:lnTo>
                    <a:pt x="252889" y="240954"/>
                  </a:lnTo>
                  <a:lnTo>
                    <a:pt x="266938" y="239678"/>
                  </a:lnTo>
                  <a:lnTo>
                    <a:pt x="280988" y="238296"/>
                  </a:lnTo>
                  <a:lnTo>
                    <a:pt x="295037" y="236811"/>
                  </a:lnTo>
                  <a:lnTo>
                    <a:pt x="309086" y="235201"/>
                  </a:lnTo>
                  <a:lnTo>
                    <a:pt x="323136" y="233467"/>
                  </a:lnTo>
                  <a:lnTo>
                    <a:pt x="337185" y="231610"/>
                  </a:lnTo>
                  <a:lnTo>
                    <a:pt x="351234" y="229619"/>
                  </a:lnTo>
                  <a:lnTo>
                    <a:pt x="365284" y="227495"/>
                  </a:lnTo>
                  <a:lnTo>
                    <a:pt x="379333" y="225219"/>
                  </a:lnTo>
                  <a:lnTo>
                    <a:pt x="393383" y="222799"/>
                  </a:lnTo>
                  <a:lnTo>
                    <a:pt x="407432" y="220218"/>
                  </a:lnTo>
                  <a:lnTo>
                    <a:pt x="421481" y="217484"/>
                  </a:lnTo>
                  <a:lnTo>
                    <a:pt x="435531" y="214579"/>
                  </a:lnTo>
                  <a:lnTo>
                    <a:pt x="449580" y="211512"/>
                  </a:lnTo>
                  <a:lnTo>
                    <a:pt x="463629" y="208274"/>
                  </a:lnTo>
                  <a:lnTo>
                    <a:pt x="477679" y="204864"/>
                  </a:lnTo>
                  <a:lnTo>
                    <a:pt x="491728" y="201282"/>
                  </a:lnTo>
                  <a:lnTo>
                    <a:pt x="505777" y="197520"/>
                  </a:lnTo>
                  <a:lnTo>
                    <a:pt x="519827" y="193586"/>
                  </a:lnTo>
                  <a:lnTo>
                    <a:pt x="533876" y="189471"/>
                  </a:lnTo>
                  <a:lnTo>
                    <a:pt x="547926" y="185185"/>
                  </a:lnTo>
                  <a:lnTo>
                    <a:pt x="561975" y="180727"/>
                  </a:lnTo>
                  <a:lnTo>
                    <a:pt x="576024" y="176098"/>
                  </a:lnTo>
                  <a:lnTo>
                    <a:pt x="590074" y="171298"/>
                  </a:lnTo>
                  <a:lnTo>
                    <a:pt x="604123" y="166345"/>
                  </a:lnTo>
                  <a:lnTo>
                    <a:pt x="618172" y="161239"/>
                  </a:lnTo>
                  <a:lnTo>
                    <a:pt x="632222" y="155981"/>
                  </a:lnTo>
                  <a:lnTo>
                    <a:pt x="646271" y="150590"/>
                  </a:lnTo>
                  <a:lnTo>
                    <a:pt x="660321" y="145066"/>
                  </a:lnTo>
                  <a:lnTo>
                    <a:pt x="674370" y="139427"/>
                  </a:lnTo>
                  <a:lnTo>
                    <a:pt x="688419" y="133674"/>
                  </a:lnTo>
                  <a:lnTo>
                    <a:pt x="702469" y="127835"/>
                  </a:lnTo>
                  <a:lnTo>
                    <a:pt x="716518" y="121920"/>
                  </a:lnTo>
                  <a:lnTo>
                    <a:pt x="730567" y="115938"/>
                  </a:lnTo>
                  <a:lnTo>
                    <a:pt x="744617" y="109909"/>
                  </a:lnTo>
                  <a:lnTo>
                    <a:pt x="758666" y="103851"/>
                  </a:lnTo>
                  <a:lnTo>
                    <a:pt x="772716" y="97774"/>
                  </a:lnTo>
                  <a:lnTo>
                    <a:pt x="786765" y="91716"/>
                  </a:lnTo>
                  <a:lnTo>
                    <a:pt x="800814" y="85677"/>
                  </a:lnTo>
                  <a:lnTo>
                    <a:pt x="814864" y="79677"/>
                  </a:lnTo>
                  <a:lnTo>
                    <a:pt x="828913" y="73752"/>
                  </a:lnTo>
                  <a:lnTo>
                    <a:pt x="842962" y="67913"/>
                  </a:lnTo>
                  <a:lnTo>
                    <a:pt x="857012" y="62179"/>
                  </a:lnTo>
                  <a:lnTo>
                    <a:pt x="871061" y="56588"/>
                  </a:lnTo>
                  <a:lnTo>
                    <a:pt x="885111" y="51140"/>
                  </a:lnTo>
                  <a:lnTo>
                    <a:pt x="899160" y="45863"/>
                  </a:lnTo>
                  <a:lnTo>
                    <a:pt x="913209" y="40786"/>
                  </a:lnTo>
                  <a:lnTo>
                    <a:pt x="927259" y="35919"/>
                  </a:lnTo>
                  <a:lnTo>
                    <a:pt x="941308" y="31290"/>
                  </a:lnTo>
                  <a:lnTo>
                    <a:pt x="955358" y="26918"/>
                  </a:lnTo>
                  <a:lnTo>
                    <a:pt x="969407" y="22812"/>
                  </a:lnTo>
                  <a:lnTo>
                    <a:pt x="983456" y="19012"/>
                  </a:lnTo>
                  <a:lnTo>
                    <a:pt x="997506" y="15507"/>
                  </a:lnTo>
                  <a:lnTo>
                    <a:pt x="1011555" y="12335"/>
                  </a:lnTo>
                  <a:lnTo>
                    <a:pt x="1025604" y="9496"/>
                  </a:lnTo>
                  <a:lnTo>
                    <a:pt x="1039654" y="7010"/>
                  </a:lnTo>
                  <a:lnTo>
                    <a:pt x="1053703" y="4886"/>
                  </a:lnTo>
                  <a:lnTo>
                    <a:pt x="1067752" y="3143"/>
                  </a:lnTo>
                  <a:lnTo>
                    <a:pt x="1081802" y="1772"/>
                  </a:lnTo>
                  <a:lnTo>
                    <a:pt x="1095851" y="791"/>
                  </a:lnTo>
                  <a:lnTo>
                    <a:pt x="1109901" y="190"/>
                  </a:lnTo>
                  <a:lnTo>
                    <a:pt x="1123950" y="0"/>
                  </a:lnTo>
                  <a:lnTo>
                    <a:pt x="1137999" y="190"/>
                  </a:lnTo>
                  <a:lnTo>
                    <a:pt x="1152049" y="791"/>
                  </a:lnTo>
                  <a:lnTo>
                    <a:pt x="1166098" y="1772"/>
                  </a:lnTo>
                  <a:lnTo>
                    <a:pt x="1180148" y="3143"/>
                  </a:lnTo>
                  <a:lnTo>
                    <a:pt x="1194197" y="4886"/>
                  </a:lnTo>
                  <a:lnTo>
                    <a:pt x="1208246" y="7010"/>
                  </a:lnTo>
                  <a:lnTo>
                    <a:pt x="1222296" y="9496"/>
                  </a:lnTo>
                  <a:lnTo>
                    <a:pt x="1236345" y="12335"/>
                  </a:lnTo>
                  <a:lnTo>
                    <a:pt x="1250394" y="15507"/>
                  </a:lnTo>
                  <a:lnTo>
                    <a:pt x="1264444" y="19012"/>
                  </a:lnTo>
                  <a:lnTo>
                    <a:pt x="1278493" y="22812"/>
                  </a:lnTo>
                  <a:lnTo>
                    <a:pt x="1292542" y="26918"/>
                  </a:lnTo>
                  <a:lnTo>
                    <a:pt x="1306592" y="31290"/>
                  </a:lnTo>
                  <a:lnTo>
                    <a:pt x="1320641" y="35919"/>
                  </a:lnTo>
                  <a:lnTo>
                    <a:pt x="1334691" y="40786"/>
                  </a:lnTo>
                  <a:lnTo>
                    <a:pt x="1348740" y="45863"/>
                  </a:lnTo>
                  <a:lnTo>
                    <a:pt x="1362789" y="51140"/>
                  </a:lnTo>
                  <a:lnTo>
                    <a:pt x="1376839" y="56588"/>
                  </a:lnTo>
                  <a:lnTo>
                    <a:pt x="1390888" y="62179"/>
                  </a:lnTo>
                  <a:lnTo>
                    <a:pt x="1404938" y="67913"/>
                  </a:lnTo>
                  <a:lnTo>
                    <a:pt x="1418987" y="73752"/>
                  </a:lnTo>
                  <a:lnTo>
                    <a:pt x="1433036" y="79677"/>
                  </a:lnTo>
                  <a:lnTo>
                    <a:pt x="1447086" y="85677"/>
                  </a:lnTo>
                  <a:lnTo>
                    <a:pt x="1461135" y="91716"/>
                  </a:lnTo>
                  <a:lnTo>
                    <a:pt x="1475184" y="97774"/>
                  </a:lnTo>
                  <a:lnTo>
                    <a:pt x="1489234" y="103851"/>
                  </a:lnTo>
                  <a:lnTo>
                    <a:pt x="1503283" y="109909"/>
                  </a:lnTo>
                  <a:lnTo>
                    <a:pt x="1517332" y="115938"/>
                  </a:lnTo>
                  <a:lnTo>
                    <a:pt x="1531382" y="121920"/>
                  </a:lnTo>
                  <a:lnTo>
                    <a:pt x="1545431" y="127835"/>
                  </a:lnTo>
                  <a:lnTo>
                    <a:pt x="1559481" y="133674"/>
                  </a:lnTo>
                  <a:lnTo>
                    <a:pt x="1573530" y="139427"/>
                  </a:lnTo>
                  <a:lnTo>
                    <a:pt x="1587579" y="145066"/>
                  </a:lnTo>
                  <a:lnTo>
                    <a:pt x="1601629" y="150590"/>
                  </a:lnTo>
                  <a:lnTo>
                    <a:pt x="1615678" y="155981"/>
                  </a:lnTo>
                  <a:lnTo>
                    <a:pt x="1629728" y="161239"/>
                  </a:lnTo>
                  <a:lnTo>
                    <a:pt x="1643777" y="166345"/>
                  </a:lnTo>
                  <a:lnTo>
                    <a:pt x="1657826" y="171298"/>
                  </a:lnTo>
                  <a:lnTo>
                    <a:pt x="1671876" y="176098"/>
                  </a:lnTo>
                  <a:lnTo>
                    <a:pt x="1685925" y="180727"/>
                  </a:lnTo>
                  <a:lnTo>
                    <a:pt x="1699974" y="185185"/>
                  </a:lnTo>
                  <a:lnTo>
                    <a:pt x="1714024" y="189471"/>
                  </a:lnTo>
                  <a:lnTo>
                    <a:pt x="1728073" y="193586"/>
                  </a:lnTo>
                  <a:lnTo>
                    <a:pt x="1742122" y="197520"/>
                  </a:lnTo>
                  <a:lnTo>
                    <a:pt x="1756172" y="201282"/>
                  </a:lnTo>
                  <a:lnTo>
                    <a:pt x="1770221" y="204864"/>
                  </a:lnTo>
                  <a:lnTo>
                    <a:pt x="1784271" y="208274"/>
                  </a:lnTo>
                  <a:lnTo>
                    <a:pt x="1798320" y="211512"/>
                  </a:lnTo>
                  <a:lnTo>
                    <a:pt x="1812369" y="214579"/>
                  </a:lnTo>
                  <a:lnTo>
                    <a:pt x="1826419" y="217484"/>
                  </a:lnTo>
                  <a:lnTo>
                    <a:pt x="1840468" y="220218"/>
                  </a:lnTo>
                  <a:lnTo>
                    <a:pt x="1854518" y="222799"/>
                  </a:lnTo>
                  <a:lnTo>
                    <a:pt x="1868567" y="225219"/>
                  </a:lnTo>
                  <a:lnTo>
                    <a:pt x="1882616" y="227495"/>
                  </a:lnTo>
                  <a:lnTo>
                    <a:pt x="1896666" y="229619"/>
                  </a:lnTo>
                  <a:lnTo>
                    <a:pt x="1910715" y="231610"/>
                  </a:lnTo>
                  <a:lnTo>
                    <a:pt x="1924764" y="233467"/>
                  </a:lnTo>
                  <a:lnTo>
                    <a:pt x="1938814" y="235201"/>
                  </a:lnTo>
                  <a:lnTo>
                    <a:pt x="1952863" y="236811"/>
                  </a:lnTo>
                  <a:lnTo>
                    <a:pt x="1966912" y="238296"/>
                  </a:lnTo>
                  <a:lnTo>
                    <a:pt x="1980962" y="239678"/>
                  </a:lnTo>
                  <a:lnTo>
                    <a:pt x="1995011" y="240954"/>
                  </a:lnTo>
                  <a:lnTo>
                    <a:pt x="2009061" y="242135"/>
                  </a:lnTo>
                  <a:lnTo>
                    <a:pt x="2023110" y="243221"/>
                  </a:lnTo>
                  <a:lnTo>
                    <a:pt x="2037159" y="244221"/>
                  </a:lnTo>
                  <a:lnTo>
                    <a:pt x="2051209" y="245135"/>
                  </a:lnTo>
                  <a:lnTo>
                    <a:pt x="2065258" y="245974"/>
                  </a:lnTo>
                  <a:lnTo>
                    <a:pt x="2079308" y="246736"/>
                  </a:lnTo>
                  <a:lnTo>
                    <a:pt x="2093357" y="247440"/>
                  </a:lnTo>
                  <a:lnTo>
                    <a:pt x="2107406" y="248079"/>
                  </a:lnTo>
                  <a:lnTo>
                    <a:pt x="2121456" y="248660"/>
                  </a:lnTo>
                  <a:lnTo>
                    <a:pt x="2135505" y="249184"/>
                  </a:lnTo>
                  <a:lnTo>
                    <a:pt x="2149554" y="249660"/>
                  </a:lnTo>
                  <a:lnTo>
                    <a:pt x="2163604" y="250088"/>
                  </a:lnTo>
                  <a:lnTo>
                    <a:pt x="2177653" y="250479"/>
                  </a:lnTo>
                  <a:lnTo>
                    <a:pt x="2191702" y="250831"/>
                  </a:lnTo>
                  <a:lnTo>
                    <a:pt x="2205752" y="251146"/>
                  </a:lnTo>
                  <a:lnTo>
                    <a:pt x="2219801" y="251431"/>
                  </a:lnTo>
                  <a:lnTo>
                    <a:pt x="2233851" y="251689"/>
                  </a:lnTo>
                  <a:lnTo>
                    <a:pt x="2247900" y="251917"/>
                  </a:lnTo>
                </a:path>
              </a:pathLst>
            </a:custGeom>
            <a:noFill/>
            <a:ln w="19050">
              <a:solidFill>
                <a:srgbClr val="8FA0C4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1066800" y="4914900"/>
              <a:ext cx="2352675" cy="9525"/>
            </a:xfrm>
            <a:custGeom>
              <a:avLst/>
              <a:gdLst/>
              <a:ahLst/>
              <a:cxnLst/>
              <a:rect l="l" t="t" r="r" b="b"/>
              <a:pathLst>
                <a:path w="2352675" h="9525">
                  <a:moveTo>
                    <a:pt x="0" y="0"/>
                  </a:moveTo>
                  <a:lnTo>
                    <a:pt x="2352675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3419475" y="4884896"/>
              <a:ext cx="66675" cy="60007"/>
            </a:xfrm>
            <a:custGeom>
              <a:avLst/>
              <a:gdLst/>
              <a:ahLst/>
              <a:cxnLst/>
              <a:rect l="l" t="t" r="r" b="b"/>
              <a:pathLst>
                <a:path w="66675" h="60007">
                  <a:moveTo>
                    <a:pt x="66675" y="30004"/>
                  </a:moveTo>
                  <a:lnTo>
                    <a:pt x="0" y="60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33" name="Line 33"/>
            <p:cNvSpPr/>
            <p:nvPr/>
          </p:nvSpPr>
          <p:spPr>
            <a:xfrm>
              <a:off x="1123950" y="3895725"/>
              <a:ext cx="9525" cy="1076325"/>
            </a:xfrm>
            <a:custGeom>
              <a:avLst/>
              <a:gdLst/>
              <a:ahLst/>
              <a:cxnLst/>
              <a:rect l="l" t="t" r="r" b="b"/>
              <a:pathLst>
                <a:path w="9525" h="1076325">
                  <a:moveTo>
                    <a:pt x="0" y="107632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1093946" y="3829050"/>
              <a:ext cx="60008" cy="66675"/>
            </a:xfrm>
            <a:custGeom>
              <a:avLst/>
              <a:gdLst/>
              <a:ahLst/>
              <a:cxnLst/>
              <a:rect l="l" t="t" r="r" b="b"/>
              <a:pathLst>
                <a:path w="60008" h="66675">
                  <a:moveTo>
                    <a:pt x="30004" y="0"/>
                  </a:moveTo>
                  <a:lnTo>
                    <a:pt x="60008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518916" y="49539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0494" y="365855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71474" y="4971574"/>
              <a:ext cx="1144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2247900" y="49149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206667" y="499062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μ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461956" y="3910251"/>
              <a:ext cx="975647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固定 μ 改变 σ：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461956" y="4119801"/>
              <a:ext cx="1017206" cy="7695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101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 小则又高又瘦，</a:t>
              </a:r>
              <a:br/>
              <a:r>
                <a:rPr lang="zh-CN" sz="101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取值向 μ 聚拢；</a:t>
              </a:r>
              <a:br/>
              <a:r>
                <a:rPr lang="zh-CN" sz="101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 大则又矮又胖，</a:t>
              </a:r>
              <a:br/>
              <a:r>
                <a:rPr lang="zh-CN" sz="101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取值分散得远。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23900" y="5334000"/>
              <a:ext cx="5143500" cy="781050"/>
            </a:xfrm>
            <a:prstGeom prst="roundRect">
              <a:avLst>
                <a:gd name="adj" fmla="val 121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733425" y="5438775"/>
              <a:ext cx="47625" cy="57150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895350" y="5438775"/>
              <a:ext cx="495300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96315" y="54921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记号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89826" y="5750004"/>
              <a:ext cx="4364672" cy="412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记作 X ~ N(μ, σ²)，括号里第二个数是方差不是标准差。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 N(50, 100) 指 σ = 10，写 N(300, 35²) 指 σ = 35，读题时别看错。</a:t>
              </a:r>
            </a:p>
          </p:txBody>
        </p:sp>
      </p:grpSp>
      <p:grpSp>
        <p:nvGrpSpPr>
          <p:cNvPr id="90" name="nmB"/>
          <p:cNvGrpSpPr/>
          <p:nvPr/>
        </p:nvGrpSpPr>
        <p:grpSpPr>
          <a:xfrm>
            <a:off x="6134100" y="1524000"/>
            <a:ext cx="5524500" cy="4762500"/>
            <a:chOff x="6134100" y="1524000"/>
            <a:chExt cx="5524500" cy="4762500"/>
          </a:xfrm>
        </p:grpSpPr>
        <p:sp>
          <p:nvSpPr>
            <p:cNvPr id="48" name="Rectangle 48"/>
            <p:cNvSpPr/>
            <p:nvPr/>
          </p:nvSpPr>
          <p:spPr>
            <a:xfrm>
              <a:off x="6134100" y="1524000"/>
              <a:ext cx="5524500" cy="4762500"/>
            </a:xfrm>
            <a:prstGeom prst="roundRect">
              <a:avLst>
                <a:gd name="adj" fmla="val 24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17932" y="1658541"/>
              <a:ext cx="2267998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1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标准正态的对称性与 3σ 区间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319076" y="1930479"/>
              <a:ext cx="3290594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φ(x) 是偶函数，所以查表只需要 x &gt; 0 的那一半。</a:t>
              </a:r>
            </a:p>
          </p:txBody>
        </p:sp>
        <p:sp>
          <p:nvSpPr>
            <p:cNvPr id="51" name="Polygon 51"/>
            <p:cNvSpPr/>
            <p:nvPr/>
          </p:nvSpPr>
          <p:spPr>
            <a:xfrm>
              <a:off x="6724650" y="3054248"/>
              <a:ext cx="736435" cy="489052"/>
            </a:xfrm>
            <a:custGeom>
              <a:avLst/>
              <a:gdLst/>
              <a:ahLst/>
              <a:cxnLst/>
              <a:rect l="l" t="t" r="r" b="b"/>
              <a:pathLst>
                <a:path w="736435" h="489052">
                  <a:moveTo>
                    <a:pt x="0" y="489052"/>
                  </a:moveTo>
                  <a:lnTo>
                    <a:pt x="0" y="488299"/>
                  </a:lnTo>
                  <a:lnTo>
                    <a:pt x="14354" y="488147"/>
                  </a:lnTo>
                  <a:lnTo>
                    <a:pt x="28699" y="487956"/>
                  </a:lnTo>
                  <a:lnTo>
                    <a:pt x="43053" y="487728"/>
                  </a:lnTo>
                  <a:lnTo>
                    <a:pt x="57407" y="487461"/>
                  </a:lnTo>
                  <a:lnTo>
                    <a:pt x="71752" y="487147"/>
                  </a:lnTo>
                  <a:lnTo>
                    <a:pt x="86106" y="486775"/>
                  </a:lnTo>
                  <a:lnTo>
                    <a:pt x="100460" y="486346"/>
                  </a:lnTo>
                  <a:lnTo>
                    <a:pt x="114805" y="485832"/>
                  </a:lnTo>
                  <a:lnTo>
                    <a:pt x="129159" y="485232"/>
                  </a:lnTo>
                  <a:lnTo>
                    <a:pt x="143513" y="484527"/>
                  </a:lnTo>
                  <a:lnTo>
                    <a:pt x="157858" y="483718"/>
                  </a:lnTo>
                  <a:lnTo>
                    <a:pt x="172212" y="482775"/>
                  </a:lnTo>
                  <a:lnTo>
                    <a:pt x="186566" y="481679"/>
                  </a:lnTo>
                  <a:lnTo>
                    <a:pt x="200911" y="480422"/>
                  </a:lnTo>
                  <a:lnTo>
                    <a:pt x="215265" y="478965"/>
                  </a:lnTo>
                  <a:lnTo>
                    <a:pt x="229619" y="477307"/>
                  </a:lnTo>
                  <a:lnTo>
                    <a:pt x="243964" y="475402"/>
                  </a:lnTo>
                  <a:lnTo>
                    <a:pt x="258318" y="473231"/>
                  </a:lnTo>
                  <a:lnTo>
                    <a:pt x="272672" y="470754"/>
                  </a:lnTo>
                  <a:lnTo>
                    <a:pt x="287017" y="467954"/>
                  </a:lnTo>
                  <a:lnTo>
                    <a:pt x="301371" y="464791"/>
                  </a:lnTo>
                  <a:lnTo>
                    <a:pt x="315725" y="461220"/>
                  </a:lnTo>
                  <a:lnTo>
                    <a:pt x="330070" y="457200"/>
                  </a:lnTo>
                  <a:lnTo>
                    <a:pt x="344424" y="452695"/>
                  </a:lnTo>
                  <a:lnTo>
                    <a:pt x="358778" y="447665"/>
                  </a:lnTo>
                  <a:lnTo>
                    <a:pt x="373123" y="442055"/>
                  </a:lnTo>
                  <a:lnTo>
                    <a:pt x="387477" y="435826"/>
                  </a:lnTo>
                  <a:lnTo>
                    <a:pt x="401831" y="428930"/>
                  </a:lnTo>
                  <a:lnTo>
                    <a:pt x="416176" y="421300"/>
                  </a:lnTo>
                  <a:lnTo>
                    <a:pt x="430530" y="412909"/>
                  </a:lnTo>
                  <a:lnTo>
                    <a:pt x="444884" y="403698"/>
                  </a:lnTo>
                  <a:lnTo>
                    <a:pt x="459229" y="393611"/>
                  </a:lnTo>
                  <a:lnTo>
                    <a:pt x="473583" y="382610"/>
                  </a:lnTo>
                  <a:lnTo>
                    <a:pt x="487937" y="370646"/>
                  </a:lnTo>
                  <a:lnTo>
                    <a:pt x="502282" y="357673"/>
                  </a:lnTo>
                  <a:lnTo>
                    <a:pt x="516636" y="343652"/>
                  </a:lnTo>
                  <a:lnTo>
                    <a:pt x="530990" y="328546"/>
                  </a:lnTo>
                  <a:lnTo>
                    <a:pt x="545335" y="312325"/>
                  </a:lnTo>
                  <a:lnTo>
                    <a:pt x="559689" y="294961"/>
                  </a:lnTo>
                  <a:lnTo>
                    <a:pt x="574043" y="276444"/>
                  </a:lnTo>
                  <a:lnTo>
                    <a:pt x="588388" y="256756"/>
                  </a:lnTo>
                  <a:lnTo>
                    <a:pt x="602742" y="235896"/>
                  </a:lnTo>
                  <a:lnTo>
                    <a:pt x="617096" y="213874"/>
                  </a:lnTo>
                  <a:lnTo>
                    <a:pt x="631441" y="190690"/>
                  </a:lnTo>
                  <a:lnTo>
                    <a:pt x="645795" y="166392"/>
                  </a:lnTo>
                  <a:lnTo>
                    <a:pt x="660149" y="141008"/>
                  </a:lnTo>
                  <a:lnTo>
                    <a:pt x="674494" y="114595"/>
                  </a:lnTo>
                  <a:lnTo>
                    <a:pt x="688848" y="87201"/>
                  </a:lnTo>
                  <a:lnTo>
                    <a:pt x="703202" y="58912"/>
                  </a:lnTo>
                  <a:lnTo>
                    <a:pt x="717547" y="29813"/>
                  </a:lnTo>
                  <a:lnTo>
                    <a:pt x="731901" y="0"/>
                  </a:lnTo>
                  <a:lnTo>
                    <a:pt x="736435" y="489052"/>
                  </a:lnTo>
                  <a:close/>
                </a:path>
              </a:pathLst>
            </a:custGeom>
            <a:solidFill>
              <a:srgbClr val="A9BBE4"/>
            </a:solidFill>
            <a:ln>
              <a:noFill/>
            </a:ln>
          </p:spPr>
        </p:sp>
        <p:sp>
          <p:nvSpPr>
            <p:cNvPr id="52" name="Polygon 52"/>
            <p:cNvSpPr/>
            <p:nvPr/>
          </p:nvSpPr>
          <p:spPr>
            <a:xfrm>
              <a:off x="8140865" y="3054248"/>
              <a:ext cx="736435" cy="489052"/>
            </a:xfrm>
            <a:custGeom>
              <a:avLst/>
              <a:gdLst/>
              <a:ahLst/>
              <a:cxnLst/>
              <a:rect l="l" t="t" r="r" b="b"/>
              <a:pathLst>
                <a:path w="736435" h="489052">
                  <a:moveTo>
                    <a:pt x="0" y="489052"/>
                  </a:moveTo>
                  <a:lnTo>
                    <a:pt x="4534" y="0"/>
                  </a:lnTo>
                  <a:lnTo>
                    <a:pt x="18888" y="29813"/>
                  </a:lnTo>
                  <a:lnTo>
                    <a:pt x="33233" y="58912"/>
                  </a:lnTo>
                  <a:lnTo>
                    <a:pt x="47587" y="87201"/>
                  </a:lnTo>
                  <a:lnTo>
                    <a:pt x="61941" y="114595"/>
                  </a:lnTo>
                  <a:lnTo>
                    <a:pt x="76286" y="141008"/>
                  </a:lnTo>
                  <a:lnTo>
                    <a:pt x="90640" y="166392"/>
                  </a:lnTo>
                  <a:lnTo>
                    <a:pt x="104994" y="190690"/>
                  </a:lnTo>
                  <a:lnTo>
                    <a:pt x="119339" y="213874"/>
                  </a:lnTo>
                  <a:lnTo>
                    <a:pt x="133693" y="235896"/>
                  </a:lnTo>
                  <a:lnTo>
                    <a:pt x="148047" y="256756"/>
                  </a:lnTo>
                  <a:lnTo>
                    <a:pt x="162392" y="276444"/>
                  </a:lnTo>
                  <a:lnTo>
                    <a:pt x="176746" y="294961"/>
                  </a:lnTo>
                  <a:lnTo>
                    <a:pt x="191100" y="312325"/>
                  </a:lnTo>
                  <a:lnTo>
                    <a:pt x="205445" y="328546"/>
                  </a:lnTo>
                  <a:lnTo>
                    <a:pt x="219799" y="343652"/>
                  </a:lnTo>
                  <a:lnTo>
                    <a:pt x="234153" y="357673"/>
                  </a:lnTo>
                  <a:lnTo>
                    <a:pt x="248498" y="370646"/>
                  </a:lnTo>
                  <a:lnTo>
                    <a:pt x="262852" y="382610"/>
                  </a:lnTo>
                  <a:lnTo>
                    <a:pt x="277206" y="393611"/>
                  </a:lnTo>
                  <a:lnTo>
                    <a:pt x="291551" y="403698"/>
                  </a:lnTo>
                  <a:lnTo>
                    <a:pt x="305905" y="412909"/>
                  </a:lnTo>
                  <a:lnTo>
                    <a:pt x="320259" y="421300"/>
                  </a:lnTo>
                  <a:lnTo>
                    <a:pt x="334604" y="428930"/>
                  </a:lnTo>
                  <a:lnTo>
                    <a:pt x="348958" y="435826"/>
                  </a:lnTo>
                  <a:lnTo>
                    <a:pt x="363312" y="442055"/>
                  </a:lnTo>
                  <a:lnTo>
                    <a:pt x="377657" y="447665"/>
                  </a:lnTo>
                  <a:lnTo>
                    <a:pt x="392011" y="452695"/>
                  </a:lnTo>
                  <a:lnTo>
                    <a:pt x="406365" y="457200"/>
                  </a:lnTo>
                  <a:lnTo>
                    <a:pt x="420710" y="461220"/>
                  </a:lnTo>
                  <a:lnTo>
                    <a:pt x="435064" y="464791"/>
                  </a:lnTo>
                  <a:lnTo>
                    <a:pt x="449418" y="467954"/>
                  </a:lnTo>
                  <a:lnTo>
                    <a:pt x="463763" y="470754"/>
                  </a:lnTo>
                  <a:lnTo>
                    <a:pt x="478117" y="473231"/>
                  </a:lnTo>
                  <a:lnTo>
                    <a:pt x="492471" y="475402"/>
                  </a:lnTo>
                  <a:lnTo>
                    <a:pt x="506816" y="477307"/>
                  </a:lnTo>
                  <a:lnTo>
                    <a:pt x="521170" y="478965"/>
                  </a:lnTo>
                  <a:lnTo>
                    <a:pt x="535524" y="480422"/>
                  </a:lnTo>
                  <a:lnTo>
                    <a:pt x="549869" y="481679"/>
                  </a:lnTo>
                  <a:lnTo>
                    <a:pt x="564223" y="482775"/>
                  </a:lnTo>
                  <a:lnTo>
                    <a:pt x="578577" y="483718"/>
                  </a:lnTo>
                  <a:lnTo>
                    <a:pt x="592922" y="484527"/>
                  </a:lnTo>
                  <a:lnTo>
                    <a:pt x="607276" y="485232"/>
                  </a:lnTo>
                  <a:lnTo>
                    <a:pt x="621630" y="485832"/>
                  </a:lnTo>
                  <a:lnTo>
                    <a:pt x="635975" y="486346"/>
                  </a:lnTo>
                  <a:lnTo>
                    <a:pt x="650329" y="486775"/>
                  </a:lnTo>
                  <a:lnTo>
                    <a:pt x="664683" y="487147"/>
                  </a:lnTo>
                  <a:lnTo>
                    <a:pt x="679028" y="487461"/>
                  </a:lnTo>
                  <a:lnTo>
                    <a:pt x="693382" y="487728"/>
                  </a:lnTo>
                  <a:lnTo>
                    <a:pt x="707736" y="487956"/>
                  </a:lnTo>
                  <a:lnTo>
                    <a:pt x="722081" y="488147"/>
                  </a:lnTo>
                  <a:lnTo>
                    <a:pt x="736435" y="488299"/>
                  </a:lnTo>
                  <a:lnTo>
                    <a:pt x="736435" y="489052"/>
                  </a:lnTo>
                  <a:close/>
                </a:path>
              </a:pathLst>
            </a:custGeom>
            <a:solidFill>
              <a:srgbClr val="A9BBE4"/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6724650" y="2518972"/>
              <a:ext cx="2152650" cy="1023576"/>
            </a:xfrm>
            <a:custGeom>
              <a:avLst/>
              <a:gdLst/>
              <a:ahLst/>
              <a:cxnLst/>
              <a:rect l="l" t="t" r="r" b="b"/>
              <a:pathLst>
                <a:path w="2152650" h="1023576">
                  <a:moveTo>
                    <a:pt x="0" y="1023576"/>
                  </a:moveTo>
                  <a:lnTo>
                    <a:pt x="14354" y="1023423"/>
                  </a:lnTo>
                  <a:lnTo>
                    <a:pt x="28699" y="1023233"/>
                  </a:lnTo>
                  <a:lnTo>
                    <a:pt x="43053" y="1023004"/>
                  </a:lnTo>
                  <a:lnTo>
                    <a:pt x="57407" y="1022737"/>
                  </a:lnTo>
                  <a:lnTo>
                    <a:pt x="71752" y="1022423"/>
                  </a:lnTo>
                  <a:lnTo>
                    <a:pt x="86106" y="1022052"/>
                  </a:lnTo>
                  <a:lnTo>
                    <a:pt x="100460" y="1021623"/>
                  </a:lnTo>
                  <a:lnTo>
                    <a:pt x="114805" y="1021109"/>
                  </a:lnTo>
                  <a:lnTo>
                    <a:pt x="129159" y="1020508"/>
                  </a:lnTo>
                  <a:lnTo>
                    <a:pt x="143513" y="1019804"/>
                  </a:lnTo>
                  <a:lnTo>
                    <a:pt x="157858" y="1018994"/>
                  </a:lnTo>
                  <a:lnTo>
                    <a:pt x="172212" y="1018051"/>
                  </a:lnTo>
                  <a:lnTo>
                    <a:pt x="186566" y="1016956"/>
                  </a:lnTo>
                  <a:lnTo>
                    <a:pt x="200911" y="1015698"/>
                  </a:lnTo>
                  <a:lnTo>
                    <a:pt x="215265" y="1014241"/>
                  </a:lnTo>
                  <a:lnTo>
                    <a:pt x="229619" y="1012584"/>
                  </a:lnTo>
                  <a:lnTo>
                    <a:pt x="243964" y="1010679"/>
                  </a:lnTo>
                  <a:lnTo>
                    <a:pt x="258318" y="1008507"/>
                  </a:lnTo>
                  <a:lnTo>
                    <a:pt x="272672" y="1006030"/>
                  </a:lnTo>
                  <a:lnTo>
                    <a:pt x="287017" y="1003230"/>
                  </a:lnTo>
                  <a:lnTo>
                    <a:pt x="301371" y="1000068"/>
                  </a:lnTo>
                  <a:lnTo>
                    <a:pt x="315725" y="996496"/>
                  </a:lnTo>
                  <a:lnTo>
                    <a:pt x="330070" y="992476"/>
                  </a:lnTo>
                  <a:lnTo>
                    <a:pt x="344424" y="987971"/>
                  </a:lnTo>
                  <a:lnTo>
                    <a:pt x="358778" y="982942"/>
                  </a:lnTo>
                  <a:lnTo>
                    <a:pt x="373123" y="977332"/>
                  </a:lnTo>
                  <a:lnTo>
                    <a:pt x="387477" y="971102"/>
                  </a:lnTo>
                  <a:lnTo>
                    <a:pt x="401831" y="964206"/>
                  </a:lnTo>
                  <a:lnTo>
                    <a:pt x="416176" y="956577"/>
                  </a:lnTo>
                  <a:lnTo>
                    <a:pt x="430530" y="948185"/>
                  </a:lnTo>
                  <a:lnTo>
                    <a:pt x="444884" y="938974"/>
                  </a:lnTo>
                  <a:lnTo>
                    <a:pt x="459229" y="928888"/>
                  </a:lnTo>
                  <a:lnTo>
                    <a:pt x="473583" y="917886"/>
                  </a:lnTo>
                  <a:lnTo>
                    <a:pt x="487937" y="905923"/>
                  </a:lnTo>
                  <a:lnTo>
                    <a:pt x="502282" y="892950"/>
                  </a:lnTo>
                  <a:lnTo>
                    <a:pt x="516636" y="878929"/>
                  </a:lnTo>
                  <a:lnTo>
                    <a:pt x="530990" y="863822"/>
                  </a:lnTo>
                  <a:lnTo>
                    <a:pt x="545335" y="847601"/>
                  </a:lnTo>
                  <a:lnTo>
                    <a:pt x="559689" y="830237"/>
                  </a:lnTo>
                  <a:lnTo>
                    <a:pt x="574043" y="811720"/>
                  </a:lnTo>
                  <a:lnTo>
                    <a:pt x="588388" y="792032"/>
                  </a:lnTo>
                  <a:lnTo>
                    <a:pt x="602742" y="771173"/>
                  </a:lnTo>
                  <a:lnTo>
                    <a:pt x="617096" y="749151"/>
                  </a:lnTo>
                  <a:lnTo>
                    <a:pt x="631441" y="725967"/>
                  </a:lnTo>
                  <a:lnTo>
                    <a:pt x="645795" y="701669"/>
                  </a:lnTo>
                  <a:lnTo>
                    <a:pt x="660149" y="676285"/>
                  </a:lnTo>
                  <a:lnTo>
                    <a:pt x="674494" y="649872"/>
                  </a:lnTo>
                  <a:lnTo>
                    <a:pt x="688848" y="622478"/>
                  </a:lnTo>
                  <a:lnTo>
                    <a:pt x="703202" y="594189"/>
                  </a:lnTo>
                  <a:lnTo>
                    <a:pt x="717547" y="565090"/>
                  </a:lnTo>
                  <a:lnTo>
                    <a:pt x="731901" y="535276"/>
                  </a:lnTo>
                  <a:lnTo>
                    <a:pt x="746255" y="504863"/>
                  </a:lnTo>
                  <a:lnTo>
                    <a:pt x="760600" y="473983"/>
                  </a:lnTo>
                  <a:lnTo>
                    <a:pt x="774954" y="442751"/>
                  </a:lnTo>
                  <a:lnTo>
                    <a:pt x="789308" y="411328"/>
                  </a:lnTo>
                  <a:lnTo>
                    <a:pt x="803653" y="379857"/>
                  </a:lnTo>
                  <a:lnTo>
                    <a:pt x="818007" y="348510"/>
                  </a:lnTo>
                  <a:lnTo>
                    <a:pt x="832361" y="317459"/>
                  </a:lnTo>
                  <a:lnTo>
                    <a:pt x="846706" y="286874"/>
                  </a:lnTo>
                  <a:lnTo>
                    <a:pt x="861060" y="256937"/>
                  </a:lnTo>
                  <a:lnTo>
                    <a:pt x="875414" y="227838"/>
                  </a:lnTo>
                  <a:lnTo>
                    <a:pt x="889759" y="199749"/>
                  </a:lnTo>
                  <a:lnTo>
                    <a:pt x="904113" y="172860"/>
                  </a:lnTo>
                  <a:lnTo>
                    <a:pt x="918467" y="147352"/>
                  </a:lnTo>
                  <a:lnTo>
                    <a:pt x="932812" y="123387"/>
                  </a:lnTo>
                  <a:lnTo>
                    <a:pt x="947166" y="101146"/>
                  </a:lnTo>
                  <a:lnTo>
                    <a:pt x="961520" y="80782"/>
                  </a:lnTo>
                  <a:lnTo>
                    <a:pt x="975865" y="62436"/>
                  </a:lnTo>
                  <a:lnTo>
                    <a:pt x="990219" y="46253"/>
                  </a:lnTo>
                  <a:lnTo>
                    <a:pt x="1004573" y="32347"/>
                  </a:lnTo>
                  <a:lnTo>
                    <a:pt x="1018918" y="20822"/>
                  </a:lnTo>
                  <a:lnTo>
                    <a:pt x="1033272" y="11763"/>
                  </a:lnTo>
                  <a:lnTo>
                    <a:pt x="1047626" y="5248"/>
                  </a:lnTo>
                  <a:lnTo>
                    <a:pt x="1061971" y="1314"/>
                  </a:lnTo>
                  <a:lnTo>
                    <a:pt x="1076325" y="0"/>
                  </a:lnTo>
                  <a:lnTo>
                    <a:pt x="1090679" y="1314"/>
                  </a:lnTo>
                  <a:lnTo>
                    <a:pt x="1105024" y="5248"/>
                  </a:lnTo>
                  <a:lnTo>
                    <a:pt x="1119378" y="11763"/>
                  </a:lnTo>
                  <a:lnTo>
                    <a:pt x="1133732" y="20822"/>
                  </a:lnTo>
                  <a:lnTo>
                    <a:pt x="1148077" y="32347"/>
                  </a:lnTo>
                  <a:lnTo>
                    <a:pt x="1162431" y="46253"/>
                  </a:lnTo>
                  <a:lnTo>
                    <a:pt x="1176785" y="62436"/>
                  </a:lnTo>
                  <a:lnTo>
                    <a:pt x="1191130" y="80782"/>
                  </a:lnTo>
                  <a:lnTo>
                    <a:pt x="1205484" y="101146"/>
                  </a:lnTo>
                  <a:lnTo>
                    <a:pt x="1219838" y="123387"/>
                  </a:lnTo>
                  <a:lnTo>
                    <a:pt x="1234183" y="147352"/>
                  </a:lnTo>
                  <a:lnTo>
                    <a:pt x="1248537" y="172860"/>
                  </a:lnTo>
                  <a:lnTo>
                    <a:pt x="1262891" y="199749"/>
                  </a:lnTo>
                  <a:lnTo>
                    <a:pt x="1277236" y="227838"/>
                  </a:lnTo>
                  <a:lnTo>
                    <a:pt x="1291590" y="256937"/>
                  </a:lnTo>
                  <a:lnTo>
                    <a:pt x="1305944" y="286874"/>
                  </a:lnTo>
                  <a:lnTo>
                    <a:pt x="1320289" y="317459"/>
                  </a:lnTo>
                  <a:lnTo>
                    <a:pt x="1334643" y="348510"/>
                  </a:lnTo>
                  <a:lnTo>
                    <a:pt x="1348997" y="379857"/>
                  </a:lnTo>
                  <a:lnTo>
                    <a:pt x="1363342" y="411328"/>
                  </a:lnTo>
                  <a:lnTo>
                    <a:pt x="1377696" y="442751"/>
                  </a:lnTo>
                  <a:lnTo>
                    <a:pt x="1392050" y="473983"/>
                  </a:lnTo>
                  <a:lnTo>
                    <a:pt x="1406395" y="504863"/>
                  </a:lnTo>
                  <a:lnTo>
                    <a:pt x="1420749" y="535276"/>
                  </a:lnTo>
                  <a:lnTo>
                    <a:pt x="1435103" y="565090"/>
                  </a:lnTo>
                  <a:lnTo>
                    <a:pt x="1449448" y="594189"/>
                  </a:lnTo>
                  <a:lnTo>
                    <a:pt x="1463802" y="622478"/>
                  </a:lnTo>
                  <a:lnTo>
                    <a:pt x="1478156" y="649872"/>
                  </a:lnTo>
                  <a:lnTo>
                    <a:pt x="1492501" y="676285"/>
                  </a:lnTo>
                  <a:lnTo>
                    <a:pt x="1506855" y="701669"/>
                  </a:lnTo>
                  <a:lnTo>
                    <a:pt x="1521209" y="725967"/>
                  </a:lnTo>
                  <a:lnTo>
                    <a:pt x="1535554" y="749151"/>
                  </a:lnTo>
                  <a:lnTo>
                    <a:pt x="1549908" y="771173"/>
                  </a:lnTo>
                  <a:lnTo>
                    <a:pt x="1564262" y="792032"/>
                  </a:lnTo>
                  <a:lnTo>
                    <a:pt x="1578607" y="811720"/>
                  </a:lnTo>
                  <a:lnTo>
                    <a:pt x="1592961" y="830237"/>
                  </a:lnTo>
                  <a:lnTo>
                    <a:pt x="1607315" y="847601"/>
                  </a:lnTo>
                  <a:lnTo>
                    <a:pt x="1621660" y="863822"/>
                  </a:lnTo>
                  <a:lnTo>
                    <a:pt x="1636014" y="878929"/>
                  </a:lnTo>
                  <a:lnTo>
                    <a:pt x="1650368" y="892950"/>
                  </a:lnTo>
                  <a:lnTo>
                    <a:pt x="1664713" y="905923"/>
                  </a:lnTo>
                  <a:lnTo>
                    <a:pt x="1679067" y="917886"/>
                  </a:lnTo>
                  <a:lnTo>
                    <a:pt x="1693421" y="928888"/>
                  </a:lnTo>
                  <a:lnTo>
                    <a:pt x="1707766" y="938974"/>
                  </a:lnTo>
                  <a:lnTo>
                    <a:pt x="1722120" y="948185"/>
                  </a:lnTo>
                  <a:lnTo>
                    <a:pt x="1736474" y="956577"/>
                  </a:lnTo>
                  <a:lnTo>
                    <a:pt x="1750819" y="964206"/>
                  </a:lnTo>
                  <a:lnTo>
                    <a:pt x="1765173" y="971102"/>
                  </a:lnTo>
                  <a:lnTo>
                    <a:pt x="1779527" y="977332"/>
                  </a:lnTo>
                  <a:lnTo>
                    <a:pt x="1793872" y="982942"/>
                  </a:lnTo>
                  <a:lnTo>
                    <a:pt x="1808226" y="987971"/>
                  </a:lnTo>
                  <a:lnTo>
                    <a:pt x="1822580" y="992476"/>
                  </a:lnTo>
                  <a:lnTo>
                    <a:pt x="1836925" y="996496"/>
                  </a:lnTo>
                  <a:lnTo>
                    <a:pt x="1851279" y="1000068"/>
                  </a:lnTo>
                  <a:lnTo>
                    <a:pt x="1865633" y="1003230"/>
                  </a:lnTo>
                  <a:lnTo>
                    <a:pt x="1879978" y="1006030"/>
                  </a:lnTo>
                  <a:lnTo>
                    <a:pt x="1894332" y="1008507"/>
                  </a:lnTo>
                  <a:lnTo>
                    <a:pt x="1908686" y="1010679"/>
                  </a:lnTo>
                  <a:lnTo>
                    <a:pt x="1923031" y="1012584"/>
                  </a:lnTo>
                  <a:lnTo>
                    <a:pt x="1937385" y="1014241"/>
                  </a:lnTo>
                  <a:lnTo>
                    <a:pt x="1951739" y="1015698"/>
                  </a:lnTo>
                  <a:lnTo>
                    <a:pt x="1966084" y="1016956"/>
                  </a:lnTo>
                  <a:lnTo>
                    <a:pt x="1980438" y="1018051"/>
                  </a:lnTo>
                  <a:lnTo>
                    <a:pt x="1994792" y="1018994"/>
                  </a:lnTo>
                  <a:lnTo>
                    <a:pt x="2009137" y="1019804"/>
                  </a:lnTo>
                  <a:lnTo>
                    <a:pt x="2023491" y="1020508"/>
                  </a:lnTo>
                  <a:lnTo>
                    <a:pt x="2037845" y="1021109"/>
                  </a:lnTo>
                  <a:lnTo>
                    <a:pt x="2052190" y="1021623"/>
                  </a:lnTo>
                  <a:lnTo>
                    <a:pt x="2066544" y="1022052"/>
                  </a:lnTo>
                  <a:lnTo>
                    <a:pt x="2080898" y="1022423"/>
                  </a:lnTo>
                  <a:lnTo>
                    <a:pt x="2095243" y="1022737"/>
                  </a:lnTo>
                  <a:lnTo>
                    <a:pt x="2109597" y="1023004"/>
                  </a:lnTo>
                  <a:lnTo>
                    <a:pt x="2123951" y="1023233"/>
                  </a:lnTo>
                  <a:lnTo>
                    <a:pt x="2138296" y="1023423"/>
                  </a:lnTo>
                  <a:lnTo>
                    <a:pt x="2152650" y="1023576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54" name="Line 54"/>
            <p:cNvSpPr/>
            <p:nvPr/>
          </p:nvSpPr>
          <p:spPr>
            <a:xfrm>
              <a:off x="6667500" y="3543300"/>
              <a:ext cx="2257425" cy="9525"/>
            </a:xfrm>
            <a:custGeom>
              <a:avLst/>
              <a:gdLst/>
              <a:ahLst/>
              <a:cxnLst/>
              <a:rect l="l" t="t" r="r" b="b"/>
              <a:pathLst>
                <a:path w="2257425" h="9525">
                  <a:moveTo>
                    <a:pt x="0" y="0"/>
                  </a:moveTo>
                  <a:lnTo>
                    <a:pt x="2257425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55" name="Polygon 55"/>
            <p:cNvSpPr/>
            <p:nvPr/>
          </p:nvSpPr>
          <p:spPr>
            <a:xfrm>
              <a:off x="8924925" y="3513296"/>
              <a:ext cx="66675" cy="60007"/>
            </a:xfrm>
            <a:custGeom>
              <a:avLst/>
              <a:gdLst/>
              <a:ahLst/>
              <a:cxnLst/>
              <a:rect l="l" t="t" r="r" b="b"/>
              <a:pathLst>
                <a:path w="66675" h="60007">
                  <a:moveTo>
                    <a:pt x="66675" y="30004"/>
                  </a:moveTo>
                  <a:lnTo>
                    <a:pt x="0" y="60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56" name="Line 56"/>
            <p:cNvSpPr/>
            <p:nvPr/>
          </p:nvSpPr>
          <p:spPr>
            <a:xfrm>
              <a:off x="6724650" y="2333625"/>
              <a:ext cx="9525" cy="1266825"/>
            </a:xfrm>
            <a:custGeom>
              <a:avLst/>
              <a:gdLst/>
              <a:ahLst/>
              <a:cxnLst/>
              <a:rect l="l" t="t" r="r" b="b"/>
              <a:pathLst>
                <a:path w="9525" h="1266825">
                  <a:moveTo>
                    <a:pt x="0" y="126682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57" name="Polygon 57"/>
            <p:cNvSpPr/>
            <p:nvPr/>
          </p:nvSpPr>
          <p:spPr>
            <a:xfrm>
              <a:off x="6694646" y="2266950"/>
              <a:ext cx="60007" cy="66675"/>
            </a:xfrm>
            <a:custGeom>
              <a:avLst/>
              <a:gdLst/>
              <a:ahLst/>
              <a:cxnLst/>
              <a:rect l="l" t="t" r="r" b="b"/>
              <a:pathLst>
                <a:path w="60007" h="66675">
                  <a:moveTo>
                    <a:pt x="30004" y="0"/>
                  </a:moveTo>
                  <a:lnTo>
                    <a:pt x="60007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024366" y="35823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351194" y="209645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φ(x)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572174" y="3599974"/>
              <a:ext cx="1144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7800975" y="2518972"/>
              <a:ext cx="9525" cy="1024328"/>
            </a:xfrm>
            <a:custGeom>
              <a:avLst/>
              <a:gdLst/>
              <a:ahLst/>
              <a:cxnLst/>
              <a:rect l="l" t="t" r="r" b="b"/>
              <a:pathLst>
                <a:path w="9525" h="1024328">
                  <a:moveTo>
                    <a:pt x="0" y="1024328"/>
                  </a:moveTo>
                  <a:lnTo>
                    <a:pt x="0" y="0"/>
                  </a:lnTo>
                </a:path>
              </a:pathLst>
            </a:custGeom>
            <a:noFill/>
            <a:ln w="12382">
              <a:solidFill>
                <a:srgbClr val="6B7A99"/>
              </a:solidFill>
              <a:custDash>
                <a:ds d="384615" sp="307692"/>
              </a:custDash>
            </a:ln>
          </p:spPr>
        </p:sp>
        <p:sp>
          <p:nvSpPr>
            <p:cNvPr id="62" name="Line 62"/>
            <p:cNvSpPr/>
            <p:nvPr/>
          </p:nvSpPr>
          <p:spPr>
            <a:xfrm>
              <a:off x="7461085" y="35433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383572" y="3619024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−a</a:t>
              </a:r>
            </a:p>
          </p:txBody>
        </p:sp>
        <p:sp>
          <p:nvSpPr>
            <p:cNvPr id="64" name="Line 64"/>
            <p:cNvSpPr/>
            <p:nvPr/>
          </p:nvSpPr>
          <p:spPr>
            <a:xfrm>
              <a:off x="8140865" y="35433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099632" y="361902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958373" y="3185331"/>
              <a:ext cx="43893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40" dirty="0">
                  <a:solidFill>
                    <a:srgbClr val="16346E"/>
                  </a:solidFill>
                  <a:latin typeface="+mn-lt"/>
                  <a:ea typeface="+mn-ea"/>
                  <a:cs typeface="+mn-cs"/>
                </a:rPr>
                <a:t>1−Φ(a)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204643" y="3185331"/>
              <a:ext cx="43893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40" dirty="0">
                  <a:solidFill>
                    <a:srgbClr val="16346E"/>
                  </a:solidFill>
                  <a:latin typeface="+mn-lt"/>
                  <a:ea typeface="+mn-ea"/>
                  <a:cs typeface="+mn-cs"/>
                </a:rPr>
                <a:t>1−Φ(a)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521816" y="3001556"/>
              <a:ext cx="5583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2Φ(a)−1</a:t>
              </a:r>
            </a:p>
          </p:txBody>
        </p:sp>
        <p:sp>
          <p:nvSpPr>
            <p:cNvPr id="69" name="Polygon 69"/>
            <p:cNvSpPr/>
            <p:nvPr/>
          </p:nvSpPr>
          <p:spPr>
            <a:xfrm>
              <a:off x="6951240" y="4145975"/>
              <a:ext cx="1699470" cy="826075"/>
            </a:xfrm>
            <a:custGeom>
              <a:avLst/>
              <a:gdLst/>
              <a:ahLst/>
              <a:cxnLst/>
              <a:rect l="l" t="t" r="r" b="b"/>
              <a:pathLst>
                <a:path w="1699470" h="826075">
                  <a:moveTo>
                    <a:pt x="0" y="826075"/>
                  </a:moveTo>
                  <a:lnTo>
                    <a:pt x="3029" y="816597"/>
                  </a:lnTo>
                  <a:lnTo>
                    <a:pt x="17374" y="815064"/>
                  </a:lnTo>
                  <a:lnTo>
                    <a:pt x="31728" y="813311"/>
                  </a:lnTo>
                  <a:lnTo>
                    <a:pt x="46082" y="811320"/>
                  </a:lnTo>
                  <a:lnTo>
                    <a:pt x="60427" y="809063"/>
                  </a:lnTo>
                  <a:lnTo>
                    <a:pt x="74781" y="806510"/>
                  </a:lnTo>
                  <a:lnTo>
                    <a:pt x="89135" y="803624"/>
                  </a:lnTo>
                  <a:lnTo>
                    <a:pt x="103480" y="800386"/>
                  </a:lnTo>
                  <a:lnTo>
                    <a:pt x="117834" y="796757"/>
                  </a:lnTo>
                  <a:lnTo>
                    <a:pt x="132188" y="792699"/>
                  </a:lnTo>
                  <a:lnTo>
                    <a:pt x="146533" y="788175"/>
                  </a:lnTo>
                  <a:lnTo>
                    <a:pt x="160887" y="783155"/>
                  </a:lnTo>
                  <a:lnTo>
                    <a:pt x="175241" y="777583"/>
                  </a:lnTo>
                  <a:lnTo>
                    <a:pt x="189586" y="771439"/>
                  </a:lnTo>
                  <a:lnTo>
                    <a:pt x="203940" y="764667"/>
                  </a:lnTo>
                  <a:lnTo>
                    <a:pt x="218294" y="757238"/>
                  </a:lnTo>
                  <a:lnTo>
                    <a:pt x="232639" y="749103"/>
                  </a:lnTo>
                  <a:lnTo>
                    <a:pt x="246993" y="740235"/>
                  </a:lnTo>
                  <a:lnTo>
                    <a:pt x="261347" y="730587"/>
                  </a:lnTo>
                  <a:lnTo>
                    <a:pt x="275692" y="720119"/>
                  </a:lnTo>
                  <a:lnTo>
                    <a:pt x="290046" y="708812"/>
                  </a:lnTo>
                  <a:lnTo>
                    <a:pt x="304400" y="696630"/>
                  </a:lnTo>
                  <a:lnTo>
                    <a:pt x="318745" y="683552"/>
                  </a:lnTo>
                  <a:lnTo>
                    <a:pt x="333099" y="669550"/>
                  </a:lnTo>
                  <a:lnTo>
                    <a:pt x="347453" y="654615"/>
                  </a:lnTo>
                  <a:lnTo>
                    <a:pt x="361798" y="638737"/>
                  </a:lnTo>
                  <a:lnTo>
                    <a:pt x="376152" y="621916"/>
                  </a:lnTo>
                  <a:lnTo>
                    <a:pt x="390506" y="604152"/>
                  </a:lnTo>
                  <a:lnTo>
                    <a:pt x="404851" y="585464"/>
                  </a:lnTo>
                  <a:lnTo>
                    <a:pt x="419205" y="565871"/>
                  </a:lnTo>
                  <a:lnTo>
                    <a:pt x="433559" y="545392"/>
                  </a:lnTo>
                  <a:lnTo>
                    <a:pt x="447904" y="524094"/>
                  </a:lnTo>
                  <a:lnTo>
                    <a:pt x="462258" y="502006"/>
                  </a:lnTo>
                  <a:lnTo>
                    <a:pt x="476612" y="479193"/>
                  </a:lnTo>
                  <a:lnTo>
                    <a:pt x="490957" y="455724"/>
                  </a:lnTo>
                  <a:lnTo>
                    <a:pt x="505311" y="431683"/>
                  </a:lnTo>
                  <a:lnTo>
                    <a:pt x="519665" y="407156"/>
                  </a:lnTo>
                  <a:lnTo>
                    <a:pt x="534010" y="382248"/>
                  </a:lnTo>
                  <a:lnTo>
                    <a:pt x="548364" y="357064"/>
                  </a:lnTo>
                  <a:lnTo>
                    <a:pt x="562718" y="331718"/>
                  </a:lnTo>
                  <a:lnTo>
                    <a:pt x="577063" y="306343"/>
                  </a:lnTo>
                  <a:lnTo>
                    <a:pt x="591417" y="281064"/>
                  </a:lnTo>
                  <a:lnTo>
                    <a:pt x="605771" y="256022"/>
                  </a:lnTo>
                  <a:lnTo>
                    <a:pt x="620116" y="231353"/>
                  </a:lnTo>
                  <a:lnTo>
                    <a:pt x="634470" y="207216"/>
                  </a:lnTo>
                  <a:lnTo>
                    <a:pt x="648824" y="183747"/>
                  </a:lnTo>
                  <a:lnTo>
                    <a:pt x="663169" y="161096"/>
                  </a:lnTo>
                  <a:lnTo>
                    <a:pt x="677523" y="139408"/>
                  </a:lnTo>
                  <a:lnTo>
                    <a:pt x="691877" y="118834"/>
                  </a:lnTo>
                  <a:lnTo>
                    <a:pt x="706222" y="99508"/>
                  </a:lnTo>
                  <a:lnTo>
                    <a:pt x="720576" y="81572"/>
                  </a:lnTo>
                  <a:lnTo>
                    <a:pt x="734930" y="65151"/>
                  </a:lnTo>
                  <a:lnTo>
                    <a:pt x="749275" y="50359"/>
                  </a:lnTo>
                  <a:lnTo>
                    <a:pt x="763629" y="37309"/>
                  </a:lnTo>
                  <a:lnTo>
                    <a:pt x="777983" y="26089"/>
                  </a:lnTo>
                  <a:lnTo>
                    <a:pt x="792328" y="16793"/>
                  </a:lnTo>
                  <a:lnTo>
                    <a:pt x="806682" y="9496"/>
                  </a:lnTo>
                  <a:lnTo>
                    <a:pt x="821036" y="4239"/>
                  </a:lnTo>
                  <a:lnTo>
                    <a:pt x="835381" y="1067"/>
                  </a:lnTo>
                  <a:lnTo>
                    <a:pt x="849735" y="0"/>
                  </a:lnTo>
                  <a:lnTo>
                    <a:pt x="864089" y="1067"/>
                  </a:lnTo>
                  <a:lnTo>
                    <a:pt x="878434" y="4239"/>
                  </a:lnTo>
                  <a:lnTo>
                    <a:pt x="892788" y="9496"/>
                  </a:lnTo>
                  <a:lnTo>
                    <a:pt x="907142" y="16793"/>
                  </a:lnTo>
                  <a:lnTo>
                    <a:pt x="921487" y="26089"/>
                  </a:lnTo>
                  <a:lnTo>
                    <a:pt x="935841" y="37309"/>
                  </a:lnTo>
                  <a:lnTo>
                    <a:pt x="950195" y="50359"/>
                  </a:lnTo>
                  <a:lnTo>
                    <a:pt x="964540" y="65151"/>
                  </a:lnTo>
                  <a:lnTo>
                    <a:pt x="978894" y="81572"/>
                  </a:lnTo>
                  <a:lnTo>
                    <a:pt x="993248" y="99508"/>
                  </a:lnTo>
                  <a:lnTo>
                    <a:pt x="1007593" y="118834"/>
                  </a:lnTo>
                  <a:lnTo>
                    <a:pt x="1021947" y="139408"/>
                  </a:lnTo>
                  <a:lnTo>
                    <a:pt x="1036301" y="161096"/>
                  </a:lnTo>
                  <a:lnTo>
                    <a:pt x="1050646" y="183747"/>
                  </a:lnTo>
                  <a:lnTo>
                    <a:pt x="1065000" y="207216"/>
                  </a:lnTo>
                  <a:lnTo>
                    <a:pt x="1079354" y="231353"/>
                  </a:lnTo>
                  <a:lnTo>
                    <a:pt x="1093699" y="256022"/>
                  </a:lnTo>
                  <a:lnTo>
                    <a:pt x="1108053" y="281064"/>
                  </a:lnTo>
                  <a:lnTo>
                    <a:pt x="1122407" y="306343"/>
                  </a:lnTo>
                  <a:lnTo>
                    <a:pt x="1136752" y="331718"/>
                  </a:lnTo>
                  <a:lnTo>
                    <a:pt x="1151106" y="357064"/>
                  </a:lnTo>
                  <a:lnTo>
                    <a:pt x="1165460" y="382248"/>
                  </a:lnTo>
                  <a:lnTo>
                    <a:pt x="1179805" y="407156"/>
                  </a:lnTo>
                  <a:lnTo>
                    <a:pt x="1194159" y="431683"/>
                  </a:lnTo>
                  <a:lnTo>
                    <a:pt x="1208513" y="455724"/>
                  </a:lnTo>
                  <a:lnTo>
                    <a:pt x="1222858" y="479193"/>
                  </a:lnTo>
                  <a:lnTo>
                    <a:pt x="1237212" y="502006"/>
                  </a:lnTo>
                  <a:lnTo>
                    <a:pt x="1251566" y="524094"/>
                  </a:lnTo>
                  <a:lnTo>
                    <a:pt x="1265911" y="545392"/>
                  </a:lnTo>
                  <a:lnTo>
                    <a:pt x="1280265" y="565871"/>
                  </a:lnTo>
                  <a:lnTo>
                    <a:pt x="1294619" y="585464"/>
                  </a:lnTo>
                  <a:lnTo>
                    <a:pt x="1308964" y="604152"/>
                  </a:lnTo>
                  <a:lnTo>
                    <a:pt x="1323318" y="621916"/>
                  </a:lnTo>
                  <a:lnTo>
                    <a:pt x="1337672" y="638737"/>
                  </a:lnTo>
                  <a:lnTo>
                    <a:pt x="1352017" y="654615"/>
                  </a:lnTo>
                  <a:lnTo>
                    <a:pt x="1366371" y="669550"/>
                  </a:lnTo>
                  <a:lnTo>
                    <a:pt x="1380725" y="683552"/>
                  </a:lnTo>
                  <a:lnTo>
                    <a:pt x="1395070" y="696630"/>
                  </a:lnTo>
                  <a:lnTo>
                    <a:pt x="1409424" y="708812"/>
                  </a:lnTo>
                  <a:lnTo>
                    <a:pt x="1423778" y="720119"/>
                  </a:lnTo>
                  <a:lnTo>
                    <a:pt x="1438123" y="730587"/>
                  </a:lnTo>
                  <a:lnTo>
                    <a:pt x="1452477" y="740235"/>
                  </a:lnTo>
                  <a:lnTo>
                    <a:pt x="1466831" y="749103"/>
                  </a:lnTo>
                  <a:lnTo>
                    <a:pt x="1481176" y="757238"/>
                  </a:lnTo>
                  <a:lnTo>
                    <a:pt x="1495530" y="764667"/>
                  </a:lnTo>
                  <a:lnTo>
                    <a:pt x="1509884" y="771439"/>
                  </a:lnTo>
                  <a:lnTo>
                    <a:pt x="1524229" y="777583"/>
                  </a:lnTo>
                  <a:lnTo>
                    <a:pt x="1538583" y="783155"/>
                  </a:lnTo>
                  <a:lnTo>
                    <a:pt x="1552937" y="788175"/>
                  </a:lnTo>
                  <a:lnTo>
                    <a:pt x="1567282" y="792699"/>
                  </a:lnTo>
                  <a:lnTo>
                    <a:pt x="1581636" y="796757"/>
                  </a:lnTo>
                  <a:lnTo>
                    <a:pt x="1595990" y="800386"/>
                  </a:lnTo>
                  <a:lnTo>
                    <a:pt x="1610335" y="803624"/>
                  </a:lnTo>
                  <a:lnTo>
                    <a:pt x="1624689" y="806510"/>
                  </a:lnTo>
                  <a:lnTo>
                    <a:pt x="1639043" y="809063"/>
                  </a:lnTo>
                  <a:lnTo>
                    <a:pt x="1653388" y="811320"/>
                  </a:lnTo>
                  <a:lnTo>
                    <a:pt x="1667742" y="813311"/>
                  </a:lnTo>
                  <a:lnTo>
                    <a:pt x="1682096" y="815064"/>
                  </a:lnTo>
                  <a:lnTo>
                    <a:pt x="1696441" y="816597"/>
                  </a:lnTo>
                  <a:lnTo>
                    <a:pt x="1699470" y="826075"/>
                  </a:lnTo>
                  <a:close/>
                </a:path>
              </a:pathLst>
            </a:custGeom>
            <a:solidFill>
              <a:srgbClr val="A9BBE4"/>
            </a:solidFill>
            <a:ln>
              <a:noFill/>
            </a:ln>
          </p:spPr>
        </p:sp>
        <p:sp>
          <p:nvSpPr>
            <p:cNvPr id="70" name="Freeform 70"/>
            <p:cNvSpPr/>
            <p:nvPr/>
          </p:nvSpPr>
          <p:spPr>
            <a:xfrm>
              <a:off x="6724650" y="4145975"/>
              <a:ext cx="2152650" cy="825475"/>
            </a:xfrm>
            <a:custGeom>
              <a:avLst/>
              <a:gdLst/>
              <a:ahLst/>
              <a:cxnLst/>
              <a:rect l="l" t="t" r="r" b="b"/>
              <a:pathLst>
                <a:path w="2152650" h="825475">
                  <a:moveTo>
                    <a:pt x="0" y="825475"/>
                  </a:moveTo>
                  <a:lnTo>
                    <a:pt x="14354" y="825341"/>
                  </a:lnTo>
                  <a:lnTo>
                    <a:pt x="28699" y="825189"/>
                  </a:lnTo>
                  <a:lnTo>
                    <a:pt x="43053" y="825008"/>
                  </a:lnTo>
                  <a:lnTo>
                    <a:pt x="57407" y="824798"/>
                  </a:lnTo>
                  <a:lnTo>
                    <a:pt x="71752" y="824541"/>
                  </a:lnTo>
                  <a:lnTo>
                    <a:pt x="86106" y="824246"/>
                  </a:lnTo>
                  <a:lnTo>
                    <a:pt x="100460" y="823893"/>
                  </a:lnTo>
                  <a:lnTo>
                    <a:pt x="114805" y="823474"/>
                  </a:lnTo>
                  <a:lnTo>
                    <a:pt x="129159" y="822989"/>
                  </a:lnTo>
                  <a:lnTo>
                    <a:pt x="143513" y="822427"/>
                  </a:lnTo>
                  <a:lnTo>
                    <a:pt x="157858" y="821769"/>
                  </a:lnTo>
                  <a:lnTo>
                    <a:pt x="172212" y="821007"/>
                  </a:lnTo>
                  <a:lnTo>
                    <a:pt x="186566" y="820131"/>
                  </a:lnTo>
                  <a:lnTo>
                    <a:pt x="200911" y="819112"/>
                  </a:lnTo>
                  <a:lnTo>
                    <a:pt x="215265" y="817940"/>
                  </a:lnTo>
                  <a:lnTo>
                    <a:pt x="229619" y="816597"/>
                  </a:lnTo>
                  <a:lnTo>
                    <a:pt x="243964" y="815064"/>
                  </a:lnTo>
                  <a:lnTo>
                    <a:pt x="258318" y="813311"/>
                  </a:lnTo>
                  <a:lnTo>
                    <a:pt x="272672" y="811320"/>
                  </a:lnTo>
                  <a:lnTo>
                    <a:pt x="287017" y="809063"/>
                  </a:lnTo>
                  <a:lnTo>
                    <a:pt x="301371" y="806510"/>
                  </a:lnTo>
                  <a:lnTo>
                    <a:pt x="315725" y="803624"/>
                  </a:lnTo>
                  <a:lnTo>
                    <a:pt x="330070" y="800386"/>
                  </a:lnTo>
                  <a:lnTo>
                    <a:pt x="344424" y="796757"/>
                  </a:lnTo>
                  <a:lnTo>
                    <a:pt x="358778" y="792699"/>
                  </a:lnTo>
                  <a:lnTo>
                    <a:pt x="373123" y="788175"/>
                  </a:lnTo>
                  <a:lnTo>
                    <a:pt x="387477" y="783155"/>
                  </a:lnTo>
                  <a:lnTo>
                    <a:pt x="401831" y="777583"/>
                  </a:lnTo>
                  <a:lnTo>
                    <a:pt x="416176" y="771439"/>
                  </a:lnTo>
                  <a:lnTo>
                    <a:pt x="430530" y="764667"/>
                  </a:lnTo>
                  <a:lnTo>
                    <a:pt x="444884" y="757238"/>
                  </a:lnTo>
                  <a:lnTo>
                    <a:pt x="459229" y="749103"/>
                  </a:lnTo>
                  <a:lnTo>
                    <a:pt x="473583" y="740235"/>
                  </a:lnTo>
                  <a:lnTo>
                    <a:pt x="487937" y="730587"/>
                  </a:lnTo>
                  <a:lnTo>
                    <a:pt x="502282" y="720119"/>
                  </a:lnTo>
                  <a:lnTo>
                    <a:pt x="516636" y="708812"/>
                  </a:lnTo>
                  <a:lnTo>
                    <a:pt x="530990" y="696630"/>
                  </a:lnTo>
                  <a:lnTo>
                    <a:pt x="545335" y="683552"/>
                  </a:lnTo>
                  <a:lnTo>
                    <a:pt x="559689" y="669550"/>
                  </a:lnTo>
                  <a:lnTo>
                    <a:pt x="574043" y="654615"/>
                  </a:lnTo>
                  <a:lnTo>
                    <a:pt x="588388" y="638737"/>
                  </a:lnTo>
                  <a:lnTo>
                    <a:pt x="602742" y="621916"/>
                  </a:lnTo>
                  <a:lnTo>
                    <a:pt x="617096" y="604152"/>
                  </a:lnTo>
                  <a:lnTo>
                    <a:pt x="631441" y="585464"/>
                  </a:lnTo>
                  <a:lnTo>
                    <a:pt x="645795" y="565871"/>
                  </a:lnTo>
                  <a:lnTo>
                    <a:pt x="660149" y="545392"/>
                  </a:lnTo>
                  <a:lnTo>
                    <a:pt x="674494" y="524094"/>
                  </a:lnTo>
                  <a:lnTo>
                    <a:pt x="688848" y="502006"/>
                  </a:lnTo>
                  <a:lnTo>
                    <a:pt x="703202" y="479193"/>
                  </a:lnTo>
                  <a:lnTo>
                    <a:pt x="717547" y="455724"/>
                  </a:lnTo>
                  <a:lnTo>
                    <a:pt x="731901" y="431683"/>
                  </a:lnTo>
                  <a:lnTo>
                    <a:pt x="746255" y="407156"/>
                  </a:lnTo>
                  <a:lnTo>
                    <a:pt x="760600" y="382248"/>
                  </a:lnTo>
                  <a:lnTo>
                    <a:pt x="774954" y="357064"/>
                  </a:lnTo>
                  <a:lnTo>
                    <a:pt x="789308" y="331718"/>
                  </a:lnTo>
                  <a:lnTo>
                    <a:pt x="803653" y="306343"/>
                  </a:lnTo>
                  <a:lnTo>
                    <a:pt x="818007" y="281064"/>
                  </a:lnTo>
                  <a:lnTo>
                    <a:pt x="832361" y="256022"/>
                  </a:lnTo>
                  <a:lnTo>
                    <a:pt x="846706" y="231353"/>
                  </a:lnTo>
                  <a:lnTo>
                    <a:pt x="861060" y="207216"/>
                  </a:lnTo>
                  <a:lnTo>
                    <a:pt x="875414" y="183747"/>
                  </a:lnTo>
                  <a:lnTo>
                    <a:pt x="889759" y="161096"/>
                  </a:lnTo>
                  <a:lnTo>
                    <a:pt x="904113" y="139408"/>
                  </a:lnTo>
                  <a:lnTo>
                    <a:pt x="918467" y="118834"/>
                  </a:lnTo>
                  <a:lnTo>
                    <a:pt x="932812" y="99508"/>
                  </a:lnTo>
                  <a:lnTo>
                    <a:pt x="947166" y="81572"/>
                  </a:lnTo>
                  <a:lnTo>
                    <a:pt x="961520" y="65151"/>
                  </a:lnTo>
                  <a:lnTo>
                    <a:pt x="975865" y="50359"/>
                  </a:lnTo>
                  <a:lnTo>
                    <a:pt x="990219" y="37309"/>
                  </a:lnTo>
                  <a:lnTo>
                    <a:pt x="1004573" y="26089"/>
                  </a:lnTo>
                  <a:lnTo>
                    <a:pt x="1018918" y="16793"/>
                  </a:lnTo>
                  <a:lnTo>
                    <a:pt x="1033272" y="9496"/>
                  </a:lnTo>
                  <a:lnTo>
                    <a:pt x="1047626" y="4239"/>
                  </a:lnTo>
                  <a:lnTo>
                    <a:pt x="1061971" y="1067"/>
                  </a:lnTo>
                  <a:lnTo>
                    <a:pt x="1076325" y="0"/>
                  </a:lnTo>
                  <a:lnTo>
                    <a:pt x="1090679" y="1067"/>
                  </a:lnTo>
                  <a:lnTo>
                    <a:pt x="1105024" y="4239"/>
                  </a:lnTo>
                  <a:lnTo>
                    <a:pt x="1119378" y="9496"/>
                  </a:lnTo>
                  <a:lnTo>
                    <a:pt x="1133732" y="16793"/>
                  </a:lnTo>
                  <a:lnTo>
                    <a:pt x="1148077" y="26089"/>
                  </a:lnTo>
                  <a:lnTo>
                    <a:pt x="1162431" y="37309"/>
                  </a:lnTo>
                  <a:lnTo>
                    <a:pt x="1176785" y="50359"/>
                  </a:lnTo>
                  <a:lnTo>
                    <a:pt x="1191130" y="65151"/>
                  </a:lnTo>
                  <a:lnTo>
                    <a:pt x="1205484" y="81572"/>
                  </a:lnTo>
                  <a:lnTo>
                    <a:pt x="1219838" y="99508"/>
                  </a:lnTo>
                  <a:lnTo>
                    <a:pt x="1234183" y="118834"/>
                  </a:lnTo>
                  <a:lnTo>
                    <a:pt x="1248537" y="139408"/>
                  </a:lnTo>
                  <a:lnTo>
                    <a:pt x="1262891" y="161096"/>
                  </a:lnTo>
                  <a:lnTo>
                    <a:pt x="1277236" y="183747"/>
                  </a:lnTo>
                  <a:lnTo>
                    <a:pt x="1291590" y="207216"/>
                  </a:lnTo>
                  <a:lnTo>
                    <a:pt x="1305944" y="231353"/>
                  </a:lnTo>
                  <a:lnTo>
                    <a:pt x="1320289" y="256022"/>
                  </a:lnTo>
                  <a:lnTo>
                    <a:pt x="1334643" y="281064"/>
                  </a:lnTo>
                  <a:lnTo>
                    <a:pt x="1348997" y="306343"/>
                  </a:lnTo>
                  <a:lnTo>
                    <a:pt x="1363342" y="331718"/>
                  </a:lnTo>
                  <a:lnTo>
                    <a:pt x="1377696" y="357064"/>
                  </a:lnTo>
                  <a:lnTo>
                    <a:pt x="1392050" y="382248"/>
                  </a:lnTo>
                  <a:lnTo>
                    <a:pt x="1406395" y="407156"/>
                  </a:lnTo>
                  <a:lnTo>
                    <a:pt x="1420749" y="431683"/>
                  </a:lnTo>
                  <a:lnTo>
                    <a:pt x="1435103" y="455724"/>
                  </a:lnTo>
                  <a:lnTo>
                    <a:pt x="1449448" y="479193"/>
                  </a:lnTo>
                  <a:lnTo>
                    <a:pt x="1463802" y="502006"/>
                  </a:lnTo>
                  <a:lnTo>
                    <a:pt x="1478156" y="524094"/>
                  </a:lnTo>
                  <a:lnTo>
                    <a:pt x="1492501" y="545392"/>
                  </a:lnTo>
                  <a:lnTo>
                    <a:pt x="1506855" y="565871"/>
                  </a:lnTo>
                  <a:lnTo>
                    <a:pt x="1521209" y="585464"/>
                  </a:lnTo>
                  <a:lnTo>
                    <a:pt x="1535554" y="604152"/>
                  </a:lnTo>
                  <a:lnTo>
                    <a:pt x="1549908" y="621916"/>
                  </a:lnTo>
                  <a:lnTo>
                    <a:pt x="1564262" y="638737"/>
                  </a:lnTo>
                  <a:lnTo>
                    <a:pt x="1578607" y="654615"/>
                  </a:lnTo>
                  <a:lnTo>
                    <a:pt x="1592961" y="669550"/>
                  </a:lnTo>
                  <a:lnTo>
                    <a:pt x="1607315" y="683552"/>
                  </a:lnTo>
                  <a:lnTo>
                    <a:pt x="1621660" y="696630"/>
                  </a:lnTo>
                  <a:lnTo>
                    <a:pt x="1636014" y="708812"/>
                  </a:lnTo>
                  <a:lnTo>
                    <a:pt x="1650368" y="720119"/>
                  </a:lnTo>
                  <a:lnTo>
                    <a:pt x="1664713" y="730587"/>
                  </a:lnTo>
                  <a:lnTo>
                    <a:pt x="1679067" y="740235"/>
                  </a:lnTo>
                  <a:lnTo>
                    <a:pt x="1693421" y="749103"/>
                  </a:lnTo>
                  <a:lnTo>
                    <a:pt x="1707766" y="757238"/>
                  </a:lnTo>
                  <a:lnTo>
                    <a:pt x="1722120" y="764667"/>
                  </a:lnTo>
                  <a:lnTo>
                    <a:pt x="1736474" y="771439"/>
                  </a:lnTo>
                  <a:lnTo>
                    <a:pt x="1750819" y="777583"/>
                  </a:lnTo>
                  <a:lnTo>
                    <a:pt x="1765173" y="783155"/>
                  </a:lnTo>
                  <a:lnTo>
                    <a:pt x="1779527" y="788175"/>
                  </a:lnTo>
                  <a:lnTo>
                    <a:pt x="1793872" y="792699"/>
                  </a:lnTo>
                  <a:lnTo>
                    <a:pt x="1808226" y="796757"/>
                  </a:lnTo>
                  <a:lnTo>
                    <a:pt x="1822580" y="800386"/>
                  </a:lnTo>
                  <a:lnTo>
                    <a:pt x="1836925" y="803624"/>
                  </a:lnTo>
                  <a:lnTo>
                    <a:pt x="1851279" y="806510"/>
                  </a:lnTo>
                  <a:lnTo>
                    <a:pt x="1865633" y="809063"/>
                  </a:lnTo>
                  <a:lnTo>
                    <a:pt x="1879978" y="811320"/>
                  </a:lnTo>
                  <a:lnTo>
                    <a:pt x="1894332" y="813311"/>
                  </a:lnTo>
                  <a:lnTo>
                    <a:pt x="1908686" y="815064"/>
                  </a:lnTo>
                  <a:lnTo>
                    <a:pt x="1923031" y="816597"/>
                  </a:lnTo>
                  <a:lnTo>
                    <a:pt x="1937385" y="817940"/>
                  </a:lnTo>
                  <a:lnTo>
                    <a:pt x="1951739" y="819112"/>
                  </a:lnTo>
                  <a:lnTo>
                    <a:pt x="1966084" y="820131"/>
                  </a:lnTo>
                  <a:lnTo>
                    <a:pt x="1980438" y="821007"/>
                  </a:lnTo>
                  <a:lnTo>
                    <a:pt x="1994792" y="821769"/>
                  </a:lnTo>
                  <a:lnTo>
                    <a:pt x="2009137" y="822427"/>
                  </a:lnTo>
                  <a:lnTo>
                    <a:pt x="2023491" y="822989"/>
                  </a:lnTo>
                  <a:lnTo>
                    <a:pt x="2037845" y="823474"/>
                  </a:lnTo>
                  <a:lnTo>
                    <a:pt x="2052190" y="823893"/>
                  </a:lnTo>
                  <a:lnTo>
                    <a:pt x="2066544" y="824246"/>
                  </a:lnTo>
                  <a:lnTo>
                    <a:pt x="2080898" y="824541"/>
                  </a:lnTo>
                  <a:lnTo>
                    <a:pt x="2095243" y="824798"/>
                  </a:lnTo>
                  <a:lnTo>
                    <a:pt x="2109597" y="825008"/>
                  </a:lnTo>
                  <a:lnTo>
                    <a:pt x="2123951" y="825189"/>
                  </a:lnTo>
                  <a:lnTo>
                    <a:pt x="2138296" y="825341"/>
                  </a:lnTo>
                  <a:lnTo>
                    <a:pt x="2152650" y="825475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71" name="Line 71"/>
            <p:cNvSpPr/>
            <p:nvPr/>
          </p:nvSpPr>
          <p:spPr>
            <a:xfrm>
              <a:off x="6667500" y="4972050"/>
              <a:ext cx="2257425" cy="9525"/>
            </a:xfrm>
            <a:custGeom>
              <a:avLst/>
              <a:gdLst/>
              <a:ahLst/>
              <a:cxnLst/>
              <a:rect l="l" t="t" r="r" b="b"/>
              <a:pathLst>
                <a:path w="2257425" h="9525">
                  <a:moveTo>
                    <a:pt x="0" y="0"/>
                  </a:moveTo>
                  <a:lnTo>
                    <a:pt x="2257425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72" name="Polygon 72"/>
            <p:cNvSpPr/>
            <p:nvPr/>
          </p:nvSpPr>
          <p:spPr>
            <a:xfrm>
              <a:off x="8924925" y="4942046"/>
              <a:ext cx="66675" cy="60007"/>
            </a:xfrm>
            <a:custGeom>
              <a:avLst/>
              <a:gdLst/>
              <a:ahLst/>
              <a:cxnLst/>
              <a:rect l="l" t="t" r="r" b="b"/>
              <a:pathLst>
                <a:path w="66675" h="60007">
                  <a:moveTo>
                    <a:pt x="66675" y="30004"/>
                  </a:moveTo>
                  <a:lnTo>
                    <a:pt x="0" y="60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73" name="Line 73"/>
            <p:cNvSpPr/>
            <p:nvPr/>
          </p:nvSpPr>
          <p:spPr>
            <a:xfrm>
              <a:off x="6724650" y="3990975"/>
              <a:ext cx="9525" cy="1038225"/>
            </a:xfrm>
            <a:custGeom>
              <a:avLst/>
              <a:gdLst/>
              <a:ahLst/>
              <a:cxnLst/>
              <a:rect l="l" t="t" r="r" b="b"/>
              <a:pathLst>
                <a:path w="9525" h="1038225">
                  <a:moveTo>
                    <a:pt x="0" y="103822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74" name="Polygon 74"/>
            <p:cNvSpPr/>
            <p:nvPr/>
          </p:nvSpPr>
          <p:spPr>
            <a:xfrm>
              <a:off x="6694646" y="3924300"/>
              <a:ext cx="60007" cy="66675"/>
            </a:xfrm>
            <a:custGeom>
              <a:avLst/>
              <a:gdLst/>
              <a:ahLst/>
              <a:cxnLst/>
              <a:rect l="l" t="t" r="r" b="b"/>
              <a:pathLst>
                <a:path w="60007" h="66675">
                  <a:moveTo>
                    <a:pt x="30004" y="0"/>
                  </a:moveTo>
                  <a:lnTo>
                    <a:pt x="60007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9024366" y="50111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572174" y="5028724"/>
              <a:ext cx="1144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77" name="Line 77"/>
            <p:cNvSpPr/>
            <p:nvPr/>
          </p:nvSpPr>
          <p:spPr>
            <a:xfrm>
              <a:off x="6951240" y="49720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801167" y="5047774"/>
              <a:ext cx="3001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μ−3σ</a:t>
              </a:r>
            </a:p>
          </p:txBody>
        </p:sp>
        <p:sp>
          <p:nvSpPr>
            <p:cNvPr id="79" name="Line 79"/>
            <p:cNvSpPr/>
            <p:nvPr/>
          </p:nvSpPr>
          <p:spPr>
            <a:xfrm>
              <a:off x="7800975" y="49720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759742" y="50477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μ</a:t>
              </a:r>
            </a:p>
          </p:txBody>
        </p:sp>
        <p:sp>
          <p:nvSpPr>
            <p:cNvPr id="81" name="Line 81"/>
            <p:cNvSpPr/>
            <p:nvPr/>
          </p:nvSpPr>
          <p:spPr>
            <a:xfrm>
              <a:off x="8650710" y="49720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8500636" y="5047774"/>
              <a:ext cx="3001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μ+3σ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560270" y="4510735"/>
              <a:ext cx="481410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0.9973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271635" y="2507456"/>
              <a:ext cx="1590294" cy="15344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三条查表用的性质：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Φ(0) = 0.5；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Φ(−x) = 1 − Φ(x)；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P{|X| ≤ a} = 2Φ(a) − 1。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一般正态先标准化：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X 换成 (X − μ)/σ，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再查同一张表。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6324600" y="5372100"/>
              <a:ext cx="5143500" cy="742950"/>
            </a:xfrm>
            <a:prstGeom prst="roundRect">
              <a:avLst>
                <a:gd name="adj" fmla="val 128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6" name="Rectangle 86"/>
            <p:cNvSpPr/>
            <p:nvPr/>
          </p:nvSpPr>
          <p:spPr>
            <a:xfrm>
              <a:off x="6334125" y="5476875"/>
              <a:ext cx="47625" cy="5334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6496050" y="5476875"/>
              <a:ext cx="691324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591134" y="5530215"/>
              <a:ext cx="5011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3σ 原理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490526" y="5788104"/>
              <a:ext cx="4247007" cy="412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落在 (μ − 3σ, μ + 3σ) 外的概率只有 0.0027，实际中近乎不发生。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工业上的控制图就按这条线判断生产是否失控。</a:t>
              </a:r>
            </a:p>
          </p:txBody>
        </p:sp>
      </p:grpSp>
      <p:grpSp>
        <p:nvGrpSpPr>
          <p:cNvPr id="9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1" name="TextBox 91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随机变量 · 几种常用的连续型随机变量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标准正态分布与查表要用的三条性质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1884045"/>
            <a:chOff x="533400" y="1524000"/>
            <a:chExt cx="5410200" cy="18840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884045"/>
            </a:xfrm>
            <a:prstGeom prst="roundRect">
              <a:avLst>
                <a:gd name="adj" fmla="val 70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1734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21005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标准正态分布 N(0, 1)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6920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N(μ, σ²) 中取 μ = 0、σ = 1 就得到标准正态分布，密度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与分布函数分别记作 φ(x) 和 Φ(x)：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218"/>
                <p:cNvSpPr txBox="1">
                  <a:spLocks noGrp="1"/>
                </p:cNvSpPr>
                <p:nvPr/>
              </p:nvSpPr>
              <p:spPr>
                <a:xfrm>
                  <a:off x="781050" y="2726055"/>
                  <a:ext cx="4953000" cy="4533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φ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2π</m:t>
                                </m:r>
                              </m:e>
                            </m:rad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Φ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−∞</m:t>
                            </m:r>
                          </m:sub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2π</m:t>
                                    </m:r>
                                  </m:e>
                                </m:rad>
                              </m:den>
                            </m:f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sSup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t</m:t>
                                        </m:r>
                                      </m:e>
                                      <m:sup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2" name="c1-card-2"/>
          <p:cNvGrpSpPr/>
          <p:nvPr/>
        </p:nvGrpSpPr>
        <p:grpSpPr>
          <a:xfrm>
            <a:off x="533400" y="3598545"/>
            <a:ext cx="5410200" cy="2039302"/>
            <a:chOff x="533400" y="3598545"/>
            <a:chExt cx="5410200" cy="2039302"/>
          </a:xfrm>
        </p:grpSpPr>
        <p:sp>
          <p:nvSpPr>
            <p:cNvPr id="15" name="Rectangle 15"/>
            <p:cNvSpPr/>
            <p:nvPr/>
          </p:nvSpPr>
          <p:spPr>
            <a:xfrm>
              <a:off x="533400" y="3598545"/>
              <a:ext cx="5410200" cy="2039302"/>
            </a:xfrm>
            <a:prstGeom prst="roundRect">
              <a:avLst>
                <a:gd name="adj" fmla="val 65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731895"/>
              <a:ext cx="47625" cy="177260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81050" y="380809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1258" y="38438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82078" y="3843338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查表时反复用到的三条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formula219"/>
                <p:cNvSpPr txBox="1">
                  <a:spLocks noGrp="1"/>
                </p:cNvSpPr>
                <p:nvPr/>
              </p:nvSpPr>
              <p:spPr>
                <a:xfrm>
                  <a:off x="781050" y="4179570"/>
                  <a:ext cx="4953000" cy="4371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Φ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Φ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−Φ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sepChr m:val=""/>
                                <m:endChr m:val="|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Φ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1" name="TextBox 21"/>
            <p:cNvSpPr txBox="1"/>
            <p:nvPr/>
          </p:nvSpPr>
          <p:spPr>
            <a:xfrm>
              <a:off x="773430" y="4736782"/>
              <a:ext cx="38020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由第三条还可得 P{|X| &gt; a} = 2 − 2Φ(a)。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631632"/>
            <a:chOff x="6248400" y="1524000"/>
            <a:chExt cx="5410200" cy="1631632"/>
          </a:xfrm>
        </p:grpSpPr>
        <p:sp>
          <p:nvSpPr>
            <p:cNvPr id="23" name="Rectangle 23"/>
            <p:cNvSpPr/>
            <p:nvPr/>
          </p:nvSpPr>
          <p:spPr>
            <a:xfrm>
              <a:off x="6248400" y="1524000"/>
              <a:ext cx="5410200" cy="1631632"/>
            </a:xfrm>
            <a:prstGeom prst="roundRect">
              <a:avLst>
                <a:gd name="adj" fmla="val 81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57925" y="1657350"/>
              <a:ext cx="47625" cy="136493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96050" y="1733550"/>
              <a:ext cx="51625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86003" y="1769269"/>
              <a:ext cx="336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例19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18985" y="1768792"/>
              <a:ext cx="35224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 ~ N(0, 1)，计算 P{|X| &gt; 1.96}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88430" y="2129790"/>
              <a:ext cx="44919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P{|X| &gt; 1.96} = 1 − P{|X| ≤ 1.96} = 2[1 − Φ(1.96)]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= 2(1 − 0.975) =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0.05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89573" y="2747486"/>
              <a:ext cx="49411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这个 0.05 与 1.96 的搭配在假设检验里会反复出现，值得记住。</a:t>
              </a:r>
            </a:p>
          </p:txBody>
        </p:sp>
      </p:grpSp>
      <p:grpSp>
        <p:nvGrpSpPr>
          <p:cNvPr id="41" name="c2-card-2"/>
          <p:cNvGrpSpPr/>
          <p:nvPr/>
        </p:nvGrpSpPr>
        <p:grpSpPr>
          <a:xfrm>
            <a:off x="6248400" y="3346132"/>
            <a:ext cx="5410200" cy="2291715"/>
            <a:chOff x="6248400" y="3346132"/>
            <a:chExt cx="5410200" cy="2291715"/>
          </a:xfrm>
        </p:grpSpPr>
        <p:sp>
          <p:nvSpPr>
            <p:cNvPr id="31" name="Rectangle 31"/>
            <p:cNvSpPr/>
            <p:nvPr/>
          </p:nvSpPr>
          <p:spPr>
            <a:xfrm>
              <a:off x="6248400" y="3346132"/>
              <a:ext cx="5410200" cy="2291715"/>
            </a:xfrm>
            <a:prstGeom prst="roundRect">
              <a:avLst>
                <a:gd name="adj" fmla="val 58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57925" y="3479482"/>
              <a:ext cx="47625" cy="202501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96050" y="355568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86258" y="35914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97078" y="3590925"/>
              <a:ext cx="10667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 α 分位点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88430" y="3951922"/>
              <a:ext cx="46824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 ~ N(0, 1)，给定 0 &lt; α &lt; 1。若点 uα 满足 P{X 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uα} = α，即 Φ(uα) = 1 − α，就称 uα 为标准正态分布的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 α 分位点。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501765" y="4921568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59880" y="4858702"/>
              <a:ext cx="20951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由对称性有 u₁₋α = −uα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501765" y="5256848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59880" y="5193982"/>
              <a:ext cx="3912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常用数据：u₀.₀₅ = 1.645，u₀.₀₂₅ = 1.96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2" name="Rectangle 4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130" y="5991225"/>
              <a:ext cx="105165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表上只印 x ≥ 0 的 Φ 值。遇到 Φ(−1.2) 必须用 Φ(−x) = 1 − Φ(x) 换成 1 − Φ(1.2)，直接去表里找负数是找不到的。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随机变量 · 几种常用的连续型随机变量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标准化：任何正态分布都能换成同一张表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4977765" cy="2426970"/>
            <a:chOff x="533400" y="1524000"/>
            <a:chExt cx="4977765" cy="24269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426970"/>
            </a:xfrm>
            <a:prstGeom prst="roundRect">
              <a:avLst>
                <a:gd name="adj" fmla="val 54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16027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一般正态与标准正态的关系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17968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X ~ N(μ, σ²)，则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224"/>
                <p:cNvSpPr txBox="1">
                  <a:spLocks noGrp="1"/>
                </p:cNvSpPr>
                <p:nvPr/>
              </p:nvSpPr>
              <p:spPr>
                <a:xfrm>
                  <a:off x="775335" y="2415540"/>
                  <a:ext cx="4531995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Y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μ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=Φ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​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μ</m:t>
                                </m:r>
                              </m:num>
                              <m:den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68096" y="299513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于是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225"/>
                <p:cNvSpPr txBox="1">
                  <a:spLocks noGrp="1"/>
                </p:cNvSpPr>
                <p:nvPr/>
              </p:nvSpPr>
              <p:spPr>
                <a:xfrm>
                  <a:off x="775335" y="3290888"/>
                  <a:ext cx="4531995" cy="4371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&lt;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&lt;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=Φ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​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μ</m:t>
                                </m:r>
                              </m:num>
                              <m:den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−Φ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​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μ</m:t>
                                </m:r>
                              </m:num>
                              <m:den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2" name="c1-callout-2"/>
          <p:cNvGrpSpPr/>
          <p:nvPr/>
        </p:nvGrpSpPr>
        <p:grpSpPr>
          <a:xfrm>
            <a:off x="533400" y="4135755"/>
            <a:ext cx="4977765" cy="1445895"/>
            <a:chOff x="533400" y="4135755"/>
            <a:chExt cx="4977765" cy="1445895"/>
          </a:xfrm>
        </p:grpSpPr>
        <p:sp>
          <p:nvSpPr>
            <p:cNvPr id="17" name="Rectangle 17"/>
            <p:cNvSpPr/>
            <p:nvPr/>
          </p:nvSpPr>
          <p:spPr>
            <a:xfrm>
              <a:off x="533400" y="4135755"/>
              <a:ext cx="4977765" cy="1445895"/>
            </a:xfrm>
            <a:prstGeom prst="roundRect">
              <a:avLst>
                <a:gd name="adj" fmla="val 7905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38188" y="4758692"/>
              <a:ext cx="200023" cy="200023"/>
              <a:chOff x="738188" y="4758692"/>
              <a:chExt cx="200023" cy="200023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38188" y="475869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71538" y="482536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40511" y="4628674"/>
              <a:ext cx="3972941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标准化就是量一量“离中心差了几个 σ”。算出来的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(x − μ)/σ 叫标准分，它才是查表的入口。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5815965" y="1524000"/>
            <a:ext cx="5844184" cy="3116580"/>
            <a:chOff x="5815965" y="1524000"/>
            <a:chExt cx="5844184" cy="3116580"/>
          </a:xfrm>
        </p:grpSpPr>
        <p:sp>
          <p:nvSpPr>
            <p:cNvPr id="23" name="Rectangle 23"/>
            <p:cNvSpPr/>
            <p:nvPr/>
          </p:nvSpPr>
          <p:spPr>
            <a:xfrm>
              <a:off x="5815965" y="1524000"/>
              <a:ext cx="5842635" cy="3116580"/>
            </a:xfrm>
            <a:prstGeom prst="roundRect">
              <a:avLst>
                <a:gd name="adj" fmla="val 42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825490" y="1657350"/>
              <a:ext cx="47625" cy="284988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057900" y="1727835"/>
              <a:ext cx="51625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147853" y="1763554"/>
              <a:ext cx="336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例20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80264" y="1767364"/>
              <a:ext cx="25402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 ~ N(1, 4)，求四个概率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50661" y="2119789"/>
              <a:ext cx="325464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这里 μ = 1，σ = 2（注意 4 是方差）。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057900" y="2426970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116245" y="246730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47841" y="2439829"/>
              <a:ext cx="438772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l-GR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P{X &gt; 0} = 1 − Φ((0−1)/2) = 1 − Φ(−0.5) = Φ(0.5) =</a:t>
              </a:r>
              <a:br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0.6915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057900" y="3018472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16245" y="305881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47841" y="3031331"/>
              <a:ext cx="469430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l-GR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P{−1 &lt; X &lt; 2} = Φ(0.5) − Φ(−1) = 0.6915 − 1 + 0.8413 =</a:t>
              </a:r>
              <a:br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0.5328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057900" y="3609975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116245" y="365031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47841" y="3622834"/>
              <a:ext cx="451396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l-GR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P{|X − 2| &lt; 1} = P{1 &lt; X &lt; 3} = Φ(1) − Φ(0) = 0.8413 −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0.5 =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0.3413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057900" y="4201478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116245" y="424181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47841" y="4214336"/>
              <a:ext cx="53123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P{|X − 1| ≥ 1} = 2[1 − Φ(0.5)] = 2(1 − 0.6915) =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0.6170</a:t>
              </a:r>
            </a:p>
          </p:txBody>
        </p:sp>
      </p:grpSp>
      <p:grpSp>
        <p:nvGrpSpPr>
          <p:cNvPr id="47" name="c2-callout-2"/>
          <p:cNvGrpSpPr/>
          <p:nvPr/>
        </p:nvGrpSpPr>
        <p:grpSpPr>
          <a:xfrm>
            <a:off x="5815965" y="4825365"/>
            <a:ext cx="5842635" cy="756285"/>
            <a:chOff x="5815965" y="4825365"/>
            <a:chExt cx="5842635" cy="756285"/>
          </a:xfrm>
        </p:grpSpPr>
        <p:sp>
          <p:nvSpPr>
            <p:cNvPr id="42" name="Rectangle 42"/>
            <p:cNvSpPr/>
            <p:nvPr/>
          </p:nvSpPr>
          <p:spPr>
            <a:xfrm>
              <a:off x="5815965" y="4825365"/>
              <a:ext cx="5842635" cy="756285"/>
            </a:xfrm>
            <a:prstGeom prst="roundRect">
              <a:avLst>
                <a:gd name="adj" fmla="val 15113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6020753" y="5103495"/>
              <a:ext cx="200026" cy="200026"/>
              <a:chOff x="6020753" y="5103495"/>
              <a:chExt cx="200026" cy="200026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020753" y="51034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087428" y="518128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6323076" y="4973479"/>
              <a:ext cx="488365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 4 问里 |X − 1| 正好是 |X − μ|，标准化后变成 |Y| ≥ 0.5，可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以直接用对称性一步算完。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8" name="Rectangle 48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511" y="6004084"/>
              <a:ext cx="98428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N(1, 4) 的 σ 是 2 不是 4。写成 N(50, 100) 时 σ = 10，写成 N(300, 35²) 时 σ = 35。括号里第二位永远是方差。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85051" cy="909257"/>
            <a:chOff x="520446" y="342900"/>
            <a:chExt cx="488505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随机变量 · 几种常用的连续型随机变量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850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例21：时间紧的时候该走哪条路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115546" cy="278702"/>
            <a:chOff x="526161" y="1547336"/>
            <a:chExt cx="7115546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1155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第一条路穿市区，所需时间服从 N(50, 100)；第二条走环城路，服从 N(60, 16)。</a:t>
              </a:r>
            </a:p>
          </p:txBody>
        </p:sp>
      </p:grpSp>
      <p:grpSp>
        <p:nvGrpSpPr>
          <p:cNvPr id="16" name="c1-card-1"/>
          <p:cNvGrpSpPr/>
          <p:nvPr/>
        </p:nvGrpSpPr>
        <p:grpSpPr>
          <a:xfrm>
            <a:off x="533400" y="1941195"/>
            <a:ext cx="4760595" cy="2024062"/>
            <a:chOff x="533400" y="1941195"/>
            <a:chExt cx="4760595" cy="2024062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4760595" cy="2024062"/>
            </a:xfrm>
            <a:prstGeom prst="roundRect">
              <a:avLst>
                <a:gd name="adj" fmla="val 658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74545"/>
              <a:ext cx="47625" cy="17573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3905" y="2133600"/>
              <a:ext cx="497205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4868" y="2167890"/>
              <a:ext cx="3152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例21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7047" y="2490788"/>
              <a:ext cx="4054792" cy="4954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22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分别在有 70 分钟和有 65 分钟的情况下，应该走哪条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8190" y="3037999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原课件只给题面没有解答，这里补全。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7047" y="3305175"/>
              <a:ext cx="405993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第一条路 μ₁ = 50、σ₁ = 10，第二条路 μ₂ = 60、σ₂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4。判断标准是“在规定时间内赶到的概率哪个大”。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4141470"/>
            <a:ext cx="4760595" cy="1473518"/>
            <a:chOff x="533400" y="4141470"/>
            <a:chExt cx="4760595" cy="1473518"/>
          </a:xfrm>
        </p:grpSpPr>
        <p:sp>
          <p:nvSpPr>
            <p:cNvPr id="17" name="Rectangle 17"/>
            <p:cNvSpPr/>
            <p:nvPr/>
          </p:nvSpPr>
          <p:spPr>
            <a:xfrm>
              <a:off x="533400" y="4141470"/>
              <a:ext cx="4760595" cy="1473518"/>
            </a:xfrm>
            <a:prstGeom prst="roundRect">
              <a:avLst>
                <a:gd name="adj" fmla="val 90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4274820"/>
              <a:ext cx="47625" cy="120681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63905" y="433387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55345" y="436816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7047" y="4690110"/>
              <a:ext cx="408565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把“赶得上”写成 {T ≤ t}，两条路各标准化查一次表，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比大小即可。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8190" y="5245894"/>
              <a:ext cx="44065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第二条路平均时间更长，但 σ 小得多，时间越紧它的优势越明显。</a:t>
              </a:r>
            </a:p>
          </p:txBody>
        </p:sp>
      </p:grpSp>
      <p:grpSp>
        <p:nvGrpSpPr>
          <p:cNvPr id="46" name="c2-table-1"/>
          <p:cNvGrpSpPr/>
          <p:nvPr/>
        </p:nvGrpSpPr>
        <p:grpSpPr>
          <a:xfrm>
            <a:off x="5593461" y="1941195"/>
            <a:ext cx="6065139" cy="1497902"/>
            <a:chOff x="5593461" y="1941195"/>
            <a:chExt cx="6065139" cy="1497902"/>
          </a:xfrm>
        </p:grpSpPr>
        <p:sp>
          <p:nvSpPr>
            <p:cNvPr id="24" name="Rectangle 24"/>
            <p:cNvSpPr/>
            <p:nvPr/>
          </p:nvSpPr>
          <p:spPr>
            <a:xfrm>
              <a:off x="5598795" y="1941195"/>
              <a:ext cx="6059805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776354" y="2065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可用时间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05675" y="2065496"/>
              <a:ext cx="15429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第一条路 N(50, 100)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569998" y="2065496"/>
              <a:ext cx="14508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第二条路 N(60, 16)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24579" y="2065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该走哪条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840433" y="2471261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 min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41708" y="2471261"/>
              <a:ext cx="10708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Φ(2) = 0.9772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672411" y="2471261"/>
              <a:ext cx="12460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Φ(2.5) = 0.9938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0213658" y="2356485"/>
              <a:ext cx="1435418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699966" y="247126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第二条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598795" y="27479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598795" y="2752725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840433" y="2877026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 min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54088" y="2877026"/>
              <a:ext cx="12460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Φ(1.5) = 0.9332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628601" y="2877026"/>
              <a:ext cx="1333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Φ(1.25) = 0.8944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0213658" y="2762250"/>
              <a:ext cx="1435418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699966" y="287702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第一条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598795" y="1941195"/>
              <a:ext cx="6059805" cy="1217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563678" y="1941195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8382000" y="1941195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10199370" y="1941195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593461" y="3233738"/>
              <a:ext cx="47883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两行的标准分分别是 (70−50)/10、(70−60)/4 与 (65−50)/10、(65−60)/4</a:t>
              </a:r>
            </a:p>
          </p:txBody>
        </p:sp>
      </p:grpSp>
      <p:grpSp>
        <p:nvGrpSpPr>
          <p:cNvPr id="56" name="c2-steps-2"/>
          <p:cNvGrpSpPr/>
          <p:nvPr/>
        </p:nvGrpSpPr>
        <p:grpSpPr>
          <a:xfrm>
            <a:off x="5598795" y="3582352"/>
            <a:ext cx="5579024" cy="1106330"/>
            <a:chOff x="5598795" y="3582352"/>
            <a:chExt cx="5579024" cy="1106330"/>
          </a:xfrm>
        </p:grpSpPr>
        <p:sp>
          <p:nvSpPr>
            <p:cNvPr id="47" name="Rectangle 47"/>
            <p:cNvSpPr/>
            <p:nvPr/>
          </p:nvSpPr>
          <p:spPr>
            <a:xfrm>
              <a:off x="5732145" y="3725228"/>
              <a:ext cx="19050" cy="5867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5598795" y="358235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692419" y="36561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5598795" y="416909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692419" y="42429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011037" y="3613785"/>
              <a:ext cx="8833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 70 分钟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012180" y="3880961"/>
              <a:ext cx="49027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第一条 P = Φ(2) = 0.9772，第二条 P = Φ(2.5) = 0.9938，第二条更稳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011037" y="4200525"/>
              <a:ext cx="8833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 65 分钟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012180" y="4468654"/>
              <a:ext cx="51656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第一条 P = Φ(1.5) = 0.9332，第二条 P = Φ(1.25) = 0.8944，改走第一条</a:t>
              </a:r>
            </a:p>
          </p:txBody>
        </p:sp>
      </p:grpSp>
      <p:grpSp>
        <p:nvGrpSpPr>
          <p:cNvPr id="62" name="c2-callout-3"/>
          <p:cNvGrpSpPr/>
          <p:nvPr/>
        </p:nvGrpSpPr>
        <p:grpSpPr>
          <a:xfrm>
            <a:off x="5598795" y="4856798"/>
            <a:ext cx="6059805" cy="757238"/>
            <a:chOff x="5598795" y="4856798"/>
            <a:chExt cx="6059805" cy="757238"/>
          </a:xfrm>
        </p:grpSpPr>
        <p:sp>
          <p:nvSpPr>
            <p:cNvPr id="57" name="Rectangle 57"/>
            <p:cNvSpPr/>
            <p:nvPr/>
          </p:nvSpPr>
          <p:spPr>
            <a:xfrm>
              <a:off x="5598795" y="4856798"/>
              <a:ext cx="6059805" cy="757238"/>
            </a:xfrm>
            <a:prstGeom prst="roundRect">
              <a:avLst>
                <a:gd name="adj" fmla="val 15094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5803583" y="5135880"/>
              <a:ext cx="200026" cy="200026"/>
              <a:chOff x="5803583" y="5135880"/>
              <a:chExt cx="200026" cy="200026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5803583" y="51358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5870258" y="521366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6106287" y="5016818"/>
              <a:ext cx="51572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时间宽裕（70 min）走环城路，时间紧张（65 min）走市区路。四个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概率已用脚本复核。</a:t>
              </a:r>
            </a:p>
          </p:txBody>
        </p:sp>
      </p:grpSp>
      <p:grpSp>
        <p:nvGrpSpPr>
          <p:cNvPr id="6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3" name="Rectangle 6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40892" y="6023610"/>
              <a:ext cx="105572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时间充裕时比的是谁更少出意外，方差小的胜；时间紧张时比的是谁跑得快，均值小的胜。临界点在两个 Φ 相等处，约 66.7 分钟。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85051" cy="909257"/>
            <a:chOff x="520446" y="342900"/>
            <a:chExt cx="488505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随机变量 · 几种常用的连续型随机变量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850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例22：反过来由概率求区间半径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760595" cy="1747838"/>
            <a:chOff x="533400" y="1524000"/>
            <a:chExt cx="4760595" cy="17478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747838"/>
            </a:xfrm>
            <a:prstGeom prst="roundRect">
              <a:avLst>
                <a:gd name="adj" fmla="val 76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811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97205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4868" y="1750695"/>
              <a:ext cx="3152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例22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68552" y="1756410"/>
              <a:ext cx="23133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电池寿命 X ~ N(300, 35²)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41285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 求寿命在 250 h 以上的概率；(2) 求一个最小正整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 x，使 X 落在 (300 − x, 300 + x) 内的概率不小于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0.901。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8190" y="2903696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原课件只给题面没有解答，这里补全。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447098"/>
            <a:ext cx="4760595" cy="1852612"/>
            <a:chOff x="533400" y="3447098"/>
            <a:chExt cx="4760595" cy="1852612"/>
          </a:xfrm>
        </p:grpSpPr>
        <p:sp>
          <p:nvSpPr>
            <p:cNvPr id="15" name="Rectangle 15"/>
            <p:cNvSpPr/>
            <p:nvPr/>
          </p:nvSpPr>
          <p:spPr>
            <a:xfrm>
              <a:off x="533400" y="3447098"/>
              <a:ext cx="4760595" cy="1852612"/>
            </a:xfrm>
            <a:prstGeom prst="roundRect">
              <a:avLst>
                <a:gd name="adj" fmla="val 71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580448"/>
              <a:ext cx="47625" cy="158591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3905" y="363950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5345" y="367379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7047" y="3995738"/>
              <a:ext cx="404279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(1) 问是正着查表；第 (2) 问是反着查表：先把概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率化成 2Φ(x/35) − 1，再由 Φ 的值回头找自变量。</a:t>
              </a:r>
            </a:p>
          </p:txBody>
        </p:sp>
      </p:grpSp>
      <p:grpSp>
        <p:nvGrpSpPr>
          <p:cNvPr id="42" name="c2-steps-1"/>
          <p:cNvGrpSpPr/>
          <p:nvPr/>
        </p:nvGrpSpPr>
        <p:grpSpPr>
          <a:xfrm>
            <a:off x="5598795" y="1533525"/>
            <a:ext cx="5036805" cy="2867502"/>
            <a:chOff x="5598795" y="1533525"/>
            <a:chExt cx="5036805" cy="2867502"/>
          </a:xfrm>
        </p:grpSpPr>
        <p:sp>
          <p:nvSpPr>
            <p:cNvPr id="21" name="Rectangle 21"/>
            <p:cNvSpPr/>
            <p:nvPr/>
          </p:nvSpPr>
          <p:spPr>
            <a:xfrm>
              <a:off x="5732145" y="1676400"/>
              <a:ext cx="19050" cy="23479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5598795" y="21202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692419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598795" y="270700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692419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598795" y="329469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692419" y="33685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5598795" y="388143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692419" y="3955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11037" y="1564957"/>
              <a:ext cx="13517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(1) 问标准化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12180" y="1833086"/>
              <a:ext cx="46234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P{X &gt; 250} = 1 − Φ((250 − 300)/35) = 1 − Φ(−1.43) = Φ(1.43)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11037" y="215265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查表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12180" y="2419826"/>
              <a:ext cx="3648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Φ(1.43) = 0.9236，即约 92.4% 的电池能用过 250 h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011037" y="2739390"/>
              <a:ext cx="18969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(2) 问化成对称区间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012180" y="3006566"/>
              <a:ext cx="2887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P{|X − 300| &lt; x} = 2Φ(x/35) − 1 ≥ 0.901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011037" y="3326130"/>
              <a:ext cx="1154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解出 Φ 的门槛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012180" y="3593306"/>
              <a:ext cx="29341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Φ(x/35) ≥ 0.9505，反查表得 x/35 ≥ 1.65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011037" y="391287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取最小整数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012180" y="4180999"/>
              <a:ext cx="23559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≥ 57.75，所以最小正整数 x = 58</a:t>
              </a:r>
            </a:p>
          </p:txBody>
        </p:sp>
      </p:grpSp>
      <p:grpSp>
        <p:nvGrpSpPr>
          <p:cNvPr id="48" name="c2-callout-2"/>
          <p:cNvGrpSpPr/>
          <p:nvPr/>
        </p:nvGrpSpPr>
        <p:grpSpPr>
          <a:xfrm>
            <a:off x="5598795" y="4569142"/>
            <a:ext cx="6059805" cy="729615"/>
            <a:chOff x="5598795" y="4569142"/>
            <a:chExt cx="6059805" cy="729615"/>
          </a:xfrm>
        </p:grpSpPr>
        <p:sp>
          <p:nvSpPr>
            <p:cNvPr id="43" name="Rectangle 43"/>
            <p:cNvSpPr/>
            <p:nvPr/>
          </p:nvSpPr>
          <p:spPr>
            <a:xfrm>
              <a:off x="5598795" y="4569142"/>
              <a:ext cx="6059805" cy="729615"/>
            </a:xfrm>
            <a:prstGeom prst="roundRect">
              <a:avLst>
                <a:gd name="adj" fmla="val 1566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5803583" y="4833938"/>
              <a:ext cx="200026" cy="200026"/>
              <a:chOff x="5803583" y="4833938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5803583" y="48339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5870258" y="491172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106287" y="4715828"/>
              <a:ext cx="461714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(1) 约 0.9236；(2) x = 58。验算：x = 58 时概率 0.9025 ≥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0.901，x = 57 时只有 0.8966，不满足。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49" name="Rectangle 49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26129" y="5894188"/>
              <a:ext cx="224134" cy="192560"/>
              <a:chOff x="726129" y="5894188"/>
              <a:chExt cx="224134" cy="19256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838200" y="596455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26129" y="589418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38200" y="60423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892" y="5779770"/>
              <a:ext cx="976922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反查表要先把双侧概率折成单侧：0.901 对应的不是 Φ = 0.901，而是 Φ = (1 + 0.901)/2 = 0.9505。这一步折算漏了会差出一大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截。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随机变量 · 几种常用的连续型随机变量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三种常用连续型分布放在一起看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5578097" cy="308039"/>
            <a:chOff x="525399" y="1550194"/>
            <a:chExt cx="5578097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557809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期望与方差同样留到第 4 章证明，这里先用来做量级检查。</a:t>
              </a:r>
            </a:p>
          </p:txBody>
        </p:sp>
      </p:grpSp>
      <p:grpSp>
        <p:nvGrpSpPr>
          <p:cNvPr id="43" name="c1-table-1"/>
          <p:cNvGrpSpPr/>
          <p:nvPr/>
        </p:nvGrpSpPr>
        <p:grpSpPr>
          <a:xfrm>
            <a:off x="533400" y="1967865"/>
            <a:ext cx="11125200" cy="1795462"/>
            <a:chOff x="533400" y="1967865"/>
            <a:chExt cx="11125200" cy="1795462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111252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22312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分布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579649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记号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32376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概率密度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02233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分布函数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28238" y="2102644"/>
              <a:ext cx="4335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E(X)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662690" y="2102644"/>
              <a:ext cx="4335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D(X)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1223" y="255127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均匀分布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35946" y="2551271"/>
              <a:ext cx="6449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U(a, b)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167129" y="2551271"/>
              <a:ext cx="16327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1/(b − a)，a &lt; x &lt; b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22224" y="2551271"/>
              <a:ext cx="1262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(x − a)/(b − a)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155128" y="2551271"/>
              <a:ext cx="779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 + b)/2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394808" y="2551271"/>
              <a:ext cx="9692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(b − a)²/12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8603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2865120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1223" y="300085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指数分布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557054" y="3000851"/>
              <a:ext cx="4027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E(λ)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317903" y="3000851"/>
              <a:ext cx="13311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λe^(−λx)，x &gt; 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68690" y="3000851"/>
              <a:ext cx="9692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1 − e^(−λx)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396367" y="300085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1/λ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83433" y="300085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1/λ²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30898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1223" y="344947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正态分布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387666" y="3449479"/>
              <a:ext cx="7415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N(μ, σ²)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373905" y="344947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钟形曲线见上页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13867" y="3449479"/>
              <a:ext cx="10789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Φ((x − μ)/σ)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491139" y="344947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778206" y="344947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σ²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1967865"/>
              <a:ext cx="111252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864042" y="196786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3643312" y="196786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314122" y="196786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8983980" y="196786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10096500" y="196786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4" name="c1-compare-2"/>
          <p:cNvGrpSpPr/>
          <p:nvPr/>
        </p:nvGrpSpPr>
        <p:grpSpPr>
          <a:xfrm>
            <a:off x="533400" y="3952875"/>
            <a:ext cx="11125200" cy="2409825"/>
            <a:chOff x="533400" y="3952875"/>
            <a:chExt cx="11125200" cy="2409825"/>
          </a:xfrm>
        </p:grpSpPr>
        <p:sp>
          <p:nvSpPr>
            <p:cNvPr id="44" name="Rectangle 44"/>
            <p:cNvSpPr/>
            <p:nvPr/>
          </p:nvSpPr>
          <p:spPr>
            <a:xfrm>
              <a:off x="533400" y="3952875"/>
              <a:ext cx="5314950" cy="2409825"/>
            </a:xfrm>
            <a:prstGeom prst="roundRect">
              <a:avLst>
                <a:gd name="adj" fmla="val 55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542925" y="4086225"/>
              <a:ext cx="47625" cy="214312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73430" y="418719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离散与连续的对应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86765" y="460438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44880" y="4541520"/>
              <a:ext cx="32764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几何分布 ↔ 指数分布：都有无记忆性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86765" y="493966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44880" y="4876800"/>
              <a:ext cx="30744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离散均匀 ↔ 均匀分布：都靠等可能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86765" y="527494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44880" y="5212080"/>
              <a:ext cx="32764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二项分布 ↔ 正态分布：棣莫弗的近似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343650" y="3952875"/>
              <a:ext cx="5314950" cy="2409825"/>
            </a:xfrm>
            <a:prstGeom prst="roundRect">
              <a:avLst>
                <a:gd name="adj" fmla="val 55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353175" y="4086225"/>
              <a:ext cx="47625" cy="214312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83680" y="418719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三个常见的读题陷阱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597015" y="460438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755130" y="4541520"/>
              <a:ext cx="4444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指数分布写成 (1/θ)e^(−x/θ) 时 λ = 1/θ，θ 才是平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均寿命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597015" y="522541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755130" y="5162550"/>
              <a:ext cx="43635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N(μ, σ²) 第二个参数是方差，查表前要先开平方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597015" y="556069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755130" y="5497830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均匀分布区间端点处密度无定义，但不影响任何概率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5895975" y="4957762"/>
              <a:ext cx="400050" cy="4000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949315" y="509301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对照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398264" cy="2997517"/>
            <a:chOff x="667512" y="1835468"/>
            <a:chExt cx="4398264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随机变量函数的分布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5451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已知 X 的分布，求 Y = g(X) 的分布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离散型：把取值代进去再合并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连续型：分布函数法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连续型：公式法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80915" cy="909257"/>
            <a:chOff x="520446" y="342900"/>
            <a:chExt cx="708091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随机变量 · 随机变量函数的分布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8091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总的思路：把关于 Y 的事件翻回关于 X 的事件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977765" cy="2354580"/>
            <a:chOff x="533400" y="1524000"/>
            <a:chExt cx="4977765" cy="23545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354580"/>
            </a:xfrm>
            <a:prstGeom prst="roundRect">
              <a:avLst>
                <a:gd name="adj" fmla="val 566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143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70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80350" y="174450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唯一的一条主线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7898" y="2061686"/>
              <a:ext cx="432892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 X 是随机变量，y = g(x) 是已知函数，Y = g(X) 也是随机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变量。要求 Y 的分布，就把与 Y 有关的事件转化成 X 的事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件：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232"/>
                <p:cNvSpPr txBox="1">
                  <a:spLocks noGrp="1"/>
                </p:cNvSpPr>
                <p:nvPr/>
              </p:nvSpPr>
              <p:spPr>
                <a:xfrm>
                  <a:off x="714375" y="2810828"/>
                  <a:ext cx="4615815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∈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07898" y="3256121"/>
              <a:ext cx="429641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其中 Dᵧ 是使 g(x) ≤ y 成立的那些 x 组成的集合。剩下的只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是把 X 的分布用上。</a:t>
              </a:r>
            </a:p>
          </p:txBody>
        </p:sp>
      </p:grpSp>
      <p:grpSp>
        <p:nvGrpSpPr>
          <p:cNvPr id="39" name="c1-card-2"/>
          <p:cNvGrpSpPr/>
          <p:nvPr/>
        </p:nvGrpSpPr>
        <p:grpSpPr>
          <a:xfrm>
            <a:off x="533400" y="4043362"/>
            <a:ext cx="4977765" cy="1476375"/>
            <a:chOff x="533400" y="4043362"/>
            <a:chExt cx="4977765" cy="1476375"/>
          </a:xfrm>
        </p:grpSpPr>
        <p:sp>
          <p:nvSpPr>
            <p:cNvPr id="15" name="Rectangle 15"/>
            <p:cNvSpPr/>
            <p:nvPr/>
          </p:nvSpPr>
          <p:spPr>
            <a:xfrm>
              <a:off x="533400" y="4043362"/>
              <a:ext cx="4977765" cy="1476375"/>
            </a:xfrm>
            <a:prstGeom prst="roundRect">
              <a:avLst>
                <a:gd name="adj" fmla="val 903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176712"/>
              <a:ext cx="47625" cy="12096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52475" y="4224338"/>
              <a:ext cx="47815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4448" y="4257199"/>
              <a:ext cx="2942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例23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38453" y="4264819"/>
              <a:ext cx="4088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 X 的分布律，求 Y₁ = −2X 与 Y₂ = X² 的分布律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52475" y="4559618"/>
              <a:ext cx="4577715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69776" y="467772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86603" y="467772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605611" y="46777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383803" y="46777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139136" y="46777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94468" y="46777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69776" y="505872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712747" y="5058728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1/10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490940" y="5058728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2/10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269132" y="5058728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3/10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024465" y="5058728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3/10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79797" y="5058728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1/10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52475" y="4559618"/>
              <a:ext cx="4577715" cy="762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480185" y="4559618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2258378" y="4559618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036570" y="4559618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3814762" y="4559618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547235" y="4559618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2" name="c2-card-1"/>
          <p:cNvGrpSpPr/>
          <p:nvPr/>
        </p:nvGrpSpPr>
        <p:grpSpPr>
          <a:xfrm>
            <a:off x="5815965" y="1524000"/>
            <a:ext cx="5842635" cy="3287078"/>
            <a:chOff x="5815965" y="1524000"/>
            <a:chExt cx="5842635" cy="3287078"/>
          </a:xfrm>
        </p:grpSpPr>
        <p:sp>
          <p:nvSpPr>
            <p:cNvPr id="40" name="Rectangle 40"/>
            <p:cNvSpPr/>
            <p:nvPr/>
          </p:nvSpPr>
          <p:spPr>
            <a:xfrm>
              <a:off x="5815965" y="1524000"/>
              <a:ext cx="5842635" cy="3287078"/>
            </a:xfrm>
            <a:prstGeom prst="roundRect">
              <a:avLst>
                <a:gd name="adj" fmla="val 40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5825490" y="1657350"/>
              <a:ext cx="47625" cy="302037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035040" y="1704975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130811" y="173783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解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76238" y="174450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先代值，再合并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028563" y="2061686"/>
              <a:ext cx="52148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把每个 xₖ 代进函数算出 Y 的值，概率照抄；再把相同的 Y 值合并，概率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相加。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035040" y="2567940"/>
              <a:ext cx="5442585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76370" y="2685098"/>
              <a:ext cx="6222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Y₁ = −2X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662576" y="268509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−6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478868" y="268509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−4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295161" y="268509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152268" y="268509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996183" y="268509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639043" y="306705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588720" y="306705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1/10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405012" y="306705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3/10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221305" y="306705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3/10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037597" y="306705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2/10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881512" y="306705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1/10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035040" y="2567940"/>
              <a:ext cx="5442585" cy="762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7336155" y="2567940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8152448" y="2567940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8968740" y="2567940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9785985" y="2567940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10602278" y="2567940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035040" y="3411855"/>
              <a:ext cx="5442585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529033" y="3529012"/>
              <a:ext cx="5360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Y₂ = X²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002476" y="35290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982598" y="35290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961768" y="35290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941891" y="35290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748581" y="391096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887805" y="3910965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2/10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867927" y="3910965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4/10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847097" y="3910965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3/10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827220" y="3910965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1/10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6035040" y="3411855"/>
              <a:ext cx="5442585" cy="762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7554278" y="3411855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8533448" y="3411855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9513570" y="3411855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10492740" y="3411855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029706" y="4272915"/>
              <a:ext cx="5111306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Y₁ 的函数是一一对应，概率原样搬过去；Y₂ 把 x = −1 与 x = 1 都映成 1，所以 1/10 +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3/10 = 4/10。</a:t>
              </a:r>
            </a:p>
          </p:txBody>
        </p:sp>
      </p:grpSp>
      <p:grpSp>
        <p:nvGrpSpPr>
          <p:cNvPr id="88" name="c2-callout-2"/>
          <p:cNvGrpSpPr/>
          <p:nvPr/>
        </p:nvGrpSpPr>
        <p:grpSpPr>
          <a:xfrm>
            <a:off x="5815965" y="4975860"/>
            <a:ext cx="5842635" cy="543878"/>
            <a:chOff x="5815965" y="4975860"/>
            <a:chExt cx="5842635" cy="543878"/>
          </a:xfrm>
        </p:grpSpPr>
        <p:sp>
          <p:nvSpPr>
            <p:cNvPr id="83" name="Rectangle 83"/>
            <p:cNvSpPr/>
            <p:nvPr/>
          </p:nvSpPr>
          <p:spPr>
            <a:xfrm>
              <a:off x="5815965" y="4975860"/>
              <a:ext cx="5842635" cy="543878"/>
            </a:xfrm>
            <a:prstGeom prst="roundRect">
              <a:avLst>
                <a:gd name="adj" fmla="val 2101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86" name="Group 86"/>
            <p:cNvGrpSpPr/>
            <p:nvPr/>
          </p:nvGrpSpPr>
          <p:grpSpPr>
            <a:xfrm>
              <a:off x="6020753" y="5148263"/>
              <a:ext cx="200026" cy="200026"/>
              <a:chOff x="6020753" y="5148263"/>
              <a:chExt cx="200026" cy="200026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6020753" y="514826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6087428" y="522605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87" name="TextBox 87"/>
            <p:cNvSpPr txBox="1"/>
            <p:nvPr/>
          </p:nvSpPr>
          <p:spPr>
            <a:xfrm>
              <a:off x="6323838" y="5159216"/>
              <a:ext cx="49842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两张表的概率之和都是 1，这是检查合并有没有出错的最快办法。</a:t>
              </a:r>
            </a:p>
          </p:txBody>
        </p:sp>
      </p:grpSp>
      <p:grpSp>
        <p:nvGrpSpPr>
          <p:cNvPr id="9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89" name="Rectangle 8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93" name="Group 93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90" name="Freeform 90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94" name="TextBox 94"/>
            <p:cNvSpPr txBox="1"/>
            <p:nvPr/>
          </p:nvSpPr>
          <p:spPr>
            <a:xfrm>
              <a:off x="1041273" y="6039326"/>
              <a:ext cx="88267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合并是这类题唯一的难点。凡是 g 不单调（平方、绝对值、取整、三角函数），都要先找出哪些 x 被映到同一个 y。</a:t>
              </a:r>
            </a:p>
          </p:txBody>
        </p:sp>
      </p:grpSp>
      <p:grpSp>
        <p:nvGrpSpPr>
          <p:cNvPr id="9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6" name="TextBox 96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767283" cy="909257"/>
            <a:chOff x="520446" y="342900"/>
            <a:chExt cx="576728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随机变量 · 随机变量函数的分布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76728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例24、例25：多个 x 挤到同一个 y 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ard-1"/>
          <p:cNvGrpSpPr/>
          <p:nvPr/>
        </p:nvGrpSpPr>
        <p:grpSpPr>
          <a:xfrm>
            <a:off x="533400" y="1524000"/>
            <a:ext cx="5626418" cy="2838450"/>
            <a:chOff x="533400" y="1524000"/>
            <a:chExt cx="5626418" cy="28384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838450"/>
            </a:xfrm>
            <a:prstGeom prst="roundRect">
              <a:avLst>
                <a:gd name="adj" fmla="val 46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5717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7815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4448" y="1737836"/>
              <a:ext cx="2942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例24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784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P{X = k} = 1/2ᵏ（k = 1, 2, …），求 Y = sin(πX/2) 的分布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346484"/>
              <a:ext cx="47171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正弦值按 k 除以 4 的余数分成三类，再把同类的概率加起来：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239"/>
                <p:cNvSpPr txBox="1">
                  <a:spLocks noGrp="1"/>
                </p:cNvSpPr>
                <p:nvPr/>
              </p:nvSpPr>
              <p:spPr>
                <a:xfrm>
                  <a:off x="752475" y="2609850"/>
                  <a:ext cx="5226368" cy="7000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sin</m:t>
                            </m:r>
                          </m:fName>
                          <m:e>
                            <m:f>
                              <m:fPr>
                                <m:type m:val="bar"/>
                                <m:ctrl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kπ</m:t>
                                </m:r>
                              </m:num>
                              <m:den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den>
                            </m:f>
                          </m:e>
                        </m:func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2n</m:t>
                                </m:r>
                              </m:e>
                              <m:e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Ellipse 14"/>
            <p:cNvSpPr/>
            <p:nvPr/>
          </p:nvSpPr>
          <p:spPr>
            <a:xfrm>
              <a:off x="762000" y="346519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17448" y="3412331"/>
              <a:ext cx="44802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P{Y = 1} = 1/2 + 1/2⁵ + … = (1/2)/(1 − 1/16) =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8/15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62000" y="374999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17448" y="3697129"/>
              <a:ext cx="43806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P{Y = 0} = 1/2² + 1/2⁴ + … = (1/4)/(1 − 1/4) =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1/3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62000" y="403479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17448" y="3981926"/>
              <a:ext cx="46804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P{Y = −1} = 1/2³ + 1/2⁷ + … = (1/8)/(1 − 1/16) =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2/15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4527232"/>
            <a:ext cx="5626418" cy="1143952"/>
            <a:chOff x="533400" y="4527232"/>
            <a:chExt cx="5626418" cy="1143952"/>
          </a:xfrm>
        </p:grpSpPr>
        <p:sp>
          <p:nvSpPr>
            <p:cNvPr id="21" name="Rectangle 21"/>
            <p:cNvSpPr/>
            <p:nvPr/>
          </p:nvSpPr>
          <p:spPr>
            <a:xfrm>
              <a:off x="533400" y="4527232"/>
              <a:ext cx="5626418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4660582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52475" y="470820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45147" y="474106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5998" y="5048726"/>
              <a:ext cx="48003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原课件只算了 P{Y = 0} 与 P{Y = 1}，没有给 P{Y = −1}。三者相加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8/15 + 1/3 + 2/15 = 1，正好验证了结果完整。</a:t>
              </a:r>
            </a:p>
          </p:txBody>
        </p:sp>
      </p:grpSp>
      <p:grpSp>
        <p:nvGrpSpPr>
          <p:cNvPr id="39" name="c2-card-1"/>
          <p:cNvGrpSpPr/>
          <p:nvPr/>
        </p:nvGrpSpPr>
        <p:grpSpPr>
          <a:xfrm>
            <a:off x="6464618" y="1524000"/>
            <a:ext cx="5193982" cy="2015490"/>
            <a:chOff x="6464618" y="1524000"/>
            <a:chExt cx="5193982" cy="2015490"/>
          </a:xfrm>
        </p:grpSpPr>
        <p:sp>
          <p:nvSpPr>
            <p:cNvPr id="27" name="Rectangle 27"/>
            <p:cNvSpPr/>
            <p:nvPr/>
          </p:nvSpPr>
          <p:spPr>
            <a:xfrm>
              <a:off x="6464618" y="1524000"/>
              <a:ext cx="5193982" cy="2015490"/>
            </a:xfrm>
            <a:prstGeom prst="roundRect">
              <a:avLst>
                <a:gd name="adj" fmla="val 66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4142" y="1657350"/>
              <a:ext cx="47625" cy="174879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683692" y="1704975"/>
              <a:ext cx="47815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75665" y="1737836"/>
              <a:ext cx="2942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例25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269670" y="1744504"/>
              <a:ext cx="36289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~ U(−1, 3)，Y 取 X 的符号，求 Y 的分布律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77216" y="2061686"/>
              <a:ext cx="45239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= −1（X &lt; 0）、0（X = 0）、1（X &gt; 0）。X 的密度是 1/4 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(−1, 3) 上。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693218" y="264128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848666" y="2589371"/>
              <a:ext cx="22523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P{Y = −1} = P{X &lt; 0} = 1/4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693218" y="292703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48666" y="2874169"/>
              <a:ext cx="38215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P{Y = 0} = P{X = 0} = 0，连续型的单点概率为 0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693218" y="321183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48666" y="3158966"/>
              <a:ext cx="21522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P{Y = 1} = P{X &gt; 0} = 3/4</a:t>
              </a:r>
            </a:p>
          </p:txBody>
        </p:sp>
      </p:grpSp>
      <p:grpSp>
        <p:nvGrpSpPr>
          <p:cNvPr id="46" name="c2-card-2"/>
          <p:cNvGrpSpPr/>
          <p:nvPr/>
        </p:nvGrpSpPr>
        <p:grpSpPr>
          <a:xfrm>
            <a:off x="6464618" y="3704272"/>
            <a:ext cx="5193982" cy="1966912"/>
            <a:chOff x="6464618" y="3704272"/>
            <a:chExt cx="5193982" cy="1966912"/>
          </a:xfrm>
        </p:grpSpPr>
        <p:sp>
          <p:nvSpPr>
            <p:cNvPr id="40" name="Rectangle 40"/>
            <p:cNvSpPr/>
            <p:nvPr/>
          </p:nvSpPr>
          <p:spPr>
            <a:xfrm>
              <a:off x="6464618" y="3704272"/>
              <a:ext cx="5193982" cy="1966912"/>
            </a:xfrm>
            <a:prstGeom prst="roundRect">
              <a:avLst>
                <a:gd name="adj" fmla="val 67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74142" y="3837622"/>
              <a:ext cx="47625" cy="170021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683692" y="388524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76364" y="391810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77216" y="4224814"/>
              <a:ext cx="449961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原课件把密度写成 f(x) = 1/4（−1 &lt; x &lt; 3），0（x = 0）。第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二行应是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0（其他）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；写成 x = 0 不构成完整的分段定义。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78359" y="4749165"/>
              <a:ext cx="48326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连续型的 X 经过分段函数以后可以变成离散型的 Y，两类之间并没有一道墙。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7" name="Rectangle 4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1273" y="6039326"/>
              <a:ext cx="74310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例 24 求和时注意公比：三类各自隔 4 项，所以公比是 (1/2)⁴ = 1/16，写成 1/4 是最常见的错。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72784" cy="909257"/>
            <a:chOff x="520446" y="342900"/>
            <a:chExt cx="76727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随机变量 · 随机变量函数的分布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727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分布函数法：先写出 Y 的分布函数，再求导得密度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4977765" cy="2392680"/>
            <a:chOff x="533400" y="1524000"/>
            <a:chExt cx="4977765" cy="23926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392680"/>
            </a:xfrm>
            <a:prstGeom prst="roundRect">
              <a:avLst>
                <a:gd name="adj" fmla="val 557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143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70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80350" y="174450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两步走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14375" y="2049780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6282" y="208540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4123" y="2061686"/>
              <a:ext cx="406882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借助 X 的分布函数表达 Y 的分布函数 F_Y(y) = P{Y ≤ y}</a:t>
              </a:r>
              <a:br/>
              <a:r>
                <a:rPr lang="en-US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= P{g(X) ≤ y}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14375" y="2578418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6282" y="261308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4123" y="2589371"/>
              <a:ext cx="14173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 y 求导得到密度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formula264"/>
                <p:cNvSpPr txBox="1">
                  <a:spLocks noGrp="1"/>
                </p:cNvSpPr>
                <p:nvPr/>
              </p:nvSpPr>
              <p:spPr>
                <a:xfrm>
                  <a:off x="714375" y="2852738"/>
                  <a:ext cx="4615815" cy="6200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d</m:t>
                                    </m:r>
                                    <m:sSub>
                                      <m:e>
                                        <m:r>
                                          <a:rPr lang="zh-CN" sz="10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F</m:t>
                                        </m:r>
                                      </m:e>
                                      <m:sub>
                                        <m:r>
                                          <a:rPr lang="zh-CN" sz="10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0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0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d</m:t>
                                    </m:r>
                                    <m: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m:rPr>
                                    <m:nor m:val="on"/>
                                  </m:r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可导</m:t>
                                </m:r>
                              </m:e>
                              <m:e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m:rPr>
                                    <m:nor m:val="on"/>
                                  </m:r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不可导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8" name="TextBox 18"/>
            <p:cNvSpPr txBox="1"/>
            <p:nvPr/>
          </p:nvSpPr>
          <p:spPr>
            <a:xfrm>
              <a:off x="709041" y="3571875"/>
              <a:ext cx="35656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这条路对任何 g 都能走，不要求单调，是最稳妥的办法。</a:t>
              </a:r>
            </a:p>
          </p:txBody>
        </p:sp>
      </p:grpSp>
      <p:grpSp>
        <p:nvGrpSpPr>
          <p:cNvPr id="26" name="c1-callout-2"/>
          <p:cNvGrpSpPr/>
          <p:nvPr/>
        </p:nvGrpSpPr>
        <p:grpSpPr>
          <a:xfrm>
            <a:off x="533400" y="4081462"/>
            <a:ext cx="4977765" cy="1539240"/>
            <a:chOff x="533400" y="4081462"/>
            <a:chExt cx="4977765" cy="1539240"/>
          </a:xfrm>
        </p:grpSpPr>
        <p:sp>
          <p:nvSpPr>
            <p:cNvPr id="20" name="Rectangle 20"/>
            <p:cNvSpPr/>
            <p:nvPr/>
          </p:nvSpPr>
          <p:spPr>
            <a:xfrm>
              <a:off x="533400" y="4081462"/>
              <a:ext cx="4977765" cy="1539240"/>
            </a:xfrm>
            <a:prstGeom prst="roundRect">
              <a:avLst>
                <a:gd name="adj" fmla="val 742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26129" y="4747378"/>
              <a:ext cx="224134" cy="192560"/>
              <a:chOff x="726129" y="4747378"/>
              <a:chExt cx="224134" cy="19256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38200" y="481774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26129" y="474737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38200" y="48955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1273" y="4526756"/>
              <a:ext cx="4044442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写 F_Y 之前先确定 y 的取值范围。Y 取不到的那一段上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F_Y 恒为 0 或恒为 1，求导得 0，漏掉这一段密度就不完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整。</a:t>
              </a:r>
            </a:p>
          </p:txBody>
        </p:sp>
      </p:grpSp>
      <p:grpSp>
        <p:nvGrpSpPr>
          <p:cNvPr id="36" name="c2-card-1"/>
          <p:cNvGrpSpPr/>
          <p:nvPr/>
        </p:nvGrpSpPr>
        <p:grpSpPr>
          <a:xfrm>
            <a:off x="5815965" y="1524000"/>
            <a:ext cx="5842635" cy="2326958"/>
            <a:chOff x="5815965" y="1524000"/>
            <a:chExt cx="5842635" cy="2326958"/>
          </a:xfrm>
        </p:grpSpPr>
        <p:sp>
          <p:nvSpPr>
            <p:cNvPr id="27" name="Rectangle 27"/>
            <p:cNvSpPr/>
            <p:nvPr/>
          </p:nvSpPr>
          <p:spPr>
            <a:xfrm>
              <a:off x="5815965" y="1524000"/>
              <a:ext cx="5842635" cy="2326958"/>
            </a:xfrm>
            <a:prstGeom prst="roundRect">
              <a:avLst>
                <a:gd name="adj" fmla="val 573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825490" y="1657350"/>
              <a:ext cx="47625" cy="206025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035040" y="1704975"/>
              <a:ext cx="47815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126060" y="1737836"/>
              <a:ext cx="2942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例26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20066" y="1744504"/>
              <a:ext cx="3027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 ~ f_X(x)，求 Y = X² 的概率密度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28563" y="2061686"/>
              <a:ext cx="41340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≤ 0 时 {X² ≤ y} 几乎不可能，F_Y(y) = 0。y &gt; 0 时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formula265"/>
                <p:cNvSpPr txBox="1">
                  <a:spLocks noGrp="1"/>
                </p:cNvSpPr>
                <p:nvPr/>
              </p:nvSpPr>
              <p:spPr>
                <a:xfrm>
                  <a:off x="6035040" y="2325052"/>
                  <a:ext cx="5442585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&lt;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rad>
                              <m:radPr>
                                <m:degHide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rad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rad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b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rad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4" name="TextBox 34"/>
            <p:cNvSpPr txBox="1"/>
            <p:nvPr/>
          </p:nvSpPr>
          <p:spPr>
            <a:xfrm>
              <a:off x="6028563" y="2770346"/>
              <a:ext cx="33386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y 求导（链式法则给出两个 1/(2√y)）得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formula266"/>
                <p:cNvSpPr txBox="1">
                  <a:spLocks noGrp="1"/>
                </p:cNvSpPr>
                <p:nvPr/>
              </p:nvSpPr>
              <p:spPr>
                <a:xfrm>
                  <a:off x="6035040" y="3033712"/>
                  <a:ext cx="5442585" cy="6200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zh-CN" sz="10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zh-CN" sz="10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</m:e>
                                    </m:rad>
                                  </m:den>
                                </m:f>
                                <m:d>
                                  <m:dPr>
                                    <m:begChr m:val="["/>
                                    <m:sepChr m:val=""/>
                                    <m:endChr m:val="]"/>
                                    <m:grow m:val="on"/>
                                    <m:ctrlP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0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f</m:t>
                                        </m:r>
                                      </m:e>
                                      <m:sub>
                                        <m:r>
                                          <a:rPr lang="zh-CN" sz="10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0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ad>
                                          <m:radPr>
                                            <m:degHide m:val="on"/>
                                            <m:ctrlPr>
                                              <a:rPr lang="zh-CN" sz="10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radPr>
                                          <m:deg/>
                                          <m:e>
                                            <m:r>
                                              <a:rPr lang="zh-CN" sz="10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y</m:t>
                                            </m:r>
                                          </m:e>
                                        </m:rad>
                                      </m:e>
                                    </m:d>
                                    <m:r>
                                      <m:rPr>
                                        <m:sty m:val="p"/>
                                      </m:rP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sSub>
                                      <m:e>
                                        <m:r>
                                          <a:rPr lang="zh-CN" sz="10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f</m:t>
                                        </m:r>
                                      </m:e>
                                      <m:sub>
                                        <m:r>
                                          <a:rPr lang="zh-CN" sz="10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0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zh-CN" sz="10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ad>
                                          <m:radPr>
                                            <m:degHide m:val="on"/>
                                            <m:ctrlPr>
                                              <a:rPr lang="zh-CN" sz="10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radPr>
                                          <m:deg/>
                                          <m:e>
                                            <m:r>
                                              <a:rPr lang="zh-CN" sz="10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y</m:t>
                                            </m:r>
                                          </m:e>
                                        </m:rad>
                                      </m:e>
                                    </m:d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&gt;</m:t>
                                </m:r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5" name="c2-card-2"/>
          <p:cNvGrpSpPr/>
          <p:nvPr/>
        </p:nvGrpSpPr>
        <p:grpSpPr>
          <a:xfrm>
            <a:off x="5815965" y="4015740"/>
            <a:ext cx="5842635" cy="1604962"/>
            <a:chOff x="5815965" y="4015740"/>
            <a:chExt cx="5842635" cy="1604962"/>
          </a:xfrm>
        </p:grpSpPr>
        <p:sp>
          <p:nvSpPr>
            <p:cNvPr id="37" name="Rectangle 37"/>
            <p:cNvSpPr/>
            <p:nvPr/>
          </p:nvSpPr>
          <p:spPr>
            <a:xfrm>
              <a:off x="5815965" y="4015740"/>
              <a:ext cx="5842635" cy="1604962"/>
            </a:xfrm>
            <a:prstGeom prst="roundRect">
              <a:avLst>
                <a:gd name="adj" fmla="val 8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825490" y="4149090"/>
              <a:ext cx="47625" cy="133826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035040" y="419671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119609" y="422957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重要特例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49618" y="4237196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标准正态的平方是卡方分布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028563" y="4553426"/>
              <a:ext cx="31002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~ N(0, 1) 时代入上式，两项相等，得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formula267"/>
                <p:cNvSpPr txBox="1">
                  <a:spLocks noGrp="1"/>
                </p:cNvSpPr>
                <p:nvPr/>
              </p:nvSpPr>
              <p:spPr>
                <a:xfrm>
                  <a:off x="6035040" y="4817745"/>
                  <a:ext cx="5442585" cy="36004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2πy</m:t>
                                </m:r>
                              </m:e>
                            </m:rad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</m:t>
                            </m:r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&gt;</m:t>
                            </m:r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Y</m:t>
                        </m:r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sSup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χ</m:t>
                            </m:r>
                          </m:e>
                          <m:sup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4" name="TextBox 44"/>
            <p:cNvSpPr txBox="1"/>
            <p:nvPr/>
          </p:nvSpPr>
          <p:spPr>
            <a:xfrm>
              <a:off x="6029706" y="5275898"/>
              <a:ext cx="41098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这个分布在第 6 章的抽样分布里是主角，已验证它的积分等于 1。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6" name="Rectangle 46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1273" y="6039326"/>
              <a:ext cx="8977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 = X² 里 −√y 和 √y 两段都映到同一个 y，所以密度是两项之和。凡是非单调的 g，求导后都会出现这种“多支相加”。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481501" cy="909257"/>
            <a:chOff x="520446" y="342900"/>
            <a:chExt cx="548150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随机变量 · 随机变量函数的分布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48150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公式法：g 单调可导时可以一步到位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2311718"/>
            <a:chOff x="533400" y="1524000"/>
            <a:chExt cx="5410200" cy="23117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311718"/>
            </a:xfrm>
            <a:prstGeom prst="roundRect">
              <a:avLst>
                <a:gd name="adj" fmla="val 57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4501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单调函数的密度变换公式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36956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设连续型随机变量 X 的密度为 f_X(x)（−∞ &lt; x &lt; +∞），函数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g(x) 处处可导且严格单调，则 Y = g(X) 的概率密度为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274"/>
                <p:cNvSpPr txBox="1">
                  <a:spLocks noGrp="1"/>
                </p:cNvSpPr>
                <p:nvPr/>
              </p:nvSpPr>
              <p:spPr>
                <a:xfrm>
                  <a:off x="752475" y="2567940"/>
                  <a:ext cx="5010150" cy="5429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sSub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f</m:t>
                                    </m:r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h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d>
                                  <m:dPr>
                                    <m:begChr m:val="|"/>
                                    <m:sepChr m:val=""/>
                                    <m:endChr m:val="|"/>
                                    <m:grow m:val="on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h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&lt;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&lt;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β</m:t>
                                </m:r>
                              </m:e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m:rPr>
                                    <m:nor m:val="on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其他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45998" y="3213259"/>
              <a:ext cx="461340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其中 h(y) 是 g(x) 的反函数，α 与 β 分别是 g(−∞) 与 g(+∞) 中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的小者与大者。</a:t>
              </a:r>
            </a:p>
          </p:txBody>
        </p:sp>
      </p:grpSp>
      <p:grpSp>
        <p:nvGrpSpPr>
          <p:cNvPr id="30" name="c1-card-2"/>
          <p:cNvGrpSpPr/>
          <p:nvPr/>
        </p:nvGrpSpPr>
        <p:grpSpPr>
          <a:xfrm>
            <a:off x="533400" y="4000500"/>
            <a:ext cx="5410200" cy="1717358"/>
            <a:chOff x="533400" y="4000500"/>
            <a:chExt cx="5410200" cy="1717358"/>
          </a:xfrm>
        </p:grpSpPr>
        <p:sp>
          <p:nvSpPr>
            <p:cNvPr id="16" name="Rectangle 16"/>
            <p:cNvSpPr/>
            <p:nvPr/>
          </p:nvSpPr>
          <p:spPr>
            <a:xfrm>
              <a:off x="533400" y="4000500"/>
              <a:ext cx="5410200" cy="1717358"/>
            </a:xfrm>
            <a:prstGeom prst="roundRect">
              <a:avLst>
                <a:gd name="adj" fmla="val 77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4133850"/>
              <a:ext cx="47625" cy="145065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52475" y="418147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7044" y="421433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三步口诀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52475" y="4511040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4382" y="454666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22223" y="4521994"/>
              <a:ext cx="28216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验证 g 的单调性，确定 y 的取值范围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52475" y="4795838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04382" y="483146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22223" y="4806791"/>
              <a:ext cx="18739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求反函数 h(y) 及其导数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52475" y="5080635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04382" y="511625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22223" y="509158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代入公式，别忘了绝对值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7141" y="5373052"/>
              <a:ext cx="49952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注 f_X 在有限区间 [a, b] 外为 0 时，只需考察 g 在这个区间内是否可导单调。</a:t>
              </a:r>
            </a:p>
          </p:txBody>
        </p:sp>
      </p:grpSp>
      <p:grpSp>
        <p:nvGrpSpPr>
          <p:cNvPr id="37" name="c2-card-1"/>
          <p:cNvGrpSpPr/>
          <p:nvPr/>
        </p:nvGrpSpPr>
        <p:grpSpPr>
          <a:xfrm>
            <a:off x="6248400" y="1524000"/>
            <a:ext cx="5410200" cy="1918335"/>
            <a:chOff x="6248400" y="1524000"/>
            <a:chExt cx="5410200" cy="1918335"/>
          </a:xfrm>
        </p:grpSpPr>
        <p:sp>
          <p:nvSpPr>
            <p:cNvPr id="31" name="Rectangle 31"/>
            <p:cNvSpPr/>
            <p:nvPr/>
          </p:nvSpPr>
          <p:spPr>
            <a:xfrm>
              <a:off x="6248400" y="1524000"/>
              <a:ext cx="5410200" cy="1918335"/>
            </a:xfrm>
            <a:prstGeom prst="roundRect">
              <a:avLst>
                <a:gd name="adj" fmla="val 6951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29375" y="170497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13944" y="173783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证明要点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22898" y="2045494"/>
              <a:ext cx="41988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 严格单调增时 {g(X) ≤ y} = {X ≤ h(y)}，于是 F_Y(y) =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F_X(h(y))，求导得 f_X(h(y))h′(y)，此时 h′ &gt; 0。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22898" y="2573179"/>
              <a:ext cx="447522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 严格单调减时 {g(X) ≤ y} = {X ≥ h(y)}，于是 F_Y(y) = 1 −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F_X(h(y))，求导得 −f_X(h(y))h′(y)，此时 h′ &lt; 0。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24041" y="3097530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两种情形合起来就是带绝对值的那一条公式。</a:t>
              </a:r>
            </a:p>
          </p:txBody>
        </p:sp>
      </p:grpSp>
      <p:grpSp>
        <p:nvGrpSpPr>
          <p:cNvPr id="58" name="c2-compare-2"/>
          <p:cNvGrpSpPr/>
          <p:nvPr/>
        </p:nvGrpSpPr>
        <p:grpSpPr>
          <a:xfrm>
            <a:off x="6248400" y="3607118"/>
            <a:ext cx="5410200" cy="2111692"/>
            <a:chOff x="6248400" y="3607118"/>
            <a:chExt cx="5410200" cy="2111692"/>
          </a:xfrm>
        </p:grpSpPr>
        <p:sp>
          <p:nvSpPr>
            <p:cNvPr id="38" name="Rectangle 38"/>
            <p:cNvSpPr/>
            <p:nvPr/>
          </p:nvSpPr>
          <p:spPr>
            <a:xfrm>
              <a:off x="6248400" y="3607118"/>
              <a:ext cx="2419350" cy="2111692"/>
            </a:xfrm>
            <a:prstGeom prst="roundRect">
              <a:avLst>
                <a:gd name="adj" fmla="val 63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57925" y="3740468"/>
              <a:ext cx="47625" cy="184499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60998" y="380857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用公式法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477000" y="416242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32448" y="4110514"/>
              <a:ext cx="17102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 严格单调且处处可导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477000" y="444722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32448" y="4395311"/>
              <a:ext cx="17344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例如 aX + b、eˣ、ln X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477000" y="473297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632448" y="468010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代一次公式就完事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239250" y="3607118"/>
              <a:ext cx="2419350" cy="2111692"/>
            </a:xfrm>
            <a:prstGeom prst="roundRect">
              <a:avLst>
                <a:gd name="adj" fmla="val 63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9248775" y="3740468"/>
              <a:ext cx="47625" cy="184499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451848" y="380857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用分布函数法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9467850" y="416242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623298" y="4110514"/>
              <a:ext cx="16575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 不单调，如 X²、|X|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9467850" y="444722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623298" y="4395311"/>
              <a:ext cx="15379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 分段定义或含取整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9467850" y="473297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623298" y="468010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一定能做出来但步骤多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8715375" y="4424362"/>
              <a:ext cx="476250" cy="476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767000" y="4606290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怎么选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9" name="Rectangle 5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1273" y="6039326"/>
              <a:ext cx="74569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绝对值不能省。g 单调减时 h′(y) 是负的，漏了绝对值会算出负密度，这是这一节最典型的错误。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25741" cy="909257"/>
            <a:chOff x="520446" y="342900"/>
            <a:chExt cx="522574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随机变量 · 随机变量函数的分布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2574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例27：Y = 2X + 8，两种解法对照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5044882" cy="278702"/>
            <a:chOff x="526161" y="1547336"/>
            <a:chExt cx="5044882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0448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已知 X 的概率密度 f(x) = x/8（0 &lt; x &lt; 4），其他处为 0。</a:t>
              </a:r>
            </a:p>
          </p:txBody>
        </p:sp>
      </p:grpSp>
      <p:grpSp>
        <p:nvGrpSpPr>
          <p:cNvPr id="23" name="c1-card-1"/>
          <p:cNvGrpSpPr/>
          <p:nvPr/>
        </p:nvGrpSpPr>
        <p:grpSpPr>
          <a:xfrm>
            <a:off x="533400" y="1941195"/>
            <a:ext cx="5410200" cy="2304098"/>
            <a:chOff x="533400" y="1941195"/>
            <a:chExt cx="5410200" cy="2304098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2304098"/>
            </a:xfrm>
            <a:prstGeom prst="roundRect">
              <a:avLst>
                <a:gd name="adj" fmla="val 5788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5805" y="213360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13244" y="216789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解法一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42847" y="217360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公式法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25805" y="2495550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81483" y="253393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06602" y="2507932"/>
              <a:ext cx="447998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g(x) = 2x + 8 严格单调增；x 在 (0, 4) 上取值时 y 在 (8,</a:t>
              </a:r>
            </a:p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16) 上取值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5805" y="3055620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81483" y="309400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06602" y="3068002"/>
              <a:ext cx="36393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反函数 h(y) = (y − 8)/2，导数 h′(y) = 1/2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25805" y="3357562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1483" y="339690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06602" y="336994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代入公式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formula287"/>
                <p:cNvSpPr txBox="1">
                  <a:spLocks noGrp="1"/>
                </p:cNvSpPr>
                <p:nvPr/>
              </p:nvSpPr>
              <p:spPr>
                <a:xfrm>
                  <a:off x="725805" y="3649980"/>
                  <a:ext cx="5025390" cy="3857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sub>
                        </m:sSub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​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8</m:t>
                                </m:r>
                              </m:num>
                              <m:den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8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</m:t>
                            </m:r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num>
                          <m:den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8</m:t>
                            </m:r>
                          </m:num>
                          <m:den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32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9" name="c1-callout-2"/>
          <p:cNvGrpSpPr/>
          <p:nvPr/>
        </p:nvGrpSpPr>
        <p:grpSpPr>
          <a:xfrm>
            <a:off x="533400" y="4420552"/>
            <a:ext cx="5410200" cy="944880"/>
            <a:chOff x="533400" y="4420552"/>
            <a:chExt cx="5410200" cy="944880"/>
          </a:xfrm>
        </p:grpSpPr>
        <p:sp>
          <p:nvSpPr>
            <p:cNvPr id="24" name="Rectangle 24"/>
            <p:cNvSpPr/>
            <p:nvPr/>
          </p:nvSpPr>
          <p:spPr>
            <a:xfrm>
              <a:off x="533400" y="4420552"/>
              <a:ext cx="5410200" cy="944880"/>
            </a:xfrm>
            <a:prstGeom prst="roundRect">
              <a:avLst>
                <a:gd name="adj" fmla="val 12097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38188" y="4792980"/>
              <a:ext cx="200026" cy="200026"/>
              <a:chOff x="738188" y="4792980"/>
              <a:chExt cx="200026" cy="200026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738188" y="47929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04863" y="487076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0892" y="4674870"/>
              <a:ext cx="443712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f_Y(y) = (y − 8)/32（8 &lt; y &lt; 16），其他处为 0。密度在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(8, 16) 上积分等于 1，已用脚本核对。</a:t>
              </a:r>
            </a:p>
          </p:txBody>
        </p:sp>
      </p:grpSp>
      <p:grpSp>
        <p:nvGrpSpPr>
          <p:cNvPr id="39" name="c2-card-1"/>
          <p:cNvGrpSpPr/>
          <p:nvPr/>
        </p:nvGrpSpPr>
        <p:grpSpPr>
          <a:xfrm>
            <a:off x="6248400" y="1941195"/>
            <a:ext cx="5410200" cy="2519362"/>
            <a:chOff x="6248400" y="1941195"/>
            <a:chExt cx="5410200" cy="2519362"/>
          </a:xfrm>
        </p:grpSpPr>
        <p:sp>
          <p:nvSpPr>
            <p:cNvPr id="30" name="Rectangle 30"/>
            <p:cNvSpPr/>
            <p:nvPr/>
          </p:nvSpPr>
          <p:spPr>
            <a:xfrm>
              <a:off x="6248400" y="1941195"/>
              <a:ext cx="5410200" cy="2519362"/>
            </a:xfrm>
            <a:prstGeom prst="roundRect">
              <a:avLst>
                <a:gd name="adj" fmla="val 529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40805" y="213360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28245" y="216789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解法二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57847" y="217360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分布函数法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3947" y="2507932"/>
              <a:ext cx="15067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先写 Y 的分布函数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formula288"/>
                <p:cNvSpPr txBox="1">
                  <a:spLocks noGrp="1"/>
                </p:cNvSpPr>
                <p:nvPr/>
              </p:nvSpPr>
              <p:spPr>
                <a:xfrm>
                  <a:off x="6440805" y="2787968"/>
                  <a:ext cx="5025390" cy="3857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2X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8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f>
                              <m:fPr>
                                <m:type m:val="bar"/>
                                <m:ctrl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8</m:t>
                                </m:r>
                              </m:num>
                              <m:den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sub>
                        </m:sSub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​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8</m:t>
                                </m:r>
                              </m:num>
                              <m:den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6" name="TextBox 36"/>
            <p:cNvSpPr txBox="1"/>
            <p:nvPr/>
          </p:nvSpPr>
          <p:spPr>
            <a:xfrm>
              <a:off x="6433947" y="3283268"/>
              <a:ext cx="9496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再对 y 求导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formula289"/>
                <p:cNvSpPr txBox="1">
                  <a:spLocks noGrp="1"/>
                </p:cNvSpPr>
                <p:nvPr/>
              </p:nvSpPr>
              <p:spPr>
                <a:xfrm>
                  <a:off x="6440805" y="3563302"/>
                  <a:ext cx="5025390" cy="3857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den>
                        </m:f>
                        <m:sSub>
                          <m:e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sub>
                        </m:sSub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​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8</m:t>
                                </m:r>
                              </m:num>
                              <m:den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sub>
                        </m:sSub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​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8</m:t>
                                </m:r>
                              </m:num>
                              <m:den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8" name="TextBox 38"/>
            <p:cNvSpPr txBox="1"/>
            <p:nvPr/>
          </p:nvSpPr>
          <p:spPr>
            <a:xfrm>
              <a:off x="6433947" y="4057650"/>
              <a:ext cx="43663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 &lt; (y − 8)/2 &lt; 4 即 8 &lt; y &lt; 16，代入得同样的结果。</a:t>
              </a:r>
            </a:p>
          </p:txBody>
        </p:sp>
      </p:grpSp>
      <p:grpSp>
        <p:nvGrpSpPr>
          <p:cNvPr id="45" name="c2-callout-2"/>
          <p:cNvGrpSpPr/>
          <p:nvPr/>
        </p:nvGrpSpPr>
        <p:grpSpPr>
          <a:xfrm>
            <a:off x="6248400" y="4635818"/>
            <a:ext cx="5410200" cy="729615"/>
            <a:chOff x="6248400" y="4635818"/>
            <a:chExt cx="5410200" cy="729615"/>
          </a:xfrm>
        </p:grpSpPr>
        <p:sp>
          <p:nvSpPr>
            <p:cNvPr id="40" name="Rectangle 40"/>
            <p:cNvSpPr/>
            <p:nvPr/>
          </p:nvSpPr>
          <p:spPr>
            <a:xfrm>
              <a:off x="6248400" y="4635818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6453188" y="4900615"/>
              <a:ext cx="200023" cy="200023"/>
              <a:chOff x="6453188" y="4900615"/>
              <a:chExt cx="200023" cy="20002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6453188" y="490061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586538" y="49672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6755892" y="4782502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两种解法的中间式子长得一模一样。公式法其实就是把分布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函数法的求导过程提前做好了。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46" name="Rectangle 46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5897880"/>
              <a:ext cx="200026" cy="200025"/>
              <a:chOff x="738188" y="5897880"/>
              <a:chExt cx="200026" cy="200025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38188" y="58978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77926" y="59423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12642" y="60534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0892" y="5779770"/>
              <a:ext cx="986351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取值范围是由 X 的范围推出来的，不能凭空写成全体实数。本题用 40 万次蒙特卡洛核对 P{10 &lt; Y ≤ 12}，模拟值 0.1887，理论值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0.1875。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随机变量 · 随机变量函数的分布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三个值得记住的结论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3575685" cy="3540442"/>
            <a:chOff x="533400" y="1524000"/>
            <a:chExt cx="3575685" cy="3540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75685" cy="3540442"/>
            </a:xfrm>
            <a:prstGeom prst="roundRect">
              <a:avLst>
                <a:gd name="adj" fmla="val 376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27374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30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24000" y="1768792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正态的线性函数还是正态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28822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 ~ N(μ, σ²)，Y = aX + b（a 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0），则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293"/>
                <p:cNvSpPr txBox="1">
                  <a:spLocks noGrp="1"/>
                </p:cNvSpPr>
                <p:nvPr/>
              </p:nvSpPr>
              <p:spPr>
                <a:xfrm>
                  <a:off x="781050" y="2726055"/>
                  <a:ext cx="3118485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Y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aμ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73430" y="3208020"/>
              <a:ext cx="27393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用公式法代入即可：h(y) = (y 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b)/a，|h′| = 1/|a|。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4573" y="3825716"/>
              <a:ext cx="2922778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取 a = 1/σ、b = −μ/σ 就得到标准化公式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(X − μ)/σ ~ N(0, 1)。第 40 页那条定理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正是这个结论的特例。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4413885" y="1524000"/>
            <a:ext cx="3469958" cy="3540442"/>
            <a:chOff x="4413885" y="1524000"/>
            <a:chExt cx="3469958" cy="3540442"/>
          </a:xfrm>
        </p:grpSpPr>
        <p:sp>
          <p:nvSpPr>
            <p:cNvPr id="17" name="Rectangle 17"/>
            <p:cNvSpPr/>
            <p:nvPr/>
          </p:nvSpPr>
          <p:spPr>
            <a:xfrm>
              <a:off x="4413885" y="1524000"/>
              <a:ext cx="3469958" cy="3540442"/>
            </a:xfrm>
            <a:prstGeom prst="roundRect">
              <a:avLst>
                <a:gd name="adj" fmla="val 38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423410" y="1657350"/>
              <a:ext cx="47625" cy="327374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661535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747793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结论二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404485" y="1768792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柯西分布的反正切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53915" y="2129790"/>
              <a:ext cx="28346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 服从柯西分布 f(x)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1/[π(1 + x²)]，求 Y = arctan X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的密度。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53915" y="3036570"/>
              <a:ext cx="2767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|y| &lt; π/2 时 F_Y(y) = P{X ≤ tan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y} = F_X(tan y)，求导得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formula294"/>
                <p:cNvSpPr txBox="1">
                  <a:spLocks noGrp="1"/>
                </p:cNvSpPr>
                <p:nvPr/>
              </p:nvSpPr>
              <p:spPr>
                <a:xfrm>
                  <a:off x="4661535" y="3632835"/>
                  <a:ext cx="3012758" cy="4371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func>
                              <m:funcPr/>
                              <m:fName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sec</m:t>
                                    </m:r>
                                  </m:e>
                                  <m:sup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fName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func>
                          </m:num>
                          <m:den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π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func>
                                  <m:funcPr/>
                                  <m:fName>
                                    <m:sSup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tan</m:t>
                                        </m:r>
                                      </m:e>
                                      <m:sup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fName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</m:func>
                              </m:e>
                            </m:d>
                          </m:den>
                        </m:f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π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5" name="TextBox 25"/>
            <p:cNvSpPr txBox="1"/>
            <p:nvPr/>
          </p:nvSpPr>
          <p:spPr>
            <a:xfrm>
              <a:off x="4655058" y="4186714"/>
              <a:ext cx="2833370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所以 Y ~ U(−π/2, π/2)：一个取值遍布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整条实轴的分布，被反正切压成了均匀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分布。</a:t>
              </a:r>
            </a:p>
          </p:txBody>
        </p:sp>
      </p:grpSp>
      <p:grpSp>
        <p:nvGrpSpPr>
          <p:cNvPr id="35" name="c3-card-1"/>
          <p:cNvGrpSpPr/>
          <p:nvPr/>
        </p:nvGrpSpPr>
        <p:grpSpPr>
          <a:xfrm>
            <a:off x="8188642" y="1524000"/>
            <a:ext cx="3469958" cy="3540442"/>
            <a:chOff x="8188642" y="1524000"/>
            <a:chExt cx="3469958" cy="3540442"/>
          </a:xfrm>
        </p:grpSpPr>
        <p:sp>
          <p:nvSpPr>
            <p:cNvPr id="27" name="Rectangle 27"/>
            <p:cNvSpPr/>
            <p:nvPr/>
          </p:nvSpPr>
          <p:spPr>
            <a:xfrm>
              <a:off x="8188642" y="1524000"/>
              <a:ext cx="3469958" cy="3540442"/>
            </a:xfrm>
            <a:prstGeom prst="roundRect">
              <a:avLst>
                <a:gd name="adj" fmla="val 38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8198168" y="1657350"/>
              <a:ext cx="47625" cy="327374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8436292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522551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结论三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179242" y="176879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对数正态分布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28672" y="2129790"/>
              <a:ext cx="276796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Y = ln X 服从 N(μ, σ²)，就称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服从对数正态分布。x &gt; 0 时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F_X(x) = P{Y ≤ ln x} = F_Y(ln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x)，求导得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formula295"/>
                <p:cNvSpPr txBox="1">
                  <a:spLocks noGrp="1"/>
                </p:cNvSpPr>
                <p:nvPr/>
              </p:nvSpPr>
              <p:spPr>
                <a:xfrm>
                  <a:off x="8436292" y="3297555"/>
                  <a:ext cx="3012758" cy="3857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2π</m:t>
                                </m:r>
                              </m:e>
                            </m:rad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σx</m:t>
                            </m:r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func>
                                          <m:funcPr/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ln</m:t>
                                            </m:r>
                                          </m:fName>
                                          <m:e>
                                            <m: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</m:func>
                                        <m:r>
                                          <m:rPr>
                                            <m:sty m:val="p"/>
                                          </m:r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μ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sSup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p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sup>
                        </m:sSup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&gt;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4" name="TextBox 34"/>
            <p:cNvSpPr txBox="1"/>
            <p:nvPr/>
          </p:nvSpPr>
          <p:spPr>
            <a:xfrm>
              <a:off x="8428672" y="3803332"/>
              <a:ext cx="2872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≤ 0 时 f_X(x) = 0。股票价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格、收入分布常用它建模，已验证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密度积分为 1。</a:t>
              </a:r>
            </a:p>
          </p:txBody>
        </p:sp>
      </p:grpSp>
      <p:grpSp>
        <p:nvGrpSpPr>
          <p:cNvPr id="4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6" name="Rectangle 36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40130" y="5991225"/>
              <a:ext cx="89682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三道题都是同一套动作：写出 {Y ≤ y} 对应的 X 的范围，代 F_X，再求导。区别只在反函数是什么。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随机变量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自测题（一）分布函数与离散型分布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2157412"/>
            <a:chOff x="533400" y="1524000"/>
            <a:chExt cx="3505200" cy="21574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14375" y="170497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3832" y="173783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07898" y="2045494"/>
              <a:ext cx="276672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分布函数的定义里为什么必须写 P{X ≤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x} 而不是 P{X &lt; x}？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7898" y="2573179"/>
              <a:ext cx="2971546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写成 ≤ 才能保证右连续。若改用 &lt;，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在跳跃点处得到的是左极限值，性质 5 就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不成立了，后面 P{X = a} = F(a) − F(a −</a:t>
              </a:r>
            </a:p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0) 这类公式也会全部失效。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846195"/>
            <a:ext cx="3505200" cy="2157412"/>
            <a:chOff x="533400" y="3846195"/>
            <a:chExt cx="3505200" cy="2157412"/>
          </a:xfrm>
        </p:grpSpPr>
        <p:sp>
          <p:nvSpPr>
            <p:cNvPr id="13" name="Rectangle 13"/>
            <p:cNvSpPr/>
            <p:nvPr/>
          </p:nvSpPr>
          <p:spPr>
            <a:xfrm>
              <a:off x="533400" y="3846195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14375" y="402717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3832" y="406003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7898" y="4367689"/>
              <a:ext cx="293700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一批产品次品率 0.01，任取 200 件，至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少有一件次品的概率约是多少？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7898" y="4895374"/>
              <a:ext cx="2995930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~ B(200, 0.01)，λ = np = 2，用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泊松近似 P{X ≥ 1} = 1 − P{X = 0} ≈ 1 −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e^(−2) = 0.8647。精确二项值 0.8660，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差别在千分之一量级。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2157412"/>
            <a:chOff x="4343400" y="1524000"/>
            <a:chExt cx="3505200" cy="2157412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24375" y="170497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13832" y="173783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17898" y="2045494"/>
              <a:ext cx="2901645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某离散型 X 的 F 在 x = 2 处由 0.3 跳到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0.7。求 P{X = 2}、P{X &lt; 2}、P{X ≤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2}。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17898" y="2816066"/>
              <a:ext cx="294716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跳跃高度就是单点概率，P{X = 2}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0.7 − 0.3 = 0.4；P{X &lt; 2} = F(2 − 0)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0.3；P{X ≤ 2} = F(2) = 0.7。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846195"/>
            <a:ext cx="3505200" cy="2157412"/>
            <a:chOff x="4343400" y="3846195"/>
            <a:chExt cx="3505200" cy="2157412"/>
          </a:xfrm>
        </p:grpSpPr>
        <p:sp>
          <p:nvSpPr>
            <p:cNvPr id="25" name="Rectangle 25"/>
            <p:cNvSpPr/>
            <p:nvPr/>
          </p:nvSpPr>
          <p:spPr>
            <a:xfrm>
              <a:off x="4343400" y="3846195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24375" y="402717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13832" y="406003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17898" y="4367689"/>
              <a:ext cx="29390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几何分布和二项分布都在做伯努利试验，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怎么一眼分开？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17898" y="4895374"/>
              <a:ext cx="2963418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看谁是随机的。次数 n 事先定死、成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功次数随机，是二项分布；成功一次就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停、试验次数随机，是几何分布。前者取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值有上界 n，后者取值可以任意大。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2157412"/>
            <a:chOff x="8153400" y="1524000"/>
            <a:chExt cx="3505200" cy="2157412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34375" y="170497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23832" y="173783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27898" y="2045494"/>
              <a:ext cx="298739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~ B(10, 0.3)，最可能取值是多少？平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均值 np 是不是最可能取值？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27898" y="2573179"/>
              <a:ext cx="2971546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(n + 1)p = 11 × 0.3 = 3.3 不是整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数，取整得 k₀ = 3。np = 3 这次恰好也是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3，但两者并不总相等，例如 B(5, 0.7)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 np = 3.5 而 k₀ = 4。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846195"/>
            <a:ext cx="3505200" cy="2157412"/>
            <a:chOff x="8153400" y="3846195"/>
            <a:chExt cx="3505200" cy="2157412"/>
          </a:xfrm>
        </p:grpSpPr>
        <p:sp>
          <p:nvSpPr>
            <p:cNvPr id="37" name="Rectangle 37"/>
            <p:cNvSpPr/>
            <p:nvPr/>
          </p:nvSpPr>
          <p:spPr>
            <a:xfrm>
              <a:off x="8153400" y="3846195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34375" y="402717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23832" y="406003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27898" y="4367689"/>
              <a:ext cx="2976423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P{X = k} = c/2ᵏ（k = 1, 2, …），求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常数 c。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27898" y="4895374"/>
              <a:ext cx="2914650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由规范性 Σ c/2ᵏ = c × (1/2)/(1 −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1/2) = c = 1，所以 c = 1。再验非负性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1/2ᵏ &gt; 0，成立。这就是 p = 1/2 的几何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随机变量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自测题（二）连续型分布与函数的分布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1914525"/>
            <a:chOff x="533400" y="1524000"/>
            <a:chExt cx="3505200" cy="19145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14375" y="170497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3832" y="173783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07898" y="2045494"/>
              <a:ext cx="30857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概率密度 f(x) 能不能大于 1？为什么？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7898" y="2330291"/>
              <a:ext cx="2914650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能。f 是单位长度上的概率，不是概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率。例如 U(0, 0.1) 的密度恒为 10。受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约束的是曲线下的总面积，不是曲线的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高度。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603308"/>
            <a:ext cx="3505200" cy="2400300"/>
            <a:chOff x="533400" y="3603308"/>
            <a:chExt cx="3505200" cy="2400300"/>
          </a:xfrm>
        </p:grpSpPr>
        <p:sp>
          <p:nvSpPr>
            <p:cNvPr id="13" name="Rectangle 13"/>
            <p:cNvSpPr/>
            <p:nvPr/>
          </p:nvSpPr>
          <p:spPr>
            <a:xfrm>
              <a:off x="533400" y="3603308"/>
              <a:ext cx="3505200" cy="2400300"/>
            </a:xfrm>
            <a:prstGeom prst="roundRect">
              <a:avLst>
                <a:gd name="adj" fmla="val 555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14375" y="378428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3832" y="381714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7898" y="4124801"/>
              <a:ext cx="289433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某元件寿命服从 λ = 0.01 的指数分布。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已经用了 100 小时，再用 100 小时的概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率是多少？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7898" y="4895374"/>
              <a:ext cx="2939034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由无记忆性，答案与已用时间无关，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等于 P{X &gt; 100} = e^(−1) ≈ 0.3679。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指数分布是连续型里唯一有这个性质的分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1914525"/>
            <a:chOff x="4343400" y="1524000"/>
            <a:chExt cx="3505200" cy="1914525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24375" y="170497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13832" y="173783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17898" y="2045494"/>
              <a:ext cx="298617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 = cx² 在 (0, 3) 上，其他处为 0。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c 与 P{X &gt; 2}。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17898" y="2573179"/>
              <a:ext cx="292277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∫₀³ cx²dx = 9c = 1 得 c = 1/9。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P{X &gt; 2} = ∫₂³ x²/9 dx = (27 − 8)/27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19/27 ≈ 0.7037。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603308"/>
            <a:ext cx="3505200" cy="2400300"/>
            <a:chOff x="4343400" y="3603308"/>
            <a:chExt cx="3505200" cy="2400300"/>
          </a:xfrm>
        </p:grpSpPr>
        <p:sp>
          <p:nvSpPr>
            <p:cNvPr id="25" name="Rectangle 25"/>
            <p:cNvSpPr/>
            <p:nvPr/>
          </p:nvSpPr>
          <p:spPr>
            <a:xfrm>
              <a:off x="4343400" y="3603308"/>
              <a:ext cx="3505200" cy="2400300"/>
            </a:xfrm>
            <a:prstGeom prst="roundRect">
              <a:avLst>
                <a:gd name="adj" fmla="val 555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24375" y="378428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13832" y="381714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17898" y="4124801"/>
              <a:ext cx="2763469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~ U(0, 1)，求 Y = 3X + 2 的概率密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17898" y="4652486"/>
              <a:ext cx="2947162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 严格单调增，y 的范围是 (2, 5)。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h(y) = (y − 2)/3，|h′| = 1/3，所以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f_Y(y) = 1 × 1/3 = 1/3 在 (2, 5) 上，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其他处为 0。即 Y ~ U(2, 5)。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2157412"/>
            <a:chOff x="8153400" y="1524000"/>
            <a:chExt cx="3505200" cy="2157412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34375" y="170497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23832" y="173783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27898" y="2045494"/>
              <a:ext cx="294147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~ N(2, 9)，求 P{−1 &lt; X &lt; 5} 和 P{|X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− 2| &gt; 6}。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27898" y="2573179"/>
              <a:ext cx="2939034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 = 2，σ = 3。P{−1 &lt; X &lt; 5} = Φ(1)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 Φ(−1) = 2Φ(1) − 1 = 0.6826；P{|X −</a:t>
              </a:r>
              <a:br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2| &gt; 6} = 2[1 − Φ(2)] = 2(1 − 0.9772)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0.0456。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846195"/>
            <a:ext cx="3505200" cy="2157412"/>
            <a:chOff x="8153400" y="3846195"/>
            <a:chExt cx="3505200" cy="2157412"/>
          </a:xfrm>
        </p:grpSpPr>
        <p:sp>
          <p:nvSpPr>
            <p:cNvPr id="37" name="Rectangle 37"/>
            <p:cNvSpPr/>
            <p:nvPr/>
          </p:nvSpPr>
          <p:spPr>
            <a:xfrm>
              <a:off x="8153400" y="3846195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34375" y="402717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23832" y="406003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27898" y="4367689"/>
              <a:ext cx="2869133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Y = X² 的密度时，为什么结果里会出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 f_X(√y) 与 f_X(−√y) 两项相加？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27898" y="4895374"/>
              <a:ext cx="2898394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因为平方不是单调函数，x = √y 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−√y 都映到同一个 y。写 F_Y 时区间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(−√y, √y]，求导后两个端点各贡献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一项，所以是相加而不是相减。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随机变量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5842635" cy="2093595"/>
            <a:chOff x="533400" y="1524000"/>
            <a:chExt cx="5842635" cy="20935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4506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看到什么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53068" y="1641157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用哪个工具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85919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核心式子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8078" y="202311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任意随机变量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47316" y="2023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分布函数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66554" y="2023110"/>
              <a:ext cx="17984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P{a &lt; X ≤ b} = F(b) − F(a)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282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286952"/>
              <a:ext cx="5842635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8078" y="249745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取值可数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47316" y="249745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66554" y="2404110"/>
              <a:ext cx="2404300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是把 xₖ ≤ x 的 pₖ 累加，跳跃即单点概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率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4988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078" y="297180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取值充满区间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47316" y="29718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概率密度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66554" y="2971800"/>
              <a:ext cx="20994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是 f 从 −∞ 到 x 的积分，f = F′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23183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23659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8078" y="3353752"/>
              <a:ext cx="7989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Y = g(X)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147316" y="33537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分布函数法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66554" y="3353752"/>
              <a:ext cx="20353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F_Y(y) = P{g(X) ≤ y}，再求导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5842635" cy="20935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047875" y="1524000"/>
              <a:ext cx="9525" cy="2093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567112" y="1524000"/>
              <a:ext cx="9525" cy="2093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2" name="c1-card-2"/>
          <p:cNvGrpSpPr/>
          <p:nvPr/>
        </p:nvGrpSpPr>
        <p:grpSpPr>
          <a:xfrm>
            <a:off x="533400" y="3782378"/>
            <a:ext cx="5842635" cy="1714500"/>
            <a:chOff x="533400" y="3782378"/>
            <a:chExt cx="5842635" cy="1714500"/>
          </a:xfrm>
        </p:grpSpPr>
        <p:sp>
          <p:nvSpPr>
            <p:cNvPr id="32" name="Rectangle 32"/>
            <p:cNvSpPr/>
            <p:nvPr/>
          </p:nvSpPr>
          <p:spPr>
            <a:xfrm>
              <a:off x="533400" y="3782378"/>
              <a:ext cx="5842635" cy="1714500"/>
            </a:xfrm>
            <a:prstGeom prst="roundRect">
              <a:avLst>
                <a:gd name="adj" fmla="val 77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42925" y="3915728"/>
              <a:ext cx="47625" cy="14478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52475" y="3963352"/>
              <a:ext cx="182784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03440" y="3996214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本讲义对原课件的更正与补充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62000" y="435578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17448" y="4303871"/>
              <a:ext cx="50625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射手例 k = 2 应为 0.1323；5000 次射击的 P{X ≥ 1} 应为 0.9933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62000" y="464058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17448" y="4588669"/>
              <a:ext cx="502793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等车例 C₁₀⁵(0.5)¹⁰ = 0.2461，原课件写作 0.256；符号函数例的密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度第二行应写“0（其他）”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62000" y="516826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17448" y="5116354"/>
              <a:ext cx="5277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八道只给题面的例题已补全解答，全部数值用 sympy 与蒙特卡洛复核</a:t>
              </a:r>
            </a:p>
          </p:txBody>
        </p:sp>
      </p:grpSp>
      <p:grpSp>
        <p:nvGrpSpPr>
          <p:cNvPr id="58" name="c2-bullets-1"/>
          <p:cNvGrpSpPr/>
          <p:nvPr/>
        </p:nvGrpSpPr>
        <p:grpSpPr>
          <a:xfrm>
            <a:off x="6681788" y="1533525"/>
            <a:ext cx="4671822" cy="1675733"/>
            <a:chOff x="6681788" y="1533525"/>
            <a:chExt cx="4671822" cy="1675733"/>
          </a:xfrm>
        </p:grpSpPr>
        <p:sp>
          <p:nvSpPr>
            <p:cNvPr id="43" name="Ellipse 43"/>
            <p:cNvSpPr/>
            <p:nvPr/>
          </p:nvSpPr>
          <p:spPr>
            <a:xfrm>
              <a:off x="6681788" y="1533525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33694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51536" y="1545431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随机变量把试验结果换成数，事件随之变成不等式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681788" y="1826895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33694" y="1862519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51536" y="1837849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分布函数是唯一对两类随机变量都适用的描述工具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681788" y="2120265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33694" y="215588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951536" y="2131219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离散型认模型：次数定用二项，等首次成功用几何，数稀有事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件用泊松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681788" y="2656522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33694" y="269119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951536" y="2667476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连续型定常数：先用归一性列方程，解完回头验非负性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681788" y="2948940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733694" y="298456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951536" y="2959894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正态题一律先标准化，反查表时记得把双侧概率折成单侧</a:t>
              </a:r>
            </a:p>
          </p:txBody>
        </p:sp>
      </p:grpSp>
      <p:grpSp>
        <p:nvGrpSpPr>
          <p:cNvPr id="64" name="c2-card-2"/>
          <p:cNvGrpSpPr/>
          <p:nvPr/>
        </p:nvGrpSpPr>
        <p:grpSpPr>
          <a:xfrm>
            <a:off x="6680835" y="3324225"/>
            <a:ext cx="4977765" cy="2172652"/>
            <a:chOff x="6680835" y="3324225"/>
            <a:chExt cx="4977765" cy="2172652"/>
          </a:xfrm>
        </p:grpSpPr>
        <p:sp>
          <p:nvSpPr>
            <p:cNvPr id="59" name="Rectangle 59"/>
            <p:cNvSpPr/>
            <p:nvPr/>
          </p:nvSpPr>
          <p:spPr>
            <a:xfrm>
              <a:off x="6680835" y="3324225"/>
              <a:ext cx="4977765" cy="2172652"/>
            </a:xfrm>
            <a:prstGeom prst="roundRect">
              <a:avLst>
                <a:gd name="adj" fmla="val 6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690360" y="3457575"/>
              <a:ext cx="47625" cy="190595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899910" y="3505200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974230" y="3538061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与前后章的衔接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893433" y="3845719"/>
              <a:ext cx="4255770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本章的分布律和密度只回答“取到哪些值、各有多大概率”。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章把它推广到两个随机变量，第 4 章用它算期望与方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差，第 5 章的中心极限定理会解释正态分布为什么无处不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在。</a:t>
              </a:r>
            </a:p>
          </p:txBody>
        </p:sp>
      </p:grpSp>
      <p:grpSp>
        <p:nvGrpSpPr>
          <p:cNvPr id="7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5" name="Rectangle 65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1273" y="6039326"/>
              <a:ext cx="105260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做题先问三句：X 是离散还是连续，题目给的是 F、分布律还是密度，要求的量能不能写成 X 的一个区间。三句答完，方法就只剩一种了。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第2章 随机变量及其分布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rob_ch2">
  <a:themeElements>
    <a:clrScheme name="prob_ch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ob_ch2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b_ch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2026-09-19T13:44:02Z</dcterms:created>
  <dcterms:modified xsi:type="dcterms:W3CDTF">2026-09-19T13:44:02Z</dcterms:modified>
  <cp:category/>
  <cp:contentStatus/>
</cp:coreProperties>
</file>