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b_ch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b_ch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a4e878b29e7ac2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0c65a643a8831f2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d2af822bf83e256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概率论与数理统计 · 第四章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随机变量的数字特征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用几个数概括分布：中心、离散程度与关联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期望是以概率为权的平均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方差量离散程度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协方差与相关系数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矩与协方差矩阵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自学复习版｜据吉林大学《概率论与数理统计》第四章课件整理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数学期望的定义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以概率为权的加权平均，七种常用分布的期望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函数的期望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20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一维与二维的 E(g(X))，四条性质，拆成指示变量之和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定义与计算公式、七种分布的方差、五条性质、标准化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协方差与相关系数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定义、性质、不相关与独立的区别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矩与协方差矩阵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原点矩、中心矩、协方差矩阵、n 维正态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由分布律或概率密度直接算出期望与方差，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并说清每一步在加权什么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记住七种常用分布的期望与方差，看到分布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名就能写出这两个数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E(g(X)) 的公式一步算出函数的期望，不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再先求 Y 的分布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用期望与方差的线性性质拆开 aX + bY + C 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类组合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由协方差算出相关系数，并判断两个随机变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量是独立、不相关还是都不是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68237" cy="2997517"/>
            <a:chOff x="667512" y="1835468"/>
            <a:chExt cx="646823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数学期望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分布律和密度记录了全部信息，期望把它压缩成一个数：平均取值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定义就是以概率为权的加权平均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七种常用分布的期望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670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函数的期望 E(g(X)) 与四条性质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有时不必求出整个分布，几个数就够用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实际问题里确定一个随机变量的分布往往很难，而能拍板的常常只是几个概括性的数。</a:t>
              </a:r>
            </a:p>
          </p:txBody>
        </p:sp>
      </p:grpSp>
      <p:grpSp>
        <p:nvGrpSpPr>
          <p:cNvPr id="41" name="c1-card-1"/>
          <p:cNvGrpSpPr/>
          <p:nvPr/>
        </p:nvGrpSpPr>
        <p:grpSpPr>
          <a:xfrm>
            <a:off x="533400" y="1928812"/>
            <a:ext cx="5410200" cy="3629978"/>
            <a:chOff x="533400" y="1928812"/>
            <a:chExt cx="5410200" cy="362997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629978"/>
            </a:xfrm>
            <a:prstGeom prst="roundRect">
              <a:avLst>
                <a:gd name="adj" fmla="val 36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3632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引例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大学生综合素质测评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两名同学的四项测评成绩如下，要评出谁更优秀。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" y="2729865"/>
              <a:ext cx="501015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58315" y="28470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科目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20467" y="2847023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同学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73017" y="2847023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同学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7154" y="32289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专业课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52204" y="32289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04754" y="32289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2475" y="3488055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3492818"/>
              <a:ext cx="501015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7154" y="36099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数学基础课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52204" y="36099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4754" y="36099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2475" y="3869055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7154" y="39909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文体活动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2204" y="39909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04754" y="39909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52475" y="4251008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" y="4255770"/>
              <a:ext cx="501015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7154" y="4372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社会服务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52204" y="4372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04754" y="4372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52475" y="2729865"/>
              <a:ext cx="501015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052762" y="272986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405312" y="272986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5998" y="4739164"/>
              <a:ext cx="3845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四项直接平均，A 得 84.5，B 得 92.75，B 占优。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7141" y="5019675"/>
              <a:ext cx="469792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可是四项的分量并不一样。若按 4∶3∶2∶1 的权重折算，A 得 89.2，B 得 91.7，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差距一下子缩到 2.5 分。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928812"/>
            <a:ext cx="5410200" cy="1160145"/>
            <a:chOff x="6248400" y="1928812"/>
            <a:chExt cx="5410200" cy="1160145"/>
          </a:xfrm>
        </p:grpSpPr>
        <p:sp>
          <p:nvSpPr>
            <p:cNvPr id="42" name="Rectangle 42"/>
            <p:cNvSpPr/>
            <p:nvPr/>
          </p:nvSpPr>
          <p:spPr>
            <a:xfrm>
              <a:off x="6248400" y="1928812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29375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1394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由此引出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44906" y="21493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换一套权数，结论就可能换一个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22898" y="246554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算平均值先要定下每个数占多大分量。随机变量的取值天然带着分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量，就是它对应的概率。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253740"/>
            <a:ext cx="5410200" cy="2305050"/>
            <a:chOff x="6248400" y="3253740"/>
            <a:chExt cx="5410200" cy="2305050"/>
          </a:xfrm>
        </p:grpSpPr>
        <p:sp>
          <p:nvSpPr>
            <p:cNvPr id="48" name="Rectangle 48"/>
            <p:cNvSpPr/>
            <p:nvPr/>
          </p:nvSpPr>
          <p:spPr>
            <a:xfrm>
              <a:off x="6248400" y="3253740"/>
              <a:ext cx="5410200" cy="2305050"/>
            </a:xfrm>
            <a:prstGeom prst="roundRect">
              <a:avLst>
                <a:gd name="adj" fmla="val 57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3387090"/>
              <a:ext cx="47625" cy="20383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7475" y="343471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37744" y="346757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本章要算的三类数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77000" y="38271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32448" y="3775234"/>
              <a:ext cx="3742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平均取值，称为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数学期望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，也叫均值，记作 E(X)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77000" y="41119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32448" y="4060031"/>
              <a:ext cx="4645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取值平均偏离均值的程度，称为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方差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，记作 D(X)，开方后叫标准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77000" y="46405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32448" y="458771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两个随机变量之间的关联程度，用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协方差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相关系数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刻画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2141" y="4869180"/>
              <a:ext cx="458457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第四节的矩把这三个量放进同一个框架，期望是 1 阶原点矩，方差是 2 阶中心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矩，协方差是 2 阶混合中心矩。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7594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数字特征是由分布算出来的。分布定了，这些数就定了；反过来，知道这几个数一般还原不出分布。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期望的定义：以概率作权数的加权平均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card-1"/>
          <p:cNvGrpSpPr/>
          <p:nvPr/>
        </p:nvGrpSpPr>
        <p:grpSpPr>
          <a:xfrm>
            <a:off x="533400" y="1524000"/>
            <a:ext cx="5410200" cy="4172902"/>
            <a:chOff x="533400" y="1524000"/>
            <a:chExt cx="5410200" cy="41729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72902"/>
            </a:xfrm>
            <a:prstGeom prst="roundRect">
              <a:avLst>
                <a:gd name="adj" fmla="val 31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9062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引例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射击运动员的平均成绩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2415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每次射中的环数 X 的分布律为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8190" y="2349818"/>
              <a:ext cx="499872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6537" y="24712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08161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08261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8361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7509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64073" y="24712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5345" y="287131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5470" y="28713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4618" y="28713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54718" y="28713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54818" y="28713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53965" y="28713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8190" y="2349818"/>
              <a:ext cx="4998720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53552" y="23498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552700" y="23498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352800" y="23498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52900" y="23498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952048" y="234981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1332" y="3255645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设共射击 n 次，命中 6、7、8、9、10 环的次数依次为 n₁ 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n₅，平均成绩是各环数乘以相应的频率再相加：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21"/>
                <p:cNvSpPr txBox="1">
                  <a:spLocks noGrp="1"/>
                </p:cNvSpPr>
                <p:nvPr/>
              </p:nvSpPr>
              <p:spPr>
                <a:xfrm>
                  <a:off x="758190" y="3790950"/>
                  <a:ext cx="499872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751332" y="4308158"/>
              <a:ext cx="4130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很大时频率 nᵢ/n 稳定到概率，平均成绩就稳定到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22"/>
                <p:cNvSpPr txBox="1">
                  <a:spLocks noGrp="1"/>
                </p:cNvSpPr>
                <p:nvPr/>
              </p:nvSpPr>
              <p:spPr>
                <a:xfrm>
                  <a:off x="758190" y="4586288"/>
                  <a:ext cx="499872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0.3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0.4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8.8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752475" y="5012531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频率换成概率之后，平均成绩就成了以概率为权数的加权平均，右边的定义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就是这样来的。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3273742"/>
            <a:chOff x="6248400" y="1524000"/>
            <a:chExt cx="5410200" cy="3273742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3273742"/>
            </a:xfrm>
            <a:prstGeom prst="roundRect">
              <a:avLst>
                <a:gd name="adj" fmla="val 40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300704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3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5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38784" y="17459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数学期望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6332" y="2071688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离散型随机变量 X 的分布律为 P{X = xₖ} = pₖ，若级数绝对收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敛，则称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23"/>
                <p:cNvSpPr txBox="1">
                  <a:spLocks noGrp="1"/>
                </p:cNvSpPr>
                <p:nvPr/>
              </p:nvSpPr>
              <p:spPr>
                <a:xfrm>
                  <a:off x="6473190" y="2606992"/>
                  <a:ext cx="499872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466332" y="3278505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X 的数学期望。连续型随机变量 X 的概率密度为 f(x)，若积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分绝对收敛，则称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24"/>
                <p:cNvSpPr txBox="1">
                  <a:spLocks noGrp="1"/>
                </p:cNvSpPr>
                <p:nvPr/>
              </p:nvSpPr>
              <p:spPr>
                <a:xfrm>
                  <a:off x="6473190" y="3813810"/>
                  <a:ext cx="4998720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7" name="TextBox 47"/>
            <p:cNvSpPr txBox="1"/>
            <p:nvPr/>
          </p:nvSpPr>
          <p:spPr>
            <a:xfrm>
              <a:off x="6466332" y="4399598"/>
              <a:ext cx="1506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X 的数学期望。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4967288"/>
            <a:ext cx="5410200" cy="729615"/>
            <a:chOff x="6248400" y="4967288"/>
            <a:chExt cx="5410200" cy="729615"/>
          </a:xfrm>
        </p:grpSpPr>
        <p:sp>
          <p:nvSpPr>
            <p:cNvPr id="49" name="Rectangle 49"/>
            <p:cNvSpPr/>
            <p:nvPr/>
          </p:nvSpPr>
          <p:spPr>
            <a:xfrm>
              <a:off x="6248400" y="496728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41129" y="5228391"/>
              <a:ext cx="224134" cy="192560"/>
              <a:chOff x="6441129" y="5228391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553200" y="52987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41129" y="52283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53200" y="53765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892" y="5113973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要求的是绝对收敛，不是收敛。级数可以靠正负项抵消而收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敛，但那样的“平均值”会随求和次序改变，没有意义。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6" name="Rectangle 5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8373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期望是一个确定的数，不再是随机变量。它由分布唯一确定，与试验做不做、做几次都无关。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94258" cy="909257"/>
            <a:chOff x="520446" y="342900"/>
            <a:chExt cx="60942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942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两点分布与二项分布：期望就是 p 和 np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card-1"/>
          <p:cNvGrpSpPr/>
          <p:nvPr/>
        </p:nvGrpSpPr>
        <p:grpSpPr>
          <a:xfrm>
            <a:off x="533400" y="1524000"/>
            <a:ext cx="4544378" cy="3920490"/>
            <a:chOff x="533400" y="1524000"/>
            <a:chExt cx="4544378" cy="3920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920490"/>
            </a:xfrm>
            <a:prstGeom prst="roundRect">
              <a:avLst>
                <a:gd name="adj" fmla="val 3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537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867" y="176355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6736" y="1767364"/>
              <a:ext cx="26272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服从参数为 p 的 (0−1) 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分布律只有两项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5335" y="2415540"/>
              <a:ext cx="409860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34315" y="25469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69503" y="2546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3968" y="2546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0681" y="297751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10359" y="2977515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44824" y="29775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5335" y="2415540"/>
              <a:ext cx="4098608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000250" y="241554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34715" y="241554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31"/>
                <p:cNvSpPr txBox="1">
                  <a:spLocks noGrp="1"/>
                </p:cNvSpPr>
                <p:nvPr/>
              </p:nvSpPr>
              <p:spPr>
                <a:xfrm>
                  <a:off x="775335" y="3368992"/>
                  <a:ext cx="4098608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769239" y="3861435"/>
              <a:ext cx="38907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取值只有 0 和 1 时，期望就等于取 1 的概率。指示变量的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这个性质在后面反复要用。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9239" y="4364355"/>
              <a:ext cx="38831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两点分布就是 n = 1 的二项分布，右边的 np 在 n = 1 时正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好退回 p。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5382578" y="1524000"/>
            <a:ext cx="6276022" cy="3920490"/>
            <a:chOff x="5382578" y="1524000"/>
            <a:chExt cx="6276022" cy="3920490"/>
          </a:xfrm>
        </p:grpSpPr>
        <p:sp>
          <p:nvSpPr>
            <p:cNvPr id="27" name="Rectangle 27"/>
            <p:cNvSpPr/>
            <p:nvPr/>
          </p:nvSpPr>
          <p:spPr>
            <a:xfrm>
              <a:off x="5382578" y="1524000"/>
              <a:ext cx="6276022" cy="3920490"/>
            </a:xfrm>
            <a:prstGeom prst="roundRect">
              <a:avLst>
                <a:gd name="adj" fmla="val 3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92102" y="1657350"/>
              <a:ext cx="47625" cy="36537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24512" y="172783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17044" y="176355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65914" y="1767364"/>
              <a:ext cx="20209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B(n, p)，求 E(X)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17274" y="2119789"/>
              <a:ext cx="55238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分布律为 P{X = k} = Cₙᵏpᵏ(1 − p)ⁿ⁻ᵏ，k = 0, 1, …, n。关键一步是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k 吸收进组合数：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32"/>
                <p:cNvSpPr txBox="1">
                  <a:spLocks noGrp="1"/>
                </p:cNvSpPr>
                <p:nvPr/>
              </p:nvSpPr>
              <p:spPr>
                <a:xfrm>
                  <a:off x="5624512" y="2687002"/>
                  <a:ext cx="583025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5617274" y="32665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33"/>
                <p:cNvSpPr txBox="1">
                  <a:spLocks noGrp="1"/>
                </p:cNvSpPr>
                <p:nvPr/>
              </p:nvSpPr>
              <p:spPr>
                <a:xfrm>
                  <a:off x="5624512" y="3562350"/>
                  <a:ext cx="5830252" cy="1157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</m:e>
                            </m:nary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np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nary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np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d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np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5618416" y="4832032"/>
              <a:ext cx="56052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第三个等号用的是二项展开式。n 次试验每次平均成功 p 次，总共 np 次，结果与直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觉一致。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8" name="Rectangle 3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6004084"/>
              <a:ext cx="10394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求和式里出现 k 乘以组合数时，先把 k 并进阶乘降一阶，再凑成一个完整的二项展开式，这是离散型求期望最常用的手法。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几何分布与泊松分布：用级数求和凑出期望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3954780"/>
            <a:chOff x="533400" y="1524000"/>
            <a:chExt cx="5410200" cy="39547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954780"/>
            </a:xfrm>
            <a:prstGeom prst="roundRect">
              <a:avLst>
                <a:gd name="adj" fmla="val 3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880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2468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服从参数为 p 的几何分布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95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分布律为 P{X = k} = (1 − p)ᵏ⁻¹p，k = 1, 2, 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9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95300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157538"/>
              <a:ext cx="448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对幂级数逐项求导可得一个现成的和式，|x| &lt; 1 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40"/>
                <p:cNvSpPr txBox="1">
                  <a:spLocks noGrp="1"/>
                </p:cNvSpPr>
                <p:nvPr/>
              </p:nvSpPr>
              <p:spPr>
                <a:xfrm>
                  <a:off x="781050" y="3468052"/>
                  <a:ext cx="495300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3430" y="415480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 = 1 − p 代入，得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41"/>
                <p:cNvSpPr txBox="1">
                  <a:spLocks noGrp="1"/>
                </p:cNvSpPr>
                <p:nvPr/>
              </p:nvSpPr>
              <p:spPr>
                <a:xfrm>
                  <a:off x="781050" y="4465320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74573" y="5070634"/>
              <a:ext cx="347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成功率 p = 0.2 时平均要试 5 次才首次成功。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3954780"/>
            <a:chOff x="6248400" y="1524000"/>
            <a:chExt cx="5410200" cy="3954780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3954780"/>
            </a:xfrm>
            <a:prstGeom prst="roundRect">
              <a:avLst>
                <a:gd name="adj" fmla="val 3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36880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6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8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7070" y="1768792"/>
              <a:ext cx="2468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服从参数为 λ 的泊松分布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12979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分布律为 P{X = k} = λᵏexp(−λ)/k!，k = 0, 1, 2, …。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0 那项贡献为 0，从 k = 1 开始求和：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42"/>
                <p:cNvSpPr txBox="1">
                  <a:spLocks noGrp="1"/>
                </p:cNvSpPr>
                <p:nvPr/>
              </p:nvSpPr>
              <p:spPr>
                <a:xfrm>
                  <a:off x="6496050" y="2726055"/>
                  <a:ext cx="4953000" cy="751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!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sup>
                            </m:sSup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p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num>
                                  <m:den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!</m:t>
                                    </m:r>
                                  </m:den>
                                </m:f>
                              </m:e>
                            </m:nary>
                          </m: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488430" y="3597592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最后一步用的是指数函数的幂级数展开：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43"/>
                <p:cNvSpPr txBox="1">
                  <a:spLocks noGrp="1"/>
                </p:cNvSpPr>
                <p:nvPr/>
              </p:nvSpPr>
              <p:spPr>
                <a:xfrm>
                  <a:off x="6496050" y="3907155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89573" y="4589621"/>
              <a:ext cx="463778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 λ 本身就是平均发生次数。例如一小时内到达的顾客数服从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π(4)，平均每小时就来 4 位。用泊松近似二项时取 λ = np，两边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的期望正好对上。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8930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离散型求期望最常用两个手法：把 k 并进组合数或阶乘凑成已知展开式，或者对几何级数逐项求导。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四个离散分布的期望，放在一起记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265420" cy="293370"/>
            <a:chOff x="525780" y="1548765"/>
            <a:chExt cx="52654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每一个期望都能用一句话解释，记住解释就不会记错公式。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33400" y="1954530"/>
            <a:ext cx="11125200" cy="2150745"/>
            <a:chOff x="533400" y="1954530"/>
            <a:chExt cx="11125200" cy="215074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5539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1368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68443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61670" y="208597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 E(X)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79864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(0−1) 分布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8969" y="2515552"/>
              <a:ext cx="610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B(1, p)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53422" y="2515552"/>
              <a:ext cx="23362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1} = p，P{X = 0} = 1 − 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098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26386" y="2515552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1 的概率就是平均值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18969" y="2946082"/>
              <a:ext cx="604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B(n, p)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53422" y="2946082"/>
              <a:ext cx="2138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 = Cₙᵏpᵏ(1 − p)ⁿ⁻ᵏ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90982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26386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次试验每次平均成功 p 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3376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18969" y="337661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π(λ)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3422" y="3376612"/>
              <a:ext cx="1876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 = λᵏexp(−λ)/k!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098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26386" y="3376612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 λ 本身就是平均发生次数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8969" y="3806190"/>
              <a:ext cx="377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G(p)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53422" y="3806190"/>
              <a:ext cx="17633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 = p(1 − p)ᵏ⁻¹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90982" y="380619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6386" y="380619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成功率越低，平均等待越久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54530"/>
              <a:ext cx="11125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30886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64331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8087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31627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1-compare-2"/>
          <p:cNvGrpSpPr/>
          <p:nvPr/>
        </p:nvGrpSpPr>
        <p:grpSpPr>
          <a:xfrm>
            <a:off x="533400" y="4291012"/>
            <a:ext cx="11125200" cy="1312545"/>
            <a:chOff x="533400" y="4291012"/>
            <a:chExt cx="11125200" cy="1312545"/>
          </a:xfrm>
        </p:grpSpPr>
        <p:sp>
          <p:nvSpPr>
            <p:cNvPr id="46" name="Rectangle 46"/>
            <p:cNvSpPr/>
            <p:nvPr/>
          </p:nvSpPr>
          <p:spPr>
            <a:xfrm>
              <a:off x="533400" y="4291012"/>
              <a:ext cx="5314950" cy="1312545"/>
            </a:xfrm>
            <a:prstGeom prst="roundRect">
              <a:avLst>
                <a:gd name="adj" fmla="val 101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424362"/>
              <a:ext cx="47625" cy="10458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8096" y="45181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82955" y="49168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9546" y="4856321"/>
              <a:ext cx="3101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试验次数 n 事先定死，成功次数随机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2955" y="52368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9546" y="5176361"/>
              <a:ext cx="20885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 np 随 n 成比例增长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43650" y="4291012"/>
              <a:ext cx="5314950" cy="1312545"/>
            </a:xfrm>
            <a:prstGeom prst="roundRect">
              <a:avLst>
                <a:gd name="adj" fmla="val 101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53175" y="4424362"/>
              <a:ext cx="47625" cy="10458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78346" y="45181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93205" y="49168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49796" y="485632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成功一次就停，试验次数随机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93205" y="52368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49796" y="5176361"/>
              <a:ext cx="23561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 1/p 与总试验次数无关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895975" y="474726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49315" y="48815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分清</a:t>
              </a:r>
            </a:p>
          </p:txBody>
        </p:sp>
      </p:grpSp>
      <p:grpSp>
        <p:nvGrpSpPr>
          <p:cNvPr id="69" name="c1-callout-3"/>
          <p:cNvGrpSpPr/>
          <p:nvPr/>
        </p:nvGrpSpPr>
        <p:grpSpPr>
          <a:xfrm>
            <a:off x="533400" y="5788342"/>
            <a:ext cx="11125200" cy="574358"/>
            <a:chOff x="533400" y="5788342"/>
            <a:chExt cx="11125200" cy="574358"/>
          </a:xfrm>
        </p:grpSpPr>
        <p:sp>
          <p:nvSpPr>
            <p:cNvPr id="63" name="Rectangle 63"/>
            <p:cNvSpPr/>
            <p:nvPr/>
          </p:nvSpPr>
          <p:spPr>
            <a:xfrm>
              <a:off x="533400" y="5788342"/>
              <a:ext cx="11125200" cy="574358"/>
            </a:xfrm>
            <a:prstGeom prst="roundRect">
              <a:avLst>
                <a:gd name="adj" fmla="val 199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75985"/>
              <a:ext cx="200026" cy="200025"/>
              <a:chOff x="738188" y="5975985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75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20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31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511" y="5976461"/>
              <a:ext cx="930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(0−1) 分布是 n = 1 的二项分布，所以它的期望 p 正是 np 在 n = 1 时的特例。四个公式实际只有三件事要记。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均匀分布与指数分布的期望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3787140"/>
            <a:chOff x="533400" y="1524000"/>
            <a:chExt cx="5193982" cy="3787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787140"/>
            </a:xfrm>
            <a:prstGeom prst="roundRect">
              <a:avLst>
                <a:gd name="adj" fmla="val 3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204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6063" y="1744504"/>
              <a:ext cx="2214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在 [a, b] 上服从均匀分布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3858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概率密度为 f(x) = 1/(b − a)（a ≤ x ≤ b），其余为 0。密度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在区间外为 0，积分只需在 [a, b] 上做：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2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4793932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den>
                            </m:f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63"/>
                <p:cNvSpPr txBox="1">
                  <a:spLocks noGrp="1"/>
                </p:cNvSpPr>
                <p:nvPr/>
              </p:nvSpPr>
              <p:spPr>
                <a:xfrm>
                  <a:off x="752475" y="3102292"/>
                  <a:ext cx="4793932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bSup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|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47141" y="3637598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结果就是区间中点。密度关于中点对称，平均值只能落在对称中心上。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3887629"/>
              <a:ext cx="42882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 X ~ U(2, 8) 时 E(X) = (2 + 8)/2 = 5；X ~ U(0, 1)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0.5。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032182" y="1524000"/>
            <a:ext cx="5626418" cy="2235518"/>
            <a:chOff x="6032182" y="1524000"/>
            <a:chExt cx="5626418" cy="2235518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2235518"/>
            </a:xfrm>
            <a:prstGeom prst="roundRect">
              <a:avLst>
                <a:gd name="adj" fmla="val 5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41708" y="1657350"/>
              <a:ext cx="47625" cy="19688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1258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5129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64846" y="1744504"/>
              <a:ext cx="2106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服从参数为 λ 的指数分布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4780" y="2061686"/>
              <a:ext cx="51306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概率密度为 f(x) = λexp(−λx)（x &gt; 0），其余为 0。用分部积分：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64"/>
                <p:cNvSpPr txBox="1">
                  <a:spLocks noGrp="1"/>
                </p:cNvSpPr>
                <p:nvPr/>
              </p:nvSpPr>
              <p:spPr>
                <a:xfrm>
                  <a:off x="6251258" y="2325052"/>
                  <a:ext cx="5226368" cy="990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λx</m:t>
                                    </m:r>
                                  </m:sup>
                                </m:sSup>
                              </m:e>
                            </m:nary>
                          </m: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λx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den>
                            </m:f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245924" y="3413760"/>
              <a:ext cx="5049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 是单位时间内事件发生的平均次数，1/λ 是平均等待时间。λ 越大，等待越短。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032182" y="3924300"/>
            <a:ext cx="5626418" cy="1386840"/>
            <a:chOff x="6032182" y="3924300"/>
            <a:chExt cx="5626418" cy="1386840"/>
          </a:xfrm>
        </p:grpSpPr>
        <p:sp>
          <p:nvSpPr>
            <p:cNvPr id="27" name="Rectangle 27"/>
            <p:cNvSpPr/>
            <p:nvPr/>
          </p:nvSpPr>
          <p:spPr>
            <a:xfrm>
              <a:off x="6032182" y="3924300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41708" y="40576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1258" y="41052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977" y="41381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44780" y="4444841"/>
              <a:ext cx="49954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15 页把题设写成“E(X) = λ”，而同页算出的答案是 1/λ；第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 页又把参数写成 θ，正文里用的却仍是 λ。本讲义一律写成：参数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λ 的指数分布，E(X) = 1/λ。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9774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指数分布有两种参数化写法，一种用发生率 λ，一种用平均等待时间 θ = 1/λ。看到 θ 要先确认它是哪一个，期望正好互为倒数。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08377" cy="909257"/>
            <a:chOff x="520446" y="342900"/>
            <a:chExt cx="41083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083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正态分布的期望就是参数 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842635" cy="4161472"/>
            <a:chOff x="533400" y="1524000"/>
            <a:chExt cx="5842635" cy="41614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161472"/>
            </a:xfrm>
            <a:prstGeom prst="roundRect">
              <a:avLst>
                <a:gd name="adj" fmla="val 3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947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1400" y="1756410"/>
              <a:ext cx="2029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N(μ, σ²)，求 E(X)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7"/>
                <p:cNvSpPr txBox="1">
                  <a:spLocks noGrp="1"/>
                </p:cNvSpPr>
                <p:nvPr/>
              </p:nvSpPr>
              <p:spPr>
                <a:xfrm>
                  <a:off x="763905" y="2370772"/>
                  <a:ext cx="5419725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−∞&lt;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&lt;+∞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2865120"/>
              <a:ext cx="3675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t = (x − μ)/σ，则 x = σt + μ，dx = σdt：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78"/>
                <p:cNvSpPr txBox="1">
                  <a:spLocks noGrp="1"/>
                </p:cNvSpPr>
                <p:nvPr/>
              </p:nvSpPr>
              <p:spPr>
                <a:xfrm>
                  <a:off x="763905" y="3145155"/>
                  <a:ext cx="5419725" cy="990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2π</m:t>
                                        </m:r>
                                      </m:e>
                                    </m:rad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μ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σ</m:t>
                                            </m:r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nary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7047" y="4245292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拆成两项，前一项的被积函数是奇函数，积分为 0；后一项是 μ 乘以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标准正态密度的总积分 1。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79"/>
                <p:cNvSpPr txBox="1">
                  <a:spLocks noGrp="1"/>
                </p:cNvSpPr>
                <p:nvPr/>
              </p:nvSpPr>
              <p:spPr>
                <a:xfrm>
                  <a:off x="763905" y="4782502"/>
                  <a:ext cx="5419725" cy="6934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2π</m:t>
                                        </m:r>
                                      </m:e>
                                    </m:rad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nary>
                          </m: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2-card-1"/>
          <p:cNvGrpSpPr/>
          <p:nvPr/>
        </p:nvGrpSpPr>
        <p:grpSpPr>
          <a:xfrm>
            <a:off x="6680835" y="1524000"/>
            <a:ext cx="4977765" cy="1226820"/>
            <a:chOff x="6680835" y="1524000"/>
            <a:chExt cx="4977765" cy="1226820"/>
          </a:xfrm>
        </p:grpSpPr>
        <p:sp>
          <p:nvSpPr>
            <p:cNvPr id="19" name="Rectangle 19"/>
            <p:cNvSpPr/>
            <p:nvPr/>
          </p:nvSpPr>
          <p:spPr>
            <a:xfrm>
              <a:off x="6680835" y="1524000"/>
              <a:ext cx="4977765" cy="1226820"/>
            </a:xfrm>
            <a:prstGeom prst="roundRect">
              <a:avLst>
                <a:gd name="adj" fmla="val 1087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7324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6468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6932" y="1756410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 μ 的两重身份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66382" y="2090738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 既是密度曲线的对称轴位置，也是 X 的期望。写出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N(μ, σ²) 的一刻，期望已经知道了，不用再算。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680835" y="2926080"/>
            <a:ext cx="4977765" cy="2759392"/>
            <a:chOff x="6680835" y="2926080"/>
            <a:chExt cx="4977765" cy="2759392"/>
          </a:xfrm>
        </p:grpSpPr>
        <p:sp>
          <p:nvSpPr>
            <p:cNvPr id="25" name="Rectangle 25"/>
            <p:cNvSpPr/>
            <p:nvPr/>
          </p:nvSpPr>
          <p:spPr>
            <a:xfrm>
              <a:off x="6680835" y="2926080"/>
              <a:ext cx="4977765" cy="2759392"/>
            </a:xfrm>
            <a:prstGeom prst="roundRect">
              <a:avLst>
                <a:gd name="adj" fmla="val 48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3059430"/>
              <a:ext cx="47625" cy="24926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11340" y="31184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2780" y="31527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会用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95032" y="315849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换元是连续型求期望的通用手段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919912" y="354806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75932" y="3491865"/>
              <a:ext cx="4384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 (x − μ)/σ 这种结构，先换元把密度化成标准正态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919912" y="385095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75932" y="379476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换元后把被积函数拆成奇函数部分与密度部分，奇函数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项直接扣掉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919912" y="441102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75932" y="4354830"/>
              <a:ext cx="41370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同一套动作在算 E(X²)、求方差、算各阶矩时还要重复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3610"/>
              <a:ext cx="9573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密度关于某点对称且期望存在时，期望一定等于对称中心。均匀分布的 (a+b)/2 和正态分布的 μ 都是这条结论的例子。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三个连续分布的期望，以及一个没有期望的分布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276022" cy="1623060"/>
            <a:chOff x="533400" y="1524000"/>
            <a:chExt cx="6276022" cy="16230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941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4086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概率密度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47575" y="1648301"/>
              <a:ext cx="731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 E(X)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24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 U(a, b)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79370" y="2054066"/>
              <a:ext cx="193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1/(b − a)，a &lt; x &lt;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16905" y="205406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+ b)/2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指数分布（参数 λ）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79370" y="2459831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λexp(−λx)，x &gt;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16905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332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 N(μ, σ²)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79370" y="2865596"/>
              <a:ext cx="2845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exp(−(x − μ)²/(2σ²))/(√(2π)σ)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1690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27602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74595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61213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llout-2"/>
          <p:cNvGrpSpPr/>
          <p:nvPr/>
        </p:nvGrpSpPr>
        <p:grpSpPr>
          <a:xfrm>
            <a:off x="533400" y="3322320"/>
            <a:ext cx="6276022" cy="729615"/>
            <a:chOff x="533400" y="3322320"/>
            <a:chExt cx="6276022" cy="729615"/>
          </a:xfrm>
        </p:grpSpPr>
        <p:sp>
          <p:nvSpPr>
            <p:cNvPr id="27" name="Rectangle 27"/>
            <p:cNvSpPr/>
            <p:nvPr/>
          </p:nvSpPr>
          <p:spPr>
            <a:xfrm>
              <a:off x="533400" y="332232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3587117"/>
              <a:ext cx="200023" cy="200023"/>
              <a:chOff x="738188" y="358711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35871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36537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3468052"/>
              <a:ext cx="53286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三个期望都只由参数决定。看到分布名与参数，就可以直接写出期望，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不必每次重新积分。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4226242"/>
            <a:ext cx="6276022" cy="1209675"/>
            <a:chOff x="533400" y="4226242"/>
            <a:chExt cx="6276022" cy="1209675"/>
          </a:xfrm>
        </p:grpSpPr>
        <p:sp>
          <p:nvSpPr>
            <p:cNvPr id="33" name="Rectangle 33"/>
            <p:cNvSpPr/>
            <p:nvPr/>
          </p:nvSpPr>
          <p:spPr>
            <a:xfrm>
              <a:off x="533400" y="4226242"/>
              <a:ext cx="627602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35959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3905" y="441864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1344" y="445293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马上用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7047" y="4775835"/>
              <a:ext cx="557726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U(2, 8) 的期望是 5；参数 λ = 0.5 的指数分布期望是 2；N(3, 4) 的期望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3，与第二个参数 4 无关。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7114222" y="1524000"/>
            <a:ext cx="4544378" cy="3911918"/>
            <a:chOff x="7114222" y="1524000"/>
            <a:chExt cx="4544378" cy="3911918"/>
          </a:xfrm>
        </p:grpSpPr>
        <p:sp>
          <p:nvSpPr>
            <p:cNvPr id="39" name="Rectangle 39"/>
            <p:cNvSpPr/>
            <p:nvPr/>
          </p:nvSpPr>
          <p:spPr>
            <a:xfrm>
              <a:off x="7114222" y="1524000"/>
              <a:ext cx="4544378" cy="3911918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23748" y="1657350"/>
              <a:ext cx="47625" cy="36452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44728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40168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95070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不是所有随机变量都有期望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37870" y="209073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柯西分布的概率密度为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88"/>
                <p:cNvSpPr txBox="1">
                  <a:spLocks noGrp="1"/>
                </p:cNvSpPr>
                <p:nvPr/>
              </p:nvSpPr>
              <p:spPr>
                <a:xfrm>
                  <a:off x="7344728" y="2370772"/>
                  <a:ext cx="4121468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−∞&lt;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&lt;+∞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6" name="TextBox 46"/>
            <p:cNvSpPr txBox="1"/>
            <p:nvPr/>
          </p:nvSpPr>
          <p:spPr>
            <a:xfrm>
              <a:off x="7337870" y="286512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检验绝对收敛性，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89"/>
                <p:cNvSpPr txBox="1">
                  <a:spLocks noGrp="1"/>
                </p:cNvSpPr>
                <p:nvPr/>
              </p:nvSpPr>
              <p:spPr>
                <a:xfrm>
                  <a:off x="7344728" y="3145155"/>
                  <a:ext cx="4121468" cy="373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sSubSup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</m:sSubSup>
                          </m:e>
                        </m:func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=+∞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8" name="TextBox 48"/>
            <p:cNvSpPr txBox="1"/>
            <p:nvPr/>
          </p:nvSpPr>
          <p:spPr>
            <a:xfrm>
              <a:off x="7337870" y="362807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积分发散，所以柯西分布的数学期望不存在。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39012" y="3926681"/>
              <a:ext cx="3873246" cy="8429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它的密度关于 0 对称，但对称性不能代替绝对收敛。按对称区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间截断，∫ xf(x)dx 在 [−A, A] 上恒为 0；换成 [−A, 2A]，A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 ∞ 时趋于 ln2/π ≈ 0.22。截法一变结果就变，这个“平均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值”无从定义。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1" name="Rectangle 5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3610"/>
              <a:ext cx="8355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遇到尾部衰减像 1/x² 这样慢的密度，先验证绝对收敛再动手积分，否则会算出一个并不存在的“期望”。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例：这个摸球游戏对玩家不利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345479" cy="278702"/>
            <a:chOff x="526161" y="1547336"/>
            <a:chExt cx="734547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3454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袋中 20 个球，10 红 10 白。红球记 10 分、白球记 5 分，随机摸 10 个，按总分兑奖。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41195"/>
            <a:ext cx="5626418" cy="2002155"/>
            <a:chOff x="533400" y="1941195"/>
            <a:chExt cx="5626418" cy="20021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2002155"/>
            </a:xfrm>
            <a:prstGeom prst="roundRect">
              <a:avLst>
                <a:gd name="adj" fmla="val 66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735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6630" y="216789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91400" y="217360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941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为摸到的红球数，这是不放回抽样，X 服从超几何分布：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02"/>
                <p:cNvSpPr txBox="1">
                  <a:spLocks noGrp="1"/>
                </p:cNvSpPr>
                <p:nvPr/>
              </p:nvSpPr>
              <p:spPr>
                <a:xfrm>
                  <a:off x="763905" y="2787968"/>
                  <a:ext cx="5203508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bSup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7047" y="3283268"/>
              <a:ext cx="49943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总分值 = 10k + 5(10 − k) = 50 + 5k，分数由 k 唯一确定，所以奖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金 Y 只取决于 k。</a:t>
              </a:r>
            </a:p>
          </p:txBody>
        </p:sp>
      </p:grpSp>
      <p:grpSp>
        <p:nvGrpSpPr>
          <p:cNvPr id="49" name="c1-table-2"/>
          <p:cNvGrpSpPr/>
          <p:nvPr/>
        </p:nvGrpSpPr>
        <p:grpSpPr>
          <a:xfrm>
            <a:off x="533400" y="4118610"/>
            <a:ext cx="5626418" cy="1217295"/>
            <a:chOff x="533400" y="4118610"/>
            <a:chExt cx="5626418" cy="1217295"/>
          </a:xfrm>
        </p:grpSpPr>
        <p:sp>
          <p:nvSpPr>
            <p:cNvPr id="18" name="Rectangle 18"/>
            <p:cNvSpPr/>
            <p:nvPr/>
          </p:nvSpPr>
          <p:spPr>
            <a:xfrm>
              <a:off x="533400" y="4118610"/>
              <a:ext cx="562641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4681" y="42429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8596" y="42429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99897" y="4242911"/>
              <a:ext cx="431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或 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87614" y="4242911"/>
              <a:ext cx="431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或 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75332" y="4242911"/>
              <a:ext cx="431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或 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63049" y="4242911"/>
              <a:ext cx="431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或 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07231" y="4242911"/>
              <a:ext cx="5184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 或 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3412" y="4648676"/>
              <a:ext cx="555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Y（元）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3525" y="46486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21242" y="46486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08960" y="46486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96677" y="46486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84395" y="46486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72112" y="464867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253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3014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50544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33525" y="505444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34.37%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21242" y="505444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47.74%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08960" y="505444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15.59%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96677" y="505444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2.19%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84395" y="505444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0.108%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72112" y="505444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0.001%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118610"/>
              <a:ext cx="5626418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428750" y="41186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216468" y="41186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004185" y="41186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791902" y="41186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579620" y="41186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67338" y="411861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1"/>
          <p:cNvGrpSpPr/>
          <p:nvPr/>
        </p:nvGrpSpPr>
        <p:grpSpPr>
          <a:xfrm>
            <a:off x="6464618" y="1941195"/>
            <a:ext cx="5193982" cy="1682115"/>
            <a:chOff x="6464618" y="1941195"/>
            <a:chExt cx="5193982" cy="1682115"/>
          </a:xfrm>
        </p:grpSpPr>
        <p:sp>
          <p:nvSpPr>
            <p:cNvPr id="50" name="Rectangle 50"/>
            <p:cNvSpPr/>
            <p:nvPr/>
          </p:nvSpPr>
          <p:spPr>
            <a:xfrm>
              <a:off x="6464618" y="1941195"/>
              <a:ext cx="5193982" cy="1682115"/>
            </a:xfrm>
            <a:prstGeom prst="roundRect">
              <a:avLst>
                <a:gd name="adj" fmla="val 79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2074545"/>
              <a:ext cx="47625" cy="14154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5122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6562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88264" y="2490788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奖金表关于 k = 5 对称，把 k 与 10 − k 合并成一档，六档就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够了。分母 C₂₀¹⁰ = 184756，例如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formula103"/>
                <p:cNvSpPr txBox="1">
                  <a:spLocks noGrp="1"/>
                </p:cNvSpPr>
                <p:nvPr/>
              </p:nvSpPr>
              <p:spPr>
                <a:xfrm>
                  <a:off x="6695122" y="3027998"/>
                  <a:ext cx="4771072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bSup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25</m:t>
                            </m:r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184756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34.37%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2" name="c2-card-2"/>
          <p:cNvGrpSpPr/>
          <p:nvPr/>
        </p:nvGrpSpPr>
        <p:grpSpPr>
          <a:xfrm>
            <a:off x="6464618" y="3798570"/>
            <a:ext cx="5193982" cy="1739265"/>
            <a:chOff x="6464618" y="3798570"/>
            <a:chExt cx="5193982" cy="1739265"/>
          </a:xfrm>
        </p:grpSpPr>
        <p:sp>
          <p:nvSpPr>
            <p:cNvPr id="57" name="Rectangle 57"/>
            <p:cNvSpPr/>
            <p:nvPr/>
          </p:nvSpPr>
          <p:spPr>
            <a:xfrm>
              <a:off x="6464618" y="3798570"/>
              <a:ext cx="5193982" cy="1739265"/>
            </a:xfrm>
            <a:prstGeom prst="roundRect">
              <a:avLst>
                <a:gd name="adj" fmla="val 766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57022" y="399097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52463" y="40252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formula104"/>
                <p:cNvSpPr txBox="1">
                  <a:spLocks noGrp="1"/>
                </p:cNvSpPr>
                <p:nvPr/>
              </p:nvSpPr>
              <p:spPr>
                <a:xfrm>
                  <a:off x="6657022" y="4325302"/>
                  <a:ext cx="4809172" cy="700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0.3437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0.4774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0.1559</m:t>
                                </m:r>
                              </m:e>
                            </m:d>
                          </m:e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20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0.0219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30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0.0011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50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0.00001</m:t>
                                </m:r>
                              </m:e>
                            </m:d>
                          </m:e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4705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4199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≈−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1.12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1" name="TextBox 61"/>
            <p:cNvSpPr txBox="1"/>
            <p:nvPr/>
          </p:nvSpPr>
          <p:spPr>
            <a:xfrm>
              <a:off x="6650164" y="5133975"/>
              <a:ext cx="3430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平均每局亏 1.12 元，游戏对参玩者不利。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3610"/>
              <a:ext cx="10000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期望是长期平均，不是某一局的结果。单局最可能拿到的是 −3 元那一档（概率 47.7%），而负期望说明局数越多亏得越稳。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6465" cy="909257"/>
            <a:chOff x="520446" y="342900"/>
            <a:chExt cx="62664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64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Y = g(X) 的期望，不必先求 Y 的分布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544378" cy="1835468"/>
            <a:chOff x="533400" y="1524000"/>
            <a:chExt cx="4544378" cy="18354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835468"/>
            </a:xfrm>
            <a:prstGeom prst="roundRect">
              <a:avLst>
                <a:gd name="adj" fmla="val 726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29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5128" y="17445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都能走通，但工作量差很多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14375" y="20497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62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123" y="2061686"/>
              <a:ext cx="4029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先求出 Y = g(X) 的分布律或密度，再按定义求 E(Y)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4375" y="233553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62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123" y="2346484"/>
              <a:ext cx="3211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直接把 g(xₖ) 按 X 的概率加权，一步算完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9041" y="2627948"/>
              <a:ext cx="4024503" cy="59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第二条路把“求 Y 的分布”这一步整个省掉了。Y 的取值可能合并（例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 g(x) = x² 把 ±2 并成 4），第一条路还要处理合并，第二条路不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用管。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524250"/>
            <a:ext cx="4544378" cy="1661160"/>
            <a:chOff x="533400" y="3524250"/>
            <a:chExt cx="4544378" cy="1661160"/>
          </a:xfrm>
        </p:grpSpPr>
        <p:sp>
          <p:nvSpPr>
            <p:cNvPr id="19" name="Rectangle 19"/>
            <p:cNvSpPr/>
            <p:nvPr/>
          </p:nvSpPr>
          <p:spPr>
            <a:xfrm>
              <a:off x="533400" y="3524250"/>
              <a:ext cx="4544378" cy="1661160"/>
            </a:xfrm>
            <a:prstGeom prst="roundRect">
              <a:avLst>
                <a:gd name="adj" fmla="val 688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4251126"/>
              <a:ext cx="224134" cy="192560"/>
              <a:chOff x="726129" y="4251126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43214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42511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3992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1273" y="4147661"/>
              <a:ext cx="3540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权数始终是 X 的概率 pₖ，不是 Y 的概率。这一点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最容易记反。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5382578" y="1524000"/>
            <a:ext cx="6276022" cy="2351722"/>
            <a:chOff x="5382578" y="1524000"/>
            <a:chExt cx="6276022" cy="2351722"/>
          </a:xfrm>
        </p:grpSpPr>
        <p:sp>
          <p:nvSpPr>
            <p:cNvPr id="26" name="Rectangle 26"/>
            <p:cNvSpPr/>
            <p:nvPr/>
          </p:nvSpPr>
          <p:spPr>
            <a:xfrm>
              <a:off x="5382578" y="1524000"/>
              <a:ext cx="6276022" cy="2351722"/>
            </a:xfrm>
            <a:prstGeom prst="roundRect">
              <a:avLst>
                <a:gd name="adj" fmla="val 56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92102" y="1657350"/>
              <a:ext cx="47625" cy="208502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60165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432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68580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随机变量函数的数学期望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95176" y="2061686"/>
              <a:ext cx="60045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Y = g(X)。若 X 为离散型，分布律为 P{X = xₖ} = pₖ，且级数绝对收敛，则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17"/>
                <p:cNvSpPr txBox="1">
                  <a:spLocks noGrp="1"/>
                </p:cNvSpPr>
                <p:nvPr/>
              </p:nvSpPr>
              <p:spPr>
                <a:xfrm>
                  <a:off x="5601652" y="2325052"/>
                  <a:ext cx="5875972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5595176" y="2961799"/>
              <a:ext cx="46163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 为连续型，概率密度为 f(x)，且广义积分绝对收敛，则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18"/>
                <p:cNvSpPr txBox="1">
                  <a:spLocks noGrp="1"/>
                </p:cNvSpPr>
                <p:nvPr/>
              </p:nvSpPr>
              <p:spPr>
                <a:xfrm>
                  <a:off x="5601652" y="3225165"/>
                  <a:ext cx="5875972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c2-card-2"/>
          <p:cNvGrpSpPr/>
          <p:nvPr/>
        </p:nvGrpSpPr>
        <p:grpSpPr>
          <a:xfrm>
            <a:off x="5382578" y="4040505"/>
            <a:ext cx="6276022" cy="1143952"/>
            <a:chOff x="5382578" y="4040505"/>
            <a:chExt cx="6276022" cy="1143952"/>
          </a:xfrm>
        </p:grpSpPr>
        <p:sp>
          <p:nvSpPr>
            <p:cNvPr id="36" name="Rectangle 36"/>
            <p:cNvSpPr/>
            <p:nvPr/>
          </p:nvSpPr>
          <p:spPr>
            <a:xfrm>
              <a:off x="5382578" y="4040505"/>
              <a:ext cx="627602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92102" y="417385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601652" y="42214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94324" y="42543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95176" y="4561999"/>
              <a:ext cx="5580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取 −1、0、1 的概率各为 1/3，求 E(X²)。路线一：Y = X² 只取 0、1，概率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1/3、2/3，E(Y) = 2/3。路线二：(−1)²·1/3 + 0²·1/3 + 1²·1/3 = 2/3。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2" name="Rectangle 4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6039326"/>
              <a:ext cx="76801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公式的形状和定义完全一样，只是把 x 换成了 g(x)。凡是求 E(X²)、E(1/X)、E(eˣ) 都套这一条。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例：两条路走同一道题，答案当然相同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71435" cy="293370"/>
            <a:chOff x="525780" y="1548765"/>
            <a:chExt cx="767143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71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某摊贩每销售一件小商品赚 15 元，每天销售量 X 的分布律如下，求一天的平均利润。</a:t>
              </a:r>
            </a:p>
          </p:txBody>
        </p:sp>
      </p:grpSp>
      <p:grpSp>
        <p:nvGrpSpPr>
          <p:cNvPr id="25" name="c1-table-1"/>
          <p:cNvGrpSpPr/>
          <p:nvPr/>
        </p:nvGrpSpPr>
        <p:grpSpPr>
          <a:xfrm>
            <a:off x="533400" y="1954530"/>
            <a:ext cx="5410200" cy="860108"/>
            <a:chOff x="533400" y="1954530"/>
            <a:chExt cx="5410200" cy="86010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9038" y="208597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0371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8575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779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49838" y="20859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0787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02826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4866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66906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1954530"/>
              <a:ext cx="541020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10678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92718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774758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856798" y="195453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rd-2"/>
          <p:cNvGrpSpPr/>
          <p:nvPr/>
        </p:nvGrpSpPr>
        <p:grpSpPr>
          <a:xfrm>
            <a:off x="533400" y="3000375"/>
            <a:ext cx="5410200" cy="2533650"/>
            <a:chOff x="533400" y="3000375"/>
            <a:chExt cx="5410200" cy="2533650"/>
          </a:xfrm>
        </p:grpSpPr>
        <p:sp>
          <p:nvSpPr>
            <p:cNvPr id="26" name="Rectangle 26"/>
            <p:cNvSpPr/>
            <p:nvPr/>
          </p:nvSpPr>
          <p:spPr>
            <a:xfrm>
              <a:off x="533400" y="3000375"/>
              <a:ext cx="5410200" cy="2533650"/>
            </a:xfrm>
            <a:prstGeom prst="roundRect">
              <a:avLst>
                <a:gd name="adj" fmla="val 52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7235" y="320421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3493" y="32399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路线一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80566" y="3243739"/>
              <a:ext cx="19991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 Y = 15X 的分布律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37235" y="3571875"/>
              <a:ext cx="500253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81915" y="370332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85633" y="37033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39112" y="37033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39237" y="37033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40315" y="37033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2581" y="413385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42706" y="41338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43784" y="41338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43909" y="41338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44986" y="41338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37235" y="3571875"/>
              <a:ext cx="500253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732598" y="357187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733675" y="357187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733800" y="357187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34878" y="357187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9996" y="4548664"/>
              <a:ext cx="49709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E(Y) = 0×0.4 + 15×0.3 + 30×0.2 + 45×0.1 = 15（元）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954530"/>
            <a:ext cx="5410200" cy="1617345"/>
            <a:chOff x="6248400" y="1954530"/>
            <a:chExt cx="5410200" cy="1617345"/>
          </a:xfrm>
        </p:grpSpPr>
        <p:sp>
          <p:nvSpPr>
            <p:cNvPr id="48" name="Rectangle 48"/>
            <p:cNvSpPr/>
            <p:nvPr/>
          </p:nvSpPr>
          <p:spPr>
            <a:xfrm>
              <a:off x="6248400" y="1954530"/>
              <a:ext cx="5410200" cy="1617345"/>
            </a:xfrm>
            <a:prstGeom prst="roundRect">
              <a:avLst>
                <a:gd name="adj" fmla="val 82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522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384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路线二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95566" y="2197894"/>
              <a:ext cx="20883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直接用 E(g(X)) 的公式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formula121"/>
                <p:cNvSpPr txBox="1">
                  <a:spLocks noGrp="1"/>
                </p:cNvSpPr>
                <p:nvPr/>
              </p:nvSpPr>
              <p:spPr>
                <a:xfrm>
                  <a:off x="6452235" y="2526030"/>
                  <a:ext cx="5002530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  <m:sup/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15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0.4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0.3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0.2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3" name="TextBox 53"/>
            <p:cNvSpPr txBox="1"/>
            <p:nvPr/>
          </p:nvSpPr>
          <p:spPr>
            <a:xfrm>
              <a:off x="6444996" y="3145631"/>
              <a:ext cx="37944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括号里就是 E(X) = 1，所以 E(Y) = 15 元。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3756660"/>
            <a:ext cx="5410200" cy="1777365"/>
            <a:chOff x="6248400" y="3756660"/>
            <a:chExt cx="5410200" cy="1777365"/>
          </a:xfrm>
        </p:grpSpPr>
        <p:sp>
          <p:nvSpPr>
            <p:cNvPr id="55" name="Rectangle 55"/>
            <p:cNvSpPr/>
            <p:nvPr/>
          </p:nvSpPr>
          <p:spPr>
            <a:xfrm>
              <a:off x="6248400" y="3756660"/>
              <a:ext cx="5410200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3890010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0335" y="396049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72644" y="39962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顺带看出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83096" y="4334351"/>
              <a:ext cx="46311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本题的 g(x) = 15x 是线性的，两条路线的算式逐项对应，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这正是后面性质 2 “常数可以提到期望外面”的来源。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84239" y="4921567"/>
              <a:ext cx="47442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 g 会把不同的 x 映到同一个值（比如 g(x) = x²），路线一还要把这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些概率相加，路线二仍然照写不误。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04863" y="60813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0408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只要求的是期望而不是分布，一律走路线二。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54293" cy="909257"/>
            <a:chOff x="520446" y="342900"/>
            <a:chExt cx="53542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542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例：离散与连续各算一次 E(g(X))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card-1"/>
          <p:cNvGrpSpPr/>
          <p:nvPr/>
        </p:nvGrpSpPr>
        <p:grpSpPr>
          <a:xfrm>
            <a:off x="533400" y="1524000"/>
            <a:ext cx="5626418" cy="4102418"/>
            <a:chOff x="533400" y="1524000"/>
            <a:chExt cx="5626418" cy="41024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102418"/>
            </a:xfrm>
            <a:prstGeom prst="roundRect">
              <a:avLst>
                <a:gd name="adj" fmla="val 32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357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3876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X 的分布律，求 E(X²) 与 E(aX + b)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105025"/>
              <a:ext cx="51692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6" y="224075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887" y="224075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20092" y="224075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49005" y="22407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28651" y="224075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0650" y="22407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8873" y="268938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5643" y="26893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94800" y="26893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73958" y="26893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52163" y="268938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31320" y="26893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" y="2105025"/>
              <a:ext cx="5169218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603058" y="210502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82215" y="210502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61372" y="210502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239578" y="210502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118735" y="210502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430" y="3122295"/>
              <a:ext cx="3599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g(x) = x²，按公式逐项平方再加权：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26"/>
                <p:cNvSpPr txBox="1">
                  <a:spLocks noGrp="1"/>
                </p:cNvSpPr>
                <p:nvPr/>
              </p:nvSpPr>
              <p:spPr>
                <a:xfrm>
                  <a:off x="781050" y="3432810"/>
                  <a:ext cx="516921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19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773430" y="3964305"/>
              <a:ext cx="3135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g(x) = ax + b，同样逐项代入：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27"/>
                <p:cNvSpPr txBox="1">
                  <a:spLocks noGrp="1"/>
                </p:cNvSpPr>
                <p:nvPr/>
              </p:nvSpPr>
              <p:spPr>
                <a:xfrm>
                  <a:off x="781050" y="4274820"/>
                  <a:ext cx="5169218" cy="8258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den>
                            </m:f>
                          </m: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24</m:t>
                                </m:r>
                              </m:den>
                            </m:f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774573" y="5217319"/>
              <a:ext cx="48695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这里的 −11/24 正是 E(X)。对照可见 E(aX + b) = aE(X) + b。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4102418"/>
            <a:chOff x="6464618" y="1524000"/>
            <a:chExt cx="5193982" cy="4102418"/>
          </a:xfrm>
        </p:grpSpPr>
        <p:sp>
          <p:nvSpPr>
            <p:cNvPr id="37" name="Rectangle 37"/>
            <p:cNvSpPr/>
            <p:nvPr/>
          </p:nvSpPr>
          <p:spPr>
            <a:xfrm>
              <a:off x="6464618" y="1524000"/>
              <a:ext cx="5193982" cy="4102418"/>
            </a:xfrm>
            <a:prstGeom prst="roundRect">
              <a:avLst>
                <a:gd name="adj" fmla="val 32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1657350"/>
              <a:ext cx="47625" cy="38357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12268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2221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35202" y="1768792"/>
              <a:ext cx="2973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N(0, 1)，求 Y = X² 的期望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128"/>
                <p:cNvSpPr txBox="1">
                  <a:spLocks noGrp="1"/>
                </p:cNvSpPr>
                <p:nvPr/>
              </p:nvSpPr>
              <p:spPr>
                <a:xfrm>
                  <a:off x="6712268" y="2105025"/>
                  <a:ext cx="4736782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704648" y="2705100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 x 并进微分，做分部积分：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129"/>
                <p:cNvSpPr txBox="1">
                  <a:spLocks noGrp="1"/>
                </p:cNvSpPr>
                <p:nvPr/>
              </p:nvSpPr>
              <p:spPr>
                <a:xfrm>
                  <a:off x="6712268" y="3015615"/>
                  <a:ext cx="4736782" cy="1294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nary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sSub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type m:val="bar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e>
                                                <m:r>
                                                  <a:rPr lang="zh-CN" sz="13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zh-CN" sz="135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e>
                                </m:d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2π</m:t>
                                        </m:r>
                                      </m:e>
                                    </m:rad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705791" y="4426744"/>
              <a:ext cx="4540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第一项在两端都趋于 0，剩下的正好是标准正态密度的总积分。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E(X²) = 1，与 D(X) + [E(X)]² = 1 + 0 一致。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10132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算 E(X²) 就是把每个 xₖ 平方后仍乘原来的 pₖ，概率不动，只变取值；不必先把相同的 xₖ² 合并成 Y 的分布律。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例：组织多少货源，才能让平均收益最大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647997" cy="293370"/>
            <a:chOff x="525780" y="1548765"/>
            <a:chExt cx="1064799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647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某商品每年的国际需求量 X（单位 t）服从 U[2000, 4000]。每售出 1 t 赚 3 万美元，积压的每吨付仓储费 1 万美元。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54530"/>
            <a:ext cx="4977765" cy="2255520"/>
            <a:chOff x="533400" y="1954530"/>
            <a:chExt cx="4977765" cy="225552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977765" cy="2255520"/>
            </a:xfrm>
            <a:prstGeom prst="roundRect">
              <a:avLst>
                <a:gd name="adj" fmla="val 59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888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0583" y="218694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3886" y="218741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先写出收益函数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42885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设组织的货源量为 y，收益为 Y。需求超过货源时全部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售出，需求不足时余下的要付仓储费，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36"/>
                <p:cNvSpPr txBox="1">
                  <a:spLocks noGrp="1"/>
                </p:cNvSpPr>
                <p:nvPr/>
              </p:nvSpPr>
              <p:spPr>
                <a:xfrm>
                  <a:off x="769620" y="3096578"/>
                  <a:ext cx="4543425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≥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y.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62381" y="3789521"/>
              <a:ext cx="19619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第二行整理成 4X − y。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390072"/>
            <a:ext cx="4977765" cy="1250632"/>
            <a:chOff x="533400" y="4390072"/>
            <a:chExt cx="4977765" cy="1250632"/>
          </a:xfrm>
        </p:grpSpPr>
        <p:sp>
          <p:nvSpPr>
            <p:cNvPr id="18" name="Rectangle 18"/>
            <p:cNvSpPr/>
            <p:nvPr/>
          </p:nvSpPr>
          <p:spPr>
            <a:xfrm>
              <a:off x="533400" y="4390072"/>
              <a:ext cx="497776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523422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" y="45881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060" y="46224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381" y="4948714"/>
              <a:ext cx="42795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是自己选的决策量，不是随机变量。先把 E(Y) 算成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的函数，再对 y 求极值。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815965" y="1954530"/>
            <a:ext cx="5842635" cy="2621280"/>
            <a:chOff x="5815965" y="1954530"/>
            <a:chExt cx="5842635" cy="2621280"/>
          </a:xfrm>
        </p:grpSpPr>
        <p:sp>
          <p:nvSpPr>
            <p:cNvPr id="24" name="Rectangle 24"/>
            <p:cNvSpPr/>
            <p:nvPr/>
          </p:nvSpPr>
          <p:spPr>
            <a:xfrm>
              <a:off x="5815965" y="1954530"/>
              <a:ext cx="5842635" cy="2621280"/>
            </a:xfrm>
            <a:prstGeom prst="roundRect">
              <a:avLst>
                <a:gd name="adj" fmla="val 508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14085" y="215265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09526" y="218694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6846" y="2513171"/>
              <a:ext cx="5452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的密度在 [2000, 4000] 上为 1/2000，按分段区间拆开积分：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37"/>
                <p:cNvSpPr txBox="1">
                  <a:spLocks noGrp="1"/>
                </p:cNvSpPr>
                <p:nvPr/>
              </p:nvSpPr>
              <p:spPr>
                <a:xfrm>
                  <a:off x="6014085" y="2807970"/>
                  <a:ext cx="5446395" cy="12344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2000</m:t>
                                </m:r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2000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2000</m:t>
                                </m:r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4000</m:t>
                                </m:r>
                              </m: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3y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2000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2000y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8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×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sSup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12000y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sSup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1000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7000y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×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6</m:t>
                                    </m:r>
                                  </m:sup>
                                </m:sSup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006846" y="415528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y 求导并令其为 0，得 −2y + 7000 = 0。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5815965" y="4755832"/>
            <a:ext cx="5842635" cy="884872"/>
            <a:chOff x="5815965" y="4755832"/>
            <a:chExt cx="5842635" cy="884872"/>
          </a:xfrm>
        </p:grpSpPr>
        <p:sp>
          <p:nvSpPr>
            <p:cNvPr id="31" name="Rectangle 31"/>
            <p:cNvSpPr/>
            <p:nvPr/>
          </p:nvSpPr>
          <p:spPr>
            <a:xfrm>
              <a:off x="5815965" y="4755832"/>
              <a:ext cx="5842635" cy="884872"/>
            </a:xfrm>
            <a:prstGeom prst="roundRect">
              <a:avLst>
                <a:gd name="adj" fmla="val 1291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020753" y="5098733"/>
              <a:ext cx="200026" cy="200026"/>
              <a:chOff x="6020753" y="509873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020753" y="50987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087428" y="51765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323076" y="4967764"/>
              <a:ext cx="491972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y = 3500 t 时平均收益最大，最大值 E(Y) = 8250 万美元。抛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物线开口向下，驻点即最大值点。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7" name="Rectangle 3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6011704"/>
              <a:ext cx="9412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分段点落在积分区间内部时，必须按 X 与 y 的大小关系把积分拆成两段，直接用整段的 3X 会把仓储损失算漏。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两个随机变量的函数，期望照样一步算出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6059805" cy="4078605"/>
            <a:chOff x="533400" y="1524000"/>
            <a:chExt cx="6059805" cy="4078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78605"/>
            </a:xfrm>
            <a:prstGeom prst="roundRect">
              <a:avLst>
                <a:gd name="adj" fmla="val 32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119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036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g(X, Y) 的数学期望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3029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(X, Y) 为二维离散型，联合分布律为 pᵢⱼ = P{X = xᵢ, Y = yⱼ}，且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级数绝对收敛，则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46"/>
                <p:cNvSpPr txBox="1">
                  <a:spLocks noGrp="1"/>
                </p:cNvSpPr>
                <p:nvPr/>
              </p:nvSpPr>
              <p:spPr>
                <a:xfrm>
                  <a:off x="763905" y="2627948"/>
                  <a:ext cx="563689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3302318"/>
              <a:ext cx="54229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(X, Y) 为二维连续型，联合概率密度为 f(x, y)，且积分绝对收敛，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47"/>
                <p:cNvSpPr txBox="1">
                  <a:spLocks noGrp="1"/>
                </p:cNvSpPr>
                <p:nvPr/>
              </p:nvSpPr>
              <p:spPr>
                <a:xfrm>
                  <a:off x="763905" y="3839528"/>
                  <a:ext cx="5636895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​​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nary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8190" y="4424839"/>
              <a:ext cx="52885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小例：(X, Y) 取 (0, 1)、(1, 0)、(1, 1) 的概率各为 1/3。E(XY) = (0 + 0 + 1)/3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1/3，E(X + Y) = (1 + 1 + 2)/3 = 4/3，都不用先求 XY 或 X + Y 的分布律。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898005" y="1524000"/>
            <a:ext cx="4760595" cy="1814512"/>
            <a:chOff x="6898005" y="1524000"/>
            <a:chExt cx="4760595" cy="1814512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1814512"/>
            </a:xfrm>
            <a:prstGeom prst="roundRect">
              <a:avLst>
                <a:gd name="adj" fmla="val 734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90410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65848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三个常用特例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98982" y="21288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5002" y="2072640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g(x, y) = x 时得到 E(X)，直接用联合密度算，不必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先求 X 的边缘密度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098982" y="268890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55002" y="2632710"/>
              <a:ext cx="3897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g(x, y) = xy 时得到 E(XY)，这是协方差的原料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098982" y="299180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55002" y="2935605"/>
              <a:ext cx="3802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g(x, y) = (x − μ₁)(y − μ₂) 时直接得到协方差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898005" y="3513772"/>
            <a:ext cx="4760595" cy="2088832"/>
            <a:chOff x="6898005" y="3513772"/>
            <a:chExt cx="4760595" cy="2088832"/>
          </a:xfrm>
        </p:grpSpPr>
        <p:sp>
          <p:nvSpPr>
            <p:cNvPr id="28" name="Rectangle 28"/>
            <p:cNvSpPr/>
            <p:nvPr/>
          </p:nvSpPr>
          <p:spPr>
            <a:xfrm>
              <a:off x="6898005" y="3513772"/>
              <a:ext cx="4760595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7530" y="3647122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28510" y="37061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19950" y="37404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会用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12202" y="374618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二重积分怎么下手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137082" y="413575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93102" y="4079558"/>
              <a:ext cx="4248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先画出使 f 不为 0 的区域，再决定先对哪个变量积分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37082" y="44386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93102" y="4382452"/>
              <a:ext cx="38970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区域是圆或环时换极坐标，被积函数里出现 x² + y²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尤其该换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137082" y="499872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93102" y="4942523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区域关于某条直线对称、被积函数是奇函数时，积分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直接为 0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0" name="Rectangle 4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3610"/>
              <a:ext cx="8667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这条定理的价值在于绕开 Z 的分布。求 Z = X + Y 或 Z = XY 的分布很费事，求它们的期望却只是一次积分。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2240" cy="909257"/>
            <a:chOff x="520446" y="342900"/>
            <a:chExt cx="65422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22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例：联合密度 exp(−(x+y)) 上的三个期望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02748" cy="264033"/>
            <a:chOff x="526542" y="1545907"/>
            <a:chExt cx="69027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02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(X, Y) 的联合概率密度为 f(x, y) = exp(−(x + y))（x &gt; 0，y &gt; 0），其余为 0。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626418" cy="3630930"/>
            <a:chOff x="533400" y="1928812"/>
            <a:chExt cx="5626418" cy="363093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4448" y="2142649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38453" y="2149316"/>
              <a:ext cx="2068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E(X)、E(Y) 与 E(XY)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938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被积函数按 x 与 y 完全分离，二重积分拆成两个一重积分的乘积，每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个因子都是 λ = 1 的指数分布的积分：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66"/>
                <p:cNvSpPr txBox="1">
                  <a:spLocks noGrp="1"/>
                </p:cNvSpPr>
                <p:nvPr/>
              </p:nvSpPr>
              <p:spPr>
                <a:xfrm>
                  <a:off x="752475" y="2972752"/>
                  <a:ext cx="5226368" cy="9286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​​</m:t>
                                </m:r>
                                <m:nary>
                                  <m:naryPr>
                                    <m:chr m:val="∫"/>
                                    <m:limLoc m:val="subSup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+∞</m:t>
                                    </m:r>
                                  </m: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nary>
                              </m:e>
                            </m:nary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45998" y="4003834"/>
              <a:ext cx="12945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同理 E(Y) = 1。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167"/>
                <p:cNvSpPr txBox="1">
                  <a:spLocks noGrp="1"/>
                </p:cNvSpPr>
                <p:nvPr/>
              </p:nvSpPr>
              <p:spPr>
                <a:xfrm>
                  <a:off x="752475" y="4267200"/>
                  <a:ext cx="5226368" cy="9286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XY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​​</m:t>
                                </m:r>
                                <m:nary>
                                  <m:naryPr>
                                    <m:chr m:val="∫"/>
                                    <m:limLoc m:val="subSup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+∞</m:t>
                                    </m:r>
                                  </m: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xy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nary>
                              </m:e>
                            </m:nary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2-card-1"/>
          <p:cNvGrpSpPr/>
          <p:nvPr/>
        </p:nvGrpSpPr>
        <p:grpSpPr>
          <a:xfrm>
            <a:off x="6464618" y="1928812"/>
            <a:ext cx="5193982" cy="1826895"/>
            <a:chOff x="6464618" y="1928812"/>
            <a:chExt cx="5193982" cy="1826895"/>
          </a:xfrm>
        </p:grpSpPr>
        <p:sp>
          <p:nvSpPr>
            <p:cNvPr id="19" name="Rectangle 19"/>
            <p:cNvSpPr/>
            <p:nvPr/>
          </p:nvSpPr>
          <p:spPr>
            <a:xfrm>
              <a:off x="6464618" y="1928812"/>
              <a:ext cx="5193982" cy="1826895"/>
            </a:xfrm>
            <a:prstGeom prst="roundRect">
              <a:avLst>
                <a:gd name="adj" fmla="val 72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45592" y="210978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15862" y="2142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再看一眼边缘密度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39116" y="2449354"/>
              <a:ext cx="45402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y 积分得 f_X(x) = exp(−x)（x &gt; 0），对 x 积分得 f_Y(y)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= exp(−y)（y &gt; 0）。二者相乘正好等于 f(x, y)，所以 X 与 Y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相互独立，都服从 λ = 1 的指数分布。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40259" y="3216593"/>
              <a:ext cx="450456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独立时 E(XY) = E(X)E(Y) = 1 × 1 = 1，与直接积分的结果一致。密度能拆成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“只含 x 的函数乘只含 y 的函数”，且定义域是矩形时，两者一定独立。</a:t>
              </a:r>
            </a:p>
          </p:txBody>
        </p:sp>
      </p:grpSp>
      <p:grpSp>
        <p:nvGrpSpPr>
          <p:cNvPr id="27" name="c2-image-2"/>
          <p:cNvGrpSpPr/>
          <p:nvPr/>
        </p:nvGrpSpPr>
        <p:grpSpPr>
          <a:xfrm>
            <a:off x="7685722" y="3919538"/>
            <a:ext cx="2752725" cy="1659921"/>
            <a:chOff x="7685722" y="3919538"/>
            <a:chExt cx="2752725" cy="1659921"/>
          </a:xfrm>
        </p:grpSpPr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85722" y="3919538"/>
              <a:ext cx="2752725" cy="1376362"/>
            </a:xfrm>
            <a:prstGeom prst="roundRect">
              <a:avLst>
                <a:gd name="adj" fmla="val 9688"/>
              </a:avLst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803820" y="538876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咬合的齿轮互相牵制，分开的两对各转各的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8" name="Rectangle 2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1273" y="6039326"/>
              <a:ext cx="8840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判断独立看的是 f(x, y) 能否分解成 f_X(x)f_Y(y)，定义域也要跟着分解。定义域一旦互相牵制，就谈不上独立。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例：定义域互相牵制时会发生什么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12148" cy="264033"/>
            <a:chOff x="526542" y="1545907"/>
            <a:chExt cx="62121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12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(X, Y) 的联合概率密度为 f(x, y) = 1（0 &lt; x &lt; 1，|y| &lt; x），其余为 0。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410200" cy="3645218"/>
            <a:chOff x="533400" y="1928812"/>
            <a:chExt cx="5410200" cy="36452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645218"/>
            </a:xfrm>
            <a:prstGeom prst="roundRect">
              <a:avLst>
                <a:gd name="adj" fmla="val 3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3785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4448" y="2142649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38453" y="2149316"/>
              <a:ext cx="1954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E(X)、E(Y)、E(XY)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这是一个三角形区域，横坐标 x 越大，y 的可取范围 (−x, x) 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宽。先对 y 积分，长度是 2x：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81"/>
                <p:cNvSpPr txBox="1">
                  <a:spLocks noGrp="1"/>
                </p:cNvSpPr>
                <p:nvPr/>
              </p:nvSpPr>
              <p:spPr>
                <a:xfrm>
                  <a:off x="752475" y="2972752"/>
                  <a:ext cx="50101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​​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82"/>
                <p:cNvSpPr txBox="1">
                  <a:spLocks noGrp="1"/>
                </p:cNvSpPr>
                <p:nvPr/>
              </p:nvSpPr>
              <p:spPr>
                <a:xfrm>
                  <a:off x="752475" y="3453765"/>
                  <a:ext cx="5010150" cy="373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​​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​​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xy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47141" y="392525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内层关于 y 是奇函数在对称区间上积分，两个结果都是 0。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175284"/>
              <a:ext cx="47190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再求边缘密度：f_X(x) = 2x（0 &lt; x &lt; 1），f_Y(y) = 1 − |y|（|y|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1）。取点 (0.1, 0.5)，这里 |y| &gt; x，f = 0，而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f_X(0.1)f_Y(0.5) = 0.2 × 0.5 = 0.1，两者不等。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248400" y="1928812"/>
            <a:ext cx="5410200" cy="1826895"/>
            <a:chOff x="6248400" y="1928812"/>
            <a:chExt cx="5410200" cy="1826895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1826895"/>
            </a:xfrm>
            <a:prstGeom prst="roundRect">
              <a:avLst>
                <a:gd name="adj" fmla="val 72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29375" y="210978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95593" y="21426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这道题埋了一个伏笔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2898" y="2449354"/>
              <a:ext cx="48084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E(XY) = 0 = E(X)E(Y)，乘积可以拆开。但定义域不是矩形，x 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变，y 的范围就跟着变，f(x, y) 无法写成 f_X(x)f_Y(y)，所以 X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Y 并不独立。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4041" y="3216593"/>
              <a:ext cx="4811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用第三节的语言说：X 与 Y 不相关，却不独立。独立一定推出不相关，反过来不成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42" name="c2-compare-2"/>
          <p:cNvGrpSpPr/>
          <p:nvPr/>
        </p:nvGrpSpPr>
        <p:grpSpPr>
          <a:xfrm>
            <a:off x="6248400" y="3919538"/>
            <a:ext cx="5410200" cy="1654492"/>
            <a:chOff x="6248400" y="3919538"/>
            <a:chExt cx="5410200" cy="1654492"/>
          </a:xfrm>
        </p:grpSpPr>
        <p:sp>
          <p:nvSpPr>
            <p:cNvPr id="26" name="Rectangle 26"/>
            <p:cNvSpPr/>
            <p:nvPr/>
          </p:nvSpPr>
          <p:spPr>
            <a:xfrm>
              <a:off x="6248400" y="3919538"/>
              <a:ext cx="2476500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4052888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60998" y="41219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乘积可拆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77000" y="44757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32448" y="4422934"/>
              <a:ext cx="1524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E(XY) = E(X)E(Y)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77000" y="47605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32448" y="4707731"/>
              <a:ext cx="1727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只管一条等式，是“不相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关”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82100" y="3919538"/>
              <a:ext cx="2476500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191625" y="4052888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4698" y="41219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410700" y="44757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66148" y="4422934"/>
              <a:ext cx="1784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f_X(x)f_Y(y) 处处成立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9410700" y="500348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66148" y="4950619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管住整个分布，要求强得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772525" y="4566285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27580" y="469106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分清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74920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看到 E(XY) = E(X)E(Y) 不能倒推独立。要判独立，必须回到联合密度与边缘密度的乘积关系上。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例：二维标准正态上的两个期望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19715" cy="264033"/>
            <a:chOff x="526542" y="1545907"/>
            <a:chExt cx="73197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19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X 与 Y 相互独立且都服从 N(0, 1)，联合密度为 f(x, y) = exp(−(x² + y²)/2)/(2π)。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410200" cy="3762375"/>
            <a:chOff x="533400" y="1928812"/>
            <a:chExt cx="5410200" cy="37623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762375"/>
            </a:xfrm>
            <a:prstGeom prst="roundRect">
              <a:avLst>
                <a:gd name="adj" fmla="val 35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4956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163" y="2148364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3787" y="2150745"/>
              <a:ext cx="2212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Z = √(X² + Y²) 的期望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被积函数里出现 x² + y²，换极坐标 x = rcosθ，y = rsinθ，面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积元 dxdy = r drdθ：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93"/>
                <p:cNvSpPr txBox="1">
                  <a:spLocks noGrp="1"/>
                </p:cNvSpPr>
                <p:nvPr/>
              </p:nvSpPr>
              <p:spPr>
                <a:xfrm>
                  <a:off x="758190" y="3011805"/>
                  <a:ext cx="4998720" cy="990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​​</m:t>
                                </m:r>
                                <m:nary>
                                  <m:naryPr>
                                    <m:chr m:val="∫"/>
                                    <m:limLoc m:val="subSup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+∞</m:t>
                                    </m:r>
                                  </m: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</m:nary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e>
                                      <m:sup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r</m:t>
                                            </m:r>
                                          </m:e>
                                          <m:sup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ra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1332" y="4108132"/>
              <a:ext cx="4484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数值约 1.2533。这是平面上随机点到原点的平均距离。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4404836"/>
              <a:ext cx="4719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最后一步：N(0, 1) 的 E(X²) = 1 说明 ∫ r²exp(−r²/2)dr 在整条实轴上等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于 √(2π)，被积函数是偶函数，取一半得 √(π/2)。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928812"/>
            <a:ext cx="5410200" cy="3762375"/>
            <a:chOff x="6248400" y="1928812"/>
            <a:chExt cx="5410200" cy="3762375"/>
          </a:xfrm>
        </p:grpSpPr>
        <p:sp>
          <p:nvSpPr>
            <p:cNvPr id="19" name="Rectangle 19"/>
            <p:cNvSpPr/>
            <p:nvPr/>
          </p:nvSpPr>
          <p:spPr>
            <a:xfrm>
              <a:off x="6248400" y="1928812"/>
              <a:ext cx="5410200" cy="3762375"/>
            </a:xfrm>
            <a:prstGeom prst="roundRect">
              <a:avLst>
                <a:gd name="adj" fmla="val 35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2062162"/>
              <a:ext cx="47625" cy="34956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3190" y="2115502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5163" y="2148364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58787" y="2150745"/>
              <a:ext cx="1539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E(max{X, Y})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6332" y="2476500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把平面按直线 y = x 分成两块：D₁ 上 y &gt; x，取 max 为 y；D₂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 x ≥ y，取 max 为 x。两块的积分由对称性相等，于是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94"/>
                <p:cNvSpPr txBox="1">
                  <a:spLocks noGrp="1"/>
                </p:cNvSpPr>
                <p:nvPr/>
              </p:nvSpPr>
              <p:spPr>
                <a:xfrm>
                  <a:off x="6473190" y="3011805"/>
                  <a:ext cx="4998720" cy="1357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sepChr m:val=""/>
                                        <m:endChr m:val="}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nary>
                              <m:naryPr>
                                <m:chr m:val="∬"/>
                                <m:limLoc m:val="subSup"/>
                                <m:grow m:val="off"/>
                                <m:subHide m:val="off"/>
                                <m:sup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nary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nary>
                                  <m:naryPr>
                                    <m:chr m:val="∫"/>
                                    <m:limLoc m:val="subSup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+∞</m:t>
                                    </m:r>
                                  </m: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type m:val="bar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nary>
                              </m:e>
                            </m:nary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</m:rad>
                              </m:den>
                            </m:f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466332" y="4474845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内层积分等于 exp(−x²/2)，与外层相乘得 exp(−x²)，再用 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exp(−x²)dx = √π。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6332" y="5032058"/>
              <a:ext cx="5084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数值约 0.5642。已用 40 万次蒙特卡洛核对，模拟值 0.5634。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7475" y="5328761"/>
              <a:ext cx="4623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取最大值把分布整体向右拽，所以结果比单个 N(0, 1) 的期望 0 大。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0" name="Rectangle 3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6028373"/>
              <a:ext cx="10027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二维正态的积分有两把钥匙：被积函数只跟 x² + y² 有关就换极坐标，跟 x 与 y 的大小关系有关就按 y = x 分区并利用对称。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期望的四条性质：线性性质不要求独立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ard-1"/>
          <p:cNvGrpSpPr/>
          <p:nvPr/>
        </p:nvGrpSpPr>
        <p:grpSpPr>
          <a:xfrm>
            <a:off x="533400" y="1524000"/>
            <a:ext cx="5626418" cy="2347912"/>
            <a:chOff x="533400" y="1524000"/>
            <a:chExt cx="5626418" cy="2347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47912"/>
            </a:xfrm>
            <a:prstGeom prst="roundRect">
              <a:avLst>
                <a:gd name="adj" fmla="val 56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812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949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C 为常数，E(X) 与 E(Y) 都存在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07835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090738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E(C) = C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238029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2392680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E(CX) = CE(X)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3905" y="268319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83" y="27215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4702" y="2695575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 ± Y) = E(X) ± E(Y)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3905" y="298608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583" y="3024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4702" y="2997518"/>
              <a:ext cx="3560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 与 Y 相互独立，则 E(XY) = E(X)E(Y)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8190" y="3297079"/>
              <a:ext cx="49613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1 到 3 合起来得到常用的组合式 E(aX + bY + C) = aE(X) + bE(Y) + C，其中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a、b、C 都是常数。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047172"/>
            <a:ext cx="5626418" cy="1496378"/>
            <a:chOff x="533400" y="4047172"/>
            <a:chExt cx="5626418" cy="1496378"/>
          </a:xfrm>
        </p:grpSpPr>
        <p:sp>
          <p:nvSpPr>
            <p:cNvPr id="26" name="Rectangle 26"/>
            <p:cNvSpPr/>
            <p:nvPr/>
          </p:nvSpPr>
          <p:spPr>
            <a:xfrm>
              <a:off x="533400" y="4047172"/>
              <a:ext cx="5626418" cy="1496378"/>
            </a:xfrm>
            <a:prstGeom prst="roundRect">
              <a:avLst>
                <a:gd name="adj" fmla="val 7638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694875"/>
              <a:ext cx="200023" cy="200023"/>
              <a:chOff x="738188" y="4694875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6948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47615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4576762"/>
              <a:ext cx="472001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 3 对任意两个随机变量都成立，哪怕 X 与 Y 紧密相关。性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 4 才需要独立这个前提。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464618" y="1524000"/>
            <a:ext cx="5193982" cy="2634615"/>
            <a:chOff x="6464618" y="1524000"/>
            <a:chExt cx="5193982" cy="2634615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9270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要算的量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0243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能否拆开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153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4630" y="2054066"/>
              <a:ext cx="663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 + Y)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34388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85033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无需任何条件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4630" y="2459831"/>
              <a:ext cx="1112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E(aX + bY + C)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4388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85033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无需任何条件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4630" y="2965609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E(XY)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34388" y="29656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85033" y="286559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独立时成立（第三节放宽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到不相关）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3423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334708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4630" y="3471386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E(X²)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34388" y="34713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85033" y="3471386"/>
              <a:ext cx="1426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一般不等于 [E(X)]²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37480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4630" y="3877151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E(1/X)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34388" y="38771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85033" y="3877151"/>
              <a:ext cx="1338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一般不等于 1/E(X)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1524000"/>
              <a:ext cx="5193982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329612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680258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464618" y="4333875"/>
            <a:ext cx="5193982" cy="1209675"/>
            <a:chOff x="6464618" y="4333875"/>
            <a:chExt cx="5193982" cy="1209675"/>
          </a:xfrm>
        </p:grpSpPr>
        <p:sp>
          <p:nvSpPr>
            <p:cNvPr id="61" name="Rectangle 61"/>
            <p:cNvSpPr/>
            <p:nvPr/>
          </p:nvSpPr>
          <p:spPr>
            <a:xfrm>
              <a:off x="6464618" y="4333875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4142" y="446722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95122" y="45262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86562" y="45605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88264" y="4882515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只有一次项能自由拆开。E(X²) 与 [E(X)]² 的差额正是方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差，后面一整节都在算这个差额。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7" name="Rectangle 6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6023610"/>
              <a:ext cx="8196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期望是线性运算，对非线性函数一般不能“把期望搬进函数里面”，E(g(X)) 与 g(E(X)) 通常不相等。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 4 的证明，以及它的逆命题不成立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3110865"/>
            <a:chOff x="533400" y="1524000"/>
            <a:chExt cx="5410200" cy="31108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10865"/>
            </a:xfrm>
            <a:prstGeom prst="roundRect">
              <a:avLst>
                <a:gd name="adj" fmla="val 42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441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411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独立时 E(XY) = E(X)E(Y)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1172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只对连续型证明。X 与 Y 独立，联合密度 f(x, y)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f_X(x)f_Y(y)，于是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9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4964430" cy="12220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XY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​​</m:t>
                                </m:r>
                                <m:nary>
                                  <m:naryPr>
                                    <m:chr m:val="∫"/>
                                    <m:limLoc m:val="subSup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+∞</m:t>
                                    </m:r>
                                  </m: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xy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nary>
                              </m:e>
                            </m:nary>
                          </m: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nary>
                          </m: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9239" y="4022407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离散型同理，把二重积分换成二重求和。独立性在两处起作用：先把联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合密度拆成乘积，再把二重积分拆成两个一重积分。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819650"/>
            <a:ext cx="5410200" cy="756285"/>
            <a:chOff x="533400" y="4819650"/>
            <a:chExt cx="5410200" cy="756285"/>
          </a:xfrm>
        </p:grpSpPr>
        <p:sp>
          <p:nvSpPr>
            <p:cNvPr id="16" name="Rectangle 16"/>
            <p:cNvSpPr/>
            <p:nvPr/>
          </p:nvSpPr>
          <p:spPr>
            <a:xfrm>
              <a:off x="533400" y="481965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097780"/>
              <a:ext cx="200026" cy="200025"/>
              <a:chOff x="738188" y="5097780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0977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51422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52533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511" y="4967764"/>
              <a:ext cx="449592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这条性质可以推广：n 个相互独立的随机变量，乘积的期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望等于各自期望的乘积。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3110865"/>
            <a:chOff x="6248400" y="1524000"/>
            <a:chExt cx="5410200" cy="311086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3110865"/>
            </a:xfrm>
            <a:prstGeom prst="roundRect">
              <a:avLst>
                <a:gd name="adj" fmla="val 42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8441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1744" y="1767364"/>
              <a:ext cx="36642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E(XY) = E(X)E(Y) 时 X 与 Y 不一定独立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3096" y="2119789"/>
              <a:ext cx="464921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Y) 在单位圆内均匀分布，f(x, y) = 1/π（x² + y²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1），其余为 0。由对称性 E(X) = E(Y) = E(XY) = 0，乘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积拆得开。但边缘密度是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200"/>
                <p:cNvSpPr txBox="1">
                  <a:spLocks noGrp="1"/>
                </p:cNvSpPr>
                <p:nvPr/>
              </p:nvSpPr>
              <p:spPr>
                <a:xfrm>
                  <a:off x="6490335" y="2958465"/>
                  <a:ext cx="4964430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6483096" y="3435191"/>
              <a:ext cx="46582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二者相乘是 4√((1−x²)(1−y²))/π²，与 f(x, y) = 1/π 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相等，所以 X 与 Y 不独立。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4239" y="4022407"/>
              <a:ext cx="45994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直观上，x 越靠近 ±1，y 能取的范围越窄，两个变量的取值范围互相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牵制。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248400" y="4820602"/>
            <a:ext cx="5410200" cy="756285"/>
            <a:chOff x="6248400" y="4820602"/>
            <a:chExt cx="5410200" cy="756285"/>
          </a:xfrm>
        </p:grpSpPr>
        <p:sp>
          <p:nvSpPr>
            <p:cNvPr id="33" name="Rectangle 33"/>
            <p:cNvSpPr/>
            <p:nvPr/>
          </p:nvSpPr>
          <p:spPr>
            <a:xfrm>
              <a:off x="6248400" y="482060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3188" y="5098735"/>
              <a:ext cx="200023" cy="200023"/>
              <a:chOff x="6453188" y="5098735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53188" y="50987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86538" y="51654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511" y="4967764"/>
              <a:ext cx="44688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这个圆盘反例在第三节例 38 里还会完整算一遍，那里用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具体数值对比 f(0, 0) 与 f_X(0)f_Y(0)。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6004084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独立是充分条件，不是必要条件。第三节会把这句话改写成：独立必定不相关，不相关未必独立。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例：独立乘积的期望，与柯西-施瓦茨不等式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3962400"/>
            <a:chOff x="533400" y="1524000"/>
            <a:chExt cx="5193982" cy="3962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962400"/>
            </a:xfrm>
            <a:prstGeom prst="roundRect">
              <a:avLst>
                <a:gd name="adj" fmla="val 33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95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3985" y="1768792"/>
              <a:ext cx="21562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独立，求 E(XY)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11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f_X(x) = 2x（0 &lt; x &lt; 1），f_Y(y) = exp(−(y − 2))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（y &gt; 2），其余为 0。由独立性直接拆：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06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736782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2x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352800"/>
              <a:ext cx="2076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E(Y) 令 u = y − 2：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07"/>
                <p:cNvSpPr txBox="1">
                  <a:spLocks noGrp="1"/>
                </p:cNvSpPr>
                <p:nvPr/>
              </p:nvSpPr>
              <p:spPr>
                <a:xfrm>
                  <a:off x="781050" y="3663315"/>
                  <a:ext cx="4736782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08"/>
                <p:cNvSpPr txBox="1">
                  <a:spLocks noGrp="1"/>
                </p:cNvSpPr>
                <p:nvPr/>
              </p:nvSpPr>
              <p:spPr>
                <a:xfrm>
                  <a:off x="781050" y="4211955"/>
                  <a:ext cx="473678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4573" y="4842986"/>
              <a:ext cx="4556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换元后看得更清楚：f_Y 是把 λ = 1 的指数分布整体右移 2 个单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位，期望也跟着加 2。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032182" y="1524000"/>
            <a:ext cx="5626418" cy="3962400"/>
            <a:chOff x="6032182" y="1524000"/>
            <a:chExt cx="5626418" cy="3962400"/>
          </a:xfrm>
        </p:grpSpPr>
        <p:sp>
          <p:nvSpPr>
            <p:cNvPr id="19" name="Rectangle 19"/>
            <p:cNvSpPr/>
            <p:nvPr/>
          </p:nvSpPr>
          <p:spPr>
            <a:xfrm>
              <a:off x="6032182" y="1524000"/>
              <a:ext cx="5626418" cy="3962400"/>
            </a:xfrm>
            <a:prstGeom prst="roundRect">
              <a:avLst>
                <a:gd name="adj" fmla="val 33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41708" y="1657350"/>
              <a:ext cx="47625" cy="36957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79832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69786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例17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2768" y="1768792"/>
              <a:ext cx="1747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柯西-施瓦茨不等式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72212" y="212979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E(X²) 与 E(Y²) 都存在，则 [E(XY)]² 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E(X²)E(Y²)。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72212" y="2750820"/>
              <a:ext cx="4897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证明：对任意实数 t 令 g(t) = E[(X + tY)²]，展开得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209"/>
                <p:cNvSpPr txBox="1">
                  <a:spLocks noGrp="1"/>
                </p:cNvSpPr>
                <p:nvPr/>
              </p:nvSpPr>
              <p:spPr>
                <a:xfrm>
                  <a:off x="6279832" y="3061335"/>
                  <a:ext cx="516921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2tE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272212" y="3543300"/>
              <a:ext cx="482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被平方的量非负，所以 g(t) ≥ 0 对一切 t 成立。E(Y²) &gt;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时这是开口向上的二次三项式，判别式必须非正：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10"/>
                <p:cNvSpPr txBox="1">
                  <a:spLocks noGrp="1"/>
                </p:cNvSpPr>
                <p:nvPr/>
              </p:nvSpPr>
              <p:spPr>
                <a:xfrm>
                  <a:off x="6279832" y="4139565"/>
                  <a:ext cx="516921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XY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272212" y="4621530"/>
              <a:ext cx="4901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整理即得结论。若 E(Y²) = 0，则 Y 以概率 1 为 0，E(XY)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0，不等式两边都是 0，仍然成立。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9860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第三节证明 |ρ| ≤ 1 靠的就是这条不等式，把 X 与 Y 换成各自的中心化变量 X − E(X)、Y − E(Y) 就得到结论。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拆成简单随机变量之和，再用性质 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640659" cy="308039"/>
            <a:chOff x="525399" y="1550194"/>
            <a:chExt cx="964065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6406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直接写分布律很难的问题，往往可以拆成几个简单变量（常常是 0−1 变量）之和，各自求期望再相加。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67865"/>
            <a:ext cx="4760595" cy="3436620"/>
            <a:chOff x="533400" y="1967865"/>
            <a:chExt cx="4760595" cy="343662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760595" cy="3436620"/>
            </a:xfrm>
            <a:prstGeom prst="roundRect">
              <a:avLst>
                <a:gd name="adj" fmla="val 38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1699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003" y="221313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3985" y="2212658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一颗骰子掷三次，求点数之和的期望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设第 i 次的点数为 Xᵢ，i = 1, 2, 3，则 X = X₁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+ X₃，且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15"/>
                <p:cNvSpPr txBox="1">
                  <a:spLocks noGrp="1"/>
                </p:cNvSpPr>
                <p:nvPr/>
              </p:nvSpPr>
              <p:spPr>
                <a:xfrm>
                  <a:off x="781050" y="3169920"/>
                  <a:ext cx="430339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16"/>
                <p:cNvSpPr txBox="1">
                  <a:spLocks noGrp="1"/>
                </p:cNvSpPr>
                <p:nvPr/>
              </p:nvSpPr>
              <p:spPr>
                <a:xfrm>
                  <a:off x="781050" y="3728085"/>
                  <a:ext cx="430339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4573" y="4409599"/>
              <a:ext cx="40281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若先求和的分布律，要列出 16 个取值的概率，工作量大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得多。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5598795" y="1967865"/>
            <a:ext cx="6059805" cy="3436620"/>
            <a:chOff x="5598795" y="1967865"/>
            <a:chExt cx="6059805" cy="3436620"/>
          </a:xfrm>
        </p:grpSpPr>
        <p:sp>
          <p:nvSpPr>
            <p:cNvPr id="19" name="Rectangle 19"/>
            <p:cNvSpPr/>
            <p:nvPr/>
          </p:nvSpPr>
          <p:spPr>
            <a:xfrm>
              <a:off x="5598795" y="1967865"/>
              <a:ext cx="6059805" cy="3436620"/>
            </a:xfrm>
            <a:prstGeom prst="roundRect">
              <a:avLst>
                <a:gd name="adj" fmla="val 38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608320" y="2101215"/>
              <a:ext cx="47625" cy="31699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46445" y="217741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36398" y="221313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380" y="221265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民航送客汽车的平均停车次数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38825" y="2573655"/>
              <a:ext cx="5234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汽车载 20 位旅客，沿途 10 个车站。每位旅客在各站下车等可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能且互相独立，某站无人下车就不停车。设 X 为停车次数。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38825" y="3194685"/>
              <a:ext cx="5311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Xᵢ = 1 表示第 i 站有人下车，Xᵢ = 0 表示无人下车。某位旅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客不在第 i 站下车的概率是 9/10，20 人都不在该站下车的概率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217"/>
                <p:cNvSpPr txBox="1">
                  <a:spLocks noGrp="1"/>
                </p:cNvSpPr>
                <p:nvPr/>
              </p:nvSpPr>
              <p:spPr>
                <a:xfrm>
                  <a:off x="5846445" y="4076700"/>
                  <a:ext cx="560260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20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218"/>
                <p:cNvSpPr txBox="1">
                  <a:spLocks noGrp="1"/>
                </p:cNvSpPr>
                <p:nvPr/>
              </p:nvSpPr>
              <p:spPr>
                <a:xfrm>
                  <a:off x="5846445" y="4609148"/>
                  <a:ext cx="5602605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8.784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991225"/>
              <a:ext cx="8889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这些 Xᵢ 并不独立，一个站有人下车会让别站少一点人。但性质 3 不要求独立，照样可以逐项相加。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5881" cy="909257"/>
            <a:chOff x="520446" y="342900"/>
            <a:chExt cx="7635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数学期望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5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例：n 个球放进 N 个盒子，平均有多少个盒子有球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235754" cy="264033"/>
            <a:chOff x="526542" y="1545907"/>
            <a:chExt cx="923575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35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个球随机放入 N 个空盒（N ≥ n），每个球落入各盒等可能，每个盒子可容纳 n 个球。求有球的盒子数 X 的期望。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28812"/>
            <a:ext cx="5626418" cy="2474595"/>
            <a:chOff x="533400" y="1928812"/>
            <a:chExt cx="5626418" cy="247459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474595"/>
            </a:xfrm>
            <a:prstGeom prst="roundRect">
              <a:avLst>
                <a:gd name="adj" fmla="val 538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6348" y="2142649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例20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00353" y="214931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465546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 Xᵢ = 1 表示第 i 个盒子有球，Xᵢ = 0 表示无球，则 X 是这 N 个指示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变量之和。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7898" y="2994184"/>
              <a:ext cx="5365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反面更好算：第 i 个盒子无球，就是 n 个球都落进其余 N − 1 个盒子，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31"/>
                <p:cNvSpPr txBox="1">
                  <a:spLocks noGrp="1"/>
                </p:cNvSpPr>
                <p:nvPr/>
              </p:nvSpPr>
              <p:spPr>
                <a:xfrm>
                  <a:off x="714375" y="3257550"/>
                  <a:ext cx="5264468" cy="3343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9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9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9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9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9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9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9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9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9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9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9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9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9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9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9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32"/>
                <p:cNvSpPr txBox="1">
                  <a:spLocks noGrp="1"/>
                </p:cNvSpPr>
                <p:nvPr/>
              </p:nvSpPr>
              <p:spPr>
                <a:xfrm>
                  <a:off x="714375" y="3672840"/>
                  <a:ext cx="5264468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rd-2"/>
          <p:cNvGrpSpPr/>
          <p:nvPr/>
        </p:nvGrpSpPr>
        <p:grpSpPr>
          <a:xfrm>
            <a:off x="533400" y="4568190"/>
            <a:ext cx="5626418" cy="1143952"/>
            <a:chOff x="533400" y="4568190"/>
            <a:chExt cx="5626418" cy="1143952"/>
          </a:xfrm>
        </p:grpSpPr>
        <p:sp>
          <p:nvSpPr>
            <p:cNvPr id="18" name="Rectangle 18"/>
            <p:cNvSpPr/>
            <p:nvPr/>
          </p:nvSpPr>
          <p:spPr>
            <a:xfrm>
              <a:off x="533400" y="456819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70154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2475" y="47491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147" y="47820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998" y="5089684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原课件这道例题只写到 X = ΣXᵢ 就停住了，没有给出答案。上面补全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了全过程。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459665" y="1928812"/>
            <a:ext cx="5198935" cy="2170462"/>
            <a:chOff x="6459665" y="1928812"/>
            <a:chExt cx="5198935" cy="2170462"/>
          </a:xfrm>
        </p:grpSpPr>
        <p:sp>
          <p:nvSpPr>
            <p:cNvPr id="24" name="Rectangle 24"/>
            <p:cNvSpPr/>
            <p:nvPr/>
          </p:nvSpPr>
          <p:spPr>
            <a:xfrm>
              <a:off x="6464618" y="1928812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3401" y="2045970"/>
              <a:ext cx="1188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 时的球数 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42782" y="20459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有球盒子数的期望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3998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空盒占比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9296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5231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4.095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91166" y="2426970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59.0%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2687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4618" y="2691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9296" y="280892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5231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6.513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91166" y="2808923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34.9%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3068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9296" y="318992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5231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8.784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91166" y="3189923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12.2%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449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3453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9296" y="3571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5231" y="3571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9.576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91166" y="3571875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192881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22579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99172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59665" y="3908584"/>
              <a:ext cx="4527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推导没用到 N ≥ n，n &gt; N 时公式同样成立；球越多空盒越少，但总有可能空着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464618" y="4226242"/>
            <a:ext cx="5193982" cy="1486852"/>
            <a:chOff x="6464618" y="4226242"/>
            <a:chExt cx="5193982" cy="1486852"/>
          </a:xfrm>
        </p:grpSpPr>
        <p:sp>
          <p:nvSpPr>
            <p:cNvPr id="50" name="Rectangle 50"/>
            <p:cNvSpPr/>
            <p:nvPr/>
          </p:nvSpPr>
          <p:spPr>
            <a:xfrm>
              <a:off x="6464618" y="4226242"/>
              <a:ext cx="5193982" cy="1486852"/>
            </a:xfrm>
            <a:prstGeom prst="roundRect">
              <a:avLst>
                <a:gd name="adj" fmla="val 768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69405" y="4869180"/>
              <a:ext cx="200026" cy="200025"/>
              <a:chOff x="6669405" y="4869180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48691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09144" y="49136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43859" y="50247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2491" y="4762976"/>
              <a:ext cx="42801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= 20、N = 10 这一行的 8.784 和上一页停车例完全相同。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旅客对应球，车站对应盒子，两道题是同一个模型。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7485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计数型期望的通用套路：给每个位置配一个指示变量，算它取 1 的概率，再把 N 个期望直接相加。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90449" cy="2997517"/>
            <a:chOff x="667512" y="1835468"/>
            <a:chExt cx="649044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80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期望相同的两个分布可以差得很远，还需要一个数来量“散得多开”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61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定义与计算公式 D(X) = E(X²) − [E(X)]²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七种常用分布的方差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五条性质与随机变量的标准化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方差：取值对均值的平均平方偏离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554605"/>
            <a:chOff x="533400" y="1524000"/>
            <a:chExt cx="5410200" cy="2554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54605"/>
            </a:xfrm>
            <a:prstGeom prst="roundRect">
              <a:avLst>
                <a:gd name="adj" fmla="val 52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879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方差与标准差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为随机变量，若 E{[X − E(X)]²} 存在，就称它为 X 的方差，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记作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51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01015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3013234"/>
              <a:ext cx="3687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√D(X) 为 X 的均方差或标准差，记作 σ(X)。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141" y="3294698"/>
              <a:ext cx="468458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先取偏离 X − E(X)，再平方以免正负抵消，最后求平均。标准差把量纲变回与 X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相同，所以实际中更常报标准差。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141" y="37338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方差是一个确定的数，不是随机变量，与做多少次试验无关。</a:t>
              </a:r>
            </a:p>
          </p:txBody>
        </p:sp>
      </p:grpSp>
      <p:grpSp>
        <p:nvGrpSpPr>
          <p:cNvPr id="20" name="c1-image-2"/>
          <p:cNvGrpSpPr/>
          <p:nvPr/>
        </p:nvGrpSpPr>
        <p:grpSpPr>
          <a:xfrm>
            <a:off x="2173605" y="4243388"/>
            <a:ext cx="2129790" cy="1481803"/>
            <a:chOff x="2173605" y="4243388"/>
            <a:chExt cx="2129790" cy="1481803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0" t="16" r="0" b="17"/>
            <a:stretch>
              <a:fillRect/>
            </a:stretch>
          </p:blipFill>
          <p:spPr>
            <a:xfrm>
              <a:off x="2173605" y="4243388"/>
              <a:ext cx="2129790" cy="1198245"/>
            </a:xfrm>
            <a:prstGeom prst="roundRect">
              <a:avLst>
                <a:gd name="adj" fmla="val 11128"/>
              </a:avLst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2178126" y="5534501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平均位置都在靶心，散布却完全不同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1765935"/>
            <a:chOff x="6248400" y="1524000"/>
            <a:chExt cx="5410200" cy="176593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765935"/>
            </a:xfrm>
            <a:prstGeom prst="roundRect">
              <a:avLst>
                <a:gd name="adj" fmla="val 75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14992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674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20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计算公式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83006" y="1744504"/>
              <a:ext cx="213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D(X) = E(X²) − [E(X)]²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0998" y="206168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把平方展开，再用期望的线性性质：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253"/>
                <p:cNvSpPr txBox="1">
                  <a:spLocks noGrp="1"/>
                </p:cNvSpPr>
                <p:nvPr/>
              </p:nvSpPr>
              <p:spPr>
                <a:xfrm>
                  <a:off x="6467475" y="2325052"/>
                  <a:ext cx="5010150" cy="5219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2XE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462141" y="2945130"/>
              <a:ext cx="4287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证明中把 E(X) 当成常数提了出来，这正是性质 1 和性质 2 的用法。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248400" y="3454718"/>
            <a:ext cx="5410200" cy="2250758"/>
            <a:chOff x="6248400" y="3454718"/>
            <a:chExt cx="5410200" cy="2250758"/>
          </a:xfrm>
        </p:grpSpPr>
        <p:sp>
          <p:nvSpPr>
            <p:cNvPr id="30" name="Rectangle 30"/>
            <p:cNvSpPr/>
            <p:nvPr/>
          </p:nvSpPr>
          <p:spPr>
            <a:xfrm>
              <a:off x="6248400" y="3454718"/>
              <a:ext cx="5410200" cy="2250758"/>
            </a:xfrm>
            <a:prstGeom prst="roundRect">
              <a:avLst>
                <a:gd name="adj" fmla="val 59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3588068"/>
              <a:ext cx="47625" cy="19840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7475" y="3635692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642" y="366855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按定义展开的两个算式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77000" y="40281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32448" y="3976211"/>
              <a:ext cx="2746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离散型：D(X) = Σ [xₖ − E(X)]²pₖ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7000" y="431292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2448" y="4261009"/>
              <a:ext cx="3007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连续型：D(X) = ∫ [x − E(X)]²f(x)dx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2141" y="4542472"/>
              <a:ext cx="4327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实际算题几乎都走计算公式，因为 E(X²) 比逐项减均值再平方好算。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998" y="4792504"/>
              <a:ext cx="4767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对照一下：X 取 0、1、2 的概率为 1/4、1/2、1/4，E(X) = 1。按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 D(X) = 1×1/4 + 0 + 1×1/4 = 1/2；按公式 E(X²) − 1 = 3/2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 = 1/2。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1" name="Rectangle 4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6039326"/>
              <a:ext cx="7467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D(X) ≥ 0 立刻得到 E(X²) ≥ [E(X)]²。这个不等式本身就常用来反查题目给的数据是否自洽。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例：期望相同的两只股票，方差相差近 7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046045" cy="264033"/>
            <a:chOff x="526542" y="1545907"/>
            <a:chExt cx="904604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046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投资者用未来价格的期望判断收益，用方差判断风险。甲乙两股今年价格都是 10 元，一年后价格的分布列如下。</a:t>
              </a:r>
            </a:p>
          </p:txBody>
        </p:sp>
      </p:grpSp>
      <p:grpSp>
        <p:nvGrpSpPr>
          <p:cNvPr id="41" name="c1-card-1"/>
          <p:cNvGrpSpPr/>
          <p:nvPr/>
        </p:nvGrpSpPr>
        <p:grpSpPr>
          <a:xfrm>
            <a:off x="533400" y="1928812"/>
            <a:ext cx="4977765" cy="3764280"/>
            <a:chOff x="533400" y="1928812"/>
            <a:chExt cx="4977765" cy="376428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3764280"/>
            </a:xfrm>
            <a:prstGeom prst="roundRect">
              <a:avLst>
                <a:gd name="adj" fmla="val 35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4975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163" y="2148364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3787" y="2150745"/>
              <a:ext cx="1689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甲股票 X 与乙股票 Y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8190" y="2453640"/>
              <a:ext cx="456628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9440" y="2575084"/>
              <a:ext cx="555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X（元）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34881" y="2575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87673" y="25750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83048" y="25750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5345" y="29751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33600" y="297513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9927" y="297513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25302" y="297513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8190" y="2453640"/>
              <a:ext cx="4566285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31682" y="245364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28010" y="245364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23385" y="245364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8190" y="3337560"/>
              <a:ext cx="456628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19440" y="3459004"/>
              <a:ext cx="555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Y（元）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34881" y="34590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44137" y="345900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8.6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83048" y="34590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5345" y="385905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33600" y="385905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29927" y="385905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25302" y="385905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58190" y="3337560"/>
              <a:ext cx="4566285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031682" y="333756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128010" y="333756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223385" y="333756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1332" y="4244340"/>
              <a:ext cx="405136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8×0.4 + 12×0.5 + 15×0.1 = 10.7，E(Y)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6×0.3 + 8.6×0.5 + 23×0.2 = 10.7。两只股票的平均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价格完全相同。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5815965" y="1928812"/>
            <a:ext cx="5842635" cy="2151698"/>
            <a:chOff x="5815965" y="1928812"/>
            <a:chExt cx="5842635" cy="2151698"/>
          </a:xfrm>
        </p:grpSpPr>
        <p:sp>
          <p:nvSpPr>
            <p:cNvPr id="42" name="Rectangle 42"/>
            <p:cNvSpPr/>
            <p:nvPr/>
          </p:nvSpPr>
          <p:spPr>
            <a:xfrm>
              <a:off x="5815965" y="1928812"/>
              <a:ext cx="5842635" cy="2151698"/>
            </a:xfrm>
            <a:prstGeom prst="roundRect">
              <a:avLst>
                <a:gd name="adj" fmla="val 619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02655" y="211550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98426" y="214836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269"/>
                <p:cNvSpPr txBox="1">
                  <a:spLocks noGrp="1"/>
                </p:cNvSpPr>
                <p:nvPr/>
              </p:nvSpPr>
              <p:spPr>
                <a:xfrm>
                  <a:off x="6002655" y="2437448"/>
                  <a:ext cx="546925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64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0.4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144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225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120.1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270"/>
                <p:cNvSpPr txBox="1">
                  <a:spLocks noGrp="1"/>
                </p:cNvSpPr>
                <p:nvPr/>
              </p:nvSpPr>
              <p:spPr>
                <a:xfrm>
                  <a:off x="6002655" y="2845118"/>
                  <a:ext cx="546925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36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73.96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529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153.58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271"/>
                <p:cNvSpPr txBox="1">
                  <a:spLocks noGrp="1"/>
                </p:cNvSpPr>
                <p:nvPr/>
              </p:nvSpPr>
              <p:spPr>
                <a:xfrm>
                  <a:off x="6002655" y="3252788"/>
                  <a:ext cx="546925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120.1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10.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5.61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153.58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10.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39.09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8" name="TextBox 48"/>
            <p:cNvSpPr txBox="1"/>
            <p:nvPr/>
          </p:nvSpPr>
          <p:spPr>
            <a:xfrm>
              <a:off x="5995797" y="3682365"/>
              <a:ext cx="5029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标准差分别是 2.37 元与 6.25 元。买甲股票的风险明显更小。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5815965" y="4250055"/>
            <a:ext cx="5842635" cy="1443038"/>
            <a:chOff x="5815965" y="4250055"/>
            <a:chExt cx="5842635" cy="1443038"/>
          </a:xfrm>
        </p:grpSpPr>
        <p:sp>
          <p:nvSpPr>
            <p:cNvPr id="50" name="Rectangle 50"/>
            <p:cNvSpPr/>
            <p:nvPr/>
          </p:nvSpPr>
          <p:spPr>
            <a:xfrm>
              <a:off x="5815965" y="4250055"/>
              <a:ext cx="584263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25490" y="438340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40755" y="44367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32474" y="44696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33897" y="4780598"/>
              <a:ext cx="492575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D(Y) 写成 30.09，按 E(Y²) − [E(Y)]² = 153.58 −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114.49 应为 39.09，已用脚本复核。原课件还把方差的单位写成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“元”，方差的量纲是元的平方，标准差才是元。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6" name="Rectangle 5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8373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只比期望会把这两只股票看成一样。收益看期望，风险看方差，两个数要一起报。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同一个期望，两种完全不同的散布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var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232" y="1658541"/>
              <a:ext cx="197887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甲股票 X：8、12、15 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376" y="1930479"/>
              <a:ext cx="298244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 0.4、0.5、0.1，三个价格都在期望附近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15603" y="2438400"/>
              <a:ext cx="848792" cy="2133600"/>
            </a:xfrm>
            <a:prstGeom prst="rect">
              <a:avLst/>
            </a:prstGeom>
            <a:solidFill>
              <a:srgbClr val="DCE4F5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4572000"/>
              <a:ext cx="4657725" cy="9525"/>
            </a:xfrm>
            <a:custGeom>
              <a:avLst/>
              <a:gdLst/>
              <a:ahLst/>
              <a:cxnLst/>
              <a:rect l="l" t="t" r="r" b="b"/>
              <a:pathLst>
                <a:path w="4657725" h="9525">
                  <a:moveTo>
                    <a:pt x="0" y="0"/>
                  </a:moveTo>
                  <a:lnTo>
                    <a:pt x="46577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24525" y="45419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123950" y="2371725"/>
              <a:ext cx="9525" cy="2257425"/>
            </a:xfrm>
            <a:custGeom>
              <a:avLst/>
              <a:gdLst/>
              <a:ahLst/>
              <a:cxnLst/>
              <a:rect l="l" t="t" r="r" b="b"/>
              <a:pathLst>
                <a:path w="9525" h="2257425">
                  <a:moveTo>
                    <a:pt x="0" y="22574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1093946" y="23050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23966" y="46110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8764" y="2134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1474" y="46286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556510" y="3195485"/>
              <a:ext cx="9525" cy="1376515"/>
            </a:xfrm>
            <a:custGeom>
              <a:avLst/>
              <a:gdLst/>
              <a:ahLst/>
              <a:cxnLst/>
              <a:rect l="l" t="t" r="r" b="b"/>
              <a:pathLst>
                <a:path w="9525" h="1376515">
                  <a:moveTo>
                    <a:pt x="0" y="137651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508885" y="3147860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33586" y="2962361"/>
              <a:ext cx="24584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556510" y="4572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15277" y="46477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272790" y="2851356"/>
              <a:ext cx="9525" cy="1720644"/>
            </a:xfrm>
            <a:custGeom>
              <a:avLst/>
              <a:gdLst/>
              <a:ahLst/>
              <a:cxnLst/>
              <a:rect l="l" t="t" r="r" b="b"/>
              <a:pathLst>
                <a:path w="9525" h="1720644">
                  <a:moveTo>
                    <a:pt x="0" y="172064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225165" y="2803731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49866" y="2618232"/>
              <a:ext cx="24584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272790" y="4572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95277" y="46477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810000" y="4227871"/>
              <a:ext cx="9525" cy="344129"/>
            </a:xfrm>
            <a:custGeom>
              <a:avLst/>
              <a:gdLst/>
              <a:ahLst/>
              <a:cxnLst/>
              <a:rect l="l" t="t" r="r" b="b"/>
              <a:pathLst>
                <a:path w="9525" h="344129">
                  <a:moveTo>
                    <a:pt x="0" y="344129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762375" y="4180246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87076" y="3994747"/>
              <a:ext cx="24584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3810000" y="4572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32487" y="46477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076325" y="2851356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5591" y="2788968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3039999" y="2576055"/>
              <a:ext cx="9525" cy="1995945"/>
            </a:xfrm>
            <a:custGeom>
              <a:avLst/>
              <a:gdLst/>
              <a:ahLst/>
              <a:cxnLst/>
              <a:rect l="l" t="t" r="r" b="b"/>
              <a:pathLst>
                <a:path w="9525" h="1995945">
                  <a:moveTo>
                    <a:pt x="0" y="199594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4A38B"/>
              </a:solidFill>
              <a:custDash>
                <a:ds d="250000" sp="200000"/>
              </a:custDash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2555157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rgbClr val="14A38B"/>
              </a:solidFill>
              <a:custDash>
                <a:ds d="250000" sp="2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948047" y="2488006"/>
              <a:ext cx="6035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期望 10.7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067300"/>
              <a:ext cx="5143500" cy="10477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33425" y="5172075"/>
              <a:ext cx="47625" cy="838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5350" y="51720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96315" y="52254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9826" y="5483304"/>
              <a:ext cx="3091117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10.7 元，D(X) = 5.61，σ(X) = 2.37 元。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浅蓝带是 E(X) ± σ 的范围，宽 ±2.37 元。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三个可能价格都紧贴期望，波动小。</a:t>
              </a:r>
            </a:p>
          </p:txBody>
        </p:sp>
      </p:grpSp>
      <p:grpSp>
        <p:nvGrpSpPr>
          <p:cNvPr id="80" name="var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44" name="Rectangle 44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94132" y="1658541"/>
              <a:ext cx="208071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乙股票 Y：6、8.6、23 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95276" y="1930479"/>
              <a:ext cx="280636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 0.3、0.5、0.2，期望同样是 10.7 元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584148" y="2438400"/>
              <a:ext cx="2200275" cy="2133600"/>
            </a:xfrm>
            <a:prstGeom prst="rect">
              <a:avLst/>
            </a:prstGeom>
            <a:solidFill>
              <a:srgbClr val="DCE4F5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6743700" y="4572000"/>
              <a:ext cx="4581525" cy="9525"/>
            </a:xfrm>
            <a:custGeom>
              <a:avLst/>
              <a:gdLst/>
              <a:ahLst/>
              <a:cxnLst/>
              <a:rect l="l" t="t" r="r" b="b"/>
              <a:pathLst>
                <a:path w="4581525" h="9525">
                  <a:moveTo>
                    <a:pt x="0" y="0"/>
                  </a:moveTo>
                  <a:lnTo>
                    <a:pt x="45815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11325225" y="45419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6800850" y="2371725"/>
              <a:ext cx="9525" cy="2257425"/>
            </a:xfrm>
            <a:custGeom>
              <a:avLst/>
              <a:gdLst/>
              <a:ahLst/>
              <a:cxnLst/>
              <a:rect l="l" t="t" r="r" b="b"/>
              <a:pathLst>
                <a:path w="9525" h="2257425">
                  <a:moveTo>
                    <a:pt x="0" y="22574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6770846" y="23050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424666" y="46110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5664" y="2134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48374" y="462867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856982" y="3539614"/>
              <a:ext cx="9525" cy="1032386"/>
            </a:xfrm>
            <a:custGeom>
              <a:avLst/>
              <a:gdLst/>
              <a:ahLst/>
              <a:cxnLst/>
              <a:rect l="l" t="t" r="r" b="b"/>
              <a:pathLst>
                <a:path w="9525" h="1032386">
                  <a:moveTo>
                    <a:pt x="0" y="1032386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809357" y="3491989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34058" y="3306489"/>
              <a:ext cx="24584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856982" y="4572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15749" y="464772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8314639" y="2851356"/>
              <a:ext cx="9525" cy="1720644"/>
            </a:xfrm>
            <a:custGeom>
              <a:avLst/>
              <a:gdLst/>
              <a:ahLst/>
              <a:cxnLst/>
              <a:rect l="l" t="t" r="r" b="b"/>
              <a:pathLst>
                <a:path w="9525" h="1720644">
                  <a:moveTo>
                    <a:pt x="0" y="172064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8267014" y="2803731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191715" y="2618232"/>
              <a:ext cx="24584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8314639" y="4572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00846" y="46477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8.6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10849356" y="3883743"/>
              <a:ext cx="9525" cy="688257"/>
            </a:xfrm>
            <a:custGeom>
              <a:avLst/>
              <a:gdLst/>
              <a:ahLst/>
              <a:cxnLst/>
              <a:rect l="l" t="t" r="r" b="b"/>
              <a:pathLst>
                <a:path w="9525" h="688257">
                  <a:moveTo>
                    <a:pt x="0" y="688257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801731" y="3836118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726432" y="3650618"/>
              <a:ext cx="24584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10849356" y="45720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771843" y="464772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6753225" y="2851356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92491" y="2788968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8684285" y="2576055"/>
              <a:ext cx="9525" cy="1995945"/>
            </a:xfrm>
            <a:custGeom>
              <a:avLst/>
              <a:gdLst/>
              <a:ahLst/>
              <a:cxnLst/>
              <a:rect l="l" t="t" r="r" b="b"/>
              <a:pathLst>
                <a:path w="9525" h="1995945">
                  <a:moveTo>
                    <a:pt x="0" y="199594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250000" sp="200000"/>
              </a:custDash>
            </a:ln>
          </p:spPr>
        </p:sp>
        <p:sp>
          <p:nvSpPr>
            <p:cNvPr id="73" name="Line 73"/>
            <p:cNvSpPr/>
            <p:nvPr/>
          </p:nvSpPr>
          <p:spPr>
            <a:xfrm>
              <a:off x="10287000" y="2555157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250000" sp="200000"/>
              </a:custDash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548747" y="2488006"/>
              <a:ext cx="6035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期望 10.7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00800" y="5067300"/>
              <a:ext cx="5067300" cy="10477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10325" y="5172075"/>
              <a:ext cx="47625" cy="8382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572250" y="51720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73215" y="52254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66726" y="5483304"/>
              <a:ext cx="3167253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E(Y) = 10.7 元，D(Y) = 39.09，σ(Y) = 6.25 元。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浅蓝带宽 ±6.25 元，是甲股票的 2.6 倍。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原课件此处写作 30.09，应为 39.09。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两点分布与二项分布的方差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card-1"/>
          <p:cNvGrpSpPr/>
          <p:nvPr/>
        </p:nvGrpSpPr>
        <p:grpSpPr>
          <a:xfrm>
            <a:off x="533400" y="1524000"/>
            <a:ext cx="4544378" cy="4036695"/>
            <a:chOff x="533400" y="1524000"/>
            <a:chExt cx="4544378" cy="4036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03669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69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552" y="1756410"/>
              <a:ext cx="249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服从参数为 p 的 (0−1) 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3448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只取 0 和 1，平方之后还是它自己，所以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92"/>
                <p:cNvSpPr txBox="1">
                  <a:spLocks noGrp="1"/>
                </p:cNvSpPr>
                <p:nvPr/>
              </p:nvSpPr>
              <p:spPr>
                <a:xfrm>
                  <a:off x="763905" y="2370772"/>
                  <a:ext cx="412146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93"/>
                <p:cNvSpPr txBox="1">
                  <a:spLocks noGrp="1"/>
                </p:cNvSpPr>
                <p:nvPr/>
              </p:nvSpPr>
              <p:spPr>
                <a:xfrm>
                  <a:off x="763905" y="2800350"/>
                  <a:ext cx="412146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58190" y="3248501"/>
              <a:ext cx="37736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 = 1/2 时方差最大，等于 1/4；p 越接近 0 或 1，结果越确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定，方差越小。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3905" y="3700462"/>
              <a:ext cx="412146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4216" y="3824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96274" y="382476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97314" y="382476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97402" y="382476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8442" y="382476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8529" y="382476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3918" y="4230529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82090" y="423052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3130" y="423052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83218" y="423052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84257" y="423052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85298" y="423052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3905" y="3700462"/>
              <a:ext cx="4121468" cy="811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77315" y="370046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78355" y="370046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778442" y="370046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479482" y="370046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80522" y="370046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7047" y="4621530"/>
              <a:ext cx="38627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表格关于 p = 0.5 对称：成功率 0.3 与 0.7 的不确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定程度一样。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5382578" y="1524000"/>
            <a:ext cx="6276022" cy="4036695"/>
            <a:chOff x="5382578" y="1524000"/>
            <a:chExt cx="6276022" cy="4036695"/>
          </a:xfrm>
        </p:grpSpPr>
        <p:sp>
          <p:nvSpPr>
            <p:cNvPr id="37" name="Rectangle 37"/>
            <p:cNvSpPr/>
            <p:nvPr/>
          </p:nvSpPr>
          <p:spPr>
            <a:xfrm>
              <a:off x="5382578" y="1524000"/>
              <a:ext cx="6276022" cy="403669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92102" y="1657350"/>
              <a:ext cx="47625" cy="3769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13082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4045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17730" y="1756410"/>
              <a:ext cx="192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B(n, p)，求 D(X)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06224" y="2090738"/>
              <a:ext cx="5405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E(X²) 不好凑，先算 E[X(X − 1)]，因为 k(k − 1)Cₙᵏ 能降两阶：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294"/>
                <p:cNvSpPr txBox="1">
                  <a:spLocks noGrp="1"/>
                </p:cNvSpPr>
                <p:nvPr/>
              </p:nvSpPr>
              <p:spPr>
                <a:xfrm>
                  <a:off x="5613082" y="2370772"/>
                  <a:ext cx="5853112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TextBox 44"/>
            <p:cNvSpPr txBox="1"/>
            <p:nvPr/>
          </p:nvSpPr>
          <p:spPr>
            <a:xfrm>
              <a:off x="5606224" y="28908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295"/>
                <p:cNvSpPr txBox="1">
                  <a:spLocks noGrp="1"/>
                </p:cNvSpPr>
                <p:nvPr/>
              </p:nvSpPr>
              <p:spPr>
                <a:xfrm>
                  <a:off x="5613082" y="3170872"/>
                  <a:ext cx="5853112" cy="9639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sSub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bSup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</m:e>
                            </m:nary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nary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6" name="TextBox 46"/>
            <p:cNvSpPr txBox="1"/>
            <p:nvPr/>
          </p:nvSpPr>
          <p:spPr>
            <a:xfrm>
              <a:off x="5606224" y="4244340"/>
              <a:ext cx="53972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最后一步的和式是 [p + (1 − p)]ⁿ⁻² = 1。所以 E(X²) = E[X(X − 1)]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n(n − 1)p² + np，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296"/>
                <p:cNvSpPr txBox="1">
                  <a:spLocks noGrp="1"/>
                </p:cNvSpPr>
                <p:nvPr/>
              </p:nvSpPr>
              <p:spPr>
                <a:xfrm>
                  <a:off x="5613082" y="4781550"/>
                  <a:ext cx="58531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np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np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8" name="TextBox 48"/>
            <p:cNvSpPr txBox="1"/>
            <p:nvPr/>
          </p:nvSpPr>
          <p:spPr>
            <a:xfrm>
              <a:off x="5607367" y="5192554"/>
              <a:ext cx="4317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 B(10, 0.3)：E(X) = 3，D(X) = 10 × 0.3 × 0.7 = 2.1。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9232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凑不出 E(X²) 时就先算 E[X(X−1)]，再加回 E(X)。这个技巧对二项、泊松都管用，是离散型求方差的固定套路。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泊松分布与几何分布的方差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4013835"/>
            <a:chOff x="533400" y="1524000"/>
            <a:chExt cx="5410200" cy="40138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13835"/>
            </a:xfrm>
            <a:prstGeom prst="roundRect">
              <a:avLst>
                <a:gd name="adj" fmla="val 33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471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3985" y="1768792"/>
              <a:ext cx="2468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服从参数为 λ 的泊松分布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同样先降阶。写 k² = k(k − 1) + k，前一项从 k = 2 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02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953000" cy="9772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p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!</m:t>
                                    </m:r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sup>
                                </m:sSup>
                              </m:e>
                            </m:nary>
                          </m: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sup>
                            </m:sSup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p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!</m:t>
                                    </m:r>
                                  </m:den>
                                </m:f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823335"/>
              <a:ext cx="42155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E(X²) = E[X(X − 1)] + E(X) = λ² + λ，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03"/>
                <p:cNvSpPr txBox="1">
                  <a:spLocks noGrp="1"/>
                </p:cNvSpPr>
                <p:nvPr/>
              </p:nvSpPr>
              <p:spPr>
                <a:xfrm>
                  <a:off x="781050" y="4133850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4573" y="4631531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泊松分布的期望与方差相等，都是 λ。这条特征常被用来检验数据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适不适合用泊松模型。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4013835"/>
            <a:chOff x="6248400" y="1524000"/>
            <a:chExt cx="5410200" cy="4013835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4013835"/>
            </a:xfrm>
            <a:prstGeom prst="roundRect">
              <a:avLst>
                <a:gd name="adj" fmla="val 33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1657350"/>
              <a:ext cx="47625" cy="37471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96050" y="1733550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86003" y="1769269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18985" y="1768792"/>
              <a:ext cx="2468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服从参数为 p 的几何分布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430" y="2129790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仍要一个现成的级数。在 Σkxᵏ⁻¹ = 1/(1 − x)² 两边再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 x 并求导（|x| &lt; 1），得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304"/>
                <p:cNvSpPr txBox="1">
                  <a:spLocks noGrp="1"/>
                </p:cNvSpPr>
                <p:nvPr/>
              </p:nvSpPr>
              <p:spPr>
                <a:xfrm>
                  <a:off x="6496050" y="2726055"/>
                  <a:ext cx="4953000" cy="600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num>
                                  <m:den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488430" y="344614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 = 1 − p，乘上 p 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305"/>
                <p:cNvSpPr txBox="1">
                  <a:spLocks noGrp="1"/>
                </p:cNvSpPr>
                <p:nvPr/>
              </p:nvSpPr>
              <p:spPr>
                <a:xfrm>
                  <a:off x="6496050" y="3756660"/>
                  <a:ext cx="495300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306"/>
                <p:cNvSpPr txBox="1">
                  <a:spLocks noGrp="1"/>
                </p:cNvSpPr>
                <p:nvPr/>
              </p:nvSpPr>
              <p:spPr>
                <a:xfrm>
                  <a:off x="6496050" y="4314825"/>
                  <a:ext cx="495300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489573" y="4894421"/>
              <a:ext cx="43289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 p = 0.2：E(X) = 5，D(X) = 0.8/0.04 = 20，标准差约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4.5，等待次数波动很大。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0" name="Rectangle 3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991225"/>
              <a:ext cx="970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两处都在用同一招：把待求的和式化成一个已知展开式的导数或平移。级数求和是离散型方差的主要计算量。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四个离散分布的方差，与期望对照着记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11125200" cy="2244090"/>
            <a:chOff x="533400" y="1524000"/>
            <a:chExt cx="11125200" cy="2244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42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1745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56376" y="1659731"/>
              <a:ext cx="835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 E(X)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714" y="1659731"/>
              <a:ext cx="835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 D(X)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7544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两者的关系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909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(0−1) 分布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21446" y="2108359"/>
              <a:ext cx="2491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1} = p，P{X = 0} = 1 − 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5900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04901" y="2108359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p(1 − p)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73680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方差不超过期望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556986"/>
              <a:ext cx="14211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 B(n, p)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1446" y="2556986"/>
              <a:ext cx="2280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 = Cₙᵏpᵏ(1 − p)ⁿ⁻ᵏ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5900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04901" y="2556986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np(1 − p)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73680" y="2556986"/>
              <a:ext cx="189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方差是期望的 (1 − p) 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005614"/>
              <a:ext cx="1154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 π(λ)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21446" y="3005614"/>
              <a:ext cx="2002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 = λᵏexp(−λ)/k!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59006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4901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3680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期望与方差相等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454241"/>
              <a:ext cx="1167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几何分布 G(p)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1446" y="3454241"/>
              <a:ext cx="1880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= k} = p(1 − p)ᵏ⁻¹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59006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04901" y="34542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p)/p²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73680" y="3454241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方差是期望的 (1 − p)/p 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0886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4642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9231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76109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llout-2"/>
          <p:cNvGrpSpPr/>
          <p:nvPr/>
        </p:nvGrpSpPr>
        <p:grpSpPr>
          <a:xfrm>
            <a:off x="533400" y="3958590"/>
            <a:ext cx="11125200" cy="782955"/>
            <a:chOff x="533400" y="3958590"/>
            <a:chExt cx="11125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533400" y="3958590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4250055"/>
              <a:ext cx="200026" cy="200025"/>
              <a:chOff x="738188" y="4250055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42500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42945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44056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4107180"/>
              <a:ext cx="9930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(0−1) 分布的 p(1 − p) 是二项分布公式在 n = 1 时的特例。把 n 次独立试验拆成 n 个 (0−1) 变量相加，方差也跟着相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加，这就是 np(1 − p) 的来历。</a:t>
              </a:r>
            </a:p>
          </p:txBody>
        </p:sp>
      </p:grpSp>
      <p:grpSp>
        <p:nvGrpSpPr>
          <p:cNvPr id="56" name="c1-card-3"/>
          <p:cNvGrpSpPr/>
          <p:nvPr/>
        </p:nvGrpSpPr>
        <p:grpSpPr>
          <a:xfrm>
            <a:off x="533400" y="4932045"/>
            <a:ext cx="11125200" cy="1430655"/>
            <a:chOff x="533400" y="4932045"/>
            <a:chExt cx="11125200" cy="1430655"/>
          </a:xfrm>
        </p:grpSpPr>
        <p:sp>
          <p:nvSpPr>
            <p:cNvPr id="51" name="Rectangle 51"/>
            <p:cNvSpPr/>
            <p:nvPr/>
          </p:nvSpPr>
          <p:spPr>
            <a:xfrm>
              <a:off x="533400" y="4932045"/>
              <a:ext cx="11125200" cy="1430655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5065395"/>
              <a:ext cx="47625" cy="11639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81050" y="51415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71258" y="5177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3430" y="5518785"/>
              <a:ext cx="10102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D(X) = λ 是泊松分布的特点，别套到上表其他分布上。二项分布的方差总比期望小；几何分布的方差是期望的 (1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p)/p 倍，p &lt; 1/2 时方差更大，p = 0.1 时达到 9 倍。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均匀分布与指数分布的方差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4036695"/>
            <a:chOff x="533400" y="1524000"/>
            <a:chExt cx="5410200" cy="4036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3669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69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448" y="1737836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8453" y="1744504"/>
              <a:ext cx="2214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在 [a, b] 上服从均匀分布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3235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 2 阶原点矩，立方差公式约掉 b − a：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31"/>
                <p:cNvSpPr txBox="1">
                  <a:spLocks noGrp="1"/>
                </p:cNvSpPr>
                <p:nvPr/>
              </p:nvSpPr>
              <p:spPr>
                <a:xfrm>
                  <a:off x="752475" y="2325052"/>
                  <a:ext cx="50101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2827496"/>
              <a:ext cx="345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再减去 [E(X)]² = (a + b)²/4，通分到 12：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32"/>
                <p:cNvSpPr txBox="1">
                  <a:spLocks noGrp="1"/>
                </p:cNvSpPr>
                <p:nvPr/>
              </p:nvSpPr>
              <p:spPr>
                <a:xfrm>
                  <a:off x="752475" y="3090862"/>
                  <a:ext cx="5010150" cy="7286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den>
                            </m:f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4ab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6ab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den>
                            </m:f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47141" y="3918585"/>
              <a:ext cx="4811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方差只跟区间长度有关，与区间位置无关。把区间整体平移，分散程度不变，这正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是性质 3 的体现。例如 U(2, 8) 的方差是 6²/12 = 3。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2485072"/>
            <a:chOff x="6248400" y="1524000"/>
            <a:chExt cx="5410200" cy="248507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485072"/>
            </a:xfrm>
            <a:prstGeom prst="roundRect">
              <a:avLst>
                <a:gd name="adj" fmla="val 53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1657350"/>
              <a:ext cx="47625" cy="22183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67475" y="1704975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59448" y="1737836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53453" y="1744504"/>
              <a:ext cx="2106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服从参数为 λ 的指数分布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0998" y="2061686"/>
              <a:ext cx="40120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分部积分一次，剩下的积分正好是 E(X) 的 2/λ 倍：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333"/>
                <p:cNvSpPr txBox="1">
                  <a:spLocks noGrp="1"/>
                </p:cNvSpPr>
                <p:nvPr/>
              </p:nvSpPr>
              <p:spPr>
                <a:xfrm>
                  <a:off x="6467475" y="2325052"/>
                  <a:ext cx="5010150" cy="7734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λx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2x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λx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</m:e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den>
                            </m:f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334"/>
                <p:cNvSpPr txBox="1">
                  <a:spLocks noGrp="1"/>
                </p:cNvSpPr>
                <p:nvPr/>
              </p:nvSpPr>
              <p:spPr>
                <a:xfrm>
                  <a:off x="6467475" y="3179445"/>
                  <a:ext cx="5010150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462141" y="3663315"/>
              <a:ext cx="4809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标准差恰好等于期望，都是 1/λ。指数分布的相对波动固定，不随参数变化。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248400" y="4173855"/>
            <a:ext cx="5410200" cy="1386840"/>
            <a:chOff x="6248400" y="4173855"/>
            <a:chExt cx="5410200" cy="1386840"/>
          </a:xfrm>
        </p:grpSpPr>
        <p:sp>
          <p:nvSpPr>
            <p:cNvPr id="28" name="Rectangle 28"/>
            <p:cNvSpPr/>
            <p:nvPr/>
          </p:nvSpPr>
          <p:spPr>
            <a:xfrm>
              <a:off x="6248400" y="4173855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430720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67475" y="43548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0147" y="43876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0998" y="4694396"/>
              <a:ext cx="47190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53 页的题设写作“参数为 θ 的指数分布”，正文用的却是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λ，且沿用了第 15 页的笔误 E(X) = λ。正确写法是参数 λ，E(X)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1/λ，D(X) = 1/λ²。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4" name="Rectangle 3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9826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均匀分布的方差只看区间长度，与区间放在哪里无关，这是平移不改变方差的直接结果；指数分布的方差 1/λ² 随 λ 增大而变小。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06622" cy="909257"/>
            <a:chOff x="520446" y="342900"/>
            <a:chExt cx="43066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06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正态分布的方差就是参数 σ²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3100388"/>
            <a:chOff x="533400" y="1524000"/>
            <a:chExt cx="5842635" cy="31003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100388"/>
            </a:xfrm>
            <a:prstGeom prst="roundRect">
              <a:avLst>
                <a:gd name="adj" fmla="val 43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33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8651" y="1767364"/>
              <a:ext cx="21344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N(μ, σ²)，求 D(X)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159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按定义直接积分，令 t = (x − μ)/σ：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39"/>
                <p:cNvSpPr txBox="1">
                  <a:spLocks noGrp="1"/>
                </p:cNvSpPr>
                <p:nvPr/>
              </p:nvSpPr>
              <p:spPr>
                <a:xfrm>
                  <a:off x="775335" y="2415540"/>
                  <a:ext cx="539686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2932271"/>
              <a:ext cx="51541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右端的 σ² 后面正是 N(0, 1) 的 E(X²)，例 10 已算出它等于 1，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40"/>
                <p:cNvSpPr txBox="1">
                  <a:spLocks noGrp="1"/>
                </p:cNvSpPr>
                <p:nvPr/>
              </p:nvSpPr>
              <p:spPr>
                <a:xfrm>
                  <a:off x="775335" y="3499485"/>
                  <a:ext cx="539686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69239" y="4011930"/>
              <a:ext cx="51556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正态分布的两个参数分别就是期望和方差，这是它写成 N(μ, σ²) 的原因。第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二个位置写的是方差不是标准差，代数时不要弄反。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810125"/>
            <a:ext cx="5842635" cy="756285"/>
            <a:chOff x="533400" y="4810125"/>
            <a:chExt cx="5842635" cy="756285"/>
          </a:xfrm>
        </p:grpSpPr>
        <p:sp>
          <p:nvSpPr>
            <p:cNvPr id="18" name="Rectangle 18"/>
            <p:cNvSpPr/>
            <p:nvPr/>
          </p:nvSpPr>
          <p:spPr>
            <a:xfrm>
              <a:off x="533400" y="481012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5084563"/>
              <a:ext cx="224134" cy="192560"/>
              <a:chOff x="726129" y="5084563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1549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50845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232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4957286"/>
              <a:ext cx="483857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N(0, 0.5) 指的是方差为 0.5、标准差为 √0.5 的正态分布。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后面例 32 正是靠这一点得到 D(X − Y) = 1。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675120" y="1524000"/>
            <a:ext cx="4983480" cy="2015967"/>
            <a:chOff x="6675120" y="1524000"/>
            <a:chExt cx="4983480" cy="2015967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5904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77134" y="165544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 E(X)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20172" y="165544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 D(X)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86182" y="2085022"/>
              <a:ext cx="1332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 U(a, b)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6919" y="2085022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+ b)/2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70426" y="2085022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a)²/12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6182" y="2515552"/>
              <a:ext cx="1448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指数分布（参数 λ）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76919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70426" y="25155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1/λ²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86182" y="2946082"/>
              <a:ext cx="1427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 N(μ, σ²)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7691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70426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80835" y="1524000"/>
              <a:ext cx="497776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76681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6031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75120" y="331993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三个常用连续型分布的数字特征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3681412"/>
            <a:ext cx="4977765" cy="1884045"/>
            <a:chOff x="6680835" y="3681412"/>
            <a:chExt cx="4977765" cy="1884045"/>
          </a:xfrm>
        </p:grpSpPr>
        <p:sp>
          <p:nvSpPr>
            <p:cNvPr id="46" name="Rectangle 46"/>
            <p:cNvSpPr/>
            <p:nvPr/>
          </p:nvSpPr>
          <p:spPr>
            <a:xfrm>
              <a:off x="6680835" y="3681412"/>
              <a:ext cx="4977765" cy="1884045"/>
            </a:xfrm>
            <a:prstGeom prst="roundRect">
              <a:avLst>
                <a:gd name="adj" fmla="val 7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90360" y="3814762"/>
              <a:ext cx="47625" cy="16173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22770" y="3885248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75526" y="392096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三条结论都能一眼看出来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30390" y="431863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86981" y="425815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均匀分布的方差与区间长度的平方成正比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930390" y="463867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86981" y="457819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指数分布的标准差等于期望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930390" y="495871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86981" y="489823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正态分布的参数直接就是期望与方差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04084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七种常用分布的期望与方差一共十四个数，是本章后面所有题目的起点，建议默写一遍再往下看。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方差的前三条性质：常数不抖，倍数抖平方倍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999172"/>
            <a:chOff x="533400" y="1524000"/>
            <a:chExt cx="5626418" cy="9991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999172"/>
            </a:xfrm>
            <a:prstGeom prst="roundRect">
              <a:avLst>
                <a:gd name="adj" fmla="val 133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3247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519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9893" y="1744504"/>
              <a:ext cx="16102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D(C) = 0，C 为常数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59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5226368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C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2687955"/>
            <a:ext cx="5626418" cy="1225868"/>
            <a:chOff x="533400" y="2687955"/>
            <a:chExt cx="5626418" cy="1225868"/>
          </a:xfrm>
        </p:grpSpPr>
        <p:sp>
          <p:nvSpPr>
            <p:cNvPr id="14" name="Rectangle 14"/>
            <p:cNvSpPr/>
            <p:nvPr/>
          </p:nvSpPr>
          <p:spPr>
            <a:xfrm>
              <a:off x="533400" y="2687955"/>
              <a:ext cx="5626418" cy="1225868"/>
            </a:xfrm>
            <a:prstGeom prst="roundRect">
              <a:avLst>
                <a:gd name="adj" fmla="val 108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2821305"/>
              <a:ext cx="47625" cy="95916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286893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1519" y="290179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9893" y="2908459"/>
              <a:ext cx="1389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D(CX) = C²D(X)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360"/>
                <p:cNvSpPr txBox="1">
                  <a:spLocks noGrp="1"/>
                </p:cNvSpPr>
                <p:nvPr/>
              </p:nvSpPr>
              <p:spPr>
                <a:xfrm>
                  <a:off x="752475" y="3204210"/>
                  <a:ext cx="5226368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p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47141" y="3569018"/>
              <a:ext cx="5358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常数提出来要平方，因为方差本身是平方尺度上的量。标准差则是 σ(CX) = |C|σ(X)。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078605"/>
            <a:ext cx="5626418" cy="1544955"/>
            <a:chOff x="533400" y="4078605"/>
            <a:chExt cx="5626418" cy="1544955"/>
          </a:xfrm>
        </p:grpSpPr>
        <p:sp>
          <p:nvSpPr>
            <p:cNvPr id="22" name="Rectangle 22"/>
            <p:cNvSpPr/>
            <p:nvPr/>
          </p:nvSpPr>
          <p:spPr>
            <a:xfrm>
              <a:off x="533400" y="4078605"/>
              <a:ext cx="5626418" cy="1544955"/>
            </a:xfrm>
            <a:prstGeom prst="roundRect">
              <a:avLst>
                <a:gd name="adj" fmla="val 86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211955"/>
              <a:ext cx="47625" cy="12782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2475" y="425958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1519" y="429244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29893" y="4300061"/>
              <a:ext cx="1398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 + C) = D(X)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361"/>
                <p:cNvSpPr txBox="1">
                  <a:spLocks noGrp="1"/>
                </p:cNvSpPr>
                <p:nvPr/>
              </p:nvSpPr>
              <p:spPr>
                <a:xfrm>
                  <a:off x="752475" y="4594860"/>
                  <a:ext cx="5226368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0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747141" y="4960620"/>
              <a:ext cx="5226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平移只改变位置，不改变分散程度：每个取值和期望同时挪动 C，偏离量一点没变。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464618" y="1524000"/>
            <a:ext cx="5193982" cy="1160145"/>
            <a:chOff x="6464618" y="1524000"/>
            <a:chExt cx="5193982" cy="1160145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45592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3111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合起来用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61123" y="1744504"/>
              <a:ext cx="16753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D(aX + b) = a²D(X)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39116" y="2061686"/>
              <a:ext cx="4629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平移不改变分散程度，缩放按平方放大。考试里出现 aX + b 时，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期望乘 a 再加 b，方差乘 a² 且常数消失。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6464618" y="2848928"/>
            <a:ext cx="5193982" cy="1906905"/>
            <a:chOff x="6464618" y="2848928"/>
            <a:chExt cx="5193982" cy="1906905"/>
          </a:xfrm>
        </p:grpSpPr>
        <p:sp>
          <p:nvSpPr>
            <p:cNvPr id="36" name="Rectangle 36"/>
            <p:cNvSpPr/>
            <p:nvPr/>
          </p:nvSpPr>
          <p:spPr>
            <a:xfrm>
              <a:off x="6464618" y="2848928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93255" y="29660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90954" y="29660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期望怎么变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13099" y="29660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方差怎么变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9296" y="3348038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+ 5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09941" y="3348038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+ 5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79698" y="33480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6071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361188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9296" y="37290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09941" y="3729038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3E(X)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79698" y="3729038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9D(X)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9881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9296" y="411099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09941" y="4110990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−E(X)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79698" y="4110990"/>
              <a:ext cx="12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D(X)，不是 −D(X)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43700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64618" y="437483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9296" y="4491990"/>
              <a:ext cx="44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2X − 7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09941" y="4491990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2E(X) − 7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79698" y="4491990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4D(X)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2848928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10500" y="28489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680258" y="28489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llout-3"/>
          <p:cNvGrpSpPr/>
          <p:nvPr/>
        </p:nvGrpSpPr>
        <p:grpSpPr>
          <a:xfrm>
            <a:off x="6464618" y="4920615"/>
            <a:ext cx="5193982" cy="702945"/>
            <a:chOff x="6464618" y="4920615"/>
            <a:chExt cx="5193982" cy="702945"/>
          </a:xfrm>
        </p:grpSpPr>
        <p:sp>
          <p:nvSpPr>
            <p:cNvPr id="61" name="Rectangle 61"/>
            <p:cNvSpPr/>
            <p:nvPr/>
          </p:nvSpPr>
          <p:spPr>
            <a:xfrm>
              <a:off x="6464618" y="492061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657347" y="5168383"/>
              <a:ext cx="224134" cy="192560"/>
              <a:chOff x="6657347" y="5168383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769418" y="52387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657347" y="51683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69418" y="53165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72491" y="5065871"/>
              <a:ext cx="42557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D(−X) = D(X)。方差永远非负，前面出现负号一定是把性质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 的平方漏掉了。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8" name="Rectangle 6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1273" y="6039326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期望是线性的，方差不是。这三条性质就是方差与线性运算打交道的全部规则。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独立时方差可加，方差为零意味着退化成常数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842635" cy="2372678"/>
            <a:chOff x="533400" y="1524000"/>
            <a:chExt cx="5842635" cy="23726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372678"/>
            </a:xfrm>
            <a:prstGeom prst="roundRect">
              <a:avLst>
                <a:gd name="adj" fmla="val 56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0597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6660" y="1756410"/>
              <a:ext cx="3341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独立时 D(X ± Y) = D(X) + D(Y)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展开平方，中间会多出一个交叉项：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74"/>
                <p:cNvSpPr txBox="1">
                  <a:spLocks noGrp="1"/>
                </p:cNvSpPr>
                <p:nvPr/>
              </p:nvSpPr>
              <p:spPr>
                <a:xfrm>
                  <a:off x="763905" y="2370772"/>
                  <a:ext cx="5419725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±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276510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独立时，中心化后的两个因子仍独立，交叉项的期望等于两个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期望之积，而每个因子的期望都是 0，所以交叉项为 0。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190" y="3320891"/>
              <a:ext cx="52174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注意减法也是相加。D(X − Y) = D(X) + D(Y)，不确定性只会叠加，不会抵消。那个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交叉项就是下一节的协方差。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71938"/>
            <a:ext cx="5842635" cy="1440180"/>
            <a:chOff x="533400" y="4071938"/>
            <a:chExt cx="5842635" cy="1440180"/>
          </a:xfrm>
        </p:grpSpPr>
        <p:sp>
          <p:nvSpPr>
            <p:cNvPr id="17" name="Rectangle 17"/>
            <p:cNvSpPr/>
            <p:nvPr/>
          </p:nvSpPr>
          <p:spPr>
            <a:xfrm>
              <a:off x="533400" y="4071938"/>
              <a:ext cx="5842635" cy="144018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205288"/>
              <a:ext cx="47625" cy="11734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264342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1322" y="429863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66660" y="4304348"/>
              <a:ext cx="2132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D(X) = 0 的充分必要条件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637722"/>
              <a:ext cx="55520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D(X) = 0 当且仅当 X 以概率 1 取常数 C = E(X)，即 P{X = C} = 1。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8190" y="4937284"/>
              <a:ext cx="48760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反过来说，只要 X 还有一点随机性，方差就严格大于 0。例如已知 D(X) = 0、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E(X) = 3，就能断定 P{X = 3} = 1。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680835" y="1524000"/>
            <a:ext cx="4977765" cy="2577465"/>
            <a:chOff x="6680835" y="1524000"/>
            <a:chExt cx="4977765" cy="2577465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11340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8780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8382" y="1756410"/>
              <a:ext cx="2882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把任何随机变量化成期望 0、方差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04482" y="2090738"/>
              <a:ext cx="3349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E(X) 与 D(X) 都存在且 D(X) &gt; 0，称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375"/>
                <p:cNvSpPr txBox="1">
                  <a:spLocks noGrp="1"/>
                </p:cNvSpPr>
                <p:nvPr/>
              </p:nvSpPr>
              <p:spPr>
                <a:xfrm>
                  <a:off x="6911340" y="2370772"/>
                  <a:ext cx="455485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904482" y="2942272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X 的标准化随机变量。由期望的线性性质与方差的性质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376"/>
                <p:cNvSpPr txBox="1">
                  <a:spLocks noGrp="1"/>
                </p:cNvSpPr>
                <p:nvPr/>
              </p:nvSpPr>
              <p:spPr>
                <a:xfrm>
                  <a:off x="6911340" y="3479482"/>
                  <a:ext cx="455485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c2-callout-2"/>
          <p:cNvGrpSpPr/>
          <p:nvPr/>
        </p:nvGrpSpPr>
        <p:grpSpPr>
          <a:xfrm>
            <a:off x="6680835" y="4275772"/>
            <a:ext cx="4977765" cy="1236345"/>
            <a:chOff x="6680835" y="4275772"/>
            <a:chExt cx="4977765" cy="1236345"/>
          </a:xfrm>
        </p:grpSpPr>
        <p:sp>
          <p:nvSpPr>
            <p:cNvPr id="35" name="Rectangle 35"/>
            <p:cNvSpPr/>
            <p:nvPr/>
          </p:nvSpPr>
          <p:spPr>
            <a:xfrm>
              <a:off x="6680835" y="4275772"/>
              <a:ext cx="4977765" cy="1236345"/>
            </a:xfrm>
            <a:prstGeom prst="roundRect">
              <a:avLst>
                <a:gd name="adj" fmla="val 924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885623" y="4793933"/>
              <a:ext cx="200026" cy="200025"/>
              <a:chOff x="6885623" y="4793933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85623" y="47939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25361" y="48383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60077" y="49495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188327" y="4551045"/>
              <a:ext cx="401707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章把正态分布标准化成 N(0, 1) 查表，用的就是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这个变换。标准化不要求 X 是正态，任何有方差的随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机变量都能做。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2" name="Rectangle 4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7511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D(X − Y) = D(X) − D(Y) 是最常见的错写。独立时是相加，不独立时还要补上 2Cov(X, Y)。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90977" cy="909257"/>
            <a:chOff x="520446" y="342900"/>
            <a:chExt cx="48909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909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例：B(n, p) 的方差，两种解法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172652"/>
            <a:chOff x="533400" y="1524000"/>
            <a:chExt cx="5193982" cy="21726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172652"/>
            </a:xfrm>
            <a:prstGeom prst="roundRect">
              <a:avLst>
                <a:gd name="adj" fmla="val 613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9248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436" y="1750695"/>
              <a:ext cx="768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例29 · 解一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58125" y="175641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090738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按例 23 的路线，先用 k(k − 1)Cₙᵏ = n(n − 1)Cₙ₋₂ᵏ⁻² 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阶，再加回 E(X) = np：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85"/>
                <p:cNvSpPr txBox="1">
                  <a:spLocks noGrp="1"/>
                </p:cNvSpPr>
                <p:nvPr/>
              </p:nvSpPr>
              <p:spPr>
                <a:xfrm>
                  <a:off x="725805" y="2627948"/>
                  <a:ext cx="4809172" cy="5562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np</m:t>
                            </m:r>
                          </m:e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np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18947" y="32927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整个过程要处理一个带组合数的求和式。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70960"/>
            <a:ext cx="5193982" cy="1485900"/>
            <a:chOff x="533400" y="3870960"/>
            <a:chExt cx="5193982" cy="1485900"/>
          </a:xfrm>
        </p:grpSpPr>
        <p:sp>
          <p:nvSpPr>
            <p:cNvPr id="15" name="Rectangle 15"/>
            <p:cNvSpPr/>
            <p:nvPr/>
          </p:nvSpPr>
          <p:spPr>
            <a:xfrm>
              <a:off x="533400" y="3870960"/>
              <a:ext cx="5193982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0431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0633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40976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420552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原课件这一页的“解一 公式法”只留了标题，没有写出过程。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上面按第 49 页的推导补全。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032182" y="1524000"/>
            <a:ext cx="5626418" cy="2927985"/>
            <a:chOff x="6032182" y="1524000"/>
            <a:chExt cx="5626418" cy="2927985"/>
          </a:xfrm>
        </p:grpSpPr>
        <p:sp>
          <p:nvSpPr>
            <p:cNvPr id="21" name="Rectangle 21"/>
            <p:cNvSpPr/>
            <p:nvPr/>
          </p:nvSpPr>
          <p:spPr>
            <a:xfrm>
              <a:off x="6032182" y="1524000"/>
              <a:ext cx="5626418" cy="2927985"/>
            </a:xfrm>
            <a:prstGeom prst="roundRect">
              <a:avLst>
                <a:gd name="adj" fmla="val 455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24588" y="1716405"/>
              <a:ext cx="9248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2219" y="1750695"/>
              <a:ext cx="768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例29 · 解二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6907" y="1756410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拆成 n 个指示变量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7730" y="2090738"/>
              <a:ext cx="50114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 X₁, X₂, …, Xₙ，其中 Xᵢ = 1 表示第 i 次试验中事件 A 发生，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Xᵢ = 0 表示 A 不发生。这 n 个变量相互独立，且 X = X₁ + X₂ + 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 Xₙ。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7730" y="2907030"/>
              <a:ext cx="4960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 Xᵢ 服从 (0−1) 分布，由例 22 得 D(Xᵢ) = p(1 − p)。由性质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386"/>
                <p:cNvSpPr txBox="1">
                  <a:spLocks noGrp="1"/>
                </p:cNvSpPr>
                <p:nvPr/>
              </p:nvSpPr>
              <p:spPr>
                <a:xfrm>
                  <a:off x="6224588" y="3444240"/>
                  <a:ext cx="5241608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218872" y="4083844"/>
              <a:ext cx="5311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没有任何求和技巧，只用了独立可加性。这也解释了公式里 n 为什么是一次方。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032182" y="4627245"/>
            <a:ext cx="5626418" cy="729615"/>
            <a:chOff x="6032182" y="4627245"/>
            <a:chExt cx="5626418" cy="729615"/>
          </a:xfrm>
        </p:grpSpPr>
        <p:sp>
          <p:nvSpPr>
            <p:cNvPr id="30" name="Rectangle 30"/>
            <p:cNvSpPr/>
            <p:nvPr/>
          </p:nvSpPr>
          <p:spPr>
            <a:xfrm>
              <a:off x="6032182" y="462724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236970" y="4892040"/>
              <a:ext cx="200026" cy="200026"/>
              <a:chOff x="6236970" y="489204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236970" y="48920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303645" y="496982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539674" y="4773930"/>
              <a:ext cx="46685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解二比解一短得多，代价是必须先确认 n 次试验相互独立。二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项分布的定义保证了这一点。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6" name="Rectangle 3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3610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能写成相互独立的随机变量之和时，方差可以逐项相加，不必碰它本身的分布律；期望逐项相加连独立都不需要。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例：先拆线性组合，再拆乘积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004456" cy="278702"/>
            <a:chOff x="526161" y="1547336"/>
            <a:chExt cx="700445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0044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X 与 Y 相互独立，X ~ N(−3, 1)，Y ~ N(2, 1)，求 D(X − 2Y + 7) 与 D(XY)。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5193982" cy="2088832"/>
            <a:chOff x="533400" y="1941195"/>
            <a:chExt cx="5193982" cy="208883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2088832"/>
            </a:xfrm>
            <a:prstGeom prst="roundRect">
              <a:avLst>
                <a:gd name="adj" fmla="val 638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11915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5435" y="2167890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例30 · 解（一）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24825" y="2173605"/>
              <a:ext cx="1253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D(X − 2Y + 7)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507932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常数 7 不影响方差（性质 3），系数要平方（性质 2），独立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时可加（性质 4）：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399"/>
                <p:cNvSpPr txBox="1">
                  <a:spLocks noGrp="1"/>
                </p:cNvSpPr>
                <p:nvPr/>
              </p:nvSpPr>
              <p:spPr>
                <a:xfrm>
                  <a:off x="725805" y="3045142"/>
                  <a:ext cx="480917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2Y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20090" y="3455194"/>
              <a:ext cx="45844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这里读出的 D(X) = 1、D(Y) = 1 来自 N(μ, σ²) 的第二个参数。若 X 与 Y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不独立，还要再加上 2·1·(−2)Cov(X, Y) = −4Cov(X, Y)。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206240"/>
            <a:ext cx="5193982" cy="1458278"/>
            <a:chOff x="533400" y="4206240"/>
            <a:chExt cx="5193982" cy="1458278"/>
          </a:xfrm>
        </p:grpSpPr>
        <p:sp>
          <p:nvSpPr>
            <p:cNvPr id="17" name="Rectangle 17"/>
            <p:cNvSpPr/>
            <p:nvPr/>
          </p:nvSpPr>
          <p:spPr>
            <a:xfrm>
              <a:off x="533400" y="4206240"/>
              <a:ext cx="5193982" cy="1458278"/>
            </a:xfrm>
            <a:prstGeom prst="roundRect">
              <a:avLst>
                <a:gd name="adj" fmla="val 91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339590"/>
              <a:ext cx="47625" cy="11915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3986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5345" y="44319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75488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原课件这道例题只给了题面，没有解答。两问的完整过程已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在本页补全。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032182" y="1941195"/>
            <a:ext cx="5626418" cy="2569845"/>
            <a:chOff x="6032182" y="1941195"/>
            <a:chExt cx="5626418" cy="2569845"/>
          </a:xfrm>
        </p:grpSpPr>
        <p:sp>
          <p:nvSpPr>
            <p:cNvPr id="23" name="Rectangle 23"/>
            <p:cNvSpPr/>
            <p:nvPr/>
          </p:nvSpPr>
          <p:spPr>
            <a:xfrm>
              <a:off x="6032182" y="1941195"/>
              <a:ext cx="5626418" cy="2569845"/>
            </a:xfrm>
            <a:prstGeom prst="roundRect">
              <a:avLst>
                <a:gd name="adj" fmla="val 518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24588" y="2133600"/>
              <a:ext cx="11915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218" y="2167890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例30 · 解（二）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3607" y="2173605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D(XY)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17730" y="2507932"/>
              <a:ext cx="48571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乘积不能套性质 4，回到计算公式。X 与 Y 独立时 X² 与 Y² 也独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400"/>
                <p:cNvSpPr txBox="1">
                  <a:spLocks noGrp="1"/>
                </p:cNvSpPr>
                <p:nvPr/>
              </p:nvSpPr>
              <p:spPr>
                <a:xfrm>
                  <a:off x="6224588" y="3045142"/>
                  <a:ext cx="5241608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XY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217730" y="3440430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E(X²) = D(X) + [E(X)]² = 1 + 9 = 10，E(Y²) = 1 + 4 = 5，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E(XY) = (−3)(2) = −6，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401"/>
                <p:cNvSpPr txBox="1">
                  <a:spLocks noGrp="1"/>
                </p:cNvSpPr>
                <p:nvPr/>
              </p:nvSpPr>
              <p:spPr>
                <a:xfrm>
                  <a:off x="6224588" y="3977640"/>
                  <a:ext cx="5241608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14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8" name="c2-callout-2"/>
          <p:cNvGrpSpPr/>
          <p:nvPr/>
        </p:nvGrpSpPr>
        <p:grpSpPr>
          <a:xfrm>
            <a:off x="6032182" y="4686300"/>
            <a:ext cx="5626418" cy="978218"/>
            <a:chOff x="6032182" y="4686300"/>
            <a:chExt cx="5626418" cy="978218"/>
          </a:xfrm>
        </p:grpSpPr>
        <p:sp>
          <p:nvSpPr>
            <p:cNvPr id="32" name="Rectangle 32"/>
            <p:cNvSpPr/>
            <p:nvPr/>
          </p:nvSpPr>
          <p:spPr>
            <a:xfrm>
              <a:off x="6032182" y="4686300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224912" y="5071228"/>
              <a:ext cx="224134" cy="192560"/>
              <a:chOff x="6224912" y="5071228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336983" y="51415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224912" y="50712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36983" y="52193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539674" y="4832032"/>
              <a:ext cx="466001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独立时展开得 D(XY) = D(X)D(Y) + D(X)[E(Y)]² +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D(Y)[E(X)]² = 1 + 4 + 9 = 14。只写 D(X)D(Y) = 1 会差出十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几倍。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9" name="Rectangle 3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6023610"/>
              <a:ext cx="7291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E(X²) = D(X) + [E(X)]² 是本章使用频率最高的一步换算，见到平方的期望就先想到它。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4369" cy="909257"/>
            <a:chOff x="520446" y="342900"/>
            <a:chExt cx="61843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43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例：n 个观测的平均值，方差缩小到 1/n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27319" cy="264033"/>
            <a:chOff x="526542" y="1545907"/>
            <a:chExt cx="87273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2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X₁, X₂, …, Xₙ 相互独立，且有相同的期望 μ 与方差 σ²。求它们的算术平均的期望、方差与标准化变量。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28812"/>
            <a:ext cx="5626418" cy="3701415"/>
            <a:chOff x="533400" y="1928812"/>
            <a:chExt cx="5626418" cy="370141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701415"/>
            </a:xfrm>
            <a:prstGeom prst="roundRect">
              <a:avLst>
                <a:gd name="adj" fmla="val 360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6348" y="2142649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00353" y="214931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46554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记算术平均为下式左端，由期望的线性性质，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420"/>
                <p:cNvSpPr txBox="1">
                  <a:spLocks noGrp="1"/>
                </p:cNvSpPr>
                <p:nvPr/>
              </p:nvSpPr>
              <p:spPr>
                <a:xfrm>
                  <a:off x="714375" y="2729865"/>
                  <a:ext cx="5264468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̅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nμ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07898" y="333517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由性质 2 与性质 4（这里必须用到独立），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421"/>
                <p:cNvSpPr txBox="1">
                  <a:spLocks noGrp="1"/>
                </p:cNvSpPr>
                <p:nvPr/>
              </p:nvSpPr>
              <p:spPr>
                <a:xfrm>
                  <a:off x="714375" y="3598545"/>
                  <a:ext cx="526446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07898" y="426672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标准化后得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422"/>
                <p:cNvSpPr txBox="1">
                  <a:spLocks noGrp="1"/>
                </p:cNvSpPr>
                <p:nvPr/>
              </p:nvSpPr>
              <p:spPr>
                <a:xfrm>
                  <a:off x="714375" y="4530090"/>
                  <a:ext cx="526446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acc>
                              <m:accPr>
                                <m:chr m:val="̅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09041" y="5092065"/>
              <a:ext cx="500462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它的期望为 0、方差为 1，与 n 无关。例如 σ = 2、n = 16 时，平均值的标准差是 2/4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= 0.5。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464618" y="1928812"/>
            <a:ext cx="5193982" cy="1600200"/>
            <a:chOff x="6464618" y="1928812"/>
            <a:chExt cx="5193982" cy="1600200"/>
          </a:xfrm>
        </p:grpSpPr>
        <p:sp>
          <p:nvSpPr>
            <p:cNvPr id="21" name="Rectangle 21"/>
            <p:cNvSpPr/>
            <p:nvPr/>
          </p:nvSpPr>
          <p:spPr>
            <a:xfrm>
              <a:off x="6464618" y="1928812"/>
              <a:ext cx="5193982" cy="1600200"/>
            </a:xfrm>
            <a:prstGeom prst="roundRect">
              <a:avLst>
                <a:gd name="adj" fmla="val 833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45592" y="21097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27063" y="2142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为什么重要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85901" y="21493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多测几次为什么更准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39116" y="2465546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平均值的期望仍是 μ，不会因为平均而偏离；方差却缩到原来的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1/n，标准差缩到 1/√n。观测次数翻到 4 倍，误差才减半。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40259" y="2989898"/>
              <a:ext cx="458457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这三个式子是第 6 章抽样分布与第 7 章参数估计的出发点，那里的算术平均就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是样本均值。</a:t>
              </a:r>
            </a:p>
          </p:txBody>
        </p:sp>
      </p:grpSp>
      <p:grpSp>
        <p:nvGrpSpPr>
          <p:cNvPr id="52" name="c2-table-2"/>
          <p:cNvGrpSpPr/>
          <p:nvPr/>
        </p:nvGrpSpPr>
        <p:grpSpPr>
          <a:xfrm>
            <a:off x="6464618" y="3692842"/>
            <a:ext cx="5193982" cy="1906906"/>
            <a:chOff x="6464618" y="3692842"/>
            <a:chExt cx="5193982" cy="1906906"/>
          </a:xfrm>
        </p:grpSpPr>
        <p:sp>
          <p:nvSpPr>
            <p:cNvPr id="28" name="Rectangle 28"/>
            <p:cNvSpPr/>
            <p:nvPr/>
          </p:nvSpPr>
          <p:spPr>
            <a:xfrm>
              <a:off x="6464618" y="3692842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92649" y="3810952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观测次数 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6488" y="3810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平均值的方差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64534" y="38109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标准差之比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9296" y="4191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17586" y="4191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83521" y="41919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44510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445579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9296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17586" y="45729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σ²/4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83521" y="45729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48329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9296" y="49549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17586" y="495490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σ²/25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83521" y="495490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52139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4618" y="5218748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9296" y="533590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7586" y="533590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σ²/100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83521" y="533590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369284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18145" y="369284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784080" y="369284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86015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 1/n 提到方差外面时必须平方，写成 (1/n²)ΣD(Xᵢ)。漏掉平方会得到 σ²，等于说平均了半天没有任何好处。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例：两个独立正态之差的绝对值期望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245270" cy="264033"/>
            <a:chOff x="526542" y="1545907"/>
            <a:chExt cx="92452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45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X 与 Y 相互独立，且都服从 N(0, 0.5)，求 E(|X − Y|)。思路：先认出 X − Y 的分布，再在标准正态上积分。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28812"/>
            <a:ext cx="5410200" cy="3469005"/>
            <a:chOff x="533400" y="1928812"/>
            <a:chExt cx="5410200" cy="34690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469005"/>
            </a:xfrm>
            <a:prstGeom prst="roundRect">
              <a:avLst>
                <a:gd name="adj" fmla="val 384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6348" y="2142649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00353" y="214931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465546"/>
              <a:ext cx="4686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由期望的线性性质 E(X − Y) = 0；由独立可加性 D(X − Y) = 0.5 +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 = 1。两个独立正态之差仍是正态，所以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447"/>
                <p:cNvSpPr txBox="1">
                  <a:spLocks noGrp="1"/>
                </p:cNvSpPr>
                <p:nvPr/>
              </p:nvSpPr>
              <p:spPr>
                <a:xfrm>
                  <a:off x="714375" y="2972752"/>
                  <a:ext cx="504825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448"/>
                <p:cNvSpPr txBox="1">
                  <a:spLocks noGrp="1"/>
                </p:cNvSpPr>
                <p:nvPr/>
              </p:nvSpPr>
              <p:spPr>
                <a:xfrm>
                  <a:off x="714375" y="3377565"/>
                  <a:ext cx="5048250" cy="10525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</m:d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2π</m:t>
                                        </m:r>
                                      </m:e>
                                    </m:rad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z</m:t>
                                            </m:r>
                                          </m:e>
                                          <m:sup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</m:nary>
                          </m:e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z</m:t>
                                            </m:r>
                                          </m:e>
                                          <m:sup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</m:nary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09041" y="4528185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独立正态的和与差仍是正态，这条第 3 章的结论在本章反复要用。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928812"/>
            <a:ext cx="5410200" cy="2117408"/>
            <a:chOff x="6248400" y="1928812"/>
            <a:chExt cx="5410200" cy="2117408"/>
          </a:xfrm>
        </p:grpSpPr>
        <p:sp>
          <p:nvSpPr>
            <p:cNvPr id="18" name="Rectangle 18"/>
            <p:cNvSpPr/>
            <p:nvPr/>
          </p:nvSpPr>
          <p:spPr>
            <a:xfrm>
              <a:off x="6248400" y="1928812"/>
              <a:ext cx="5410200" cy="2117408"/>
            </a:xfrm>
            <a:prstGeom prst="roundRect">
              <a:avLst>
                <a:gd name="adj" fmla="val 629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293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220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22898" y="2449354"/>
              <a:ext cx="4832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|z| 乘密度是偶函数，所以折成两倍的正半轴积分。再令 u = z²/2，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du = z dz：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449"/>
                <p:cNvSpPr txBox="1">
                  <a:spLocks noGrp="1"/>
                </p:cNvSpPr>
                <p:nvPr/>
              </p:nvSpPr>
              <p:spPr>
                <a:xfrm>
                  <a:off x="6429375" y="2956560"/>
                  <a:ext cx="5048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sup>
                            </m:s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450"/>
                <p:cNvSpPr txBox="1">
                  <a:spLocks noGrp="1"/>
                </p:cNvSpPr>
                <p:nvPr/>
              </p:nvSpPr>
              <p:spPr>
                <a:xfrm>
                  <a:off x="6429375" y="3437572"/>
                  <a:ext cx="504825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0.7979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2"/>
          <p:cNvGrpSpPr/>
          <p:nvPr/>
        </p:nvGrpSpPr>
        <p:grpSpPr>
          <a:xfrm>
            <a:off x="6248400" y="4211002"/>
            <a:ext cx="5410200" cy="1185862"/>
            <a:chOff x="6248400" y="4211002"/>
            <a:chExt cx="5410200" cy="1185862"/>
          </a:xfrm>
        </p:grpSpPr>
        <p:sp>
          <p:nvSpPr>
            <p:cNvPr id="25" name="Rectangle 25"/>
            <p:cNvSpPr/>
            <p:nvPr/>
          </p:nvSpPr>
          <p:spPr>
            <a:xfrm>
              <a:off x="6248400" y="421100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434435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67475" y="43919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0147" y="44248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77000" y="47844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32448" y="4732496"/>
              <a:ext cx="4610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N(0, 0.5) 的 0.5 是方差，所以 D(X − Y) = 0.5 + 0.5 = 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77000" y="50692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32448" y="5017294"/>
              <a:ext cx="4902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要的是差的绝对值的期望：E(X − Y) = 0，E(|X − Y|) ≈ 0.7979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4" name="Rectangle 3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6039326"/>
              <a:ext cx="7617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形如 E(|X|)、E(max) 这类带非线性运算的期望，先化到标准正态上再积分，常常能得到显式结果。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方差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例：由归一性和期望定出密度里的系数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979533" cy="293370"/>
            <a:chOff x="525780" y="1548765"/>
            <a:chExt cx="997953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979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的密度为 f(x) = Ax² + Bx（0 &lt; x &lt; 1，其余为 0），E(X) = 0.5。求 A、B，再求 Y = X² 的 E(Y) 与 D(Y)。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54530"/>
            <a:ext cx="5193982" cy="3589972"/>
            <a:chOff x="533400" y="1954530"/>
            <a:chExt cx="5193982" cy="358997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3589972"/>
            </a:xfrm>
            <a:prstGeom prst="roundRect">
              <a:avLst>
                <a:gd name="adj" fmla="val 37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2158365"/>
              <a:ext cx="119634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6503" y="2194084"/>
              <a:ext cx="1057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例33 · 解（1）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40636" y="21978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两个条件列两个方程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63"/>
                <p:cNvSpPr txBox="1">
                  <a:spLocks noGrp="1"/>
                </p:cNvSpPr>
                <p:nvPr/>
              </p:nvSpPr>
              <p:spPr>
                <a:xfrm>
                  <a:off x="737235" y="2526030"/>
                  <a:ext cx="4786312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464"/>
                <p:cNvSpPr txBox="1">
                  <a:spLocks noGrp="1"/>
                </p:cNvSpPr>
                <p:nvPr/>
              </p:nvSpPr>
              <p:spPr>
                <a:xfrm>
                  <a:off x="737235" y="3045142"/>
                  <a:ext cx="4786312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29996" y="3588544"/>
              <a:ext cx="3235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两式分别乘 6 和 12 去分母，再消元：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465"/>
                <p:cNvSpPr txBox="1">
                  <a:spLocks noGrp="1"/>
                </p:cNvSpPr>
                <p:nvPr/>
              </p:nvSpPr>
              <p:spPr>
                <a:xfrm>
                  <a:off x="737235" y="3884295"/>
                  <a:ext cx="4786312" cy="6153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4B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eqArr>
                          </m:e>
                        </m:d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⟹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6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29996" y="4616291"/>
              <a:ext cx="19451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即 f(x) = 6x(1 − x)。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139" y="4932045"/>
              <a:ext cx="44622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回代检验：f 在 (0, 1) 上非负，积分为 1，密度合法。A 为负并不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违反非负性，因为起作用的是整个二次式。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032182" y="1954530"/>
            <a:ext cx="5699380" cy="3589972"/>
            <a:chOff x="6032182" y="1954530"/>
            <a:chExt cx="5699380" cy="3589972"/>
          </a:xfrm>
        </p:grpSpPr>
        <p:sp>
          <p:nvSpPr>
            <p:cNvPr id="20" name="Rectangle 20"/>
            <p:cNvSpPr/>
            <p:nvPr/>
          </p:nvSpPr>
          <p:spPr>
            <a:xfrm>
              <a:off x="6032182" y="1954530"/>
              <a:ext cx="5626418" cy="3589972"/>
            </a:xfrm>
            <a:prstGeom prst="roundRect">
              <a:avLst>
                <a:gd name="adj" fmla="val 37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36018" y="2158365"/>
              <a:ext cx="119634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285" y="2194084"/>
              <a:ext cx="1057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例33 · 解（2）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39418" y="2197894"/>
              <a:ext cx="32880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E(g(X)) 一步算 Y 的两个数字特征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28779" y="2550319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= X²，所以 E(Y) = E(X²)，E(Y²) = E(X⁴)，都按公式直接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466"/>
                <p:cNvSpPr txBox="1">
                  <a:spLocks noGrp="1"/>
                </p:cNvSpPr>
                <p:nvPr/>
              </p:nvSpPr>
              <p:spPr>
                <a:xfrm>
                  <a:off x="6236018" y="3117532"/>
                  <a:ext cx="5218748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467"/>
                <p:cNvSpPr txBox="1">
                  <a:spLocks noGrp="1"/>
                </p:cNvSpPr>
                <p:nvPr/>
              </p:nvSpPr>
              <p:spPr>
                <a:xfrm>
                  <a:off x="6236018" y="3636645"/>
                  <a:ext cx="5218748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6x</m:t>
                                </m:r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468"/>
                <p:cNvSpPr txBox="1">
                  <a:spLocks noGrp="1"/>
                </p:cNvSpPr>
                <p:nvPr/>
              </p:nvSpPr>
              <p:spPr>
                <a:xfrm>
                  <a:off x="6236018" y="4155758"/>
                  <a:ext cx="521874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37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0.0529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229922" y="4679632"/>
              <a:ext cx="5501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顺带得到 X 自己的方差：D(X) = E(X²) − [E(X)]² = 3/10 − 1/4 = 1/20。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0" name="Rectangle 3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6004084"/>
              <a:ext cx="77503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 Y = X² 的方差时不必求 Y 的密度。E(Y²) 就是 E(X⁴)，两次积分全在 X 的密度上完成。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46114" cy="2997517"/>
            <a:chOff x="667512" y="1835468"/>
            <a:chExt cx="624611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协方差与相关系数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前两节各看一个随机变量，这一节看两个随机变量怎样一起变化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协方差是方差可加性里剩下的那一项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 ρ 把协方差去掉量纲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不相关与独立的区别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协方差：方差展开式里剩下的那一项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714625"/>
            <a:chOff x="533400" y="1524000"/>
            <a:chExt cx="5410200" cy="27146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14625"/>
            </a:xfrm>
            <a:prstGeom prst="roundRect">
              <a:avLst>
                <a:gd name="adj" fmla="val 49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479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649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E{[X − E(X)][Y − E(Y)]} 为 X 与 Y 的协方差，记作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75"/>
                <p:cNvSpPr txBox="1">
                  <a:spLocks noGrp="1"/>
                </p:cNvSpPr>
                <p:nvPr/>
              </p:nvSpPr>
              <p:spPr>
                <a:xfrm>
                  <a:off x="775335" y="2415540"/>
                  <a:ext cx="496443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28560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展开后得到常用的计算式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476"/>
                <p:cNvSpPr txBox="1">
                  <a:spLocks noGrp="1"/>
                </p:cNvSpPr>
                <p:nvPr/>
              </p:nvSpPr>
              <p:spPr>
                <a:xfrm>
                  <a:off x="775335" y="3151822"/>
                  <a:ext cx="496443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69239" y="3626168"/>
              <a:ext cx="4782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两个偏离同号时乘积为正，异号时为负。协方差为正说明 X 偏大时 Y 也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倾向偏大。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424362"/>
            <a:ext cx="5410200" cy="1207770"/>
            <a:chOff x="533400" y="4424362"/>
            <a:chExt cx="5410200" cy="1207770"/>
          </a:xfrm>
        </p:grpSpPr>
        <p:sp>
          <p:nvSpPr>
            <p:cNvPr id="18" name="Rectangle 18"/>
            <p:cNvSpPr/>
            <p:nvPr/>
          </p:nvSpPr>
          <p:spPr>
            <a:xfrm>
              <a:off x="533400" y="4424362"/>
              <a:ext cx="5410200" cy="1207770"/>
            </a:xfrm>
            <a:prstGeom prst="roundRect">
              <a:avLst>
                <a:gd name="adj" fmla="val 946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928237"/>
              <a:ext cx="200023" cy="200023"/>
              <a:chOff x="738188" y="4928237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9282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49949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4797266"/>
              <a:ext cx="40090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上一节性质 4 里被独立性消掉的那个交叉项，正是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2Cov(X, Y)。协方差就是为这一项起的名字。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484120"/>
            <a:chOff x="6248400" y="1524000"/>
            <a:chExt cx="5410200" cy="248412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484120"/>
            </a:xfrm>
            <a:prstGeom prst="roundRect">
              <a:avLst>
                <a:gd name="adj" fmla="val 53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221742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17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协方差的四条性质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0335" y="210693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86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81229" y="2119789"/>
              <a:ext cx="2099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Cov(X, Y) = Cov(Y, X)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0335" y="242697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8680" y="24673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1229" y="2439829"/>
              <a:ext cx="38420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Cov(aX, bY) = ab·Cov(X, Y)，a、b 为常数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0335" y="274701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8680" y="27873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81229" y="2759869"/>
              <a:ext cx="35968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Cov(X + Y, Z) = Cov(X, Z) + Cov(Y, Z)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0335" y="306705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48680" y="31073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81229" y="3079909"/>
              <a:ext cx="16155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Cov(X, X) = D(X)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4239" y="3395662"/>
              <a:ext cx="46527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性质 4 说明方差是协方差的特例。性质 2 和 3 合起来表明协方差对两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个位置都是线性的。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248400" y="4193858"/>
            <a:ext cx="5410200" cy="1438275"/>
            <a:chOff x="6248400" y="4193858"/>
            <a:chExt cx="5410200" cy="1438275"/>
          </a:xfrm>
        </p:grpSpPr>
        <p:sp>
          <p:nvSpPr>
            <p:cNvPr id="43" name="Rectangle 43"/>
            <p:cNvSpPr/>
            <p:nvPr/>
          </p:nvSpPr>
          <p:spPr>
            <a:xfrm>
              <a:off x="6248400" y="4193858"/>
              <a:ext cx="5410200" cy="1438275"/>
            </a:xfrm>
            <a:prstGeom prst="roundRect">
              <a:avLst>
                <a:gd name="adj" fmla="val 927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52235" y="439769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4544" y="44334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由此得到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37488" y="44372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一般情形的方差公式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formula477"/>
                <p:cNvSpPr txBox="1">
                  <a:spLocks noGrp="1"/>
                </p:cNvSpPr>
                <p:nvPr/>
              </p:nvSpPr>
              <p:spPr>
                <a:xfrm>
                  <a:off x="6452235" y="4765358"/>
                  <a:ext cx="500253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±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8" name="TextBox 48"/>
            <p:cNvSpPr txBox="1"/>
            <p:nvPr/>
          </p:nvSpPr>
          <p:spPr>
            <a:xfrm>
              <a:off x="6444996" y="5204936"/>
              <a:ext cx="35641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独立时 Cov = 0，就退回上一节的性质 4。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04084"/>
              <a:ext cx="9983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协方差带量纲。X 以米计和以厘米计，协方差会差 100 倍，所以它的绝对大小没法横向比较，需要下一页的相关系数。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79824" cy="909257"/>
            <a:chOff x="520446" y="342900"/>
            <a:chExt cx="52798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798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例：Cov 为零，Y 却完全由 X 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960370"/>
            <a:chOff x="533400" y="1524000"/>
            <a:chExt cx="5626418" cy="29603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60370"/>
            </a:xfrm>
            <a:prstGeom prst="roundRect">
              <a:avLst>
                <a:gd name="adj" fmla="val 45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936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552" y="1756410"/>
              <a:ext cx="34208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N(0, 1)，Y = X²，求 Cov(X, Y)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先备好三个期望。由 X ~ N(0, 1) 得 E(X) = 0；再由 E(X²)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D(X) + [E(X)]² 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94"/>
                <p:cNvSpPr txBox="1">
                  <a:spLocks noGrp="1"/>
                </p:cNvSpPr>
                <p:nvPr/>
              </p:nvSpPr>
              <p:spPr>
                <a:xfrm>
                  <a:off x="763905" y="2627948"/>
                  <a:ext cx="5203508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3041332"/>
              <a:ext cx="2350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代入计算式，注意 XY = X³，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495"/>
                <p:cNvSpPr txBox="1">
                  <a:spLocks noGrp="1"/>
                </p:cNvSpPr>
                <p:nvPr/>
              </p:nvSpPr>
              <p:spPr>
                <a:xfrm>
                  <a:off x="763905" y="3321368"/>
                  <a:ext cx="5203508" cy="6496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+∞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2π</m:t>
                                        </m:r>
                                      </m:e>
                                    </m:rad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7047" y="4080510"/>
              <a:ext cx="362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被积函数是奇函数，在对称区间上积分为 0。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659630"/>
            <a:ext cx="5626418" cy="978218"/>
            <a:chOff x="533400" y="4659630"/>
            <a:chExt cx="5626418" cy="978218"/>
          </a:xfrm>
        </p:grpSpPr>
        <p:sp>
          <p:nvSpPr>
            <p:cNvPr id="18" name="Rectangle 18"/>
            <p:cNvSpPr/>
            <p:nvPr/>
          </p:nvSpPr>
          <p:spPr>
            <a:xfrm>
              <a:off x="533400" y="4659630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5044558"/>
              <a:ext cx="224134" cy="192560"/>
              <a:chOff x="726129" y="5044558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1149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50445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1927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805362"/>
              <a:ext cx="473716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Y 完全由 X 决定，两者的依赖关系强到不能再强，协方差却是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0。协方差只认线性方向上的同步，抛物线这种对称的依赖被它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当成了“无关”。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464618" y="1524000"/>
            <a:ext cx="5193982" cy="4112895"/>
            <a:chOff x="6464618" y="1524000"/>
            <a:chExt cx="5193982" cy="4112895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4112895"/>
            </a:xfrm>
            <a:prstGeom prst="roundRect">
              <a:avLst>
                <a:gd name="adj" fmla="val 32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1657350"/>
              <a:ext cx="47625" cy="38461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95122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6085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99770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不独立时怎么算方差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88264" y="2090738"/>
              <a:ext cx="45657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D(X) = 4，D(Y) = 9，Cov(X, Y) = −3，求 D(X + Y)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D(2X − 3Y)。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496"/>
                <p:cNvSpPr txBox="1">
                  <a:spLocks noGrp="1"/>
                </p:cNvSpPr>
                <p:nvPr/>
              </p:nvSpPr>
              <p:spPr>
                <a:xfrm>
                  <a:off x="6695122" y="2627948"/>
                  <a:ext cx="4771072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688264" y="3079432"/>
              <a:ext cx="38456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按通用式代入 a = 2、b = −3，交叉项是 2ab·Cov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2×2×(−3)×(−3) = 36：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497"/>
                <p:cNvSpPr txBox="1">
                  <a:spLocks noGrp="1"/>
                </p:cNvSpPr>
                <p:nvPr/>
              </p:nvSpPr>
              <p:spPr>
                <a:xfrm>
                  <a:off x="6695122" y="3616642"/>
                  <a:ext cx="4771072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3Y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36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133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6689408" y="4142899"/>
              <a:ext cx="43568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协方差为负时，X 与 Y 反向波动，相加会互相抵消一部分（7 小于 4 +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9），相减反而放大。顺带可算出 ρ = −3/(2×3) = −0.5。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6" name="Rectangle 3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3610"/>
              <a:ext cx="9478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 D(aX + bY) 的通用式是 a²D(X) + b²D(Y) + 2ab·Cov(X, Y)，把 a、b 连同符号一起代进去，不要临时判断加减。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4140" cy="909257"/>
            <a:chOff x="520446" y="342900"/>
            <a:chExt cx="6924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4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相关系数：把协方差除掉量纲，锁进 [−1, 1]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3025140"/>
            <a:chOff x="533400" y="1524000"/>
            <a:chExt cx="5193982" cy="3025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025140"/>
            </a:xfrm>
            <a:prstGeom prst="roundRect">
              <a:avLst>
                <a:gd name="adj" fmla="val 44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584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3894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D(X) &gt; 0，D(Y) &gt; 0 且 Cov(X, Y) 存在，称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10"/>
                <p:cNvSpPr txBox="1">
                  <a:spLocks noGrp="1"/>
                </p:cNvSpPr>
                <p:nvPr/>
              </p:nvSpPr>
              <p:spPr>
                <a:xfrm>
                  <a:off x="763905" y="2370772"/>
                  <a:ext cx="477107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2942272"/>
              <a:ext cx="4778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 X 与 Y 的相关系数。若 ρ_XY = 0，就称 X 与 Y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不相关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190" y="3240881"/>
              <a:ext cx="45844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分母是两个标准差，量纲与分子相同，所以 ρ 是一个纯数，换单位不影响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它的值。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715702"/>
              <a:ext cx="3746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Cov = ρ_XY√D(X)√D(Y) 代回方差公式，得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511"/>
                <p:cNvSpPr txBox="1">
                  <a:spLocks noGrp="1"/>
                </p:cNvSpPr>
                <p:nvPr/>
              </p:nvSpPr>
              <p:spPr>
                <a:xfrm>
                  <a:off x="763905" y="3995738"/>
                  <a:ext cx="4771072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±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rad>
                        <m:rad>
                          <m:radPr>
                            <m:degHide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1-callout-2"/>
          <p:cNvGrpSpPr/>
          <p:nvPr/>
        </p:nvGrpSpPr>
        <p:grpSpPr>
          <a:xfrm>
            <a:off x="533400" y="4723448"/>
            <a:ext cx="5193982" cy="729615"/>
            <a:chOff x="533400" y="4723448"/>
            <a:chExt cx="5193982" cy="729615"/>
          </a:xfrm>
        </p:grpSpPr>
        <p:sp>
          <p:nvSpPr>
            <p:cNvPr id="19" name="Rectangle 19"/>
            <p:cNvSpPr/>
            <p:nvPr/>
          </p:nvSpPr>
          <p:spPr>
            <a:xfrm>
              <a:off x="533400" y="472344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988243"/>
              <a:ext cx="200026" cy="200025"/>
              <a:chOff x="738188" y="4988243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9882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0326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1438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4870132"/>
              <a:ext cx="40170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ρ_XY 就是两个标准化变量的协方差，即 ρ = Cov(X*,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Y*)。标准化把尺度抹平，剩下的只有方向与强弱。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032182" y="1524000"/>
            <a:ext cx="5626418" cy="1987868"/>
            <a:chOff x="6032182" y="1524000"/>
            <a:chExt cx="5626418" cy="1987868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1987868"/>
            </a:xfrm>
            <a:prstGeom prst="roundRect">
              <a:avLst>
                <a:gd name="adj" fmla="val 67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41708" y="1657350"/>
              <a:ext cx="47625" cy="172116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62688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0105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65442" y="1756410"/>
              <a:ext cx="904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|ρ_XY| ≤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55830" y="2090738"/>
              <a:ext cx="5294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把柯西-施瓦茨不等式用在中心化变量 X − E(X) 与 Y − E(Y) 上：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512"/>
                <p:cNvSpPr txBox="1">
                  <a:spLocks noGrp="1"/>
                </p:cNvSpPr>
                <p:nvPr/>
              </p:nvSpPr>
              <p:spPr>
                <a:xfrm>
                  <a:off x="6262688" y="2370772"/>
                  <a:ext cx="5203508" cy="3714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Cov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{"/>
                                        <m:sepChr m:val=""/>
                                        <m:endChr m:val="}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["/>
                                            <m:sepChr m:val=""/>
                                            <m:endChr m:val="]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E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d>
                                          <m:dPr>
                                            <m:begChr m:val="["/>
                                            <m:sepChr m:val=""/>
                                            <m:endChr m:val="]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E</m:t>
                                            </m:r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1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Y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255830" y="2850832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开方得 |Cov(X, Y)| ≤ √(D(X)D(Y))，两边同除以分母即得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|ρ_XY| ≤ 1。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032182" y="3686175"/>
            <a:ext cx="5626418" cy="1766888"/>
            <a:chOff x="6032182" y="3686175"/>
            <a:chExt cx="5626418" cy="1766888"/>
          </a:xfrm>
        </p:grpSpPr>
        <p:sp>
          <p:nvSpPr>
            <p:cNvPr id="35" name="Rectangle 35"/>
            <p:cNvSpPr/>
            <p:nvPr/>
          </p:nvSpPr>
          <p:spPr>
            <a:xfrm>
              <a:off x="6032182" y="3686175"/>
              <a:ext cx="5626418" cy="1766888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1708" y="3819525"/>
              <a:ext cx="47625" cy="15001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62688" y="3878580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0105" y="39128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65442" y="391858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独立必定不相关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55830" y="4252912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相互独立时 E(XY) = E(X)E(Y)，于是 Cov(X, Y) = 0，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ρ_XY = 0。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56972" y="4808696"/>
              <a:ext cx="2529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反过来不成立，例 34 已经给出反例。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8473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第一节那条看起来与概率无关的柯西-施瓦茨不等式，作用就在这里：它保证了 ρ 一定落在 −1 与 1 之间。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5037" cy="909257"/>
            <a:chOff x="520446" y="342900"/>
            <a:chExt cx="67250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50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|ρ| = 1 意味着两者以概率 1 落在一条直线上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3314700"/>
            <a:chOff x="533400" y="1524000"/>
            <a:chExt cx="5842635" cy="33147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314700"/>
            </a:xfrm>
            <a:prstGeom prst="roundRect">
              <a:avLst>
                <a:gd name="adj" fmla="val 4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480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8760" y="1768792"/>
              <a:ext cx="2484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|ρ_XY| = 1 的充分必要条件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287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|ρ_XY| = 1 当且仅当存在常数 a、b 使 P{Y = a + bX} = 1。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46507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证明：记 σ_X² = D(X)，σ_Y² = D(Y)，取 b = Cov(X,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Y)/σ_X²，考察 Y − bX 的方差：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514"/>
                <p:cNvSpPr txBox="1">
                  <a:spLocks noGrp="1"/>
                </p:cNvSpPr>
                <p:nvPr/>
              </p:nvSpPr>
              <p:spPr>
                <a:xfrm>
                  <a:off x="781050" y="3061335"/>
                  <a:ext cx="5385435" cy="6229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bX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2b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["/>
                                        <m:sepChr m:val=""/>
                                        <m:endChr m:val="]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Cov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,</m:t>
                                            </m:r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Y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ρ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XY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3804285"/>
              <a:ext cx="5044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|ρ_XY| = 1 等价于 D(Y − bX) = 0。由方差的性质 5，这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又等价于 Y − bX 以概率 1 取常数 a = E(Y − bX)。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4421981"/>
              <a:ext cx="51789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与 Cov(X, Y) 同号：ρ = 1 时直线向上倾斜，ρ = −1 时向下倾斜。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1524000"/>
            <a:ext cx="4977765" cy="2341245"/>
            <a:chOff x="6680835" y="1524000"/>
            <a:chExt cx="4977765" cy="2341245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2341245"/>
            </a:xfrm>
            <a:prstGeom prst="roundRect">
              <a:avLst>
                <a:gd name="adj" fmla="val 569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903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15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1412" y="1768792"/>
              <a:ext cx="1608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 的大小说明什么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896100" y="2192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54215" y="2129790"/>
              <a:ext cx="3625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|ρ| 衡量的是 X 与 Y 之间的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线性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相关程度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896100" y="25279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54215" y="246507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|ρ| 越接近 1，点越贴近一条直线；越接近 0，线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性关系越弱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896100" y="31489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54215" y="3086100"/>
              <a:ext cx="3783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 &gt; 0 称正相关，X 增大时 Y 有增大的趋势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96100" y="34842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54215" y="3421380"/>
              <a:ext cx="3783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 &lt; 0 称负相关，X 增大时 Y 有减小的趋势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680835" y="4055745"/>
            <a:ext cx="4977765" cy="782955"/>
            <a:chOff x="6680835" y="4055745"/>
            <a:chExt cx="4977765" cy="782955"/>
          </a:xfrm>
        </p:grpSpPr>
        <p:sp>
          <p:nvSpPr>
            <p:cNvPr id="31" name="Rectangle 31"/>
            <p:cNvSpPr/>
            <p:nvPr/>
          </p:nvSpPr>
          <p:spPr>
            <a:xfrm>
              <a:off x="6680835" y="405574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873564" y="4343518"/>
              <a:ext cx="224134" cy="192560"/>
              <a:chOff x="6873564" y="4343518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985635" y="4413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873564" y="4343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85635" y="4491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187565" y="4204335"/>
              <a:ext cx="4101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|ρ| 小只说明直线拟合得差，不说明两者无关。下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一页的六张图里，最后两张的 ρ 都约等于 0。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8" name="Rectangle 38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728335"/>
              <a:ext cx="9902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的取法不是凑出来的：它正是用 X 线性预测 Y 时使均方误差 D(Y − bX) 最小的那个系数，最小值 σ_Y²(1 − ρ²) 就是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剩下的误差。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取不同值时，散点图长什么样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3" name="rhoA"/>
          <p:cNvGrpSpPr/>
          <p:nvPr/>
        </p:nvGrpSpPr>
        <p:grpSpPr>
          <a:xfrm>
            <a:off x="533400" y="1524000"/>
            <a:ext cx="3600450" cy="2343150"/>
            <a:chOff x="533400" y="1524000"/>
            <a:chExt cx="3600450" cy="2343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614" y="1647587"/>
              <a:ext cx="69614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ρ ≈ 0.94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42950" y="1905000"/>
              <a:ext cx="318135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19150" y="266700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2333625" y="19812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12" name="Ellipse 12"/>
            <p:cNvSpPr/>
            <p:nvPr/>
          </p:nvSpPr>
          <p:spPr>
            <a:xfrm>
              <a:off x="2383526" y="251655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958197" y="272295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236841" y="26746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131725" y="224786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326472" y="25739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811361" y="240298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588000" y="25607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192226" y="270541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792014" y="29501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669885" y="292739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272789" y="26621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372916" y="26792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311327" y="261072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655580" y="252262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178510" y="28078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135495" y="28382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755905" y="280697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431655" y="297083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480186" y="256864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534669" y="249293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777604" y="24303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098777" y="275747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935375" y="279654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018557" y="26912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569358" y="302468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949158" y="29154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132782" y="240411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226840" y="269522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030664" y="24240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788558" y="245600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279923" y="26803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609755" y="256096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311556" y="260357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107074" y="241544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976448" y="226918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143811" y="268173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151097" y="259651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431142" y="258471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249729" y="266508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2271055" y="26970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197476" y="234473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49630" y="32880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283514" y="26149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259492" y="265755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2482024" y="24895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158575" y="27165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148641" y="221753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935785" y="265167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2665886" y="250229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857451" y="281051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999307" y="282973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807054" y="288223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803360" y="243117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743456" y="283898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371496" y="254674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2842403" y="23975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2284228" y="264018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873958" y="278047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2913069" y="234489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2245843" y="267049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2020691" y="28046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2178110" y="273640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2162975" y="278810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2489387" y="254244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866529" y="296502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2341035" y="25445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2040188" y="277630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2108654" y="267622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964598" y="272049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2218649" y="261033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2357771" y="261857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731521" y="292715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2235965" y="261875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2445801" y="260753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2514105" y="247406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2282676" y="266492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2181044" y="263415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2567407" y="256724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2499665" y="25701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032883" y="267437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2684640" y="250218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2377145" y="25651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2079193" y="273668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2620680" y="259586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2480034" y="250451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2553300" y="25987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2476329" y="26040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2580542" y="246765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2433980" y="26170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2099243" y="266817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18756" y="3567351"/>
              <a:ext cx="164188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点几乎贴在一条上升直线上</a:t>
              </a:r>
            </a:p>
          </p:txBody>
        </p:sp>
      </p:grpSp>
      <p:grpSp>
        <p:nvGrpSpPr>
          <p:cNvPr id="200" name="rhoB"/>
          <p:cNvGrpSpPr/>
          <p:nvPr/>
        </p:nvGrpSpPr>
        <p:grpSpPr>
          <a:xfrm>
            <a:off x="4286250" y="1524000"/>
            <a:ext cx="3600450" cy="2343150"/>
            <a:chOff x="4286250" y="1524000"/>
            <a:chExt cx="3600450" cy="2343150"/>
          </a:xfrm>
        </p:grpSpPr>
        <p:sp>
          <p:nvSpPr>
            <p:cNvPr id="104" name="Rectangle 104"/>
            <p:cNvSpPr/>
            <p:nvPr/>
          </p:nvSpPr>
          <p:spPr>
            <a:xfrm>
              <a:off x="4286250" y="152400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4470464" y="1647587"/>
              <a:ext cx="696146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ρ ≈ 0.52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4495800" y="1905000"/>
              <a:ext cx="318135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D9DFEA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4572000" y="266700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108" name="Line 108"/>
            <p:cNvSpPr/>
            <p:nvPr/>
          </p:nvSpPr>
          <p:spPr>
            <a:xfrm>
              <a:off x="6086475" y="19812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109" name="Ellipse 109"/>
            <p:cNvSpPr/>
            <p:nvPr/>
          </p:nvSpPr>
          <p:spPr>
            <a:xfrm>
              <a:off x="6279413" y="214882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6683407" y="234298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6433395" y="253418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6454054" y="260526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5680596" y="292615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5444461" y="274058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6444815" y="226522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6416192" y="25366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6507813" y="25746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5061490" y="26539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5871077" y="26554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5979633" y="210132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6788725" y="24336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5480514" y="260048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5617826" y="251936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5259953" y="283889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6671767" y="270952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6198441" y="260058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6681711" y="263364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6537655" y="21486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5275231" y="298908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6406934" y="272201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5357155" y="251238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6699723" y="230847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6770980" y="237054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5664746" y="32150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6437528" y="279866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6173562" y="255602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5413058" y="285407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7160114" y="228185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5201441" y="286887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6148969" y="252324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6582156" y="256566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6008408" y="249148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5311102" y="257640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6340135" y="270309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5802220" y="266396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5282365" y="32880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6355051" y="230901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6042203" y="265679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9" name="Ellipse 149"/>
            <p:cNvSpPr/>
            <p:nvPr/>
          </p:nvSpPr>
          <p:spPr>
            <a:xfrm>
              <a:off x="6116364" y="284846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0" name="Ellipse 150"/>
            <p:cNvSpPr/>
            <p:nvPr/>
          </p:nvSpPr>
          <p:spPr>
            <a:xfrm>
              <a:off x="6358280" y="244204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6136338" y="247034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5521338" y="272392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5678091" y="284400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6265745" y="259616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5" name="Ellipse 155"/>
            <p:cNvSpPr/>
            <p:nvPr/>
          </p:nvSpPr>
          <p:spPr>
            <a:xfrm>
              <a:off x="6602892" y="242900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6" name="Ellipse 156"/>
            <p:cNvSpPr/>
            <p:nvPr/>
          </p:nvSpPr>
          <p:spPr>
            <a:xfrm>
              <a:off x="5421887" y="254003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7" name="Ellipse 157"/>
            <p:cNvSpPr/>
            <p:nvPr/>
          </p:nvSpPr>
          <p:spPr>
            <a:xfrm>
              <a:off x="5192563" y="28660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8" name="Ellipse 158"/>
            <p:cNvSpPr/>
            <p:nvPr/>
          </p:nvSpPr>
          <p:spPr>
            <a:xfrm>
              <a:off x="6270698" y="264991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9" name="Ellipse 159"/>
            <p:cNvSpPr/>
            <p:nvPr/>
          </p:nvSpPr>
          <p:spPr>
            <a:xfrm>
              <a:off x="6376511" y="260871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518280" y="262588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1" name="Ellipse 161"/>
            <p:cNvSpPr/>
            <p:nvPr/>
          </p:nvSpPr>
          <p:spPr>
            <a:xfrm>
              <a:off x="6050004" y="286539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2" name="Ellipse 162"/>
            <p:cNvSpPr/>
            <p:nvPr/>
          </p:nvSpPr>
          <p:spPr>
            <a:xfrm>
              <a:off x="6112345" y="267607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267488" y="27560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4" name="Ellipse 164"/>
            <p:cNvSpPr/>
            <p:nvPr/>
          </p:nvSpPr>
          <p:spPr>
            <a:xfrm>
              <a:off x="6173257" y="269616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5" name="Ellipse 165"/>
            <p:cNvSpPr/>
            <p:nvPr/>
          </p:nvSpPr>
          <p:spPr>
            <a:xfrm>
              <a:off x="6992483" y="256794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6" name="Ellipse 166"/>
            <p:cNvSpPr/>
            <p:nvPr/>
          </p:nvSpPr>
          <p:spPr>
            <a:xfrm>
              <a:off x="6806251" y="254945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7" name="Ellipse 167"/>
            <p:cNvSpPr/>
            <p:nvPr/>
          </p:nvSpPr>
          <p:spPr>
            <a:xfrm>
              <a:off x="6719526" y="209073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5852541" y="26957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9" name="Ellipse 169"/>
            <p:cNvSpPr/>
            <p:nvPr/>
          </p:nvSpPr>
          <p:spPr>
            <a:xfrm>
              <a:off x="5552923" y="29242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0" name="Ellipse 170"/>
            <p:cNvSpPr/>
            <p:nvPr/>
          </p:nvSpPr>
          <p:spPr>
            <a:xfrm>
              <a:off x="5750795" y="27262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1" name="Ellipse 171"/>
            <p:cNvSpPr/>
            <p:nvPr/>
          </p:nvSpPr>
          <p:spPr>
            <a:xfrm>
              <a:off x="6601863" y="23978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2" name="Ellipse 172"/>
            <p:cNvSpPr/>
            <p:nvPr/>
          </p:nvSpPr>
          <p:spPr>
            <a:xfrm>
              <a:off x="5792210" y="27073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3" name="Ellipse 173"/>
            <p:cNvSpPr/>
            <p:nvPr/>
          </p:nvSpPr>
          <p:spPr>
            <a:xfrm>
              <a:off x="5234826" y="27325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4" name="Ellipse 174"/>
            <p:cNvSpPr/>
            <p:nvPr/>
          </p:nvSpPr>
          <p:spPr>
            <a:xfrm>
              <a:off x="5934513" y="29219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5" name="Ellipse 175"/>
            <p:cNvSpPr/>
            <p:nvPr/>
          </p:nvSpPr>
          <p:spPr>
            <a:xfrm>
              <a:off x="5654650" y="265084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6" name="Ellipse 176"/>
            <p:cNvSpPr/>
            <p:nvPr/>
          </p:nvSpPr>
          <p:spPr>
            <a:xfrm>
              <a:off x="6127318" y="254287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7" name="Ellipse 177"/>
            <p:cNvSpPr/>
            <p:nvPr/>
          </p:nvSpPr>
          <p:spPr>
            <a:xfrm>
              <a:off x="5817794" y="270095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8" name="Ellipse 178"/>
            <p:cNvSpPr/>
            <p:nvPr/>
          </p:nvSpPr>
          <p:spPr>
            <a:xfrm>
              <a:off x="5933789" y="300885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9" name="Ellipse 179"/>
            <p:cNvSpPr/>
            <p:nvPr/>
          </p:nvSpPr>
          <p:spPr>
            <a:xfrm>
              <a:off x="5978938" y="272619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0" name="Ellipse 180"/>
            <p:cNvSpPr/>
            <p:nvPr/>
          </p:nvSpPr>
          <p:spPr>
            <a:xfrm>
              <a:off x="5679100" y="260400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1" name="Ellipse 181"/>
            <p:cNvSpPr/>
            <p:nvPr/>
          </p:nvSpPr>
          <p:spPr>
            <a:xfrm>
              <a:off x="7292207" y="215609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2" name="Ellipse 182"/>
            <p:cNvSpPr/>
            <p:nvPr/>
          </p:nvSpPr>
          <p:spPr>
            <a:xfrm>
              <a:off x="6093838" y="290528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3" name="Ellipse 183"/>
            <p:cNvSpPr/>
            <p:nvPr/>
          </p:nvSpPr>
          <p:spPr>
            <a:xfrm>
              <a:off x="5966327" y="282653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4" name="Ellipse 184"/>
            <p:cNvSpPr/>
            <p:nvPr/>
          </p:nvSpPr>
          <p:spPr>
            <a:xfrm>
              <a:off x="6158522" y="242898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5" name="Ellipse 185"/>
            <p:cNvSpPr/>
            <p:nvPr/>
          </p:nvSpPr>
          <p:spPr>
            <a:xfrm>
              <a:off x="6039745" y="296675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6" name="Ellipse 186"/>
            <p:cNvSpPr/>
            <p:nvPr/>
          </p:nvSpPr>
          <p:spPr>
            <a:xfrm>
              <a:off x="6841046" y="251601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7" name="Ellipse 187"/>
            <p:cNvSpPr/>
            <p:nvPr/>
          </p:nvSpPr>
          <p:spPr>
            <a:xfrm>
              <a:off x="6846056" y="269930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8" name="Ellipse 188"/>
            <p:cNvSpPr/>
            <p:nvPr/>
          </p:nvSpPr>
          <p:spPr>
            <a:xfrm>
              <a:off x="7492670" y="263784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9" name="Ellipse 189"/>
            <p:cNvSpPr/>
            <p:nvPr/>
          </p:nvSpPr>
          <p:spPr>
            <a:xfrm>
              <a:off x="6147721" y="250556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0" name="Ellipse 190"/>
            <p:cNvSpPr/>
            <p:nvPr/>
          </p:nvSpPr>
          <p:spPr>
            <a:xfrm>
              <a:off x="4602480" y="313027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1" name="Ellipse 191"/>
            <p:cNvSpPr/>
            <p:nvPr/>
          </p:nvSpPr>
          <p:spPr>
            <a:xfrm>
              <a:off x="5162426" y="252482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2" name="Ellipse 192"/>
            <p:cNvSpPr/>
            <p:nvPr/>
          </p:nvSpPr>
          <p:spPr>
            <a:xfrm>
              <a:off x="6468523" y="279008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3" name="Ellipse 193"/>
            <p:cNvSpPr/>
            <p:nvPr/>
          </p:nvSpPr>
          <p:spPr>
            <a:xfrm>
              <a:off x="5078273" y="322334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4" name="Ellipse 194"/>
            <p:cNvSpPr/>
            <p:nvPr/>
          </p:nvSpPr>
          <p:spPr>
            <a:xfrm>
              <a:off x="6167714" y="282044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5" name="Ellipse 195"/>
            <p:cNvSpPr/>
            <p:nvPr/>
          </p:nvSpPr>
          <p:spPr>
            <a:xfrm>
              <a:off x="6279432" y="274484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6" name="Ellipse 196"/>
            <p:cNvSpPr/>
            <p:nvPr/>
          </p:nvSpPr>
          <p:spPr>
            <a:xfrm>
              <a:off x="5103905" y="251798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7" name="Ellipse 197"/>
            <p:cNvSpPr/>
            <p:nvPr/>
          </p:nvSpPr>
          <p:spPr>
            <a:xfrm>
              <a:off x="6347612" y="276312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8" name="Ellipse 198"/>
            <p:cNvSpPr/>
            <p:nvPr/>
          </p:nvSpPr>
          <p:spPr>
            <a:xfrm>
              <a:off x="5876344" y="246167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9" name="TextBox 199"/>
            <p:cNvSpPr txBox="1"/>
            <p:nvPr/>
          </p:nvSpPr>
          <p:spPr>
            <a:xfrm>
              <a:off x="4471606" y="3567351"/>
              <a:ext cx="136994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有上升趋势，但散得开</a:t>
              </a:r>
            </a:p>
          </p:txBody>
        </p:sp>
      </p:grpSp>
      <p:grpSp>
        <p:nvGrpSpPr>
          <p:cNvPr id="297" name="rhoC"/>
          <p:cNvGrpSpPr/>
          <p:nvPr/>
        </p:nvGrpSpPr>
        <p:grpSpPr>
          <a:xfrm>
            <a:off x="8039100" y="1524000"/>
            <a:ext cx="3600450" cy="2343150"/>
            <a:chOff x="8039100" y="1524000"/>
            <a:chExt cx="3600450" cy="2343150"/>
          </a:xfrm>
        </p:grpSpPr>
        <p:sp>
          <p:nvSpPr>
            <p:cNvPr id="201" name="Rectangle 201"/>
            <p:cNvSpPr/>
            <p:nvPr/>
          </p:nvSpPr>
          <p:spPr>
            <a:xfrm>
              <a:off x="8039100" y="152400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8223314" y="1647587"/>
              <a:ext cx="79254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ρ ≈ −0.02</a:t>
              </a:r>
            </a:p>
          </p:txBody>
        </p:sp>
        <p:sp>
          <p:nvSpPr>
            <p:cNvPr id="203" name="Rectangle 203"/>
            <p:cNvSpPr/>
            <p:nvPr/>
          </p:nvSpPr>
          <p:spPr>
            <a:xfrm>
              <a:off x="8248650" y="1905000"/>
              <a:ext cx="318135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D9DFEA"/>
              </a:solidFill>
            </a:ln>
          </p:spPr>
        </p:sp>
        <p:sp>
          <p:nvSpPr>
            <p:cNvPr id="204" name="Line 204"/>
            <p:cNvSpPr/>
            <p:nvPr/>
          </p:nvSpPr>
          <p:spPr>
            <a:xfrm>
              <a:off x="8324850" y="266700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205" name="Line 205"/>
            <p:cNvSpPr/>
            <p:nvPr/>
          </p:nvSpPr>
          <p:spPr>
            <a:xfrm>
              <a:off x="9839325" y="19812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206" name="Ellipse 206"/>
            <p:cNvSpPr/>
            <p:nvPr/>
          </p:nvSpPr>
          <p:spPr>
            <a:xfrm>
              <a:off x="9187748" y="26276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7" name="Ellipse 207"/>
            <p:cNvSpPr/>
            <p:nvPr/>
          </p:nvSpPr>
          <p:spPr>
            <a:xfrm>
              <a:off x="9670732" y="279449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8" name="Ellipse 208"/>
            <p:cNvSpPr/>
            <p:nvPr/>
          </p:nvSpPr>
          <p:spPr>
            <a:xfrm>
              <a:off x="10185845" y="266668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9" name="Ellipse 209"/>
            <p:cNvSpPr/>
            <p:nvPr/>
          </p:nvSpPr>
          <p:spPr>
            <a:xfrm>
              <a:off x="9672161" y="226018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0" name="Ellipse 210"/>
            <p:cNvSpPr/>
            <p:nvPr/>
          </p:nvSpPr>
          <p:spPr>
            <a:xfrm>
              <a:off x="9581102" y="297778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1" name="Ellipse 211"/>
            <p:cNvSpPr/>
            <p:nvPr/>
          </p:nvSpPr>
          <p:spPr>
            <a:xfrm>
              <a:off x="9217095" y="280529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2" name="Ellipse 212"/>
            <p:cNvSpPr/>
            <p:nvPr/>
          </p:nvSpPr>
          <p:spPr>
            <a:xfrm>
              <a:off x="10058305" y="248267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3" name="Ellipse 213"/>
            <p:cNvSpPr/>
            <p:nvPr/>
          </p:nvSpPr>
          <p:spPr>
            <a:xfrm>
              <a:off x="10257092" y="224855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4" name="Ellipse 214"/>
            <p:cNvSpPr/>
            <p:nvPr/>
          </p:nvSpPr>
          <p:spPr>
            <a:xfrm>
              <a:off x="10499026" y="252585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5" name="Ellipse 215"/>
            <p:cNvSpPr/>
            <p:nvPr/>
          </p:nvSpPr>
          <p:spPr>
            <a:xfrm>
              <a:off x="10348436" y="252097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6" name="Ellipse 216"/>
            <p:cNvSpPr/>
            <p:nvPr/>
          </p:nvSpPr>
          <p:spPr>
            <a:xfrm>
              <a:off x="9566720" y="247851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7" name="Ellipse 217"/>
            <p:cNvSpPr/>
            <p:nvPr/>
          </p:nvSpPr>
          <p:spPr>
            <a:xfrm>
              <a:off x="9829800" y="272008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8" name="Ellipse 218"/>
            <p:cNvSpPr/>
            <p:nvPr/>
          </p:nvSpPr>
          <p:spPr>
            <a:xfrm>
              <a:off x="10638472" y="24884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9" name="Ellipse 219"/>
            <p:cNvSpPr/>
            <p:nvPr/>
          </p:nvSpPr>
          <p:spPr>
            <a:xfrm>
              <a:off x="9605296" y="268787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0" name="Ellipse 220"/>
            <p:cNvSpPr/>
            <p:nvPr/>
          </p:nvSpPr>
          <p:spPr>
            <a:xfrm>
              <a:off x="10784586" y="27279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1" name="Ellipse 221"/>
            <p:cNvSpPr/>
            <p:nvPr/>
          </p:nvSpPr>
          <p:spPr>
            <a:xfrm>
              <a:off x="10115836" y="252263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2" name="Ellipse 222"/>
            <p:cNvSpPr/>
            <p:nvPr/>
          </p:nvSpPr>
          <p:spPr>
            <a:xfrm>
              <a:off x="10022586" y="253008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3" name="Ellipse 223"/>
            <p:cNvSpPr/>
            <p:nvPr/>
          </p:nvSpPr>
          <p:spPr>
            <a:xfrm>
              <a:off x="9607106" y="27788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4" name="Ellipse 224"/>
            <p:cNvSpPr/>
            <p:nvPr/>
          </p:nvSpPr>
          <p:spPr>
            <a:xfrm>
              <a:off x="9741694" y="275395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5" name="Ellipse 225"/>
            <p:cNvSpPr/>
            <p:nvPr/>
          </p:nvSpPr>
          <p:spPr>
            <a:xfrm>
              <a:off x="10147364" y="230334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6" name="Ellipse 226"/>
            <p:cNvSpPr/>
            <p:nvPr/>
          </p:nvSpPr>
          <p:spPr>
            <a:xfrm>
              <a:off x="9436170" y="253945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7" name="Ellipse 227"/>
            <p:cNvSpPr/>
            <p:nvPr/>
          </p:nvSpPr>
          <p:spPr>
            <a:xfrm>
              <a:off x="9397860" y="283324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8" name="Ellipse 228"/>
            <p:cNvSpPr/>
            <p:nvPr/>
          </p:nvSpPr>
          <p:spPr>
            <a:xfrm>
              <a:off x="9708737" y="26435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9" name="Ellipse 229"/>
            <p:cNvSpPr/>
            <p:nvPr/>
          </p:nvSpPr>
          <p:spPr>
            <a:xfrm>
              <a:off x="9625298" y="32880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0" name="Ellipse 230"/>
            <p:cNvSpPr/>
            <p:nvPr/>
          </p:nvSpPr>
          <p:spPr>
            <a:xfrm>
              <a:off x="10389870" y="273339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1" name="Ellipse 231"/>
            <p:cNvSpPr/>
            <p:nvPr/>
          </p:nvSpPr>
          <p:spPr>
            <a:xfrm>
              <a:off x="9542240" y="25076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2" name="Ellipse 232"/>
            <p:cNvSpPr/>
            <p:nvPr/>
          </p:nvSpPr>
          <p:spPr>
            <a:xfrm>
              <a:off x="9558147" y="300798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3" name="Ellipse 233"/>
            <p:cNvSpPr/>
            <p:nvPr/>
          </p:nvSpPr>
          <p:spPr>
            <a:xfrm>
              <a:off x="10014395" y="25697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4" name="Ellipse 234"/>
            <p:cNvSpPr/>
            <p:nvPr/>
          </p:nvSpPr>
          <p:spPr>
            <a:xfrm>
              <a:off x="9462221" y="24700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5" name="Ellipse 235"/>
            <p:cNvSpPr/>
            <p:nvPr/>
          </p:nvSpPr>
          <p:spPr>
            <a:xfrm>
              <a:off x="9965436" y="293832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6" name="Ellipse 236"/>
            <p:cNvSpPr/>
            <p:nvPr/>
          </p:nvSpPr>
          <p:spPr>
            <a:xfrm>
              <a:off x="10543318" y="260557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7" name="Ellipse 237"/>
            <p:cNvSpPr/>
            <p:nvPr/>
          </p:nvSpPr>
          <p:spPr>
            <a:xfrm>
              <a:off x="9332576" y="256181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8" name="Ellipse 238"/>
            <p:cNvSpPr/>
            <p:nvPr/>
          </p:nvSpPr>
          <p:spPr>
            <a:xfrm>
              <a:off x="9861804" y="24388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9" name="Ellipse 239"/>
            <p:cNvSpPr/>
            <p:nvPr/>
          </p:nvSpPr>
          <p:spPr>
            <a:xfrm>
              <a:off x="9242612" y="242221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0" name="Ellipse 240"/>
            <p:cNvSpPr/>
            <p:nvPr/>
          </p:nvSpPr>
          <p:spPr>
            <a:xfrm>
              <a:off x="10203752" y="25043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1" name="Ellipse 241"/>
            <p:cNvSpPr/>
            <p:nvPr/>
          </p:nvSpPr>
          <p:spPr>
            <a:xfrm>
              <a:off x="10064686" y="235726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2" name="Ellipse 242"/>
            <p:cNvSpPr/>
            <p:nvPr/>
          </p:nvSpPr>
          <p:spPr>
            <a:xfrm>
              <a:off x="10109835" y="26389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3" name="Ellipse 243"/>
            <p:cNvSpPr/>
            <p:nvPr/>
          </p:nvSpPr>
          <p:spPr>
            <a:xfrm>
              <a:off x="9457201" y="240560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4" name="Ellipse 244"/>
            <p:cNvSpPr/>
            <p:nvPr/>
          </p:nvSpPr>
          <p:spPr>
            <a:xfrm>
              <a:off x="10220325" y="259875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5" name="Ellipse 245"/>
            <p:cNvSpPr/>
            <p:nvPr/>
          </p:nvSpPr>
          <p:spPr>
            <a:xfrm>
              <a:off x="9871996" y="249800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6" name="Ellipse 246"/>
            <p:cNvSpPr/>
            <p:nvPr/>
          </p:nvSpPr>
          <p:spPr>
            <a:xfrm>
              <a:off x="8752475" y="259432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7" name="Ellipse 247"/>
            <p:cNvSpPr/>
            <p:nvPr/>
          </p:nvSpPr>
          <p:spPr>
            <a:xfrm>
              <a:off x="8759238" y="261259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8" name="Ellipse 248"/>
            <p:cNvSpPr/>
            <p:nvPr/>
          </p:nvSpPr>
          <p:spPr>
            <a:xfrm>
              <a:off x="10251186" y="222016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9" name="Ellipse 249"/>
            <p:cNvSpPr/>
            <p:nvPr/>
          </p:nvSpPr>
          <p:spPr>
            <a:xfrm>
              <a:off x="9609582" y="25679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0" name="Ellipse 250"/>
            <p:cNvSpPr/>
            <p:nvPr/>
          </p:nvSpPr>
          <p:spPr>
            <a:xfrm>
              <a:off x="9777317" y="319823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1" name="Ellipse 251"/>
            <p:cNvSpPr/>
            <p:nvPr/>
          </p:nvSpPr>
          <p:spPr>
            <a:xfrm>
              <a:off x="10112502" y="267439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2" name="Ellipse 252"/>
            <p:cNvSpPr/>
            <p:nvPr/>
          </p:nvSpPr>
          <p:spPr>
            <a:xfrm>
              <a:off x="9834848" y="289441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3" name="Ellipse 253"/>
            <p:cNvSpPr/>
            <p:nvPr/>
          </p:nvSpPr>
          <p:spPr>
            <a:xfrm>
              <a:off x="9788652" y="265136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4" name="Ellipse 254"/>
            <p:cNvSpPr/>
            <p:nvPr/>
          </p:nvSpPr>
          <p:spPr>
            <a:xfrm>
              <a:off x="10342626" y="26012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5" name="Ellipse 255"/>
            <p:cNvSpPr/>
            <p:nvPr/>
          </p:nvSpPr>
          <p:spPr>
            <a:xfrm>
              <a:off x="11269980" y="27678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6" name="Ellipse 256"/>
            <p:cNvSpPr/>
            <p:nvPr/>
          </p:nvSpPr>
          <p:spPr>
            <a:xfrm>
              <a:off x="9694736" y="268331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7" name="Ellipse 257"/>
            <p:cNvSpPr/>
            <p:nvPr/>
          </p:nvSpPr>
          <p:spPr>
            <a:xfrm>
              <a:off x="9465602" y="231219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8" name="Ellipse 258"/>
            <p:cNvSpPr/>
            <p:nvPr/>
          </p:nvSpPr>
          <p:spPr>
            <a:xfrm>
              <a:off x="10076878" y="297311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9" name="Ellipse 259"/>
            <p:cNvSpPr/>
            <p:nvPr/>
          </p:nvSpPr>
          <p:spPr>
            <a:xfrm>
              <a:off x="9850755" y="23980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0" name="Ellipse 260"/>
            <p:cNvSpPr/>
            <p:nvPr/>
          </p:nvSpPr>
          <p:spPr>
            <a:xfrm>
              <a:off x="9210475" y="263560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1" name="Ellipse 261"/>
            <p:cNvSpPr/>
            <p:nvPr/>
          </p:nvSpPr>
          <p:spPr>
            <a:xfrm>
              <a:off x="9706070" y="211718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2" name="Ellipse 262"/>
            <p:cNvSpPr/>
            <p:nvPr/>
          </p:nvSpPr>
          <p:spPr>
            <a:xfrm>
              <a:off x="9979628" y="27679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3" name="Ellipse 263"/>
            <p:cNvSpPr/>
            <p:nvPr/>
          </p:nvSpPr>
          <p:spPr>
            <a:xfrm>
              <a:off x="9569863" y="22224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4" name="Ellipse 264"/>
            <p:cNvSpPr/>
            <p:nvPr/>
          </p:nvSpPr>
          <p:spPr>
            <a:xfrm>
              <a:off x="9610058" y="212917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5" name="Ellipse 265"/>
            <p:cNvSpPr/>
            <p:nvPr/>
          </p:nvSpPr>
          <p:spPr>
            <a:xfrm>
              <a:off x="9150115" y="27165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6" name="Ellipse 266"/>
            <p:cNvSpPr/>
            <p:nvPr/>
          </p:nvSpPr>
          <p:spPr>
            <a:xfrm>
              <a:off x="9705118" y="283807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7" name="Ellipse 267"/>
            <p:cNvSpPr/>
            <p:nvPr/>
          </p:nvSpPr>
          <p:spPr>
            <a:xfrm>
              <a:off x="9716452" y="25069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8" name="Ellipse 268"/>
            <p:cNvSpPr/>
            <p:nvPr/>
          </p:nvSpPr>
          <p:spPr>
            <a:xfrm>
              <a:off x="9526619" y="301124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9" name="Ellipse 269"/>
            <p:cNvSpPr/>
            <p:nvPr/>
          </p:nvSpPr>
          <p:spPr>
            <a:xfrm>
              <a:off x="10369772" y="232262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0" name="Ellipse 270"/>
            <p:cNvSpPr/>
            <p:nvPr/>
          </p:nvSpPr>
          <p:spPr>
            <a:xfrm>
              <a:off x="9516046" y="259866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1" name="Ellipse 271"/>
            <p:cNvSpPr/>
            <p:nvPr/>
          </p:nvSpPr>
          <p:spPr>
            <a:xfrm>
              <a:off x="8726195" y="242403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2" name="Ellipse 272"/>
            <p:cNvSpPr/>
            <p:nvPr/>
          </p:nvSpPr>
          <p:spPr>
            <a:xfrm>
              <a:off x="9247003" y="280266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3" name="Ellipse 273"/>
            <p:cNvSpPr/>
            <p:nvPr/>
          </p:nvSpPr>
          <p:spPr>
            <a:xfrm>
              <a:off x="10712863" y="29707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4" name="Ellipse 274"/>
            <p:cNvSpPr/>
            <p:nvPr/>
          </p:nvSpPr>
          <p:spPr>
            <a:xfrm>
              <a:off x="9813989" y="292503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5" name="Ellipse 275"/>
            <p:cNvSpPr/>
            <p:nvPr/>
          </p:nvSpPr>
          <p:spPr>
            <a:xfrm>
              <a:off x="9029776" y="294767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6" name="Ellipse 276"/>
            <p:cNvSpPr/>
            <p:nvPr/>
          </p:nvSpPr>
          <p:spPr>
            <a:xfrm>
              <a:off x="9918859" y="29812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7" name="Ellipse 277"/>
            <p:cNvSpPr/>
            <p:nvPr/>
          </p:nvSpPr>
          <p:spPr>
            <a:xfrm>
              <a:off x="9557671" y="24985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8" name="Ellipse 278"/>
            <p:cNvSpPr/>
            <p:nvPr/>
          </p:nvSpPr>
          <p:spPr>
            <a:xfrm>
              <a:off x="9738455" y="298227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9" name="Ellipse 279"/>
            <p:cNvSpPr/>
            <p:nvPr/>
          </p:nvSpPr>
          <p:spPr>
            <a:xfrm>
              <a:off x="10433209" y="264261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0" name="Ellipse 280"/>
            <p:cNvSpPr/>
            <p:nvPr/>
          </p:nvSpPr>
          <p:spPr>
            <a:xfrm>
              <a:off x="10394537" y="29199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1" name="Ellipse 281"/>
            <p:cNvSpPr/>
            <p:nvPr/>
          </p:nvSpPr>
          <p:spPr>
            <a:xfrm>
              <a:off x="10512742" y="299099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2" name="Ellipse 282"/>
            <p:cNvSpPr/>
            <p:nvPr/>
          </p:nvSpPr>
          <p:spPr>
            <a:xfrm>
              <a:off x="9073201" y="277207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3" name="Ellipse 283"/>
            <p:cNvSpPr/>
            <p:nvPr/>
          </p:nvSpPr>
          <p:spPr>
            <a:xfrm>
              <a:off x="9649016" y="260900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4" name="Ellipse 284"/>
            <p:cNvSpPr/>
            <p:nvPr/>
          </p:nvSpPr>
          <p:spPr>
            <a:xfrm>
              <a:off x="9569672" y="252074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5" name="Ellipse 285"/>
            <p:cNvSpPr/>
            <p:nvPr/>
          </p:nvSpPr>
          <p:spPr>
            <a:xfrm>
              <a:off x="10364724" y="282625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6" name="Ellipse 286"/>
            <p:cNvSpPr/>
            <p:nvPr/>
          </p:nvSpPr>
          <p:spPr>
            <a:xfrm>
              <a:off x="9228096" y="27665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7" name="Ellipse 287"/>
            <p:cNvSpPr/>
            <p:nvPr/>
          </p:nvSpPr>
          <p:spPr>
            <a:xfrm>
              <a:off x="10148126" y="24779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8" name="Ellipse 288"/>
            <p:cNvSpPr/>
            <p:nvPr/>
          </p:nvSpPr>
          <p:spPr>
            <a:xfrm>
              <a:off x="9659302" y="290529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9" name="Ellipse 289"/>
            <p:cNvSpPr/>
            <p:nvPr/>
          </p:nvSpPr>
          <p:spPr>
            <a:xfrm>
              <a:off x="9797034" y="244298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0" name="Ellipse 290"/>
            <p:cNvSpPr/>
            <p:nvPr/>
          </p:nvSpPr>
          <p:spPr>
            <a:xfrm>
              <a:off x="9505093" y="23636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1" name="Ellipse 291"/>
            <p:cNvSpPr/>
            <p:nvPr/>
          </p:nvSpPr>
          <p:spPr>
            <a:xfrm>
              <a:off x="9899142" y="260284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2" name="Ellipse 292"/>
            <p:cNvSpPr/>
            <p:nvPr/>
          </p:nvSpPr>
          <p:spPr>
            <a:xfrm>
              <a:off x="9541574" y="234851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3" name="Ellipse 293"/>
            <p:cNvSpPr/>
            <p:nvPr/>
          </p:nvSpPr>
          <p:spPr>
            <a:xfrm>
              <a:off x="9822466" y="302506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4" name="Ellipse 294"/>
            <p:cNvSpPr/>
            <p:nvPr/>
          </p:nvSpPr>
          <p:spPr>
            <a:xfrm>
              <a:off x="10147840" y="277121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5" name="Ellipse 295"/>
            <p:cNvSpPr/>
            <p:nvPr/>
          </p:nvSpPr>
          <p:spPr>
            <a:xfrm>
              <a:off x="10256139" y="263184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6" name="TextBox 296"/>
            <p:cNvSpPr txBox="1"/>
            <p:nvPr/>
          </p:nvSpPr>
          <p:spPr>
            <a:xfrm>
              <a:off x="8224456" y="3567351"/>
              <a:ext cx="191381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看不出方向，线性关系几乎为零</a:t>
              </a:r>
            </a:p>
          </p:txBody>
        </p:sp>
      </p:grpSp>
      <p:grpSp>
        <p:nvGrpSpPr>
          <p:cNvPr id="394" name="rhoD"/>
          <p:cNvGrpSpPr/>
          <p:nvPr/>
        </p:nvGrpSpPr>
        <p:grpSpPr>
          <a:xfrm>
            <a:off x="533400" y="4019550"/>
            <a:ext cx="3600450" cy="2343150"/>
            <a:chOff x="533400" y="4019550"/>
            <a:chExt cx="3600450" cy="2343150"/>
          </a:xfrm>
        </p:grpSpPr>
        <p:sp>
          <p:nvSpPr>
            <p:cNvPr id="298" name="Rectangle 298"/>
            <p:cNvSpPr/>
            <p:nvPr/>
          </p:nvSpPr>
          <p:spPr>
            <a:xfrm>
              <a:off x="533400" y="401955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9" name="TextBox 299"/>
            <p:cNvSpPr txBox="1"/>
            <p:nvPr/>
          </p:nvSpPr>
          <p:spPr>
            <a:xfrm>
              <a:off x="717614" y="4143137"/>
              <a:ext cx="79254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4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ρ ≈ −0.82</a:t>
              </a:r>
            </a:p>
          </p:txBody>
        </p:sp>
        <p:sp>
          <p:nvSpPr>
            <p:cNvPr id="300" name="Rectangle 300"/>
            <p:cNvSpPr/>
            <p:nvPr/>
          </p:nvSpPr>
          <p:spPr>
            <a:xfrm>
              <a:off x="742950" y="4400550"/>
              <a:ext cx="318135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D9DFEA"/>
              </a:solidFill>
            </a:ln>
          </p:spPr>
        </p:sp>
        <p:sp>
          <p:nvSpPr>
            <p:cNvPr id="301" name="Line 301"/>
            <p:cNvSpPr/>
            <p:nvPr/>
          </p:nvSpPr>
          <p:spPr>
            <a:xfrm>
              <a:off x="819150" y="51625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302" name="Line 302"/>
            <p:cNvSpPr/>
            <p:nvPr/>
          </p:nvSpPr>
          <p:spPr>
            <a:xfrm>
              <a:off x="2333625" y="447675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303" name="Ellipse 303"/>
            <p:cNvSpPr/>
            <p:nvPr/>
          </p:nvSpPr>
          <p:spPr>
            <a:xfrm>
              <a:off x="1592218" y="50438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4" name="Ellipse 304"/>
            <p:cNvSpPr/>
            <p:nvPr/>
          </p:nvSpPr>
          <p:spPr>
            <a:xfrm>
              <a:off x="2690660" y="552394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5" name="Ellipse 305"/>
            <p:cNvSpPr/>
            <p:nvPr/>
          </p:nvSpPr>
          <p:spPr>
            <a:xfrm>
              <a:off x="2207581" y="536702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6" name="Ellipse 306"/>
            <p:cNvSpPr/>
            <p:nvPr/>
          </p:nvSpPr>
          <p:spPr>
            <a:xfrm>
              <a:off x="2947092" y="531456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7" name="Ellipse 307"/>
            <p:cNvSpPr/>
            <p:nvPr/>
          </p:nvSpPr>
          <p:spPr>
            <a:xfrm>
              <a:off x="3098844" y="544470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8" name="Ellipse 308"/>
            <p:cNvSpPr/>
            <p:nvPr/>
          </p:nvSpPr>
          <p:spPr>
            <a:xfrm>
              <a:off x="2529440" y="523953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9" name="Ellipse 309"/>
            <p:cNvSpPr/>
            <p:nvPr/>
          </p:nvSpPr>
          <p:spPr>
            <a:xfrm>
              <a:off x="1854013" y="497613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0" name="Ellipse 310"/>
            <p:cNvSpPr/>
            <p:nvPr/>
          </p:nvSpPr>
          <p:spPr>
            <a:xfrm>
              <a:off x="1545641" y="493691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1" name="Ellipse 311"/>
            <p:cNvSpPr/>
            <p:nvPr/>
          </p:nvSpPr>
          <p:spPr>
            <a:xfrm>
              <a:off x="2706776" y="525559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2" name="Ellipse 312"/>
            <p:cNvSpPr/>
            <p:nvPr/>
          </p:nvSpPr>
          <p:spPr>
            <a:xfrm>
              <a:off x="2048961" y="479997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3" name="Ellipse 313"/>
            <p:cNvSpPr/>
            <p:nvPr/>
          </p:nvSpPr>
          <p:spPr>
            <a:xfrm>
              <a:off x="2327367" y="521073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4" name="Ellipse 314"/>
            <p:cNvSpPr/>
            <p:nvPr/>
          </p:nvSpPr>
          <p:spPr>
            <a:xfrm>
              <a:off x="2387622" y="522231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5" name="Ellipse 315"/>
            <p:cNvSpPr/>
            <p:nvPr/>
          </p:nvSpPr>
          <p:spPr>
            <a:xfrm>
              <a:off x="2063925" y="510003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6" name="Ellipse 316"/>
            <p:cNvSpPr/>
            <p:nvPr/>
          </p:nvSpPr>
          <p:spPr>
            <a:xfrm>
              <a:off x="3496399" y="550896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7" name="Ellipse 317"/>
            <p:cNvSpPr/>
            <p:nvPr/>
          </p:nvSpPr>
          <p:spPr>
            <a:xfrm>
              <a:off x="2397128" y="508611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8" name="Ellipse 318"/>
            <p:cNvSpPr/>
            <p:nvPr/>
          </p:nvSpPr>
          <p:spPr>
            <a:xfrm>
              <a:off x="3491417" y="553603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9" name="Ellipse 319"/>
            <p:cNvSpPr/>
            <p:nvPr/>
          </p:nvSpPr>
          <p:spPr>
            <a:xfrm>
              <a:off x="1922031" y="472673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0" name="Ellipse 320"/>
            <p:cNvSpPr/>
            <p:nvPr/>
          </p:nvSpPr>
          <p:spPr>
            <a:xfrm>
              <a:off x="1425340" y="49003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1" name="Ellipse 321"/>
            <p:cNvSpPr/>
            <p:nvPr/>
          </p:nvSpPr>
          <p:spPr>
            <a:xfrm>
              <a:off x="2689117" y="499114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2" name="Ellipse 322"/>
            <p:cNvSpPr/>
            <p:nvPr/>
          </p:nvSpPr>
          <p:spPr>
            <a:xfrm>
              <a:off x="1728273" y="523565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3" name="Ellipse 323"/>
            <p:cNvSpPr/>
            <p:nvPr/>
          </p:nvSpPr>
          <p:spPr>
            <a:xfrm>
              <a:off x="2686002" y="531638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4" name="Ellipse 324"/>
            <p:cNvSpPr/>
            <p:nvPr/>
          </p:nvSpPr>
          <p:spPr>
            <a:xfrm>
              <a:off x="2062524" y="500522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5" name="Ellipse 325"/>
            <p:cNvSpPr/>
            <p:nvPr/>
          </p:nvSpPr>
          <p:spPr>
            <a:xfrm>
              <a:off x="2425722" y="51397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6" name="Ellipse 326"/>
            <p:cNvSpPr/>
            <p:nvPr/>
          </p:nvSpPr>
          <p:spPr>
            <a:xfrm>
              <a:off x="2036578" y="490074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7" name="Ellipse 327"/>
            <p:cNvSpPr/>
            <p:nvPr/>
          </p:nvSpPr>
          <p:spPr>
            <a:xfrm>
              <a:off x="3187198" y="541024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8" name="Ellipse 328"/>
            <p:cNvSpPr/>
            <p:nvPr/>
          </p:nvSpPr>
          <p:spPr>
            <a:xfrm>
              <a:off x="2024224" y="496149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9" name="Ellipse 329"/>
            <p:cNvSpPr/>
            <p:nvPr/>
          </p:nvSpPr>
          <p:spPr>
            <a:xfrm>
              <a:off x="2576741" y="53422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0" name="Ellipse 330"/>
            <p:cNvSpPr/>
            <p:nvPr/>
          </p:nvSpPr>
          <p:spPr>
            <a:xfrm>
              <a:off x="2019281" y="492320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1" name="Ellipse 331"/>
            <p:cNvSpPr/>
            <p:nvPr/>
          </p:nvSpPr>
          <p:spPr>
            <a:xfrm>
              <a:off x="2235584" y="515174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2" name="Ellipse 332"/>
            <p:cNvSpPr/>
            <p:nvPr/>
          </p:nvSpPr>
          <p:spPr>
            <a:xfrm>
              <a:off x="2419055" y="51753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3" name="Ellipse 333"/>
            <p:cNvSpPr/>
            <p:nvPr/>
          </p:nvSpPr>
          <p:spPr>
            <a:xfrm>
              <a:off x="2291315" y="535561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4" name="Ellipse 334"/>
            <p:cNvSpPr/>
            <p:nvPr/>
          </p:nvSpPr>
          <p:spPr>
            <a:xfrm>
              <a:off x="3332407" y="54366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5" name="Ellipse 335"/>
            <p:cNvSpPr/>
            <p:nvPr/>
          </p:nvSpPr>
          <p:spPr>
            <a:xfrm>
              <a:off x="1771821" y="485317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6" name="Ellipse 336"/>
            <p:cNvSpPr/>
            <p:nvPr/>
          </p:nvSpPr>
          <p:spPr>
            <a:xfrm>
              <a:off x="2476348" y="518747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7" name="Ellipse 337"/>
            <p:cNvSpPr/>
            <p:nvPr/>
          </p:nvSpPr>
          <p:spPr>
            <a:xfrm>
              <a:off x="2915622" y="50653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8" name="Ellipse 338"/>
            <p:cNvSpPr/>
            <p:nvPr/>
          </p:nvSpPr>
          <p:spPr>
            <a:xfrm>
              <a:off x="2621804" y="505112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9" name="Ellipse 339"/>
            <p:cNvSpPr/>
            <p:nvPr/>
          </p:nvSpPr>
          <p:spPr>
            <a:xfrm>
              <a:off x="3574875" y="565508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0" name="Ellipse 340"/>
            <p:cNvSpPr/>
            <p:nvPr/>
          </p:nvSpPr>
          <p:spPr>
            <a:xfrm>
              <a:off x="1981867" y="494313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1" name="Ellipse 341"/>
            <p:cNvSpPr/>
            <p:nvPr/>
          </p:nvSpPr>
          <p:spPr>
            <a:xfrm>
              <a:off x="1277741" y="484215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2" name="Ellipse 342"/>
            <p:cNvSpPr/>
            <p:nvPr/>
          </p:nvSpPr>
          <p:spPr>
            <a:xfrm>
              <a:off x="3061154" y="525285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3" name="Ellipse 343"/>
            <p:cNvSpPr/>
            <p:nvPr/>
          </p:nvSpPr>
          <p:spPr>
            <a:xfrm>
              <a:off x="2637187" y="54607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4" name="Ellipse 344"/>
            <p:cNvSpPr/>
            <p:nvPr/>
          </p:nvSpPr>
          <p:spPr>
            <a:xfrm>
              <a:off x="3689918" y="55086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5" name="Ellipse 345"/>
            <p:cNvSpPr/>
            <p:nvPr/>
          </p:nvSpPr>
          <p:spPr>
            <a:xfrm>
              <a:off x="2748667" y="521796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6" name="Ellipse 346"/>
            <p:cNvSpPr/>
            <p:nvPr/>
          </p:nvSpPr>
          <p:spPr>
            <a:xfrm>
              <a:off x="1272864" y="497640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7" name="Ellipse 347"/>
            <p:cNvSpPr/>
            <p:nvPr/>
          </p:nvSpPr>
          <p:spPr>
            <a:xfrm>
              <a:off x="1569777" y="46802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8" name="Ellipse 348"/>
            <p:cNvSpPr/>
            <p:nvPr/>
          </p:nvSpPr>
          <p:spPr>
            <a:xfrm>
              <a:off x="1798939" y="500381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9" name="Ellipse 349"/>
            <p:cNvSpPr/>
            <p:nvPr/>
          </p:nvSpPr>
          <p:spPr>
            <a:xfrm>
              <a:off x="2141410" y="501738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0" name="Ellipse 350"/>
            <p:cNvSpPr/>
            <p:nvPr/>
          </p:nvSpPr>
          <p:spPr>
            <a:xfrm>
              <a:off x="2590314" y="519436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1" name="Ellipse 351"/>
            <p:cNvSpPr/>
            <p:nvPr/>
          </p:nvSpPr>
          <p:spPr>
            <a:xfrm>
              <a:off x="1543021" y="525985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2" name="Ellipse 352"/>
            <p:cNvSpPr/>
            <p:nvPr/>
          </p:nvSpPr>
          <p:spPr>
            <a:xfrm>
              <a:off x="2391737" y="513165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3" name="Ellipse 353"/>
            <p:cNvSpPr/>
            <p:nvPr/>
          </p:nvSpPr>
          <p:spPr>
            <a:xfrm>
              <a:off x="3024168" y="537448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4" name="Ellipse 354"/>
            <p:cNvSpPr/>
            <p:nvPr/>
          </p:nvSpPr>
          <p:spPr>
            <a:xfrm>
              <a:off x="1929603" y="496918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5" name="Ellipse 355"/>
            <p:cNvSpPr/>
            <p:nvPr/>
          </p:nvSpPr>
          <p:spPr>
            <a:xfrm>
              <a:off x="1369057" y="496103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6" name="Ellipse 356"/>
            <p:cNvSpPr/>
            <p:nvPr/>
          </p:nvSpPr>
          <p:spPr>
            <a:xfrm>
              <a:off x="1694736" y="49092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7" name="Ellipse 357"/>
            <p:cNvSpPr/>
            <p:nvPr/>
          </p:nvSpPr>
          <p:spPr>
            <a:xfrm>
              <a:off x="3535537" y="54351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8" name="Ellipse 358"/>
            <p:cNvSpPr/>
            <p:nvPr/>
          </p:nvSpPr>
          <p:spPr>
            <a:xfrm>
              <a:off x="2971438" y="53181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9" name="Ellipse 359"/>
            <p:cNvSpPr/>
            <p:nvPr/>
          </p:nvSpPr>
          <p:spPr>
            <a:xfrm>
              <a:off x="2458622" y="52361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0" name="Ellipse 360"/>
            <p:cNvSpPr/>
            <p:nvPr/>
          </p:nvSpPr>
          <p:spPr>
            <a:xfrm>
              <a:off x="2125685" y="53613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1" name="Ellipse 361"/>
            <p:cNvSpPr/>
            <p:nvPr/>
          </p:nvSpPr>
          <p:spPr>
            <a:xfrm>
              <a:off x="1578140" y="505559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2" name="Ellipse 362"/>
            <p:cNvSpPr/>
            <p:nvPr/>
          </p:nvSpPr>
          <p:spPr>
            <a:xfrm>
              <a:off x="2790225" y="52115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3" name="Ellipse 363"/>
            <p:cNvSpPr/>
            <p:nvPr/>
          </p:nvSpPr>
          <p:spPr>
            <a:xfrm>
              <a:off x="2971400" y="51648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4" name="Ellipse 364"/>
            <p:cNvSpPr/>
            <p:nvPr/>
          </p:nvSpPr>
          <p:spPr>
            <a:xfrm>
              <a:off x="2111359" y="495155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5" name="Ellipse 365"/>
            <p:cNvSpPr/>
            <p:nvPr/>
          </p:nvSpPr>
          <p:spPr>
            <a:xfrm>
              <a:off x="3455003" y="54995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6" name="Ellipse 366"/>
            <p:cNvSpPr/>
            <p:nvPr/>
          </p:nvSpPr>
          <p:spPr>
            <a:xfrm>
              <a:off x="2938729" y="535471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7" name="Ellipse 367"/>
            <p:cNvSpPr/>
            <p:nvPr/>
          </p:nvSpPr>
          <p:spPr>
            <a:xfrm>
              <a:off x="1334414" y="481500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8" name="Ellipse 368"/>
            <p:cNvSpPr/>
            <p:nvPr/>
          </p:nvSpPr>
          <p:spPr>
            <a:xfrm>
              <a:off x="1804168" y="49646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9" name="Ellipse 369"/>
            <p:cNvSpPr/>
            <p:nvPr/>
          </p:nvSpPr>
          <p:spPr>
            <a:xfrm>
              <a:off x="2017557" y="500747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0" name="Ellipse 370"/>
            <p:cNvSpPr/>
            <p:nvPr/>
          </p:nvSpPr>
          <p:spPr>
            <a:xfrm>
              <a:off x="1022652" y="44881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1" name="Ellipse 371"/>
            <p:cNvSpPr/>
            <p:nvPr/>
          </p:nvSpPr>
          <p:spPr>
            <a:xfrm>
              <a:off x="3100921" y="542752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2" name="Ellipse 372"/>
            <p:cNvSpPr/>
            <p:nvPr/>
          </p:nvSpPr>
          <p:spPr>
            <a:xfrm>
              <a:off x="1752533" y="496054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3" name="Ellipse 373"/>
            <p:cNvSpPr/>
            <p:nvPr/>
          </p:nvSpPr>
          <p:spPr>
            <a:xfrm>
              <a:off x="2694261" y="520907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4" name="Ellipse 374"/>
            <p:cNvSpPr/>
            <p:nvPr/>
          </p:nvSpPr>
          <p:spPr>
            <a:xfrm>
              <a:off x="2531507" y="54359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5" name="Ellipse 375"/>
            <p:cNvSpPr/>
            <p:nvPr/>
          </p:nvSpPr>
          <p:spPr>
            <a:xfrm>
              <a:off x="1620888" y="476316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6" name="Ellipse 376"/>
            <p:cNvSpPr/>
            <p:nvPr/>
          </p:nvSpPr>
          <p:spPr>
            <a:xfrm>
              <a:off x="2435409" y="535352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7" name="Ellipse 377"/>
            <p:cNvSpPr/>
            <p:nvPr/>
          </p:nvSpPr>
          <p:spPr>
            <a:xfrm>
              <a:off x="1776651" y="51370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8" name="Ellipse 378"/>
            <p:cNvSpPr/>
            <p:nvPr/>
          </p:nvSpPr>
          <p:spPr>
            <a:xfrm>
              <a:off x="1686030" y="480261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9" name="Ellipse 379"/>
            <p:cNvSpPr/>
            <p:nvPr/>
          </p:nvSpPr>
          <p:spPr>
            <a:xfrm>
              <a:off x="2160775" y="495829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0" name="Ellipse 380"/>
            <p:cNvSpPr/>
            <p:nvPr/>
          </p:nvSpPr>
          <p:spPr>
            <a:xfrm>
              <a:off x="2405501" y="534398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1" name="Ellipse 381"/>
            <p:cNvSpPr/>
            <p:nvPr/>
          </p:nvSpPr>
          <p:spPr>
            <a:xfrm>
              <a:off x="1902714" y="47384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2" name="Ellipse 382"/>
            <p:cNvSpPr/>
            <p:nvPr/>
          </p:nvSpPr>
          <p:spPr>
            <a:xfrm>
              <a:off x="1831029" y="510963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3" name="Ellipse 383"/>
            <p:cNvSpPr/>
            <p:nvPr/>
          </p:nvSpPr>
          <p:spPr>
            <a:xfrm>
              <a:off x="3038704" y="53564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4" name="Ellipse 384"/>
            <p:cNvSpPr/>
            <p:nvPr/>
          </p:nvSpPr>
          <p:spPr>
            <a:xfrm>
              <a:off x="2288934" y="49568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5" name="Ellipse 385"/>
            <p:cNvSpPr/>
            <p:nvPr/>
          </p:nvSpPr>
          <p:spPr>
            <a:xfrm>
              <a:off x="1227639" y="474583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6" name="Ellipse 386"/>
            <p:cNvSpPr/>
            <p:nvPr/>
          </p:nvSpPr>
          <p:spPr>
            <a:xfrm>
              <a:off x="1654616" y="509625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7" name="Ellipse 387"/>
            <p:cNvSpPr/>
            <p:nvPr/>
          </p:nvSpPr>
          <p:spPr>
            <a:xfrm>
              <a:off x="1799930" y="48394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8" name="Ellipse 388"/>
            <p:cNvSpPr/>
            <p:nvPr/>
          </p:nvSpPr>
          <p:spPr>
            <a:xfrm>
              <a:off x="2207562" y="532228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9" name="Ellipse 389"/>
            <p:cNvSpPr/>
            <p:nvPr/>
          </p:nvSpPr>
          <p:spPr>
            <a:xfrm>
              <a:off x="1620469" y="473833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0" name="Ellipse 390"/>
            <p:cNvSpPr/>
            <p:nvPr/>
          </p:nvSpPr>
          <p:spPr>
            <a:xfrm>
              <a:off x="2913640" y="545711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1" name="Ellipse 391"/>
            <p:cNvSpPr/>
            <p:nvPr/>
          </p:nvSpPr>
          <p:spPr>
            <a:xfrm>
              <a:off x="3764280" y="563970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2" name="Ellipse 392"/>
            <p:cNvSpPr/>
            <p:nvPr/>
          </p:nvSpPr>
          <p:spPr>
            <a:xfrm>
              <a:off x="1567910" y="491893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3" name="TextBox 393"/>
            <p:cNvSpPr txBox="1"/>
            <p:nvPr/>
          </p:nvSpPr>
          <p:spPr>
            <a:xfrm>
              <a:off x="718756" y="6062901"/>
              <a:ext cx="148552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下降趋势明显，ρ 取负值</a:t>
              </a:r>
            </a:p>
          </p:txBody>
        </p:sp>
      </p:grpSp>
      <p:grpSp>
        <p:nvGrpSpPr>
          <p:cNvPr id="461" name="rhoE"/>
          <p:cNvGrpSpPr/>
          <p:nvPr/>
        </p:nvGrpSpPr>
        <p:grpSpPr>
          <a:xfrm>
            <a:off x="4286250" y="4019550"/>
            <a:ext cx="3600450" cy="2343150"/>
            <a:chOff x="4286250" y="4019550"/>
            <a:chExt cx="3600450" cy="2343150"/>
          </a:xfrm>
        </p:grpSpPr>
        <p:sp>
          <p:nvSpPr>
            <p:cNvPr id="395" name="Rectangle 395"/>
            <p:cNvSpPr/>
            <p:nvPr/>
          </p:nvSpPr>
          <p:spPr>
            <a:xfrm>
              <a:off x="4286250" y="401955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6" name="TextBox 396"/>
            <p:cNvSpPr txBox="1"/>
            <p:nvPr/>
          </p:nvSpPr>
          <p:spPr>
            <a:xfrm>
              <a:off x="4470464" y="4143137"/>
              <a:ext cx="131490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ρ = 0，而 Y = X²</a:t>
              </a:r>
            </a:p>
          </p:txBody>
        </p:sp>
        <p:sp>
          <p:nvSpPr>
            <p:cNvPr id="397" name="Rectangle 397"/>
            <p:cNvSpPr/>
            <p:nvPr/>
          </p:nvSpPr>
          <p:spPr>
            <a:xfrm>
              <a:off x="4495800" y="4400550"/>
              <a:ext cx="318135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D9DFEA"/>
              </a:solidFill>
            </a:ln>
          </p:spPr>
        </p:sp>
        <p:sp>
          <p:nvSpPr>
            <p:cNvPr id="398" name="Line 398"/>
            <p:cNvSpPr/>
            <p:nvPr/>
          </p:nvSpPr>
          <p:spPr>
            <a:xfrm>
              <a:off x="4572000" y="51625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399" name="Line 399"/>
            <p:cNvSpPr/>
            <p:nvPr/>
          </p:nvSpPr>
          <p:spPr>
            <a:xfrm>
              <a:off x="6086475" y="447675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400" name="Ellipse 400"/>
            <p:cNvSpPr/>
            <p:nvPr/>
          </p:nvSpPr>
          <p:spPr>
            <a:xfrm>
              <a:off x="4602480" y="44881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1" name="Ellipse 401"/>
            <p:cNvSpPr/>
            <p:nvPr/>
          </p:nvSpPr>
          <p:spPr>
            <a:xfrm>
              <a:off x="4651877" y="455404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2" name="Ellipse 402"/>
            <p:cNvSpPr/>
            <p:nvPr/>
          </p:nvSpPr>
          <p:spPr>
            <a:xfrm>
              <a:off x="4701283" y="461764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3" name="Ellipse 403"/>
            <p:cNvSpPr/>
            <p:nvPr/>
          </p:nvSpPr>
          <p:spPr>
            <a:xfrm>
              <a:off x="4750679" y="467896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4" name="Ellipse 404"/>
            <p:cNvSpPr/>
            <p:nvPr/>
          </p:nvSpPr>
          <p:spPr>
            <a:xfrm>
              <a:off x="4800086" y="473802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5" name="Ellipse 405"/>
            <p:cNvSpPr/>
            <p:nvPr/>
          </p:nvSpPr>
          <p:spPr>
            <a:xfrm>
              <a:off x="4849482" y="479480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6" name="Ellipse 406"/>
            <p:cNvSpPr/>
            <p:nvPr/>
          </p:nvSpPr>
          <p:spPr>
            <a:xfrm>
              <a:off x="4898888" y="484932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7" name="Ellipse 407"/>
            <p:cNvSpPr/>
            <p:nvPr/>
          </p:nvSpPr>
          <p:spPr>
            <a:xfrm>
              <a:off x="4948285" y="49015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8" name="Ellipse 408"/>
            <p:cNvSpPr/>
            <p:nvPr/>
          </p:nvSpPr>
          <p:spPr>
            <a:xfrm>
              <a:off x="4997691" y="495152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9" name="Ellipse 409"/>
            <p:cNvSpPr/>
            <p:nvPr/>
          </p:nvSpPr>
          <p:spPr>
            <a:xfrm>
              <a:off x="5047088" y="49992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0" name="Ellipse 410"/>
            <p:cNvSpPr/>
            <p:nvPr/>
          </p:nvSpPr>
          <p:spPr>
            <a:xfrm>
              <a:off x="5096485" y="50446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1" name="Ellipse 411"/>
            <p:cNvSpPr/>
            <p:nvPr/>
          </p:nvSpPr>
          <p:spPr>
            <a:xfrm>
              <a:off x="5145891" y="508780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2" name="Ellipse 412"/>
            <p:cNvSpPr/>
            <p:nvPr/>
          </p:nvSpPr>
          <p:spPr>
            <a:xfrm>
              <a:off x="5195287" y="512868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3" name="Ellipse 413"/>
            <p:cNvSpPr/>
            <p:nvPr/>
          </p:nvSpPr>
          <p:spPr>
            <a:xfrm>
              <a:off x="5244694" y="516730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4" name="Ellipse 414"/>
            <p:cNvSpPr/>
            <p:nvPr/>
          </p:nvSpPr>
          <p:spPr>
            <a:xfrm>
              <a:off x="5294090" y="52036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5" name="Ellipse 415"/>
            <p:cNvSpPr/>
            <p:nvPr/>
          </p:nvSpPr>
          <p:spPr>
            <a:xfrm>
              <a:off x="5343496" y="523771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6" name="Ellipse 416"/>
            <p:cNvSpPr/>
            <p:nvPr/>
          </p:nvSpPr>
          <p:spPr>
            <a:xfrm>
              <a:off x="5392893" y="526950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7" name="Ellipse 417"/>
            <p:cNvSpPr/>
            <p:nvPr/>
          </p:nvSpPr>
          <p:spPr>
            <a:xfrm>
              <a:off x="5442290" y="529903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8" name="Ellipse 418"/>
            <p:cNvSpPr/>
            <p:nvPr/>
          </p:nvSpPr>
          <p:spPr>
            <a:xfrm>
              <a:off x="5491696" y="532629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9" name="Ellipse 419"/>
            <p:cNvSpPr/>
            <p:nvPr/>
          </p:nvSpPr>
          <p:spPr>
            <a:xfrm>
              <a:off x="5541093" y="535127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0" name="Ellipse 420"/>
            <p:cNvSpPr/>
            <p:nvPr/>
          </p:nvSpPr>
          <p:spPr>
            <a:xfrm>
              <a:off x="5590499" y="537398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1" name="Ellipse 421"/>
            <p:cNvSpPr/>
            <p:nvPr/>
          </p:nvSpPr>
          <p:spPr>
            <a:xfrm>
              <a:off x="5639895" y="539442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2" name="Ellipse 422"/>
            <p:cNvSpPr/>
            <p:nvPr/>
          </p:nvSpPr>
          <p:spPr>
            <a:xfrm>
              <a:off x="5689302" y="54126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3" name="Ellipse 423"/>
            <p:cNvSpPr/>
            <p:nvPr/>
          </p:nvSpPr>
          <p:spPr>
            <a:xfrm>
              <a:off x="5738698" y="542849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4" name="Ellipse 424"/>
            <p:cNvSpPr/>
            <p:nvPr/>
          </p:nvSpPr>
          <p:spPr>
            <a:xfrm>
              <a:off x="5788104" y="544212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5" name="Ellipse 425"/>
            <p:cNvSpPr/>
            <p:nvPr/>
          </p:nvSpPr>
          <p:spPr>
            <a:xfrm>
              <a:off x="5837501" y="545348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6" name="Ellipse 426"/>
            <p:cNvSpPr/>
            <p:nvPr/>
          </p:nvSpPr>
          <p:spPr>
            <a:xfrm>
              <a:off x="5886898" y="546256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7" name="Ellipse 427"/>
            <p:cNvSpPr/>
            <p:nvPr/>
          </p:nvSpPr>
          <p:spPr>
            <a:xfrm>
              <a:off x="5936304" y="546937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8" name="Ellipse 428"/>
            <p:cNvSpPr/>
            <p:nvPr/>
          </p:nvSpPr>
          <p:spPr>
            <a:xfrm>
              <a:off x="5985701" y="54739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9" name="Ellipse 429"/>
            <p:cNvSpPr/>
            <p:nvPr/>
          </p:nvSpPr>
          <p:spPr>
            <a:xfrm>
              <a:off x="6035107" y="547619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0" name="Ellipse 430"/>
            <p:cNvSpPr/>
            <p:nvPr/>
          </p:nvSpPr>
          <p:spPr>
            <a:xfrm>
              <a:off x="6084503" y="547619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1" name="Ellipse 431"/>
            <p:cNvSpPr/>
            <p:nvPr/>
          </p:nvSpPr>
          <p:spPr>
            <a:xfrm>
              <a:off x="6133910" y="54739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2" name="Ellipse 432"/>
            <p:cNvSpPr/>
            <p:nvPr/>
          </p:nvSpPr>
          <p:spPr>
            <a:xfrm>
              <a:off x="6183306" y="546937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3" name="Ellipse 433"/>
            <p:cNvSpPr/>
            <p:nvPr/>
          </p:nvSpPr>
          <p:spPr>
            <a:xfrm>
              <a:off x="6232712" y="546256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4" name="Ellipse 434"/>
            <p:cNvSpPr/>
            <p:nvPr/>
          </p:nvSpPr>
          <p:spPr>
            <a:xfrm>
              <a:off x="6282109" y="545348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5" name="Ellipse 435"/>
            <p:cNvSpPr/>
            <p:nvPr/>
          </p:nvSpPr>
          <p:spPr>
            <a:xfrm>
              <a:off x="6331506" y="544212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6" name="Ellipse 436"/>
            <p:cNvSpPr/>
            <p:nvPr/>
          </p:nvSpPr>
          <p:spPr>
            <a:xfrm>
              <a:off x="6380912" y="542849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7" name="Ellipse 437"/>
            <p:cNvSpPr/>
            <p:nvPr/>
          </p:nvSpPr>
          <p:spPr>
            <a:xfrm>
              <a:off x="6430308" y="54126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8" name="Ellipse 438"/>
            <p:cNvSpPr/>
            <p:nvPr/>
          </p:nvSpPr>
          <p:spPr>
            <a:xfrm>
              <a:off x="6479715" y="539442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9" name="Ellipse 439"/>
            <p:cNvSpPr/>
            <p:nvPr/>
          </p:nvSpPr>
          <p:spPr>
            <a:xfrm>
              <a:off x="6529111" y="537398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0" name="Ellipse 440"/>
            <p:cNvSpPr/>
            <p:nvPr/>
          </p:nvSpPr>
          <p:spPr>
            <a:xfrm>
              <a:off x="6578517" y="535127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1" name="Ellipse 441"/>
            <p:cNvSpPr/>
            <p:nvPr/>
          </p:nvSpPr>
          <p:spPr>
            <a:xfrm>
              <a:off x="6627914" y="532629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2" name="Ellipse 442"/>
            <p:cNvSpPr/>
            <p:nvPr/>
          </p:nvSpPr>
          <p:spPr>
            <a:xfrm>
              <a:off x="6677320" y="529903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3" name="Ellipse 443"/>
            <p:cNvSpPr/>
            <p:nvPr/>
          </p:nvSpPr>
          <p:spPr>
            <a:xfrm>
              <a:off x="6726717" y="526950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4" name="Ellipse 444"/>
            <p:cNvSpPr/>
            <p:nvPr/>
          </p:nvSpPr>
          <p:spPr>
            <a:xfrm>
              <a:off x="6776114" y="523771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5" name="Ellipse 445"/>
            <p:cNvSpPr/>
            <p:nvPr/>
          </p:nvSpPr>
          <p:spPr>
            <a:xfrm>
              <a:off x="6825520" y="52036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6" name="Ellipse 446"/>
            <p:cNvSpPr/>
            <p:nvPr/>
          </p:nvSpPr>
          <p:spPr>
            <a:xfrm>
              <a:off x="6874916" y="516730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7" name="Ellipse 447"/>
            <p:cNvSpPr/>
            <p:nvPr/>
          </p:nvSpPr>
          <p:spPr>
            <a:xfrm>
              <a:off x="6924323" y="512868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8" name="Ellipse 448"/>
            <p:cNvSpPr/>
            <p:nvPr/>
          </p:nvSpPr>
          <p:spPr>
            <a:xfrm>
              <a:off x="6973719" y="508780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9" name="Ellipse 449"/>
            <p:cNvSpPr/>
            <p:nvPr/>
          </p:nvSpPr>
          <p:spPr>
            <a:xfrm>
              <a:off x="7023125" y="50446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0" name="Ellipse 450"/>
            <p:cNvSpPr/>
            <p:nvPr/>
          </p:nvSpPr>
          <p:spPr>
            <a:xfrm>
              <a:off x="7072522" y="49992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1" name="Ellipse 451"/>
            <p:cNvSpPr/>
            <p:nvPr/>
          </p:nvSpPr>
          <p:spPr>
            <a:xfrm>
              <a:off x="7121919" y="495152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2" name="Ellipse 452"/>
            <p:cNvSpPr/>
            <p:nvPr/>
          </p:nvSpPr>
          <p:spPr>
            <a:xfrm>
              <a:off x="7171325" y="49015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3" name="Ellipse 453"/>
            <p:cNvSpPr/>
            <p:nvPr/>
          </p:nvSpPr>
          <p:spPr>
            <a:xfrm>
              <a:off x="7220722" y="484932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4" name="Ellipse 454"/>
            <p:cNvSpPr/>
            <p:nvPr/>
          </p:nvSpPr>
          <p:spPr>
            <a:xfrm>
              <a:off x="7270128" y="479480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5" name="Ellipse 455"/>
            <p:cNvSpPr/>
            <p:nvPr/>
          </p:nvSpPr>
          <p:spPr>
            <a:xfrm>
              <a:off x="7319524" y="473802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6" name="Ellipse 456"/>
            <p:cNvSpPr/>
            <p:nvPr/>
          </p:nvSpPr>
          <p:spPr>
            <a:xfrm>
              <a:off x="7368931" y="467896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7" name="Ellipse 457"/>
            <p:cNvSpPr/>
            <p:nvPr/>
          </p:nvSpPr>
          <p:spPr>
            <a:xfrm>
              <a:off x="7418327" y="461764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8" name="Ellipse 458"/>
            <p:cNvSpPr/>
            <p:nvPr/>
          </p:nvSpPr>
          <p:spPr>
            <a:xfrm>
              <a:off x="7467733" y="455404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9" name="Ellipse 459"/>
            <p:cNvSpPr/>
            <p:nvPr/>
          </p:nvSpPr>
          <p:spPr>
            <a:xfrm>
              <a:off x="7517130" y="44881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0" name="TextBox 460"/>
            <p:cNvSpPr txBox="1"/>
            <p:nvPr/>
          </p:nvSpPr>
          <p:spPr>
            <a:xfrm>
              <a:off x="4471606" y="6062901"/>
              <a:ext cx="161648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完全由 X 决定，ρ 仍是 0</a:t>
              </a:r>
            </a:p>
          </p:txBody>
        </p:sp>
      </p:grpSp>
      <p:grpSp>
        <p:nvGrpSpPr>
          <p:cNvPr id="578" name="rhoF"/>
          <p:cNvGrpSpPr/>
          <p:nvPr/>
        </p:nvGrpSpPr>
        <p:grpSpPr>
          <a:xfrm>
            <a:off x="8039100" y="4019550"/>
            <a:ext cx="3600450" cy="2343150"/>
            <a:chOff x="8039100" y="4019550"/>
            <a:chExt cx="3600450" cy="2343150"/>
          </a:xfrm>
        </p:grpSpPr>
        <p:sp>
          <p:nvSpPr>
            <p:cNvPr id="462" name="Rectangle 462"/>
            <p:cNvSpPr/>
            <p:nvPr/>
          </p:nvSpPr>
          <p:spPr>
            <a:xfrm>
              <a:off x="8039100" y="4019550"/>
              <a:ext cx="3600450" cy="2343150"/>
            </a:xfrm>
            <a:prstGeom prst="roundRect">
              <a:avLst>
                <a:gd name="adj" fmla="val 487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3" name="TextBox 463"/>
            <p:cNvSpPr txBox="1"/>
            <p:nvPr/>
          </p:nvSpPr>
          <p:spPr>
            <a:xfrm>
              <a:off x="8223314" y="4143137"/>
              <a:ext cx="140851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ρ ≈ 0，圆盘内均匀</a:t>
              </a:r>
            </a:p>
          </p:txBody>
        </p:sp>
        <p:sp>
          <p:nvSpPr>
            <p:cNvPr id="464" name="Rectangle 464"/>
            <p:cNvSpPr/>
            <p:nvPr/>
          </p:nvSpPr>
          <p:spPr>
            <a:xfrm>
              <a:off x="8248650" y="4400550"/>
              <a:ext cx="318135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D9DFEA"/>
              </a:solidFill>
            </a:ln>
          </p:spPr>
        </p:sp>
        <p:sp>
          <p:nvSpPr>
            <p:cNvPr id="465" name="Line 465"/>
            <p:cNvSpPr/>
            <p:nvPr/>
          </p:nvSpPr>
          <p:spPr>
            <a:xfrm>
              <a:off x="8324850" y="51625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466" name="Line 466"/>
            <p:cNvSpPr/>
            <p:nvPr/>
          </p:nvSpPr>
          <p:spPr>
            <a:xfrm>
              <a:off x="9839325" y="447675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>
              <a:solidFill>
                <a:srgbClr val="D9DFEA"/>
              </a:solidFill>
              <a:prstDash val="dash"/>
            </a:ln>
          </p:spPr>
        </p:sp>
        <p:sp>
          <p:nvSpPr>
            <p:cNvPr id="467" name="Ellipse 467"/>
            <p:cNvSpPr/>
            <p:nvPr/>
          </p:nvSpPr>
          <p:spPr>
            <a:xfrm>
              <a:off x="9378629" y="489005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8" name="Ellipse 468"/>
            <p:cNvSpPr/>
            <p:nvPr/>
          </p:nvSpPr>
          <p:spPr>
            <a:xfrm>
              <a:off x="9987534" y="51629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9" name="Ellipse 469"/>
            <p:cNvSpPr/>
            <p:nvPr/>
          </p:nvSpPr>
          <p:spPr>
            <a:xfrm>
              <a:off x="9444780" y="47568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0" name="Ellipse 470"/>
            <p:cNvSpPr/>
            <p:nvPr/>
          </p:nvSpPr>
          <p:spPr>
            <a:xfrm>
              <a:off x="10211467" y="511974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1" name="Ellipse 471"/>
            <p:cNvSpPr/>
            <p:nvPr/>
          </p:nvSpPr>
          <p:spPr>
            <a:xfrm>
              <a:off x="9819227" y="547778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2" name="Ellipse 472"/>
            <p:cNvSpPr/>
            <p:nvPr/>
          </p:nvSpPr>
          <p:spPr>
            <a:xfrm>
              <a:off x="9923240" y="56938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3" name="Ellipse 473"/>
            <p:cNvSpPr/>
            <p:nvPr/>
          </p:nvSpPr>
          <p:spPr>
            <a:xfrm>
              <a:off x="10193179" y="548272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4" name="Ellipse 474"/>
            <p:cNvSpPr/>
            <p:nvPr/>
          </p:nvSpPr>
          <p:spPr>
            <a:xfrm>
              <a:off x="10298525" y="498575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5" name="Ellipse 475"/>
            <p:cNvSpPr/>
            <p:nvPr/>
          </p:nvSpPr>
          <p:spPr>
            <a:xfrm>
              <a:off x="9209094" y="535748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6" name="Ellipse 476"/>
            <p:cNvSpPr/>
            <p:nvPr/>
          </p:nvSpPr>
          <p:spPr>
            <a:xfrm>
              <a:off x="9809512" y="563356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7" name="Ellipse 477"/>
            <p:cNvSpPr/>
            <p:nvPr/>
          </p:nvSpPr>
          <p:spPr>
            <a:xfrm>
              <a:off x="10398157" y="530629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8" name="Ellipse 478"/>
            <p:cNvSpPr/>
            <p:nvPr/>
          </p:nvSpPr>
          <p:spPr>
            <a:xfrm>
              <a:off x="9365504" y="472458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9" name="Ellipse 479"/>
            <p:cNvSpPr/>
            <p:nvPr/>
          </p:nvSpPr>
          <p:spPr>
            <a:xfrm>
              <a:off x="9751981" y="506851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0" name="Ellipse 480"/>
            <p:cNvSpPr/>
            <p:nvPr/>
          </p:nvSpPr>
          <p:spPr>
            <a:xfrm>
              <a:off x="9609201" y="515569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1" name="Ellipse 481"/>
            <p:cNvSpPr/>
            <p:nvPr/>
          </p:nvSpPr>
          <p:spPr>
            <a:xfrm>
              <a:off x="10286619" y="547933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2" name="Ellipse 482"/>
            <p:cNvSpPr/>
            <p:nvPr/>
          </p:nvSpPr>
          <p:spPr>
            <a:xfrm>
              <a:off x="10175748" y="551341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3" name="Ellipse 483"/>
            <p:cNvSpPr/>
            <p:nvPr/>
          </p:nvSpPr>
          <p:spPr>
            <a:xfrm>
              <a:off x="10142696" y="479545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4" name="Ellipse 484"/>
            <p:cNvSpPr/>
            <p:nvPr/>
          </p:nvSpPr>
          <p:spPr>
            <a:xfrm>
              <a:off x="9917240" y="483825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5" name="Ellipse 485"/>
            <p:cNvSpPr/>
            <p:nvPr/>
          </p:nvSpPr>
          <p:spPr>
            <a:xfrm>
              <a:off x="9323613" y="516655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6" name="Ellipse 486"/>
            <p:cNvSpPr/>
            <p:nvPr/>
          </p:nvSpPr>
          <p:spPr>
            <a:xfrm>
              <a:off x="10236232" y="552310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7" name="Ellipse 487"/>
            <p:cNvSpPr/>
            <p:nvPr/>
          </p:nvSpPr>
          <p:spPr>
            <a:xfrm>
              <a:off x="9695593" y="531047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8" name="Ellipse 488"/>
            <p:cNvSpPr/>
            <p:nvPr/>
          </p:nvSpPr>
          <p:spPr>
            <a:xfrm>
              <a:off x="9749600" y="52838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9" name="Ellipse 489"/>
            <p:cNvSpPr/>
            <p:nvPr/>
          </p:nvSpPr>
          <p:spPr>
            <a:xfrm>
              <a:off x="9807512" y="514684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0" name="Ellipse 490"/>
            <p:cNvSpPr/>
            <p:nvPr/>
          </p:nvSpPr>
          <p:spPr>
            <a:xfrm>
              <a:off x="9877996" y="481439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1" name="Ellipse 491"/>
            <p:cNvSpPr/>
            <p:nvPr/>
          </p:nvSpPr>
          <p:spPr>
            <a:xfrm>
              <a:off x="9452572" y="499480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2" name="Ellipse 492"/>
            <p:cNvSpPr/>
            <p:nvPr/>
          </p:nvSpPr>
          <p:spPr>
            <a:xfrm>
              <a:off x="9885807" y="497703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3" name="Ellipse 493"/>
            <p:cNvSpPr/>
            <p:nvPr/>
          </p:nvSpPr>
          <p:spPr>
            <a:xfrm>
              <a:off x="9399003" y="556324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4" name="Ellipse 494"/>
            <p:cNvSpPr/>
            <p:nvPr/>
          </p:nvSpPr>
          <p:spPr>
            <a:xfrm>
              <a:off x="9616059" y="458264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5" name="Ellipse 495"/>
            <p:cNvSpPr/>
            <p:nvPr/>
          </p:nvSpPr>
          <p:spPr>
            <a:xfrm>
              <a:off x="9613964" y="500992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6" name="Ellipse 496"/>
            <p:cNvSpPr/>
            <p:nvPr/>
          </p:nvSpPr>
          <p:spPr>
            <a:xfrm>
              <a:off x="9562148" y="564980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7" name="Ellipse 497"/>
            <p:cNvSpPr/>
            <p:nvPr/>
          </p:nvSpPr>
          <p:spPr>
            <a:xfrm>
              <a:off x="10171462" y="529796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8" name="Ellipse 498"/>
            <p:cNvSpPr/>
            <p:nvPr/>
          </p:nvSpPr>
          <p:spPr>
            <a:xfrm>
              <a:off x="10050209" y="490801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9" name="Ellipse 499"/>
            <p:cNvSpPr/>
            <p:nvPr/>
          </p:nvSpPr>
          <p:spPr>
            <a:xfrm>
              <a:off x="9692164" y="450228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0" name="Ellipse 500"/>
            <p:cNvSpPr/>
            <p:nvPr/>
          </p:nvSpPr>
          <p:spPr>
            <a:xfrm>
              <a:off x="10410349" y="50186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1" name="Ellipse 501"/>
            <p:cNvSpPr/>
            <p:nvPr/>
          </p:nvSpPr>
          <p:spPr>
            <a:xfrm>
              <a:off x="10309003" y="514765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2" name="Ellipse 502"/>
            <p:cNvSpPr/>
            <p:nvPr/>
          </p:nvSpPr>
          <p:spPr>
            <a:xfrm>
              <a:off x="9651492" y="54633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3" name="Ellipse 503"/>
            <p:cNvSpPr/>
            <p:nvPr/>
          </p:nvSpPr>
          <p:spPr>
            <a:xfrm>
              <a:off x="10167461" y="515767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4" name="Ellipse 504"/>
            <p:cNvSpPr/>
            <p:nvPr/>
          </p:nvSpPr>
          <p:spPr>
            <a:xfrm>
              <a:off x="9499092" y="540807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5" name="Ellipse 505"/>
            <p:cNvSpPr/>
            <p:nvPr/>
          </p:nvSpPr>
          <p:spPr>
            <a:xfrm>
              <a:off x="9708452" y="556254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6" name="Ellipse 506"/>
            <p:cNvSpPr/>
            <p:nvPr/>
          </p:nvSpPr>
          <p:spPr>
            <a:xfrm>
              <a:off x="9254919" y="534563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7" name="Ellipse 507"/>
            <p:cNvSpPr/>
            <p:nvPr/>
          </p:nvSpPr>
          <p:spPr>
            <a:xfrm>
              <a:off x="10131171" y="51631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8" name="Ellipse 508"/>
            <p:cNvSpPr/>
            <p:nvPr/>
          </p:nvSpPr>
          <p:spPr>
            <a:xfrm>
              <a:off x="9845897" y="483973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9" name="Ellipse 509"/>
            <p:cNvSpPr/>
            <p:nvPr/>
          </p:nvSpPr>
          <p:spPr>
            <a:xfrm>
              <a:off x="10250805" y="475345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0" name="Ellipse 510"/>
            <p:cNvSpPr/>
            <p:nvPr/>
          </p:nvSpPr>
          <p:spPr>
            <a:xfrm>
              <a:off x="10306812" y="500458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1" name="Ellipse 511"/>
            <p:cNvSpPr/>
            <p:nvPr/>
          </p:nvSpPr>
          <p:spPr>
            <a:xfrm>
              <a:off x="9716929" y="503077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2" name="Ellipse 512"/>
            <p:cNvSpPr/>
            <p:nvPr/>
          </p:nvSpPr>
          <p:spPr>
            <a:xfrm>
              <a:off x="10265188" y="53846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3" name="Ellipse 513"/>
            <p:cNvSpPr/>
            <p:nvPr/>
          </p:nvSpPr>
          <p:spPr>
            <a:xfrm>
              <a:off x="9857137" y="542606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4" name="Ellipse 514"/>
            <p:cNvSpPr/>
            <p:nvPr/>
          </p:nvSpPr>
          <p:spPr>
            <a:xfrm>
              <a:off x="10052685" y="45477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5" name="Ellipse 515"/>
            <p:cNvSpPr/>
            <p:nvPr/>
          </p:nvSpPr>
          <p:spPr>
            <a:xfrm>
              <a:off x="9195397" y="50145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6" name="Ellipse 516"/>
            <p:cNvSpPr/>
            <p:nvPr/>
          </p:nvSpPr>
          <p:spPr>
            <a:xfrm>
              <a:off x="9998964" y="468030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7" name="Ellipse 517"/>
            <p:cNvSpPr/>
            <p:nvPr/>
          </p:nvSpPr>
          <p:spPr>
            <a:xfrm>
              <a:off x="9921907" y="545040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8" name="Ellipse 518"/>
            <p:cNvSpPr/>
            <p:nvPr/>
          </p:nvSpPr>
          <p:spPr>
            <a:xfrm>
              <a:off x="9690354" y="454166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9" name="Ellipse 519"/>
            <p:cNvSpPr/>
            <p:nvPr/>
          </p:nvSpPr>
          <p:spPr>
            <a:xfrm>
              <a:off x="9197750" y="520472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0" name="Ellipse 520"/>
            <p:cNvSpPr/>
            <p:nvPr/>
          </p:nvSpPr>
          <p:spPr>
            <a:xfrm>
              <a:off x="10013823" y="561967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1" name="Ellipse 521"/>
            <p:cNvSpPr/>
            <p:nvPr/>
          </p:nvSpPr>
          <p:spPr>
            <a:xfrm>
              <a:off x="9862756" y="536350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2" name="Ellipse 522"/>
            <p:cNvSpPr/>
            <p:nvPr/>
          </p:nvSpPr>
          <p:spPr>
            <a:xfrm>
              <a:off x="9804749" y="54990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3" name="Ellipse 523"/>
            <p:cNvSpPr/>
            <p:nvPr/>
          </p:nvSpPr>
          <p:spPr>
            <a:xfrm>
              <a:off x="9380096" y="554530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4" name="Ellipse 524"/>
            <p:cNvSpPr/>
            <p:nvPr/>
          </p:nvSpPr>
          <p:spPr>
            <a:xfrm>
              <a:off x="9654350" y="486387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5" name="Ellipse 525"/>
            <p:cNvSpPr/>
            <p:nvPr/>
          </p:nvSpPr>
          <p:spPr>
            <a:xfrm>
              <a:off x="9877425" y="572375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6" name="Ellipse 526"/>
            <p:cNvSpPr/>
            <p:nvPr/>
          </p:nvSpPr>
          <p:spPr>
            <a:xfrm>
              <a:off x="10085832" y="465157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7" name="Ellipse 527"/>
            <p:cNvSpPr/>
            <p:nvPr/>
          </p:nvSpPr>
          <p:spPr>
            <a:xfrm>
              <a:off x="10167938" y="475927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8" name="Ellipse 528"/>
            <p:cNvSpPr/>
            <p:nvPr/>
          </p:nvSpPr>
          <p:spPr>
            <a:xfrm>
              <a:off x="9175090" y="518266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9" name="Ellipse 529"/>
            <p:cNvSpPr/>
            <p:nvPr/>
          </p:nvSpPr>
          <p:spPr>
            <a:xfrm>
              <a:off x="9392031" y="486192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0" name="Ellipse 530"/>
            <p:cNvSpPr/>
            <p:nvPr/>
          </p:nvSpPr>
          <p:spPr>
            <a:xfrm>
              <a:off x="9492567" y="488102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1" name="Ellipse 531"/>
            <p:cNvSpPr/>
            <p:nvPr/>
          </p:nvSpPr>
          <p:spPr>
            <a:xfrm>
              <a:off x="9571196" y="572928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2" name="Ellipse 532"/>
            <p:cNvSpPr/>
            <p:nvPr/>
          </p:nvSpPr>
          <p:spPr>
            <a:xfrm>
              <a:off x="9668732" y="538276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3" name="Ellipse 533"/>
            <p:cNvSpPr/>
            <p:nvPr/>
          </p:nvSpPr>
          <p:spPr>
            <a:xfrm>
              <a:off x="10331768" y="540139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4" name="Ellipse 534"/>
            <p:cNvSpPr/>
            <p:nvPr/>
          </p:nvSpPr>
          <p:spPr>
            <a:xfrm>
              <a:off x="9816656" y="507197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5" name="Ellipse 535"/>
            <p:cNvSpPr/>
            <p:nvPr/>
          </p:nvSpPr>
          <p:spPr>
            <a:xfrm>
              <a:off x="9943719" y="512524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6" name="Ellipse 536"/>
            <p:cNvSpPr/>
            <p:nvPr/>
          </p:nvSpPr>
          <p:spPr>
            <a:xfrm>
              <a:off x="9566720" y="487751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7" name="Ellipse 537"/>
            <p:cNvSpPr/>
            <p:nvPr/>
          </p:nvSpPr>
          <p:spPr>
            <a:xfrm>
              <a:off x="9846088" y="50572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8" name="Ellipse 538"/>
            <p:cNvSpPr/>
            <p:nvPr/>
          </p:nvSpPr>
          <p:spPr>
            <a:xfrm>
              <a:off x="10430351" y="53234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9" name="Ellipse 539"/>
            <p:cNvSpPr/>
            <p:nvPr/>
          </p:nvSpPr>
          <p:spPr>
            <a:xfrm>
              <a:off x="10149364" y="520316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0" name="Ellipse 540"/>
            <p:cNvSpPr/>
            <p:nvPr/>
          </p:nvSpPr>
          <p:spPr>
            <a:xfrm>
              <a:off x="9969913" y="575795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1" name="Ellipse 541"/>
            <p:cNvSpPr/>
            <p:nvPr/>
          </p:nvSpPr>
          <p:spPr>
            <a:xfrm>
              <a:off x="10000012" y="521018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2" name="Ellipse 542"/>
            <p:cNvSpPr/>
            <p:nvPr/>
          </p:nvSpPr>
          <p:spPr>
            <a:xfrm>
              <a:off x="9835229" y="527914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3" name="Ellipse 543"/>
            <p:cNvSpPr/>
            <p:nvPr/>
          </p:nvSpPr>
          <p:spPr>
            <a:xfrm>
              <a:off x="9685115" y="549148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4" name="Ellipse 544"/>
            <p:cNvSpPr/>
            <p:nvPr/>
          </p:nvSpPr>
          <p:spPr>
            <a:xfrm>
              <a:off x="9228201" y="522148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5" name="Ellipse 545"/>
            <p:cNvSpPr/>
            <p:nvPr/>
          </p:nvSpPr>
          <p:spPr>
            <a:xfrm>
              <a:off x="9484995" y="487139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6" name="Ellipse 546"/>
            <p:cNvSpPr/>
            <p:nvPr/>
          </p:nvSpPr>
          <p:spPr>
            <a:xfrm>
              <a:off x="10223659" y="484602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7" name="Ellipse 547"/>
            <p:cNvSpPr/>
            <p:nvPr/>
          </p:nvSpPr>
          <p:spPr>
            <a:xfrm>
              <a:off x="9755600" y="54773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8" name="Ellipse 548"/>
            <p:cNvSpPr/>
            <p:nvPr/>
          </p:nvSpPr>
          <p:spPr>
            <a:xfrm>
              <a:off x="9664256" y="515299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9" name="Ellipse 549"/>
            <p:cNvSpPr/>
            <p:nvPr/>
          </p:nvSpPr>
          <p:spPr>
            <a:xfrm>
              <a:off x="9983438" y="453594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0" name="Ellipse 550"/>
            <p:cNvSpPr/>
            <p:nvPr/>
          </p:nvSpPr>
          <p:spPr>
            <a:xfrm>
              <a:off x="9275588" y="516216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1" name="Ellipse 551"/>
            <p:cNvSpPr/>
            <p:nvPr/>
          </p:nvSpPr>
          <p:spPr>
            <a:xfrm>
              <a:off x="9802178" y="48545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2" name="Ellipse 552"/>
            <p:cNvSpPr/>
            <p:nvPr/>
          </p:nvSpPr>
          <p:spPr>
            <a:xfrm>
              <a:off x="10318528" y="477379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3" name="Ellipse 553"/>
            <p:cNvSpPr/>
            <p:nvPr/>
          </p:nvSpPr>
          <p:spPr>
            <a:xfrm>
              <a:off x="9976961" y="480099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4" name="Ellipse 554"/>
            <p:cNvSpPr/>
            <p:nvPr/>
          </p:nvSpPr>
          <p:spPr>
            <a:xfrm>
              <a:off x="10030301" y="4670955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5" name="Ellipse 555"/>
            <p:cNvSpPr/>
            <p:nvPr/>
          </p:nvSpPr>
          <p:spPr>
            <a:xfrm>
              <a:off x="10070497" y="489885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6" name="Ellipse 556"/>
            <p:cNvSpPr/>
            <p:nvPr/>
          </p:nvSpPr>
          <p:spPr>
            <a:xfrm>
              <a:off x="9482728" y="459611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7" name="Ellipse 557"/>
            <p:cNvSpPr/>
            <p:nvPr/>
          </p:nvSpPr>
          <p:spPr>
            <a:xfrm>
              <a:off x="9664922" y="4987280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8" name="Ellipse 558"/>
            <p:cNvSpPr/>
            <p:nvPr/>
          </p:nvSpPr>
          <p:spPr>
            <a:xfrm>
              <a:off x="9569958" y="537975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9" name="Ellipse 559"/>
            <p:cNvSpPr/>
            <p:nvPr/>
          </p:nvSpPr>
          <p:spPr>
            <a:xfrm>
              <a:off x="9671780" y="559520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0" name="Ellipse 560"/>
            <p:cNvSpPr/>
            <p:nvPr/>
          </p:nvSpPr>
          <p:spPr>
            <a:xfrm>
              <a:off x="9881616" y="568057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1" name="Ellipse 561"/>
            <p:cNvSpPr/>
            <p:nvPr/>
          </p:nvSpPr>
          <p:spPr>
            <a:xfrm>
              <a:off x="9556909" y="456134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2" name="Ellipse 562"/>
            <p:cNvSpPr/>
            <p:nvPr/>
          </p:nvSpPr>
          <p:spPr>
            <a:xfrm>
              <a:off x="10126599" y="518465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3" name="Ellipse 563"/>
            <p:cNvSpPr/>
            <p:nvPr/>
          </p:nvSpPr>
          <p:spPr>
            <a:xfrm>
              <a:off x="10076878" y="551696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4" name="Ellipse 564"/>
            <p:cNvSpPr/>
            <p:nvPr/>
          </p:nvSpPr>
          <p:spPr>
            <a:xfrm>
              <a:off x="9599295" y="495247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5" name="Ellipse 565"/>
            <p:cNvSpPr/>
            <p:nvPr/>
          </p:nvSpPr>
          <p:spPr>
            <a:xfrm>
              <a:off x="10047922" y="5445652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6" name="Ellipse 566"/>
            <p:cNvSpPr/>
            <p:nvPr/>
          </p:nvSpPr>
          <p:spPr>
            <a:xfrm>
              <a:off x="10397204" y="5366318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7" name="Ellipse 567"/>
            <p:cNvSpPr/>
            <p:nvPr/>
          </p:nvSpPr>
          <p:spPr>
            <a:xfrm>
              <a:off x="9494291" y="4688481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8" name="Ellipse 568"/>
            <p:cNvSpPr/>
            <p:nvPr/>
          </p:nvSpPr>
          <p:spPr>
            <a:xfrm>
              <a:off x="9363675" y="490120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9" name="Ellipse 569"/>
            <p:cNvSpPr/>
            <p:nvPr/>
          </p:nvSpPr>
          <p:spPr>
            <a:xfrm>
              <a:off x="9423883" y="5008969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0" name="Ellipse 570"/>
            <p:cNvSpPr/>
            <p:nvPr/>
          </p:nvSpPr>
          <p:spPr>
            <a:xfrm>
              <a:off x="9524333" y="52926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1" name="Ellipse 571"/>
            <p:cNvSpPr/>
            <p:nvPr/>
          </p:nvSpPr>
          <p:spPr>
            <a:xfrm>
              <a:off x="10383584" y="5178676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2" name="Ellipse 572"/>
            <p:cNvSpPr/>
            <p:nvPr/>
          </p:nvSpPr>
          <p:spPr>
            <a:xfrm>
              <a:off x="9730931" y="4984194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3" name="Ellipse 573"/>
            <p:cNvSpPr/>
            <p:nvPr/>
          </p:nvSpPr>
          <p:spPr>
            <a:xfrm>
              <a:off x="9528524" y="5557733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4" name="Ellipse 574"/>
            <p:cNvSpPr/>
            <p:nvPr/>
          </p:nvSpPr>
          <p:spPr>
            <a:xfrm>
              <a:off x="9663208" y="543070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5" name="Ellipse 575"/>
            <p:cNvSpPr/>
            <p:nvPr/>
          </p:nvSpPr>
          <p:spPr>
            <a:xfrm>
              <a:off x="10375868" y="487084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6" name="Ellipse 576"/>
            <p:cNvSpPr/>
            <p:nvPr/>
          </p:nvSpPr>
          <p:spPr>
            <a:xfrm>
              <a:off x="9189549" y="5134327"/>
              <a:ext cx="53340" cy="5334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7" name="TextBox 577"/>
            <p:cNvSpPr txBox="1"/>
            <p:nvPr/>
          </p:nvSpPr>
          <p:spPr>
            <a:xfrm>
              <a:off x="8224456" y="6062901"/>
              <a:ext cx="150591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不相关，却并不相互独立</a:t>
              </a:r>
            </a:p>
          </p:txBody>
        </p:sp>
      </p:grpSp>
      <p:grpSp>
        <p:nvGrpSpPr>
          <p:cNvPr id="5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9" name="TextBox 57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580" name="TextBox 5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例：二维正态里的参数 ρ 就是相关系数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107428" cy="264033"/>
            <a:chOff x="526542" y="1545907"/>
            <a:chExt cx="410742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107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(X, Y) ~ N(μ₁, μ₂, σ₁², σ₂², ρ)，求 ρ_XY。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842635" cy="3676650"/>
            <a:chOff x="533400" y="1928812"/>
            <a:chExt cx="5842635" cy="36766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676650"/>
            </a:xfrm>
            <a:prstGeom prst="roundRect">
              <a:avLst>
                <a:gd name="adj" fmla="val 362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752475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7892" y="2142649"/>
              <a:ext cx="585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例36 · 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8409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按定义写出协方差的二重积分 Cov(X, Y) = ∬(x − μ₁)(y − μ₂)f(x,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y)dxdy，再作换元把指数配方拆开：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33"/>
                <p:cNvSpPr txBox="1">
                  <a:spLocks noGrp="1"/>
                </p:cNvSpPr>
                <p:nvPr/>
              </p:nvSpPr>
              <p:spPr>
                <a:xfrm>
                  <a:off x="714375" y="2956560"/>
                  <a:ext cx="5480685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ρ</m:t>
                                    </m:r>
                                  </m:e>
                                  <m:sup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07898" y="3418999"/>
              <a:ext cx="5198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此时 dxdy = σ₁σ₂√(1 − ρ²)dudt，指数部分变成 −(u² + t²)/2，被积函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数分成含 tu 与含 u² 的两块：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534"/>
                <p:cNvSpPr txBox="1">
                  <a:spLocks noGrp="1"/>
                </p:cNvSpPr>
                <p:nvPr/>
              </p:nvSpPr>
              <p:spPr>
                <a:xfrm>
                  <a:off x="714375" y="3925252"/>
                  <a:ext cx="5480685" cy="5133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den>
                            </m:f>
                            <m:nary>
                              <m:naryPr>
                                <m:chr m:val="∬"/>
                                <m:limLoc m:val="subSup"/>
                                <m:grow m:val="off"/>
                                <m:subHide m:val="on"/>
                                <m:supHide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p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ρ</m:t>
                                            </m:r>
                                          </m:e>
                                          <m:sup>
                                            <m: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tu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ρ</m:t>
                                    </m:r>
                                    <m:sSup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p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u</m:t>
                                            </m:r>
                                          </m:e>
                                          <m:sup>
                                            <m: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sSup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t</m:t>
                                            </m:r>
                                          </m:e>
                                          <m:sup>
                                            <m: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nary>
                          </m:e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07898" y="4541044"/>
              <a:ext cx="5239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第一块关于 t 是奇函数，积分为 0；第二块等于 ρ 乘以两个标准正态的积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分与 E(u²) = 1。于是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535"/>
                <p:cNvSpPr txBox="1">
                  <a:spLocks noGrp="1"/>
                </p:cNvSpPr>
                <p:nvPr/>
              </p:nvSpPr>
              <p:spPr>
                <a:xfrm>
                  <a:off x="714375" y="5047298"/>
                  <a:ext cx="5480685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  <m: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2-card-1"/>
          <p:cNvGrpSpPr/>
          <p:nvPr/>
        </p:nvGrpSpPr>
        <p:grpSpPr>
          <a:xfrm>
            <a:off x="6680835" y="1928812"/>
            <a:ext cx="4977765" cy="1160145"/>
            <a:chOff x="6680835" y="1928812"/>
            <a:chExt cx="4977765" cy="1160145"/>
          </a:xfrm>
        </p:grpSpPr>
        <p:sp>
          <p:nvSpPr>
            <p:cNvPr id="19" name="Rectangle 19"/>
            <p:cNvSpPr/>
            <p:nvPr/>
          </p:nvSpPr>
          <p:spPr>
            <a:xfrm>
              <a:off x="6680835" y="1928812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6181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54482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8738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五个参数全部有了名字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55333" y="2465546"/>
              <a:ext cx="44427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μ₁、μ₂ 是两个期望，σ₁²、σ₂² 是两个方差，第五个参数 ρ 就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是相关系数。写出二维正态的记号，五个数字特征全部到手。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680835" y="3253740"/>
            <a:ext cx="4977765" cy="2350770"/>
            <a:chOff x="6680835" y="3253740"/>
            <a:chExt cx="4977765" cy="2350770"/>
          </a:xfrm>
        </p:grpSpPr>
        <p:sp>
          <p:nvSpPr>
            <p:cNvPr id="25" name="Rectangle 25"/>
            <p:cNvSpPr/>
            <p:nvPr/>
          </p:nvSpPr>
          <p:spPr>
            <a:xfrm>
              <a:off x="6680835" y="3253740"/>
              <a:ext cx="4977765" cy="2350770"/>
            </a:xfrm>
            <a:prstGeom prst="roundRect">
              <a:avLst>
                <a:gd name="adj" fmla="val 5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3387090"/>
              <a:ext cx="47625" cy="20840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99910" y="34347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85432" y="34675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重要推论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15441" y="347424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二维正态下，不相关等价于独立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93433" y="3791426"/>
              <a:ext cx="4328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0 时联合密度的指数部分不再有交叉项，密度正好分解成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两个一维正态密度之积，所以 X 与 Y 独立。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4576" y="4314825"/>
              <a:ext cx="4337876" cy="59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这是“不相关就能推出独立”最重要的一类分布（两个 (0−1) 变量也有这个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性质），一般分布不要照搬。已用数值积分复核 ρ = 0.5 与 ρ = −0.8 两组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9539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推论的前提是 (X, Y) 服从二维正态，不是 X 与 Y 各自服从一维正态。两个边缘都正态而联合不是二维正态的例子是存在的。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例：离散型的不相关，不等于独立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920584" cy="278702"/>
            <a:chOff x="526161" y="1547336"/>
            <a:chExt cx="792058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920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设二维随机变量 (X, Y) 的概率分布如下表，判断 1) X 与 Y 是否相关；2) X 与 Y 是否独立。</a:t>
              </a:r>
            </a:p>
          </p:txBody>
        </p:sp>
      </p:grpSp>
      <p:grpSp>
        <p:nvGrpSpPr>
          <p:cNvPr id="48" name="c1-table-1"/>
          <p:cNvGrpSpPr/>
          <p:nvPr/>
        </p:nvGrpSpPr>
        <p:grpSpPr>
          <a:xfrm>
            <a:off x="533400" y="1941195"/>
            <a:ext cx="4977765" cy="2028825"/>
            <a:chOff x="533400" y="1941195"/>
            <a:chExt cx="4977765" cy="20288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802" y="2065496"/>
              <a:ext cx="446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＼ 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08428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97796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4362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3175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24712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8788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73668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9500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4845" y="2356485"/>
              <a:ext cx="1025842" cy="386715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65332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7479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75272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28788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73668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19500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4845" y="2762250"/>
              <a:ext cx="1025842" cy="386715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65332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537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28788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73668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19500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74845" y="3168015"/>
              <a:ext cx="1025842" cy="386715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65332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559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56425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3688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28788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73668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19500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5332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941195"/>
              <a:ext cx="497776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62401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56889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514725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60558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allout-2"/>
          <p:cNvGrpSpPr/>
          <p:nvPr/>
        </p:nvGrpSpPr>
        <p:grpSpPr>
          <a:xfrm>
            <a:off x="533400" y="4145280"/>
            <a:ext cx="4977765" cy="1356360"/>
            <a:chOff x="533400" y="4145280"/>
            <a:chExt cx="4977765" cy="1356360"/>
          </a:xfrm>
        </p:grpSpPr>
        <p:sp>
          <p:nvSpPr>
            <p:cNvPr id="49" name="Rectangle 49"/>
            <p:cNvSpPr/>
            <p:nvPr/>
          </p:nvSpPr>
          <p:spPr>
            <a:xfrm>
              <a:off x="533400" y="4145280"/>
              <a:ext cx="4977765" cy="1356360"/>
            </a:xfrm>
            <a:prstGeom prst="roundRect">
              <a:avLst>
                <a:gd name="adj" fmla="val 842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4723448"/>
              <a:ext cx="200026" cy="200026"/>
              <a:chOff x="738188" y="4723448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47234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04863" y="48012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4480560"/>
              <a:ext cx="407708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行和、列和就是 X、Y 的边缘分布。结论：不相关而不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独立。中间那个 0 破坏了乘积关系，却没有破坏对称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性，所以协方差仍然是 0。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5815965" y="1941195"/>
            <a:ext cx="5842635" cy="3560445"/>
            <a:chOff x="5815965" y="1941195"/>
            <a:chExt cx="5842635" cy="3560445"/>
          </a:xfrm>
        </p:grpSpPr>
        <p:sp>
          <p:nvSpPr>
            <p:cNvPr id="55" name="Rectangle 55"/>
            <p:cNvSpPr/>
            <p:nvPr/>
          </p:nvSpPr>
          <p:spPr>
            <a:xfrm>
              <a:off x="5815965" y="1941195"/>
              <a:ext cx="5842635" cy="3560445"/>
            </a:xfrm>
            <a:prstGeom prst="roundRect">
              <a:avLst>
                <a:gd name="adj" fmla="val 37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08370" y="2133600"/>
              <a:ext cx="79152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90002" y="2167890"/>
              <a:ext cx="62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例37 · 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01512" y="249078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1) 边缘分布关于 0 对称，所以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formula548"/>
                <p:cNvSpPr txBox="1">
                  <a:spLocks noGrp="1"/>
                </p:cNvSpPr>
                <p:nvPr/>
              </p:nvSpPr>
              <p:spPr>
                <a:xfrm>
                  <a:off x="6008370" y="2770822"/>
                  <a:ext cx="545782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0" name="TextBox 60"/>
            <p:cNvSpPr txBox="1"/>
            <p:nvPr/>
          </p:nvSpPr>
          <p:spPr>
            <a:xfrm>
              <a:off x="6001512" y="3290888"/>
              <a:ext cx="48486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E(XY) 里只有四个角的 xy 不为 0，分别是 1、−1、−1、1，各乘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1/8：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formula549"/>
                <p:cNvSpPr txBox="1">
                  <a:spLocks noGrp="1"/>
                </p:cNvSpPr>
                <p:nvPr/>
              </p:nvSpPr>
              <p:spPr>
                <a:xfrm>
                  <a:off x="6008370" y="3829050"/>
                  <a:ext cx="5457825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2" name="TextBox 62"/>
            <p:cNvSpPr txBox="1"/>
            <p:nvPr/>
          </p:nvSpPr>
          <p:spPr>
            <a:xfrm>
              <a:off x="6001512" y="4323398"/>
              <a:ext cx="52607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 ρ_XY = 0，X 与 Y 不相关。2) 取左上角那一格检验独立性：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formula550"/>
                <p:cNvSpPr txBox="1">
                  <a:spLocks noGrp="1"/>
                </p:cNvSpPr>
                <p:nvPr/>
              </p:nvSpPr>
              <p:spPr>
                <a:xfrm>
                  <a:off x="6008370" y="4603432"/>
                  <a:ext cx="5457825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=−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64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4" name="TextBox 64"/>
            <p:cNvSpPr txBox="1"/>
            <p:nvPr/>
          </p:nvSpPr>
          <p:spPr>
            <a:xfrm>
              <a:off x="6001512" y="5098733"/>
              <a:ext cx="4235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1/8 = 8/64 不等于 9/64，所以 X 与 Y 不相互独立。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3610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判独立只需找到一格不满足乘积关系就能否定；判相关必须把三个期望都算出来。否定用一个反例，肯定要算全部。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例：单位圆内均匀分布，不相关但不独立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218895" cy="278702"/>
            <a:chOff x="526161" y="1547336"/>
            <a:chExt cx="621889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2188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(X, Y) 的联合概率密度为 f(x, y) = 1/π（x² + y² ≤ 1），其余为 0。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41195"/>
            <a:ext cx="5410200" cy="3711892"/>
            <a:chOff x="533400" y="1941195"/>
            <a:chExt cx="5410200" cy="37118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3711892"/>
            </a:xfrm>
            <a:prstGeom prst="roundRect">
              <a:avLst>
                <a:gd name="adj" fmla="val 359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11915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5435" y="2167890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例38 · 解（一）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3077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 D 为单位圆盘。用极坐标算 E(X)：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67"/>
                <p:cNvSpPr txBox="1">
                  <a:spLocks noGrp="1"/>
                </p:cNvSpPr>
                <p:nvPr/>
              </p:nvSpPr>
              <p:spPr>
                <a:xfrm>
                  <a:off x="725805" y="2770822"/>
                  <a:ext cx="502539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∬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den>
                        </m:f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func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18947" y="3279458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同理 E(Y) = 0。E(XY) 的被积函数含 cosθsinθ，在一个周期上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积分也是 0：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568"/>
                <p:cNvSpPr txBox="1">
                  <a:spLocks noGrp="1"/>
                </p:cNvSpPr>
                <p:nvPr/>
              </p:nvSpPr>
              <p:spPr>
                <a:xfrm>
                  <a:off x="725805" y="3817620"/>
                  <a:ext cx="502539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den>
                        </m:f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func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func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18947" y="43262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569"/>
                <p:cNvSpPr txBox="1">
                  <a:spLocks noGrp="1"/>
                </p:cNvSpPr>
                <p:nvPr/>
              </p:nvSpPr>
              <p:spPr>
                <a:xfrm>
                  <a:off x="725805" y="4606290"/>
                  <a:ext cx="502539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20090" y="5016341"/>
              <a:ext cx="4474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极坐标的面积元是 r drdθ，所以 x = rcosθ 带来 r²，xy 带来 r³。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941195"/>
            <a:ext cx="5410200" cy="2558415"/>
            <a:chOff x="6248400" y="1941195"/>
            <a:chExt cx="5410200" cy="2558415"/>
          </a:xfrm>
        </p:grpSpPr>
        <p:sp>
          <p:nvSpPr>
            <p:cNvPr id="20" name="Rectangle 20"/>
            <p:cNvSpPr/>
            <p:nvPr/>
          </p:nvSpPr>
          <p:spPr>
            <a:xfrm>
              <a:off x="6248400" y="1941195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40805" y="2133600"/>
              <a:ext cx="11915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10435" y="2167890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例38 · 解（二）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3947" y="2490788"/>
              <a:ext cx="3730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y 积分求边缘密度，积分限是 ±√(1 − x²)：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570"/>
                <p:cNvSpPr txBox="1">
                  <a:spLocks noGrp="1"/>
                </p:cNvSpPr>
                <p:nvPr/>
              </p:nvSpPr>
              <p:spPr>
                <a:xfrm>
                  <a:off x="6440805" y="2770822"/>
                  <a:ext cx="502539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den>
                            </m:f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433947" y="3279458"/>
              <a:ext cx="4000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由对称性 f_Y(y) = (2/π)√(1 − y²)（|y| ≤ 1）。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3947" y="3582352"/>
              <a:ext cx="46342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两者相乘是 4√((1 − x²)(1 − y²))/π²，与 f(x, y) = 1/π 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相等。例如在原点，f(0, 0) = 1/π ≈ 0.3183，而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f_X(0)f_Y(0) = (2/π)² ≈ 0.4053。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4674870"/>
            <a:ext cx="5410200" cy="978218"/>
            <a:chOff x="6248400" y="4674870"/>
            <a:chExt cx="5410200" cy="978218"/>
          </a:xfrm>
        </p:grpSpPr>
        <p:sp>
          <p:nvSpPr>
            <p:cNvPr id="28" name="Rectangle 28"/>
            <p:cNvSpPr/>
            <p:nvPr/>
          </p:nvSpPr>
          <p:spPr>
            <a:xfrm>
              <a:off x="6248400" y="467487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41129" y="5060751"/>
              <a:ext cx="224134" cy="192560"/>
              <a:chOff x="6441129" y="5060751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553200" y="51311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41129" y="50607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53200" y="52089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892" y="4821555"/>
              <a:ext cx="42999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也可以从定义域看出来：x 越靠近 ±1，y 的可取范围越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窄。一个变量限制了另一个变量的取值范围，就谈不上独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5" name="Rectangle 3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3610"/>
              <a:ext cx="9436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圆盘上的点没有任何倾斜方向，所以线性相关程度为 0；但它们被圈在圆里，彼此的取值范围互相牵制，所以不独立。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协方差与相关系数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独立与不相关：一个管整个分布，一个只管一条直线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626418" cy="2018348"/>
            <a:chOff x="533400" y="1524000"/>
            <a:chExt cx="5626418" cy="20183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18348"/>
            </a:xfrm>
            <a:prstGeom prst="roundRect">
              <a:avLst>
                <a:gd name="adj" fmla="val 660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89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等价命题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9906" y="17445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下面四句话说的是同一件事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14375" y="20497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62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123" y="2061686"/>
              <a:ext cx="1066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与 Y 不相关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4375" y="233553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62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123" y="2346484"/>
              <a:ext cx="2248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Cov(X, Y) = 0，即 ρ_XY = 0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14375" y="262032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6282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4123" y="2631281"/>
              <a:ext cx="1524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E(XY) = E(X)E(Y)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4375" y="29051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6282" y="29407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4123" y="2916079"/>
              <a:ext cx="1942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D(X ± Y) = D(X) + D(Y)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041" y="3197543"/>
              <a:ext cx="5120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判不相关时挑最好算的那一条用。多数题目走第 3 条，因为三个期望都是现成的。</a:t>
              </a:r>
            </a:p>
          </p:txBody>
        </p:sp>
      </p:grpSp>
      <p:grpSp>
        <p:nvGrpSpPr>
          <p:cNvPr id="45" name="c1-compare-2"/>
          <p:cNvGrpSpPr/>
          <p:nvPr/>
        </p:nvGrpSpPr>
        <p:grpSpPr>
          <a:xfrm>
            <a:off x="533400" y="3707130"/>
            <a:ext cx="5627370" cy="1696402"/>
            <a:chOff x="533400" y="3707130"/>
            <a:chExt cx="5627370" cy="1696402"/>
          </a:xfrm>
        </p:grpSpPr>
        <p:sp>
          <p:nvSpPr>
            <p:cNvPr id="25" name="Rectangle 25"/>
            <p:cNvSpPr/>
            <p:nvPr/>
          </p:nvSpPr>
          <p:spPr>
            <a:xfrm>
              <a:off x="533400" y="3707130"/>
              <a:ext cx="2585085" cy="1696402"/>
            </a:xfrm>
            <a:prstGeom prst="roundRect">
              <a:avLst>
                <a:gd name="adj" fmla="val 7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840480"/>
              <a:ext cx="47625" cy="142970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5998" y="39095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相互独立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2000" y="42633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7448" y="4210526"/>
              <a:ext cx="1858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f(x, y) = f_X(x)f_Y(y)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处处成立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479107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473821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就一般关系而言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507587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50230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条件强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575685" y="3707130"/>
              <a:ext cx="2585085" cy="1696402"/>
            </a:xfrm>
            <a:prstGeom prst="roundRect">
              <a:avLst>
                <a:gd name="adj" fmla="val 7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585210" y="3840480"/>
              <a:ext cx="47625" cy="14297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88283" y="39095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不相关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804285" y="42633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959733" y="4210526"/>
              <a:ext cx="209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只要求 E(XY) = E(X)E(Y)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804285" y="454818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59733" y="449532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仅就线性关系而言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804285" y="483298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59733" y="47801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条件弱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166110" y="4374832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221164" y="449961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分清</a:t>
              </a:r>
            </a:p>
          </p:txBody>
        </p:sp>
      </p:grpSp>
      <p:grpSp>
        <p:nvGrpSpPr>
          <p:cNvPr id="76" name="c2-table-1"/>
          <p:cNvGrpSpPr/>
          <p:nvPr/>
        </p:nvGrpSpPr>
        <p:grpSpPr>
          <a:xfrm>
            <a:off x="6464618" y="1524000"/>
            <a:ext cx="5193982" cy="2287905"/>
            <a:chOff x="6464618" y="1524000"/>
            <a:chExt cx="5193982" cy="2287905"/>
          </a:xfrm>
        </p:grpSpPr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123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6744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是否独立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6952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是否相关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9296" y="2023110"/>
              <a:ext cx="1422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X²，X ~ N(0, 1)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48166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51198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不相关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9296" y="2404110"/>
              <a:ext cx="12524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37 的离散分布表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48166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51198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不相关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59296" y="2785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单位圆内均匀分布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48166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51198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不相关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59296" y="3167062"/>
              <a:ext cx="1777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1（0 &lt; x &lt; 1，|y| &lt; x）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48166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51198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不相关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4618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59296" y="3548062"/>
              <a:ext cx="10958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二维正态且 ρ = 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863012" y="3440430"/>
              <a:ext cx="13830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948166" y="3548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266045" y="3440430"/>
              <a:ext cx="13830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351198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不相关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64618" y="1524000"/>
              <a:ext cx="519398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884872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25175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ard-2"/>
          <p:cNvGrpSpPr/>
          <p:nvPr/>
        </p:nvGrpSpPr>
        <p:grpSpPr>
          <a:xfrm>
            <a:off x="6464618" y="3976688"/>
            <a:ext cx="5193982" cy="1426845"/>
            <a:chOff x="6464618" y="3976688"/>
            <a:chExt cx="5193982" cy="1426845"/>
          </a:xfrm>
        </p:grpSpPr>
        <p:sp>
          <p:nvSpPr>
            <p:cNvPr id="77" name="Rectangle 77"/>
            <p:cNvSpPr/>
            <p:nvPr/>
          </p:nvSpPr>
          <p:spPr>
            <a:xfrm>
              <a:off x="6464618" y="3976688"/>
              <a:ext cx="5193982" cy="1426845"/>
            </a:xfrm>
            <a:prstGeom prst="roundRect">
              <a:avLst>
                <a:gd name="adj" fmla="val 934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45592" y="415766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15862" y="41905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记住这条单向箭头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39116" y="4498181"/>
              <a:ext cx="45890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相互独立 ⟹ 不相关，反过来一般不成立。本章里两者等价的情形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(X, Y) 服从二维正态。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2" name="Rectangle 8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1273" y="6039326"/>
              <a:ext cx="8660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考试里问“是否独立”而你只验证了 E(XY) = E(X)E(Y)，那是答非所问。要判独立必须回到密度或分布律的乘积。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79432" cy="2997517"/>
            <a:chOff x="667512" y="1835468"/>
            <a:chExt cx="62794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矩与协方差矩阵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69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把期望、方差、协方差装进同一套记号，再推广到 n 个随机变量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原点矩与中心矩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协方差矩阵及其对称性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维正态分布的三条性质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矩与协方差矩阵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矩：期望、方差、协方差的统一写法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842635" cy="2697480"/>
            <a:chOff x="533400" y="1524000"/>
            <a:chExt cx="5842635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13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6119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90160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已经见过的特例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245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的 k 阶原点矩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35720" y="2108359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E(Xᵏ)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31258" y="2108359"/>
              <a:ext cx="1424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 时就是 E(X)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245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的 k 阶中心矩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35720" y="2556986"/>
              <a:ext cx="1323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E{[X − E(X)]ᵏ}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1258" y="2556986"/>
              <a:ext cx="1424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 时就是 D(X)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13459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的 k+l 阶混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合原点矩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35720" y="3118961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E(XᵏYˡ)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1258" y="3005614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l = 1 时就是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E(XY)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13459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Y 的 k+l 阶混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合中心矩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35720" y="3794284"/>
              <a:ext cx="2115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E{[X−E(X)]ᵏ[Y−E(Y)]ˡ}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1258" y="3680936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l = 1 时就是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Cov(X, Y)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842635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23135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1867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4411980"/>
            <a:ext cx="5842635" cy="1156335"/>
            <a:chOff x="533400" y="4411980"/>
            <a:chExt cx="5842635" cy="1156335"/>
          </a:xfrm>
        </p:grpSpPr>
        <p:sp>
          <p:nvSpPr>
            <p:cNvPr id="32" name="Rectangle 32"/>
            <p:cNvSpPr/>
            <p:nvPr/>
          </p:nvSpPr>
          <p:spPr>
            <a:xfrm>
              <a:off x="533400" y="4411980"/>
              <a:ext cx="5842635" cy="1156335"/>
            </a:xfrm>
            <a:prstGeom prst="roundRect">
              <a:avLst>
                <a:gd name="adj" fmla="val 98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4886443"/>
              <a:ext cx="224134" cy="192560"/>
              <a:chOff x="726129" y="4886443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49568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48864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034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4747260"/>
              <a:ext cx="4806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每一个矩都以相应的期望存在为前提。柯西分布连 1 阶原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点矩都没有，更谈不上高阶矩。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680835" y="1524000"/>
            <a:ext cx="4977765" cy="1701165"/>
            <a:chOff x="6680835" y="1524000"/>
            <a:chExt cx="4977765" cy="1701165"/>
          </a:xfrm>
        </p:grpSpPr>
        <p:sp>
          <p:nvSpPr>
            <p:cNvPr id="39" name="Rectangle 39"/>
            <p:cNvSpPr/>
            <p:nvPr/>
          </p:nvSpPr>
          <p:spPr>
            <a:xfrm>
              <a:off x="6680835" y="1524000"/>
              <a:ext cx="4977765" cy="1701165"/>
            </a:xfrm>
            <a:prstGeom prst="roundRect">
              <a:avLst>
                <a:gd name="adj" fmla="val 78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890385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47090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本章的三个量对号入座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9610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54215" y="2110740"/>
              <a:ext cx="223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E(X) 是 X 的 1 阶原点矩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6100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54215" y="2446020"/>
              <a:ext cx="223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D(X) 是 X 的 2 阶中心矩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896100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54215" y="2781300"/>
              <a:ext cx="3599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Cov(X, Y) 是 X 与 Y 的 2 阶混合中心矩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3415665"/>
            <a:ext cx="4977765" cy="2152650"/>
            <a:chOff x="6680835" y="3415665"/>
            <a:chExt cx="4977765" cy="2152650"/>
          </a:xfrm>
        </p:grpSpPr>
        <p:sp>
          <p:nvSpPr>
            <p:cNvPr id="49" name="Rectangle 49"/>
            <p:cNvSpPr/>
            <p:nvPr/>
          </p:nvSpPr>
          <p:spPr>
            <a:xfrm>
              <a:off x="6680835" y="3415665"/>
              <a:ext cx="4977765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3549015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28485" y="36252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19646" y="3660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29512" y="366045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更高阶的矩在描述什么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20865" y="4021455"/>
              <a:ext cx="4339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阶中心矩刻画分布的偏斜方向：正值说明右尾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长，负值说明左尾长，对称分布为 0。4 阶中心矩刻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画尾部的厚薄。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22008" y="4924901"/>
              <a:ext cx="4263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这两条不在本章要求之内，但能解释为什么正态分布的 3 阶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中心矩恰好是 0。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7" name="Rectangle 5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970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原点矩以 0 为基准，中心矩以期望为基准。两者靠二项展开互相换算，2 阶时的换算式就是方差的计算公式。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0479" cy="909257"/>
            <a:chOff x="520446" y="342900"/>
            <a:chExt cx="7430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矩与协方差矩阵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0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例：正态分布的 2、3 阶原点矩与 3、4 阶中心矩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060432" cy="264033"/>
            <a:chOff x="526542" y="1545907"/>
            <a:chExt cx="506043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60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X ~ N(μ, σ²)，求 E(X²)、E(X³) 以及 3 阶、4 阶中心矩。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28812"/>
            <a:ext cx="5410200" cy="2538412"/>
            <a:chOff x="533400" y="1928812"/>
            <a:chExt cx="5410200" cy="25384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538412"/>
            </a:xfrm>
            <a:prstGeom prst="roundRect">
              <a:avLst>
                <a:gd name="adj" fmla="val 525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2996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原点矩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阶原点矩由方差的计算公式反解：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01"/>
                <p:cNvSpPr txBox="1">
                  <a:spLocks noGrp="1"/>
                </p:cNvSpPr>
                <p:nvPr/>
              </p:nvSpPr>
              <p:spPr>
                <a:xfrm>
                  <a:off x="714375" y="2713672"/>
                  <a:ext cx="504825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07898" y="3120866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阶原点矩要积分。令 t = (x − μ)/σ，t ~ N(0, 1)，把 X³ 写成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(σt + μ)³ 展开：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602"/>
                <p:cNvSpPr txBox="1">
                  <a:spLocks noGrp="1"/>
                </p:cNvSpPr>
                <p:nvPr/>
              </p:nvSpPr>
              <p:spPr>
                <a:xfrm>
                  <a:off x="714375" y="3627120"/>
                  <a:ext cx="5048250" cy="3962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3σ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09041" y="4121468"/>
              <a:ext cx="5095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的奇次矩为 0，E(t²) = 1。原课件第 85 页走的是直接积分的路线，结果相同。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632008"/>
            <a:ext cx="5410200" cy="702945"/>
            <a:chOff x="533400" y="4632008"/>
            <a:chExt cx="5410200" cy="702945"/>
          </a:xfrm>
        </p:grpSpPr>
        <p:sp>
          <p:nvSpPr>
            <p:cNvPr id="18" name="Rectangle 18"/>
            <p:cNvSpPr/>
            <p:nvPr/>
          </p:nvSpPr>
          <p:spPr>
            <a:xfrm>
              <a:off x="533400" y="463200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882515"/>
              <a:ext cx="200026" cy="200026"/>
              <a:chOff x="738188" y="4882515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8825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04863" y="49603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1273" y="4776311"/>
              <a:ext cx="4467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 μ = 1、σ = 2 代入：E(X²) = 5，E(X³) = 13，3 阶中心矩为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0，4 阶中心矩为 48。四项均已用 sympy 复核。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928812"/>
            <a:ext cx="5410200" cy="3406140"/>
            <a:chOff x="6248400" y="1928812"/>
            <a:chExt cx="5410200" cy="3406140"/>
          </a:xfrm>
        </p:grpSpPr>
        <p:sp>
          <p:nvSpPr>
            <p:cNvPr id="24" name="Rectangle 24"/>
            <p:cNvSpPr/>
            <p:nvPr/>
          </p:nvSpPr>
          <p:spPr>
            <a:xfrm>
              <a:off x="6248400" y="1928812"/>
              <a:ext cx="5410200" cy="3406140"/>
            </a:xfrm>
            <a:prstGeom prst="roundRect">
              <a:avLst>
                <a:gd name="adj" fmla="val 39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29375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17996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2898" y="2449354"/>
              <a:ext cx="38813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同样令 t = (x − μ)/σ，积分变成标准正态上的矩：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603"/>
                <p:cNvSpPr txBox="1">
                  <a:spLocks noGrp="1"/>
                </p:cNvSpPr>
                <p:nvPr/>
              </p:nvSpPr>
              <p:spPr>
                <a:xfrm>
                  <a:off x="6429375" y="2713672"/>
                  <a:ext cx="5048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604"/>
                <p:cNvSpPr txBox="1">
                  <a:spLocks noGrp="1"/>
                </p:cNvSpPr>
                <p:nvPr/>
              </p:nvSpPr>
              <p:spPr>
                <a:xfrm>
                  <a:off x="6429375" y="3194685"/>
                  <a:ext cx="5048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6422898" y="3697129"/>
              <a:ext cx="3752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 3 来自分部积分：把 t³ 留下、t 并进微分，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605"/>
                <p:cNvSpPr txBox="1">
                  <a:spLocks noGrp="1"/>
                </p:cNvSpPr>
                <p:nvPr/>
              </p:nvSpPr>
              <p:spPr>
                <a:xfrm>
                  <a:off x="6429375" y="3960495"/>
                  <a:ext cx="5048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+∞</m:t>
                            </m:r>
                          </m:sup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424041" y="4458652"/>
              <a:ext cx="46779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阶为 0 是因为密度关于 μ 对称。φ 是标准正态密度，同样的递推给出偶数阶矩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1、3、15、105。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4" name="Rectangle 3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6039326"/>
              <a:ext cx="10248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正态分布的所有矩都由 μ 与 σ 决定，换元 t = (x − μ)/σ 之后，每一道题都化成标准正态的几个矩：奇数阶为 0，偶数阶查 1、3、15。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矩与协方差矩阵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协方差矩阵：把四个二阶矩排成一张表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4136708"/>
            <a:chOff x="533400" y="1524000"/>
            <a:chExt cx="5410200" cy="41367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36708"/>
            </a:xfrm>
            <a:prstGeom prst="roundRect">
              <a:avLst>
                <a:gd name="adj" fmla="val 3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700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二维随机变量的协方差矩阵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(X₁, X₂) 关于 X₁、X₂ 的二阶中心矩与二阶混合中心矩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都存在，记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18"/>
                <p:cNvSpPr txBox="1">
                  <a:spLocks noGrp="1"/>
                </p:cNvSpPr>
                <p:nvPr/>
              </p:nvSpPr>
              <p:spPr>
                <a:xfrm>
                  <a:off x="769620" y="2666048"/>
                  <a:ext cx="4975860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2381" y="30656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称矩阵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619"/>
                <p:cNvSpPr txBox="1">
                  <a:spLocks noGrp="1"/>
                </p:cNvSpPr>
                <p:nvPr/>
              </p:nvSpPr>
              <p:spPr>
                <a:xfrm>
                  <a:off x="769620" y="3359468"/>
                  <a:ext cx="4975860" cy="3962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Cov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Cov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62381" y="3868579"/>
              <a:ext cx="46852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(X₁, X₂) 的协方差矩阵。由 Cov(X, Y) = Cov(Y, X) 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它是对称矩阵，主对角线上是两个方差。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4458176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小例：D(X₁) = 4，D(X₂) = 9，ρ = 0.5，则 Cov = 0.5 × 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3 = 3，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620"/>
                <p:cNvSpPr txBox="1">
                  <a:spLocks noGrp="1"/>
                </p:cNvSpPr>
                <p:nvPr/>
              </p:nvSpPr>
              <p:spPr>
                <a:xfrm>
                  <a:off x="769620" y="5023485"/>
                  <a:ext cx="4975860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2304098"/>
            <a:chOff x="6248400" y="1524000"/>
            <a:chExt cx="5410200" cy="2304098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304098"/>
            </a:xfrm>
            <a:prstGeom prst="roundRect">
              <a:avLst>
                <a:gd name="adj" fmla="val 57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20373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84620" y="1722120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75583" y="17564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88886" y="17568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二维正态的协方差矩阵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7381" y="2100739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X₂) ~ N(μ₁, μ₂, σ₁², σ₂², ρ) 时，由上一页算出的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 = ρσ₁σ₂ 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621"/>
                <p:cNvSpPr txBox="1">
                  <a:spLocks noGrp="1"/>
                </p:cNvSpPr>
                <p:nvPr/>
              </p:nvSpPr>
              <p:spPr>
                <a:xfrm>
                  <a:off x="6484620" y="2666048"/>
                  <a:ext cx="4975860" cy="4457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ρ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ρ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478524" y="3221355"/>
              <a:ext cx="4690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ρ = 0 时 C 变成对角阵，这正是二维正态下不相关等价于独立的矩阵写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248400" y="4008120"/>
            <a:ext cx="5410200" cy="1652588"/>
            <a:chOff x="6248400" y="4008120"/>
            <a:chExt cx="5410200" cy="1652588"/>
          </a:xfrm>
        </p:grpSpPr>
        <p:sp>
          <p:nvSpPr>
            <p:cNvPr id="29" name="Rectangle 29"/>
            <p:cNvSpPr/>
            <p:nvPr/>
          </p:nvSpPr>
          <p:spPr>
            <a:xfrm>
              <a:off x="6248400" y="4008120"/>
              <a:ext cx="5410200" cy="1652588"/>
            </a:xfrm>
            <a:prstGeom prst="roundRect">
              <a:avLst>
                <a:gd name="adj" fmla="val 806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46520" y="42062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37960" y="42405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29831" y="4241959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维的情形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9281" y="4584859"/>
              <a:ext cx="47754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n 维随机变量 (X₁, …, Xₙ)，令 cᵢⱼ = Cov(Xᵢ, Xⱼ)，把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 个数排成 n 阶方阵就得到协方差矩阵 C。它同样对称，主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对角线上是 n 个方差。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5" name="Rectangle 3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6011704"/>
              <a:ext cx="9056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协方差矩阵把 n 个方差和 n(n−1)/2 个不同的协方差一次装好，下一页 n 维正态的密度就是用它写出来的。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 · 矩与协方差矩阵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维正态分布：三条性质说清它为什么好用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3951922"/>
            <a:chOff x="533400" y="1524000"/>
            <a:chExt cx="5410200" cy="39519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951922"/>
            </a:xfrm>
            <a:prstGeom prst="roundRect">
              <a:avLst>
                <a:gd name="adj" fmla="val 33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8522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0966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维正态分布的概率密度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3072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的转置为 (X₁, X₂, …, Xₙ)，若其概率密度为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26"/>
                <p:cNvSpPr txBox="1">
                  <a:spLocks noGrp="1"/>
                </p:cNvSpPr>
                <p:nvPr/>
              </p:nvSpPr>
              <p:spPr>
                <a:xfrm>
                  <a:off x="775335" y="2415540"/>
                  <a:ext cx="496443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2943701"/>
              <a:ext cx="46131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 X 服从 n 元正态分布。式中 X 代入的是列向量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…, xₙ)′，μ 是均值向量 (E(X₁), …, E(Xₙ))′，C 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协方差矩阵，|C| 是它的行列式，C⁻¹ 是它的逆矩阵。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802380"/>
              <a:ext cx="4683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 时 C 退化成 σ²，式子还原成一维正态密度。n = 2 时代入上一页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 C：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627"/>
                <p:cNvSpPr txBox="1">
                  <a:spLocks noGrp="1"/>
                </p:cNvSpPr>
                <p:nvPr/>
              </p:nvSpPr>
              <p:spPr>
                <a:xfrm>
                  <a:off x="775335" y="4285298"/>
                  <a:ext cx="496443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sSub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ρ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2π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ρ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68096" y="476678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正好是二维正态密度前面的常数。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2747962"/>
            <a:chOff x="6248400" y="1524000"/>
            <a:chExt cx="5410200" cy="2747962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747962"/>
            </a:xfrm>
            <a:prstGeom prst="roundRect">
              <a:avLst>
                <a:gd name="adj" fmla="val 4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24812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1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三条重要性质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490335" y="210693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486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81229" y="2119789"/>
              <a:ext cx="437870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…, Xₙ) 服从 n 维正态分布的充分必要条件，是它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们的任意线性组合 k₁X₁ + k₂X₂ + … + kₙXₙ 都服从一维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正态分布，其中 k₁, …, kₙ 为任意常数。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90335" y="296989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8680" y="30102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81229" y="2982754"/>
              <a:ext cx="44778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(X₁, …, Xₙ) 服从 n 维正态分布，Y₁, …, Yₘ 是 Xᵢ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线性函数，则 (Y₁, …, Yₘ) 服从 m 维正态分布。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0335" y="3561398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8680" y="36017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1229" y="3574256"/>
              <a:ext cx="44057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(X₁, …, Xₙ) 服从 n 维正态分布，则 X₁, …, Xₙ 相互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独立等价于它们两两不相关。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248400" y="4456748"/>
            <a:ext cx="5410200" cy="1018222"/>
            <a:chOff x="6248400" y="4456748"/>
            <a:chExt cx="5410200" cy="1018222"/>
          </a:xfrm>
        </p:grpSpPr>
        <p:sp>
          <p:nvSpPr>
            <p:cNvPr id="34" name="Rectangle 34"/>
            <p:cNvSpPr/>
            <p:nvPr/>
          </p:nvSpPr>
          <p:spPr>
            <a:xfrm>
              <a:off x="6248400" y="4456748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53188" y="4866323"/>
              <a:ext cx="200026" cy="200025"/>
              <a:chOff x="6453188" y="4866323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53188" y="48663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92926" y="49107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27642" y="50218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55511" y="4604861"/>
              <a:ext cx="438772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2 解释了第 3 章那条结论：独立正态之和仍是正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态。性质 3 把二维正态下“不相关等价于独立”推广到了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维。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1" name="Rectangle 4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6004084"/>
              <a:ext cx="92188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多元正态由均值向量与协方差矩阵完全确定，做线性变换后仍是正态。第 6 章的抽样分布会反复用到这两点。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自测题（一）数学期望与方差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57412"/>
            <a:chOff x="533400" y="1524000"/>
            <a:chExt cx="3505200" cy="2157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9187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E(X²) 与 [E(X)]² 哪个大？相等时意味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29471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D(X) = E(X²) − [E(X)]² ≥ 0 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E(X²) ≥ [E(X)]²。相等当且仅当 D(X)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0，即 X 以概率 1 取常数 E(X)，此时 X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退化成一个数，没有随机性。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6195"/>
            <a:ext cx="3505200" cy="2400300"/>
            <a:chOff x="533400" y="3846195"/>
            <a:chExt cx="3505200" cy="2400300"/>
          </a:xfrm>
        </p:grpSpPr>
        <p:sp>
          <p:nvSpPr>
            <p:cNvPr id="13" name="Rectangle 13"/>
            <p:cNvSpPr/>
            <p:nvPr/>
          </p:nvSpPr>
          <p:spPr>
            <a:xfrm>
              <a:off x="53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367689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掷一枚均匀硬币直到首次出现正面，平均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要掷几次？若改成固定掷 10 次数正面个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数，期望与方差各是多少？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5138261"/>
              <a:ext cx="296341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首次成功的次数服从 p = 1/2 的几何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分布，期望 1/p = 2 次。固定 10 次时服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B(10, 0.5)，期望 np = 5，方差 np(1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p) = 2.5。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57412"/>
            <a:chOff x="4343400" y="1524000"/>
            <a:chExt cx="3505200" cy="215741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91830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 λ = 4 的泊松分布，求 E(2X + 3)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D(2X + 3)。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573179"/>
              <a:ext cx="299593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泊松分布的期望与方差都是 λ = 4。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由期望的线性性质 E(2X + 3) = 2×4 + 3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11；由方差的性质 2、3，常数消失、系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数平方，D(2X + 3) = 2²×4 = 16。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6195"/>
            <a:ext cx="3505200" cy="2400300"/>
            <a:chOff x="4343400" y="3846195"/>
            <a:chExt cx="3505200" cy="2400300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4367689"/>
              <a:ext cx="296301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E(g(X)) 时，权数用的是 X 的概率还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g(X) 的概率？为什么可以不求 Y 的分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5138261"/>
              <a:ext cx="291465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权数始终是 X 的概率 pₖ。定理保证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Σg(xₖ)pₖ 与先求 Y 的分布再加权的结果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相同，因为映到同一个 y 值的那些 xₖ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概率在求和时自动合并了。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57412"/>
            <a:chOff x="8153400" y="1524000"/>
            <a:chExt cx="3505200" cy="215741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96016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N(1, 4)，Y ~ N(2, 9)，两者独立，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D(2X − Y)。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573179"/>
              <a:ext cx="292277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记住第二个参数是方差，D(X) = 4，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D(Y) = 9。独立时减法也按相加处理，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D(2X − Y) = 2²×4 + (−1)²×9 = 16 + 9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25。若误写成 16 − 9 = 7 就错了。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6195"/>
            <a:ext cx="3505200" cy="2400300"/>
            <a:chOff x="8153400" y="3846195"/>
            <a:chExt cx="3505200" cy="2400300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3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898" y="4367689"/>
              <a:ext cx="288660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的期望 5、方差 4，写出它的标准化变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 X*，并说明 E(X*) 与 D(X*)。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7898" y="4895374"/>
              <a:ext cx="2971546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= (X − 5)/2。由性质 3 平移不改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变方差、性质 2 系数平方提出，得 E(X*)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0，D(X*) = 4/4 = 1。标准化对任何有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方差的随机变量都能做，不要求 X 是正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自测题（二）协方差、相关系数与矩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57412"/>
            <a:chOff x="533400" y="1524000"/>
            <a:chExt cx="3505200" cy="2157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84800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D(X) = 4，D(Y) = 9，Cov(X, Y)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−3，求 ρ_XY 与 D(2X − 3Y)。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284962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−3/(2×3) = −0.5。D(2X − 3Y)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4D(X) + 9D(Y) − 2×2×3×Cov = 16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 + 36 = 133。注意减号与负协方差相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乘，最后一项是加上 36。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6195"/>
            <a:ext cx="3505200" cy="2400300"/>
            <a:chOff x="533400" y="3846195"/>
            <a:chExt cx="3505200" cy="2400300"/>
          </a:xfrm>
        </p:grpSpPr>
        <p:sp>
          <p:nvSpPr>
            <p:cNvPr id="13" name="Rectangle 13"/>
            <p:cNvSpPr/>
            <p:nvPr/>
          </p:nvSpPr>
          <p:spPr>
            <a:xfrm>
              <a:off x="53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367689"/>
              <a:ext cx="2966669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~ N(0, 0, 1, 4, ρ)，ρ = 0 时 X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Y 独立吗？若只知道 X 与 Y 各自服从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正态且不相关呢？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5138261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前者独立：二维正态的密度在 ρ = 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时分解成两个一维正态密度之积。后者不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一定，两个边缘都是正态并不保证联合分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布是二维正态，推论的前提就不满足了。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400300"/>
            <a:chOff x="4343400" y="1524000"/>
            <a:chExt cx="3505200" cy="240030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独立与不相关是什么关系？举一个不相关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但不独立的例子。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573179"/>
              <a:ext cx="2947162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独立一定不相关，反过来不成立。例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X ~ N(0, 1)、Y = X²，此时 Cov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E(X³) = 0 所以不相关，但 Y 完全由 X 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定，显然不独立。单位圆内的均匀分布是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另一个例子。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089082"/>
            <a:ext cx="3505200" cy="2157412"/>
            <a:chOff x="4343400" y="4089082"/>
            <a:chExt cx="3505200" cy="2157412"/>
          </a:xfrm>
        </p:grpSpPr>
        <p:sp>
          <p:nvSpPr>
            <p:cNvPr id="25" name="Rectangle 25"/>
            <p:cNvSpPr/>
            <p:nvPr/>
          </p:nvSpPr>
          <p:spPr>
            <a:xfrm>
              <a:off x="4343400" y="408908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42700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43029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4610576"/>
              <a:ext cx="291790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E(X)、D(X)、Cov(X, Y) 分别是几阶的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什么矩？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5138261"/>
              <a:ext cx="285775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是 X 的 1 阶原点矩；D(X)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E{[X − E(X)]²} 是 X 的 2 阶中心矩；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Cov(X, Y) = E{[X − E(X)][Y − E(Y)]}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X 与 Y 的 2 阶混合中心矩。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57412"/>
            <a:chOff x="8153400" y="1524000"/>
            <a:chExt cx="3505200" cy="215741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910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ρ_XY = 0 是不是说明 X 与 Y 之间没有任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何关系？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573179"/>
              <a:ext cx="301218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不是。ρ 只衡量线性关系。Y = X² 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种抛物线关系强到能完全确定 Y，ρ 却是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0。(X, Y) 服从二维正态时，ρ = 0 才能推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出独立。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6195"/>
            <a:ext cx="3505200" cy="2400300"/>
            <a:chOff x="8153400" y="3846195"/>
            <a:chExt cx="3505200" cy="2400300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6195"/>
              <a:ext cx="3505200" cy="2400300"/>
            </a:xfrm>
            <a:prstGeom prst="roundRect">
              <a:avLst>
                <a:gd name="adj" fmla="val 555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3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898" y="4367689"/>
              <a:ext cx="28333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N(μ, σ²)，写出它的 3 阶中心矩与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阶中心矩，并说明 3 阶为什么是 0。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7898" y="4895374"/>
              <a:ext cx="3020314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阶中心矩为 0，4 阶中心矩为 3σ⁴。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t = (x − μ)/σ 后被积函数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t³exp(−t²/2) 是奇函数，在对称区间上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积分为 0；本质原因是正态密度关于 μ 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数字特征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059805" cy="2287905"/>
            <a:chOff x="533400" y="1524000"/>
            <a:chExt cx="605980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2690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要回答的问题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57450" y="1641157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用哪个数字特征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5070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关键式子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平均取多少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24481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数学期望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78948" y="2023110"/>
              <a:ext cx="1751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Σxₖpₖ 或 ∫xf(x)dx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散得多开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24481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78948" y="2404110"/>
              <a:ext cx="1668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D(X) = E(X²) − [E(X)]²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函数的平均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24481" y="2785110"/>
              <a:ext cx="575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E[g(X)]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78948" y="2785110"/>
              <a:ext cx="26652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X 的概率给 g(xₖ) 加权，不求 Y 的分布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两者是否同步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24481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78948" y="3167062"/>
              <a:ext cx="21051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Cov(X, Y) = E(XY) − E(X)E(Y)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线性关系强弱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24481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78948" y="3548062"/>
              <a:ext cx="2364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Cov(X, Y)/(σ(X)σ(Y))，|ρ| ≤ 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2504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67950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rd-2"/>
          <p:cNvGrpSpPr/>
          <p:nvPr/>
        </p:nvGrpSpPr>
        <p:grpSpPr>
          <a:xfrm>
            <a:off x="533400" y="3976688"/>
            <a:ext cx="6059805" cy="1714500"/>
            <a:chOff x="533400" y="3976688"/>
            <a:chExt cx="6059805" cy="1714500"/>
          </a:xfrm>
        </p:grpSpPr>
        <p:sp>
          <p:nvSpPr>
            <p:cNvPr id="36" name="Rectangle 36"/>
            <p:cNvSpPr/>
            <p:nvPr/>
          </p:nvSpPr>
          <p:spPr>
            <a:xfrm>
              <a:off x="533400" y="3976688"/>
              <a:ext cx="605980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11003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本讲义对原课件的更正与补充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7448" y="4498181"/>
              <a:ext cx="51149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股票例的 D(Y) 应为 39.09，原课件写作 30.09；方差的单位是元²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62000" y="48358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7448" y="4782979"/>
              <a:ext cx="52636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指数分布的期望是 1/λ，原课件第 15、53 页写成 λ，第 53 页还把参数写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θ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62000" y="536352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7448" y="531066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三道只给题面或半截过程的例题已补全，全章数值用脚本复核</a:t>
              </a:r>
            </a:p>
          </p:txBody>
        </p:sp>
      </p:grpSp>
      <p:grpSp>
        <p:nvGrpSpPr>
          <p:cNvPr id="62" name="c2-bullets-1"/>
          <p:cNvGrpSpPr/>
          <p:nvPr/>
        </p:nvGrpSpPr>
        <p:grpSpPr>
          <a:xfrm>
            <a:off x="6898005" y="1533525"/>
            <a:ext cx="4762856" cy="1432845"/>
            <a:chOff x="6898005" y="1533525"/>
            <a:chExt cx="4762856" cy="1432845"/>
          </a:xfrm>
        </p:grpSpPr>
        <p:sp>
          <p:nvSpPr>
            <p:cNvPr id="47" name="Ellipse 47"/>
            <p:cNvSpPr/>
            <p:nvPr/>
          </p:nvSpPr>
          <p:spPr>
            <a:xfrm>
              <a:off x="6898005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49912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67753" y="154543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期望是以概率为权的加权平均，方差是偏离的平方再取期望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98005" y="182689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49912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67753" y="183784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七种常用分布的期望与方差要能默写，见到分布名直接取用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98005" y="212026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49912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67753" y="2131219"/>
              <a:ext cx="3430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E(g(X)) 一律用定理，权数始终跟着 X 走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98005" y="241363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49912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67753" y="242458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期望对加法永远可拆，方差只有在不相关时才可拆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98005" y="270605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49912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67753" y="271700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独立必定不相关，不相关未必独立；二维正态下两者等价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898005" y="3081338"/>
            <a:ext cx="4760595" cy="2609850"/>
            <a:chOff x="6898005" y="3081338"/>
            <a:chExt cx="4760595" cy="2609850"/>
          </a:xfrm>
        </p:grpSpPr>
        <p:sp>
          <p:nvSpPr>
            <p:cNvPr id="63" name="Rectangle 63"/>
            <p:cNvSpPr/>
            <p:nvPr/>
          </p:nvSpPr>
          <p:spPr>
            <a:xfrm>
              <a:off x="6898005" y="3081338"/>
              <a:ext cx="4760595" cy="2609850"/>
            </a:xfrm>
            <a:prstGeom prst="roundRect">
              <a:avLst>
                <a:gd name="adj" fmla="val 5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07530" y="3214688"/>
              <a:ext cx="47625" cy="2343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117080" y="326231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90448" y="32951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与前后章的衔接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10603" y="3602831"/>
              <a:ext cx="410133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章的大数定律与中心极限定理，全部建立在本章的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与 D(X) 之上；第 6 章的样本均值正是本讲例 31 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的算术平均，那里的 σ²/n 会反复出现；第 7 章的矩估计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就是用样本矩去匹配本章的总体矩。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11746" y="4612005"/>
              <a:ext cx="409117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5 章开头的切比雪夫不等式 P{|X − E(X)| ≥ ε} ≤ D(X)/ε² 只用到期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望和方差两个数，不需要知道分布。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1273" y="6039326"/>
              <a:ext cx="10007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做题先问三句：要算的是一个变量还是两个，能不能拆成几个简单变量之和，有没有独立这个条件。三句答完，用哪条性质就定了。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第4章 随机变量的数字特征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b_ch4">
  <a:themeElements>
    <a:clrScheme name="prob_ch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_ch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b_ch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2026-09-23T09:49:57Z</dcterms:created>
  <dcterms:modified xsi:type="dcterms:W3CDTF">2026-09-23T09:49:57Z</dcterms:modified>
  <cp:category/>
  <cp:contentStatus/>
</cp:coreProperties>
</file>