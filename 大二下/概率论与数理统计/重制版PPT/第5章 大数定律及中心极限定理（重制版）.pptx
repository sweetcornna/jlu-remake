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rob_ch5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rob_ch5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de11743e67c105c2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d52675fc18f624f.png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dcbfd6317ccd7383.png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6035421" cy="3420618"/>
            <a:chOff x="666750" y="1619250"/>
            <a:chExt cx="6035421" cy="3420618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2203132" cy="3429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95722" y="1718310"/>
              <a:ext cx="19842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概率论与数理统计 · 第五章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6968"/>
              <a:ext cx="6035421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大数定律及中心极限定理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29915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49955"/>
              <a:ext cx="51069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重复的次数足够多时，随机里会长出确定的东西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5954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0429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切比雪夫不等式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5005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194810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依概率收敛与大数定律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4056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485322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中心极限定理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3108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7583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二项分布的正态近似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4696454" cy="205359"/>
            <a:chOff x="680466" y="6192202"/>
            <a:chExt cx="4696454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46964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自学复习版｜据吉林大学《概率论与数理统计》第五章课件整理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24682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1966" y="407194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极限定理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c1-agenda-1"/>
          <p:cNvGrpSpPr/>
          <p:nvPr/>
        </p:nvGrpSpPr>
        <p:grpSpPr>
          <a:xfrm>
            <a:off x="521970" y="1515428"/>
            <a:ext cx="6287453" cy="3689317"/>
            <a:chOff x="521970" y="1515428"/>
            <a:chExt cx="6287453" cy="3689317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切比雪夫不等式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43207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只知道期望和方差时，能把偏离中心的概率卡在什么范围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18122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2869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323148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依概率收敛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639854"/>
              <a:ext cx="38210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随机变量序列“收敛”的含义与数列极限有什么不同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295370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05847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094673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三个大数定律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412331"/>
              <a:ext cx="39761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切比雪夫、伯努利、辛钦各自要求什么、结论是什么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72522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383095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3867150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中心极限定理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183856"/>
              <a:ext cx="36315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独立同分布之和标准化以后为什么趋于标准正态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49770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460248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4638675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二项分布的正态近似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4955381"/>
              <a:ext cx="30370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棣莫弗-拉普拉斯定理与五道典型计算题</a:t>
              </a:r>
            </a:p>
          </p:txBody>
        </p:sp>
      </p:grpSp>
      <p:grpSp>
        <p:nvGrpSpPr>
          <p:cNvPr id="41" name="c2-card-1"/>
          <p:cNvGrpSpPr/>
          <p:nvPr/>
        </p:nvGrpSpPr>
        <p:grpSpPr>
          <a:xfrm>
            <a:off x="7114222" y="1524000"/>
            <a:ext cx="4544378" cy="3800475"/>
            <a:chOff x="7114222" y="1524000"/>
            <a:chExt cx="4544378" cy="3800475"/>
          </a:xfrm>
        </p:grpSpPr>
        <p:sp>
          <p:nvSpPr>
            <p:cNvPr id="27" name="Rectangle 27"/>
            <p:cNvSpPr/>
            <p:nvPr/>
          </p:nvSpPr>
          <p:spPr>
            <a:xfrm>
              <a:off x="7114222" y="1524000"/>
              <a:ext cx="4544378" cy="3800475"/>
            </a:xfrm>
            <a:prstGeom prst="roundRect">
              <a:avLst>
                <a:gd name="adj" fmla="val 35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7123748" y="1657350"/>
              <a:ext cx="47625" cy="353377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525702" y="211074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写出切比雪夫不等式的两种形式，并说清它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对分布没有要求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525702" y="273177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用切比雪夫不等式估计一个具体概率，并判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断估计有多松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341566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335280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说出三个大数定律的条件差别，能判断给定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的序列适用哪一个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403669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397383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用独立同分布中心极限定理把一个和式化成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标准正态的概率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465772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4594860"/>
              <a:ext cx="35490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用棣莫弗-拉普拉斯定理反解样本量、载重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量、外线条数这类实际问题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581299"/>
              <a:ext cx="3044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第5章 大数定律及中心极限定理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4913376" cy="2997517"/>
            <a:chOff x="667512" y="1835468"/>
            <a:chExt cx="4913376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42900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切比雪夫不等式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9034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分布未知时，期望和方差已经能限制住概率跑多远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不等式的两种等价形式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用积分放大法给出证明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三道典型估计题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3044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第5章 大数定律及中心极限定理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极限定理 · 切比雪夫不等式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这一章问的是：重复很多次以后会怎样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8930450" cy="293370"/>
            <a:chOff x="525780" y="1548765"/>
            <a:chExt cx="893045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89304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前四章处理的是一个或几个随机变量；这一章让 n 趋于无穷，看平均值和求和会呈现什么固定形态。</a:t>
              </a:r>
            </a:p>
          </p:txBody>
        </p:sp>
      </p:grpSp>
      <p:grpSp>
        <p:nvGrpSpPr>
          <p:cNvPr id="16" name="c1-card-1"/>
          <p:cNvGrpSpPr/>
          <p:nvPr/>
        </p:nvGrpSpPr>
        <p:grpSpPr>
          <a:xfrm>
            <a:off x="533400" y="1954530"/>
            <a:ext cx="5410200" cy="2147888"/>
            <a:chOff x="533400" y="1954530"/>
            <a:chExt cx="5410200" cy="2147888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5410200" cy="2147888"/>
            </a:xfrm>
            <a:prstGeom prst="roundRect">
              <a:avLst>
                <a:gd name="adj" fmla="val 620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87880"/>
              <a:ext cx="47625" cy="1881188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75335" y="2158365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48792" y="219408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两类极限定理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8096" y="2531269"/>
              <a:ext cx="4694301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大数定律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回答“平均值往哪儿去”：n 个随机变量的算术平均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值会稳定到一个常数。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8096" y="3122771"/>
              <a:ext cx="4694301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中心极限定理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回答“和的分布长什么样”：n 个随机变量之和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标准化以后趋于标准正态分布。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9239" y="3710940"/>
              <a:ext cx="45838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两者都是 n 趋于无穷的极限结论，用在有限的 n 上时都是近似。</a:t>
              </a:r>
            </a:p>
          </p:txBody>
        </p:sp>
      </p:grpSp>
      <p:grpSp>
        <p:nvGrpSpPr>
          <p:cNvPr id="22" name="c1-callout-2"/>
          <p:cNvGrpSpPr/>
          <p:nvPr/>
        </p:nvGrpSpPr>
        <p:grpSpPr>
          <a:xfrm>
            <a:off x="533400" y="4287202"/>
            <a:ext cx="5410200" cy="1763078"/>
            <a:chOff x="533400" y="4287202"/>
            <a:chExt cx="5410200" cy="1763078"/>
          </a:xfrm>
        </p:grpSpPr>
        <p:sp>
          <p:nvSpPr>
            <p:cNvPr id="17" name="Rectangle 17"/>
            <p:cNvSpPr/>
            <p:nvPr/>
          </p:nvSpPr>
          <p:spPr>
            <a:xfrm>
              <a:off x="533400" y="4287202"/>
              <a:ext cx="5410200" cy="1763078"/>
            </a:xfrm>
            <a:prstGeom prst="roundRect">
              <a:avLst>
                <a:gd name="adj" fmla="val 6483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738188" y="5069207"/>
              <a:ext cx="200023" cy="200023"/>
              <a:chOff x="738188" y="5069207"/>
              <a:chExt cx="200023" cy="200023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738188" y="506920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871538" y="513588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1040511" y="4938236"/>
              <a:ext cx="452297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切比雪夫不等式是证明大数定律的工具，本身又是一个能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单独使用的估计公式。</a:t>
              </a:r>
            </a:p>
          </p:txBody>
        </p:sp>
      </p:grpSp>
      <p:grpSp>
        <p:nvGrpSpPr>
          <p:cNvPr id="47" name="c2-table-1"/>
          <p:cNvGrpSpPr/>
          <p:nvPr/>
        </p:nvGrpSpPr>
        <p:grpSpPr>
          <a:xfrm>
            <a:off x="6248400" y="1954530"/>
            <a:ext cx="5410200" cy="2364105"/>
            <a:chOff x="6248400" y="1954530"/>
            <a:chExt cx="5410200" cy="2364105"/>
          </a:xfrm>
        </p:grpSpPr>
        <p:sp>
          <p:nvSpPr>
            <p:cNvPr id="23" name="Rectangle 23"/>
            <p:cNvSpPr/>
            <p:nvPr/>
          </p:nvSpPr>
          <p:spPr>
            <a:xfrm>
              <a:off x="6248400" y="1954530"/>
              <a:ext cx="5410200" cy="43053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758559" y="208597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手里有什么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489252" y="208597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用什么工具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275189" y="208597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能得到什么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353747" y="2515552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只知道期望与方差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193024" y="2515552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切比雪夫不等式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816084" y="2515552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概率的一个上界或下界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248400" y="280987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248400" y="2814638"/>
              <a:ext cx="5410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353747" y="2946082"/>
              <a:ext cx="16102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个独立变量的平均值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193024" y="294608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大数定律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816084" y="2946082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依概率收敛到期望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248400" y="324040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353747" y="3376612"/>
              <a:ext cx="12871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个独立变量的和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193024" y="3376612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中心极限定理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816084" y="3376612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和近似服从正态分布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248400" y="366998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248400" y="3674745"/>
              <a:ext cx="5410200" cy="6438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353747" y="3912870"/>
              <a:ext cx="16102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重伯努利试验的次数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193024" y="3806190"/>
              <a:ext cx="131521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棣莫弗-拉普拉斯定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理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816084" y="391287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二项概率用正态表来算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248400" y="1954530"/>
              <a:ext cx="5410200" cy="23641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8082915" y="1954530"/>
              <a:ext cx="9525" cy="23641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9705975" y="1954530"/>
              <a:ext cx="9525" cy="23641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3" name="c2-card-2"/>
          <p:cNvGrpSpPr/>
          <p:nvPr/>
        </p:nvGrpSpPr>
        <p:grpSpPr>
          <a:xfrm>
            <a:off x="6248400" y="4504372"/>
            <a:ext cx="5410200" cy="1545908"/>
            <a:chOff x="6248400" y="4504372"/>
            <a:chExt cx="5410200" cy="1545908"/>
          </a:xfrm>
        </p:grpSpPr>
        <p:sp>
          <p:nvSpPr>
            <p:cNvPr id="48" name="Rectangle 48"/>
            <p:cNvSpPr/>
            <p:nvPr/>
          </p:nvSpPr>
          <p:spPr>
            <a:xfrm>
              <a:off x="6248400" y="4504372"/>
              <a:ext cx="5410200" cy="1545908"/>
            </a:xfrm>
            <a:prstGeom prst="roundRect">
              <a:avLst>
                <a:gd name="adj" fmla="val 86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6257925" y="4637722"/>
              <a:ext cx="47625" cy="1279208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6490335" y="470820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580543" y="474392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读法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483096" y="5081111"/>
              <a:ext cx="470331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表里的四行按精度从粗到细排列。切比雪夫不等式不挑分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布，所以给出的范围最宽；中心极限定理要求独立同分布，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换来的是一个具体的近似分布。</a:t>
              </a: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4" name="TextBox 54"/>
            <p:cNvSpPr txBox="1"/>
            <p:nvPr/>
          </p:nvSpPr>
          <p:spPr>
            <a:xfrm>
              <a:off x="528447" y="6581299"/>
              <a:ext cx="3044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第5章 大数定律及中心极限定理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极限定理 · 切比雪夫不等式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切比雪夫不等式框住的是两条尾巴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9" name="chebA"/>
          <p:cNvGrpSpPr/>
          <p:nvPr/>
        </p:nvGrpSpPr>
        <p:grpSpPr>
          <a:xfrm>
            <a:off x="533400" y="1524000"/>
            <a:ext cx="5524500" cy="4762500"/>
            <a:chOff x="533400" y="1524000"/>
            <a:chExt cx="5524500" cy="47625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524500" cy="4762500"/>
            </a:xfrm>
            <a:prstGeom prst="roundRect">
              <a:avLst>
                <a:gd name="adj" fmla="val 24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17423" y="1662589"/>
              <a:ext cx="36315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切比雪夫不等式量的是两条竖线外面的那块面积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18566" y="1925002"/>
              <a:ext cx="46823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把密度曲线画出来，不等式说的就是两条尾巴的面积加起来不超过 σ²/ε²。</a:t>
              </a:r>
            </a:p>
          </p:txBody>
        </p:sp>
        <p:sp>
          <p:nvSpPr>
            <p:cNvPr id="10" name="Polygon 10"/>
            <p:cNvSpPr/>
            <p:nvPr/>
          </p:nvSpPr>
          <p:spPr>
            <a:xfrm>
              <a:off x="1404938" y="4110809"/>
              <a:ext cx="785812" cy="209588"/>
            </a:xfrm>
            <a:custGeom>
              <a:avLst/>
              <a:gdLst/>
              <a:ahLst/>
              <a:cxnLst/>
              <a:rect l="l" t="t" r="r" b="b"/>
              <a:pathLst>
                <a:path w="785812" h="209588">
                  <a:moveTo>
                    <a:pt x="0" y="209359"/>
                  </a:moveTo>
                  <a:lnTo>
                    <a:pt x="35719" y="209245"/>
                  </a:lnTo>
                  <a:lnTo>
                    <a:pt x="71438" y="209064"/>
                  </a:lnTo>
                  <a:lnTo>
                    <a:pt x="107156" y="208817"/>
                  </a:lnTo>
                  <a:lnTo>
                    <a:pt x="142875" y="208455"/>
                  </a:lnTo>
                  <a:lnTo>
                    <a:pt x="178594" y="207940"/>
                  </a:lnTo>
                  <a:lnTo>
                    <a:pt x="214312" y="207216"/>
                  </a:lnTo>
                  <a:lnTo>
                    <a:pt x="250031" y="206197"/>
                  </a:lnTo>
                  <a:lnTo>
                    <a:pt x="285750" y="204807"/>
                  </a:lnTo>
                  <a:lnTo>
                    <a:pt x="321469" y="202902"/>
                  </a:lnTo>
                  <a:lnTo>
                    <a:pt x="357188" y="200330"/>
                  </a:lnTo>
                  <a:lnTo>
                    <a:pt x="392906" y="196910"/>
                  </a:lnTo>
                  <a:lnTo>
                    <a:pt x="428625" y="192386"/>
                  </a:lnTo>
                  <a:lnTo>
                    <a:pt x="464344" y="186480"/>
                  </a:lnTo>
                  <a:lnTo>
                    <a:pt x="500062" y="178860"/>
                  </a:lnTo>
                  <a:lnTo>
                    <a:pt x="535781" y="169135"/>
                  </a:lnTo>
                  <a:lnTo>
                    <a:pt x="571500" y="156858"/>
                  </a:lnTo>
                  <a:lnTo>
                    <a:pt x="607219" y="141541"/>
                  </a:lnTo>
                  <a:lnTo>
                    <a:pt x="642938" y="122653"/>
                  </a:lnTo>
                  <a:lnTo>
                    <a:pt x="678656" y="99622"/>
                  </a:lnTo>
                  <a:lnTo>
                    <a:pt x="714375" y="71876"/>
                  </a:lnTo>
                  <a:lnTo>
                    <a:pt x="750094" y="38852"/>
                  </a:lnTo>
                  <a:lnTo>
                    <a:pt x="785812" y="0"/>
                  </a:lnTo>
                  <a:lnTo>
                    <a:pt x="785812" y="209588"/>
                  </a:lnTo>
                  <a:lnTo>
                    <a:pt x="0" y="209588"/>
                  </a:lnTo>
                  <a:close/>
                </a:path>
              </a:pathLst>
            </a:custGeom>
            <a:solidFill>
              <a:srgbClr val="F6C6AC"/>
            </a:solidFill>
            <a:ln>
              <a:noFill/>
            </a:ln>
          </p:spPr>
        </p:sp>
        <p:sp>
          <p:nvSpPr>
            <p:cNvPr id="11" name="Polygon 11"/>
            <p:cNvSpPr/>
            <p:nvPr/>
          </p:nvSpPr>
          <p:spPr>
            <a:xfrm>
              <a:off x="3619500" y="4110809"/>
              <a:ext cx="785812" cy="209588"/>
            </a:xfrm>
            <a:custGeom>
              <a:avLst/>
              <a:gdLst/>
              <a:ahLst/>
              <a:cxnLst/>
              <a:rect l="l" t="t" r="r" b="b"/>
              <a:pathLst>
                <a:path w="785812" h="209588">
                  <a:moveTo>
                    <a:pt x="0" y="209588"/>
                  </a:moveTo>
                  <a:lnTo>
                    <a:pt x="0" y="0"/>
                  </a:lnTo>
                  <a:lnTo>
                    <a:pt x="35719" y="38852"/>
                  </a:lnTo>
                  <a:lnTo>
                    <a:pt x="71438" y="71876"/>
                  </a:lnTo>
                  <a:lnTo>
                    <a:pt x="107156" y="99622"/>
                  </a:lnTo>
                  <a:lnTo>
                    <a:pt x="142875" y="122653"/>
                  </a:lnTo>
                  <a:lnTo>
                    <a:pt x="178594" y="141541"/>
                  </a:lnTo>
                  <a:lnTo>
                    <a:pt x="214312" y="156858"/>
                  </a:lnTo>
                  <a:lnTo>
                    <a:pt x="250031" y="169135"/>
                  </a:lnTo>
                  <a:lnTo>
                    <a:pt x="285750" y="178860"/>
                  </a:lnTo>
                  <a:lnTo>
                    <a:pt x="321469" y="186480"/>
                  </a:lnTo>
                  <a:lnTo>
                    <a:pt x="357188" y="192386"/>
                  </a:lnTo>
                  <a:lnTo>
                    <a:pt x="392906" y="196910"/>
                  </a:lnTo>
                  <a:lnTo>
                    <a:pt x="428625" y="200330"/>
                  </a:lnTo>
                  <a:lnTo>
                    <a:pt x="464344" y="202902"/>
                  </a:lnTo>
                  <a:lnTo>
                    <a:pt x="500062" y="204807"/>
                  </a:lnTo>
                  <a:lnTo>
                    <a:pt x="535781" y="206197"/>
                  </a:lnTo>
                  <a:lnTo>
                    <a:pt x="571500" y="207216"/>
                  </a:lnTo>
                  <a:lnTo>
                    <a:pt x="607219" y="207940"/>
                  </a:lnTo>
                  <a:lnTo>
                    <a:pt x="642938" y="208455"/>
                  </a:lnTo>
                  <a:lnTo>
                    <a:pt x="678656" y="208817"/>
                  </a:lnTo>
                  <a:lnTo>
                    <a:pt x="714375" y="209064"/>
                  </a:lnTo>
                  <a:lnTo>
                    <a:pt x="750094" y="209245"/>
                  </a:lnTo>
                  <a:lnTo>
                    <a:pt x="785812" y="209359"/>
                  </a:lnTo>
                  <a:lnTo>
                    <a:pt x="785812" y="209588"/>
                  </a:lnTo>
                  <a:close/>
                </a:path>
              </a:pathLst>
            </a:custGeom>
            <a:solidFill>
              <a:srgbClr val="F6C6AC"/>
            </a:solidFill>
            <a:ln>
              <a:noFill/>
            </a:ln>
          </p:spPr>
        </p:sp>
        <p:sp>
          <p:nvSpPr>
            <p:cNvPr id="12" name="Line 12"/>
            <p:cNvSpPr/>
            <p:nvPr/>
          </p:nvSpPr>
          <p:spPr>
            <a:xfrm>
              <a:off x="1333500" y="4320397"/>
              <a:ext cx="3190875" cy="9525"/>
            </a:xfrm>
            <a:custGeom>
              <a:avLst/>
              <a:gdLst/>
              <a:ahLst/>
              <a:cxnLst/>
              <a:rect l="l" t="t" r="r" b="b"/>
              <a:pathLst>
                <a:path w="3190875" h="9525">
                  <a:moveTo>
                    <a:pt x="0" y="0"/>
                  </a:moveTo>
                  <a:lnTo>
                    <a:pt x="3190875" y="0"/>
                  </a:lnTo>
                </a:path>
              </a:pathLst>
            </a:custGeom>
            <a:noFill/>
            <a:ln w="15240">
              <a:solidFill>
                <a:srgbClr val="4B5563"/>
              </a:solidFill>
            </a:ln>
          </p:spPr>
        </p:sp>
        <p:sp>
          <p:nvSpPr>
            <p:cNvPr id="13" name="Polygon 13"/>
            <p:cNvSpPr/>
            <p:nvPr/>
          </p:nvSpPr>
          <p:spPr>
            <a:xfrm>
              <a:off x="4524375" y="4290393"/>
              <a:ext cx="66675" cy="60008"/>
            </a:xfrm>
            <a:custGeom>
              <a:avLst/>
              <a:gdLst/>
              <a:ahLst/>
              <a:cxnLst/>
              <a:rect l="l" t="t" r="r" b="b"/>
              <a:pathLst>
                <a:path w="66675" h="60008">
                  <a:moveTo>
                    <a:pt x="66675" y="30004"/>
                  </a:moveTo>
                  <a:lnTo>
                    <a:pt x="0" y="600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B5563"/>
            </a:solidFill>
            <a:ln>
              <a:noFill/>
            </a:ln>
          </p:spPr>
        </p:sp>
        <p:sp>
          <p:nvSpPr>
            <p:cNvPr id="14" name="Line 14"/>
            <p:cNvSpPr/>
            <p:nvPr/>
          </p:nvSpPr>
          <p:spPr>
            <a:xfrm>
              <a:off x="2905125" y="2447925"/>
              <a:ext cx="9525" cy="2085975"/>
            </a:xfrm>
            <a:custGeom>
              <a:avLst/>
              <a:gdLst/>
              <a:ahLst/>
              <a:cxnLst/>
              <a:rect l="l" t="t" r="r" b="b"/>
              <a:pathLst>
                <a:path w="9525" h="2085975">
                  <a:moveTo>
                    <a:pt x="0" y="2085975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4B5563"/>
              </a:solidFill>
            </a:ln>
          </p:spPr>
        </p:sp>
        <p:sp>
          <p:nvSpPr>
            <p:cNvPr id="15" name="Polygon 15"/>
            <p:cNvSpPr/>
            <p:nvPr/>
          </p:nvSpPr>
          <p:spPr>
            <a:xfrm>
              <a:off x="2875121" y="2381250"/>
              <a:ext cx="60007" cy="66675"/>
            </a:xfrm>
            <a:custGeom>
              <a:avLst/>
              <a:gdLst/>
              <a:ahLst/>
              <a:cxnLst/>
              <a:rect l="l" t="t" r="r" b="b"/>
              <a:pathLst>
                <a:path w="60007" h="66675">
                  <a:moveTo>
                    <a:pt x="30004" y="0"/>
                  </a:moveTo>
                  <a:lnTo>
                    <a:pt x="60007" y="66675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4B556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633341" y="42546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1404938" y="2771775"/>
              <a:ext cx="3000375" cy="1548765"/>
            </a:xfrm>
            <a:custGeom>
              <a:avLst/>
              <a:gdLst/>
              <a:ahLst/>
              <a:cxnLst/>
              <a:rect l="l" t="t" r="r" b="b"/>
              <a:pathLst>
                <a:path w="3000375" h="1548765">
                  <a:moveTo>
                    <a:pt x="0" y="1548765"/>
                  </a:moveTo>
                  <a:lnTo>
                    <a:pt x="35242" y="1547812"/>
                  </a:lnTo>
                  <a:lnTo>
                    <a:pt x="71438" y="1547812"/>
                  </a:lnTo>
                  <a:lnTo>
                    <a:pt x="107633" y="1547812"/>
                  </a:lnTo>
                  <a:lnTo>
                    <a:pt x="142875" y="1547812"/>
                  </a:lnTo>
                  <a:lnTo>
                    <a:pt x="178117" y="1546860"/>
                  </a:lnTo>
                  <a:lnTo>
                    <a:pt x="214312" y="1545908"/>
                  </a:lnTo>
                  <a:lnTo>
                    <a:pt x="250508" y="1544955"/>
                  </a:lnTo>
                  <a:lnTo>
                    <a:pt x="285750" y="1544003"/>
                  </a:lnTo>
                  <a:lnTo>
                    <a:pt x="320992" y="1542097"/>
                  </a:lnTo>
                  <a:lnTo>
                    <a:pt x="357188" y="1539240"/>
                  </a:lnTo>
                  <a:lnTo>
                    <a:pt x="393383" y="1536382"/>
                  </a:lnTo>
                  <a:lnTo>
                    <a:pt x="428625" y="1531620"/>
                  </a:lnTo>
                  <a:lnTo>
                    <a:pt x="463867" y="1525905"/>
                  </a:lnTo>
                  <a:lnTo>
                    <a:pt x="500062" y="1518285"/>
                  </a:lnTo>
                  <a:lnTo>
                    <a:pt x="536258" y="1507808"/>
                  </a:lnTo>
                  <a:lnTo>
                    <a:pt x="571500" y="1495425"/>
                  </a:lnTo>
                  <a:lnTo>
                    <a:pt x="606742" y="1480185"/>
                  </a:lnTo>
                  <a:lnTo>
                    <a:pt x="642938" y="1462088"/>
                  </a:lnTo>
                  <a:lnTo>
                    <a:pt x="679133" y="1438275"/>
                  </a:lnTo>
                  <a:lnTo>
                    <a:pt x="714375" y="1410653"/>
                  </a:lnTo>
                  <a:lnTo>
                    <a:pt x="749617" y="1378268"/>
                  </a:lnTo>
                  <a:lnTo>
                    <a:pt x="785812" y="1339215"/>
                  </a:lnTo>
                  <a:lnTo>
                    <a:pt x="822008" y="1293495"/>
                  </a:lnTo>
                  <a:lnTo>
                    <a:pt x="857250" y="1242060"/>
                  </a:lnTo>
                  <a:lnTo>
                    <a:pt x="892492" y="1183958"/>
                  </a:lnTo>
                  <a:lnTo>
                    <a:pt x="928688" y="1118235"/>
                  </a:lnTo>
                  <a:lnTo>
                    <a:pt x="964883" y="1045845"/>
                  </a:lnTo>
                  <a:lnTo>
                    <a:pt x="1000125" y="967740"/>
                  </a:lnTo>
                  <a:lnTo>
                    <a:pt x="1035367" y="882967"/>
                  </a:lnTo>
                  <a:lnTo>
                    <a:pt x="1071562" y="794385"/>
                  </a:lnTo>
                  <a:lnTo>
                    <a:pt x="1107758" y="702945"/>
                  </a:lnTo>
                  <a:lnTo>
                    <a:pt x="1143000" y="609600"/>
                  </a:lnTo>
                  <a:lnTo>
                    <a:pt x="1178242" y="515303"/>
                  </a:lnTo>
                  <a:lnTo>
                    <a:pt x="1214438" y="423862"/>
                  </a:lnTo>
                  <a:lnTo>
                    <a:pt x="1250632" y="336233"/>
                  </a:lnTo>
                  <a:lnTo>
                    <a:pt x="1285875" y="255270"/>
                  </a:lnTo>
                  <a:lnTo>
                    <a:pt x="1321118" y="181928"/>
                  </a:lnTo>
                  <a:lnTo>
                    <a:pt x="1357312" y="119062"/>
                  </a:lnTo>
                  <a:lnTo>
                    <a:pt x="1393508" y="68580"/>
                  </a:lnTo>
                  <a:lnTo>
                    <a:pt x="1428750" y="30480"/>
                  </a:lnTo>
                  <a:lnTo>
                    <a:pt x="1463992" y="7620"/>
                  </a:lnTo>
                  <a:lnTo>
                    <a:pt x="1500188" y="0"/>
                  </a:lnTo>
                  <a:lnTo>
                    <a:pt x="1536382" y="7620"/>
                  </a:lnTo>
                  <a:lnTo>
                    <a:pt x="1571625" y="30480"/>
                  </a:lnTo>
                  <a:lnTo>
                    <a:pt x="1606868" y="68580"/>
                  </a:lnTo>
                  <a:lnTo>
                    <a:pt x="1643062" y="119062"/>
                  </a:lnTo>
                  <a:lnTo>
                    <a:pt x="1679258" y="181928"/>
                  </a:lnTo>
                  <a:lnTo>
                    <a:pt x="1714500" y="255270"/>
                  </a:lnTo>
                  <a:lnTo>
                    <a:pt x="1749742" y="336233"/>
                  </a:lnTo>
                  <a:lnTo>
                    <a:pt x="1785938" y="423862"/>
                  </a:lnTo>
                  <a:lnTo>
                    <a:pt x="1822132" y="515303"/>
                  </a:lnTo>
                  <a:lnTo>
                    <a:pt x="1857375" y="609600"/>
                  </a:lnTo>
                  <a:lnTo>
                    <a:pt x="1892618" y="702945"/>
                  </a:lnTo>
                  <a:lnTo>
                    <a:pt x="1928812" y="794385"/>
                  </a:lnTo>
                  <a:lnTo>
                    <a:pt x="1965008" y="882967"/>
                  </a:lnTo>
                  <a:lnTo>
                    <a:pt x="2000250" y="967740"/>
                  </a:lnTo>
                  <a:lnTo>
                    <a:pt x="2035492" y="1045845"/>
                  </a:lnTo>
                  <a:lnTo>
                    <a:pt x="2071688" y="1118235"/>
                  </a:lnTo>
                  <a:lnTo>
                    <a:pt x="2107882" y="1183958"/>
                  </a:lnTo>
                  <a:lnTo>
                    <a:pt x="2143125" y="1242060"/>
                  </a:lnTo>
                  <a:lnTo>
                    <a:pt x="2178368" y="1293495"/>
                  </a:lnTo>
                  <a:lnTo>
                    <a:pt x="2214562" y="1339215"/>
                  </a:lnTo>
                  <a:lnTo>
                    <a:pt x="2250758" y="1378268"/>
                  </a:lnTo>
                  <a:lnTo>
                    <a:pt x="2286000" y="1410653"/>
                  </a:lnTo>
                  <a:lnTo>
                    <a:pt x="2321242" y="1438275"/>
                  </a:lnTo>
                  <a:lnTo>
                    <a:pt x="2357438" y="1462088"/>
                  </a:lnTo>
                  <a:lnTo>
                    <a:pt x="2393632" y="1480185"/>
                  </a:lnTo>
                  <a:lnTo>
                    <a:pt x="2428875" y="1495425"/>
                  </a:lnTo>
                  <a:lnTo>
                    <a:pt x="2464118" y="1507808"/>
                  </a:lnTo>
                  <a:lnTo>
                    <a:pt x="2500312" y="1518285"/>
                  </a:lnTo>
                  <a:lnTo>
                    <a:pt x="2536508" y="1525905"/>
                  </a:lnTo>
                  <a:lnTo>
                    <a:pt x="2571750" y="1531620"/>
                  </a:lnTo>
                  <a:lnTo>
                    <a:pt x="2606992" y="1536382"/>
                  </a:lnTo>
                  <a:lnTo>
                    <a:pt x="2643188" y="1539240"/>
                  </a:lnTo>
                  <a:lnTo>
                    <a:pt x="2679382" y="1542097"/>
                  </a:lnTo>
                  <a:lnTo>
                    <a:pt x="2714625" y="1544003"/>
                  </a:lnTo>
                  <a:lnTo>
                    <a:pt x="2749868" y="1544955"/>
                  </a:lnTo>
                  <a:lnTo>
                    <a:pt x="2786062" y="1545908"/>
                  </a:lnTo>
                  <a:lnTo>
                    <a:pt x="2822258" y="1546860"/>
                  </a:lnTo>
                  <a:lnTo>
                    <a:pt x="2857500" y="1547812"/>
                  </a:lnTo>
                  <a:lnTo>
                    <a:pt x="2892742" y="1547812"/>
                  </a:lnTo>
                  <a:lnTo>
                    <a:pt x="2928938" y="1547812"/>
                  </a:lnTo>
                  <a:lnTo>
                    <a:pt x="2965132" y="1547812"/>
                  </a:lnTo>
                  <a:lnTo>
                    <a:pt x="3000375" y="1548765"/>
                  </a:lnTo>
                </a:path>
              </a:pathLst>
            </a:custGeom>
            <a:noFill/>
            <a:ln w="20955">
              <a:solidFill>
                <a:srgbClr val="2F4B9A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2190750" y="3897306"/>
              <a:ext cx="9525" cy="423091"/>
            </a:xfrm>
            <a:custGeom>
              <a:avLst/>
              <a:gdLst/>
              <a:ahLst/>
              <a:cxnLst/>
              <a:rect l="l" t="t" r="r" b="b"/>
              <a:pathLst>
                <a:path w="9525" h="423091">
                  <a:moveTo>
                    <a:pt x="0" y="423091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C2410C"/>
              </a:solidFill>
              <a:custDash>
                <a:ds d="312500" sp="250000"/>
              </a:custDash>
            </a:ln>
          </p:spPr>
        </p:sp>
        <p:sp>
          <p:nvSpPr>
            <p:cNvPr id="19" name="Line 19"/>
            <p:cNvSpPr/>
            <p:nvPr/>
          </p:nvSpPr>
          <p:spPr>
            <a:xfrm>
              <a:off x="3619500" y="3897306"/>
              <a:ext cx="9525" cy="423091"/>
            </a:xfrm>
            <a:custGeom>
              <a:avLst/>
              <a:gdLst/>
              <a:ahLst/>
              <a:cxnLst/>
              <a:rect l="l" t="t" r="r" b="b"/>
              <a:pathLst>
                <a:path w="9525" h="423091">
                  <a:moveTo>
                    <a:pt x="0" y="423091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C2410C"/>
              </a:solidFill>
              <a:custDash>
                <a:ds d="312500" sp="250000"/>
              </a:custDash>
            </a:ln>
          </p:spPr>
        </p:sp>
        <p:sp>
          <p:nvSpPr>
            <p:cNvPr id="20" name="Line 20"/>
            <p:cNvSpPr/>
            <p:nvPr/>
          </p:nvSpPr>
          <p:spPr>
            <a:xfrm>
              <a:off x="2190750" y="4320397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2037378" y="4396121"/>
              <a:ext cx="30674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μ − ε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2905125" y="4320397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2863892" y="4396121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μ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3619500" y="4320397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3466128" y="4396121"/>
              <a:ext cx="30674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μ + ε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560066" y="3531765"/>
              <a:ext cx="690118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1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中间的面积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521656" y="3803494"/>
              <a:ext cx="766939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01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≥ 1 − σ²/ε²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643104" y="3691090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尾巴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1779984" y="3873979"/>
              <a:ext cx="181851" cy="263519"/>
            </a:xfrm>
            <a:custGeom>
              <a:avLst/>
              <a:gdLst/>
              <a:ahLst/>
              <a:cxnLst/>
              <a:rect l="l" t="t" r="r" b="b"/>
              <a:pathLst>
                <a:path w="181851" h="263519">
                  <a:moveTo>
                    <a:pt x="0" y="0"/>
                  </a:moveTo>
                  <a:lnTo>
                    <a:pt x="181851" y="263519"/>
                  </a:lnTo>
                </a:path>
              </a:pathLst>
            </a:custGeom>
            <a:noFill/>
            <a:ln w="12382">
              <a:solidFill>
                <a:srgbClr val="C2410C"/>
              </a:solidFill>
            </a:ln>
          </p:spPr>
        </p:sp>
        <p:sp>
          <p:nvSpPr>
            <p:cNvPr id="30" name="Polygon 30"/>
            <p:cNvSpPr/>
            <p:nvPr/>
          </p:nvSpPr>
          <p:spPr>
            <a:xfrm>
              <a:off x="1940671" y="4122887"/>
              <a:ext cx="53626" cy="61646"/>
            </a:xfrm>
            <a:custGeom>
              <a:avLst/>
              <a:gdLst/>
              <a:ahLst/>
              <a:cxnLst/>
              <a:rect l="l" t="t" r="r" b="b"/>
              <a:pathLst>
                <a:path w="53626" h="61646">
                  <a:moveTo>
                    <a:pt x="53626" y="61646"/>
                  </a:moveTo>
                  <a:lnTo>
                    <a:pt x="0" y="29213"/>
                  </a:lnTo>
                  <a:lnTo>
                    <a:pt x="42329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893385" y="3691090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尾巴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3848414" y="3873979"/>
              <a:ext cx="181851" cy="263519"/>
            </a:xfrm>
            <a:custGeom>
              <a:avLst/>
              <a:gdLst/>
              <a:ahLst/>
              <a:cxnLst/>
              <a:rect l="l" t="t" r="r" b="b"/>
              <a:pathLst>
                <a:path w="181851" h="263519">
                  <a:moveTo>
                    <a:pt x="181851" y="0"/>
                  </a:moveTo>
                  <a:lnTo>
                    <a:pt x="0" y="263519"/>
                  </a:lnTo>
                </a:path>
              </a:pathLst>
            </a:custGeom>
            <a:noFill/>
            <a:ln w="12382">
              <a:solidFill>
                <a:srgbClr val="C2410C"/>
              </a:solidFill>
            </a:ln>
          </p:spPr>
        </p:sp>
        <p:sp>
          <p:nvSpPr>
            <p:cNvPr id="33" name="Polygon 33"/>
            <p:cNvSpPr/>
            <p:nvPr/>
          </p:nvSpPr>
          <p:spPr>
            <a:xfrm>
              <a:off x="3815953" y="4122887"/>
              <a:ext cx="53626" cy="61646"/>
            </a:xfrm>
            <a:custGeom>
              <a:avLst/>
              <a:gdLst/>
              <a:ahLst/>
              <a:cxnLst/>
              <a:rect l="l" t="t" r="r" b="b"/>
              <a:pathLst>
                <a:path w="53626" h="61646">
                  <a:moveTo>
                    <a:pt x="0" y="61646"/>
                  </a:moveTo>
                  <a:lnTo>
                    <a:pt x="11297" y="0"/>
                  </a:lnTo>
                  <a:lnTo>
                    <a:pt x="53626" y="29213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723900" y="4953000"/>
              <a:ext cx="5143500" cy="1104900"/>
            </a:xfrm>
            <a:prstGeom prst="roundRect">
              <a:avLst>
                <a:gd name="adj" fmla="val 862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733425" y="5057775"/>
              <a:ext cx="47625" cy="89535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895350" y="5057775"/>
              <a:ext cx="762000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88314" y="511111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两种写法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89826" y="5369004"/>
              <a:ext cx="3333369" cy="6127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两条尾巴的总面积 P{|X − μ| ≥ ε} ≤ σ²/ε²；</a:t>
              </a:r>
              <a:br/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中间那段的面积 P{|X − μ| &lt; ε} ≥ 1 − σ²/ε²。</a:t>
              </a:r>
              <a:br/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只要 μ 和 σ² 存在就成立，不必知道 X 服从什么分布。</a:t>
              </a:r>
            </a:p>
          </p:txBody>
        </p:sp>
      </p:grpSp>
      <p:grpSp>
        <p:nvGrpSpPr>
          <p:cNvPr id="74" name="chebB"/>
          <p:cNvGrpSpPr/>
          <p:nvPr/>
        </p:nvGrpSpPr>
        <p:grpSpPr>
          <a:xfrm>
            <a:off x="6210300" y="1524000"/>
            <a:ext cx="5448300" cy="4762500"/>
            <a:chOff x="6210300" y="1524000"/>
            <a:chExt cx="5448300" cy="4762500"/>
          </a:xfrm>
        </p:grpSpPr>
        <p:sp>
          <p:nvSpPr>
            <p:cNvPr id="40" name="Rectangle 40"/>
            <p:cNvSpPr/>
            <p:nvPr/>
          </p:nvSpPr>
          <p:spPr>
            <a:xfrm>
              <a:off x="6210300" y="1524000"/>
              <a:ext cx="5448300" cy="4762500"/>
            </a:xfrm>
            <a:prstGeom prst="roundRect">
              <a:avLst>
                <a:gd name="adj" fmla="val 24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394323" y="1662589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这个界有多松：和正态的真值比一比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395466" y="1925002"/>
              <a:ext cx="396849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ε 取 σ 的整数倍时，切比雪夫给的下界与正态分布的真实概率。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7410450" y="2266950"/>
              <a:ext cx="133350" cy="133350"/>
            </a:xfrm>
            <a:prstGeom prst="roundRect">
              <a:avLst>
                <a:gd name="adj" fmla="val 21429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595806" y="2271951"/>
              <a:ext cx="826084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切比雪夫下界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8763000" y="2266950"/>
              <a:ext cx="133350" cy="133350"/>
            </a:xfrm>
            <a:prstGeom prst="roundRect">
              <a:avLst>
                <a:gd name="adj" fmla="val 21429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948356" y="2271951"/>
              <a:ext cx="962050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正态分布的真值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528626" y="2635329"/>
              <a:ext cx="357712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09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ε = σ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7410450" y="2590800"/>
              <a:ext cx="14288" cy="209550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495794" y="2643426"/>
              <a:ext cx="900866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0（没有信息）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7410450" y="2876550"/>
              <a:ext cx="2067868" cy="209550"/>
            </a:xfrm>
            <a:prstGeom prst="roundRect">
              <a:avLst>
                <a:gd name="adj" fmla="val 18182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9549384" y="2929176"/>
              <a:ext cx="458975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0.6827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528626" y="3378279"/>
              <a:ext cx="442452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09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ε = 2σ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7410450" y="3333750"/>
              <a:ext cx="2271712" cy="209550"/>
            </a:xfrm>
            <a:prstGeom prst="roundRect">
              <a:avLst>
                <a:gd name="adj" fmla="val 18182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9753219" y="3386376"/>
              <a:ext cx="458975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0.7500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7410450" y="3619500"/>
              <a:ext cx="2891133" cy="209550"/>
            </a:xfrm>
            <a:prstGeom prst="roundRect">
              <a:avLst>
                <a:gd name="adj" fmla="val 18182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10372630" y="3672126"/>
              <a:ext cx="458975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0.9545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528626" y="4121229"/>
              <a:ext cx="442452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09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ε = 3σ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7410450" y="4076700"/>
              <a:ext cx="2692403" cy="209550"/>
            </a:xfrm>
            <a:prstGeom prst="roundRect">
              <a:avLst>
                <a:gd name="adj" fmla="val 18182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10173938" y="4129326"/>
              <a:ext cx="458975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0.8889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7410450" y="4362450"/>
              <a:ext cx="3020768" cy="209550"/>
            </a:xfrm>
            <a:prstGeom prst="roundRect">
              <a:avLst>
                <a:gd name="adj" fmla="val 18182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10502265" y="4415076"/>
              <a:ext cx="458975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0.9973</a:t>
              </a:r>
            </a:p>
          </p:txBody>
        </p:sp>
        <p:sp>
          <p:nvSpPr>
            <p:cNvPr id="62" name="Line 62"/>
            <p:cNvSpPr/>
            <p:nvPr/>
          </p:nvSpPr>
          <p:spPr>
            <a:xfrm>
              <a:off x="7410450" y="4743450"/>
              <a:ext cx="3028950" cy="9525"/>
            </a:xfrm>
            <a:custGeom>
              <a:avLst/>
              <a:gdLst/>
              <a:ahLst/>
              <a:cxnLst/>
              <a:rect l="l" t="t" r="r" b="b"/>
              <a:pathLst>
                <a:path w="3028950" h="9525">
                  <a:moveTo>
                    <a:pt x="0" y="0"/>
                  </a:moveTo>
                  <a:lnTo>
                    <a:pt x="3028950" y="0"/>
                  </a:lnTo>
                </a:path>
              </a:pathLst>
            </a:custGeom>
            <a:noFill/>
            <a:ln w="13335">
              <a:solidFill>
                <a:srgbClr val="D9DFEA"/>
              </a:solidFill>
            </a:ln>
          </p:spPr>
        </p:sp>
        <p:sp>
          <p:nvSpPr>
            <p:cNvPr id="63" name="Line 63"/>
            <p:cNvSpPr/>
            <p:nvPr/>
          </p:nvSpPr>
          <p:spPr>
            <a:xfrm>
              <a:off x="7410450" y="474345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3335">
              <a:solidFill>
                <a:srgbClr val="4B5563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369217" y="48286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5" name="Line 65"/>
            <p:cNvSpPr/>
            <p:nvPr/>
          </p:nvSpPr>
          <p:spPr>
            <a:xfrm>
              <a:off x="8924925" y="474345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3335">
              <a:solidFill>
                <a:srgbClr val="4B5563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8811132" y="4828699"/>
              <a:ext cx="2275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0.5</a:t>
              </a:r>
            </a:p>
          </p:txBody>
        </p:sp>
        <p:sp>
          <p:nvSpPr>
            <p:cNvPr id="67" name="Line 67"/>
            <p:cNvSpPr/>
            <p:nvPr/>
          </p:nvSpPr>
          <p:spPr>
            <a:xfrm>
              <a:off x="10439400" y="474345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3335">
              <a:solidFill>
                <a:srgbClr val="4B5563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10398167" y="48286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6400800" y="5143500"/>
              <a:ext cx="5067300" cy="914400"/>
            </a:xfrm>
            <a:prstGeom prst="roundRect">
              <a:avLst>
                <a:gd name="adj" fmla="val 1041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0" name="Rectangle 70"/>
            <p:cNvSpPr/>
            <p:nvPr/>
          </p:nvSpPr>
          <p:spPr>
            <a:xfrm>
              <a:off x="6410325" y="5248275"/>
              <a:ext cx="47625" cy="704850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6572250" y="5248275"/>
              <a:ext cx="628650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6669215" y="530161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怎么看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566726" y="5559504"/>
              <a:ext cx="3610229" cy="412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ε ≤ σ 时下界是 0 或负数，不等式说不出任何东西。</a:t>
              </a:r>
              <a:br/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界松是因为它对一切分布都要成立，只能照最坏的分布给。</a:t>
              </a:r>
            </a:p>
          </p:txBody>
        </p:sp>
      </p:grpSp>
      <p:grpSp>
        <p:nvGrpSpPr>
          <p:cNvPr id="7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5" name="TextBox 75"/>
            <p:cNvSpPr txBox="1"/>
            <p:nvPr/>
          </p:nvSpPr>
          <p:spPr>
            <a:xfrm>
              <a:off x="528447" y="6581299"/>
              <a:ext cx="3044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第5章 大数定律及中心极限定理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极限定理 · 切比雪夫不等式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切比雪夫不等式：方差小，取值就挤在期望附近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card-1"/>
          <p:cNvGrpSpPr/>
          <p:nvPr/>
        </p:nvGrpSpPr>
        <p:grpSpPr>
          <a:xfrm>
            <a:off x="533400" y="1524000"/>
            <a:ext cx="6059805" cy="2731770"/>
            <a:chOff x="533400" y="1524000"/>
            <a:chExt cx="6059805" cy="273177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2731770"/>
            </a:xfrm>
            <a:prstGeom prst="roundRect">
              <a:avLst>
                <a:gd name="adj" fmla="val 488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46507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5345" y="17506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定理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47597" y="1756410"/>
              <a:ext cx="25998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切比雪夫（Chebyshev）不等式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7047" y="2090738"/>
              <a:ext cx="527723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设随机变量 X 的期望 E(X) = μ 与方差 D(X) = σ² 都存在，则对任意给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定的正数 ε 有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13"/>
                <p:cNvSpPr txBox="1">
                  <a:spLocks noGrp="1"/>
                </p:cNvSpPr>
                <p:nvPr/>
              </p:nvSpPr>
              <p:spPr>
                <a:xfrm>
                  <a:off x="763905" y="2627948"/>
                  <a:ext cx="5636895" cy="5143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{"/>
                            <m:sepChr m:val=""/>
                            <m:endChr m:val="}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sepChr m:val=""/>
                                <m:endChr m:val="|"/>
                                <m:grow m:val="on"/>
                                <m:ctrl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μ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≥</m:t>
                            </m:r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ε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≤</m:t>
                        </m:r>
                        <m:f>
                          <m:fPr>
                            <m:type m:val="bar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σ</m:t>
                                </m:r>
                              </m:e>
                              <m:sup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p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ε</m:t>
                                </m:r>
                              </m:e>
                              <m:sup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4" name="TextBox 14"/>
            <p:cNvSpPr txBox="1"/>
            <p:nvPr/>
          </p:nvSpPr>
          <p:spPr>
            <a:xfrm>
              <a:off x="757047" y="3250882"/>
              <a:ext cx="43754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把两边的事件换成对立事件，得到同样常用的等价形式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formula14"/>
                <p:cNvSpPr txBox="1">
                  <a:spLocks noGrp="1"/>
                </p:cNvSpPr>
                <p:nvPr/>
              </p:nvSpPr>
              <p:spPr>
                <a:xfrm>
                  <a:off x="763905" y="3530918"/>
                  <a:ext cx="5636895" cy="5143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{"/>
                            <m:sepChr m:val=""/>
                            <m:endChr m:val="}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sepChr m:val=""/>
                                <m:endChr m:val="|"/>
                                <m:grow m:val="on"/>
                                <m:ctrl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μ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&lt;</m:t>
                            </m:r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ε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≥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σ</m:t>
                                </m:r>
                              </m:e>
                              <m:sup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p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ε</m:t>
                                </m:r>
                              </m:e>
                              <m:sup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22" name="c1-card-2"/>
          <p:cNvGrpSpPr/>
          <p:nvPr/>
        </p:nvGrpSpPr>
        <p:grpSpPr>
          <a:xfrm>
            <a:off x="533400" y="4430078"/>
            <a:ext cx="6059805" cy="1209675"/>
            <a:chOff x="533400" y="4430078"/>
            <a:chExt cx="6059805" cy="1209675"/>
          </a:xfrm>
        </p:grpSpPr>
        <p:sp>
          <p:nvSpPr>
            <p:cNvPr id="17" name="Rectangle 17"/>
            <p:cNvSpPr/>
            <p:nvPr/>
          </p:nvSpPr>
          <p:spPr>
            <a:xfrm>
              <a:off x="533400" y="4430078"/>
              <a:ext cx="6059805" cy="1209675"/>
            </a:xfrm>
            <a:prstGeom prst="roundRect">
              <a:avLst>
                <a:gd name="adj" fmla="val 110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542925" y="4563428"/>
              <a:ext cx="47625" cy="94297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63905" y="4622482"/>
              <a:ext cx="15430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23341" y="4656772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什么时候它才说得出话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57047" y="4979670"/>
              <a:ext cx="520865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ε ≤ σ 时右边的 1 − σ²/ε² 小于等于 0，下界成立但毫无信息。ε 要取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 σ 的若干倍，结论才有用。</a:t>
              </a:r>
            </a:p>
          </p:txBody>
        </p:sp>
      </p:grpSp>
      <p:grpSp>
        <p:nvGrpSpPr>
          <p:cNvPr id="25" name="c2-image-1"/>
          <p:cNvGrpSpPr/>
          <p:nvPr/>
        </p:nvGrpSpPr>
        <p:grpSpPr>
          <a:xfrm>
            <a:off x="6898005" y="1524000"/>
            <a:ext cx="4760595" cy="2032254"/>
            <a:chOff x="6898005" y="1524000"/>
            <a:chExt cx="4760595" cy="2032254"/>
          </a:xfrm>
        </p:grpSpPr>
        <p:pic>
          <p:nvPicPr>
            <p:cNvPr id="23" name="Image 23"/>
            <p:cNvPicPr>
              <a:picLocks noChangeAspect="1"/>
            </p:cNvPicPr>
            <p:nvPr/>
          </p:nvPicPr>
          <p:blipFill>
            <a:blip r:embed="rId2"/>
            <a:srcRect l="0" t="25724" r="0" b="25723"/>
            <a:stretch>
              <a:fillRect/>
            </a:stretch>
          </p:blipFill>
          <p:spPr>
            <a:xfrm>
              <a:off x="6898005" y="1524000"/>
              <a:ext cx="4760595" cy="1733550"/>
            </a:xfrm>
            <a:prstGeom prst="roundRect">
              <a:avLst>
                <a:gd name="adj" fmla="val 7692"/>
              </a:avLst>
            </a:prstGeom>
          </p:spPr>
        </p:pic>
        <p:sp>
          <p:nvSpPr>
            <p:cNvPr id="24" name="TextBox 24"/>
            <p:cNvSpPr txBox="1"/>
            <p:nvPr/>
          </p:nvSpPr>
          <p:spPr>
            <a:xfrm>
              <a:off x="7718108" y="3350895"/>
              <a:ext cx="31203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离支点远的砝码只能放很少几个，否则杠杆会失衡</a:t>
              </a:r>
            </a:p>
          </p:txBody>
        </p:sp>
      </p:grpSp>
      <p:grpSp>
        <p:nvGrpSpPr>
          <p:cNvPr id="31" name="c2-card-2"/>
          <p:cNvGrpSpPr/>
          <p:nvPr/>
        </p:nvGrpSpPr>
        <p:grpSpPr>
          <a:xfrm>
            <a:off x="6898005" y="3709035"/>
            <a:ext cx="4760595" cy="1930718"/>
            <a:chOff x="6898005" y="3709035"/>
            <a:chExt cx="4760595" cy="1930718"/>
          </a:xfrm>
        </p:grpSpPr>
        <p:sp>
          <p:nvSpPr>
            <p:cNvPr id="26" name="Rectangle 26"/>
            <p:cNvSpPr/>
            <p:nvPr/>
          </p:nvSpPr>
          <p:spPr>
            <a:xfrm>
              <a:off x="6898005" y="3709035"/>
              <a:ext cx="4760595" cy="1930718"/>
            </a:xfrm>
            <a:prstGeom prst="roundRect">
              <a:avLst>
                <a:gd name="adj" fmla="val 690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6907530" y="3842385"/>
              <a:ext cx="47625" cy="1664018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7128510" y="3901440"/>
              <a:ext cx="87630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207948" y="393573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一句话证明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121652" y="4258628"/>
              <a:ext cx="4102798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方差 σ² 是“偏离量的平方”的加权平均。若在离 μ 有 ε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以外的地方放了 p 那么多概率，这部分对 σ² 的贡献至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少是 p·ε²，于是 pε² ≤ σ²，也就是 p ≤ σ²/ε²。</a:t>
              </a:r>
            </a:p>
          </p:txBody>
        </p:sp>
      </p:grpSp>
      <p:grpSp>
        <p:nvGrpSpPr>
          <p:cNvPr id="37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32" name="Rectangle 32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1040892" y="6023610"/>
              <a:ext cx="69197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不等式对一切有期望和方差的分布都成立，离散型、连续型、甚至分布未知时都能用。</a:t>
              </a:r>
            </a:p>
          </p:txBody>
        </p:sp>
      </p:grpSp>
      <p:grpSp>
        <p:nvGrpSpPr>
          <p:cNvPr id="4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8" name="TextBox 38"/>
            <p:cNvSpPr txBox="1"/>
            <p:nvPr/>
          </p:nvSpPr>
          <p:spPr>
            <a:xfrm>
              <a:off x="528447" y="6581299"/>
              <a:ext cx="3044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第5章 大数定律及中心极限定理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极限定理 · 切比雪夫不等式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证明：在积分区域上把被积函数放大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8704781" cy="308039"/>
            <a:chOff x="525399" y="1550194"/>
            <a:chExt cx="8704781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870478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关键一步是在区域 |x − μ| ≥ ε 上，(x − μ)²/ε² 这个因子不小于 1，乘上去只会把积分变大。</a:t>
              </a:r>
            </a:p>
          </p:txBody>
        </p:sp>
      </p:grpSp>
      <p:grpSp>
        <p:nvGrpSpPr>
          <p:cNvPr id="22" name="c1-steps-1"/>
          <p:cNvGrpSpPr/>
          <p:nvPr/>
        </p:nvGrpSpPr>
        <p:grpSpPr>
          <a:xfrm>
            <a:off x="533400" y="1977390"/>
            <a:ext cx="4652137" cy="2112930"/>
            <a:chOff x="533400" y="1977390"/>
            <a:chExt cx="4652137" cy="2112930"/>
          </a:xfrm>
        </p:grpSpPr>
        <p:sp>
          <p:nvSpPr>
            <p:cNvPr id="9" name="Rectangle 9"/>
            <p:cNvSpPr/>
            <p:nvPr/>
          </p:nvSpPr>
          <p:spPr>
            <a:xfrm>
              <a:off x="666750" y="2120265"/>
              <a:ext cx="19050" cy="153638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533400" y="197739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0512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62794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7017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51282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58663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4880" y="201168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第一步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023" y="2304574"/>
              <a:ext cx="400201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把要估计的概率写成密度在区域 |x − μ| ≥ ε 上的积分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4880" y="2662238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第二步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023" y="2955131"/>
              <a:ext cx="423951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在这个区域上乘一个不小于 1 的因子 (x − μ)²/ε²，积分只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增不减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4880" y="354711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第三步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023" y="3840956"/>
              <a:ext cx="38124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把积分区域扩大到整条实轴，得到的正好是 σ²/ε²</a:t>
              </a:r>
            </a:p>
          </p:txBody>
        </p:sp>
      </p:grpSp>
      <p:grpSp>
        <p:nvGrpSpPr>
          <p:cNvPr id="28" name="c1-card-2"/>
          <p:cNvGrpSpPr/>
          <p:nvPr/>
        </p:nvGrpSpPr>
        <p:grpSpPr>
          <a:xfrm>
            <a:off x="533400" y="4269105"/>
            <a:ext cx="4977765" cy="1316355"/>
            <a:chOff x="533400" y="4269105"/>
            <a:chExt cx="4977765" cy="1316355"/>
          </a:xfrm>
        </p:grpSpPr>
        <p:sp>
          <p:nvSpPr>
            <p:cNvPr id="23" name="Rectangle 23"/>
            <p:cNvSpPr/>
            <p:nvPr/>
          </p:nvSpPr>
          <p:spPr>
            <a:xfrm>
              <a:off x="533400" y="4269105"/>
              <a:ext cx="4977765" cy="1316355"/>
            </a:xfrm>
            <a:prstGeom prst="roundRect">
              <a:avLst>
                <a:gd name="adj" fmla="val 10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542925" y="4402455"/>
              <a:ext cx="47625" cy="104965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81050" y="4478655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58457" y="451437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离散型同理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73430" y="4855845"/>
              <a:ext cx="41205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把密度 f(x) 换成分布律 pₖ、把积分换成对满足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|xₖ − μ| ≥ ε 的那些 k 求和，三步放大完全一样。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formula19"/>
              <p:cNvSpPr txBox="1">
                <a:spLocks noGrp="1"/>
              </p:cNvSpPr>
              <p:nvPr/>
            </p:nvSpPr>
            <p:spPr>
              <a:xfrm>
                <a:off x="5815965" y="1967865"/>
                <a:ext cx="5842635" cy="5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P</m:t>
                      </m:r>
                      <m:d>
                        <m:dPr>
                          <m:begChr m:val="{"/>
                          <m:sepChr m:val=""/>
                          <m:endChr m:val="}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sepChr m:val=""/>
                              <m:endChr m:val="|"/>
                              <m:grow m:val="on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μ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≥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ε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∫"/>
                          <m:limLoc m:val="subSup"/>
                          <m:grow m:val="off"/>
                          <m:subHide m:val="off"/>
                          <m:supHide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d>
                            <m:dPr>
                              <m:begChr m:val="|"/>
                              <m:sepChr m:val=""/>
                              <m:endChr m:val="|"/>
                              <m:grow m:val="on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μ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≥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ε</m:t>
                          </m:r>
                        </m:sub>
                        <m:sup/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</m:d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nary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formula20"/>
              <p:cNvSpPr txBox="1">
                <a:spLocks noGrp="1"/>
              </p:cNvSpPr>
              <p:nvPr/>
            </p:nvSpPr>
            <p:spPr>
              <a:xfrm>
                <a:off x="5815965" y="2691765"/>
                <a:ext cx="5842635" cy="5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≤</m:t>
                      </m:r>
                      <m:nary>
                        <m:naryPr>
                          <m:chr m:val="∫"/>
                          <m:limLoc m:val="subSup"/>
                          <m:grow m:val="off"/>
                          <m:subHide m:val="off"/>
                          <m:supHide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d>
                            <m:dPr>
                              <m:begChr m:val="|"/>
                              <m:sepChr m:val=""/>
                              <m:endChr m:val="|"/>
                              <m:grow m:val="on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μ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≥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ε</m:t>
                          </m:r>
                        </m:sub>
                        <m:sup/>
                        <m:e>
                          <m:f>
                            <m:fPr>
                              <m:type m:val="bar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sSup>
                                <m:e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 m:val="on"/>
                                      <m:ctrlP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−</m:t>
                                      </m:r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μ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p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ε</m:t>
                                  </m:r>
                                </m:e>
                                <m:sup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</m:d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nary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formula21"/>
              <p:cNvSpPr txBox="1">
                <a:spLocks noGrp="1"/>
              </p:cNvSpPr>
              <p:nvPr/>
            </p:nvSpPr>
            <p:spPr>
              <a:xfrm>
                <a:off x="5815965" y="3415665"/>
                <a:ext cx="5842635" cy="5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≤</m:t>
                      </m:r>
                      <m:f>
                        <m:fPr>
                          <m:type m:val="bar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sSup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ε</m:t>
                              </m:r>
                            </m:e>
                            <m:sup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nary>
                        <m:naryPr>
                          <m:chr m:val="∫"/>
                          <m:limLoc m:val="subSup"/>
                          <m:grow m:val="off"/>
                          <m:subHide m:val="off"/>
                          <m:supHide m:val="off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−∞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+∞</m:t>
                          </m:r>
                        </m:sup>
                        <m:e>
                          <m:sSup>
                            <m:e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μ</m:t>
                                  </m:r>
                                </m:e>
                              </m:d>
                            </m:e>
                            <m:sup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</m:d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nary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p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σ</m:t>
                              </m:r>
                            </m:e>
                            <m:sup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ε</m:t>
                              </m:r>
                            </m:e>
                            <m:sup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38" name="c2-callout-4"/>
          <p:cNvGrpSpPr/>
          <p:nvPr/>
        </p:nvGrpSpPr>
        <p:grpSpPr>
          <a:xfrm>
            <a:off x="5815965" y="4139565"/>
            <a:ext cx="5842635" cy="1445895"/>
            <a:chOff x="5815965" y="4139565"/>
            <a:chExt cx="5842635" cy="1445895"/>
          </a:xfrm>
        </p:grpSpPr>
        <p:sp>
          <p:nvSpPr>
            <p:cNvPr id="32" name="Rectangle 32"/>
            <p:cNvSpPr/>
            <p:nvPr/>
          </p:nvSpPr>
          <p:spPr>
            <a:xfrm>
              <a:off x="5815965" y="4139565"/>
              <a:ext cx="5842635" cy="1445895"/>
            </a:xfrm>
            <a:prstGeom prst="roundRect">
              <a:avLst>
                <a:gd name="adj" fmla="val 790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6020753" y="4762500"/>
              <a:ext cx="200026" cy="200025"/>
              <a:chOff x="6020753" y="4762500"/>
              <a:chExt cx="200026" cy="200025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6020753" y="476250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6060491" y="480695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6095207" y="491807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6322695" y="4619625"/>
              <a:ext cx="4777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两次都是放大，所以得到的是上界；这也解释了为什么这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个界通常偏松。</a:t>
              </a:r>
            </a:p>
          </p:txBody>
        </p:sp>
      </p:grpSp>
      <p:grpSp>
        <p:nvGrpSpPr>
          <p:cNvPr id="4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9" name="TextBox 39"/>
            <p:cNvSpPr txBox="1"/>
            <p:nvPr/>
          </p:nvSpPr>
          <p:spPr>
            <a:xfrm>
              <a:off x="528447" y="6581299"/>
              <a:ext cx="3044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第5章 大数定律及中心极限定理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35180" cy="909257"/>
            <a:chOff x="520446" y="342900"/>
            <a:chExt cx="75351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极限定理 · 切比雪夫不等式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351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例1：3σ 之内至少占 8/9，正态分布则是 0.9973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760595" cy="2213610"/>
            <a:chOff x="533400" y="1524000"/>
            <a:chExt cx="4760595" cy="221361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2213610"/>
            </a:xfrm>
            <a:prstGeom prst="roundRect">
              <a:avLst>
                <a:gd name="adj" fmla="val 60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94691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3434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3582" y="1769269"/>
              <a:ext cx="2492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3974782" cy="5505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只知道期望和方差时，落在 3σ 以内的概率有多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722245"/>
              <a:ext cx="40538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设随机变量 X 的 E(X) = μ、D(X) = σ²，用切比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雪夫不等式估计 P{|X − μ| &lt; 3σ}；再问 X 服从正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态分布 N(μ, σ²) 时这个概率是多少。</a:t>
              </a:r>
            </a:p>
          </p:txBody>
        </p:sp>
      </p:grpSp>
      <p:grpSp>
        <p:nvGrpSpPr>
          <p:cNvPr id="19" name="c1-card-2"/>
          <p:cNvGrpSpPr/>
          <p:nvPr/>
        </p:nvGrpSpPr>
        <p:grpSpPr>
          <a:xfrm>
            <a:off x="533400" y="3928110"/>
            <a:ext cx="4760595" cy="1602105"/>
            <a:chOff x="533400" y="3928110"/>
            <a:chExt cx="4760595" cy="1602105"/>
          </a:xfrm>
        </p:grpSpPr>
        <p:sp>
          <p:nvSpPr>
            <p:cNvPr id="14" name="Rectangle 14"/>
            <p:cNvSpPr/>
            <p:nvPr/>
          </p:nvSpPr>
          <p:spPr>
            <a:xfrm>
              <a:off x="533400" y="3928110"/>
              <a:ext cx="4760595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4061460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81050" y="413766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71258" y="417337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思路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73430" y="4514850"/>
              <a:ext cx="4015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 ε = 3σ 代进等价形式即可。第二问不用不等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式，直接标准化查表，两个答案放在一起正好看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出不等式有多保守。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formula24"/>
              <p:cNvSpPr txBox="1">
                <a:spLocks noGrp="1"/>
              </p:cNvSpPr>
              <p:nvPr/>
            </p:nvSpPr>
            <p:spPr>
              <a:xfrm>
                <a:off x="5598795" y="1524000"/>
                <a:ext cx="6059805" cy="4886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P</m:t>
                      </m:r>
                      <m:d>
                        <m:dPr>
                          <m:begChr m:val="{"/>
                          <m:sepChr m:val=""/>
                          <m:endChr m:val="}"/>
                          <m:grow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sepChr m:val=""/>
                              <m:endChr m:val="|"/>
                              <m:grow m:val="on"/>
                              <m:ctrl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μ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&lt;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3σ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≥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f>
                        <m:fPr>
                          <m:type m:val="bar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p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σ</m:t>
                              </m:r>
                            </m:e>
                            <m:sup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e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3σ</m:t>
                                  </m:r>
                                </m:e>
                              </m:d>
                            </m:e>
                            <m:sup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f>
                        <m:fPr>
                          <m:type m:val="bar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9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8</m:t>
                          </m:r>
                        </m:num>
                        <m:den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9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≈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0.8889</m:t>
                      </m:r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formula25"/>
              <p:cNvSpPr txBox="1">
                <a:spLocks noGrp="1"/>
              </p:cNvSpPr>
              <p:nvPr/>
            </p:nvSpPr>
            <p:spPr>
              <a:xfrm>
                <a:off x="5598795" y="2203132"/>
                <a:ext cx="6059805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X</m:t>
                      </m:r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∼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N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μ</m:t>
                          </m:r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sSup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σ</m:t>
                              </m:r>
                            </m:e>
                            <m:sup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: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P</m:t>
                      </m:r>
                      <m:d>
                        <m:dPr>
                          <m:begChr m:val="{"/>
                          <m:sepChr m:val=""/>
                          <m:endChr m:val="}"/>
                          <m:grow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sepChr m:val=""/>
                              <m:endChr m:val="|"/>
                              <m:grow m:val="on"/>
                              <m:ctrl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μ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&lt;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3σ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</m:t>
                      </m:r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Φ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3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0.9973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27" name="c2-card-3"/>
          <p:cNvGrpSpPr/>
          <p:nvPr/>
        </p:nvGrpSpPr>
        <p:grpSpPr>
          <a:xfrm>
            <a:off x="5598795" y="2755582"/>
            <a:ext cx="6059805" cy="1602105"/>
            <a:chOff x="5598795" y="2755582"/>
            <a:chExt cx="6059805" cy="1602105"/>
          </a:xfrm>
        </p:grpSpPr>
        <p:sp>
          <p:nvSpPr>
            <p:cNvPr id="22" name="Rectangle 22"/>
            <p:cNvSpPr/>
            <p:nvPr/>
          </p:nvSpPr>
          <p:spPr>
            <a:xfrm>
              <a:off x="5598795" y="2755582"/>
              <a:ext cx="6059805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5608320" y="2888932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846445" y="2965132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937606" y="300085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838825" y="3342322"/>
              <a:ext cx="48920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原课件把正态的结果写作 0.9974，那是由表上四舍五入的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Φ(3) = 0.9987 折算来的。2Φ(3) − 1 的真值是 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0.99730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（mpmath 复核）。</a:t>
              </a:r>
            </a:p>
          </p:txBody>
        </p:sp>
      </p:grpSp>
      <p:grpSp>
        <p:nvGrpSpPr>
          <p:cNvPr id="33" name="c2-callout-4"/>
          <p:cNvGrpSpPr/>
          <p:nvPr/>
        </p:nvGrpSpPr>
        <p:grpSpPr>
          <a:xfrm>
            <a:off x="5598795" y="4548188"/>
            <a:ext cx="6059805" cy="982028"/>
            <a:chOff x="5598795" y="4548188"/>
            <a:chExt cx="6059805" cy="982028"/>
          </a:xfrm>
        </p:grpSpPr>
        <p:sp>
          <p:nvSpPr>
            <p:cNvPr id="28" name="Rectangle 28"/>
            <p:cNvSpPr/>
            <p:nvPr/>
          </p:nvSpPr>
          <p:spPr>
            <a:xfrm>
              <a:off x="5598795" y="4548188"/>
              <a:ext cx="6059805" cy="982028"/>
            </a:xfrm>
            <a:prstGeom prst="roundRect">
              <a:avLst>
                <a:gd name="adj" fmla="val 11639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5803583" y="4939665"/>
              <a:ext cx="200026" cy="200026"/>
              <a:chOff x="5803583" y="4939665"/>
              <a:chExt cx="200026" cy="200026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5803583" y="493966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5870258" y="5017453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6105525" y="4796790"/>
              <a:ext cx="47586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分布未知只能说“至少 88.9%”，知道是正态就能说“恰好</a:t>
              </a:r>
              <a:br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99.73%”，差距来自信息量而不是算错。</a:t>
              </a:r>
            </a:p>
          </p:txBody>
        </p:sp>
      </p:grpSp>
      <p:grpSp>
        <p:nvGrpSpPr>
          <p:cNvPr id="40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34" name="Rectangle 34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726129" y="5992296"/>
              <a:ext cx="224134" cy="192560"/>
              <a:chOff x="726129" y="5992296"/>
              <a:chExt cx="224134" cy="19256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838200" y="606266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726129" y="599229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838200" y="61404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1040130" y="5991225"/>
              <a:ext cx="84963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切比雪夫给的是对一切分布都成立的下界。已经知道具体分布时应当直接算，不要再用不等式。</a:t>
              </a:r>
            </a:p>
          </p:txBody>
        </p:sp>
      </p:grpSp>
      <p:grpSp>
        <p:nvGrpSpPr>
          <p:cNvPr id="4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1" name="TextBox 41"/>
            <p:cNvSpPr txBox="1"/>
            <p:nvPr/>
          </p:nvSpPr>
          <p:spPr>
            <a:xfrm>
              <a:off x="528447" y="6581299"/>
              <a:ext cx="3044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第5章 大数定律及中心极限定理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059930" cy="909257"/>
            <a:chOff x="520446" y="342900"/>
            <a:chExt cx="605993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极限定理 · 切比雪夫不等式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05993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例2：两个变量相加，方差要带上协方差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977765" cy="1226820"/>
            <a:chOff x="533400" y="1524000"/>
            <a:chExt cx="4977765" cy="122682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1226820"/>
            </a:xfrm>
            <a:prstGeom prst="roundRect">
              <a:avLst>
                <a:gd name="adj" fmla="val 1087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96012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420052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6630" y="1750695"/>
              <a:ext cx="2336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例2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291400" y="1756410"/>
              <a:ext cx="31416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用切比雪夫不等式估计 P{|X + Y| ≥ 6}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7047" y="2090738"/>
              <a:ext cx="432568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 E(X) = −2、E(Y) = 2、D(X) = 1、D(Y) = 4，X 与 Y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的相关系数 ρ = −0.5。求 P{|X + Y| ≥ 6} 的上界。</a:t>
              </a:r>
            </a:p>
          </p:txBody>
        </p:sp>
      </p:grpSp>
      <p:grpSp>
        <p:nvGrpSpPr>
          <p:cNvPr id="19" name="c1-card-2"/>
          <p:cNvGrpSpPr/>
          <p:nvPr/>
        </p:nvGrpSpPr>
        <p:grpSpPr>
          <a:xfrm>
            <a:off x="533400" y="2926080"/>
            <a:ext cx="4977765" cy="1466850"/>
            <a:chOff x="533400" y="2926080"/>
            <a:chExt cx="4977765" cy="1466850"/>
          </a:xfrm>
        </p:grpSpPr>
        <p:sp>
          <p:nvSpPr>
            <p:cNvPr id="14" name="Rectangle 14"/>
            <p:cNvSpPr/>
            <p:nvPr/>
          </p:nvSpPr>
          <p:spPr>
            <a:xfrm>
              <a:off x="533400" y="2926080"/>
              <a:ext cx="4977765" cy="146685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3059430"/>
              <a:ext cx="47625" cy="120015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63905" y="311848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55345" y="315277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思路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7047" y="3474720"/>
              <a:ext cx="4274248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切比雪夫不等式要的是 X + Y 这个新变量的期望和方差。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期望直接相加，方差必须用 D(X + Y) = D(X) + D(Y) +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2Cov(X, Y)，而协方差由相关系数还原。</a:t>
              </a:r>
            </a:p>
          </p:txBody>
        </p:sp>
      </p:grpSp>
      <p:grpSp>
        <p:nvGrpSpPr>
          <p:cNvPr id="26" name="c1-callout-3"/>
          <p:cNvGrpSpPr/>
          <p:nvPr/>
        </p:nvGrpSpPr>
        <p:grpSpPr>
          <a:xfrm>
            <a:off x="533400" y="4567238"/>
            <a:ext cx="4977765" cy="729615"/>
            <a:chOff x="533400" y="4567238"/>
            <a:chExt cx="4977765" cy="729615"/>
          </a:xfrm>
        </p:grpSpPr>
        <p:sp>
          <p:nvSpPr>
            <p:cNvPr id="20" name="Rectangle 20"/>
            <p:cNvSpPr/>
            <p:nvPr/>
          </p:nvSpPr>
          <p:spPr>
            <a:xfrm>
              <a:off x="533400" y="4567238"/>
              <a:ext cx="4977765" cy="729615"/>
            </a:xfrm>
            <a:prstGeom prst="roundRect">
              <a:avLst>
                <a:gd name="adj" fmla="val 15666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726129" y="4828341"/>
              <a:ext cx="224134" cy="192560"/>
              <a:chOff x="726129" y="4828341"/>
              <a:chExt cx="224134" cy="19256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838200" y="489870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726129" y="482834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838200" y="497649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1040892" y="4713922"/>
              <a:ext cx="3759898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ρ 是负的，协方差也是负的，相加以后方差反而比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D(X) + D(Y) 小。</a:t>
              </a:r>
            </a:p>
          </p:txBody>
        </p:sp>
      </p:grpSp>
      <p:grpSp>
        <p:nvGrpSpPr>
          <p:cNvPr id="44" name="c2-steps-1"/>
          <p:cNvGrpSpPr/>
          <p:nvPr/>
        </p:nvGrpSpPr>
        <p:grpSpPr>
          <a:xfrm>
            <a:off x="5815965" y="1533525"/>
            <a:ext cx="4045107" cy="2279809"/>
            <a:chOff x="5815965" y="1533525"/>
            <a:chExt cx="4045107" cy="2279809"/>
          </a:xfrm>
        </p:grpSpPr>
        <p:sp>
          <p:nvSpPr>
            <p:cNvPr id="27" name="Rectangle 27"/>
            <p:cNvSpPr/>
            <p:nvPr/>
          </p:nvSpPr>
          <p:spPr>
            <a:xfrm>
              <a:off x="5949315" y="1676400"/>
              <a:ext cx="19050" cy="176117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5815965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90958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5815965" y="212026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909589" y="21940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5815965" y="270700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909589" y="27808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5815965" y="329469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909589" y="33685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228207" y="1564957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求期望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229350" y="1833086"/>
              <a:ext cx="36317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E(X + Y) = −2 + 2 = 0，所以事件写成 |X + Y − 0| ≥ 6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228207" y="215265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还原协方差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229350" y="2419826"/>
              <a:ext cx="34598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Cov(X, Y) = ρ·√D(X)·√D(Y) = −0.5 × 1 × 2 = −1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228207" y="2739390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求方差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229350" y="3006566"/>
              <a:ext cx="224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D(X + Y) = 1 + 4 + 2 × (−1) = 3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228207" y="332613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代入不等式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229350" y="3593306"/>
              <a:ext cx="20318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 ε = 6，上界为 3/6² = 1/12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formula30"/>
              <p:cNvSpPr txBox="1">
                <a:spLocks noGrp="1"/>
              </p:cNvSpPr>
              <p:nvPr/>
            </p:nvSpPr>
            <p:spPr>
              <a:xfrm>
                <a:off x="5815965" y="3982402"/>
                <a:ext cx="5842635" cy="4371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P</m:t>
                      </m:r>
                      <m:d>
                        <m:dPr>
                          <m:begChr m:val="{"/>
                          <m:sepChr m:val=""/>
                          <m:endChr m:val="}"/>
                          <m:grow m:val="on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sepChr m:val=""/>
                              <m:endChr m:val="|"/>
                              <m:grow m:val="on"/>
                              <m:ctrl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Y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≥</m:t>
                          </m:r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6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≤</m:t>
                      </m:r>
                      <m:f>
                        <m:fPr>
                          <m:type m:val="bar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Y</m:t>
                              </m:r>
                            </m:e>
                          </m:d>
                        </m:num>
                        <m:den>
                          <m:sSup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6</m:t>
                              </m:r>
                            </m:e>
                            <m:sup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3</m:t>
                          </m:r>
                        </m:num>
                        <m:den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36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12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≈</m:t>
                      </m:r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0.0833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51" name="c2-callout-3"/>
          <p:cNvGrpSpPr/>
          <p:nvPr/>
        </p:nvGrpSpPr>
        <p:grpSpPr>
          <a:xfrm>
            <a:off x="5815965" y="4594860"/>
            <a:ext cx="5842635" cy="701992"/>
            <a:chOff x="5815965" y="4594860"/>
            <a:chExt cx="5842635" cy="701992"/>
          </a:xfrm>
        </p:grpSpPr>
        <p:sp>
          <p:nvSpPr>
            <p:cNvPr id="46" name="Rectangle 46"/>
            <p:cNvSpPr/>
            <p:nvPr/>
          </p:nvSpPr>
          <p:spPr>
            <a:xfrm>
              <a:off x="5815965" y="4594860"/>
              <a:ext cx="5842635" cy="701992"/>
            </a:xfrm>
            <a:prstGeom prst="roundRect">
              <a:avLst>
                <a:gd name="adj" fmla="val 16282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6020753" y="4846320"/>
              <a:ext cx="200026" cy="200026"/>
              <a:chOff x="6020753" y="4846320"/>
              <a:chExt cx="200026" cy="200026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6020753" y="484632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6087428" y="4924108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6323457" y="4852035"/>
              <a:ext cx="45662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答案 1/12，已用 sympy 复核协方差、方差与最终分数。</a:t>
              </a:r>
            </a:p>
          </p:txBody>
        </p:sp>
      </p:grpSp>
      <p:grpSp>
        <p:nvGrpSpPr>
          <p:cNvPr id="58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52" name="Rectangle 52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726129" y="6014203"/>
              <a:ext cx="224134" cy="192560"/>
              <a:chOff x="726129" y="6014203"/>
              <a:chExt cx="224134" cy="192560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838200" y="608457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726129" y="601420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838200" y="616235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1040892" y="6023610"/>
              <a:ext cx="59347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只有 X 与 Y 不相关时方差才能直接相加；题目给了 ρ 就一定要算这一项。</a:t>
              </a:r>
            </a:p>
          </p:txBody>
        </p:sp>
      </p:grpSp>
      <p:grpSp>
        <p:nvGrpSpPr>
          <p:cNvPr id="6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9" name="TextBox 59"/>
            <p:cNvSpPr txBox="1"/>
            <p:nvPr/>
          </p:nvSpPr>
          <p:spPr>
            <a:xfrm>
              <a:off x="528447" y="6581299"/>
              <a:ext cx="3044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第5章 大数定律及中心极限定理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089773" cy="909257"/>
            <a:chOff x="520446" y="342900"/>
            <a:chExt cx="708977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极限定理 · 切比雪夫不等式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08977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例3：六颗骰子的点数和，估计值离真值有多远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760595" cy="1858328"/>
            <a:chOff x="533400" y="1524000"/>
            <a:chExt cx="4760595" cy="185832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1858328"/>
            </a:xfrm>
            <a:prstGeom prst="roundRect">
              <a:avLst>
                <a:gd name="adj" fmla="val 717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59162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420052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2345" y="1756410"/>
              <a:ext cx="2336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例3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381" y="2082641"/>
              <a:ext cx="431097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连掷骰子 6 次，点数和 X 与 21 相差小于 7 的概率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381" y="2418874"/>
              <a:ext cx="4126230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用切比雪夫不等式估计 P{|X − 21| &lt; 7}。设 Xᵢ 是第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次掷出的点数，i = 1, 2, …, 6，它们相互独立且都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服从 1 到 6 的等可能分布。</a:t>
              </a:r>
            </a:p>
          </p:txBody>
        </p:sp>
      </p:grpSp>
      <p:grpSp>
        <p:nvGrpSpPr>
          <p:cNvPr id="19" name="c1-card-2"/>
          <p:cNvGrpSpPr/>
          <p:nvPr/>
        </p:nvGrpSpPr>
        <p:grpSpPr>
          <a:xfrm>
            <a:off x="533400" y="3562350"/>
            <a:ext cx="4760595" cy="2089785"/>
            <a:chOff x="533400" y="3562350"/>
            <a:chExt cx="4760595" cy="2089785"/>
          </a:xfrm>
        </p:grpSpPr>
        <p:sp>
          <p:nvSpPr>
            <p:cNvPr id="14" name="Rectangle 14"/>
            <p:cNvSpPr/>
            <p:nvPr/>
          </p:nvSpPr>
          <p:spPr>
            <a:xfrm>
              <a:off x="533400" y="3562350"/>
              <a:ext cx="4760595" cy="2089785"/>
            </a:xfrm>
            <a:prstGeom prst="roundRect">
              <a:avLst>
                <a:gd name="adj" fmla="val 638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3695700"/>
              <a:ext cx="47625" cy="182308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69620" y="376047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61060" y="379476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思路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381" y="4120991"/>
              <a:ext cx="416229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单颗骰子的期望是 3.5、方差是 35/12。六次独立，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期望与方差都可以直接相加，再取 ε = 7 代入。</a:t>
              </a:r>
            </a:p>
          </p:txBody>
        </p:sp>
      </p:grpSp>
      <p:grpSp>
        <p:nvGrpSpPr>
          <p:cNvPr id="33" name="c2-steps-1"/>
          <p:cNvGrpSpPr/>
          <p:nvPr/>
        </p:nvGrpSpPr>
        <p:grpSpPr>
          <a:xfrm>
            <a:off x="5598795" y="1533525"/>
            <a:ext cx="4017569" cy="1781556"/>
            <a:chOff x="5598795" y="1533525"/>
            <a:chExt cx="4017569" cy="1781556"/>
          </a:xfrm>
        </p:grpSpPr>
        <p:sp>
          <p:nvSpPr>
            <p:cNvPr id="20" name="Rectangle 20"/>
            <p:cNvSpPr/>
            <p:nvPr/>
          </p:nvSpPr>
          <p:spPr>
            <a:xfrm>
              <a:off x="5732145" y="1676400"/>
              <a:ext cx="19050" cy="123348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5598795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69241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5598795" y="215074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692419" y="222456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5598795" y="276701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692419" y="28408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010656" y="156638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单颗骰子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011799" y="1846898"/>
              <a:ext cx="22561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E(Xᵢ) = 7/2，D(Xᵢ) = 35/12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010656" y="218360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六颗之和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011799" y="2464118"/>
              <a:ext cx="36045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E(X) = 6 × 7/2 = 21，D(X) = 6 × 35/12 = 35/2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010656" y="2799874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代入不等式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011799" y="3080385"/>
              <a:ext cx="23545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 ε = 7，下界为 1 − (35/2)/7²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formula34"/>
              <p:cNvSpPr txBox="1">
                <a:spLocks noGrp="1"/>
              </p:cNvSpPr>
              <p:nvPr/>
            </p:nvSpPr>
            <p:spPr>
              <a:xfrm>
                <a:off x="5598795" y="3486150"/>
                <a:ext cx="6059805" cy="4629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P</m:t>
                      </m:r>
                      <m:d>
                        <m:dPr>
                          <m:begChr m:val="{"/>
                          <m:sepChr m:val=""/>
                          <m:endChr m:val="}"/>
                          <m:grow m:val="on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sepChr m:val=""/>
                              <m:endChr m:val="|"/>
                              <m:grow m:val="on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21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&lt;</m:t>
                          </m:r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7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≥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f>
                        <m:fPr>
                          <m:type m:val="bar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35</m:t>
                          </m:r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/</m:t>
                          </m:r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num>
                        <m:den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49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f>
                        <m:fPr>
                          <m:type m:val="bar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5</m:t>
                          </m:r>
                        </m:num>
                        <m:den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14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9</m:t>
                          </m:r>
                        </m:num>
                        <m:den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14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≈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0.6429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40" name="c2-card-3"/>
          <p:cNvGrpSpPr/>
          <p:nvPr/>
        </p:nvGrpSpPr>
        <p:grpSpPr>
          <a:xfrm>
            <a:off x="5598795" y="4130040"/>
            <a:ext cx="6059805" cy="1522095"/>
            <a:chOff x="5598795" y="4130040"/>
            <a:chExt cx="6059805" cy="1522095"/>
          </a:xfrm>
        </p:grpSpPr>
        <p:sp>
          <p:nvSpPr>
            <p:cNvPr id="35" name="Rectangle 35"/>
            <p:cNvSpPr/>
            <p:nvPr/>
          </p:nvSpPr>
          <p:spPr>
            <a:xfrm>
              <a:off x="5598795" y="4130040"/>
              <a:ext cx="6059805" cy="1522095"/>
            </a:xfrm>
            <a:prstGeom prst="roundRect">
              <a:avLst>
                <a:gd name="adj" fmla="val 876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5608320" y="4263390"/>
              <a:ext cx="47625" cy="125539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5835015" y="4328160"/>
              <a:ext cx="87630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914454" y="436245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真值是多少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827776" y="4688681"/>
              <a:ext cx="5400332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枚举全部 6⁶ = 46656 种结果得 P{|X − 21| &lt; 7} = 253/288 ≈</a:t>
              </a:r>
              <a:br/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0.8785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，比下界 0.6429 高出 0.24。这道题的精确分布完全算得出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来，下界只是不需要分布而已。</a:t>
              </a:r>
            </a:p>
          </p:txBody>
        </p:sp>
      </p:grpSp>
      <p:grpSp>
        <p:nvGrpSpPr>
          <p:cNvPr id="47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41" name="Rectangle 41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726129" y="6007536"/>
              <a:ext cx="224134" cy="192560"/>
              <a:chOff x="726129" y="6007536"/>
              <a:chExt cx="224134" cy="19256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838200" y="607790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726129" y="600753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838200" y="615569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1040511" y="6011704"/>
              <a:ext cx="738371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独立是方差相加的前提；点数和的方差是 35/2，不是 6 × 35/12 再开根这类混淆写法。</a:t>
              </a:r>
            </a:p>
          </p:txBody>
        </p:sp>
      </p:grpSp>
      <p:grpSp>
        <p:nvGrpSpPr>
          <p:cNvPr id="5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8" name="TextBox 48"/>
            <p:cNvSpPr txBox="1"/>
            <p:nvPr/>
          </p:nvSpPr>
          <p:spPr>
            <a:xfrm>
              <a:off x="528447" y="6581299"/>
              <a:ext cx="3044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第5章 大数定律及中心极限定理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6313170" cy="3321367"/>
            <a:chOff x="667512" y="1835468"/>
            <a:chExt cx="6313170" cy="332136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197510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大数定律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303264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算术平均值会稳定到期望，这是用频率代替概率、用样本均值代替期</a:t>
              </a:r>
              <a:br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望的依据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421195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415480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依概率收敛的定义与性质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56628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50913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切比雪夫、伯努利、辛钦三个定律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92061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86346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条件差别与适用场合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3044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第5章 大数定律及中心极限定理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极限定理 · 大数定律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依概率收敛：允许偶尔偏离，只要偏离的概率趋于零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5626418" cy="2300288"/>
            <a:chOff x="533400" y="1524000"/>
            <a:chExt cx="5626418" cy="230028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2300288"/>
            </a:xfrm>
            <a:prstGeom prst="roundRect">
              <a:avLst>
                <a:gd name="adj" fmla="val 579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033588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5147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18450" y="174450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依概率收敛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5998" y="2061686"/>
              <a:ext cx="493039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X₁, X₂, …, Xₙ, … 是一个随机变量序列，a 是常数。若对任意给定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的正数 ε 有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41"/>
                <p:cNvSpPr txBox="1">
                  <a:spLocks noGrp="1"/>
                </p:cNvSpPr>
                <p:nvPr/>
              </p:nvSpPr>
              <p:spPr>
                <a:xfrm>
                  <a:off x="752475" y="2567940"/>
                  <a:ext cx="5226368" cy="53149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func>
                          <m:funcPr/>
                          <m:fName>
                            <m:limLow>
                              <m:limLowPr/>
                              <m:e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lim</m:t>
                                </m:r>
                              </m:e>
                              <m:lim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→∞</m:t>
                                </m:r>
                              </m:lim>
                            </m:limLow>
                          </m:fName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  <m:d>
                              <m:dPr>
                                <m:begChr m:val="{"/>
                                <m:sepChr m:val=""/>
                                <m:endChr m:val="}"/>
                                <m:grow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d>
                                  <m:dPr>
                                    <m:begChr m:val="|"/>
                                    <m:sepChr m:val=""/>
                                    <m:endChr m:val="|"/>
                                    <m:grow m:val="on"/>
                                    <m:ctrl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b>
                                      <m:e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n</m:t>
                                        </m:r>
                                      </m:sub>
                                    </m:sSub>
                                    <m:r>
                                      <m:rPr>
                                        <m:sty m:val="p"/>
                                      </m:r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e>
                                </m:d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&lt;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ε</m:t>
                                </m:r>
                              </m:e>
                            </m:d>
                          </m:e>
                        </m:func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4" name="TextBox 14"/>
            <p:cNvSpPr txBox="1"/>
            <p:nvPr/>
          </p:nvSpPr>
          <p:spPr>
            <a:xfrm>
              <a:off x="745998" y="3201829"/>
              <a:ext cx="488975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则称该序列依概率收敛于 a。等价地，偏离不小于 ε 的那部分概率趋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于 0。</a:t>
              </a:r>
            </a:p>
          </p:txBody>
        </p:sp>
      </p:grpSp>
      <p:grpSp>
        <p:nvGrpSpPr>
          <p:cNvPr id="22" name="c1-card-2"/>
          <p:cNvGrpSpPr/>
          <p:nvPr/>
        </p:nvGrpSpPr>
        <p:grpSpPr>
          <a:xfrm>
            <a:off x="533400" y="3989070"/>
            <a:ext cx="5626418" cy="2139315"/>
            <a:chOff x="533400" y="3989070"/>
            <a:chExt cx="5626418" cy="2139315"/>
          </a:xfrm>
        </p:grpSpPr>
        <p:sp>
          <p:nvSpPr>
            <p:cNvPr id="16" name="Rectangle 16"/>
            <p:cNvSpPr/>
            <p:nvPr/>
          </p:nvSpPr>
          <p:spPr>
            <a:xfrm>
              <a:off x="533400" y="3989070"/>
              <a:ext cx="5626418" cy="2139315"/>
            </a:xfrm>
            <a:prstGeom prst="roundRect">
              <a:avLst>
                <a:gd name="adj" fmla="val 623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42925" y="4122420"/>
              <a:ext cx="47625" cy="187261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52475" y="417004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45147" y="420290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性质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45998" y="4510564"/>
              <a:ext cx="4922266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若序列依概率收敛于 a、另一序列依概率收敛于 b，而二元函数 g(x,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y) 在点 (a, b) 连续，则 g 作用在这两个序列上之后依概率收敛于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g(a, b)。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47141" y="5277802"/>
              <a:ext cx="49579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和、差、积、商（分母非零）都可以照常传递，这条性质在数理统计里天天用。</a:t>
              </a:r>
            </a:p>
          </p:txBody>
        </p:sp>
      </p:grpSp>
      <p:grpSp>
        <p:nvGrpSpPr>
          <p:cNvPr id="43" name="c2-compare-1"/>
          <p:cNvGrpSpPr/>
          <p:nvPr/>
        </p:nvGrpSpPr>
        <p:grpSpPr>
          <a:xfrm>
            <a:off x="6464618" y="1524000"/>
            <a:ext cx="5193982" cy="1939290"/>
            <a:chOff x="6464618" y="1524000"/>
            <a:chExt cx="5193982" cy="1939290"/>
          </a:xfrm>
        </p:grpSpPr>
        <p:sp>
          <p:nvSpPr>
            <p:cNvPr id="23" name="Rectangle 23"/>
            <p:cNvSpPr/>
            <p:nvPr/>
          </p:nvSpPr>
          <p:spPr>
            <a:xfrm>
              <a:off x="6464618" y="1524000"/>
              <a:ext cx="2367915" cy="1939290"/>
            </a:xfrm>
            <a:prstGeom prst="roundRect">
              <a:avLst>
                <a:gd name="adj" fmla="val 687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474142" y="1657350"/>
              <a:ext cx="47625" cy="167259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677216" y="172640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数列的极限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6693218" y="2079308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848666" y="2027396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对象是一串确定的数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6693218" y="2365058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848666" y="2312194"/>
              <a:ext cx="166293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从某个 N 之后每一项都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落在 (a − ε, a + ε) 内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6693218" y="2892742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848666" y="2839879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一旦进去就再也不出来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9290685" y="1524000"/>
              <a:ext cx="2367915" cy="1939290"/>
            </a:xfrm>
            <a:prstGeom prst="roundRect">
              <a:avLst>
                <a:gd name="adj" fmla="val 687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9300210" y="1657350"/>
              <a:ext cx="47625" cy="1672590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503283" y="172640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依概率收敛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9519285" y="2079308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674733" y="2027396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对象是一串随机变量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9519285" y="2365058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674733" y="2312194"/>
              <a:ext cx="163855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任何一项都可能偏离得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很远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9519285" y="2892742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674733" y="2839879"/>
              <a:ext cx="163042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只要求“偏离超过 ε”的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概率趋于 0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8881110" y="2312670"/>
              <a:ext cx="361950" cy="3619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936164" y="2437448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分清</a:t>
              </a:r>
            </a:p>
          </p:txBody>
        </p:sp>
      </p:grpSp>
      <p:grpSp>
        <p:nvGrpSpPr>
          <p:cNvPr id="49" name="c2-callout-2"/>
          <p:cNvGrpSpPr/>
          <p:nvPr/>
        </p:nvGrpSpPr>
        <p:grpSpPr>
          <a:xfrm>
            <a:off x="6464618" y="3628072"/>
            <a:ext cx="5193982" cy="702945"/>
            <a:chOff x="6464618" y="3628072"/>
            <a:chExt cx="5193982" cy="702945"/>
          </a:xfrm>
        </p:grpSpPr>
        <p:sp>
          <p:nvSpPr>
            <p:cNvPr id="44" name="Rectangle 44"/>
            <p:cNvSpPr/>
            <p:nvPr/>
          </p:nvSpPr>
          <p:spPr>
            <a:xfrm>
              <a:off x="6464618" y="3628072"/>
              <a:ext cx="5193982" cy="702945"/>
            </a:xfrm>
            <a:prstGeom prst="roundRect">
              <a:avLst>
                <a:gd name="adj" fmla="val 16260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6669405" y="3879535"/>
              <a:ext cx="200023" cy="200023"/>
              <a:chOff x="6669405" y="3879535"/>
              <a:chExt cx="200023" cy="200023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6669405" y="387953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6802755" y="394620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6972491" y="3772376"/>
              <a:ext cx="423951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依概率收敛不保证任何一条具体的试验轨道最终稳住，它约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束的是概率而不是轨道。</a:t>
              </a:r>
            </a:p>
          </p:txBody>
        </p:sp>
      </p:grpSp>
      <p:grpSp>
        <p:nvGrpSpPr>
          <p:cNvPr id="56" name="c2-card-3"/>
          <p:cNvGrpSpPr/>
          <p:nvPr/>
        </p:nvGrpSpPr>
        <p:grpSpPr>
          <a:xfrm>
            <a:off x="6464618" y="4494848"/>
            <a:ext cx="5193982" cy="1633538"/>
            <a:chOff x="6464618" y="4494848"/>
            <a:chExt cx="5193982" cy="1633538"/>
          </a:xfrm>
        </p:grpSpPr>
        <p:sp>
          <p:nvSpPr>
            <p:cNvPr id="50" name="Rectangle 50"/>
            <p:cNvSpPr/>
            <p:nvPr/>
          </p:nvSpPr>
          <p:spPr>
            <a:xfrm>
              <a:off x="6464618" y="4494848"/>
              <a:ext cx="5193982" cy="1633538"/>
            </a:xfrm>
            <a:prstGeom prst="roundRect">
              <a:avLst>
                <a:gd name="adj" fmla="val 81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6474142" y="4628198"/>
              <a:ext cx="47625" cy="136683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6683692" y="4675822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769214" y="470868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一个例子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677216" y="5016341"/>
              <a:ext cx="4450842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Xₙ 以概率 1/n 取值 n、以概率 1 − 1/n 取值 0。对任意 ε &gt;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有 P{|Xₙ − 0| ≥ ε} = 1/n，趋于 0，所以 Xₙ 依概率收敛于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0。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678359" y="5783580"/>
              <a:ext cx="42257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但 E(Xₙ) = n × 1/n = 1 始终不变：依概率收敛推不出期望也收敛。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3044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第5章 大数定律及中心极限定理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极限定理 · 大数定律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频率的稳定性就是依概率收敛的样子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9" name="llnA"/>
          <p:cNvGrpSpPr/>
          <p:nvPr/>
        </p:nvGrpSpPr>
        <p:grpSpPr>
          <a:xfrm>
            <a:off x="533400" y="1524000"/>
            <a:ext cx="5524500" cy="4762500"/>
            <a:chOff x="533400" y="1524000"/>
            <a:chExt cx="5524500" cy="47625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524500" cy="4762500"/>
            </a:xfrm>
            <a:prstGeom prst="roundRect">
              <a:avLst>
                <a:gd name="adj" fmla="val 24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17423" y="1662589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抛硬币：正面出现的频率会稳下来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18566" y="1925002"/>
              <a:ext cx="43925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同一串投掷结果，横轴是已经抛的次数，纵轴是到此为止的正面频率。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409700" y="3358515"/>
              <a:ext cx="3028950" cy="294322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1" name="Line 11"/>
            <p:cNvSpPr/>
            <p:nvPr/>
          </p:nvSpPr>
          <p:spPr>
            <a:xfrm>
              <a:off x="1409700" y="4533900"/>
              <a:ext cx="3076575" cy="9525"/>
            </a:xfrm>
            <a:custGeom>
              <a:avLst/>
              <a:gdLst/>
              <a:ahLst/>
              <a:cxnLst/>
              <a:rect l="l" t="t" r="r" b="b"/>
              <a:pathLst>
                <a:path w="3076575" h="9525">
                  <a:moveTo>
                    <a:pt x="0" y="0"/>
                  </a:moveTo>
                  <a:lnTo>
                    <a:pt x="3076575" y="0"/>
                  </a:lnTo>
                </a:path>
              </a:pathLst>
            </a:custGeom>
            <a:noFill/>
            <a:ln w="15240">
              <a:solidFill>
                <a:srgbClr val="4B5563"/>
              </a:solidFill>
            </a:ln>
          </p:spPr>
        </p:sp>
        <p:sp>
          <p:nvSpPr>
            <p:cNvPr id="12" name="Polygon 12"/>
            <p:cNvSpPr/>
            <p:nvPr/>
          </p:nvSpPr>
          <p:spPr>
            <a:xfrm>
              <a:off x="4486275" y="4503896"/>
              <a:ext cx="66675" cy="60007"/>
            </a:xfrm>
            <a:custGeom>
              <a:avLst/>
              <a:gdLst/>
              <a:ahLst/>
              <a:cxnLst/>
              <a:rect l="l" t="t" r="r" b="b"/>
              <a:pathLst>
                <a:path w="66675" h="60007">
                  <a:moveTo>
                    <a:pt x="66675" y="30004"/>
                  </a:moveTo>
                  <a:lnTo>
                    <a:pt x="0" y="600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B5563"/>
            </a:solidFill>
            <a:ln>
              <a:noFill/>
            </a:ln>
          </p:spPr>
        </p:sp>
        <p:sp>
          <p:nvSpPr>
            <p:cNvPr id="13" name="Line 13"/>
            <p:cNvSpPr/>
            <p:nvPr/>
          </p:nvSpPr>
          <p:spPr>
            <a:xfrm>
              <a:off x="1409700" y="2447925"/>
              <a:ext cx="9525" cy="2085975"/>
            </a:xfrm>
            <a:custGeom>
              <a:avLst/>
              <a:gdLst/>
              <a:ahLst/>
              <a:cxnLst/>
              <a:rect l="l" t="t" r="r" b="b"/>
              <a:pathLst>
                <a:path w="9525" h="2085975">
                  <a:moveTo>
                    <a:pt x="0" y="2085975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4B5563"/>
              </a:solidFill>
            </a:ln>
          </p:spPr>
        </p:sp>
        <p:sp>
          <p:nvSpPr>
            <p:cNvPr id="14" name="Polygon 14"/>
            <p:cNvSpPr/>
            <p:nvPr/>
          </p:nvSpPr>
          <p:spPr>
            <a:xfrm>
              <a:off x="1379696" y="2381250"/>
              <a:ext cx="60008" cy="66675"/>
            </a:xfrm>
            <a:custGeom>
              <a:avLst/>
              <a:gdLst/>
              <a:ahLst/>
              <a:cxnLst/>
              <a:rect l="l" t="t" r="r" b="b"/>
              <a:pathLst>
                <a:path w="60008" h="66675">
                  <a:moveTo>
                    <a:pt x="30004" y="0"/>
                  </a:moveTo>
                  <a:lnTo>
                    <a:pt x="60008" y="66675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4B556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595241" y="446817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1409700" y="3505200"/>
              <a:ext cx="3028950" cy="9525"/>
            </a:xfrm>
            <a:custGeom>
              <a:avLst/>
              <a:gdLst/>
              <a:ahLst/>
              <a:cxnLst/>
              <a:rect l="l" t="t" r="r" b="b"/>
              <a:pathLst>
                <a:path w="3028950" h="9525">
                  <a:moveTo>
                    <a:pt x="0" y="0"/>
                  </a:moveTo>
                  <a:lnTo>
                    <a:pt x="3028950" y="0"/>
                  </a:lnTo>
                </a:path>
              </a:pathLst>
            </a:custGeom>
            <a:noFill/>
            <a:ln w="14288">
              <a:solidFill>
                <a:srgbClr val="0F7A68"/>
              </a:solidFill>
              <a:custDash>
                <a:ds d="333333" sp="266667"/>
              </a:custDash>
            </a:ln>
          </p:spPr>
        </p:sp>
        <p:sp>
          <p:nvSpPr>
            <p:cNvPr id="17" name="Freeform 17"/>
            <p:cNvSpPr/>
            <p:nvPr/>
          </p:nvSpPr>
          <p:spPr>
            <a:xfrm>
              <a:off x="1447800" y="3268028"/>
              <a:ext cx="2990850" cy="1217295"/>
            </a:xfrm>
            <a:custGeom>
              <a:avLst/>
              <a:gdLst/>
              <a:ahLst/>
              <a:cxnLst/>
              <a:rect l="l" t="t" r="r" b="b"/>
              <a:pathLst>
                <a:path w="2990850" h="1217295">
                  <a:moveTo>
                    <a:pt x="0" y="1119188"/>
                  </a:moveTo>
                  <a:lnTo>
                    <a:pt x="7620" y="1217295"/>
                  </a:lnTo>
                  <a:lnTo>
                    <a:pt x="15240" y="866775"/>
                  </a:lnTo>
                  <a:lnTo>
                    <a:pt x="22860" y="971550"/>
                  </a:lnTo>
                  <a:lnTo>
                    <a:pt x="30480" y="726757"/>
                  </a:lnTo>
                  <a:lnTo>
                    <a:pt x="37148" y="531495"/>
                  </a:lnTo>
                  <a:lnTo>
                    <a:pt x="44767" y="370522"/>
                  </a:lnTo>
                  <a:lnTo>
                    <a:pt x="52388" y="237172"/>
                  </a:lnTo>
                  <a:lnTo>
                    <a:pt x="60008" y="123825"/>
                  </a:lnTo>
                  <a:lnTo>
                    <a:pt x="67627" y="237172"/>
                  </a:lnTo>
                  <a:lnTo>
                    <a:pt x="75248" y="139065"/>
                  </a:lnTo>
                  <a:lnTo>
                    <a:pt x="82867" y="53340"/>
                  </a:lnTo>
                  <a:lnTo>
                    <a:pt x="90488" y="150495"/>
                  </a:lnTo>
                  <a:lnTo>
                    <a:pt x="98108" y="74295"/>
                  </a:lnTo>
                  <a:lnTo>
                    <a:pt x="105727" y="160020"/>
                  </a:lnTo>
                  <a:lnTo>
                    <a:pt x="113348" y="90488"/>
                  </a:lnTo>
                  <a:lnTo>
                    <a:pt x="120967" y="27622"/>
                  </a:lnTo>
                  <a:lnTo>
                    <a:pt x="128588" y="103822"/>
                  </a:lnTo>
                  <a:lnTo>
                    <a:pt x="136208" y="173355"/>
                  </a:lnTo>
                  <a:lnTo>
                    <a:pt x="143827" y="237172"/>
                  </a:lnTo>
                  <a:lnTo>
                    <a:pt x="151448" y="178117"/>
                  </a:lnTo>
                  <a:lnTo>
                    <a:pt x="159067" y="123825"/>
                  </a:lnTo>
                  <a:lnTo>
                    <a:pt x="166688" y="74295"/>
                  </a:lnTo>
                  <a:lnTo>
                    <a:pt x="174308" y="132397"/>
                  </a:lnTo>
                  <a:lnTo>
                    <a:pt x="181927" y="84772"/>
                  </a:lnTo>
                  <a:lnTo>
                    <a:pt x="188595" y="40957"/>
                  </a:lnTo>
                  <a:lnTo>
                    <a:pt x="196215" y="0"/>
                  </a:lnTo>
                  <a:lnTo>
                    <a:pt x="203835" y="53340"/>
                  </a:lnTo>
                  <a:lnTo>
                    <a:pt x="211455" y="103822"/>
                  </a:lnTo>
                  <a:lnTo>
                    <a:pt x="219075" y="63817"/>
                  </a:lnTo>
                  <a:lnTo>
                    <a:pt x="226695" y="27622"/>
                  </a:lnTo>
                  <a:lnTo>
                    <a:pt x="234315" y="74295"/>
                  </a:lnTo>
                  <a:lnTo>
                    <a:pt x="241935" y="118110"/>
                  </a:lnTo>
                  <a:lnTo>
                    <a:pt x="249555" y="82867"/>
                  </a:lnTo>
                  <a:lnTo>
                    <a:pt x="257175" y="123825"/>
                  </a:lnTo>
                  <a:lnTo>
                    <a:pt x="264795" y="163830"/>
                  </a:lnTo>
                  <a:lnTo>
                    <a:pt x="272415" y="129540"/>
                  </a:lnTo>
                  <a:lnTo>
                    <a:pt x="280035" y="97155"/>
                  </a:lnTo>
                  <a:lnTo>
                    <a:pt x="287655" y="66675"/>
                  </a:lnTo>
                  <a:lnTo>
                    <a:pt x="295275" y="103822"/>
                  </a:lnTo>
                  <a:lnTo>
                    <a:pt x="302895" y="74295"/>
                  </a:lnTo>
                  <a:lnTo>
                    <a:pt x="310515" y="45720"/>
                  </a:lnTo>
                  <a:lnTo>
                    <a:pt x="318135" y="80962"/>
                  </a:lnTo>
                  <a:lnTo>
                    <a:pt x="325755" y="114300"/>
                  </a:lnTo>
                  <a:lnTo>
                    <a:pt x="333375" y="87630"/>
                  </a:lnTo>
                  <a:lnTo>
                    <a:pt x="340995" y="60960"/>
                  </a:lnTo>
                  <a:lnTo>
                    <a:pt x="347662" y="93345"/>
                  </a:lnTo>
                  <a:lnTo>
                    <a:pt x="355283" y="123825"/>
                  </a:lnTo>
                  <a:lnTo>
                    <a:pt x="362902" y="98107"/>
                  </a:lnTo>
                  <a:lnTo>
                    <a:pt x="370523" y="128588"/>
                  </a:lnTo>
                  <a:lnTo>
                    <a:pt x="378142" y="157162"/>
                  </a:lnTo>
                  <a:lnTo>
                    <a:pt x="385762" y="184785"/>
                  </a:lnTo>
                  <a:lnTo>
                    <a:pt x="393383" y="160020"/>
                  </a:lnTo>
                  <a:lnTo>
                    <a:pt x="401002" y="186690"/>
                  </a:lnTo>
                  <a:lnTo>
                    <a:pt x="408623" y="212407"/>
                  </a:lnTo>
                  <a:lnTo>
                    <a:pt x="416242" y="188595"/>
                  </a:lnTo>
                  <a:lnTo>
                    <a:pt x="423862" y="213360"/>
                  </a:lnTo>
                  <a:lnTo>
                    <a:pt x="431483" y="189547"/>
                  </a:lnTo>
                  <a:lnTo>
                    <a:pt x="439102" y="214312"/>
                  </a:lnTo>
                  <a:lnTo>
                    <a:pt x="446723" y="191452"/>
                  </a:lnTo>
                  <a:lnTo>
                    <a:pt x="454342" y="169545"/>
                  </a:lnTo>
                  <a:lnTo>
                    <a:pt x="461962" y="192405"/>
                  </a:lnTo>
                  <a:lnTo>
                    <a:pt x="469583" y="215265"/>
                  </a:lnTo>
                  <a:lnTo>
                    <a:pt x="477202" y="237172"/>
                  </a:lnTo>
                  <a:lnTo>
                    <a:pt x="484823" y="258127"/>
                  </a:lnTo>
                  <a:lnTo>
                    <a:pt x="492442" y="279082"/>
                  </a:lnTo>
                  <a:lnTo>
                    <a:pt x="499110" y="258127"/>
                  </a:lnTo>
                  <a:lnTo>
                    <a:pt x="506730" y="237172"/>
                  </a:lnTo>
                  <a:lnTo>
                    <a:pt x="514350" y="217170"/>
                  </a:lnTo>
                  <a:lnTo>
                    <a:pt x="521970" y="197167"/>
                  </a:lnTo>
                  <a:lnTo>
                    <a:pt x="529590" y="217170"/>
                  </a:lnTo>
                  <a:lnTo>
                    <a:pt x="537210" y="198120"/>
                  </a:lnTo>
                  <a:lnTo>
                    <a:pt x="544830" y="218122"/>
                  </a:lnTo>
                  <a:lnTo>
                    <a:pt x="552450" y="199072"/>
                  </a:lnTo>
                  <a:lnTo>
                    <a:pt x="560070" y="180975"/>
                  </a:lnTo>
                  <a:lnTo>
                    <a:pt x="567690" y="200025"/>
                  </a:lnTo>
                  <a:lnTo>
                    <a:pt x="575310" y="182880"/>
                  </a:lnTo>
                  <a:lnTo>
                    <a:pt x="582930" y="200977"/>
                  </a:lnTo>
                  <a:lnTo>
                    <a:pt x="590550" y="183832"/>
                  </a:lnTo>
                  <a:lnTo>
                    <a:pt x="598170" y="201930"/>
                  </a:lnTo>
                  <a:lnTo>
                    <a:pt x="605790" y="220027"/>
                  </a:lnTo>
                  <a:lnTo>
                    <a:pt x="613410" y="237172"/>
                  </a:lnTo>
                  <a:lnTo>
                    <a:pt x="621030" y="220027"/>
                  </a:lnTo>
                  <a:lnTo>
                    <a:pt x="628650" y="237172"/>
                  </a:lnTo>
                  <a:lnTo>
                    <a:pt x="636270" y="253365"/>
                  </a:lnTo>
                  <a:lnTo>
                    <a:pt x="643890" y="269557"/>
                  </a:lnTo>
                  <a:lnTo>
                    <a:pt x="650558" y="253365"/>
                  </a:lnTo>
                  <a:lnTo>
                    <a:pt x="658178" y="237172"/>
                  </a:lnTo>
                  <a:lnTo>
                    <a:pt x="665798" y="253365"/>
                  </a:lnTo>
                  <a:lnTo>
                    <a:pt x="673417" y="237172"/>
                  </a:lnTo>
                  <a:lnTo>
                    <a:pt x="681038" y="221932"/>
                  </a:lnTo>
                  <a:lnTo>
                    <a:pt x="688658" y="237172"/>
                  </a:lnTo>
                  <a:lnTo>
                    <a:pt x="696278" y="221932"/>
                  </a:lnTo>
                  <a:lnTo>
                    <a:pt x="703898" y="237172"/>
                  </a:lnTo>
                  <a:lnTo>
                    <a:pt x="711517" y="221932"/>
                  </a:lnTo>
                  <a:lnTo>
                    <a:pt x="719138" y="237172"/>
                  </a:lnTo>
                  <a:lnTo>
                    <a:pt x="726758" y="222885"/>
                  </a:lnTo>
                  <a:lnTo>
                    <a:pt x="734378" y="237172"/>
                  </a:lnTo>
                  <a:lnTo>
                    <a:pt x="741998" y="251460"/>
                  </a:lnTo>
                  <a:lnTo>
                    <a:pt x="749617" y="237172"/>
                  </a:lnTo>
                  <a:lnTo>
                    <a:pt x="757238" y="222885"/>
                  </a:lnTo>
                  <a:lnTo>
                    <a:pt x="764858" y="237172"/>
                  </a:lnTo>
                  <a:lnTo>
                    <a:pt x="772478" y="223838"/>
                  </a:lnTo>
                  <a:lnTo>
                    <a:pt x="780098" y="209550"/>
                  </a:lnTo>
                  <a:lnTo>
                    <a:pt x="787717" y="197167"/>
                  </a:lnTo>
                  <a:lnTo>
                    <a:pt x="794385" y="183832"/>
                  </a:lnTo>
                  <a:lnTo>
                    <a:pt x="802005" y="197167"/>
                  </a:lnTo>
                  <a:lnTo>
                    <a:pt x="809625" y="210502"/>
                  </a:lnTo>
                  <a:lnTo>
                    <a:pt x="817245" y="223838"/>
                  </a:lnTo>
                  <a:lnTo>
                    <a:pt x="824865" y="237172"/>
                  </a:lnTo>
                  <a:lnTo>
                    <a:pt x="832485" y="249555"/>
                  </a:lnTo>
                  <a:lnTo>
                    <a:pt x="840105" y="262890"/>
                  </a:lnTo>
                  <a:lnTo>
                    <a:pt x="847725" y="249555"/>
                  </a:lnTo>
                  <a:lnTo>
                    <a:pt x="855345" y="237172"/>
                  </a:lnTo>
                  <a:lnTo>
                    <a:pt x="862965" y="249555"/>
                  </a:lnTo>
                  <a:lnTo>
                    <a:pt x="870585" y="237172"/>
                  </a:lnTo>
                  <a:lnTo>
                    <a:pt x="878205" y="224790"/>
                  </a:lnTo>
                  <a:lnTo>
                    <a:pt x="885825" y="213360"/>
                  </a:lnTo>
                  <a:lnTo>
                    <a:pt x="893445" y="200977"/>
                  </a:lnTo>
                  <a:lnTo>
                    <a:pt x="901065" y="189547"/>
                  </a:lnTo>
                  <a:lnTo>
                    <a:pt x="908685" y="201930"/>
                  </a:lnTo>
                  <a:lnTo>
                    <a:pt x="916305" y="214312"/>
                  </a:lnTo>
                  <a:lnTo>
                    <a:pt x="923925" y="202882"/>
                  </a:lnTo>
                  <a:lnTo>
                    <a:pt x="931545" y="191452"/>
                  </a:lnTo>
                  <a:lnTo>
                    <a:pt x="939165" y="202882"/>
                  </a:lnTo>
                  <a:lnTo>
                    <a:pt x="946785" y="192405"/>
                  </a:lnTo>
                  <a:lnTo>
                    <a:pt x="953452" y="180975"/>
                  </a:lnTo>
                  <a:lnTo>
                    <a:pt x="961072" y="192405"/>
                  </a:lnTo>
                  <a:lnTo>
                    <a:pt x="968692" y="203835"/>
                  </a:lnTo>
                  <a:lnTo>
                    <a:pt x="976312" y="193357"/>
                  </a:lnTo>
                  <a:lnTo>
                    <a:pt x="983933" y="204788"/>
                  </a:lnTo>
                  <a:lnTo>
                    <a:pt x="991553" y="194310"/>
                  </a:lnTo>
                  <a:lnTo>
                    <a:pt x="999172" y="183832"/>
                  </a:lnTo>
                  <a:lnTo>
                    <a:pt x="1006792" y="173355"/>
                  </a:lnTo>
                  <a:lnTo>
                    <a:pt x="1014412" y="184785"/>
                  </a:lnTo>
                  <a:lnTo>
                    <a:pt x="1022033" y="174307"/>
                  </a:lnTo>
                  <a:lnTo>
                    <a:pt x="1029653" y="163830"/>
                  </a:lnTo>
                  <a:lnTo>
                    <a:pt x="1037272" y="154305"/>
                  </a:lnTo>
                  <a:lnTo>
                    <a:pt x="1044892" y="144780"/>
                  </a:lnTo>
                  <a:lnTo>
                    <a:pt x="1052512" y="135255"/>
                  </a:lnTo>
                  <a:lnTo>
                    <a:pt x="1060132" y="145732"/>
                  </a:lnTo>
                  <a:lnTo>
                    <a:pt x="1067753" y="156210"/>
                  </a:lnTo>
                  <a:lnTo>
                    <a:pt x="1075372" y="147638"/>
                  </a:lnTo>
                  <a:lnTo>
                    <a:pt x="1082992" y="158115"/>
                  </a:lnTo>
                  <a:lnTo>
                    <a:pt x="1090612" y="148590"/>
                  </a:lnTo>
                  <a:lnTo>
                    <a:pt x="1097280" y="159067"/>
                  </a:lnTo>
                  <a:lnTo>
                    <a:pt x="1104900" y="149542"/>
                  </a:lnTo>
                  <a:lnTo>
                    <a:pt x="1112520" y="160020"/>
                  </a:lnTo>
                  <a:lnTo>
                    <a:pt x="1120140" y="150495"/>
                  </a:lnTo>
                  <a:lnTo>
                    <a:pt x="1127760" y="141922"/>
                  </a:lnTo>
                  <a:lnTo>
                    <a:pt x="1135380" y="151447"/>
                  </a:lnTo>
                  <a:lnTo>
                    <a:pt x="1143000" y="142875"/>
                  </a:lnTo>
                  <a:lnTo>
                    <a:pt x="1150620" y="134302"/>
                  </a:lnTo>
                  <a:lnTo>
                    <a:pt x="1158240" y="143827"/>
                  </a:lnTo>
                  <a:lnTo>
                    <a:pt x="1165860" y="135255"/>
                  </a:lnTo>
                  <a:lnTo>
                    <a:pt x="1173480" y="145732"/>
                  </a:lnTo>
                  <a:lnTo>
                    <a:pt x="1181100" y="155257"/>
                  </a:lnTo>
                  <a:lnTo>
                    <a:pt x="1188720" y="146685"/>
                  </a:lnTo>
                  <a:lnTo>
                    <a:pt x="1196340" y="156210"/>
                  </a:lnTo>
                  <a:lnTo>
                    <a:pt x="1203960" y="147638"/>
                  </a:lnTo>
                  <a:lnTo>
                    <a:pt x="1211580" y="157162"/>
                  </a:lnTo>
                  <a:lnTo>
                    <a:pt x="1219200" y="166688"/>
                  </a:lnTo>
                  <a:lnTo>
                    <a:pt x="1226820" y="158115"/>
                  </a:lnTo>
                  <a:lnTo>
                    <a:pt x="1234440" y="167640"/>
                  </a:lnTo>
                  <a:lnTo>
                    <a:pt x="1242060" y="176212"/>
                  </a:lnTo>
                  <a:lnTo>
                    <a:pt x="1248728" y="185738"/>
                  </a:lnTo>
                  <a:lnTo>
                    <a:pt x="1256347" y="177165"/>
                  </a:lnTo>
                  <a:lnTo>
                    <a:pt x="1263968" y="185738"/>
                  </a:lnTo>
                  <a:lnTo>
                    <a:pt x="1271588" y="178117"/>
                  </a:lnTo>
                  <a:lnTo>
                    <a:pt x="1279208" y="186690"/>
                  </a:lnTo>
                  <a:lnTo>
                    <a:pt x="1286828" y="178117"/>
                  </a:lnTo>
                  <a:lnTo>
                    <a:pt x="1294447" y="186690"/>
                  </a:lnTo>
                  <a:lnTo>
                    <a:pt x="1302068" y="179070"/>
                  </a:lnTo>
                  <a:lnTo>
                    <a:pt x="1309688" y="187642"/>
                  </a:lnTo>
                  <a:lnTo>
                    <a:pt x="1317308" y="180022"/>
                  </a:lnTo>
                  <a:lnTo>
                    <a:pt x="1324928" y="171450"/>
                  </a:lnTo>
                  <a:lnTo>
                    <a:pt x="1332547" y="163830"/>
                  </a:lnTo>
                  <a:lnTo>
                    <a:pt x="1340168" y="172402"/>
                  </a:lnTo>
                  <a:lnTo>
                    <a:pt x="1347788" y="180975"/>
                  </a:lnTo>
                  <a:lnTo>
                    <a:pt x="1355408" y="189547"/>
                  </a:lnTo>
                  <a:lnTo>
                    <a:pt x="1363028" y="181927"/>
                  </a:lnTo>
                  <a:lnTo>
                    <a:pt x="1370647" y="189547"/>
                  </a:lnTo>
                  <a:lnTo>
                    <a:pt x="1378268" y="181927"/>
                  </a:lnTo>
                  <a:lnTo>
                    <a:pt x="1385888" y="174307"/>
                  </a:lnTo>
                  <a:lnTo>
                    <a:pt x="1393508" y="167640"/>
                  </a:lnTo>
                  <a:lnTo>
                    <a:pt x="1400175" y="160020"/>
                  </a:lnTo>
                  <a:lnTo>
                    <a:pt x="1407795" y="152400"/>
                  </a:lnTo>
                  <a:lnTo>
                    <a:pt x="1415415" y="145732"/>
                  </a:lnTo>
                  <a:lnTo>
                    <a:pt x="1423035" y="153352"/>
                  </a:lnTo>
                  <a:lnTo>
                    <a:pt x="1430655" y="146685"/>
                  </a:lnTo>
                  <a:lnTo>
                    <a:pt x="1438275" y="139065"/>
                  </a:lnTo>
                  <a:lnTo>
                    <a:pt x="1445895" y="147638"/>
                  </a:lnTo>
                  <a:lnTo>
                    <a:pt x="1453515" y="155257"/>
                  </a:lnTo>
                  <a:lnTo>
                    <a:pt x="1461135" y="162877"/>
                  </a:lnTo>
                  <a:lnTo>
                    <a:pt x="1468755" y="170497"/>
                  </a:lnTo>
                  <a:lnTo>
                    <a:pt x="1476375" y="178117"/>
                  </a:lnTo>
                  <a:lnTo>
                    <a:pt x="1483995" y="185738"/>
                  </a:lnTo>
                  <a:lnTo>
                    <a:pt x="1491615" y="193357"/>
                  </a:lnTo>
                  <a:lnTo>
                    <a:pt x="1499235" y="200977"/>
                  </a:lnTo>
                  <a:lnTo>
                    <a:pt x="1506855" y="208597"/>
                  </a:lnTo>
                  <a:lnTo>
                    <a:pt x="1514475" y="215265"/>
                  </a:lnTo>
                  <a:lnTo>
                    <a:pt x="1522095" y="222885"/>
                  </a:lnTo>
                  <a:lnTo>
                    <a:pt x="1529715" y="230505"/>
                  </a:lnTo>
                  <a:lnTo>
                    <a:pt x="1537335" y="237172"/>
                  </a:lnTo>
                  <a:lnTo>
                    <a:pt x="1544955" y="230505"/>
                  </a:lnTo>
                  <a:lnTo>
                    <a:pt x="1552575" y="237172"/>
                  </a:lnTo>
                  <a:lnTo>
                    <a:pt x="1559242" y="243840"/>
                  </a:lnTo>
                  <a:lnTo>
                    <a:pt x="1566862" y="237172"/>
                  </a:lnTo>
                  <a:lnTo>
                    <a:pt x="1574482" y="230505"/>
                  </a:lnTo>
                  <a:lnTo>
                    <a:pt x="1582103" y="223838"/>
                  </a:lnTo>
                  <a:lnTo>
                    <a:pt x="1589722" y="216217"/>
                  </a:lnTo>
                  <a:lnTo>
                    <a:pt x="1597342" y="209550"/>
                  </a:lnTo>
                  <a:lnTo>
                    <a:pt x="1604962" y="217170"/>
                  </a:lnTo>
                  <a:lnTo>
                    <a:pt x="1612582" y="210502"/>
                  </a:lnTo>
                  <a:lnTo>
                    <a:pt x="1620203" y="217170"/>
                  </a:lnTo>
                  <a:lnTo>
                    <a:pt x="1627822" y="223838"/>
                  </a:lnTo>
                  <a:lnTo>
                    <a:pt x="1635442" y="217170"/>
                  </a:lnTo>
                  <a:lnTo>
                    <a:pt x="1643062" y="210502"/>
                  </a:lnTo>
                  <a:lnTo>
                    <a:pt x="1650682" y="217170"/>
                  </a:lnTo>
                  <a:lnTo>
                    <a:pt x="1658303" y="210502"/>
                  </a:lnTo>
                  <a:lnTo>
                    <a:pt x="1665922" y="204788"/>
                  </a:lnTo>
                  <a:lnTo>
                    <a:pt x="1673542" y="211455"/>
                  </a:lnTo>
                  <a:lnTo>
                    <a:pt x="1681162" y="218122"/>
                  </a:lnTo>
                  <a:lnTo>
                    <a:pt x="1688782" y="223838"/>
                  </a:lnTo>
                  <a:lnTo>
                    <a:pt x="1696403" y="218122"/>
                  </a:lnTo>
                  <a:lnTo>
                    <a:pt x="1704022" y="224790"/>
                  </a:lnTo>
                  <a:lnTo>
                    <a:pt x="1710690" y="218122"/>
                  </a:lnTo>
                  <a:lnTo>
                    <a:pt x="1718310" y="211455"/>
                  </a:lnTo>
                  <a:lnTo>
                    <a:pt x="1725930" y="205740"/>
                  </a:lnTo>
                  <a:lnTo>
                    <a:pt x="1733550" y="212407"/>
                  </a:lnTo>
                  <a:lnTo>
                    <a:pt x="1741170" y="218122"/>
                  </a:lnTo>
                  <a:lnTo>
                    <a:pt x="1748790" y="224790"/>
                  </a:lnTo>
                  <a:lnTo>
                    <a:pt x="1756410" y="230505"/>
                  </a:lnTo>
                  <a:lnTo>
                    <a:pt x="1764030" y="224790"/>
                  </a:lnTo>
                  <a:lnTo>
                    <a:pt x="1771650" y="231457"/>
                  </a:lnTo>
                  <a:lnTo>
                    <a:pt x="1779270" y="237172"/>
                  </a:lnTo>
                  <a:lnTo>
                    <a:pt x="1786890" y="242888"/>
                  </a:lnTo>
                  <a:lnTo>
                    <a:pt x="1794510" y="237172"/>
                  </a:lnTo>
                  <a:lnTo>
                    <a:pt x="1802130" y="242888"/>
                  </a:lnTo>
                  <a:lnTo>
                    <a:pt x="1809750" y="249555"/>
                  </a:lnTo>
                  <a:lnTo>
                    <a:pt x="1817370" y="242888"/>
                  </a:lnTo>
                  <a:lnTo>
                    <a:pt x="1824990" y="249555"/>
                  </a:lnTo>
                  <a:lnTo>
                    <a:pt x="1832610" y="242888"/>
                  </a:lnTo>
                  <a:lnTo>
                    <a:pt x="1840230" y="248602"/>
                  </a:lnTo>
                  <a:lnTo>
                    <a:pt x="1847850" y="255270"/>
                  </a:lnTo>
                  <a:lnTo>
                    <a:pt x="1855470" y="260985"/>
                  </a:lnTo>
                  <a:lnTo>
                    <a:pt x="1862138" y="266700"/>
                  </a:lnTo>
                  <a:lnTo>
                    <a:pt x="1869758" y="260032"/>
                  </a:lnTo>
                  <a:lnTo>
                    <a:pt x="1877378" y="254317"/>
                  </a:lnTo>
                  <a:lnTo>
                    <a:pt x="1884997" y="248602"/>
                  </a:lnTo>
                  <a:lnTo>
                    <a:pt x="1892618" y="254317"/>
                  </a:lnTo>
                  <a:lnTo>
                    <a:pt x="1900238" y="248602"/>
                  </a:lnTo>
                  <a:lnTo>
                    <a:pt x="1907858" y="242888"/>
                  </a:lnTo>
                  <a:lnTo>
                    <a:pt x="1915478" y="237172"/>
                  </a:lnTo>
                  <a:lnTo>
                    <a:pt x="1923097" y="242888"/>
                  </a:lnTo>
                  <a:lnTo>
                    <a:pt x="1930718" y="237172"/>
                  </a:lnTo>
                  <a:lnTo>
                    <a:pt x="1938338" y="242888"/>
                  </a:lnTo>
                  <a:lnTo>
                    <a:pt x="1945958" y="237172"/>
                  </a:lnTo>
                  <a:lnTo>
                    <a:pt x="1953578" y="231457"/>
                  </a:lnTo>
                  <a:lnTo>
                    <a:pt x="1961197" y="225742"/>
                  </a:lnTo>
                  <a:lnTo>
                    <a:pt x="1968818" y="220980"/>
                  </a:lnTo>
                  <a:lnTo>
                    <a:pt x="1976438" y="225742"/>
                  </a:lnTo>
                  <a:lnTo>
                    <a:pt x="1984058" y="231457"/>
                  </a:lnTo>
                  <a:lnTo>
                    <a:pt x="1991678" y="225742"/>
                  </a:lnTo>
                  <a:lnTo>
                    <a:pt x="1999297" y="220980"/>
                  </a:lnTo>
                  <a:lnTo>
                    <a:pt x="2005965" y="215265"/>
                  </a:lnTo>
                  <a:lnTo>
                    <a:pt x="2013585" y="220980"/>
                  </a:lnTo>
                  <a:lnTo>
                    <a:pt x="2021205" y="226695"/>
                  </a:lnTo>
                  <a:lnTo>
                    <a:pt x="2028825" y="231457"/>
                  </a:lnTo>
                  <a:lnTo>
                    <a:pt x="2036445" y="226695"/>
                  </a:lnTo>
                  <a:lnTo>
                    <a:pt x="2044065" y="231457"/>
                  </a:lnTo>
                  <a:lnTo>
                    <a:pt x="2051685" y="226695"/>
                  </a:lnTo>
                  <a:lnTo>
                    <a:pt x="2059305" y="220980"/>
                  </a:lnTo>
                  <a:lnTo>
                    <a:pt x="2066925" y="226695"/>
                  </a:lnTo>
                  <a:lnTo>
                    <a:pt x="2074545" y="231457"/>
                  </a:lnTo>
                  <a:lnTo>
                    <a:pt x="2082165" y="237172"/>
                  </a:lnTo>
                  <a:lnTo>
                    <a:pt x="2089785" y="232410"/>
                  </a:lnTo>
                  <a:lnTo>
                    <a:pt x="2097405" y="226695"/>
                  </a:lnTo>
                  <a:lnTo>
                    <a:pt x="2105025" y="221932"/>
                  </a:lnTo>
                  <a:lnTo>
                    <a:pt x="2112645" y="216217"/>
                  </a:lnTo>
                  <a:lnTo>
                    <a:pt x="2120265" y="221932"/>
                  </a:lnTo>
                  <a:lnTo>
                    <a:pt x="2127885" y="226695"/>
                  </a:lnTo>
                  <a:lnTo>
                    <a:pt x="2135505" y="221932"/>
                  </a:lnTo>
                  <a:lnTo>
                    <a:pt x="2143125" y="226695"/>
                  </a:lnTo>
                  <a:lnTo>
                    <a:pt x="2150745" y="221932"/>
                  </a:lnTo>
                  <a:lnTo>
                    <a:pt x="2157412" y="217170"/>
                  </a:lnTo>
                  <a:lnTo>
                    <a:pt x="2165032" y="221932"/>
                  </a:lnTo>
                  <a:lnTo>
                    <a:pt x="2172652" y="217170"/>
                  </a:lnTo>
                  <a:lnTo>
                    <a:pt x="2180272" y="221932"/>
                  </a:lnTo>
                  <a:lnTo>
                    <a:pt x="2187892" y="227647"/>
                  </a:lnTo>
                  <a:lnTo>
                    <a:pt x="2195512" y="221932"/>
                  </a:lnTo>
                  <a:lnTo>
                    <a:pt x="2203132" y="217170"/>
                  </a:lnTo>
                  <a:lnTo>
                    <a:pt x="2210752" y="212407"/>
                  </a:lnTo>
                  <a:lnTo>
                    <a:pt x="2218372" y="217170"/>
                  </a:lnTo>
                  <a:lnTo>
                    <a:pt x="2225992" y="212407"/>
                  </a:lnTo>
                  <a:lnTo>
                    <a:pt x="2233612" y="207645"/>
                  </a:lnTo>
                  <a:lnTo>
                    <a:pt x="2241232" y="212407"/>
                  </a:lnTo>
                  <a:lnTo>
                    <a:pt x="2248852" y="207645"/>
                  </a:lnTo>
                  <a:lnTo>
                    <a:pt x="2256472" y="202882"/>
                  </a:lnTo>
                  <a:lnTo>
                    <a:pt x="2264092" y="208597"/>
                  </a:lnTo>
                  <a:lnTo>
                    <a:pt x="2271712" y="203835"/>
                  </a:lnTo>
                  <a:lnTo>
                    <a:pt x="2279332" y="199072"/>
                  </a:lnTo>
                  <a:lnTo>
                    <a:pt x="2286952" y="203835"/>
                  </a:lnTo>
                  <a:lnTo>
                    <a:pt x="2294572" y="208597"/>
                  </a:lnTo>
                  <a:lnTo>
                    <a:pt x="2302192" y="213360"/>
                  </a:lnTo>
                  <a:lnTo>
                    <a:pt x="2309812" y="218122"/>
                  </a:lnTo>
                  <a:lnTo>
                    <a:pt x="2316480" y="222885"/>
                  </a:lnTo>
                  <a:lnTo>
                    <a:pt x="2324100" y="227647"/>
                  </a:lnTo>
                  <a:lnTo>
                    <a:pt x="2331720" y="222885"/>
                  </a:lnTo>
                  <a:lnTo>
                    <a:pt x="2339340" y="227647"/>
                  </a:lnTo>
                  <a:lnTo>
                    <a:pt x="2346960" y="232410"/>
                  </a:lnTo>
                  <a:lnTo>
                    <a:pt x="2354580" y="237172"/>
                  </a:lnTo>
                  <a:lnTo>
                    <a:pt x="2362200" y="241935"/>
                  </a:lnTo>
                  <a:lnTo>
                    <a:pt x="2369820" y="246697"/>
                  </a:lnTo>
                  <a:lnTo>
                    <a:pt x="2377440" y="251460"/>
                  </a:lnTo>
                  <a:lnTo>
                    <a:pt x="2385060" y="255270"/>
                  </a:lnTo>
                  <a:lnTo>
                    <a:pt x="2392680" y="250507"/>
                  </a:lnTo>
                  <a:lnTo>
                    <a:pt x="2400300" y="255270"/>
                  </a:lnTo>
                  <a:lnTo>
                    <a:pt x="2407920" y="260032"/>
                  </a:lnTo>
                  <a:lnTo>
                    <a:pt x="2415540" y="264795"/>
                  </a:lnTo>
                  <a:lnTo>
                    <a:pt x="2423160" y="268605"/>
                  </a:lnTo>
                  <a:lnTo>
                    <a:pt x="2430780" y="273367"/>
                  </a:lnTo>
                  <a:lnTo>
                    <a:pt x="2438400" y="277177"/>
                  </a:lnTo>
                  <a:lnTo>
                    <a:pt x="2446020" y="273367"/>
                  </a:lnTo>
                  <a:lnTo>
                    <a:pt x="2453640" y="268605"/>
                  </a:lnTo>
                  <a:lnTo>
                    <a:pt x="2460308" y="263842"/>
                  </a:lnTo>
                  <a:lnTo>
                    <a:pt x="2467928" y="259080"/>
                  </a:lnTo>
                  <a:lnTo>
                    <a:pt x="2475548" y="255270"/>
                  </a:lnTo>
                  <a:lnTo>
                    <a:pt x="2483168" y="259080"/>
                  </a:lnTo>
                  <a:lnTo>
                    <a:pt x="2490788" y="263842"/>
                  </a:lnTo>
                  <a:lnTo>
                    <a:pt x="2498408" y="267652"/>
                  </a:lnTo>
                  <a:lnTo>
                    <a:pt x="2506028" y="263842"/>
                  </a:lnTo>
                  <a:lnTo>
                    <a:pt x="2513648" y="267652"/>
                  </a:lnTo>
                  <a:lnTo>
                    <a:pt x="2521268" y="272415"/>
                  </a:lnTo>
                  <a:lnTo>
                    <a:pt x="2528888" y="276225"/>
                  </a:lnTo>
                  <a:lnTo>
                    <a:pt x="2536508" y="271462"/>
                  </a:lnTo>
                  <a:lnTo>
                    <a:pt x="2544128" y="267652"/>
                  </a:lnTo>
                  <a:lnTo>
                    <a:pt x="2551748" y="262890"/>
                  </a:lnTo>
                  <a:lnTo>
                    <a:pt x="2559368" y="258127"/>
                  </a:lnTo>
                  <a:lnTo>
                    <a:pt x="2566988" y="262890"/>
                  </a:lnTo>
                  <a:lnTo>
                    <a:pt x="2574608" y="266700"/>
                  </a:lnTo>
                  <a:lnTo>
                    <a:pt x="2582228" y="271462"/>
                  </a:lnTo>
                  <a:lnTo>
                    <a:pt x="2589848" y="266700"/>
                  </a:lnTo>
                  <a:lnTo>
                    <a:pt x="2597468" y="262890"/>
                  </a:lnTo>
                  <a:lnTo>
                    <a:pt x="2605088" y="266700"/>
                  </a:lnTo>
                  <a:lnTo>
                    <a:pt x="2611755" y="270510"/>
                  </a:lnTo>
                  <a:lnTo>
                    <a:pt x="2619375" y="266700"/>
                  </a:lnTo>
                  <a:lnTo>
                    <a:pt x="2626995" y="261938"/>
                  </a:lnTo>
                  <a:lnTo>
                    <a:pt x="2634615" y="266700"/>
                  </a:lnTo>
                  <a:lnTo>
                    <a:pt x="2642235" y="270510"/>
                  </a:lnTo>
                  <a:lnTo>
                    <a:pt x="2649855" y="274320"/>
                  </a:lnTo>
                  <a:lnTo>
                    <a:pt x="2657475" y="270510"/>
                  </a:lnTo>
                  <a:lnTo>
                    <a:pt x="2665095" y="265747"/>
                  </a:lnTo>
                  <a:lnTo>
                    <a:pt x="2672715" y="269557"/>
                  </a:lnTo>
                  <a:lnTo>
                    <a:pt x="2680335" y="274320"/>
                  </a:lnTo>
                  <a:lnTo>
                    <a:pt x="2687955" y="269557"/>
                  </a:lnTo>
                  <a:lnTo>
                    <a:pt x="2695575" y="265747"/>
                  </a:lnTo>
                  <a:lnTo>
                    <a:pt x="2703195" y="269557"/>
                  </a:lnTo>
                  <a:lnTo>
                    <a:pt x="2710815" y="265747"/>
                  </a:lnTo>
                  <a:lnTo>
                    <a:pt x="2718435" y="260985"/>
                  </a:lnTo>
                  <a:lnTo>
                    <a:pt x="2726055" y="257175"/>
                  </a:lnTo>
                  <a:lnTo>
                    <a:pt x="2733675" y="253365"/>
                  </a:lnTo>
                  <a:lnTo>
                    <a:pt x="2741295" y="249555"/>
                  </a:lnTo>
                  <a:lnTo>
                    <a:pt x="2748915" y="253365"/>
                  </a:lnTo>
                  <a:lnTo>
                    <a:pt x="2756535" y="257175"/>
                  </a:lnTo>
                  <a:lnTo>
                    <a:pt x="2764155" y="253365"/>
                  </a:lnTo>
                  <a:lnTo>
                    <a:pt x="2770822" y="257175"/>
                  </a:lnTo>
                  <a:lnTo>
                    <a:pt x="2778442" y="260985"/>
                  </a:lnTo>
                  <a:lnTo>
                    <a:pt x="2786062" y="257175"/>
                  </a:lnTo>
                  <a:lnTo>
                    <a:pt x="2793682" y="260985"/>
                  </a:lnTo>
                  <a:lnTo>
                    <a:pt x="2801302" y="257175"/>
                  </a:lnTo>
                  <a:lnTo>
                    <a:pt x="2808922" y="252412"/>
                  </a:lnTo>
                  <a:lnTo>
                    <a:pt x="2816542" y="256222"/>
                  </a:lnTo>
                  <a:lnTo>
                    <a:pt x="2824162" y="252412"/>
                  </a:lnTo>
                  <a:lnTo>
                    <a:pt x="2831782" y="256222"/>
                  </a:lnTo>
                  <a:lnTo>
                    <a:pt x="2839402" y="252412"/>
                  </a:lnTo>
                  <a:lnTo>
                    <a:pt x="2847022" y="256222"/>
                  </a:lnTo>
                  <a:lnTo>
                    <a:pt x="2854642" y="252412"/>
                  </a:lnTo>
                  <a:lnTo>
                    <a:pt x="2862262" y="248602"/>
                  </a:lnTo>
                  <a:lnTo>
                    <a:pt x="2869882" y="252412"/>
                  </a:lnTo>
                  <a:lnTo>
                    <a:pt x="2877502" y="248602"/>
                  </a:lnTo>
                  <a:lnTo>
                    <a:pt x="2885122" y="244792"/>
                  </a:lnTo>
                  <a:lnTo>
                    <a:pt x="2892742" y="240982"/>
                  </a:lnTo>
                  <a:lnTo>
                    <a:pt x="2900362" y="244792"/>
                  </a:lnTo>
                  <a:lnTo>
                    <a:pt x="2907982" y="248602"/>
                  </a:lnTo>
                  <a:lnTo>
                    <a:pt x="2915602" y="244792"/>
                  </a:lnTo>
                  <a:lnTo>
                    <a:pt x="2922270" y="248602"/>
                  </a:lnTo>
                  <a:lnTo>
                    <a:pt x="2929890" y="244792"/>
                  </a:lnTo>
                  <a:lnTo>
                    <a:pt x="2937510" y="248602"/>
                  </a:lnTo>
                  <a:lnTo>
                    <a:pt x="2945130" y="252412"/>
                  </a:lnTo>
                  <a:lnTo>
                    <a:pt x="2952750" y="256222"/>
                  </a:lnTo>
                  <a:lnTo>
                    <a:pt x="2960370" y="259080"/>
                  </a:lnTo>
                  <a:lnTo>
                    <a:pt x="2967990" y="255270"/>
                  </a:lnTo>
                  <a:lnTo>
                    <a:pt x="2975610" y="252412"/>
                  </a:lnTo>
                  <a:lnTo>
                    <a:pt x="2983230" y="248602"/>
                  </a:lnTo>
                  <a:lnTo>
                    <a:pt x="2990850" y="244792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2166938" y="453390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053144" y="4609624"/>
              <a:ext cx="2275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100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2924175" y="453390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2810382" y="4609624"/>
              <a:ext cx="2275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200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3681412" y="453390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567619" y="4609624"/>
              <a:ext cx="2275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300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4438650" y="453390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324857" y="4609624"/>
              <a:ext cx="2275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400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1362075" y="4093026"/>
              <a:ext cx="47625" cy="9525"/>
            </a:xfrm>
            <a:custGeom>
              <a:avLst/>
              <a:gdLst/>
              <a:ahLst/>
              <a:cxnLst/>
              <a:rect l="l" t="t" r="r" b="b"/>
              <a:pathLst>
                <a:path w="47625" h="9525">
                  <a:moveTo>
                    <a:pt x="0" y="0"/>
                  </a:moveTo>
                  <a:lnTo>
                    <a:pt x="47625" y="0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101341" y="4030637"/>
              <a:ext cx="2275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0.3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1362075" y="3505200"/>
              <a:ext cx="47625" cy="9525"/>
            </a:xfrm>
            <a:custGeom>
              <a:avLst/>
              <a:gdLst/>
              <a:ahLst/>
              <a:cxnLst/>
              <a:rect l="l" t="t" r="r" b="b"/>
              <a:pathLst>
                <a:path w="47625" h="9525">
                  <a:moveTo>
                    <a:pt x="0" y="0"/>
                  </a:moveTo>
                  <a:lnTo>
                    <a:pt x="47625" y="0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101341" y="3442811"/>
              <a:ext cx="2275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0.5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1362075" y="2917374"/>
              <a:ext cx="47625" cy="9525"/>
            </a:xfrm>
            <a:custGeom>
              <a:avLst/>
              <a:gdLst/>
              <a:ahLst/>
              <a:cxnLst/>
              <a:rect l="l" t="t" r="r" b="b"/>
              <a:pathLst>
                <a:path w="47625" h="9525">
                  <a:moveTo>
                    <a:pt x="0" y="0"/>
                  </a:moveTo>
                  <a:lnTo>
                    <a:pt x="47625" y="0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101341" y="2854985"/>
              <a:ext cx="2275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0.7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191828" y="3106036"/>
              <a:ext cx="11398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0.5 ± 0.05 的带子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465326" y="2518210"/>
              <a:ext cx="11774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n 小的时候上下乱跳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723900" y="4953000"/>
              <a:ext cx="5143500" cy="1104900"/>
            </a:xfrm>
            <a:prstGeom prst="roundRect">
              <a:avLst>
                <a:gd name="adj" fmla="val 862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733425" y="5057775"/>
              <a:ext cx="47625" cy="89535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895350" y="5057775"/>
              <a:ext cx="495300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96315" y="511111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读法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89826" y="5369004"/>
              <a:ext cx="4004755" cy="6127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频率不是一步步变小地逼近 0.5，它一直在抖，</a:t>
              </a:r>
              <a:br/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但抖出带子之外的次数越来越少。伯努利定理说的正是这件事：</a:t>
              </a:r>
              <a:br/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跳出带子的那部分概率趋于 0，而不是每条轨道最终都落进带子。</a:t>
              </a:r>
            </a:p>
          </p:txBody>
        </p:sp>
      </p:grpSp>
      <p:grpSp>
        <p:nvGrpSpPr>
          <p:cNvPr id="70" name="llnB"/>
          <p:cNvGrpSpPr/>
          <p:nvPr/>
        </p:nvGrpSpPr>
        <p:grpSpPr>
          <a:xfrm>
            <a:off x="6210300" y="1524000"/>
            <a:ext cx="5448300" cy="4762500"/>
            <a:chOff x="6210300" y="1524000"/>
            <a:chExt cx="5448300" cy="4762500"/>
          </a:xfrm>
        </p:grpSpPr>
        <p:sp>
          <p:nvSpPr>
            <p:cNvPr id="40" name="Rectangle 40"/>
            <p:cNvSpPr/>
            <p:nvPr/>
          </p:nvSpPr>
          <p:spPr>
            <a:xfrm>
              <a:off x="6210300" y="1524000"/>
              <a:ext cx="5448300" cy="4762500"/>
            </a:xfrm>
            <a:prstGeom prst="roundRect">
              <a:avLst>
                <a:gd name="adj" fmla="val 24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394323" y="1662589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跳出带子的概率有多大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395466" y="1925002"/>
              <a:ext cx="47035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抛 n 次硬币，正面频率与 0.5 相差不小于 0.05 的概率（精确二项计算）。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490716" y="2553652"/>
              <a:ext cx="4262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n = 10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7315200" y="2514600"/>
              <a:ext cx="2154288" cy="228600"/>
            </a:xfrm>
            <a:prstGeom prst="roundRect">
              <a:avLst>
                <a:gd name="adj" fmla="val 16667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540526" y="2567226"/>
              <a:ext cx="458975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0.7539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490716" y="2972752"/>
              <a:ext cx="4262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n = 50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7315200" y="2933700"/>
              <a:ext cx="1371276" cy="228600"/>
            </a:xfrm>
            <a:prstGeom prst="roundRect">
              <a:avLst>
                <a:gd name="adj" fmla="val 16667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757533" y="2986326"/>
              <a:ext cx="458975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0.4799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490716" y="3391852"/>
              <a:ext cx="5078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n = 100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7315200" y="3352800"/>
              <a:ext cx="1052132" cy="228600"/>
            </a:xfrm>
            <a:prstGeom prst="roundRect">
              <a:avLst>
                <a:gd name="adj" fmla="val 16667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8438388" y="3405426"/>
              <a:ext cx="458975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0.3682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490716" y="3810952"/>
              <a:ext cx="5078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n = 400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7315200" y="3771900"/>
              <a:ext cx="145848" cy="228600"/>
            </a:xfrm>
            <a:prstGeom prst="roundRect">
              <a:avLst>
                <a:gd name="adj" fmla="val 26123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532103" y="3824526"/>
              <a:ext cx="458975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0.0510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490716" y="4230052"/>
              <a:ext cx="5895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n = 1000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7315200" y="4191000"/>
              <a:ext cx="19050" cy="22860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405306" y="4243626"/>
              <a:ext cx="458975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0.0017</a:t>
              </a:r>
            </a:p>
          </p:txBody>
        </p:sp>
        <p:sp>
          <p:nvSpPr>
            <p:cNvPr id="58" name="Line 58"/>
            <p:cNvSpPr/>
            <p:nvPr/>
          </p:nvSpPr>
          <p:spPr>
            <a:xfrm>
              <a:off x="7315200" y="4648200"/>
              <a:ext cx="2857500" cy="9525"/>
            </a:xfrm>
            <a:custGeom>
              <a:avLst/>
              <a:gdLst/>
              <a:ahLst/>
              <a:cxnLst/>
              <a:rect l="l" t="t" r="r" b="b"/>
              <a:pathLst>
                <a:path w="2857500" h="9525">
                  <a:moveTo>
                    <a:pt x="0" y="0"/>
                  </a:moveTo>
                  <a:lnTo>
                    <a:pt x="2857500" y="0"/>
                  </a:lnTo>
                </a:path>
              </a:pathLst>
            </a:custGeom>
            <a:noFill/>
            <a:ln w="13335">
              <a:solidFill>
                <a:srgbClr val="D9DFEA"/>
              </a:solidFill>
            </a:ln>
          </p:spPr>
        </p:sp>
        <p:sp>
          <p:nvSpPr>
            <p:cNvPr id="59" name="Line 59"/>
            <p:cNvSpPr/>
            <p:nvPr/>
          </p:nvSpPr>
          <p:spPr>
            <a:xfrm>
              <a:off x="7315200" y="464820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3335">
              <a:solidFill>
                <a:srgbClr val="4B5563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273967" y="473344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1" name="Line 61"/>
            <p:cNvSpPr/>
            <p:nvPr/>
          </p:nvSpPr>
          <p:spPr>
            <a:xfrm>
              <a:off x="8743950" y="464820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3335">
              <a:solidFill>
                <a:srgbClr val="4B5563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8630157" y="4733449"/>
              <a:ext cx="2275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0.5</a:t>
              </a:r>
            </a:p>
          </p:txBody>
        </p:sp>
        <p:sp>
          <p:nvSpPr>
            <p:cNvPr id="63" name="Line 63"/>
            <p:cNvSpPr/>
            <p:nvPr/>
          </p:nvSpPr>
          <p:spPr>
            <a:xfrm>
              <a:off x="10172700" y="464820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3335">
              <a:solidFill>
                <a:srgbClr val="4B5563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10131467" y="473344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6400800" y="5143500"/>
              <a:ext cx="5067300" cy="914400"/>
            </a:xfrm>
            <a:prstGeom prst="roundRect">
              <a:avLst>
                <a:gd name="adj" fmla="val 1041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6410325" y="5248275"/>
              <a:ext cx="47625" cy="704850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6572250" y="5248275"/>
              <a:ext cx="1295400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649212" y="5301615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这就是依概率收敛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566726" y="5559504"/>
              <a:ext cx="3063430" cy="412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ε 固定为 0.05，n 越大这串概率越小，极限是 0。</a:t>
              </a:r>
              <a:br/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换一个更小的 ε 只是让下降变慢，极限仍然是 0。</a:t>
              </a:r>
            </a:p>
          </p:txBody>
        </p:sp>
      </p:grpSp>
      <p:grpSp>
        <p:nvGrpSpPr>
          <p:cNvPr id="7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1" name="TextBox 71"/>
            <p:cNvSpPr txBox="1"/>
            <p:nvPr/>
          </p:nvSpPr>
          <p:spPr>
            <a:xfrm>
              <a:off x="528447" y="6581299"/>
              <a:ext cx="3044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第5章 大数定律及中心极限定理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极限定理 · 大数定律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三个大数定律：条件越弱，用起来越方便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5971591" cy="308039"/>
            <a:chOff x="525399" y="1550194"/>
            <a:chExt cx="5971591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597159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三条定律的结论形状相同，差别全在对随机变量序列的要求上。</a:t>
              </a:r>
            </a:p>
          </p:txBody>
        </p:sp>
      </p:grpSp>
      <p:grpSp>
        <p:nvGrpSpPr>
          <p:cNvPr id="28" name="c1-table-1"/>
          <p:cNvGrpSpPr/>
          <p:nvPr/>
        </p:nvGrpSpPr>
        <p:grpSpPr>
          <a:xfrm>
            <a:off x="533400" y="1967865"/>
            <a:ext cx="11125200" cy="2475548"/>
            <a:chOff x="533400" y="1967865"/>
            <a:chExt cx="11125200" cy="2475548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11125200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355687" y="21026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定律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460062" y="210264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对序列的要求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366212" y="21026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41223" y="266461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切比雪夫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643378" y="2551271"/>
              <a:ext cx="445897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相互独立；期望与方差都存在；方差一致有上界，即存在 M 使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D(Xₖ) ≤ M 对一切 k 成立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39228" y="2664619"/>
              <a:ext cx="39503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算术平均值与期望的算术平均值之差依概率收敛于 0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308705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3091815"/>
              <a:ext cx="11125200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41223" y="334089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伯努利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643378" y="3227546"/>
              <a:ext cx="4426458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重伯努利试验中事件 A 发生的次数，每次试验中 A 发生的概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率都是 p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539228" y="3340894"/>
              <a:ext cx="18825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频率依概率收敛于概率 p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76237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41223" y="401621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辛钦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643378" y="3902869"/>
              <a:ext cx="4426458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相互独立且服从同一分布；只要求期望 μ 存在，不要求方差存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539228" y="4016216"/>
              <a:ext cx="205487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算术平均值依概率收敛于 μ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1967865"/>
              <a:ext cx="11125200" cy="247554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2530792" y="1967865"/>
              <a:ext cx="9525" cy="24755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7426642" y="1967865"/>
              <a:ext cx="9525" cy="24755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5" name="c1-card-2"/>
          <p:cNvGrpSpPr/>
          <p:nvPr/>
        </p:nvGrpSpPr>
        <p:grpSpPr>
          <a:xfrm>
            <a:off x="533400" y="4632960"/>
            <a:ext cx="11125200" cy="1729740"/>
            <a:chOff x="533400" y="4632960"/>
            <a:chExt cx="11125200" cy="1729740"/>
          </a:xfrm>
        </p:grpSpPr>
        <p:sp>
          <p:nvSpPr>
            <p:cNvPr id="29" name="Rectangle 29"/>
            <p:cNvSpPr/>
            <p:nvPr/>
          </p:nvSpPr>
          <p:spPr>
            <a:xfrm>
              <a:off x="533400" y="4632960"/>
              <a:ext cx="11125200" cy="1729740"/>
            </a:xfrm>
            <a:prstGeom prst="roundRect">
              <a:avLst>
                <a:gd name="adj" fmla="val 77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542925" y="4766310"/>
              <a:ext cx="47625" cy="146304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81050" y="4842510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58457" y="487822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三者的关系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73430" y="5219700"/>
              <a:ext cx="91424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伯努利定理是另外两条在 0-1 分布上的特例：0-1 分布的方差 p(1 − p) ≤ 1/4，一致有上界自动满足。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73430" y="5554980"/>
              <a:ext cx="101498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辛钦定理把“方差一致有上界”换成了“同分布”，条件不可比较，各有各的用处：方差不存在的同分布序列只能用辛钦，分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布各不相同的序列只能用切比雪夫。</a:t>
              </a:r>
            </a:p>
          </p:txBody>
        </p:sp>
      </p:grpSp>
      <p:grpSp>
        <p:nvGrpSpPr>
          <p:cNvPr id="3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6" name="TextBox 36"/>
            <p:cNvSpPr txBox="1"/>
            <p:nvPr/>
          </p:nvSpPr>
          <p:spPr>
            <a:xfrm>
              <a:off x="528447" y="6581299"/>
              <a:ext cx="3044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第5章 大数定律及中心极限定理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极限定理 · 大数定律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切比雪夫大数定律：把不等式用在算术平均值上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410200" cy="2283142"/>
            <a:chOff x="533400" y="1524000"/>
            <a:chExt cx="5410200" cy="228314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283142"/>
            </a:xfrm>
            <a:prstGeom prst="roundRect">
              <a:avLst>
                <a:gd name="adj" fmla="val 584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016442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定理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切比雪夫大数定律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7301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X₁, X₂, …, Xₙ, … 相互独立，具有期望 E(Xₖ) 与方差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D(Xₖ)，且方差一致有上界 D(Xₖ) ≤ M，则对任意正数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ε 有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44"/>
                <p:cNvSpPr txBox="1">
                  <a:spLocks noGrp="1"/>
                </p:cNvSpPr>
                <p:nvPr/>
              </p:nvSpPr>
              <p:spPr>
                <a:xfrm>
                  <a:off x="781050" y="3011805"/>
                  <a:ext cx="4953000" cy="5667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func>
                          <m:funcPr/>
                          <m:fName>
                            <m:limLow>
                              <m:limLowPr/>
                              <m:e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lim</m:t>
                                </m:r>
                              </m:e>
                              <m:lim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→∞</m:t>
                                </m:r>
                              </m:lim>
                            </m:limLow>
                          </m:fName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e>
                        </m:func>
                        <m:d>
                          <m:dPr>
                            <m:begChr m:val="{"/>
                            <m:sepChr m:val=""/>
                            <m:endChr m:val="}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sepChr m:val=""/>
                                <m:endChr m:val="|"/>
                                <m:grow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den>
                                </m:f>
                                <m:nary>
                                  <m:naryPr>
                                    <m:chr m:val="∑"/>
                                    <m:limLoc m:val="undOvr"/>
                                    <m:grow m:val="off"/>
                                    <m:subHide m:val="off"/>
                                    <m:supHide m:val="off"/>
                                    <m:ctrl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=</m:t>
                                    </m:r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sup>
                                  <m:e>
                                    <m:sSub>
                                      <m:e>
                                        <m: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k</m:t>
                                        </m:r>
                                      </m:sub>
                                    </m:sSub>
                                  </m:e>
                                </m:nary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den>
                                </m:f>
                                <m:nary>
                                  <m:naryPr>
                                    <m:chr m:val="∑"/>
                                    <m:limLoc m:val="undOvr"/>
                                    <m:grow m:val="off"/>
                                    <m:subHide m:val="off"/>
                                    <m:supHide m:val="off"/>
                                    <m:ctrl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=</m:t>
                                    </m:r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sup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E</m:t>
                                    </m:r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e>
                                            <m:r>
                                              <a:rPr lang="zh-CN" sz="128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X</m:t>
                                            </m:r>
                                          </m:e>
                                          <m:sub>
                                            <m:r>
                                              <a:rPr lang="zh-CN" sz="128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k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nary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&lt;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ε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20" name="c1-callout-2"/>
          <p:cNvGrpSpPr/>
          <p:nvPr/>
        </p:nvGrpSpPr>
        <p:grpSpPr>
          <a:xfrm>
            <a:off x="533400" y="3997642"/>
            <a:ext cx="5410200" cy="782955"/>
            <a:chOff x="533400" y="3997642"/>
            <a:chExt cx="5410200" cy="782955"/>
          </a:xfrm>
        </p:grpSpPr>
        <p:sp>
          <p:nvSpPr>
            <p:cNvPr id="15" name="Rectangle 15"/>
            <p:cNvSpPr/>
            <p:nvPr/>
          </p:nvSpPr>
          <p:spPr>
            <a:xfrm>
              <a:off x="533400" y="3997642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738188" y="4289110"/>
              <a:ext cx="200023" cy="200023"/>
              <a:chOff x="738188" y="4289110"/>
              <a:chExt cx="200023" cy="200023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738188" y="428911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871538" y="43557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1040130" y="4146232"/>
              <a:ext cx="43681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 充分大时，算术平均值差不多不再是随机的，它取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值接近自己期望的概率接近 1。</a:t>
              </a:r>
            </a:p>
          </p:txBody>
        </p:sp>
      </p:grpSp>
      <p:grpSp>
        <p:nvGrpSpPr>
          <p:cNvPr id="38" name="c2-steps-1"/>
          <p:cNvGrpSpPr/>
          <p:nvPr/>
        </p:nvGrpSpPr>
        <p:grpSpPr>
          <a:xfrm>
            <a:off x="6248400" y="1533525"/>
            <a:ext cx="5045735" cy="2529173"/>
            <a:chOff x="6248400" y="1533525"/>
            <a:chExt cx="5045735" cy="2529173"/>
          </a:xfrm>
        </p:grpSpPr>
        <p:sp>
          <p:nvSpPr>
            <p:cNvPr id="21" name="Rectangle 21"/>
            <p:cNvSpPr/>
            <p:nvPr/>
          </p:nvSpPr>
          <p:spPr>
            <a:xfrm>
              <a:off x="6381750" y="1676400"/>
              <a:ext cx="19050" cy="19526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6248400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42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6248400" y="218408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42024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6248400" y="283464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342024" y="29084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6248400" y="348615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42024" y="35599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659880" y="156781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算出平均值的期望与方差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661023" y="1861661"/>
              <a:ext cx="46331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期望是 (1/n)ΣE(Xₖ)；独立使方差可加，得 (1/n²)ΣD(Xₖ)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659880" y="2218372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用方差的一致上界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661023" y="2512219"/>
              <a:ext cx="349734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ΣD(Xₖ) ≤ nM，于是平均值的方差不超过 M/n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659880" y="2868930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套切比雪夫不等式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661023" y="3162776"/>
              <a:ext cx="33410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概率不小于 1 − M/(nε²)，而它夹在 1 以下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659880" y="3520440"/>
              <a:ext cx="12687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令 n 趋于无穷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661023" y="3813334"/>
              <a:ext cx="279273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M/(nε²) 趋于 0，夹逼得到极限为 1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formula45"/>
              <p:cNvSpPr txBox="1">
                <a:spLocks noGrp="1"/>
              </p:cNvSpPr>
              <p:nvPr/>
            </p:nvSpPr>
            <p:spPr>
              <a:xfrm>
                <a:off x="6248400" y="4241482"/>
                <a:ext cx="5410200" cy="5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≥</m:t>
                      </m:r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P</m:t>
                      </m:r>
                      <m:d>
                        <m:dPr>
                          <m:begChr m:val="{"/>
                          <m:sepChr m:val=""/>
                          <m:endChr m:val="}"/>
                          <m:grow m:val="on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sepChr m:val=""/>
                              <m:endChr m:val="|"/>
                              <m:grow m:val="on"/>
                              <m:ctrl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bar"/>
                                  <m:ctrlP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den>
                              </m:f>
                              <m:nary>
                                <m:naryPr>
                                  <m:chr m:val="∑"/>
                                  <m:limLoc m:val="undOvr"/>
                                  <m:grow m:val="off"/>
                                  <m:subHide m:val="off"/>
                                  <m:supHide m:val="off"/>
                                  <m:ctrlP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naryPr>
                                <m:sub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k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=</m:t>
                                  </m:r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sup>
                                <m:e>
                                  <m:sSub>
                                    <m:e>
                                      <m:r>
                                        <a:rPr lang="zh-CN" sz="12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e>
                                    <m:sub>
                                      <m:r>
                                        <a:rPr lang="zh-CN" sz="12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k</m:t>
                                      </m:r>
                                    </m:sub>
                                  </m:sSub>
                                </m:e>
                              </m:nary>
                              <m:r>
                                <m:rPr>
                                  <m:sty m:val="p"/>
                                </m:r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f>
                                <m:fPr>
                                  <m:type m:val="bar"/>
                                  <m:ctrlP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den>
                              </m:f>
                              <m:nary>
                                <m:naryPr>
                                  <m:chr m:val="∑"/>
                                  <m:limLoc m:val="undOvr"/>
                                  <m:grow m:val="off"/>
                                  <m:subHide m:val="off"/>
                                  <m:supHide m:val="off"/>
                                  <m:ctrlP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naryPr>
                                <m:sub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k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=</m:t>
                                  </m:r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sup>
                                <m:e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E</m:t>
                                  </m:r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 m:val="on"/>
                                      <m:ctrlPr>
                                        <a:rPr lang="zh-CN" sz="12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e>
                                          <m:r>
                                            <a:rPr lang="zh-CN" sz="12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X</m:t>
                                          </m:r>
                                        </m:e>
                                        <m:sub>
                                          <m:r>
                                            <a:rPr lang="zh-CN" sz="12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k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nary>
                            </m:e>
                          </m:d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&lt;</m:t>
                          </m:r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ε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≥</m:t>
                      </m:r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f>
                        <m:fPr>
                          <m:type m:val="bar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</m:t>
                          </m:r>
                        </m:num>
                        <m:den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  <m:sSup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ε</m:t>
                              </m:r>
                            </m:e>
                            <m:sup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46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0" name="Rectangle 40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1040130" y="5991225"/>
              <a:ext cx="58712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证明里真正用到独立的地方只有一处：把和的方差拆成方差的和。</a:t>
              </a:r>
            </a:p>
          </p:txBody>
        </p:sp>
      </p:grpSp>
      <p:grpSp>
        <p:nvGrpSpPr>
          <p:cNvPr id="4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7" name="TextBox 47"/>
            <p:cNvSpPr txBox="1"/>
            <p:nvPr/>
          </p:nvSpPr>
          <p:spPr>
            <a:xfrm>
              <a:off x="528447" y="6581299"/>
              <a:ext cx="3044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第5章 大数定律及中心极限定理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54625" cy="909257"/>
            <a:chOff x="520446" y="342900"/>
            <a:chExt cx="685462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极限定理 · 大数定律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5462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推论：独立同分布时，平均值依概率收敛到 μ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5626418" cy="2595562"/>
            <a:chOff x="533400" y="1524000"/>
            <a:chExt cx="5626418" cy="259556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2595562"/>
            </a:xfrm>
            <a:prstGeom prst="roundRect">
              <a:avLst>
                <a:gd name="adj" fmla="val 51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328862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推论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同期望同方差的情形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7301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X₁, X₂, …, Xₙ, … 相互独立，且 E(Xₖ) = μ、D(Xₖ) =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σ² 对一切 k 成立，则对任意正数 ε 有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48"/>
                <p:cNvSpPr txBox="1">
                  <a:spLocks noGrp="1"/>
                </p:cNvSpPr>
                <p:nvPr/>
              </p:nvSpPr>
              <p:spPr>
                <a:xfrm>
                  <a:off x="781050" y="2726055"/>
                  <a:ext cx="5169218" cy="6334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func>
                          <m:funcPr/>
                          <m:fName>
                            <m:limLow>
                              <m:limLowPr/>
                              <m:e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lim</m:t>
                                </m:r>
                              </m:e>
                              <m:lim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→∞</m:t>
                                </m:r>
                              </m:lim>
                            </m:limLow>
                          </m:fName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e>
                        </m:func>
                        <m:d>
                          <m:dPr>
                            <m:begChr m:val="{"/>
                            <m:sepChr m:val=""/>
                            <m:endChr m:val="}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sepChr m:val=""/>
                                <m:endChr m:val="|"/>
                                <m:grow m:val="on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den>
                                </m:f>
                                <m:nary>
                                  <m:naryPr>
                                    <m:chr m:val="∑"/>
                                    <m:limLoc m:val="undOvr"/>
                                    <m:grow m:val="off"/>
                                    <m:subHide m:val="off"/>
                                    <m:supHide m:val="off"/>
                                    <m:ctrlP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=</m:t>
                                    </m:r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sup>
                                  <m:e>
                                    <m:sSub>
                                      <m:e>
                                        <m: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k</m:t>
                                        </m:r>
                                      </m:sub>
                                    </m:sSub>
                                  </m:e>
                                </m:nary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μ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&lt;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ε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4" name="TextBox 14"/>
            <p:cNvSpPr txBox="1"/>
            <p:nvPr/>
          </p:nvSpPr>
          <p:spPr>
            <a:xfrm>
              <a:off x="774573" y="3476149"/>
              <a:ext cx="482473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方差相同自然一致有上界，取 M = σ² 即可，所以这是上一页定理的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直接推论。</a:t>
              </a:r>
            </a:p>
          </p:txBody>
        </p:sp>
      </p:grpSp>
      <p:grpSp>
        <p:nvGrpSpPr>
          <p:cNvPr id="21" name="c1-callout-2"/>
          <p:cNvGrpSpPr/>
          <p:nvPr/>
        </p:nvGrpSpPr>
        <p:grpSpPr>
          <a:xfrm>
            <a:off x="533400" y="4310062"/>
            <a:ext cx="5626418" cy="1139190"/>
            <a:chOff x="533400" y="4310062"/>
            <a:chExt cx="5626418" cy="1139190"/>
          </a:xfrm>
        </p:grpSpPr>
        <p:sp>
          <p:nvSpPr>
            <p:cNvPr id="16" name="Rectangle 16"/>
            <p:cNvSpPr/>
            <p:nvPr/>
          </p:nvSpPr>
          <p:spPr>
            <a:xfrm>
              <a:off x="533400" y="4310062"/>
              <a:ext cx="5626418" cy="1139190"/>
            </a:xfrm>
            <a:prstGeom prst="roundRect">
              <a:avLst>
                <a:gd name="adj" fmla="val 10033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738188" y="4779647"/>
              <a:ext cx="200023" cy="200023"/>
              <a:chOff x="738188" y="4779647"/>
              <a:chExt cx="200023" cy="200023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738188" y="477964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871538" y="484632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1040130" y="4774882"/>
              <a:ext cx="42759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这是实际问题中“多测几次取平均”的理论依据。</a:t>
              </a:r>
            </a:p>
          </p:txBody>
        </p:sp>
      </p:grpSp>
      <p:grpSp>
        <p:nvGrpSpPr>
          <p:cNvPr id="29" name="c2-card-1"/>
          <p:cNvGrpSpPr/>
          <p:nvPr/>
        </p:nvGrpSpPr>
        <p:grpSpPr>
          <a:xfrm>
            <a:off x="6464618" y="1524000"/>
            <a:ext cx="5193982" cy="2951798"/>
            <a:chOff x="6464618" y="1524000"/>
            <a:chExt cx="5193982" cy="2951798"/>
          </a:xfrm>
        </p:grpSpPr>
        <p:sp>
          <p:nvSpPr>
            <p:cNvPr id="22" name="Rectangle 22"/>
            <p:cNvSpPr/>
            <p:nvPr/>
          </p:nvSpPr>
          <p:spPr>
            <a:xfrm>
              <a:off x="6464618" y="1524000"/>
              <a:ext cx="5193982" cy="2951798"/>
            </a:xfrm>
            <a:prstGeom prst="roundRect">
              <a:avLst>
                <a:gd name="adj" fmla="val 451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6474142" y="1657350"/>
              <a:ext cx="47625" cy="268509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6712268" y="1733550"/>
              <a:ext cx="163163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768973" y="1769269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为什么多测几次就更准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704648" y="2110740"/>
              <a:ext cx="44538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设每次测量的结果是 Xₖ，期望都是真值 μ、方差都是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σ²。n 次测量的平均值的方差是 σ²/n，n 增大时它按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1/n 的速度变小。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" name="formula49"/>
                <p:cNvSpPr txBox="1">
                  <a:spLocks noGrp="1"/>
                </p:cNvSpPr>
                <p:nvPr/>
              </p:nvSpPr>
              <p:spPr>
                <a:xfrm>
                  <a:off x="6712268" y="2992755"/>
                  <a:ext cx="4736782" cy="6334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D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den>
                            </m:f>
                            <m:nary>
                              <m:naryPr>
                                <m:chr m:val="∑"/>
                                <m:limLoc m:val="undOvr"/>
                                <m:grow m:val="off"/>
                                <m:subHide m:val="off"/>
                                <m:supHide m:val="off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p>
                              <m:e>
                                <m:sSub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</m:sub>
                                </m:sSub>
                              </m:e>
                            </m:nary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σ</m:t>
                                </m:r>
                              </m:e>
                              <m:sup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8" name="TextBox 28"/>
            <p:cNvSpPr txBox="1"/>
            <p:nvPr/>
          </p:nvSpPr>
          <p:spPr>
            <a:xfrm>
              <a:off x="6704648" y="3746182"/>
              <a:ext cx="45015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把这个方差代进切比雪夫不等式，就得到“平均值偏离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真值超过 ε”的概率不超过 σ²/(nε²)。</a:t>
              </a:r>
            </a:p>
          </p:txBody>
        </p:sp>
      </p:grpSp>
      <p:grpSp>
        <p:nvGrpSpPr>
          <p:cNvPr id="36" name="c2-callout-2"/>
          <p:cNvGrpSpPr/>
          <p:nvPr/>
        </p:nvGrpSpPr>
        <p:grpSpPr>
          <a:xfrm>
            <a:off x="6464618" y="4666298"/>
            <a:ext cx="5193982" cy="782955"/>
            <a:chOff x="6464618" y="4666298"/>
            <a:chExt cx="5193982" cy="782955"/>
          </a:xfrm>
        </p:grpSpPr>
        <p:sp>
          <p:nvSpPr>
            <p:cNvPr id="30" name="Rectangle 30"/>
            <p:cNvSpPr/>
            <p:nvPr/>
          </p:nvSpPr>
          <p:spPr>
            <a:xfrm>
              <a:off x="6464618" y="4666298"/>
              <a:ext cx="5193982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6669405" y="4957763"/>
              <a:ext cx="200026" cy="200025"/>
              <a:chOff x="6669405" y="4957763"/>
              <a:chExt cx="200026" cy="200025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6669405" y="495776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6709144" y="500221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6743859" y="511333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6971348" y="4814888"/>
              <a:ext cx="41681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精度只按 1/√n 提高：想把误差减半，测量次数要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变成 4 倍。</a:t>
              </a:r>
            </a:p>
          </p:txBody>
        </p:sp>
      </p:grpSp>
      <p:grpSp>
        <p:nvGrpSpPr>
          <p:cNvPr id="43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37" name="Rectangle 37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726129" y="5992296"/>
              <a:ext cx="224134" cy="192560"/>
              <a:chOff x="726129" y="5992296"/>
              <a:chExt cx="224134" cy="19256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838200" y="606266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726129" y="599229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38200" y="61404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1040130" y="5991225"/>
              <a:ext cx="72948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平均值的方差是 σ²/n，不是 σ²；把 n 次测量当成一次来估计误差会把精度算低。</a:t>
              </a:r>
            </a:p>
          </p:txBody>
        </p:sp>
      </p:grpSp>
      <p:grpSp>
        <p:nvGrpSpPr>
          <p:cNvPr id="4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4" name="TextBox 44"/>
            <p:cNvSpPr txBox="1"/>
            <p:nvPr/>
          </p:nvSpPr>
          <p:spPr>
            <a:xfrm>
              <a:off x="528447" y="6581299"/>
              <a:ext cx="3044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第5章 大数定律及中心极限定理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极限定理 · 大数定律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伯努利定理：频率依概率收敛于概率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5410200" cy="3776662"/>
            <a:chOff x="533400" y="1524000"/>
            <a:chExt cx="5410200" cy="377666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3776662"/>
            </a:xfrm>
            <a:prstGeom prst="roundRect">
              <a:avLst>
                <a:gd name="adj" fmla="val 353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3509962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定理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27287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伯努利（Bernoulli）大数定律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6920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设在 n 次独立重复试验中事件 A 发生的次数为 nₐ，p 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在每次试验中发生的概率，则对任意正数 ε 有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52"/>
                <p:cNvSpPr txBox="1">
                  <a:spLocks noGrp="1"/>
                </p:cNvSpPr>
                <p:nvPr/>
              </p:nvSpPr>
              <p:spPr>
                <a:xfrm>
                  <a:off x="781050" y="2726055"/>
                  <a:ext cx="4953000" cy="62007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func>
                          <m:funcPr/>
                          <m:fName>
                            <m:limLow>
                              <m:limLowPr/>
                              <m:e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lim</m:t>
                                </m:r>
                              </m:e>
                              <m:lim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→∞</m:t>
                                </m:r>
                              </m:lim>
                            </m:limLow>
                          </m:fName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e>
                        </m:func>
                        <m:d>
                          <m:dPr>
                            <m:begChr m:val="{"/>
                            <m:sepChr m:val=""/>
                            <m:endChr m:val="}"/>
                            <m:grow m:val="on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sepChr m:val=""/>
                                <m:endChr m:val="|"/>
                                <m:grow m:val="on"/>
                                <m:ctrl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Pr>
                                  <m:num>
                                    <m:sSub>
                                      <m:e>
                                        <m:r>
                                          <a:rPr lang="zh-CN" sz="15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n</m:t>
                                        </m:r>
                                      </m:e>
                                      <m:sub>
                                        <m:r>
                                          <a:rPr lang="zh-CN" sz="15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A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den>
                                </m:f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&lt;</m:t>
                            </m:r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ε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4" name="TextBox 14"/>
            <p:cNvSpPr txBox="1"/>
            <p:nvPr/>
          </p:nvSpPr>
          <p:spPr>
            <a:xfrm>
              <a:off x="773430" y="3466148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等价形式是偏差不小于 ε 的概率趋于 0。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formula53"/>
                <p:cNvSpPr txBox="1">
                  <a:spLocks noGrp="1"/>
                </p:cNvSpPr>
                <p:nvPr/>
              </p:nvSpPr>
              <p:spPr>
                <a:xfrm>
                  <a:off x="781050" y="3776662"/>
                  <a:ext cx="4953000" cy="62007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func>
                          <m:funcPr/>
                          <m:fName>
                            <m:limLow>
                              <m:limLowPr/>
                              <m:e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lim</m:t>
                                </m:r>
                              </m:e>
                              <m:lim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→∞</m:t>
                                </m:r>
                              </m:lim>
                            </m:limLow>
                          </m:fName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e>
                        </m:func>
                        <m:d>
                          <m:dPr>
                            <m:begChr m:val="{"/>
                            <m:sepChr m:val=""/>
                            <m:endChr m:val="}"/>
                            <m:grow m:val="on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sepChr m:val=""/>
                                <m:endChr m:val="|"/>
                                <m:grow m:val="on"/>
                                <m:ctrl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Pr>
                                  <m:num>
                                    <m:sSub>
                                      <m:e>
                                        <m:r>
                                          <a:rPr lang="zh-CN" sz="15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n</m:t>
                                        </m:r>
                                      </m:e>
                                      <m:sub>
                                        <m:r>
                                          <a:rPr lang="zh-CN" sz="15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A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den>
                                </m:f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≥</m:t>
                            </m:r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ε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6" name="TextBox 16"/>
            <p:cNvSpPr txBox="1"/>
            <p:nvPr/>
          </p:nvSpPr>
          <p:spPr>
            <a:xfrm>
              <a:off x="774573" y="4513421"/>
              <a:ext cx="471906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频率 nₐ/n 本身是随机变量，重做一轮 n 次试验就会变；定理只保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证它偏离 p 超过 ε 的概率越来越小。</a:t>
              </a:r>
            </a:p>
          </p:txBody>
        </p:sp>
      </p:grpSp>
      <p:grpSp>
        <p:nvGrpSpPr>
          <p:cNvPr id="35" name="c2-steps-1"/>
          <p:cNvGrpSpPr/>
          <p:nvPr/>
        </p:nvGrpSpPr>
        <p:grpSpPr>
          <a:xfrm>
            <a:off x="6248400" y="1533525"/>
            <a:ext cx="4449100" cy="2529173"/>
            <a:chOff x="6248400" y="1533525"/>
            <a:chExt cx="4449100" cy="2529173"/>
          </a:xfrm>
        </p:grpSpPr>
        <p:sp>
          <p:nvSpPr>
            <p:cNvPr id="18" name="Rectangle 18"/>
            <p:cNvSpPr/>
            <p:nvPr/>
          </p:nvSpPr>
          <p:spPr>
            <a:xfrm>
              <a:off x="6381750" y="1676400"/>
              <a:ext cx="19050" cy="19526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6248400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42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6248400" y="218408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342024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6248400" y="283464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342024" y="29084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6248400" y="348615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42024" y="35599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659880" y="156781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认出分布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661023" y="1861661"/>
              <a:ext cx="24207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发生次数服从二项分布 B(n, p)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659880" y="2218372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求频率的期望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661023" y="2512219"/>
              <a:ext cx="34936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期望是 np/n = p，所以频率是概率的无偏估计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659880" y="286893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求频率的方差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661023" y="3162776"/>
              <a:ext cx="269243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方差是 np(1 − p)/n² = p(1 − p)/n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659880" y="3520440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套切比雪夫不等式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661023" y="3813334"/>
              <a:ext cx="40364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概率不小于 1 − p(1 − p)/(nε²)，令 n 趋于无穷即可</a:t>
              </a:r>
            </a:p>
          </p:txBody>
        </p:sp>
      </p:grpSp>
      <p:grpSp>
        <p:nvGrpSpPr>
          <p:cNvPr id="41" name="c2-callout-2"/>
          <p:cNvGrpSpPr/>
          <p:nvPr/>
        </p:nvGrpSpPr>
        <p:grpSpPr>
          <a:xfrm>
            <a:off x="6248400" y="4241482"/>
            <a:ext cx="5410200" cy="1059180"/>
            <a:chOff x="6248400" y="4241482"/>
            <a:chExt cx="5410200" cy="1059180"/>
          </a:xfrm>
        </p:grpSpPr>
        <p:sp>
          <p:nvSpPr>
            <p:cNvPr id="36" name="Rectangle 36"/>
            <p:cNvSpPr/>
            <p:nvPr/>
          </p:nvSpPr>
          <p:spPr>
            <a:xfrm>
              <a:off x="6248400" y="4241482"/>
              <a:ext cx="5410200" cy="1059180"/>
            </a:xfrm>
            <a:prstGeom prst="roundRect">
              <a:avLst>
                <a:gd name="adj" fmla="val 10791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6453188" y="4671060"/>
              <a:ext cx="200026" cy="200026"/>
              <a:chOff x="6453188" y="4671060"/>
              <a:chExt cx="200026" cy="200026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6453188" y="467106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6519863" y="4748848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6755130" y="4390072"/>
              <a:ext cx="441579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这条定理说明了“试验次数足够多时用频率代替概率”</a:t>
              </a:r>
              <a:br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是站得住的，第一章频率的稳定性到这里才有了证</a:t>
              </a:r>
              <a:br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明。</a:t>
              </a:r>
            </a:p>
          </p:txBody>
        </p:sp>
      </p:grpSp>
      <p:grpSp>
        <p:nvGrpSpPr>
          <p:cNvPr id="48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2" name="Rectangle 42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1040130" y="5991225"/>
              <a:ext cx="846601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由 p(1 − p) ≤ 1/4 可以把界写成 1 − 1/(4nε²)，这个与 p 无关的形式在估计样本量时很好用。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3044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第5章 大数定律及中心极限定理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246354" cy="909257"/>
            <a:chOff x="520446" y="342900"/>
            <a:chExt cx="524635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极限定理 · 大数定律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24635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蒲丰投针：用大数定律把 π 投出来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842635" cy="2281238"/>
            <a:chOff x="533400" y="1524000"/>
            <a:chExt cx="5842635" cy="228123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2281238"/>
            </a:xfrm>
            <a:prstGeom prst="roundRect">
              <a:avLst>
                <a:gd name="adj" fmla="val 584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01453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5345" y="17506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应用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47597" y="1756410"/>
              <a:ext cx="21750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针与线相交的概率里藏着 π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7047" y="2090738"/>
              <a:ext cx="5114354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平面上画一组间距为 a 的平行线，把一根长为 l（l &lt; a）的针随机投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下。针的中点到最近一条线的距离在 0 到 a/2 上均匀分布，针与线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的夹角在 0 到 π/2 上均匀分布，两者独立，相交的条件是距离不超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过 (l/2)·sin(夹角)。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66"/>
                <p:cNvSpPr txBox="1">
                  <a:spLocks noGrp="1"/>
                </p:cNvSpPr>
                <p:nvPr/>
              </p:nvSpPr>
              <p:spPr>
                <a:xfrm>
                  <a:off x="763905" y="3142298"/>
                  <a:ext cx="5419725" cy="4533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nary>
                              <m:naryPr>
                                <m:chr m:val="∫"/>
                                <m:limLoc m:val="subSup"/>
                                <m:grow m:val="off"/>
                                <m:subHide m:val="off"/>
                                <m:supHide m:val="off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π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  <m:e>
                                <m:f>
                                  <m:fPr>
                                    <m:type m:val="bar"/>
                                    <m:ctrl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l</m:t>
                                    </m:r>
                                  </m:num>
                                  <m:den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den>
                                </m:f>
                                <m:func>
                                  <m:funcPr/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θ</m:t>
                                    </m:r>
                                  </m:e>
                                </m:func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 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d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θ</m:t>
                                </m:r>
                              </m:e>
                            </m:nary>
                          </m:num>
                          <m:den>
                            <m:f>
                              <m:fPr>
                                <m:type m:val="bar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num>
                              <m:den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⋅</m:t>
                            </m:r>
                            <m:f>
                              <m:fPr>
                                <m:type m:val="bar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den>
                            </m:f>
                          </m:den>
                        </m:f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2l</m:t>
                            </m:r>
                          </m:num>
                          <m:den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aπ</m:t>
                            </m:r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20" name="c1-callout-2"/>
          <p:cNvGrpSpPr/>
          <p:nvPr/>
        </p:nvGrpSpPr>
        <p:grpSpPr>
          <a:xfrm>
            <a:off x="533400" y="3980498"/>
            <a:ext cx="5842635" cy="729615"/>
            <a:chOff x="533400" y="3980498"/>
            <a:chExt cx="5842635" cy="729615"/>
          </a:xfrm>
        </p:grpSpPr>
        <p:sp>
          <p:nvSpPr>
            <p:cNvPr id="15" name="Rectangle 15"/>
            <p:cNvSpPr/>
            <p:nvPr/>
          </p:nvSpPr>
          <p:spPr>
            <a:xfrm>
              <a:off x="533400" y="3980498"/>
              <a:ext cx="5842635" cy="729615"/>
            </a:xfrm>
            <a:prstGeom prst="roundRect">
              <a:avLst>
                <a:gd name="adj" fmla="val 15666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738188" y="4245295"/>
              <a:ext cx="200023" cy="200023"/>
              <a:chOff x="738188" y="4245295"/>
              <a:chExt cx="200023" cy="200023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738188" y="424529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871538" y="431196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1040892" y="4126230"/>
              <a:ext cx="488289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投 N 次有 n 次相交，由伯努利定理频率 n/N 会接近 p，把它代进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上式反解就得到 π 的近似值。</a:t>
              </a:r>
            </a:p>
          </p:txBody>
        </p:sp>
      </p:grpSp>
      <p:grpSp>
        <p:nvGrpSpPr>
          <p:cNvPr id="26" name="c1-card-3"/>
          <p:cNvGrpSpPr/>
          <p:nvPr/>
        </p:nvGrpSpPr>
        <p:grpSpPr>
          <a:xfrm>
            <a:off x="533400" y="4884420"/>
            <a:ext cx="5842635" cy="1466850"/>
            <a:chOff x="533400" y="4884420"/>
            <a:chExt cx="5842635" cy="1466850"/>
          </a:xfrm>
        </p:grpSpPr>
        <p:sp>
          <p:nvSpPr>
            <p:cNvPr id="21" name="Rectangle 21"/>
            <p:cNvSpPr/>
            <p:nvPr/>
          </p:nvSpPr>
          <p:spPr>
            <a:xfrm>
              <a:off x="533400" y="4884420"/>
              <a:ext cx="5842635" cy="146685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542925" y="5017770"/>
              <a:ext cx="47625" cy="120015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763905" y="5076825"/>
              <a:ext cx="87630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43343" y="5111115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收敛有多慢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57047" y="5434012"/>
              <a:ext cx="514864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频率逼近概率的误差按 1/√N 下降：想把 π 估到小数点后两位，投针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次数要以万计。1901 年拉扎里尼投 3408 次就报出 3.1415929，精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度好得可疑。</a:t>
              </a:r>
            </a:p>
          </p:txBody>
        </p:sp>
      </p:grpSp>
      <p:grpSp>
        <p:nvGrpSpPr>
          <p:cNvPr id="29" name="c2-image-1"/>
          <p:cNvGrpSpPr/>
          <p:nvPr/>
        </p:nvGrpSpPr>
        <p:grpSpPr>
          <a:xfrm>
            <a:off x="7609523" y="1524000"/>
            <a:ext cx="3120390" cy="2118932"/>
            <a:chOff x="7609523" y="1524000"/>
            <a:chExt cx="3120390" cy="2118932"/>
          </a:xfrm>
        </p:grpSpPr>
        <p:pic>
          <p:nvPicPr>
            <p:cNvPr id="27" name="Image 2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956232" y="1524000"/>
              <a:ext cx="2426970" cy="1820228"/>
            </a:xfrm>
            <a:prstGeom prst="roundRect">
              <a:avLst>
                <a:gd name="adj" fmla="val 7326"/>
              </a:avLst>
            </a:prstGeom>
          </p:spPr>
        </p:pic>
        <p:sp>
          <p:nvSpPr>
            <p:cNvPr id="28" name="TextBox 28"/>
            <p:cNvSpPr txBox="1"/>
            <p:nvPr/>
          </p:nvSpPr>
          <p:spPr>
            <a:xfrm>
              <a:off x="7609523" y="3437573"/>
              <a:ext cx="31203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地板缝就是平行线，落下的火柴有的压线有的不压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formula68"/>
              <p:cNvSpPr txBox="1">
                <a:spLocks noGrp="1"/>
              </p:cNvSpPr>
              <p:nvPr/>
            </p:nvSpPr>
            <p:spPr>
              <a:xfrm>
                <a:off x="6680835" y="3795712"/>
                <a:ext cx="4977765" cy="5143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π</m:t>
                      </m:r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≈</m:t>
                      </m:r>
                      <m:f>
                        <m:fPr>
                          <m:type m:val="bar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2lN</m:t>
                          </m:r>
                        </m:num>
                        <m:den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an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36" name="c2-card-3"/>
          <p:cNvGrpSpPr/>
          <p:nvPr/>
        </p:nvGrpSpPr>
        <p:grpSpPr>
          <a:xfrm>
            <a:off x="6680835" y="4485322"/>
            <a:ext cx="4977765" cy="1865948"/>
            <a:chOff x="6680835" y="4485322"/>
            <a:chExt cx="4977765" cy="1865948"/>
          </a:xfrm>
        </p:grpSpPr>
        <p:sp>
          <p:nvSpPr>
            <p:cNvPr id="31" name="Rectangle 31"/>
            <p:cNvSpPr/>
            <p:nvPr/>
          </p:nvSpPr>
          <p:spPr>
            <a:xfrm>
              <a:off x="6680835" y="4485322"/>
              <a:ext cx="4977765" cy="1865948"/>
            </a:xfrm>
            <a:prstGeom prst="roundRect">
              <a:avLst>
                <a:gd name="adj" fmla="val 714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6690360" y="4618672"/>
              <a:ext cx="47625" cy="159924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911340" y="4677728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002780" y="471201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904482" y="5033962"/>
              <a:ext cx="4263104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原课件把投针次数与相交次数都写成了 n、N 混用的形式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（正文说“投针次数 n 很大”，公式里却是 2lN/(an)）。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按公式，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N 是投针总次数、n 是相交次数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，本页统一成这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个记号。</a:t>
              </a:r>
            </a:p>
          </p:txBody>
        </p:sp>
      </p:grpSp>
      <p:grpSp>
        <p:nvGrpSpPr>
          <p:cNvPr id="3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7" name="TextBox 37"/>
            <p:cNvSpPr txBox="1"/>
            <p:nvPr/>
          </p:nvSpPr>
          <p:spPr>
            <a:xfrm>
              <a:off x="528447" y="6581299"/>
              <a:ext cx="3044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第5章 大数定律及中心极限定理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极限定理 · 大数定律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辛钦大数定律：不要求方差存在，只要同分布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5626418" cy="2595562"/>
            <a:chOff x="533400" y="1524000"/>
            <a:chExt cx="5626418" cy="259556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2595562"/>
            </a:xfrm>
            <a:prstGeom prst="roundRect">
              <a:avLst>
                <a:gd name="adj" fmla="val 51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328862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定理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26968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辛钦（Khintchine）大数定律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6634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X₁, X₂, …, Xₙ, … 相互独立、服从同一分布，且期望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E(Xₖ) = μ 存在，则对任意正数 ε 有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71"/>
                <p:cNvSpPr txBox="1">
                  <a:spLocks noGrp="1"/>
                </p:cNvSpPr>
                <p:nvPr/>
              </p:nvSpPr>
              <p:spPr>
                <a:xfrm>
                  <a:off x="781050" y="2726055"/>
                  <a:ext cx="5169218" cy="6334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func>
                          <m:funcPr/>
                          <m:fName>
                            <m:limLow>
                              <m:limLowPr/>
                              <m:e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lim</m:t>
                                </m:r>
                              </m:e>
                              <m:lim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→∞</m:t>
                                </m:r>
                              </m:lim>
                            </m:limLow>
                          </m:fName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e>
                        </m:func>
                        <m:d>
                          <m:dPr>
                            <m:begChr m:val="{"/>
                            <m:sepChr m:val=""/>
                            <m:endChr m:val="}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sepChr m:val=""/>
                                <m:endChr m:val="|"/>
                                <m:grow m:val="on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den>
                                </m:f>
                                <m:nary>
                                  <m:naryPr>
                                    <m:chr m:val="∑"/>
                                    <m:limLoc m:val="undOvr"/>
                                    <m:grow m:val="off"/>
                                    <m:subHide m:val="off"/>
                                    <m:supHide m:val="off"/>
                                    <m:ctrlP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=</m:t>
                                    </m:r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sup>
                                  <m:e>
                                    <m:sSub>
                                      <m:e>
                                        <m: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k</m:t>
                                        </m:r>
                                      </m:sub>
                                    </m:sSub>
                                  </m:e>
                                </m:nary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μ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&lt;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ε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4" name="TextBox 14"/>
            <p:cNvSpPr txBox="1"/>
            <p:nvPr/>
          </p:nvSpPr>
          <p:spPr>
            <a:xfrm>
              <a:off x="774573" y="3476149"/>
              <a:ext cx="490601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结论与上一页的推论一模一样，条件却把“方差存在且一致有上界”整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条去掉了，换成“同分布”。</a:t>
              </a:r>
            </a:p>
          </p:txBody>
        </p:sp>
      </p:grpSp>
      <p:grpSp>
        <p:nvGrpSpPr>
          <p:cNvPr id="21" name="c1-callout-2"/>
          <p:cNvGrpSpPr/>
          <p:nvPr/>
        </p:nvGrpSpPr>
        <p:grpSpPr>
          <a:xfrm>
            <a:off x="533400" y="4310062"/>
            <a:ext cx="5626418" cy="872490"/>
            <a:chOff x="533400" y="4310062"/>
            <a:chExt cx="5626418" cy="872490"/>
          </a:xfrm>
        </p:grpSpPr>
        <p:sp>
          <p:nvSpPr>
            <p:cNvPr id="16" name="Rectangle 16"/>
            <p:cNvSpPr/>
            <p:nvPr/>
          </p:nvSpPr>
          <p:spPr>
            <a:xfrm>
              <a:off x="533400" y="4310062"/>
              <a:ext cx="5626418" cy="872490"/>
            </a:xfrm>
            <a:prstGeom prst="roundRect">
              <a:avLst>
                <a:gd name="adj" fmla="val 13100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738188" y="4646297"/>
              <a:ext cx="200023" cy="200023"/>
              <a:chOff x="738188" y="4646297"/>
              <a:chExt cx="200023" cy="200023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738188" y="46462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871538" y="47129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1040130" y="4503420"/>
              <a:ext cx="4587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方差不存在的同分布序列（例如某些重尾分布）只能靠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辛钦定理。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6464618" y="1524000"/>
            <a:ext cx="5193982" cy="2685098"/>
            <a:chOff x="6464618" y="1524000"/>
            <a:chExt cx="5193982" cy="2685098"/>
          </a:xfrm>
        </p:grpSpPr>
        <p:sp>
          <p:nvSpPr>
            <p:cNvPr id="22" name="Rectangle 22"/>
            <p:cNvSpPr/>
            <p:nvPr/>
          </p:nvSpPr>
          <p:spPr>
            <a:xfrm>
              <a:off x="6464618" y="1524000"/>
              <a:ext cx="5193982" cy="2685098"/>
            </a:xfrm>
            <a:prstGeom prst="roundRect">
              <a:avLst>
                <a:gd name="adj" fmla="val 496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6474142" y="1657350"/>
              <a:ext cx="47625" cy="2418398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6712268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80342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推广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313295" y="1768792"/>
              <a:ext cx="16195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 l 阶矩同样成立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704648" y="2129790"/>
              <a:ext cx="43586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把定理用在随机变量的 l 次方上：只要 l 阶原点矩存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在，样本的 l 阶矩就依概率收敛于总体的 l 阶矩。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" name="formula72"/>
                <p:cNvSpPr txBox="1">
                  <a:spLocks noGrp="1"/>
                </p:cNvSpPr>
                <p:nvPr/>
              </p:nvSpPr>
              <p:spPr>
                <a:xfrm>
                  <a:off x="6712268" y="2726055"/>
                  <a:ext cx="4736782" cy="6334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f>
                          <m:fPr>
                            <m:type m:val="bar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den>
                        </m:f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sSubSup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sub>
                              <m:sup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 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l</m:t>
                                </m:r>
                              </m:sup>
                            </m:sSubSup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 </m:t>
                            </m:r>
                            <m:groupChr>
                              <m:groupChrPr>
                                <m:chr m:val="→"/>
                                <m:pos m:val="bot"/>
                                <m:vertJc m:val="top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groupChrPr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 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 </m:t>
                                </m:r>
                              </m:e>
                            </m:groupCh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 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Sup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 xml:space="preserve"> </m:t>
                                    </m:r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l</m:t>
                                    </m:r>
                                  </m:sup>
                                </m:sSubSup>
                              </m:e>
                            </m:d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9" name="TextBox 29"/>
            <p:cNvSpPr txBox="1"/>
            <p:nvPr/>
          </p:nvSpPr>
          <p:spPr>
            <a:xfrm>
              <a:off x="6704648" y="3479482"/>
              <a:ext cx="4396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用样本矩去估计总体矩，这就是数理统计里矩估计法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的全部理论来源。</a:t>
              </a:r>
            </a:p>
          </p:txBody>
        </p:sp>
      </p:grpSp>
      <p:grpSp>
        <p:nvGrpSpPr>
          <p:cNvPr id="36" name="c2-callout-2"/>
          <p:cNvGrpSpPr/>
          <p:nvPr/>
        </p:nvGrpSpPr>
        <p:grpSpPr>
          <a:xfrm>
            <a:off x="6464618" y="4399598"/>
            <a:ext cx="5193982" cy="782955"/>
            <a:chOff x="6464618" y="4399598"/>
            <a:chExt cx="5193982" cy="782955"/>
          </a:xfrm>
        </p:grpSpPr>
        <p:sp>
          <p:nvSpPr>
            <p:cNvPr id="31" name="Rectangle 31"/>
            <p:cNvSpPr/>
            <p:nvPr/>
          </p:nvSpPr>
          <p:spPr>
            <a:xfrm>
              <a:off x="6464618" y="4399598"/>
              <a:ext cx="5193982" cy="782955"/>
            </a:xfrm>
            <a:prstGeom prst="roundRect">
              <a:avLst>
                <a:gd name="adj" fmla="val 14599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6669405" y="4691063"/>
              <a:ext cx="200026" cy="200026"/>
              <a:chOff x="6669405" y="4691063"/>
              <a:chExt cx="200026" cy="200026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6669405" y="469106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6736080" y="4768850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6971348" y="4548188"/>
              <a:ext cx="4015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辛钦定理给出了一条求期望的实际途径：反复试</a:t>
              </a:r>
              <a:br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验，取平均。</a:t>
              </a:r>
            </a:p>
          </p:txBody>
        </p:sp>
      </p:grpSp>
      <p:grpSp>
        <p:nvGrpSpPr>
          <p:cNvPr id="43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37" name="Rectangle 37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726129" y="5992296"/>
              <a:ext cx="224134" cy="192560"/>
              <a:chOff x="726129" y="5992296"/>
              <a:chExt cx="224134" cy="19256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838200" y="606266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726129" y="599229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38200" y="61404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1040130" y="5991225"/>
              <a:ext cx="84963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辛钦定理要求同分布。各项分布不同时即使方差都存在也不能用它，要回到切比雪夫大数定律。</a:t>
              </a:r>
            </a:p>
          </p:txBody>
        </p:sp>
      </p:grpSp>
      <p:grpSp>
        <p:nvGrpSpPr>
          <p:cNvPr id="4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4" name="TextBox 44"/>
            <p:cNvSpPr txBox="1"/>
            <p:nvPr/>
          </p:nvSpPr>
          <p:spPr>
            <a:xfrm>
              <a:off x="528447" y="6581299"/>
              <a:ext cx="3044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第5章 大数定律及中心极限定理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746492" cy="909257"/>
            <a:chOff x="520446" y="342900"/>
            <a:chExt cx="674649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极限定理 · 大数定律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74649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例4：判断一个序列的算术平均值收敛到哪里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977765" cy="1226820"/>
            <a:chOff x="533400" y="1524000"/>
            <a:chExt cx="4977765" cy="122682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1226820"/>
            </a:xfrm>
            <a:prstGeom prst="roundRect">
              <a:avLst>
                <a:gd name="adj" fmla="val 1087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96012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420052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6630" y="1750695"/>
              <a:ext cx="2336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例4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291400" y="1756410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平方的平均值会稳定到什么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7047" y="2090738"/>
              <a:ext cx="436854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X₁, X₂, …, Xₙ, … 相互独立、服从同一分布，E(Xₖ) =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μ，D(Xₖ) = σ²。问 (1/n)Σ Xₖ² 依概率收敛于哪个常数。</a:t>
              </a:r>
            </a:p>
          </p:txBody>
        </p:sp>
      </p:grpSp>
      <p:grpSp>
        <p:nvGrpSpPr>
          <p:cNvPr id="19" name="c1-card-2"/>
          <p:cNvGrpSpPr/>
          <p:nvPr/>
        </p:nvGrpSpPr>
        <p:grpSpPr>
          <a:xfrm>
            <a:off x="533400" y="2926080"/>
            <a:ext cx="4977765" cy="1466850"/>
            <a:chOff x="533400" y="2926080"/>
            <a:chExt cx="4977765" cy="1466850"/>
          </a:xfrm>
        </p:grpSpPr>
        <p:sp>
          <p:nvSpPr>
            <p:cNvPr id="14" name="Rectangle 14"/>
            <p:cNvSpPr/>
            <p:nvPr/>
          </p:nvSpPr>
          <p:spPr>
            <a:xfrm>
              <a:off x="533400" y="2926080"/>
              <a:ext cx="4977765" cy="146685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3059430"/>
              <a:ext cx="47625" cy="120015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63905" y="311848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55345" y="315277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思路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7047" y="3474720"/>
              <a:ext cx="432568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关键是认出 X₁², X₂², … 本身也是独立同分布的序列，对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它用辛钦定理，收敛到的常数就是 E(X₁²)，再用方差的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定义把它换成 μ 与 σ²。</a:t>
              </a:r>
            </a:p>
          </p:txBody>
        </p:sp>
      </p:grpSp>
      <p:grpSp>
        <p:nvGrpSpPr>
          <p:cNvPr id="26" name="c1-callout-3"/>
          <p:cNvGrpSpPr/>
          <p:nvPr/>
        </p:nvGrpSpPr>
        <p:grpSpPr>
          <a:xfrm>
            <a:off x="533400" y="4567238"/>
            <a:ext cx="4977765" cy="1036320"/>
            <a:chOff x="533400" y="4567238"/>
            <a:chExt cx="4977765" cy="1036320"/>
          </a:xfrm>
        </p:grpSpPr>
        <p:sp>
          <p:nvSpPr>
            <p:cNvPr id="20" name="Rectangle 20"/>
            <p:cNvSpPr/>
            <p:nvPr/>
          </p:nvSpPr>
          <p:spPr>
            <a:xfrm>
              <a:off x="533400" y="4567238"/>
              <a:ext cx="4977765" cy="1036320"/>
            </a:xfrm>
            <a:prstGeom prst="roundRect">
              <a:avLst>
                <a:gd name="adj" fmla="val 1102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726129" y="4982646"/>
              <a:ext cx="224134" cy="192560"/>
              <a:chOff x="726129" y="4982646"/>
              <a:chExt cx="224134" cy="19256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838200" y="505301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726129" y="498264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838200" y="513080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1040892" y="4867275"/>
              <a:ext cx="402564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不能直接写成 μ²。平方的平均值收敛到的是二阶矩，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比 μ² 大一个 σ²。</a:t>
              </a:r>
            </a:p>
          </p:txBody>
        </p:sp>
      </p:grpSp>
      <p:grpSp>
        <p:nvGrpSpPr>
          <p:cNvPr id="40" name="c2-steps-1"/>
          <p:cNvGrpSpPr/>
          <p:nvPr/>
        </p:nvGrpSpPr>
        <p:grpSpPr>
          <a:xfrm>
            <a:off x="5815965" y="1533525"/>
            <a:ext cx="4108902" cy="1693069"/>
            <a:chOff x="5815965" y="1533525"/>
            <a:chExt cx="4108902" cy="1693069"/>
          </a:xfrm>
        </p:grpSpPr>
        <p:sp>
          <p:nvSpPr>
            <p:cNvPr id="27" name="Rectangle 27"/>
            <p:cNvSpPr/>
            <p:nvPr/>
          </p:nvSpPr>
          <p:spPr>
            <a:xfrm>
              <a:off x="5949315" y="1676400"/>
              <a:ext cx="19050" cy="1173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5815965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90958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5815965" y="212026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909589" y="21940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5815965" y="270700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909589" y="27808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228207" y="1564957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换一个序列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229350" y="1833086"/>
              <a:ext cx="31435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令 Yₖ = Xₖ²，则 Y₁, Y₂, … 相互独立且同分布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228207" y="215265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检查条件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229350" y="2419826"/>
              <a:ext cx="36955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 D(X) = E(X²) − [E(X)]² 知 E(Y₁) = σ² + μ² 存在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228207" y="273939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用辛钦定理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229350" y="3006566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(1/n)ΣYₖ 依概率收敛于 E(Y₁)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formula77"/>
              <p:cNvSpPr txBox="1">
                <a:spLocks noGrp="1"/>
              </p:cNvSpPr>
              <p:nvPr/>
            </p:nvSpPr>
            <p:spPr>
              <a:xfrm>
                <a:off x="5815965" y="3395662"/>
                <a:ext cx="5842635" cy="5667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f>
                        <m:fPr>
                          <m:type m:val="bar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p>
                        <m:e>
                          <m:sSubSup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</m:sub>
                            <m:sup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bSup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 </m:t>
                          </m:r>
                          <m:groupChr>
                            <m:groupChrPr>
                              <m:chr m:val="→"/>
                              <m:pos m:val="bot"/>
                              <m:vertJc m:val="top"/>
                              <m:ctrl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groupChrPr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 </m:t>
                              </m:r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P</m:t>
                              </m:r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 </m:t>
                              </m:r>
                            </m:e>
                          </m:groupChr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 </m:t>
                          </m:r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Sup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d>
                        </m:e>
                      </m:nary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p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σ</m:t>
                          </m:r>
                        </m:e>
                        <m:sup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sSup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μ</m:t>
                          </m:r>
                        </m:e>
                        <m:sup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</mc:AlternateContent>
      <p:grpSp>
        <p:nvGrpSpPr>
          <p:cNvPr id="47" name="c2-card-3"/>
          <p:cNvGrpSpPr/>
          <p:nvPr/>
        </p:nvGrpSpPr>
        <p:grpSpPr>
          <a:xfrm>
            <a:off x="5815965" y="4137660"/>
            <a:ext cx="5842635" cy="1466850"/>
            <a:chOff x="5815965" y="4137660"/>
            <a:chExt cx="5842635" cy="1466850"/>
          </a:xfrm>
        </p:grpSpPr>
        <p:sp>
          <p:nvSpPr>
            <p:cNvPr id="42" name="Rectangle 42"/>
            <p:cNvSpPr/>
            <p:nvPr/>
          </p:nvSpPr>
          <p:spPr>
            <a:xfrm>
              <a:off x="5815965" y="4137660"/>
              <a:ext cx="5842635" cy="146685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5825490" y="4271010"/>
              <a:ext cx="47625" cy="120015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046470" y="4330065"/>
              <a:ext cx="114300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117908" y="4364355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顺带得到的结论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039612" y="4686300"/>
              <a:ext cx="510578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把这条与 (1/n)ΣXₖ → μ 合起来，再用依概率收敛的连续函数性质，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可得样本的二阶中心矩依概率收敛于 σ²。数理统计中样本方差的相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合性就是这么来的。</a:t>
              </a:r>
            </a:p>
          </p:txBody>
        </p:sp>
      </p:grpSp>
      <p:grpSp>
        <p:nvGrpSpPr>
          <p:cNvPr id="53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48" name="Rectangle 48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1040892" y="6023610"/>
              <a:ext cx="76648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遇到“平均值收敛到哪里”的题，先看能不能把括号里的东西整体看成一个新的独立同分布序列。</a:t>
              </a: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4" name="TextBox 54"/>
            <p:cNvSpPr txBox="1"/>
            <p:nvPr/>
          </p:nvSpPr>
          <p:spPr>
            <a:xfrm>
              <a:off x="528447" y="6581299"/>
              <a:ext cx="3044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第5章 大数定律及中心极限定理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5579745" cy="2997517"/>
            <a:chOff x="667512" y="1835468"/>
            <a:chExt cx="5579745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94436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中心极限定理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5698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大量微小的独立因素叠加起来，总效果近似服从正态分布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依分布收敛与标准化变量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74174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列维-林德伯格定理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31552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棣莫弗-拉普拉斯定理与五道计算题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3044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第5章 大数定律及中心极限定理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极限定理 · 中心极限定理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依分布收敛：比的是分布函数，不是取值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card-1"/>
          <p:cNvGrpSpPr/>
          <p:nvPr/>
        </p:nvGrpSpPr>
        <p:grpSpPr>
          <a:xfrm>
            <a:off x="533400" y="1524000"/>
            <a:ext cx="5626418" cy="3203258"/>
            <a:chOff x="533400" y="1524000"/>
            <a:chExt cx="5626418" cy="320325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3203258"/>
            </a:xfrm>
            <a:prstGeom prst="roundRect">
              <a:avLst>
                <a:gd name="adj" fmla="val 41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936558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依分布收敛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8920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设随机变量 X, X₁, X₂, …, Xₙ, … 的分布函数依次是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F(x), F₁(x), F₂(x), …, Fₙ(x), …。若对 F(x) 的每个连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续点 x 都有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79"/>
                <p:cNvSpPr txBox="1">
                  <a:spLocks noGrp="1"/>
                </p:cNvSpPr>
                <p:nvPr/>
              </p:nvSpPr>
              <p:spPr>
                <a:xfrm>
                  <a:off x="781050" y="3011805"/>
                  <a:ext cx="5169218" cy="62007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func>
                          <m:funcPr/>
                          <m:fName>
                            <m:limLow>
                              <m:limLowPr/>
                              <m:e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lim</m:t>
                                </m:r>
                              </m:e>
                              <m:lim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→∞</m:t>
                                </m:r>
                              </m:lim>
                            </m:limLow>
                          </m:fName>
                          <m:e>
                            <m:sSub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F</m:t>
                                </m:r>
                              </m:e>
                              <m:sub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b>
                            </m:sSub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d>
                          </m:e>
                        </m:func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4" name="TextBox 14"/>
            <p:cNvSpPr txBox="1"/>
            <p:nvPr/>
          </p:nvSpPr>
          <p:spPr>
            <a:xfrm>
              <a:off x="773430" y="3751898"/>
              <a:ext cx="26197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则称该序列依分布收敛于 X。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74573" y="4083844"/>
              <a:ext cx="475157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只要求在 F 的连续点上收敛：极限分布在跳跃点上本来就允许对不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齐。</a:t>
              </a:r>
            </a:p>
          </p:txBody>
        </p:sp>
      </p:grpSp>
      <p:grpSp>
        <p:nvGrpSpPr>
          <p:cNvPr id="22" name="c1-callout-2"/>
          <p:cNvGrpSpPr/>
          <p:nvPr/>
        </p:nvGrpSpPr>
        <p:grpSpPr>
          <a:xfrm>
            <a:off x="533400" y="4917758"/>
            <a:ext cx="5626418" cy="1155382"/>
            <a:chOff x="533400" y="4917758"/>
            <a:chExt cx="5626418" cy="1155382"/>
          </a:xfrm>
        </p:grpSpPr>
        <p:sp>
          <p:nvSpPr>
            <p:cNvPr id="17" name="Rectangle 17"/>
            <p:cNvSpPr/>
            <p:nvPr/>
          </p:nvSpPr>
          <p:spPr>
            <a:xfrm>
              <a:off x="533400" y="4917758"/>
              <a:ext cx="5626418" cy="1155382"/>
            </a:xfrm>
            <a:prstGeom prst="roundRect">
              <a:avLst>
                <a:gd name="adj" fmla="val 9893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738188" y="5394962"/>
              <a:ext cx="200023" cy="200023"/>
              <a:chOff x="738188" y="5394962"/>
              <a:chExt cx="200023" cy="200023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738188" y="539496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871538" y="546163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1040130" y="5252085"/>
              <a:ext cx="4587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中心极限定理说的正是依分布收敛，收敛到的那个分布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是标准正态分布。</a:t>
              </a:r>
            </a:p>
          </p:txBody>
        </p:sp>
      </p:grpSp>
      <p:grpSp>
        <p:nvGrpSpPr>
          <p:cNvPr id="47" name="c2-table-1"/>
          <p:cNvGrpSpPr/>
          <p:nvPr/>
        </p:nvGrpSpPr>
        <p:grpSpPr>
          <a:xfrm>
            <a:off x="6464618" y="1524000"/>
            <a:ext cx="5193982" cy="2470786"/>
            <a:chOff x="6464618" y="1524000"/>
            <a:chExt cx="5193982" cy="2470786"/>
          </a:xfrm>
        </p:grpSpPr>
        <p:sp>
          <p:nvSpPr>
            <p:cNvPr id="23" name="Rectangle 23"/>
            <p:cNvSpPr/>
            <p:nvPr/>
          </p:nvSpPr>
          <p:spPr>
            <a:xfrm>
              <a:off x="6464618" y="1524000"/>
              <a:ext cx="5193982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823558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比较项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260969" y="165973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依概率收敛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234549" y="165973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依分布收敛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572441" y="222170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极限是什么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819263" y="2108359"/>
              <a:ext cx="163855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一个常数或一个随机变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量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792843" y="222170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一个分布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464618" y="264318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464618" y="2647950"/>
              <a:ext cx="519398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572441" y="278368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比较的对象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819263" y="2783681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两者取值之差的概率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792843" y="2783681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两个分布函数的值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464618" y="309276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572441" y="323230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强弱关系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819263" y="323230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更强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792843" y="323230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更弱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464618" y="354139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464618" y="3546158"/>
              <a:ext cx="519398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572441" y="368093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典型定理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819263" y="368093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大数定律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792843" y="3680936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中心极限定理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464618" y="1524000"/>
              <a:ext cx="5193982" cy="247078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7706678" y="1524000"/>
              <a:ext cx="9525" cy="24707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9680258" y="1524000"/>
              <a:ext cx="9525" cy="24707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3" name="c2-card-2"/>
          <p:cNvGrpSpPr/>
          <p:nvPr/>
        </p:nvGrpSpPr>
        <p:grpSpPr>
          <a:xfrm>
            <a:off x="6464618" y="4185285"/>
            <a:ext cx="5193982" cy="1887855"/>
            <a:chOff x="6464618" y="4185285"/>
            <a:chExt cx="5193982" cy="1887855"/>
          </a:xfrm>
        </p:grpSpPr>
        <p:sp>
          <p:nvSpPr>
            <p:cNvPr id="48" name="Rectangle 48"/>
            <p:cNvSpPr/>
            <p:nvPr/>
          </p:nvSpPr>
          <p:spPr>
            <a:xfrm>
              <a:off x="6464618" y="4185285"/>
              <a:ext cx="5193982" cy="1887855"/>
            </a:xfrm>
            <a:prstGeom prst="roundRect">
              <a:avLst>
                <a:gd name="adj" fmla="val 706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6474142" y="4318635"/>
              <a:ext cx="47625" cy="162115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6712268" y="439483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794576" y="443055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强弱关系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704648" y="4772025"/>
              <a:ext cx="4396740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依概率收敛一定推出依分布收敛，反过来一般不成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立；只有当极限是常数时两者才等价。所以大数定律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的结论比中心极限定理的收敛方式更强，但它只给出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一个点，说不出分布的形状。</a:t>
              </a: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4" name="TextBox 54"/>
            <p:cNvSpPr txBox="1"/>
            <p:nvPr/>
          </p:nvSpPr>
          <p:spPr>
            <a:xfrm>
              <a:off x="528447" y="6581299"/>
              <a:ext cx="3044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第5章 大数定律及中心极限定理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极限定理 · 中心极限定理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为什么要研究标准化以后的和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193982" cy="2813685"/>
            <a:chOff x="533400" y="1524000"/>
            <a:chExt cx="5193982" cy="281368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2813685"/>
            </a:xfrm>
            <a:prstGeom prst="roundRect">
              <a:avLst>
                <a:gd name="adj" fmla="val 47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54698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335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客观背景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65922" y="1768792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误差是大量微小因素叠加的结果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396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炮弹落点与目标的偏差，来自火药量的微小差异、发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射角度的微小差异、瞄准误差、弹体外形差异、空气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阻力等许多因素，每个因素单独看影响都很小。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73430" y="3036570"/>
              <a:ext cx="4396740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如果一个量由大量相互独立的随机因素造成，而每个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因素在总影响中所起的作用都很微小，这个量一般都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近似服从正态分布。高斯指出测量误差服从正态分布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之后，人们发现这种现象在自然界极为常见。</a:t>
              </a:r>
            </a:p>
          </p:txBody>
        </p:sp>
      </p:grpSp>
      <p:grpSp>
        <p:nvGrpSpPr>
          <p:cNvPr id="21" name="c1-callout-2"/>
          <p:cNvGrpSpPr/>
          <p:nvPr/>
        </p:nvGrpSpPr>
        <p:grpSpPr>
          <a:xfrm>
            <a:off x="533400" y="4528185"/>
            <a:ext cx="5193982" cy="782955"/>
            <a:chOff x="533400" y="4528185"/>
            <a:chExt cx="5193982" cy="782955"/>
          </a:xfrm>
        </p:grpSpPr>
        <p:sp>
          <p:nvSpPr>
            <p:cNvPr id="15" name="Rectangle 15"/>
            <p:cNvSpPr/>
            <p:nvPr/>
          </p:nvSpPr>
          <p:spPr>
            <a:xfrm>
              <a:off x="533400" y="4528185"/>
              <a:ext cx="5193982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738188" y="4819650"/>
              <a:ext cx="200026" cy="200025"/>
              <a:chOff x="738188" y="4819650"/>
              <a:chExt cx="200026" cy="200025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738188" y="481965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777926" y="486410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812642" y="497522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1040130" y="4676775"/>
              <a:ext cx="4206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这解释了为什么正态分布在实际数据里出现得这么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频繁。</a:t>
              </a:r>
            </a:p>
          </p:txBody>
        </p:sp>
      </p:grpSp>
      <p:grpSp>
        <p:nvGrpSpPr>
          <p:cNvPr id="27" name="c2-card-1"/>
          <p:cNvGrpSpPr/>
          <p:nvPr/>
        </p:nvGrpSpPr>
        <p:grpSpPr>
          <a:xfrm>
            <a:off x="6032182" y="1524000"/>
            <a:ext cx="5626418" cy="1887855"/>
            <a:chOff x="6032182" y="1524000"/>
            <a:chExt cx="5626418" cy="1887855"/>
          </a:xfrm>
        </p:grpSpPr>
        <p:sp>
          <p:nvSpPr>
            <p:cNvPr id="22" name="Rectangle 22"/>
            <p:cNvSpPr/>
            <p:nvPr/>
          </p:nvSpPr>
          <p:spPr>
            <a:xfrm>
              <a:off x="6032182" y="1524000"/>
              <a:ext cx="5626418" cy="1887855"/>
            </a:xfrm>
            <a:prstGeom prst="roundRect">
              <a:avLst>
                <a:gd name="adj" fmla="val 706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6041708" y="1657350"/>
              <a:ext cx="47625" cy="162115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79832" y="1733550"/>
              <a:ext cx="177450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31636" y="1769269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为什么不直接研究和本身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272212" y="2110740"/>
              <a:ext cx="4968240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个随机变量之和的期望与方差一般都随 n 一起增大，n 趋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于无穷时和本身可能趋于无穷，极限分布无从谈起。做法是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先减期望、再除标准差，把和标准化成期望为 0、方差为 1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的变量，再看它的分布函数的极限。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formula81"/>
              <p:cNvSpPr txBox="1">
                <a:spLocks noGrp="1"/>
              </p:cNvSpPr>
              <p:nvPr/>
            </p:nvSpPr>
            <p:spPr>
              <a:xfrm>
                <a:off x="6032182" y="3602355"/>
                <a:ext cx="5626418" cy="6000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Z</m:t>
                          </m:r>
                        </m:e>
                        <m:sub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undOvr"/>
                              <m:grow m:val="off"/>
                              <m:subHide m:val="off"/>
                              <m:supHide m:val="off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naryPr>
                            <m:sub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sup>
                            <m:e>
                              <m:sSub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k</m:t>
                                  </m:r>
                                </m:sub>
                              </m:sSub>
                            </m:e>
                          </m:nary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limLoc m:val="undOvr"/>
                                  <m:grow m:val="off"/>
                                  <m:subHide m:val="off"/>
                                  <m:supHide m:val="off"/>
                                  <m:ctrl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naryPr>
                                <m:sub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k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=</m:t>
                                  </m:r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sup>
                                <m:e>
                                  <m:sSub>
                                    <m:e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e>
                                    <m:sub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k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D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∑"/>
                                      <m:limLoc m:val="undOvr"/>
                                      <m:grow m:val="off"/>
                                      <m:subHide m:val="off"/>
                                      <m:supHide m:val="off"/>
                                      <m:ctrlP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k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=</m:t>
                                      </m:r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n</m:t>
                                      </m:r>
                                    </m:sup>
                                    <m:e>
                                      <m:sSub>
                                        <m:e>
                                          <m:r>
                                            <a:rPr lang="zh-CN" sz="13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X</m:t>
                                          </m:r>
                                        </m:e>
                                        <m:sub>
                                          <m:r>
                                            <a:rPr lang="zh-CN" sz="13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k</m:t>
                                          </m:r>
                                        </m:sub>
                                      </m:sSub>
                                    </m:e>
                                  </m:nary>
                                </m:e>
                              </m:d>
                            </m:e>
                          </m:rad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34" name="c2-callout-3"/>
          <p:cNvGrpSpPr/>
          <p:nvPr/>
        </p:nvGrpSpPr>
        <p:grpSpPr>
          <a:xfrm>
            <a:off x="6032182" y="4392930"/>
            <a:ext cx="5626418" cy="918210"/>
            <a:chOff x="6032182" y="4392930"/>
            <a:chExt cx="5626418" cy="918210"/>
          </a:xfrm>
        </p:grpSpPr>
        <p:sp>
          <p:nvSpPr>
            <p:cNvPr id="29" name="Rectangle 29"/>
            <p:cNvSpPr/>
            <p:nvPr/>
          </p:nvSpPr>
          <p:spPr>
            <a:xfrm>
              <a:off x="6032182" y="4392930"/>
              <a:ext cx="5626418" cy="918210"/>
            </a:xfrm>
            <a:prstGeom prst="roundRect">
              <a:avLst>
                <a:gd name="adj" fmla="val 12448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6236970" y="4752023"/>
              <a:ext cx="200026" cy="200026"/>
              <a:chOff x="6236970" y="4752023"/>
              <a:chExt cx="200026" cy="200026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6236970" y="475202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6303645" y="4829810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6538912" y="4609148"/>
              <a:ext cx="4587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满足一定条件时，这个标准化变量的分布函数的极限就</a:t>
              </a:r>
              <a:br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是标准正态分布函数 Φ(x)。</a:t>
              </a:r>
            </a:p>
          </p:txBody>
        </p:sp>
      </p:grpSp>
      <p:grpSp>
        <p:nvGrpSpPr>
          <p:cNvPr id="41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35" name="Rectangle 35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726129" y="5992296"/>
              <a:ext cx="224134" cy="192560"/>
              <a:chOff x="726129" y="5992296"/>
              <a:chExt cx="224134" cy="19256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838200" y="606266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726129" y="599229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838200" y="61404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1040130" y="5991225"/>
              <a:ext cx="907884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分母是和的标准差 √D(ΣXₖ)，不是方差；独立同分布时它等于 √n·σ，漏掉根号是标准化最常见的错。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581299"/>
              <a:ext cx="3044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第5章 大数定律及中心极限定理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极限定理 · 中心极限定理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独立同分布中心极限定理：和的分布忘掉原来的形状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842635" cy="2249805"/>
            <a:chOff x="533400" y="1524000"/>
            <a:chExt cx="5842635" cy="22498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2249805"/>
            </a:xfrm>
            <a:prstGeom prst="roundRect">
              <a:avLst>
                <a:gd name="adj" fmla="val 592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98310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定理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362793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列维-林德伯格（Levy-Lindberg）定理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50253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X₁, X₂, …, Xₙ, … 相互独立、服从同一分布，且 E(Xₖ) =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μ、D(Xₖ) = σ² ≠ 0，则和的标准化变量的分布函数对任意实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 x 满足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86"/>
                <p:cNvSpPr txBox="1">
                  <a:spLocks noGrp="1"/>
                </p:cNvSpPr>
                <p:nvPr/>
              </p:nvSpPr>
              <p:spPr>
                <a:xfrm>
                  <a:off x="781050" y="3011805"/>
                  <a:ext cx="5385435" cy="533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func>
                          <m:funcPr/>
                          <m:fName>
                            <m:limLow>
                              <m:limLowPr/>
                              <m:e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lim</m:t>
                                </m:r>
                              </m:e>
                              <m:lim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→∞</m:t>
                                </m:r>
                              </m:lim>
                            </m:limLow>
                          </m:fName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e>
                        </m:func>
                        <m:d>
                          <m:dPr>
                            <m:begChr m:val="{"/>
                            <m:sepChr m:val=""/>
                            <m:endChr m:val="}"/>
                            <m:grow m:val="on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nary>
                                  <m:naryPr>
                                    <m:chr m:val="∑"/>
                                    <m:limLoc m:val="undOvr"/>
                                    <m:grow m:val="off"/>
                                    <m:subHide m:val="off"/>
                                    <m:supHide m:val="off"/>
                                    <m:ctrl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=</m:t>
                                    </m:r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sup>
                                  <m:e>
                                    <m:sSub>
                                      <m:e>
                                        <m: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k</m:t>
                                        </m:r>
                                      </m:sub>
                                    </m:sSub>
                                  </m:e>
                                </m:nary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nμ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e>
                                </m:rad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 </m:t>
                                </m:r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σ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≤</m:t>
                            </m:r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∫"/>
                            <m:limLoc m:val="subSup"/>
                            <m:grow m:val="off"/>
                            <m:subHide m:val="off"/>
                            <m:supHide m:val="off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−∞</m:t>
                            </m:r>
                          </m:sub>
                          <m:sup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sup>
                          <m:e>
                            <m:f>
                              <m:fPr>
                                <m:type m:val="bar"/>
                                <m:ctrl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2π</m:t>
                                    </m:r>
                                  </m:e>
                                </m:rad>
                              </m:den>
                            </m:f>
                            <m:sSup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sSup>
                                  <m:e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t</m:t>
                                    </m:r>
                                  </m:e>
                                  <m:sup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e>
                        </m:nary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=Φ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20" name="c1-callout-2"/>
          <p:cNvGrpSpPr/>
          <p:nvPr/>
        </p:nvGrpSpPr>
        <p:grpSpPr>
          <a:xfrm>
            <a:off x="533400" y="3964305"/>
            <a:ext cx="5842635" cy="1125855"/>
            <a:chOff x="533400" y="3964305"/>
            <a:chExt cx="5842635" cy="1125855"/>
          </a:xfrm>
        </p:grpSpPr>
        <p:sp>
          <p:nvSpPr>
            <p:cNvPr id="15" name="Rectangle 15"/>
            <p:cNvSpPr/>
            <p:nvPr/>
          </p:nvSpPr>
          <p:spPr>
            <a:xfrm>
              <a:off x="533400" y="3964305"/>
              <a:ext cx="5842635" cy="1125855"/>
            </a:xfrm>
            <a:prstGeom prst="roundRect">
              <a:avLst>
                <a:gd name="adj" fmla="val 10152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738188" y="4427222"/>
              <a:ext cx="200023" cy="200023"/>
              <a:chOff x="738188" y="4427222"/>
              <a:chExt cx="200023" cy="200023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738188" y="442722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871538" y="449389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1040130" y="4284345"/>
              <a:ext cx="49110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定理对 Xₖ 的分布没有任何要求，离散型、连续型都可以，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只要独立同分布且方差有限。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6680835" y="1524000"/>
            <a:ext cx="4977765" cy="3566160"/>
            <a:chOff x="6680835" y="1524000"/>
            <a:chExt cx="4977765" cy="3566160"/>
          </a:xfrm>
        </p:grpSpPr>
        <p:sp>
          <p:nvSpPr>
            <p:cNvPr id="21" name="Rectangle 21"/>
            <p:cNvSpPr/>
            <p:nvPr/>
          </p:nvSpPr>
          <p:spPr>
            <a:xfrm>
              <a:off x="6680835" y="1524000"/>
              <a:ext cx="4977765" cy="3566160"/>
            </a:xfrm>
            <a:prstGeom prst="roundRect">
              <a:avLst>
                <a:gd name="adj" fmla="val 37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6690360" y="1657350"/>
              <a:ext cx="47625" cy="329946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928485" y="1733550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997992" y="1769269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三种等价的用法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920865" y="2110740"/>
              <a:ext cx="41776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充分大时可以按下面任一种写法去算，三者只差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一次代数变形。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" name="formula87"/>
                <p:cNvSpPr txBox="1">
                  <a:spLocks noGrp="1"/>
                </p:cNvSpPr>
                <p:nvPr/>
              </p:nvSpPr>
              <p:spPr>
                <a:xfrm>
                  <a:off x="6928485" y="2707005"/>
                  <a:ext cx="4520565" cy="53435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f>
                          <m:fPr>
                            <m:type m:val="bar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nary>
                              <m:naryPr>
                                <m:chr m:val="∑"/>
                                <m:limLoc m:val="undOvr"/>
                                <m:grow m:val="off"/>
                                <m:subHide m:val="off"/>
                                <m:supHide m:val="off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p>
                              <m:e>
                                <m:sSub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</m:sub>
                                </m:sSub>
                              </m:e>
                            </m:nary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nμ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e>
                            </m:rad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σ</m:t>
                            </m:r>
                          </m:den>
                        </m:f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 </m:t>
                        </m:r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∼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 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N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" name="formula88"/>
                <p:cNvSpPr txBox="1">
                  <a:spLocks noGrp="1"/>
                </p:cNvSpPr>
                <p:nvPr/>
              </p:nvSpPr>
              <p:spPr>
                <a:xfrm>
                  <a:off x="6928485" y="3336608"/>
                  <a:ext cx="4520565" cy="5667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sub>
                            </m:sSub>
                          </m:e>
                        </m:nary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 </m:t>
                        </m:r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∼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 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N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nμ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 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  <m:sSup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σ</m:t>
                                </m:r>
                              </m:e>
                              <m:sup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" name="formula89"/>
                <p:cNvSpPr txBox="1">
                  <a:spLocks noGrp="1"/>
                </p:cNvSpPr>
                <p:nvPr/>
              </p:nvSpPr>
              <p:spPr>
                <a:xfrm>
                  <a:off x="6928485" y="3998595"/>
                  <a:ext cx="4520565" cy="5667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f>
                          <m:fPr>
                            <m:type m:val="bar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den>
                        </m:f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sub>
                            </m:sSub>
                          </m:e>
                        </m:nary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 </m:t>
                        </m:r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∼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 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N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μ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 </m:t>
                            </m:r>
                            <m:f>
                              <m:fPr>
                                <m:type m:val="bar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σ</m:t>
                                    </m:r>
                                  </m:e>
                                  <m:sup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den>
                            </m:f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9" name="TextBox 29"/>
            <p:cNvSpPr txBox="1"/>
            <p:nvPr/>
          </p:nvSpPr>
          <p:spPr>
            <a:xfrm>
              <a:off x="6922008" y="4682014"/>
              <a:ext cx="35023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三式里的 ~ 都是“近似服从”，不是严格相等。</a:t>
              </a:r>
            </a:p>
          </p:txBody>
        </p:sp>
      </p:grpSp>
      <p:grpSp>
        <p:nvGrpSpPr>
          <p:cNvPr id="37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31" name="Rectangle 31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726129" y="5992296"/>
              <a:ext cx="224134" cy="192560"/>
              <a:chOff x="726129" y="5992296"/>
              <a:chExt cx="224134" cy="19256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838200" y="606266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726129" y="599229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38200" y="61404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1040130" y="5991225"/>
              <a:ext cx="80924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用之前先确认三件事：相互独立、同分布、方差有限且不为零。缺一条就不能套这个定理。</a:t>
              </a:r>
            </a:p>
          </p:txBody>
        </p:sp>
      </p:grpSp>
      <p:grpSp>
        <p:nvGrpSpPr>
          <p:cNvPr id="4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8" name="TextBox 38"/>
            <p:cNvSpPr txBox="1"/>
            <p:nvPr/>
          </p:nvSpPr>
          <p:spPr>
            <a:xfrm>
              <a:off x="528447" y="6581299"/>
              <a:ext cx="3044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第5章 大数定律及中心极限定理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极限定理 · 中心极限定理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相加的个数越多，密度越像钟形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4" name="cltA"/>
          <p:cNvGrpSpPr/>
          <p:nvPr/>
        </p:nvGrpSpPr>
        <p:grpSpPr>
          <a:xfrm>
            <a:off x="533400" y="1524000"/>
            <a:ext cx="5524500" cy="4762500"/>
            <a:chOff x="533400" y="1524000"/>
            <a:chExt cx="5524500" cy="47625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524500" cy="4762500"/>
            </a:xfrm>
            <a:prstGeom prst="roundRect">
              <a:avLst>
                <a:gd name="adj" fmla="val 24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17423" y="1662589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均匀分布相加：三个就已经像钟形了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18566" y="1925002"/>
              <a:ext cx="45763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区间 (0, 1) 上均匀分布的独立副本相加，n = 1、2、3 时和的密度曲线。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1352550" y="4332313"/>
              <a:ext cx="3171825" cy="9525"/>
            </a:xfrm>
            <a:custGeom>
              <a:avLst/>
              <a:gdLst/>
              <a:ahLst/>
              <a:cxnLst/>
              <a:rect l="l" t="t" r="r" b="b"/>
              <a:pathLst>
                <a:path w="3171825" h="9525">
                  <a:moveTo>
                    <a:pt x="0" y="0"/>
                  </a:moveTo>
                  <a:lnTo>
                    <a:pt x="3171825" y="0"/>
                  </a:lnTo>
                </a:path>
              </a:pathLst>
            </a:custGeom>
            <a:noFill/>
            <a:ln w="15240">
              <a:solidFill>
                <a:srgbClr val="4B5563"/>
              </a:solidFill>
            </a:ln>
          </p:spPr>
        </p:sp>
        <p:sp>
          <p:nvSpPr>
            <p:cNvPr id="11" name="Polygon 11"/>
            <p:cNvSpPr/>
            <p:nvPr/>
          </p:nvSpPr>
          <p:spPr>
            <a:xfrm>
              <a:off x="4524375" y="4302309"/>
              <a:ext cx="66675" cy="60008"/>
            </a:xfrm>
            <a:custGeom>
              <a:avLst/>
              <a:gdLst/>
              <a:ahLst/>
              <a:cxnLst/>
              <a:rect l="l" t="t" r="r" b="b"/>
              <a:pathLst>
                <a:path w="66675" h="60008">
                  <a:moveTo>
                    <a:pt x="66675" y="30004"/>
                  </a:moveTo>
                  <a:lnTo>
                    <a:pt x="0" y="600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B5563"/>
            </a:solidFill>
            <a:ln>
              <a:noFill/>
            </a:ln>
          </p:spPr>
        </p:sp>
        <p:sp>
          <p:nvSpPr>
            <p:cNvPr id="12" name="Line 12"/>
            <p:cNvSpPr/>
            <p:nvPr/>
          </p:nvSpPr>
          <p:spPr>
            <a:xfrm>
              <a:off x="1569510" y="2447925"/>
              <a:ext cx="9525" cy="2066925"/>
            </a:xfrm>
            <a:custGeom>
              <a:avLst/>
              <a:gdLst/>
              <a:ahLst/>
              <a:cxnLst/>
              <a:rect l="l" t="t" r="r" b="b"/>
              <a:pathLst>
                <a:path w="9525" h="2066925">
                  <a:moveTo>
                    <a:pt x="0" y="2066925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4B5563"/>
              </a:solidFill>
            </a:ln>
          </p:spPr>
        </p:sp>
        <p:sp>
          <p:nvSpPr>
            <p:cNvPr id="13" name="Polygon 13"/>
            <p:cNvSpPr/>
            <p:nvPr/>
          </p:nvSpPr>
          <p:spPr>
            <a:xfrm>
              <a:off x="1539507" y="2381250"/>
              <a:ext cx="60008" cy="66675"/>
            </a:xfrm>
            <a:custGeom>
              <a:avLst/>
              <a:gdLst/>
              <a:ahLst/>
              <a:cxnLst/>
              <a:rect l="l" t="t" r="r" b="b"/>
              <a:pathLst>
                <a:path w="60008" h="66675">
                  <a:moveTo>
                    <a:pt x="30004" y="0"/>
                  </a:moveTo>
                  <a:lnTo>
                    <a:pt x="60008" y="66675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4B556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633341" y="426659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15" name="Freeform 15"/>
            <p:cNvSpPr/>
            <p:nvPr/>
          </p:nvSpPr>
          <p:spPr>
            <a:xfrm>
              <a:off x="1569720" y="2810828"/>
              <a:ext cx="867728" cy="1521142"/>
            </a:xfrm>
            <a:custGeom>
              <a:avLst/>
              <a:gdLst/>
              <a:ahLst/>
              <a:cxnLst/>
              <a:rect l="l" t="t" r="r" b="b"/>
              <a:pathLst>
                <a:path w="867728" h="1521142">
                  <a:moveTo>
                    <a:pt x="0" y="1521142"/>
                  </a:moveTo>
                  <a:lnTo>
                    <a:pt x="0" y="0"/>
                  </a:lnTo>
                  <a:lnTo>
                    <a:pt x="867728" y="0"/>
                  </a:lnTo>
                  <a:lnTo>
                    <a:pt x="867728" y="1521142"/>
                  </a:lnTo>
                </a:path>
              </a:pathLst>
            </a:custGeom>
            <a:noFill/>
            <a:ln w="19050">
              <a:solidFill>
                <a:srgbClr val="A9BBE4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1569720" y="2810828"/>
              <a:ext cx="1735455" cy="1521142"/>
            </a:xfrm>
            <a:custGeom>
              <a:avLst/>
              <a:gdLst/>
              <a:ahLst/>
              <a:cxnLst/>
              <a:rect l="l" t="t" r="r" b="b"/>
              <a:pathLst>
                <a:path w="1735455" h="1521142">
                  <a:moveTo>
                    <a:pt x="0" y="1521142"/>
                  </a:moveTo>
                  <a:lnTo>
                    <a:pt x="867728" y="0"/>
                  </a:lnTo>
                  <a:lnTo>
                    <a:pt x="1735455" y="1521142"/>
                  </a:lnTo>
                </a:path>
              </a:pathLst>
            </a:custGeom>
            <a:noFill/>
            <a:ln w="19050">
              <a:solidFill>
                <a:srgbClr val="F26B3A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1569720" y="3191828"/>
              <a:ext cx="2603182" cy="1140142"/>
            </a:xfrm>
            <a:custGeom>
              <a:avLst/>
              <a:gdLst/>
              <a:ahLst/>
              <a:cxnLst/>
              <a:rect l="l" t="t" r="r" b="b"/>
              <a:pathLst>
                <a:path w="2603182" h="1140142">
                  <a:moveTo>
                    <a:pt x="0" y="1140142"/>
                  </a:moveTo>
                  <a:lnTo>
                    <a:pt x="17145" y="1140142"/>
                  </a:lnTo>
                  <a:lnTo>
                    <a:pt x="34290" y="1139190"/>
                  </a:lnTo>
                  <a:lnTo>
                    <a:pt x="51435" y="1137285"/>
                  </a:lnTo>
                  <a:lnTo>
                    <a:pt x="69532" y="1135380"/>
                  </a:lnTo>
                  <a:lnTo>
                    <a:pt x="86677" y="1132522"/>
                  </a:lnTo>
                  <a:lnTo>
                    <a:pt x="103822" y="1129665"/>
                  </a:lnTo>
                  <a:lnTo>
                    <a:pt x="120967" y="1125855"/>
                  </a:lnTo>
                  <a:lnTo>
                    <a:pt x="139065" y="1121092"/>
                  </a:lnTo>
                  <a:lnTo>
                    <a:pt x="156210" y="1115377"/>
                  </a:lnTo>
                  <a:lnTo>
                    <a:pt x="173355" y="1109662"/>
                  </a:lnTo>
                  <a:lnTo>
                    <a:pt x="190500" y="1103947"/>
                  </a:lnTo>
                  <a:lnTo>
                    <a:pt x="207645" y="1096327"/>
                  </a:lnTo>
                  <a:lnTo>
                    <a:pt x="225742" y="1088707"/>
                  </a:lnTo>
                  <a:lnTo>
                    <a:pt x="242888" y="1081088"/>
                  </a:lnTo>
                  <a:lnTo>
                    <a:pt x="260032" y="1071562"/>
                  </a:lnTo>
                  <a:lnTo>
                    <a:pt x="277177" y="1062990"/>
                  </a:lnTo>
                  <a:lnTo>
                    <a:pt x="295275" y="1052512"/>
                  </a:lnTo>
                  <a:lnTo>
                    <a:pt x="312420" y="1042035"/>
                  </a:lnTo>
                  <a:lnTo>
                    <a:pt x="329565" y="1030605"/>
                  </a:lnTo>
                  <a:lnTo>
                    <a:pt x="346710" y="1019175"/>
                  </a:lnTo>
                  <a:lnTo>
                    <a:pt x="363855" y="1006792"/>
                  </a:lnTo>
                  <a:lnTo>
                    <a:pt x="381952" y="993457"/>
                  </a:lnTo>
                  <a:lnTo>
                    <a:pt x="399097" y="979170"/>
                  </a:lnTo>
                  <a:lnTo>
                    <a:pt x="416242" y="964882"/>
                  </a:lnTo>
                  <a:lnTo>
                    <a:pt x="433388" y="950595"/>
                  </a:lnTo>
                  <a:lnTo>
                    <a:pt x="451485" y="934402"/>
                  </a:lnTo>
                  <a:lnTo>
                    <a:pt x="468630" y="919162"/>
                  </a:lnTo>
                  <a:lnTo>
                    <a:pt x="485775" y="902017"/>
                  </a:lnTo>
                  <a:lnTo>
                    <a:pt x="502920" y="884872"/>
                  </a:lnTo>
                  <a:lnTo>
                    <a:pt x="520065" y="866775"/>
                  </a:lnTo>
                  <a:lnTo>
                    <a:pt x="538162" y="847725"/>
                  </a:lnTo>
                  <a:lnTo>
                    <a:pt x="555307" y="828675"/>
                  </a:lnTo>
                  <a:lnTo>
                    <a:pt x="572452" y="809625"/>
                  </a:lnTo>
                  <a:lnTo>
                    <a:pt x="589597" y="788670"/>
                  </a:lnTo>
                  <a:lnTo>
                    <a:pt x="607695" y="767715"/>
                  </a:lnTo>
                  <a:lnTo>
                    <a:pt x="624840" y="745807"/>
                  </a:lnTo>
                  <a:lnTo>
                    <a:pt x="641985" y="723900"/>
                  </a:lnTo>
                  <a:lnTo>
                    <a:pt x="659130" y="701040"/>
                  </a:lnTo>
                  <a:lnTo>
                    <a:pt x="676275" y="678180"/>
                  </a:lnTo>
                  <a:lnTo>
                    <a:pt x="694372" y="653415"/>
                  </a:lnTo>
                  <a:lnTo>
                    <a:pt x="711517" y="628650"/>
                  </a:lnTo>
                  <a:lnTo>
                    <a:pt x="728662" y="603885"/>
                  </a:lnTo>
                  <a:lnTo>
                    <a:pt x="745807" y="578167"/>
                  </a:lnTo>
                  <a:lnTo>
                    <a:pt x="763905" y="551497"/>
                  </a:lnTo>
                  <a:lnTo>
                    <a:pt x="781050" y="524827"/>
                  </a:lnTo>
                  <a:lnTo>
                    <a:pt x="798195" y="497205"/>
                  </a:lnTo>
                  <a:lnTo>
                    <a:pt x="815340" y="468630"/>
                  </a:lnTo>
                  <a:lnTo>
                    <a:pt x="832485" y="439102"/>
                  </a:lnTo>
                  <a:lnTo>
                    <a:pt x="850582" y="409575"/>
                  </a:lnTo>
                  <a:lnTo>
                    <a:pt x="867728" y="380047"/>
                  </a:lnTo>
                  <a:lnTo>
                    <a:pt x="884872" y="350520"/>
                  </a:lnTo>
                  <a:lnTo>
                    <a:pt x="902017" y="321945"/>
                  </a:lnTo>
                  <a:lnTo>
                    <a:pt x="920115" y="294322"/>
                  </a:lnTo>
                  <a:lnTo>
                    <a:pt x="937260" y="267652"/>
                  </a:lnTo>
                  <a:lnTo>
                    <a:pt x="954405" y="242888"/>
                  </a:lnTo>
                  <a:lnTo>
                    <a:pt x="971550" y="219075"/>
                  </a:lnTo>
                  <a:lnTo>
                    <a:pt x="988695" y="197167"/>
                  </a:lnTo>
                  <a:lnTo>
                    <a:pt x="1006792" y="175260"/>
                  </a:lnTo>
                  <a:lnTo>
                    <a:pt x="1023938" y="155257"/>
                  </a:lnTo>
                  <a:lnTo>
                    <a:pt x="1041083" y="136207"/>
                  </a:lnTo>
                  <a:lnTo>
                    <a:pt x="1058227" y="119062"/>
                  </a:lnTo>
                  <a:lnTo>
                    <a:pt x="1076325" y="102870"/>
                  </a:lnTo>
                  <a:lnTo>
                    <a:pt x="1093470" y="87630"/>
                  </a:lnTo>
                  <a:lnTo>
                    <a:pt x="1110615" y="73342"/>
                  </a:lnTo>
                  <a:lnTo>
                    <a:pt x="1127760" y="60007"/>
                  </a:lnTo>
                  <a:lnTo>
                    <a:pt x="1144905" y="48577"/>
                  </a:lnTo>
                  <a:lnTo>
                    <a:pt x="1163002" y="38100"/>
                  </a:lnTo>
                  <a:lnTo>
                    <a:pt x="1180147" y="29527"/>
                  </a:lnTo>
                  <a:lnTo>
                    <a:pt x="1197292" y="21907"/>
                  </a:lnTo>
                  <a:lnTo>
                    <a:pt x="1214438" y="15240"/>
                  </a:lnTo>
                  <a:lnTo>
                    <a:pt x="1232535" y="9525"/>
                  </a:lnTo>
                  <a:lnTo>
                    <a:pt x="1249680" y="4762"/>
                  </a:lnTo>
                  <a:lnTo>
                    <a:pt x="1266825" y="1905"/>
                  </a:lnTo>
                  <a:lnTo>
                    <a:pt x="1283970" y="0"/>
                  </a:lnTo>
                  <a:lnTo>
                    <a:pt x="1301115" y="0"/>
                  </a:lnTo>
                  <a:lnTo>
                    <a:pt x="1319212" y="0"/>
                  </a:lnTo>
                  <a:lnTo>
                    <a:pt x="1336358" y="1905"/>
                  </a:lnTo>
                  <a:lnTo>
                    <a:pt x="1353502" y="4762"/>
                  </a:lnTo>
                  <a:lnTo>
                    <a:pt x="1370647" y="9525"/>
                  </a:lnTo>
                  <a:lnTo>
                    <a:pt x="1388745" y="15240"/>
                  </a:lnTo>
                  <a:lnTo>
                    <a:pt x="1405890" y="21907"/>
                  </a:lnTo>
                  <a:lnTo>
                    <a:pt x="1423035" y="29527"/>
                  </a:lnTo>
                  <a:lnTo>
                    <a:pt x="1440180" y="38100"/>
                  </a:lnTo>
                  <a:lnTo>
                    <a:pt x="1457325" y="48577"/>
                  </a:lnTo>
                  <a:lnTo>
                    <a:pt x="1475422" y="60007"/>
                  </a:lnTo>
                  <a:lnTo>
                    <a:pt x="1492568" y="73342"/>
                  </a:lnTo>
                  <a:lnTo>
                    <a:pt x="1509712" y="87630"/>
                  </a:lnTo>
                  <a:lnTo>
                    <a:pt x="1526858" y="102870"/>
                  </a:lnTo>
                  <a:lnTo>
                    <a:pt x="1544955" y="119062"/>
                  </a:lnTo>
                  <a:lnTo>
                    <a:pt x="1562100" y="136207"/>
                  </a:lnTo>
                  <a:lnTo>
                    <a:pt x="1579245" y="155257"/>
                  </a:lnTo>
                  <a:lnTo>
                    <a:pt x="1596390" y="175260"/>
                  </a:lnTo>
                  <a:lnTo>
                    <a:pt x="1613535" y="197167"/>
                  </a:lnTo>
                  <a:lnTo>
                    <a:pt x="1631632" y="219075"/>
                  </a:lnTo>
                  <a:lnTo>
                    <a:pt x="1648777" y="242888"/>
                  </a:lnTo>
                  <a:lnTo>
                    <a:pt x="1665922" y="267652"/>
                  </a:lnTo>
                  <a:lnTo>
                    <a:pt x="1683068" y="294322"/>
                  </a:lnTo>
                  <a:lnTo>
                    <a:pt x="1701165" y="321945"/>
                  </a:lnTo>
                  <a:lnTo>
                    <a:pt x="1718310" y="350520"/>
                  </a:lnTo>
                  <a:lnTo>
                    <a:pt x="1735455" y="380047"/>
                  </a:lnTo>
                  <a:lnTo>
                    <a:pt x="1752600" y="409575"/>
                  </a:lnTo>
                  <a:lnTo>
                    <a:pt x="1769745" y="439102"/>
                  </a:lnTo>
                  <a:lnTo>
                    <a:pt x="1787842" y="468630"/>
                  </a:lnTo>
                  <a:lnTo>
                    <a:pt x="1804988" y="497205"/>
                  </a:lnTo>
                  <a:lnTo>
                    <a:pt x="1822132" y="524827"/>
                  </a:lnTo>
                  <a:lnTo>
                    <a:pt x="1839277" y="551497"/>
                  </a:lnTo>
                  <a:lnTo>
                    <a:pt x="1857375" y="578167"/>
                  </a:lnTo>
                  <a:lnTo>
                    <a:pt x="1874520" y="603885"/>
                  </a:lnTo>
                  <a:lnTo>
                    <a:pt x="1891665" y="628650"/>
                  </a:lnTo>
                  <a:lnTo>
                    <a:pt x="1908810" y="653415"/>
                  </a:lnTo>
                  <a:lnTo>
                    <a:pt x="1925955" y="678180"/>
                  </a:lnTo>
                  <a:lnTo>
                    <a:pt x="1944052" y="701040"/>
                  </a:lnTo>
                  <a:lnTo>
                    <a:pt x="1961197" y="723900"/>
                  </a:lnTo>
                  <a:lnTo>
                    <a:pt x="1978342" y="745807"/>
                  </a:lnTo>
                  <a:lnTo>
                    <a:pt x="1995488" y="767715"/>
                  </a:lnTo>
                  <a:lnTo>
                    <a:pt x="2013585" y="788670"/>
                  </a:lnTo>
                  <a:lnTo>
                    <a:pt x="2030730" y="809625"/>
                  </a:lnTo>
                  <a:lnTo>
                    <a:pt x="2047875" y="828675"/>
                  </a:lnTo>
                  <a:lnTo>
                    <a:pt x="2065020" y="847725"/>
                  </a:lnTo>
                  <a:lnTo>
                    <a:pt x="2082165" y="866775"/>
                  </a:lnTo>
                  <a:lnTo>
                    <a:pt x="2100262" y="884872"/>
                  </a:lnTo>
                  <a:lnTo>
                    <a:pt x="2117408" y="902017"/>
                  </a:lnTo>
                  <a:lnTo>
                    <a:pt x="2134552" y="919162"/>
                  </a:lnTo>
                  <a:lnTo>
                    <a:pt x="2151698" y="934402"/>
                  </a:lnTo>
                  <a:lnTo>
                    <a:pt x="2169795" y="950595"/>
                  </a:lnTo>
                  <a:lnTo>
                    <a:pt x="2186940" y="964882"/>
                  </a:lnTo>
                  <a:lnTo>
                    <a:pt x="2204085" y="979170"/>
                  </a:lnTo>
                  <a:lnTo>
                    <a:pt x="2221230" y="993457"/>
                  </a:lnTo>
                  <a:lnTo>
                    <a:pt x="2238375" y="1006792"/>
                  </a:lnTo>
                  <a:lnTo>
                    <a:pt x="2256472" y="1019175"/>
                  </a:lnTo>
                  <a:lnTo>
                    <a:pt x="2273618" y="1030605"/>
                  </a:lnTo>
                  <a:lnTo>
                    <a:pt x="2290762" y="1042035"/>
                  </a:lnTo>
                  <a:lnTo>
                    <a:pt x="2307908" y="1052512"/>
                  </a:lnTo>
                  <a:lnTo>
                    <a:pt x="2326005" y="1062990"/>
                  </a:lnTo>
                  <a:lnTo>
                    <a:pt x="2343150" y="1071562"/>
                  </a:lnTo>
                  <a:lnTo>
                    <a:pt x="2360295" y="1081088"/>
                  </a:lnTo>
                  <a:lnTo>
                    <a:pt x="2377440" y="1088707"/>
                  </a:lnTo>
                  <a:lnTo>
                    <a:pt x="2394585" y="1096327"/>
                  </a:lnTo>
                  <a:lnTo>
                    <a:pt x="2412682" y="1103947"/>
                  </a:lnTo>
                  <a:lnTo>
                    <a:pt x="2429827" y="1109662"/>
                  </a:lnTo>
                  <a:lnTo>
                    <a:pt x="2446972" y="1115377"/>
                  </a:lnTo>
                  <a:lnTo>
                    <a:pt x="2464118" y="1121092"/>
                  </a:lnTo>
                  <a:lnTo>
                    <a:pt x="2482215" y="1125855"/>
                  </a:lnTo>
                  <a:lnTo>
                    <a:pt x="2499360" y="1129665"/>
                  </a:lnTo>
                  <a:lnTo>
                    <a:pt x="2516505" y="1132522"/>
                  </a:lnTo>
                  <a:lnTo>
                    <a:pt x="2533650" y="1135380"/>
                  </a:lnTo>
                  <a:lnTo>
                    <a:pt x="2550795" y="1137285"/>
                  </a:lnTo>
                  <a:lnTo>
                    <a:pt x="2568892" y="1139190"/>
                  </a:lnTo>
                  <a:lnTo>
                    <a:pt x="2586038" y="1140142"/>
                  </a:lnTo>
                  <a:lnTo>
                    <a:pt x="2603182" y="1140142"/>
                  </a:lnTo>
                </a:path>
              </a:pathLst>
            </a:custGeom>
            <a:noFill/>
            <a:ln w="21908">
              <a:solidFill>
                <a:srgbClr val="2F4B9A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2437343" y="4332313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396110" y="4408037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3305175" y="4332313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263942" y="4408037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4173007" y="4332313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131774" y="4408037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1521885" y="2811151"/>
              <a:ext cx="47625" cy="9525"/>
            </a:xfrm>
            <a:custGeom>
              <a:avLst/>
              <a:gdLst/>
              <a:ahLst/>
              <a:cxnLst/>
              <a:rect l="l" t="t" r="r" b="b"/>
              <a:pathLst>
                <a:path w="47625" h="9525">
                  <a:moveTo>
                    <a:pt x="0" y="0"/>
                  </a:moveTo>
                  <a:lnTo>
                    <a:pt x="47625" y="0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406272" y="2748763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842259" y="2568997"/>
              <a:ext cx="6269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A76B8"/>
                  </a:solidFill>
                  <a:latin typeface="+mn-lt"/>
                  <a:ea typeface="+mn-ea"/>
                  <a:cs typeface="+mn-cs"/>
                </a:rPr>
                <a:t>n = 1 矩形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545204" y="2812380"/>
              <a:ext cx="6269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n = 2 三角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230794" y="3314367"/>
              <a:ext cx="8908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n = 3 已近钟形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723900" y="4953000"/>
              <a:ext cx="5143500" cy="1104900"/>
            </a:xfrm>
            <a:prstGeom prst="roundRect">
              <a:avLst>
                <a:gd name="adj" fmla="val 862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733425" y="5057775"/>
              <a:ext cx="47625" cy="89535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895350" y="5057775"/>
              <a:ext cx="628650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92314" y="511111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看什么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89826" y="5369004"/>
              <a:ext cx="4046284" cy="6127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单个 X 的密度是平的，两个相加就出现峰，三个相加已经两头低、</a:t>
              </a:r>
              <a:br/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中间高，并且左右对称。相加的个数越多，曲线越贴近正态密度。</a:t>
              </a:r>
              <a:br/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这正是中心极限定理的直观内容：和的分布会忘掉原来的形状。</a:t>
              </a:r>
            </a:p>
          </p:txBody>
        </p:sp>
      </p:grpSp>
      <p:grpSp>
        <p:nvGrpSpPr>
          <p:cNvPr id="93" name="cltB"/>
          <p:cNvGrpSpPr/>
          <p:nvPr/>
        </p:nvGrpSpPr>
        <p:grpSpPr>
          <a:xfrm>
            <a:off x="6210300" y="1524000"/>
            <a:ext cx="5448300" cy="4762500"/>
            <a:chOff x="6210300" y="1524000"/>
            <a:chExt cx="5448300" cy="4762500"/>
          </a:xfrm>
        </p:grpSpPr>
        <p:sp>
          <p:nvSpPr>
            <p:cNvPr id="35" name="Rectangle 35"/>
            <p:cNvSpPr/>
            <p:nvPr/>
          </p:nvSpPr>
          <p:spPr>
            <a:xfrm>
              <a:off x="6210300" y="1524000"/>
              <a:ext cx="5448300" cy="4762500"/>
            </a:xfrm>
            <a:prstGeom prst="roundRect">
              <a:avLst>
                <a:gd name="adj" fmla="val 24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394323" y="1662589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二项分布标准化以后向正态曲线靠拢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395466" y="1925002"/>
              <a:ext cx="37057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B(n, 0.5) 标准化后的概率直方图，红线是标准正态密度。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7385685" y="3222308"/>
              <a:ext cx="251460" cy="28575"/>
            </a:xfrm>
            <a:prstGeom prst="rect">
              <a:avLst/>
            </a:prstGeom>
            <a:solidFill>
              <a:srgbClr val="D6DFF3"/>
            </a:solidFill>
            <a:ln w="8572">
              <a:solidFill>
                <a:srgbClr val="B9C6E6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7637145" y="3122295"/>
              <a:ext cx="251460" cy="128588"/>
            </a:xfrm>
            <a:prstGeom prst="rect">
              <a:avLst/>
            </a:prstGeom>
            <a:solidFill>
              <a:srgbClr val="D6DFF3"/>
            </a:solidFill>
            <a:ln w="8572">
              <a:solidFill>
                <a:srgbClr val="B9C6E6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7887652" y="2907982"/>
              <a:ext cx="251460" cy="342900"/>
            </a:xfrm>
            <a:prstGeom prst="rect">
              <a:avLst/>
            </a:prstGeom>
            <a:solidFill>
              <a:srgbClr val="D6DFF3"/>
            </a:solidFill>
            <a:ln w="8572">
              <a:solidFill>
                <a:srgbClr val="B9C6E6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8139112" y="2651760"/>
              <a:ext cx="251460" cy="600075"/>
            </a:xfrm>
            <a:prstGeom prst="rect">
              <a:avLst/>
            </a:prstGeom>
            <a:solidFill>
              <a:srgbClr val="D6DFF3"/>
            </a:solidFill>
            <a:ln w="8572">
              <a:solidFill>
                <a:srgbClr val="B9C6E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389620" y="2531745"/>
              <a:ext cx="251460" cy="720090"/>
            </a:xfrm>
            <a:prstGeom prst="rect">
              <a:avLst/>
            </a:prstGeom>
            <a:solidFill>
              <a:srgbClr val="D6DFF3"/>
            </a:solidFill>
            <a:ln w="8572">
              <a:solidFill>
                <a:srgbClr val="B9C6E6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8641080" y="2651760"/>
              <a:ext cx="251460" cy="600075"/>
            </a:xfrm>
            <a:prstGeom prst="rect">
              <a:avLst/>
            </a:prstGeom>
            <a:solidFill>
              <a:srgbClr val="D6DFF3"/>
            </a:solidFill>
            <a:ln w="8572">
              <a:solidFill>
                <a:srgbClr val="B9C6E6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8891588" y="2907982"/>
              <a:ext cx="251460" cy="342900"/>
            </a:xfrm>
            <a:prstGeom prst="rect">
              <a:avLst/>
            </a:prstGeom>
            <a:solidFill>
              <a:srgbClr val="D6DFF3"/>
            </a:solidFill>
            <a:ln w="8572">
              <a:solidFill>
                <a:srgbClr val="B9C6E6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9143048" y="3122295"/>
              <a:ext cx="251460" cy="128588"/>
            </a:xfrm>
            <a:prstGeom prst="rect">
              <a:avLst/>
            </a:prstGeom>
            <a:solidFill>
              <a:srgbClr val="D6DFF3"/>
            </a:solidFill>
            <a:ln w="8572">
              <a:solidFill>
                <a:srgbClr val="B9C6E6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9393555" y="3222308"/>
              <a:ext cx="251460" cy="28575"/>
            </a:xfrm>
            <a:prstGeom prst="rect">
              <a:avLst/>
            </a:prstGeom>
            <a:solidFill>
              <a:srgbClr val="D6DFF3"/>
            </a:solidFill>
            <a:ln w="8572">
              <a:solidFill>
                <a:srgbClr val="B9C6E6"/>
              </a:solidFill>
            </a:ln>
          </p:spPr>
        </p:sp>
        <p:sp>
          <p:nvSpPr>
            <p:cNvPr id="47" name="Line 47"/>
            <p:cNvSpPr/>
            <p:nvPr/>
          </p:nvSpPr>
          <p:spPr>
            <a:xfrm>
              <a:off x="7086600" y="3251073"/>
              <a:ext cx="2886075" cy="9525"/>
            </a:xfrm>
            <a:custGeom>
              <a:avLst/>
              <a:gdLst/>
              <a:ahLst/>
              <a:cxnLst/>
              <a:rect l="l" t="t" r="r" b="b"/>
              <a:pathLst>
                <a:path w="2886075" h="9525">
                  <a:moveTo>
                    <a:pt x="0" y="0"/>
                  </a:moveTo>
                  <a:lnTo>
                    <a:pt x="2886075" y="0"/>
                  </a:lnTo>
                </a:path>
              </a:pathLst>
            </a:custGeom>
            <a:noFill/>
            <a:ln w="15240">
              <a:solidFill>
                <a:srgbClr val="4B5563"/>
              </a:solidFill>
            </a:ln>
          </p:spPr>
        </p:sp>
        <p:sp>
          <p:nvSpPr>
            <p:cNvPr id="48" name="Polygon 48"/>
            <p:cNvSpPr/>
            <p:nvPr/>
          </p:nvSpPr>
          <p:spPr>
            <a:xfrm>
              <a:off x="9972675" y="3221069"/>
              <a:ext cx="66675" cy="60008"/>
            </a:xfrm>
            <a:custGeom>
              <a:avLst/>
              <a:gdLst/>
              <a:ahLst/>
              <a:cxnLst/>
              <a:rect l="l" t="t" r="r" b="b"/>
              <a:pathLst>
                <a:path w="66675" h="60008">
                  <a:moveTo>
                    <a:pt x="66675" y="30004"/>
                  </a:moveTo>
                  <a:lnTo>
                    <a:pt x="0" y="600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B5563"/>
            </a:solidFill>
            <a:ln>
              <a:noFill/>
            </a:ln>
          </p:spPr>
        </p:sp>
        <p:sp>
          <p:nvSpPr>
            <p:cNvPr id="49" name="Freeform 49"/>
            <p:cNvSpPr/>
            <p:nvPr/>
          </p:nvSpPr>
          <p:spPr>
            <a:xfrm>
              <a:off x="7126605" y="2513648"/>
              <a:ext cx="2777490" cy="736283"/>
            </a:xfrm>
            <a:custGeom>
              <a:avLst/>
              <a:gdLst/>
              <a:ahLst/>
              <a:cxnLst/>
              <a:rect l="l" t="t" r="r" b="b"/>
              <a:pathLst>
                <a:path w="2777490" h="736283">
                  <a:moveTo>
                    <a:pt x="0" y="736283"/>
                  </a:moveTo>
                  <a:lnTo>
                    <a:pt x="39052" y="735330"/>
                  </a:lnTo>
                  <a:lnTo>
                    <a:pt x="79057" y="734378"/>
                  </a:lnTo>
                  <a:lnTo>
                    <a:pt x="119062" y="733425"/>
                  </a:lnTo>
                  <a:lnTo>
                    <a:pt x="158115" y="731520"/>
                  </a:lnTo>
                  <a:lnTo>
                    <a:pt x="198120" y="729615"/>
                  </a:lnTo>
                  <a:lnTo>
                    <a:pt x="238125" y="726758"/>
                  </a:lnTo>
                  <a:lnTo>
                    <a:pt x="277177" y="722948"/>
                  </a:lnTo>
                  <a:lnTo>
                    <a:pt x="317182" y="718185"/>
                  </a:lnTo>
                  <a:lnTo>
                    <a:pt x="357188" y="712470"/>
                  </a:lnTo>
                  <a:lnTo>
                    <a:pt x="396240" y="704850"/>
                  </a:lnTo>
                  <a:lnTo>
                    <a:pt x="436245" y="696278"/>
                  </a:lnTo>
                  <a:lnTo>
                    <a:pt x="476250" y="684848"/>
                  </a:lnTo>
                  <a:lnTo>
                    <a:pt x="515302" y="671512"/>
                  </a:lnTo>
                  <a:lnTo>
                    <a:pt x="555307" y="656273"/>
                  </a:lnTo>
                  <a:lnTo>
                    <a:pt x="595312" y="637223"/>
                  </a:lnTo>
                  <a:lnTo>
                    <a:pt x="634365" y="616268"/>
                  </a:lnTo>
                  <a:lnTo>
                    <a:pt x="674370" y="591503"/>
                  </a:lnTo>
                  <a:lnTo>
                    <a:pt x="714375" y="563880"/>
                  </a:lnTo>
                  <a:lnTo>
                    <a:pt x="753427" y="532448"/>
                  </a:lnTo>
                  <a:lnTo>
                    <a:pt x="793432" y="498158"/>
                  </a:lnTo>
                  <a:lnTo>
                    <a:pt x="833438" y="460058"/>
                  </a:lnTo>
                  <a:lnTo>
                    <a:pt x="872490" y="420053"/>
                  </a:lnTo>
                  <a:lnTo>
                    <a:pt x="912495" y="378143"/>
                  </a:lnTo>
                  <a:lnTo>
                    <a:pt x="952500" y="334328"/>
                  </a:lnTo>
                  <a:lnTo>
                    <a:pt x="991552" y="289560"/>
                  </a:lnTo>
                  <a:lnTo>
                    <a:pt x="1031557" y="245745"/>
                  </a:lnTo>
                  <a:lnTo>
                    <a:pt x="1071562" y="201930"/>
                  </a:lnTo>
                  <a:lnTo>
                    <a:pt x="1110615" y="160020"/>
                  </a:lnTo>
                  <a:lnTo>
                    <a:pt x="1150620" y="120968"/>
                  </a:lnTo>
                  <a:lnTo>
                    <a:pt x="1190625" y="86678"/>
                  </a:lnTo>
                  <a:lnTo>
                    <a:pt x="1229677" y="56198"/>
                  </a:lnTo>
                  <a:lnTo>
                    <a:pt x="1269682" y="32385"/>
                  </a:lnTo>
                  <a:lnTo>
                    <a:pt x="1309688" y="14288"/>
                  </a:lnTo>
                  <a:lnTo>
                    <a:pt x="1348740" y="2858"/>
                  </a:lnTo>
                  <a:lnTo>
                    <a:pt x="1388745" y="0"/>
                  </a:lnTo>
                  <a:lnTo>
                    <a:pt x="1428750" y="2858"/>
                  </a:lnTo>
                  <a:lnTo>
                    <a:pt x="1467802" y="14288"/>
                  </a:lnTo>
                  <a:lnTo>
                    <a:pt x="1507807" y="32385"/>
                  </a:lnTo>
                  <a:lnTo>
                    <a:pt x="1547812" y="56198"/>
                  </a:lnTo>
                  <a:lnTo>
                    <a:pt x="1586865" y="86678"/>
                  </a:lnTo>
                  <a:lnTo>
                    <a:pt x="1626870" y="120968"/>
                  </a:lnTo>
                  <a:lnTo>
                    <a:pt x="1666875" y="160020"/>
                  </a:lnTo>
                  <a:lnTo>
                    <a:pt x="1705927" y="201930"/>
                  </a:lnTo>
                  <a:lnTo>
                    <a:pt x="1745932" y="245745"/>
                  </a:lnTo>
                  <a:lnTo>
                    <a:pt x="1785938" y="289560"/>
                  </a:lnTo>
                  <a:lnTo>
                    <a:pt x="1824990" y="334328"/>
                  </a:lnTo>
                  <a:lnTo>
                    <a:pt x="1864995" y="378143"/>
                  </a:lnTo>
                  <a:lnTo>
                    <a:pt x="1905000" y="420053"/>
                  </a:lnTo>
                  <a:lnTo>
                    <a:pt x="1944052" y="460058"/>
                  </a:lnTo>
                  <a:lnTo>
                    <a:pt x="1984057" y="498158"/>
                  </a:lnTo>
                  <a:lnTo>
                    <a:pt x="2024062" y="532448"/>
                  </a:lnTo>
                  <a:lnTo>
                    <a:pt x="2063115" y="563880"/>
                  </a:lnTo>
                  <a:lnTo>
                    <a:pt x="2103120" y="591503"/>
                  </a:lnTo>
                  <a:lnTo>
                    <a:pt x="2143125" y="616268"/>
                  </a:lnTo>
                  <a:lnTo>
                    <a:pt x="2182177" y="637223"/>
                  </a:lnTo>
                  <a:lnTo>
                    <a:pt x="2222182" y="656273"/>
                  </a:lnTo>
                  <a:lnTo>
                    <a:pt x="2262188" y="671512"/>
                  </a:lnTo>
                  <a:lnTo>
                    <a:pt x="2301240" y="684848"/>
                  </a:lnTo>
                  <a:lnTo>
                    <a:pt x="2341245" y="696278"/>
                  </a:lnTo>
                  <a:lnTo>
                    <a:pt x="2381250" y="704850"/>
                  </a:lnTo>
                  <a:lnTo>
                    <a:pt x="2420302" y="712470"/>
                  </a:lnTo>
                  <a:lnTo>
                    <a:pt x="2460307" y="718185"/>
                  </a:lnTo>
                  <a:lnTo>
                    <a:pt x="2500312" y="722948"/>
                  </a:lnTo>
                  <a:lnTo>
                    <a:pt x="2539365" y="726758"/>
                  </a:lnTo>
                  <a:lnTo>
                    <a:pt x="2579370" y="729615"/>
                  </a:lnTo>
                  <a:lnTo>
                    <a:pt x="2619375" y="731520"/>
                  </a:lnTo>
                  <a:lnTo>
                    <a:pt x="2658427" y="733425"/>
                  </a:lnTo>
                  <a:lnTo>
                    <a:pt x="2698432" y="734378"/>
                  </a:lnTo>
                  <a:lnTo>
                    <a:pt x="2738438" y="735330"/>
                  </a:lnTo>
                  <a:lnTo>
                    <a:pt x="2777490" y="736283"/>
                  </a:lnTo>
                </a:path>
              </a:pathLst>
            </a:custGeom>
            <a:noFill/>
            <a:ln w="19050">
              <a:solidFill>
                <a:srgbClr val="F26B3A"/>
              </a:solidFill>
            </a:ln>
          </p:spPr>
        </p:sp>
        <p:sp>
          <p:nvSpPr>
            <p:cNvPr id="50" name="Line 50"/>
            <p:cNvSpPr/>
            <p:nvPr/>
          </p:nvSpPr>
          <p:spPr>
            <a:xfrm>
              <a:off x="7721603" y="3251073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644090" y="3326797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-2</a:t>
              </a:r>
            </a:p>
          </p:txBody>
        </p:sp>
        <p:sp>
          <p:nvSpPr>
            <p:cNvPr id="52" name="Line 52"/>
            <p:cNvSpPr/>
            <p:nvPr/>
          </p:nvSpPr>
          <p:spPr>
            <a:xfrm>
              <a:off x="8515350" y="3251073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474117" y="3326797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4" name="Line 54"/>
            <p:cNvSpPr/>
            <p:nvPr/>
          </p:nvSpPr>
          <p:spPr>
            <a:xfrm>
              <a:off x="9309097" y="3251073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9267864" y="3326797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522047" y="2508895"/>
              <a:ext cx="4262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n = 10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7198042" y="4889182"/>
              <a:ext cx="125730" cy="4762"/>
            </a:xfrm>
            <a:prstGeom prst="rect">
              <a:avLst/>
            </a:prstGeom>
            <a:solidFill>
              <a:srgbClr val="D6DFF3"/>
            </a:solidFill>
            <a:ln w="8572">
              <a:solidFill>
                <a:srgbClr val="B9C6E6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7322820" y="4881562"/>
              <a:ext cx="125730" cy="11430"/>
            </a:xfrm>
            <a:prstGeom prst="rect">
              <a:avLst/>
            </a:prstGeom>
            <a:solidFill>
              <a:srgbClr val="D6DFF3"/>
            </a:solidFill>
            <a:ln w="8572">
              <a:solidFill>
                <a:srgbClr val="B9C6E6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7448550" y="4865370"/>
              <a:ext cx="125730" cy="28575"/>
            </a:xfrm>
            <a:prstGeom prst="rect">
              <a:avLst/>
            </a:prstGeom>
            <a:solidFill>
              <a:srgbClr val="D6DFF3"/>
            </a:solidFill>
            <a:ln w="8572">
              <a:solidFill>
                <a:srgbClr val="B9C6E6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7574280" y="4832032"/>
              <a:ext cx="125730" cy="61912"/>
            </a:xfrm>
            <a:prstGeom prst="rect">
              <a:avLst/>
            </a:prstGeom>
            <a:solidFill>
              <a:srgbClr val="D6DFF3"/>
            </a:solidFill>
            <a:ln w="8572">
              <a:solidFill>
                <a:srgbClr val="B9C6E6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7700010" y="4774882"/>
              <a:ext cx="125730" cy="118110"/>
            </a:xfrm>
            <a:prstGeom prst="rect">
              <a:avLst/>
            </a:prstGeom>
            <a:solidFill>
              <a:srgbClr val="D6DFF3"/>
            </a:solidFill>
            <a:ln w="8572">
              <a:solidFill>
                <a:srgbClr val="B9C6E6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7824788" y="4688205"/>
              <a:ext cx="125730" cy="205740"/>
            </a:xfrm>
            <a:prstGeom prst="rect">
              <a:avLst/>
            </a:prstGeom>
            <a:solidFill>
              <a:srgbClr val="D6DFF3"/>
            </a:solidFill>
            <a:ln w="8572">
              <a:solidFill>
                <a:srgbClr val="B9C6E6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7950518" y="4572952"/>
              <a:ext cx="125730" cy="320992"/>
            </a:xfrm>
            <a:prstGeom prst="rect">
              <a:avLst/>
            </a:prstGeom>
            <a:solidFill>
              <a:srgbClr val="D6DFF3"/>
            </a:solidFill>
            <a:ln w="8572">
              <a:solidFill>
                <a:srgbClr val="B9C6E6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8076248" y="4440555"/>
              <a:ext cx="125730" cy="453390"/>
            </a:xfrm>
            <a:prstGeom prst="rect">
              <a:avLst/>
            </a:prstGeom>
            <a:solidFill>
              <a:srgbClr val="D6DFF3"/>
            </a:solidFill>
            <a:ln w="8572">
              <a:solidFill>
                <a:srgbClr val="B9C6E6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8201978" y="4314825"/>
              <a:ext cx="125730" cy="579120"/>
            </a:xfrm>
            <a:prstGeom prst="rect">
              <a:avLst/>
            </a:prstGeom>
            <a:solidFill>
              <a:srgbClr val="D6DFF3"/>
            </a:solidFill>
            <a:ln w="8572">
              <a:solidFill>
                <a:srgbClr val="B9C6E6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8326755" y="4223385"/>
              <a:ext cx="125730" cy="670560"/>
            </a:xfrm>
            <a:prstGeom prst="rect">
              <a:avLst/>
            </a:prstGeom>
            <a:solidFill>
              <a:srgbClr val="D6DFF3"/>
            </a:solidFill>
            <a:ln w="8572">
              <a:solidFill>
                <a:srgbClr val="B9C6E6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8452485" y="4189095"/>
              <a:ext cx="125730" cy="703898"/>
            </a:xfrm>
            <a:prstGeom prst="rect">
              <a:avLst/>
            </a:prstGeom>
            <a:solidFill>
              <a:srgbClr val="D6DFF3"/>
            </a:solidFill>
            <a:ln w="8572">
              <a:solidFill>
                <a:srgbClr val="B9C6E6"/>
              </a:solidFill>
            </a:ln>
          </p:spPr>
        </p:sp>
        <p:sp>
          <p:nvSpPr>
            <p:cNvPr id="68" name="Rectangle 68"/>
            <p:cNvSpPr/>
            <p:nvPr/>
          </p:nvSpPr>
          <p:spPr>
            <a:xfrm>
              <a:off x="8578215" y="4223385"/>
              <a:ext cx="125730" cy="670560"/>
            </a:xfrm>
            <a:prstGeom prst="rect">
              <a:avLst/>
            </a:prstGeom>
            <a:solidFill>
              <a:srgbClr val="D6DFF3"/>
            </a:solidFill>
            <a:ln w="8572">
              <a:solidFill>
                <a:srgbClr val="B9C6E6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8703945" y="4314825"/>
              <a:ext cx="125730" cy="579120"/>
            </a:xfrm>
            <a:prstGeom prst="rect">
              <a:avLst/>
            </a:prstGeom>
            <a:solidFill>
              <a:srgbClr val="D6DFF3"/>
            </a:solidFill>
            <a:ln w="8572">
              <a:solidFill>
                <a:srgbClr val="B9C6E6"/>
              </a:solidFill>
            </a:ln>
          </p:spPr>
        </p:sp>
        <p:sp>
          <p:nvSpPr>
            <p:cNvPr id="70" name="Rectangle 70"/>
            <p:cNvSpPr/>
            <p:nvPr/>
          </p:nvSpPr>
          <p:spPr>
            <a:xfrm>
              <a:off x="8828722" y="4440555"/>
              <a:ext cx="125730" cy="453390"/>
            </a:xfrm>
            <a:prstGeom prst="rect">
              <a:avLst/>
            </a:prstGeom>
            <a:solidFill>
              <a:srgbClr val="D6DFF3"/>
            </a:solidFill>
            <a:ln w="8572">
              <a:solidFill>
                <a:srgbClr val="B9C6E6"/>
              </a:solidFill>
            </a:ln>
          </p:spPr>
        </p:sp>
        <p:sp>
          <p:nvSpPr>
            <p:cNvPr id="71" name="Rectangle 71"/>
            <p:cNvSpPr/>
            <p:nvPr/>
          </p:nvSpPr>
          <p:spPr>
            <a:xfrm>
              <a:off x="8954452" y="4572952"/>
              <a:ext cx="125730" cy="320992"/>
            </a:xfrm>
            <a:prstGeom prst="rect">
              <a:avLst/>
            </a:prstGeom>
            <a:solidFill>
              <a:srgbClr val="D6DFF3"/>
            </a:solidFill>
            <a:ln w="8572">
              <a:solidFill>
                <a:srgbClr val="B9C6E6"/>
              </a:solidFill>
            </a:ln>
          </p:spPr>
        </p:sp>
        <p:sp>
          <p:nvSpPr>
            <p:cNvPr id="72" name="Rectangle 72"/>
            <p:cNvSpPr/>
            <p:nvPr/>
          </p:nvSpPr>
          <p:spPr>
            <a:xfrm>
              <a:off x="9080182" y="4688205"/>
              <a:ext cx="125730" cy="205740"/>
            </a:xfrm>
            <a:prstGeom prst="rect">
              <a:avLst/>
            </a:prstGeom>
            <a:solidFill>
              <a:srgbClr val="D6DFF3"/>
            </a:solidFill>
            <a:ln w="8572">
              <a:solidFill>
                <a:srgbClr val="B9C6E6"/>
              </a:solidFill>
            </a:ln>
          </p:spPr>
        </p:sp>
        <p:sp>
          <p:nvSpPr>
            <p:cNvPr id="73" name="Rectangle 73"/>
            <p:cNvSpPr/>
            <p:nvPr/>
          </p:nvSpPr>
          <p:spPr>
            <a:xfrm>
              <a:off x="9205912" y="4774882"/>
              <a:ext cx="125730" cy="118110"/>
            </a:xfrm>
            <a:prstGeom prst="rect">
              <a:avLst/>
            </a:prstGeom>
            <a:solidFill>
              <a:srgbClr val="D6DFF3"/>
            </a:solidFill>
            <a:ln w="8572">
              <a:solidFill>
                <a:srgbClr val="B9C6E6"/>
              </a:solidFill>
            </a:ln>
          </p:spPr>
        </p:sp>
        <p:sp>
          <p:nvSpPr>
            <p:cNvPr id="74" name="Rectangle 74"/>
            <p:cNvSpPr/>
            <p:nvPr/>
          </p:nvSpPr>
          <p:spPr>
            <a:xfrm>
              <a:off x="9330690" y="4832032"/>
              <a:ext cx="125730" cy="61912"/>
            </a:xfrm>
            <a:prstGeom prst="rect">
              <a:avLst/>
            </a:prstGeom>
            <a:solidFill>
              <a:srgbClr val="D6DFF3"/>
            </a:solidFill>
            <a:ln w="8572">
              <a:solidFill>
                <a:srgbClr val="B9C6E6"/>
              </a:solidFill>
            </a:ln>
          </p:spPr>
        </p:sp>
        <p:sp>
          <p:nvSpPr>
            <p:cNvPr id="75" name="Rectangle 75"/>
            <p:cNvSpPr/>
            <p:nvPr/>
          </p:nvSpPr>
          <p:spPr>
            <a:xfrm>
              <a:off x="9456420" y="4865370"/>
              <a:ext cx="125730" cy="28575"/>
            </a:xfrm>
            <a:prstGeom prst="rect">
              <a:avLst/>
            </a:prstGeom>
            <a:solidFill>
              <a:srgbClr val="D6DFF3"/>
            </a:solidFill>
            <a:ln w="8572">
              <a:solidFill>
                <a:srgbClr val="B9C6E6"/>
              </a:solidFill>
            </a:ln>
          </p:spPr>
        </p:sp>
        <p:sp>
          <p:nvSpPr>
            <p:cNvPr id="76" name="Rectangle 76"/>
            <p:cNvSpPr/>
            <p:nvPr/>
          </p:nvSpPr>
          <p:spPr>
            <a:xfrm>
              <a:off x="9582150" y="4881562"/>
              <a:ext cx="125730" cy="11430"/>
            </a:xfrm>
            <a:prstGeom prst="rect">
              <a:avLst/>
            </a:prstGeom>
            <a:solidFill>
              <a:srgbClr val="D6DFF3"/>
            </a:solidFill>
            <a:ln w="8572">
              <a:solidFill>
                <a:srgbClr val="B9C6E6"/>
              </a:solidFill>
            </a:ln>
          </p:spPr>
        </p:sp>
        <p:sp>
          <p:nvSpPr>
            <p:cNvPr id="77" name="Rectangle 77"/>
            <p:cNvSpPr/>
            <p:nvPr/>
          </p:nvSpPr>
          <p:spPr>
            <a:xfrm>
              <a:off x="9707880" y="4889182"/>
              <a:ext cx="125730" cy="4762"/>
            </a:xfrm>
            <a:prstGeom prst="rect">
              <a:avLst/>
            </a:prstGeom>
            <a:solidFill>
              <a:srgbClr val="D6DFF3"/>
            </a:solidFill>
            <a:ln w="8572">
              <a:solidFill>
                <a:srgbClr val="B9C6E6"/>
              </a:solidFill>
            </a:ln>
          </p:spPr>
        </p:sp>
        <p:sp>
          <p:nvSpPr>
            <p:cNvPr id="78" name="Line 78"/>
            <p:cNvSpPr/>
            <p:nvPr/>
          </p:nvSpPr>
          <p:spPr>
            <a:xfrm>
              <a:off x="7086600" y="4893450"/>
              <a:ext cx="2886075" cy="9525"/>
            </a:xfrm>
            <a:custGeom>
              <a:avLst/>
              <a:gdLst/>
              <a:ahLst/>
              <a:cxnLst/>
              <a:rect l="l" t="t" r="r" b="b"/>
              <a:pathLst>
                <a:path w="2886075" h="9525">
                  <a:moveTo>
                    <a:pt x="0" y="0"/>
                  </a:moveTo>
                  <a:lnTo>
                    <a:pt x="2886075" y="0"/>
                  </a:lnTo>
                </a:path>
              </a:pathLst>
            </a:custGeom>
            <a:noFill/>
            <a:ln w="15240">
              <a:solidFill>
                <a:srgbClr val="4B5563"/>
              </a:solidFill>
            </a:ln>
          </p:spPr>
        </p:sp>
        <p:sp>
          <p:nvSpPr>
            <p:cNvPr id="79" name="Polygon 79"/>
            <p:cNvSpPr/>
            <p:nvPr/>
          </p:nvSpPr>
          <p:spPr>
            <a:xfrm>
              <a:off x="9972675" y="4863446"/>
              <a:ext cx="66675" cy="60008"/>
            </a:xfrm>
            <a:custGeom>
              <a:avLst/>
              <a:gdLst/>
              <a:ahLst/>
              <a:cxnLst/>
              <a:rect l="l" t="t" r="r" b="b"/>
              <a:pathLst>
                <a:path w="66675" h="60008">
                  <a:moveTo>
                    <a:pt x="66675" y="30004"/>
                  </a:moveTo>
                  <a:lnTo>
                    <a:pt x="0" y="600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B5563"/>
            </a:solidFill>
            <a:ln>
              <a:noFill/>
            </a:ln>
          </p:spPr>
        </p:sp>
        <p:sp>
          <p:nvSpPr>
            <p:cNvPr id="80" name="Freeform 80"/>
            <p:cNvSpPr/>
            <p:nvPr/>
          </p:nvSpPr>
          <p:spPr>
            <a:xfrm>
              <a:off x="7126605" y="4185285"/>
              <a:ext cx="2777490" cy="706755"/>
            </a:xfrm>
            <a:custGeom>
              <a:avLst/>
              <a:gdLst/>
              <a:ahLst/>
              <a:cxnLst/>
              <a:rect l="l" t="t" r="r" b="b"/>
              <a:pathLst>
                <a:path w="2777490" h="706755">
                  <a:moveTo>
                    <a:pt x="0" y="706755"/>
                  </a:moveTo>
                  <a:lnTo>
                    <a:pt x="39052" y="705803"/>
                  </a:lnTo>
                  <a:lnTo>
                    <a:pt x="79057" y="704850"/>
                  </a:lnTo>
                  <a:lnTo>
                    <a:pt x="119062" y="703897"/>
                  </a:lnTo>
                  <a:lnTo>
                    <a:pt x="158115" y="701993"/>
                  </a:lnTo>
                  <a:lnTo>
                    <a:pt x="198120" y="700088"/>
                  </a:lnTo>
                  <a:lnTo>
                    <a:pt x="238125" y="697230"/>
                  </a:lnTo>
                  <a:lnTo>
                    <a:pt x="277177" y="694372"/>
                  </a:lnTo>
                  <a:lnTo>
                    <a:pt x="317182" y="689610"/>
                  </a:lnTo>
                  <a:lnTo>
                    <a:pt x="357188" y="683895"/>
                  </a:lnTo>
                  <a:lnTo>
                    <a:pt x="396240" y="677228"/>
                  </a:lnTo>
                  <a:lnTo>
                    <a:pt x="436245" y="668655"/>
                  </a:lnTo>
                  <a:lnTo>
                    <a:pt x="476250" y="658178"/>
                  </a:lnTo>
                  <a:lnTo>
                    <a:pt x="515302" y="644843"/>
                  </a:lnTo>
                  <a:lnTo>
                    <a:pt x="555307" y="629603"/>
                  </a:lnTo>
                  <a:lnTo>
                    <a:pt x="595312" y="612458"/>
                  </a:lnTo>
                  <a:lnTo>
                    <a:pt x="634365" y="591503"/>
                  </a:lnTo>
                  <a:lnTo>
                    <a:pt x="674370" y="567690"/>
                  </a:lnTo>
                  <a:lnTo>
                    <a:pt x="714375" y="541020"/>
                  </a:lnTo>
                  <a:lnTo>
                    <a:pt x="753427" y="511493"/>
                  </a:lnTo>
                  <a:lnTo>
                    <a:pt x="793432" y="478155"/>
                  </a:lnTo>
                  <a:lnTo>
                    <a:pt x="833438" y="441960"/>
                  </a:lnTo>
                  <a:lnTo>
                    <a:pt x="872490" y="403860"/>
                  </a:lnTo>
                  <a:lnTo>
                    <a:pt x="912495" y="362903"/>
                  </a:lnTo>
                  <a:lnTo>
                    <a:pt x="952500" y="320993"/>
                  </a:lnTo>
                  <a:lnTo>
                    <a:pt x="991552" y="278130"/>
                  </a:lnTo>
                  <a:lnTo>
                    <a:pt x="1031557" y="235268"/>
                  </a:lnTo>
                  <a:lnTo>
                    <a:pt x="1071562" y="193358"/>
                  </a:lnTo>
                  <a:lnTo>
                    <a:pt x="1110615" y="153353"/>
                  </a:lnTo>
                  <a:lnTo>
                    <a:pt x="1150620" y="116205"/>
                  </a:lnTo>
                  <a:lnTo>
                    <a:pt x="1190625" y="82868"/>
                  </a:lnTo>
                  <a:lnTo>
                    <a:pt x="1229677" y="54293"/>
                  </a:lnTo>
                  <a:lnTo>
                    <a:pt x="1269682" y="31433"/>
                  </a:lnTo>
                  <a:lnTo>
                    <a:pt x="1309688" y="14288"/>
                  </a:lnTo>
                  <a:lnTo>
                    <a:pt x="1348740" y="3810"/>
                  </a:lnTo>
                  <a:lnTo>
                    <a:pt x="1388745" y="0"/>
                  </a:lnTo>
                  <a:lnTo>
                    <a:pt x="1428750" y="3810"/>
                  </a:lnTo>
                  <a:lnTo>
                    <a:pt x="1467802" y="14288"/>
                  </a:lnTo>
                  <a:lnTo>
                    <a:pt x="1507807" y="31433"/>
                  </a:lnTo>
                  <a:lnTo>
                    <a:pt x="1547812" y="54293"/>
                  </a:lnTo>
                  <a:lnTo>
                    <a:pt x="1586865" y="82868"/>
                  </a:lnTo>
                  <a:lnTo>
                    <a:pt x="1626870" y="116205"/>
                  </a:lnTo>
                  <a:lnTo>
                    <a:pt x="1666875" y="153353"/>
                  </a:lnTo>
                  <a:lnTo>
                    <a:pt x="1705927" y="193358"/>
                  </a:lnTo>
                  <a:lnTo>
                    <a:pt x="1745932" y="235268"/>
                  </a:lnTo>
                  <a:lnTo>
                    <a:pt x="1785938" y="278130"/>
                  </a:lnTo>
                  <a:lnTo>
                    <a:pt x="1824990" y="320993"/>
                  </a:lnTo>
                  <a:lnTo>
                    <a:pt x="1864995" y="362903"/>
                  </a:lnTo>
                  <a:lnTo>
                    <a:pt x="1905000" y="403860"/>
                  </a:lnTo>
                  <a:lnTo>
                    <a:pt x="1944052" y="441960"/>
                  </a:lnTo>
                  <a:lnTo>
                    <a:pt x="1984057" y="478155"/>
                  </a:lnTo>
                  <a:lnTo>
                    <a:pt x="2024062" y="511493"/>
                  </a:lnTo>
                  <a:lnTo>
                    <a:pt x="2063115" y="541020"/>
                  </a:lnTo>
                  <a:lnTo>
                    <a:pt x="2103120" y="567690"/>
                  </a:lnTo>
                  <a:lnTo>
                    <a:pt x="2143125" y="591503"/>
                  </a:lnTo>
                  <a:lnTo>
                    <a:pt x="2182177" y="612458"/>
                  </a:lnTo>
                  <a:lnTo>
                    <a:pt x="2222182" y="629603"/>
                  </a:lnTo>
                  <a:lnTo>
                    <a:pt x="2262188" y="644843"/>
                  </a:lnTo>
                  <a:lnTo>
                    <a:pt x="2301240" y="658178"/>
                  </a:lnTo>
                  <a:lnTo>
                    <a:pt x="2341245" y="668655"/>
                  </a:lnTo>
                  <a:lnTo>
                    <a:pt x="2381250" y="677228"/>
                  </a:lnTo>
                  <a:lnTo>
                    <a:pt x="2420302" y="683895"/>
                  </a:lnTo>
                  <a:lnTo>
                    <a:pt x="2460307" y="689610"/>
                  </a:lnTo>
                  <a:lnTo>
                    <a:pt x="2500312" y="694372"/>
                  </a:lnTo>
                  <a:lnTo>
                    <a:pt x="2539365" y="697230"/>
                  </a:lnTo>
                  <a:lnTo>
                    <a:pt x="2579370" y="700088"/>
                  </a:lnTo>
                  <a:lnTo>
                    <a:pt x="2619375" y="701993"/>
                  </a:lnTo>
                  <a:lnTo>
                    <a:pt x="2658427" y="703897"/>
                  </a:lnTo>
                  <a:lnTo>
                    <a:pt x="2698432" y="704850"/>
                  </a:lnTo>
                  <a:lnTo>
                    <a:pt x="2738438" y="705803"/>
                  </a:lnTo>
                  <a:lnTo>
                    <a:pt x="2777490" y="706755"/>
                  </a:lnTo>
                </a:path>
              </a:pathLst>
            </a:custGeom>
            <a:noFill/>
            <a:ln w="19050">
              <a:solidFill>
                <a:srgbClr val="F26B3A"/>
              </a:solidFill>
            </a:ln>
          </p:spPr>
        </p:sp>
        <p:sp>
          <p:nvSpPr>
            <p:cNvPr id="81" name="Line 81"/>
            <p:cNvSpPr/>
            <p:nvPr/>
          </p:nvSpPr>
          <p:spPr>
            <a:xfrm>
              <a:off x="7721603" y="489345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7644090" y="4969173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-2</a:t>
              </a:r>
            </a:p>
          </p:txBody>
        </p:sp>
        <p:sp>
          <p:nvSpPr>
            <p:cNvPr id="83" name="Line 83"/>
            <p:cNvSpPr/>
            <p:nvPr/>
          </p:nvSpPr>
          <p:spPr>
            <a:xfrm>
              <a:off x="8515350" y="489345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8474117" y="4969173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85" name="Line 85"/>
            <p:cNvSpPr/>
            <p:nvPr/>
          </p:nvSpPr>
          <p:spPr>
            <a:xfrm>
              <a:off x="9309097" y="489345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4B5563"/>
              </a:solidFill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9267864" y="4969173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9522047" y="4176417"/>
              <a:ext cx="4262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n = 40</a:t>
              </a:r>
            </a:p>
          </p:txBody>
        </p:sp>
        <p:sp>
          <p:nvSpPr>
            <p:cNvPr id="88" name="Rectangle 88"/>
            <p:cNvSpPr/>
            <p:nvPr/>
          </p:nvSpPr>
          <p:spPr>
            <a:xfrm>
              <a:off x="6400800" y="5181600"/>
              <a:ext cx="5067300" cy="876300"/>
            </a:xfrm>
            <a:prstGeom prst="roundRect">
              <a:avLst>
                <a:gd name="adj" fmla="val 1087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9" name="Rectangle 89"/>
            <p:cNvSpPr/>
            <p:nvPr/>
          </p:nvSpPr>
          <p:spPr>
            <a:xfrm>
              <a:off x="6410325" y="5286375"/>
              <a:ext cx="47625" cy="666750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0" name="Rectangle 90"/>
            <p:cNvSpPr/>
            <p:nvPr/>
          </p:nvSpPr>
          <p:spPr>
            <a:xfrm>
              <a:off x="6572250" y="5286375"/>
              <a:ext cx="1239060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6650907" y="5339715"/>
              <a:ext cx="10817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棣莫弗-拉普拉斯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6566726" y="5597604"/>
              <a:ext cx="3603308" cy="412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从 10 增到 40，阶梯状的柱子越来越贴住那条光滑曲线。</a:t>
              </a:r>
              <a:br/>
              <a:r>
                <a:rPr lang="zh-CN" sz="109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所以 n 大时可以用连续的正态分布去算离散的二项概率。</a:t>
              </a:r>
            </a:p>
          </p:txBody>
        </p:sp>
      </p:grpSp>
      <p:grpSp>
        <p:nvGrpSpPr>
          <p:cNvPr id="9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4" name="TextBox 94"/>
            <p:cNvSpPr txBox="1"/>
            <p:nvPr/>
          </p:nvSpPr>
          <p:spPr>
            <a:xfrm>
              <a:off x="528447" y="6581299"/>
              <a:ext cx="3044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第5章 大数定律及中心极限定理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354957" cy="909257"/>
            <a:chOff x="520446" y="342900"/>
            <a:chExt cx="735495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极限定理 · 中心极限定理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35495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例5：100 次射击的总环数落在 900 到 930 之间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2" name="c1-card-1"/>
          <p:cNvGrpSpPr/>
          <p:nvPr/>
        </p:nvGrpSpPr>
        <p:grpSpPr>
          <a:xfrm>
            <a:off x="533400" y="1524000"/>
            <a:ext cx="4760595" cy="2246948"/>
            <a:chOff x="533400" y="1524000"/>
            <a:chExt cx="4760595" cy="224694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2246948"/>
            </a:xfrm>
            <a:prstGeom prst="roundRect">
              <a:avLst>
                <a:gd name="adj" fmla="val 593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98024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405765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6347" y="1737836"/>
              <a:ext cx="21802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例5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266063" y="1744504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已知一次射击环数的分布，求总环数的概率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5998" y="2061686"/>
              <a:ext cx="4093210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某射击运动员一次射击所得环数 X 的分布律如下。求 100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次独立射击的总环数介于 900 与 930 之间的概率。已知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Φ(1.35) = 0.9115。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52475" y="2810828"/>
              <a:ext cx="4360545" cy="38100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90718" y="2927985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680733" y="292798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484643" y="292798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250453" y="292798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977211" y="292798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663153" y="292798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47154" y="3309938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419606" y="3309938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223516" y="3309938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0.05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027426" y="3309938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754184" y="3309938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480941" y="3309938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752475" y="2810828"/>
              <a:ext cx="4360545" cy="7629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1320165" y="2810828"/>
              <a:ext cx="9525" cy="762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2124075" y="2810828"/>
              <a:ext cx="9525" cy="762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2927985" y="2810828"/>
              <a:ext cx="9525" cy="762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3654742" y="2810828"/>
              <a:ext cx="9525" cy="762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4381500" y="2810828"/>
              <a:ext cx="9525" cy="762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8" name="c1-card-2"/>
          <p:cNvGrpSpPr/>
          <p:nvPr/>
        </p:nvGrpSpPr>
        <p:grpSpPr>
          <a:xfrm>
            <a:off x="533400" y="3935730"/>
            <a:ext cx="4760595" cy="1629728"/>
            <a:chOff x="533400" y="3935730"/>
            <a:chExt cx="4760595" cy="1629728"/>
          </a:xfrm>
        </p:grpSpPr>
        <p:sp>
          <p:nvSpPr>
            <p:cNvPr id="33" name="Rectangle 33"/>
            <p:cNvSpPr/>
            <p:nvPr/>
          </p:nvSpPr>
          <p:spPr>
            <a:xfrm>
              <a:off x="533400" y="3935730"/>
              <a:ext cx="4760595" cy="1629728"/>
            </a:xfrm>
            <a:prstGeom prst="roundRect">
              <a:avLst>
                <a:gd name="adj" fmla="val 818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542925" y="4069080"/>
              <a:ext cx="47625" cy="1363028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752475" y="411670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45147" y="414956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思路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45998" y="4457224"/>
              <a:ext cx="4166362" cy="9780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 次射击的环数相互独立且与 X 同分布，总环数是 100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个独立同分布变量之和，符合列维-林德伯格定理的条件。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先算一次射击的期望与方差，再把区间的两个端点标准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化。</a:t>
              </a:r>
            </a:p>
          </p:txBody>
        </p:sp>
      </p:grpSp>
      <p:grpSp>
        <p:nvGrpSpPr>
          <p:cNvPr id="56" name="c2-steps-1"/>
          <p:cNvGrpSpPr/>
          <p:nvPr/>
        </p:nvGrpSpPr>
        <p:grpSpPr>
          <a:xfrm>
            <a:off x="5598795" y="1533525"/>
            <a:ext cx="3937006" cy="2149412"/>
            <a:chOff x="5598795" y="1533525"/>
            <a:chExt cx="3937006" cy="2149412"/>
          </a:xfrm>
        </p:grpSpPr>
        <p:sp>
          <p:nvSpPr>
            <p:cNvPr id="39" name="Rectangle 39"/>
            <p:cNvSpPr/>
            <p:nvPr/>
          </p:nvSpPr>
          <p:spPr>
            <a:xfrm>
              <a:off x="5732145" y="1676400"/>
              <a:ext cx="19050" cy="1659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5598795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69241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5598795" y="208692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692419" y="216074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5598795" y="263937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692419" y="27131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5598795" y="319278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692419" y="326659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011418" y="156448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一次射击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012561" y="1818322"/>
              <a:ext cx="28928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E(X) = 9.15，D(X) = 1.2275，课件取 1.23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011418" y="211693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一百次之和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012561" y="2371725"/>
              <a:ext cx="28800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期望 915，方差 122.75（按 1.23 算得 123）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011418" y="267033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标准化端点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012561" y="2925128"/>
              <a:ext cx="35232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(930 − 915)/√123 = 1.35，(900 − 915)/√123 = −1.35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011418" y="322278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查表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012561" y="3477578"/>
              <a:ext cx="15319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概率化成 2Φ(1.35) − 1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7" name="formula96"/>
              <p:cNvSpPr txBox="1">
                <a:spLocks noGrp="1"/>
              </p:cNvSpPr>
              <p:nvPr/>
            </p:nvSpPr>
            <p:spPr>
              <a:xfrm>
                <a:off x="5598795" y="3844290"/>
                <a:ext cx="6059805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P</m:t>
                      </m:r>
                      <m:d>
                        <m:dPr>
                          <m:begChr m:val="{"/>
                          <m:sepChr m:val=""/>
                          <m:endChr m:val="}"/>
                          <m:grow m:val="on"/>
                          <m:ctrlP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900</m:t>
                          </m:r>
                          <m:r>
                            <m:rPr>
                              <m:sty m:val="p"/>
                            </m:rP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&lt;</m:t>
                          </m:r>
                          <m:nary>
                            <m:naryPr>
                              <m:chr m:val="∑"/>
                              <m:limLoc m:val="undOvr"/>
                              <m:grow m:val="off"/>
                              <m:subHide m:val="on"/>
                              <m:supHide m:val="on"/>
                              <m:ctrlP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e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k</m:t>
                                  </m:r>
                                </m:sub>
                              </m:sSub>
                            </m:e>
                          </m:nary>
                          <m:r>
                            <m:rPr>
                              <m:sty m:val="p"/>
                            </m:rP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&lt;</m:t>
                          </m:r>
                          <m: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930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≈</m:t>
                      </m:r>
                      <m: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</m:t>
                      </m:r>
                      <m:r>
                        <m:rPr>
                          <m:sty m:val="p"/>
                        </m:rP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Φ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1.35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  <m:r>
                        <m:rPr>
                          <m:sty m:val="p"/>
                        </m:rP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</m:t>
                      </m:r>
                      <m:r>
                        <m:rPr>
                          <m:sty m:val="p"/>
                        </m:rP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×</m:t>
                      </m:r>
                      <m: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0.9115</m:t>
                      </m:r>
                      <m:r>
                        <m:rPr>
                          <m:sty m:val="p"/>
                        </m:rP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  <m:r>
                        <m:rPr>
                          <m:sty m:val="p"/>
                        </m:rP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0.8230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63" name="c2-callout-3"/>
          <p:cNvGrpSpPr/>
          <p:nvPr/>
        </p:nvGrpSpPr>
        <p:grpSpPr>
          <a:xfrm>
            <a:off x="5598795" y="4294822"/>
            <a:ext cx="6059805" cy="1270635"/>
            <a:chOff x="5598795" y="4294822"/>
            <a:chExt cx="6059805" cy="1270635"/>
          </a:xfrm>
        </p:grpSpPr>
        <p:sp>
          <p:nvSpPr>
            <p:cNvPr id="58" name="Rectangle 58"/>
            <p:cNvSpPr/>
            <p:nvPr/>
          </p:nvSpPr>
          <p:spPr>
            <a:xfrm>
              <a:off x="5598795" y="4294822"/>
              <a:ext cx="6059805" cy="1270635"/>
            </a:xfrm>
            <a:prstGeom prst="roundRect">
              <a:avLst>
                <a:gd name="adj" fmla="val 8996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5803583" y="4830128"/>
              <a:ext cx="200026" cy="200026"/>
              <a:chOff x="5803583" y="4830128"/>
              <a:chExt cx="200026" cy="200026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5803583" y="483012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5870258" y="4907915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6106668" y="4841081"/>
              <a:ext cx="53891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精确分布（100 重卷积）算得 0.8097，正态近似 0.8230，差 0.013。</a:t>
              </a:r>
            </a:p>
          </p:txBody>
        </p:sp>
      </p:grpSp>
      <p:grpSp>
        <p:nvGrpSpPr>
          <p:cNvPr id="70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64" name="Rectangle 64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8" name="Group 68"/>
            <p:cNvGrpSpPr/>
            <p:nvPr/>
          </p:nvGrpSpPr>
          <p:grpSpPr>
            <a:xfrm>
              <a:off x="738188" y="6028373"/>
              <a:ext cx="200026" cy="200025"/>
              <a:chOff x="738188" y="6028373"/>
              <a:chExt cx="200026" cy="200025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738188" y="6028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777926" y="6072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812642" y="6183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9" name="TextBox 69"/>
            <p:cNvSpPr txBox="1"/>
            <p:nvPr/>
          </p:nvSpPr>
          <p:spPr>
            <a:xfrm>
              <a:off x="1041273" y="6039326"/>
              <a:ext cx="96610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D(X) 精确值 1.2275，课件取 1.23；z 不取到两位小数时两种方差分别得 0.8242 与 0.8238，和查表的 0.8230 只差千分位。</a:t>
              </a:r>
            </a:p>
          </p:txBody>
        </p:sp>
      </p:grpSp>
      <p:grpSp>
        <p:nvGrpSpPr>
          <p:cNvPr id="7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1" name="TextBox 71"/>
            <p:cNvSpPr txBox="1"/>
            <p:nvPr/>
          </p:nvSpPr>
          <p:spPr>
            <a:xfrm>
              <a:off x="528447" y="6581299"/>
              <a:ext cx="3044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第5章 大数定律及中心极限定理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152227" cy="909257"/>
            <a:chOff x="520446" y="342900"/>
            <a:chExt cx="815222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极限定理 · 中心极限定理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15222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例5 续：同一个概率，切比雪夫只能说“不小于 0.45”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410200" cy="1564958"/>
            <a:chOff x="533400" y="1524000"/>
            <a:chExt cx="5410200" cy="156495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564958"/>
            </a:xfrm>
            <a:prstGeom prst="roundRect">
              <a:avLst>
                <a:gd name="adj" fmla="val 852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29825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80010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6436" y="1763554"/>
              <a:ext cx="637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例5（2）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82496" y="1767364"/>
              <a:ext cx="30730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改用切比雪夫不等式估计同一个概率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8096" y="2119789"/>
              <a:ext cx="4775454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总环数的期望是 915、方差是 123。把区间 900 到 930 写成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 915 为中心、半径 15 的对称区间，就能直接套等价形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式。</a:t>
              </a:r>
            </a:p>
          </p:txBody>
        </p:sp>
      </p:grpSp>
      <p:grpSp>
        <p:nvGrpSpPr>
          <p:cNvPr id="23" name="c1-steps-2"/>
          <p:cNvGrpSpPr/>
          <p:nvPr/>
        </p:nvGrpSpPr>
        <p:grpSpPr>
          <a:xfrm>
            <a:off x="533400" y="3283268"/>
            <a:ext cx="3120238" cy="1169098"/>
            <a:chOff x="533400" y="3283268"/>
            <a:chExt cx="3120238" cy="1169098"/>
          </a:xfrm>
        </p:grpSpPr>
        <p:sp>
          <p:nvSpPr>
            <p:cNvPr id="14" name="Rectangle 14"/>
            <p:cNvSpPr/>
            <p:nvPr/>
          </p:nvSpPr>
          <p:spPr>
            <a:xfrm>
              <a:off x="666750" y="3426142"/>
              <a:ext cx="19050" cy="62103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533400" y="328326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27024" y="335708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533400" y="390429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27024" y="39781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5261" y="331708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改写事件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6404" y="3597592"/>
              <a:ext cx="27072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900 &lt; X &lt; 930 等价于 |X − 915| &lt; 15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5261" y="3937159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代入不等式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6404" y="4217670"/>
              <a:ext cx="14418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下界为 1 − 123/15²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formula99"/>
              <p:cNvSpPr txBox="1">
                <a:spLocks noGrp="1"/>
              </p:cNvSpPr>
              <p:nvPr/>
            </p:nvSpPr>
            <p:spPr>
              <a:xfrm>
                <a:off x="533400" y="4629150"/>
                <a:ext cx="5410200" cy="4629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P</m:t>
                      </m:r>
                      <m:d>
                        <m:dPr>
                          <m:begChr m:val="{"/>
                          <m:sepChr m:val=""/>
                          <m:endChr m:val="}"/>
                          <m:grow m:val="on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sepChr m:val=""/>
                              <m:endChr m:val="|"/>
                              <m:grow m:val="on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915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&lt;</m:t>
                          </m:r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15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≥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f>
                        <m:fPr>
                          <m:type m:val="bar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123</m:t>
                          </m:r>
                        </m:num>
                        <m:den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225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≈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0.4533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51" name="c2-table-1"/>
          <p:cNvGrpSpPr/>
          <p:nvPr/>
        </p:nvGrpSpPr>
        <p:grpSpPr>
          <a:xfrm>
            <a:off x="6248400" y="1524000"/>
            <a:ext cx="5410200" cy="1933575"/>
            <a:chOff x="6248400" y="1524000"/>
            <a:chExt cx="5410200" cy="1933575"/>
          </a:xfrm>
        </p:grpSpPr>
        <p:sp>
          <p:nvSpPr>
            <p:cNvPr id="25" name="Rectangle 25"/>
            <p:cNvSpPr/>
            <p:nvPr/>
          </p:nvSpPr>
          <p:spPr>
            <a:xfrm>
              <a:off x="6248400" y="1524000"/>
              <a:ext cx="5410200" cy="43053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783705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方法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056816" y="165544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用到的信息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705975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653331" y="165544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与真值的差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353747" y="208502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精确卷积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760589" y="2085022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完整分布律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383649" y="2085022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0.8097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573322" y="208502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248400" y="237934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248400" y="2384108"/>
              <a:ext cx="5410200" cy="6438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353747" y="2622232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中心极限定理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760589" y="2515552"/>
              <a:ext cx="12313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期望、方差、独立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同分布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9287828" y="2393632"/>
              <a:ext cx="1171575" cy="62484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383649" y="2622232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0.8230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573322" y="2622232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+0.013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248400" y="302323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353747" y="3159442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切比雪夫不等式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760589" y="3159442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只有期望与方差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9287828" y="3037522"/>
              <a:ext cx="1171575" cy="411480"/>
            </a:xfrm>
            <a:prstGeom prst="rect">
              <a:avLst/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383649" y="3159442"/>
              <a:ext cx="6826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≥ 0.4533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573322" y="3159442"/>
              <a:ext cx="5775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差 0.36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248400" y="1524000"/>
              <a:ext cx="5410200" cy="19335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7650480" y="1524000"/>
              <a:ext cx="9525" cy="19335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9273540" y="1524000"/>
              <a:ext cx="9525" cy="19335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10463212" y="1524000"/>
              <a:ext cx="9525" cy="19335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7" name="c2-card-2"/>
          <p:cNvGrpSpPr/>
          <p:nvPr/>
        </p:nvGrpSpPr>
        <p:grpSpPr>
          <a:xfrm>
            <a:off x="6248400" y="3643312"/>
            <a:ext cx="5410200" cy="1545908"/>
            <a:chOff x="6248400" y="3643312"/>
            <a:chExt cx="5410200" cy="1545908"/>
          </a:xfrm>
        </p:grpSpPr>
        <p:sp>
          <p:nvSpPr>
            <p:cNvPr id="52" name="Rectangle 52"/>
            <p:cNvSpPr/>
            <p:nvPr/>
          </p:nvSpPr>
          <p:spPr>
            <a:xfrm>
              <a:off x="6248400" y="3643312"/>
              <a:ext cx="5410200" cy="1545908"/>
            </a:xfrm>
            <a:prstGeom prst="roundRect">
              <a:avLst>
                <a:gd name="adj" fmla="val 86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6257925" y="3776662"/>
              <a:ext cx="47625" cy="127920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6490335" y="3847148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559842" y="388286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为什么差这么多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483096" y="4220051"/>
              <a:ext cx="470331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切比雪夫不等式要对一切具有该期望方差的分布都成立，只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能照最坏的分布给界；中心极限定理额外用上了“独立同分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布、n 很大”，所以能给出一个几乎贴住真值的近似。</a:t>
              </a:r>
            </a:p>
          </p:txBody>
        </p:sp>
      </p:grpSp>
      <p:grpSp>
        <p:nvGrpSpPr>
          <p:cNvPr id="63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58" name="Rectangle 58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738188" y="6003610"/>
              <a:ext cx="200023" cy="200023"/>
              <a:chOff x="738188" y="6003610"/>
              <a:chExt cx="200023" cy="200023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738188" y="600361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871538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1040511" y="6004084"/>
              <a:ext cx="670509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题目只要一个保底范围时用切比雪夫，要一个接近真值的数时用中心极限定理。</a:t>
              </a: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4" name="TextBox 64"/>
            <p:cNvSpPr txBox="1"/>
            <p:nvPr/>
          </p:nvSpPr>
          <p:spPr>
            <a:xfrm>
              <a:off x="528447" y="6581299"/>
              <a:ext cx="3044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第5章 大数定律及中心极限定理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679746" cy="909257"/>
            <a:chOff x="520446" y="342900"/>
            <a:chExt cx="567974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极限定理 · 中心极限定理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67974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例6：5 吨的车最多装多少箱才不超载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977765" cy="1645920"/>
            <a:chOff x="533400" y="1524000"/>
            <a:chExt cx="4977765" cy="164592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1645920"/>
            </a:xfrm>
            <a:prstGeom prst="roundRect">
              <a:avLst>
                <a:gd name="adj" fmla="val 810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37922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405765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6347" y="1737836"/>
              <a:ext cx="21802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例6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266063" y="174450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反解箱数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5998" y="2061686"/>
              <a:ext cx="4345178" cy="9780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生产线产品成箱包装，每箱重量随机，平均 50 kg、标准差 5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kg，各箱重量相互独立同分布。用最大载重 5 t 的汽车承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运，问每辆车最多装多少箱，才能保证不超载的概率大于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0.9772。已知 Φ(2) = 0.9772。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3334702"/>
            <a:ext cx="4977765" cy="2204085"/>
            <a:chOff x="533400" y="3334702"/>
            <a:chExt cx="4977765" cy="2204085"/>
          </a:xfrm>
        </p:grpSpPr>
        <p:sp>
          <p:nvSpPr>
            <p:cNvPr id="14" name="Rectangle 14"/>
            <p:cNvSpPr/>
            <p:nvPr/>
          </p:nvSpPr>
          <p:spPr>
            <a:xfrm>
              <a:off x="533400" y="3334702"/>
              <a:ext cx="4977765" cy="2204085"/>
            </a:xfrm>
            <a:prstGeom prst="roundRect">
              <a:avLst>
                <a:gd name="adj" fmla="val 605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3468052"/>
              <a:ext cx="47625" cy="193738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52475" y="351567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45147" y="354853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思路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45998" y="3856196"/>
              <a:ext cx="4304538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设装 n 箱，总重量是 n 个独立同分布变量之和，近似服从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N(50n, 25n)。把“不超载”写成总重量不超过 5000，标准化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以后与 Φ(2) 比较，得到关于 n 的不等式。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47141" y="4623435"/>
              <a:ext cx="4351210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n 同时出现在分子和根号里，先令 t = √n 化成 t 的二次不等式，解出 t 再</a:t>
              </a:r>
              <a:br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平方。</a:t>
              </a:r>
            </a:p>
          </p:txBody>
        </p:sp>
      </p:grpSp>
      <p:grpSp>
        <p:nvGrpSpPr>
          <p:cNvPr id="38" name="c2-steps-1"/>
          <p:cNvGrpSpPr/>
          <p:nvPr/>
        </p:nvGrpSpPr>
        <p:grpSpPr>
          <a:xfrm>
            <a:off x="5815965" y="1533525"/>
            <a:ext cx="4382262" cy="2149412"/>
            <a:chOff x="5815965" y="1533525"/>
            <a:chExt cx="4382262" cy="2149412"/>
          </a:xfrm>
        </p:grpSpPr>
        <p:sp>
          <p:nvSpPr>
            <p:cNvPr id="21" name="Rectangle 21"/>
            <p:cNvSpPr/>
            <p:nvPr/>
          </p:nvSpPr>
          <p:spPr>
            <a:xfrm>
              <a:off x="5949315" y="1676400"/>
              <a:ext cx="19050" cy="1659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5815965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90958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5815965" y="208692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909589" y="216074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5815965" y="263937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909589" y="27131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5815965" y="319278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909589" y="326659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228588" y="156448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写出近似分布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229731" y="1818322"/>
              <a:ext cx="26751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总重量的期望 50n，方差 25n，标准差 5√n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228588" y="21169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标准化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229731" y="2371725"/>
              <a:ext cx="27763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P{总重 ≤ 5000} ≈ Φ((5000 − 50n)/(5√n))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228588" y="2670334"/>
              <a:ext cx="10651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 Φ(2) 比较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229731" y="2925128"/>
              <a:ext cx="19047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要求 (5000 − 50n)/(5√n) &gt; 2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228588" y="322278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解不等式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229731" y="3477578"/>
              <a:ext cx="396849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记 t = √n，化成 5t² + t − 500 &lt; 0，得 t &lt; 9.9005，n &lt; 98.02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formula106"/>
              <p:cNvSpPr txBox="1">
                <a:spLocks noGrp="1"/>
              </p:cNvSpPr>
              <p:nvPr/>
            </p:nvSpPr>
            <p:spPr>
              <a:xfrm>
                <a:off x="5815965" y="3844290"/>
                <a:ext cx="5842635" cy="3857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f>
                        <m:fPr>
                          <m:type m:val="bar"/>
                          <m:ctrlP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5000</m:t>
                          </m:r>
                          <m:r>
                            <m:rPr>
                              <m:sty m:val="p"/>
                            </m:rP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50n</m:t>
                          </m:r>
                        </m:num>
                        <m:den>
                          <m: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5</m:t>
                          </m:r>
                          <m:rad>
                            <m:radPr>
                              <m:degHide m:val="on"/>
                              <m:ctrlP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e>
                          </m:rad>
                        </m:den>
                      </m:f>
                      <m:r>
                        <m:rPr>
                          <m:sty m:val="p"/>
                        </m:rP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&gt;</m:t>
                      </m:r>
                      <m: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</m:t>
                      </m:r>
                      <m: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 </m:t>
                      </m:r>
                      <m:r>
                        <m:rPr>
                          <m:sty m:val="p"/>
                        </m:rP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⟹</m:t>
                      </m:r>
                      <m: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 </m:t>
                      </m:r>
                      <m: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n</m:t>
                      </m:r>
                      <m:r>
                        <m:rPr>
                          <m:sty m:val="p"/>
                        </m:rP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&lt;</m:t>
                      </m:r>
                      <m: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98.02</m:t>
                      </m:r>
                      <m:r>
                        <m:rPr>
                          <m:sty m:val="p"/>
                        </m:rP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sSub>
                        <m:e>
                          <m: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max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98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45" name="c2-card-3"/>
          <p:cNvGrpSpPr/>
          <p:nvPr/>
        </p:nvGrpSpPr>
        <p:grpSpPr>
          <a:xfrm>
            <a:off x="5815965" y="4394835"/>
            <a:ext cx="5842635" cy="1143952"/>
            <a:chOff x="5815965" y="4394835"/>
            <a:chExt cx="5842635" cy="1143952"/>
          </a:xfrm>
        </p:grpSpPr>
        <p:sp>
          <p:nvSpPr>
            <p:cNvPr id="40" name="Rectangle 40"/>
            <p:cNvSpPr/>
            <p:nvPr/>
          </p:nvSpPr>
          <p:spPr>
            <a:xfrm>
              <a:off x="5815965" y="4394835"/>
              <a:ext cx="5842635" cy="1143952"/>
            </a:xfrm>
            <a:prstGeom prst="roundRect">
              <a:avLst>
                <a:gd name="adj" fmla="val 116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5825490" y="4528185"/>
              <a:ext cx="47625" cy="87725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035040" y="457581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126759" y="460867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028563" y="4916329"/>
              <a:ext cx="506653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原课件末行写作“故 n &lt; 98”。临界值是 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98.02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：n = 98 时概率 0.9783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仍大于 0.9772，n = 99 时只有 0.8426，所以答案是 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最多装 98 箱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52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46" name="Rectangle 46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726129" y="6024681"/>
              <a:ext cx="224134" cy="192560"/>
              <a:chOff x="726129" y="6024681"/>
              <a:chExt cx="224134" cy="192560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838200" y="609504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726129" y="602468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838200" y="617283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1041273" y="6039326"/>
              <a:ext cx="667287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这类反解题最后一步要把临界值代回去验算，不要把“小于 98.02”直接写成“小于 98”。</a:t>
              </a:r>
            </a:p>
          </p:txBody>
        </p:sp>
      </p:grpSp>
      <p:grpSp>
        <p:nvGrpSpPr>
          <p:cNvPr id="5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3" name="TextBox 53"/>
            <p:cNvSpPr txBox="1"/>
            <p:nvPr/>
          </p:nvSpPr>
          <p:spPr>
            <a:xfrm>
              <a:off x="528447" y="6581299"/>
              <a:ext cx="3044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第5章 大数定律及中心极限定理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776335" cy="909257"/>
            <a:chOff x="520446" y="342900"/>
            <a:chExt cx="777633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极限定理 · 中心极限定理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77633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棣莫弗-拉普拉斯定理：二项分布的极限是正态分布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card-1"/>
          <p:cNvGrpSpPr/>
          <p:nvPr/>
        </p:nvGrpSpPr>
        <p:grpSpPr>
          <a:xfrm>
            <a:off x="533400" y="1524000"/>
            <a:ext cx="5626418" cy="2672715"/>
            <a:chOff x="533400" y="1524000"/>
            <a:chExt cx="5626418" cy="267271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2672715"/>
            </a:xfrm>
            <a:prstGeom prst="roundRect">
              <a:avLst>
                <a:gd name="adj" fmla="val 498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40601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554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定理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76744" y="1767364"/>
              <a:ext cx="401395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棣莫弗-拉普拉斯（De Moivre-Laplace）定理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8096" y="2119789"/>
              <a:ext cx="489267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设随机变量 Yₙ 服从参数为 n、p（0 &lt; p &lt; 1）的二项分布，则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对任意实数 x 有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111"/>
                <p:cNvSpPr txBox="1">
                  <a:spLocks noGrp="1"/>
                </p:cNvSpPr>
                <p:nvPr/>
              </p:nvSpPr>
              <p:spPr>
                <a:xfrm>
                  <a:off x="775335" y="2687002"/>
                  <a:ext cx="5180648" cy="53149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func>
                          <m:funcPr/>
                          <m:fName>
                            <m:limLow>
                              <m:limLowPr/>
                              <m:e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lim</m:t>
                                </m:r>
                              </m:e>
                              <m:lim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→∞</m:t>
                                </m:r>
                              </m:lim>
                            </m:limLow>
                          </m:fName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e>
                        </m:func>
                        <m:d>
                          <m:dPr>
                            <m:begChr m:val="{"/>
                            <m:sepChr m:val=""/>
                            <m:endChr m:val="}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sSub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Y</m:t>
                                    </m:r>
                                  </m:e>
                                  <m:sub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np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np</m:t>
                                    </m:r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−</m:t>
                                        </m:r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p</m:t>
                                        </m:r>
                                      </m:e>
                                    </m:d>
                                  </m:e>
                                </m:rad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≤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=Φ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4" name="TextBox 14"/>
            <p:cNvSpPr txBox="1"/>
            <p:nvPr/>
          </p:nvSpPr>
          <p:spPr>
            <a:xfrm>
              <a:off x="768096" y="3335179"/>
              <a:ext cx="443984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于是 n 充分大时可以把二项分布当成正态分布来算。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formula112"/>
                <p:cNvSpPr txBox="1">
                  <a:spLocks noGrp="1"/>
                </p:cNvSpPr>
                <p:nvPr/>
              </p:nvSpPr>
              <p:spPr>
                <a:xfrm>
                  <a:off x="775335" y="3630930"/>
                  <a:ext cx="5180648" cy="342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b>
                        </m:sSub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 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∼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 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N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np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 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np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</m:e>
                            </m:d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22" name="c1-callout-2"/>
          <p:cNvGrpSpPr/>
          <p:nvPr/>
        </p:nvGrpSpPr>
        <p:grpSpPr>
          <a:xfrm>
            <a:off x="533400" y="4381500"/>
            <a:ext cx="5626418" cy="935355"/>
            <a:chOff x="533400" y="4381500"/>
            <a:chExt cx="5626418" cy="935355"/>
          </a:xfrm>
        </p:grpSpPr>
        <p:sp>
          <p:nvSpPr>
            <p:cNvPr id="17" name="Rectangle 17"/>
            <p:cNvSpPr/>
            <p:nvPr/>
          </p:nvSpPr>
          <p:spPr>
            <a:xfrm>
              <a:off x="533400" y="4381500"/>
              <a:ext cx="5626418" cy="935355"/>
            </a:xfrm>
            <a:prstGeom prst="roundRect">
              <a:avLst>
                <a:gd name="adj" fmla="val 12220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738188" y="4750120"/>
              <a:ext cx="200023" cy="200023"/>
              <a:chOff x="738188" y="4750120"/>
              <a:chExt cx="200023" cy="200023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738188" y="475012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871538" y="481679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1040511" y="4619149"/>
              <a:ext cx="4568063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它是独立同分布中心极限定理在 0-1 分布上的特例，不是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一条独立的新定理。</a:t>
              </a:r>
            </a:p>
          </p:txBody>
        </p:sp>
      </p:grpSp>
      <p:grpSp>
        <p:nvGrpSpPr>
          <p:cNvPr id="36" name="c2-steps-1"/>
          <p:cNvGrpSpPr/>
          <p:nvPr/>
        </p:nvGrpSpPr>
        <p:grpSpPr>
          <a:xfrm>
            <a:off x="6464618" y="1533525"/>
            <a:ext cx="5061509" cy="1790128"/>
            <a:chOff x="6464618" y="1533525"/>
            <a:chExt cx="5061509" cy="1790128"/>
          </a:xfrm>
        </p:grpSpPr>
        <p:sp>
          <p:nvSpPr>
            <p:cNvPr id="23" name="Rectangle 23"/>
            <p:cNvSpPr/>
            <p:nvPr/>
          </p:nvSpPr>
          <p:spPr>
            <a:xfrm>
              <a:off x="6597968" y="1676400"/>
              <a:ext cx="19050" cy="1242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6464618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558241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6464618" y="215455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58241" y="22283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6464618" y="277558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558241" y="28494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876479" y="1566386"/>
              <a:ext cx="165272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拆成 n 个 0-1 变量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877622" y="1846898"/>
              <a:ext cx="42260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Yₙ = X₁ + X₂ + … + Xₙ，Xₖ 取 1 表示第 k 次试验中 A 发生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876479" y="2187416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算出期望方差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877622" y="2467927"/>
              <a:ext cx="30473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E(Xₖ) = p，D(Xₖ) = p(1 − p)，与 k 无关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876479" y="280844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套用定理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877622" y="3088957"/>
              <a:ext cx="464850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 n 个变量独立同分布且方差有限，直接代入列维-林德伯格定理</a:t>
              </a:r>
            </a:p>
          </p:txBody>
        </p:sp>
      </p:grpSp>
      <p:grpSp>
        <p:nvGrpSpPr>
          <p:cNvPr id="42" name="c2-card-2"/>
          <p:cNvGrpSpPr/>
          <p:nvPr/>
        </p:nvGrpSpPr>
        <p:grpSpPr>
          <a:xfrm>
            <a:off x="6464618" y="3499485"/>
            <a:ext cx="5193982" cy="1817370"/>
            <a:chOff x="6464618" y="3499485"/>
            <a:chExt cx="5193982" cy="1817370"/>
          </a:xfrm>
        </p:grpSpPr>
        <p:sp>
          <p:nvSpPr>
            <p:cNvPr id="37" name="Rectangle 37"/>
            <p:cNvSpPr/>
            <p:nvPr/>
          </p:nvSpPr>
          <p:spPr>
            <a:xfrm>
              <a:off x="6464618" y="3499485"/>
              <a:ext cx="5193982" cy="1817370"/>
            </a:xfrm>
            <a:prstGeom prst="roundRect">
              <a:avLst>
                <a:gd name="adj" fmla="val 73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74142" y="3632835"/>
              <a:ext cx="47625" cy="155067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706552" y="370332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797713" y="373903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历史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699314" y="4076224"/>
              <a:ext cx="4531995" cy="10930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1733 年棣莫弗针对二项分布的近似计算最早勾画出正态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曲线；1770 年拉普拉斯把它推广成“二项分布的极限分布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是正态分布”；十九世纪统计学家才建立起一般的中心极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限定理。</a:t>
              </a:r>
            </a:p>
          </p:txBody>
        </p:sp>
      </p:grpSp>
      <p:grpSp>
        <p:nvGrpSpPr>
          <p:cNvPr id="49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43" name="Rectangle 43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38188" y="6003608"/>
              <a:ext cx="200026" cy="200025"/>
              <a:chOff x="738188" y="6003608"/>
              <a:chExt cx="200026" cy="200025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738188" y="600360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777926" y="604805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12642" y="615918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040511" y="6004084"/>
              <a:ext cx="850200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定理要求 p 是固定值且 n 很大，实用判据是 np(1 − p) 不太小，一般要求 np 与 n(1 − p) 都大于 5。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3044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第5章 大数定律及中心极限定理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04285" cy="909257"/>
            <a:chOff x="520446" y="342900"/>
            <a:chExt cx="75042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极限定理 · 中心极限定理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042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二项分布的两种近似：p 小用泊松，p 不小用正态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6880860" cy="293370"/>
            <a:chOff x="525780" y="1548765"/>
            <a:chExt cx="688086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68808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两条定理指向同一个二项分布，适用范围却互补，选错了误差会大到没法用。</a:t>
              </a:r>
            </a:p>
          </p:txBody>
        </p:sp>
      </p:grpSp>
      <p:grpSp>
        <p:nvGrpSpPr>
          <p:cNvPr id="24" name="c1-table-1"/>
          <p:cNvGrpSpPr/>
          <p:nvPr/>
        </p:nvGrpSpPr>
        <p:grpSpPr>
          <a:xfrm>
            <a:off x="533400" y="1954530"/>
            <a:ext cx="5410200" cy="1486853"/>
            <a:chOff x="533400" y="1954530"/>
            <a:chExt cx="5410200" cy="1486853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5410200" cy="424815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3821" y="208311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近似方式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747391" y="208311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适用条件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802886" y="208311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近似分布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35889" y="250698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泊松定理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934146" y="2506980"/>
              <a:ext cx="18537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很大而 p 很小，np 适中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423029" y="2506980"/>
              <a:ext cx="11603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泊松分布 P(np)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79844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803208"/>
              <a:ext cx="5410200" cy="6381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5889" y="2931795"/>
              <a:ext cx="1014603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棣莫弗-拉普拉</a:t>
              </a:r>
              <a:br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斯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934146" y="2931795"/>
              <a:ext cx="18409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很大且 p 不接近 0 或 1，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np(1 − p) 不太小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423029" y="2931795"/>
              <a:ext cx="108661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正态分布 N(np,</a:t>
              </a:r>
              <a:br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np(1−p))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1954530"/>
              <a:ext cx="5410200" cy="14868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1826895" y="1954530"/>
              <a:ext cx="9525" cy="1486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4315778" y="1954530"/>
              <a:ext cx="9525" cy="1486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7" name="c1-table-2"/>
          <p:cNvGrpSpPr/>
          <p:nvPr/>
        </p:nvGrpSpPr>
        <p:grpSpPr>
          <a:xfrm>
            <a:off x="528066" y="3621405"/>
            <a:ext cx="5415534" cy="1979866"/>
            <a:chOff x="528066" y="3621405"/>
            <a:chExt cx="5415534" cy="1979866"/>
          </a:xfrm>
        </p:grpSpPr>
        <p:sp>
          <p:nvSpPr>
            <p:cNvPr id="25" name="Rectangle 25"/>
            <p:cNvSpPr/>
            <p:nvPr/>
          </p:nvSpPr>
          <p:spPr>
            <a:xfrm>
              <a:off x="533400" y="3621405"/>
              <a:ext cx="5410200" cy="424815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177290" y="374999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算例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557653" y="3749992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精确值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747516" y="374999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泊松近似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992434" y="374999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正态近似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35889" y="4173855"/>
              <a:ext cx="1180719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B(100, 0.02)，</a:t>
              </a:r>
              <a:br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P{X ≤ 3}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258949" y="4280535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0.85896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557207" y="4280535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0.85712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802124" y="4280535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0.85801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467868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33400" y="4683442"/>
              <a:ext cx="5410200" cy="6381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35889" y="4812030"/>
              <a:ext cx="1092708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B(100, 0.5)，</a:t>
              </a:r>
              <a:br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P{X ≤ 45}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258949" y="4918710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0.18410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3464242" y="4692968"/>
              <a:ext cx="1224915" cy="619125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3557207" y="4918710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0.26687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4709160" y="4692968"/>
              <a:ext cx="1224915" cy="61912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4802124" y="4918710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0.18406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33400" y="3621405"/>
              <a:ext cx="5410200" cy="170021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2151698" y="3621405"/>
              <a:ext cx="9525" cy="170021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3449955" y="3621405"/>
              <a:ext cx="9525" cy="170021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4694872" y="3621405"/>
              <a:ext cx="9525" cy="170021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28066" y="5395912"/>
              <a:ext cx="35444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两种近似的实测误差（精确值由二项分布逐项求和得到）</a:t>
              </a:r>
            </a:p>
          </p:txBody>
        </p:sp>
      </p:grpSp>
      <p:grpSp>
        <p:nvGrpSpPr>
          <p:cNvPr id="54" name="c2-card-1"/>
          <p:cNvGrpSpPr/>
          <p:nvPr/>
        </p:nvGrpSpPr>
        <p:grpSpPr>
          <a:xfrm>
            <a:off x="6248400" y="1954530"/>
            <a:ext cx="5410200" cy="2022158"/>
            <a:chOff x="6248400" y="1954530"/>
            <a:chExt cx="5410200" cy="2022158"/>
          </a:xfrm>
        </p:grpSpPr>
        <p:sp>
          <p:nvSpPr>
            <p:cNvPr id="48" name="Rectangle 48"/>
            <p:cNvSpPr/>
            <p:nvPr/>
          </p:nvSpPr>
          <p:spPr>
            <a:xfrm>
              <a:off x="6248400" y="1954530"/>
              <a:ext cx="5410200" cy="2022158"/>
            </a:xfrm>
            <a:prstGeom prst="roundRect">
              <a:avLst>
                <a:gd name="adj" fmla="val 65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6257925" y="2087880"/>
              <a:ext cx="47625" cy="175545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6484620" y="2152650"/>
              <a:ext cx="247650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516052" y="2186940"/>
              <a:ext cx="24136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离散变量用连续分布算，端点要补半格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477381" y="2513171"/>
              <a:ext cx="4640199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二项分布只在整数点取值，正态分布是连续的。把 P{a ≤ X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≤ b} 直接换成 Φ 的差值时，两端各丢掉半格的概率。把端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点改成 a − 0.5 与 b + 0.5，近似会明显变准。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478524" y="3369945"/>
              <a:ext cx="473659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教材和考试通常不做这个修正，本讲义的例题也按课件写法不修正，但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要知道误差从哪儿来。</a:t>
              </a:r>
            </a:p>
          </p:txBody>
        </p:sp>
      </p:grpSp>
      <p:grpSp>
        <p:nvGrpSpPr>
          <p:cNvPr id="60" name="c2-card-2"/>
          <p:cNvGrpSpPr/>
          <p:nvPr/>
        </p:nvGrpSpPr>
        <p:grpSpPr>
          <a:xfrm>
            <a:off x="6248400" y="4156710"/>
            <a:ext cx="5410200" cy="1522095"/>
            <a:chOff x="6248400" y="4156710"/>
            <a:chExt cx="5410200" cy="1522095"/>
          </a:xfrm>
        </p:grpSpPr>
        <p:sp>
          <p:nvSpPr>
            <p:cNvPr id="55" name="Rectangle 55"/>
            <p:cNvSpPr/>
            <p:nvPr/>
          </p:nvSpPr>
          <p:spPr>
            <a:xfrm>
              <a:off x="6248400" y="4156710"/>
              <a:ext cx="5410200" cy="1522095"/>
            </a:xfrm>
            <a:prstGeom prst="roundRect">
              <a:avLst>
                <a:gd name="adj" fmla="val 876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6257925" y="4290060"/>
              <a:ext cx="47625" cy="125539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6484620" y="4354830"/>
              <a:ext cx="10096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560058" y="438912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一个具体的数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477381" y="4716304"/>
              <a:ext cx="4649216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下一页的例题里，P{144 ≤ X ≤ 160} 的精确值是 0.8150。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不修正的正态近似给 0.7849，偏小 0.030；把端点改成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143.5 与 160.5 之后给 0.8126，只差 0.002。</a:t>
              </a:r>
            </a:p>
          </p:txBody>
        </p:sp>
      </p:grpSp>
      <p:grpSp>
        <p:nvGrpSpPr>
          <p:cNvPr id="66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61" name="Rectangle 61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738188" y="6011230"/>
              <a:ext cx="200023" cy="200023"/>
              <a:chOff x="738188" y="6011230"/>
              <a:chExt cx="200023" cy="200023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738188" y="601123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871538" y="60779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5" name="TextBox 65"/>
            <p:cNvSpPr txBox="1"/>
            <p:nvPr/>
          </p:nvSpPr>
          <p:spPr>
            <a:xfrm>
              <a:off x="1040511" y="6011704"/>
              <a:ext cx="952470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判断用哪种近似看 np(1 − p)：它很小说明分布偏在一头，该用泊松；它较大说明分布已经对称展开，该用正态。</a:t>
              </a:r>
            </a:p>
          </p:txBody>
        </p:sp>
      </p:grpSp>
      <p:grpSp>
        <p:nvGrpSpPr>
          <p:cNvPr id="6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7" name="TextBox 67"/>
            <p:cNvSpPr txBox="1"/>
            <p:nvPr/>
          </p:nvSpPr>
          <p:spPr>
            <a:xfrm>
              <a:off x="528447" y="6581299"/>
              <a:ext cx="3044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第5章 大数定律及中心极限定理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698238" cy="909257"/>
            <a:chOff x="520446" y="342900"/>
            <a:chExt cx="769823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极限定理 · 中心极限定理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69823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例7：200 台机器中有 144 到 160 台在工作的概率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760595" cy="1741170"/>
            <a:chOff x="533400" y="1524000"/>
            <a:chExt cx="4760595" cy="174117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1741170"/>
            </a:xfrm>
            <a:prstGeom prst="roundRect">
              <a:avLst>
                <a:gd name="adj" fmla="val 765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47447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420052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6630" y="1750695"/>
              <a:ext cx="2336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例7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291400" y="1756410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二项概率改用正态表来算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7047" y="2090738"/>
              <a:ext cx="4171378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某工厂有 200 台同类型机器，每台机器的实际工作时间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占全部工作时间的 75%，各台机器是否工作相互独立。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求任意时刻有 144 至 160 台机器正在工作的概率。已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知 Φ(1.63) = 0.9484、Φ(0.98) = 0.8365。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3440430"/>
            <a:ext cx="4760595" cy="2159318"/>
            <a:chOff x="533400" y="3440430"/>
            <a:chExt cx="4760595" cy="2159318"/>
          </a:xfrm>
        </p:grpSpPr>
        <p:sp>
          <p:nvSpPr>
            <p:cNvPr id="14" name="Rectangle 14"/>
            <p:cNvSpPr/>
            <p:nvPr/>
          </p:nvSpPr>
          <p:spPr>
            <a:xfrm>
              <a:off x="533400" y="3440430"/>
              <a:ext cx="4760595" cy="2159318"/>
            </a:xfrm>
            <a:prstGeom prst="roundRect">
              <a:avLst>
                <a:gd name="adj" fmla="val 617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3573780"/>
              <a:ext cx="47625" cy="1892618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63905" y="363283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55345" y="366712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思路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7047" y="3989070"/>
              <a:ext cx="411994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正在工作的台数 X 服从 B(200, 0.75)。逐项求和要算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 项组合数，改用棣莫弗-拉普拉斯定理，把两个端点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标准化后查一次表即可。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58190" y="4802029"/>
              <a:ext cx="4122166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先验条件：np = 150、n(1 − p) = 50，都远大于 5，可以用正态近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似。</a:t>
              </a:r>
            </a:p>
          </p:txBody>
        </p:sp>
      </p:grpSp>
      <p:grpSp>
        <p:nvGrpSpPr>
          <p:cNvPr id="34" name="c2-steps-1"/>
          <p:cNvGrpSpPr/>
          <p:nvPr/>
        </p:nvGrpSpPr>
        <p:grpSpPr>
          <a:xfrm>
            <a:off x="5598795" y="1533525"/>
            <a:ext cx="4337411" cy="1693069"/>
            <a:chOff x="5598795" y="1533525"/>
            <a:chExt cx="4337411" cy="1693069"/>
          </a:xfrm>
        </p:grpSpPr>
        <p:sp>
          <p:nvSpPr>
            <p:cNvPr id="21" name="Rectangle 21"/>
            <p:cNvSpPr/>
            <p:nvPr/>
          </p:nvSpPr>
          <p:spPr>
            <a:xfrm>
              <a:off x="5732145" y="1676400"/>
              <a:ext cx="19050" cy="1173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5598795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69241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5598795" y="212026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692419" y="21940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5598795" y="270700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692419" y="27808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011037" y="1564957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写出参数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012180" y="1833086"/>
              <a:ext cx="35772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np = 150，np(1 − p) = 37.5，标准差 √37.5 ≈ 6.124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011037" y="215265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标准化端点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012180" y="2419826"/>
              <a:ext cx="3924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(160 − 150)/6.124 = 1.63，(144 − 150)/6.124 = −0.98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011037" y="273939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查表相减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012180" y="3006566"/>
              <a:ext cx="33728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Φ(1.63) − Φ(−0.98) = 0.9484 − (1 − 0.8365)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formula117"/>
              <p:cNvSpPr txBox="1">
                <a:spLocks noGrp="1"/>
              </p:cNvSpPr>
              <p:nvPr/>
            </p:nvSpPr>
            <p:spPr>
              <a:xfrm>
                <a:off x="5598795" y="3395662"/>
                <a:ext cx="605980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P</m:t>
                      </m:r>
                      <m:d>
                        <m:dPr>
                          <m:begChr m:val="{"/>
                          <m:sepChr m:val=""/>
                          <m:endChr m:val="}"/>
                          <m:grow m:val="on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144</m:t>
                          </m:r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≤</m:t>
                          </m:r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≤</m:t>
                          </m:r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160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≈Φ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1.63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−Φ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0.98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0.9484</m:t>
                      </m:r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0.1635</m:t>
                      </m:r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0.7849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41" name="c2-card-3"/>
          <p:cNvGrpSpPr/>
          <p:nvPr/>
        </p:nvGrpSpPr>
        <p:grpSpPr>
          <a:xfrm>
            <a:off x="5598795" y="3875722"/>
            <a:ext cx="6059805" cy="1724025"/>
            <a:chOff x="5598795" y="3875722"/>
            <a:chExt cx="6059805" cy="1724025"/>
          </a:xfrm>
        </p:grpSpPr>
        <p:sp>
          <p:nvSpPr>
            <p:cNvPr id="36" name="Rectangle 36"/>
            <p:cNvSpPr/>
            <p:nvPr/>
          </p:nvSpPr>
          <p:spPr>
            <a:xfrm>
              <a:off x="5598795" y="3875722"/>
              <a:ext cx="6059805" cy="1724025"/>
            </a:xfrm>
            <a:prstGeom prst="roundRect">
              <a:avLst>
                <a:gd name="adj" fmla="val 773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5608320" y="4009072"/>
              <a:ext cx="47625" cy="145732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5829300" y="4068128"/>
              <a:ext cx="114300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900738" y="4102418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与精确值的差距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822442" y="4424362"/>
              <a:ext cx="5345811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二项分布逐项求和的精确值是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0.8150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。不修正的近似 0.7849 偏小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0.030，是本讲所有例题中误差最大的一个，原因就是上一页说的半格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问题（区间 [144, 160] 只有约 2.6 个标准差宽，两端各丢的半格占比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不小）。</a:t>
              </a:r>
            </a:p>
          </p:txBody>
        </p:sp>
      </p:grpSp>
      <p:grpSp>
        <p:nvGrpSpPr>
          <p:cNvPr id="48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42" name="Rectangle 42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726129" y="6014203"/>
              <a:ext cx="224134" cy="192560"/>
              <a:chOff x="726129" y="6014203"/>
              <a:chExt cx="224134" cy="192560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838200" y="608457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726129" y="601420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38200" y="616235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1040892" y="6023610"/>
              <a:ext cx="50321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Φ(−x) 要写成 1 − Φ(x) 再查表，正态分布表只列 x ≥ 0 的值。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3044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第5章 大数定律及中心极限定理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755738" cy="909257"/>
            <a:chOff x="520446" y="342900"/>
            <a:chExt cx="775573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极限定理 · 中心极限定理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75573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例8：要调查多少人，才能把误差控制在 0.01 以内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977765" cy="1645920"/>
            <a:chOff x="533400" y="1524000"/>
            <a:chExt cx="4977765" cy="164592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1645920"/>
            </a:xfrm>
            <a:prstGeom prst="roundRect">
              <a:avLst>
                <a:gd name="adj" fmla="val 810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37922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405765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6347" y="1737836"/>
              <a:ext cx="21802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例8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266063" y="174450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反解样本量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5998" y="2061686"/>
              <a:ext cx="4304538" cy="9780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某单位调查人们对一项决议的态度，每人赞成的概率为 p（0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&lt; p &lt; 1）且未知，各人赞成与否相互独立。问要调查多少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人，才能使赞成的人数频率作为 p 的近似值时，误差不超过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0.01 的概率达到 0.95 以上。</a:t>
              </a:r>
            </a:p>
          </p:txBody>
        </p:sp>
      </p:grpSp>
      <p:grpSp>
        <p:nvGrpSpPr>
          <p:cNvPr id="19" name="c1-card-2"/>
          <p:cNvGrpSpPr/>
          <p:nvPr/>
        </p:nvGrpSpPr>
        <p:grpSpPr>
          <a:xfrm>
            <a:off x="533400" y="3334702"/>
            <a:ext cx="4977765" cy="1386840"/>
            <a:chOff x="533400" y="3334702"/>
            <a:chExt cx="4977765" cy="1386840"/>
          </a:xfrm>
        </p:grpSpPr>
        <p:sp>
          <p:nvSpPr>
            <p:cNvPr id="14" name="Rectangle 14"/>
            <p:cNvSpPr/>
            <p:nvPr/>
          </p:nvSpPr>
          <p:spPr>
            <a:xfrm>
              <a:off x="533400" y="3334702"/>
              <a:ext cx="4977765" cy="1386840"/>
            </a:xfrm>
            <a:prstGeom prst="roundRect">
              <a:avLst>
                <a:gd name="adj" fmla="val 961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3468052"/>
              <a:ext cx="47625" cy="112014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52475" y="351567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45147" y="354853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思路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45998" y="3856196"/>
              <a:ext cx="4345178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赞成人数服从 B(n, p)，把“频率与 p 相差不超过 0.01”标准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化。不等式里还留着未知的 p，用 p(1 − p) ≤ 1/4 放大掉，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就得到与 p 无关的样本量。</a:t>
              </a:r>
            </a:p>
          </p:txBody>
        </p:sp>
      </p:grpSp>
      <p:grpSp>
        <p:nvGrpSpPr>
          <p:cNvPr id="26" name="c1-callout-3"/>
          <p:cNvGrpSpPr/>
          <p:nvPr/>
        </p:nvGrpSpPr>
        <p:grpSpPr>
          <a:xfrm>
            <a:off x="533400" y="4886325"/>
            <a:ext cx="4977765" cy="702945"/>
            <a:chOff x="533400" y="4886325"/>
            <a:chExt cx="4977765" cy="702945"/>
          </a:xfrm>
        </p:grpSpPr>
        <p:sp>
          <p:nvSpPr>
            <p:cNvPr id="20" name="Rectangle 20"/>
            <p:cNvSpPr/>
            <p:nvPr/>
          </p:nvSpPr>
          <p:spPr>
            <a:xfrm>
              <a:off x="533400" y="4886325"/>
              <a:ext cx="4977765" cy="702945"/>
            </a:xfrm>
            <a:prstGeom prst="roundRect">
              <a:avLst>
                <a:gd name="adj" fmla="val 1626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726129" y="5134093"/>
              <a:ext cx="224134" cy="192560"/>
              <a:chOff x="726129" y="5134093"/>
              <a:chExt cx="224134" cy="19256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838200" y="520446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726129" y="513409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838200" y="52822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1041273" y="5031581"/>
              <a:ext cx="404444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p 未知时取最坏情形 p = 1/2，这样得到的 n 对一切 p 都</a:t>
              </a:r>
              <a:br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够用。</a:t>
              </a:r>
            </a:p>
          </p:txBody>
        </p:sp>
      </p:grpSp>
      <p:grpSp>
        <p:nvGrpSpPr>
          <p:cNvPr id="44" name="c2-steps-1"/>
          <p:cNvGrpSpPr/>
          <p:nvPr/>
        </p:nvGrpSpPr>
        <p:grpSpPr>
          <a:xfrm>
            <a:off x="5815965" y="1533525"/>
            <a:ext cx="3803256" cy="2149412"/>
            <a:chOff x="5815965" y="1533525"/>
            <a:chExt cx="3803256" cy="2149412"/>
          </a:xfrm>
        </p:grpSpPr>
        <p:sp>
          <p:nvSpPr>
            <p:cNvPr id="27" name="Rectangle 27"/>
            <p:cNvSpPr/>
            <p:nvPr/>
          </p:nvSpPr>
          <p:spPr>
            <a:xfrm>
              <a:off x="5949315" y="1676400"/>
              <a:ext cx="19050" cy="1659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5815965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90958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5815965" y="208692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909589" y="216074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5815965" y="263937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909589" y="27131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5815965" y="319278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909589" y="326659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228588" y="156448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标准化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229731" y="1818322"/>
              <a:ext cx="338895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|频率 − p| ≤ 0.01 两边同乘 n，再除以 √(np(1−p))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228588" y="2116931"/>
              <a:ext cx="5200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化成 Φ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229731" y="2371725"/>
              <a:ext cx="30058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概率写成 2Φ(0.01√n / √(p(1−p))) − 1 ≥ 0.95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228588" y="267033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查分位点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229731" y="2925128"/>
              <a:ext cx="33894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Φ 的自变量要不小于 1.96（因为 Φ(1.96) = 0.975）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228588" y="3222784"/>
              <a:ext cx="6836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放大掉 p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229731" y="3477578"/>
              <a:ext cx="23146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 p(1 − p) ≤ 1/4 得 n ≥ 196² × 1/4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formula124"/>
              <p:cNvSpPr txBox="1">
                <a:spLocks noGrp="1"/>
              </p:cNvSpPr>
              <p:nvPr/>
            </p:nvSpPr>
            <p:spPr>
              <a:xfrm>
                <a:off x="5815965" y="3844290"/>
                <a:ext cx="5842635" cy="36004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f>
                        <m:fPr>
                          <m:type m:val="bar"/>
                          <m:ctrlP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0.01</m:t>
                          </m:r>
                          <m:rad>
                            <m:radPr>
                              <m:degHide m:val="on"/>
                              <m:ctrlP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e>
                          </m:ra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p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0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0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0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0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p</m:t>
                                  </m:r>
                                </m:e>
                              </m:d>
                            </m:e>
                          </m:rad>
                        </m:den>
                      </m:f>
                      <m:r>
                        <m:rPr>
                          <m:sty m:val="p"/>
                        </m:rPr>
                        <a:rPr lang="zh-CN" sz="10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≥</m:t>
                      </m:r>
                      <m:r>
                        <a:rPr lang="zh-CN" sz="10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1.96</m:t>
                      </m:r>
                      <m:r>
                        <a:rPr lang="zh-CN" sz="10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 </m:t>
                      </m:r>
                      <m:r>
                        <m:rPr>
                          <m:sty m:val="p"/>
                        </m:rPr>
                        <a:rPr lang="zh-CN" sz="10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⟹</m:t>
                      </m:r>
                      <m:r>
                        <a:rPr lang="zh-CN" sz="10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 </m:t>
                      </m:r>
                      <m:r>
                        <a:rPr lang="zh-CN" sz="10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n</m:t>
                      </m:r>
                      <m:r>
                        <m:rPr>
                          <m:sty m:val="p"/>
                        </m:rPr>
                        <a:rPr lang="zh-CN" sz="10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≥</m:t>
                      </m:r>
                      <m:r>
                        <a:rPr lang="zh-CN" sz="10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19</m:t>
                      </m:r>
                      <m:sSup>
                        <m:e>
                          <m: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6</m:t>
                          </m:r>
                        </m:e>
                        <m:sup>
                          <m: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r>
                        <a:rPr lang="zh-CN" sz="10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p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</m:e>
                      </m:d>
                      <m:r>
                        <a:rPr lang="zh-CN" sz="10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 </m:t>
                      </m:r>
                      <m:r>
                        <m:rPr>
                          <m:sty m:val="p"/>
                        </m:rPr>
                        <a:rPr lang="zh-CN" sz="10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⟹</m:t>
                      </m:r>
                      <m:r>
                        <a:rPr lang="zh-CN" sz="10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 </m:t>
                      </m:r>
                      <m:r>
                        <a:rPr lang="zh-CN" sz="10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n</m:t>
                      </m:r>
                      <m:r>
                        <m:rPr>
                          <m:sty m:val="p"/>
                        </m:rPr>
                        <a:rPr lang="zh-CN" sz="10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≥</m:t>
                      </m:r>
                      <m:r>
                        <a:rPr lang="zh-CN" sz="10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9604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51" name="c2-callout-3"/>
          <p:cNvGrpSpPr/>
          <p:nvPr/>
        </p:nvGrpSpPr>
        <p:grpSpPr>
          <a:xfrm>
            <a:off x="5815965" y="4369118"/>
            <a:ext cx="5842635" cy="1220152"/>
            <a:chOff x="5815965" y="4369118"/>
            <a:chExt cx="5842635" cy="1220152"/>
          </a:xfrm>
        </p:grpSpPr>
        <p:sp>
          <p:nvSpPr>
            <p:cNvPr id="46" name="Rectangle 46"/>
            <p:cNvSpPr/>
            <p:nvPr/>
          </p:nvSpPr>
          <p:spPr>
            <a:xfrm>
              <a:off x="5815965" y="4369118"/>
              <a:ext cx="5842635" cy="1220152"/>
            </a:xfrm>
            <a:prstGeom prst="roundRect">
              <a:avLst>
                <a:gd name="adj" fmla="val 9368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6020753" y="4879658"/>
              <a:ext cx="200026" cy="200026"/>
              <a:chOff x="6020753" y="4879658"/>
              <a:chExt cx="200026" cy="200026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6020753" y="487965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6087428" y="4957445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6323838" y="4772501"/>
              <a:ext cx="445897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答案 9604 人。代回去验算：n = 9604、p = 0.5 时概率恰好是</a:t>
              </a:r>
              <a:br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0.9500。</a:t>
              </a:r>
            </a:p>
          </p:txBody>
        </p:sp>
      </p:grpSp>
      <p:grpSp>
        <p:nvGrpSpPr>
          <p:cNvPr id="58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52" name="Rectangle 52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738188" y="6028373"/>
              <a:ext cx="200026" cy="200025"/>
              <a:chOff x="738188" y="6028373"/>
              <a:chExt cx="200026" cy="200025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738188" y="6028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777926" y="6072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812642" y="6183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1041273" y="6039326"/>
              <a:ext cx="71984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把误差从 0.01 缩到 0.005，样本量要变成 4 倍；精度与 √n 成反比这一点在这里看得最清楚。</a:t>
              </a:r>
            </a:p>
          </p:txBody>
        </p:sp>
      </p:grpSp>
      <p:grpSp>
        <p:nvGrpSpPr>
          <p:cNvPr id="6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9" name="TextBox 59"/>
            <p:cNvSpPr txBox="1"/>
            <p:nvPr/>
          </p:nvSpPr>
          <p:spPr>
            <a:xfrm>
              <a:off x="528447" y="6581299"/>
              <a:ext cx="3044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第5章 大数定律及中心极限定理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046393" cy="909257"/>
            <a:chOff x="520446" y="342900"/>
            <a:chExt cx="504639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极限定理 · 中心极限定理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04639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例9：260 部分机要配多少条外线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977765" cy="1906905"/>
            <a:chOff x="533400" y="1524000"/>
            <a:chExt cx="4977765" cy="19069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1906905"/>
            </a:xfrm>
            <a:prstGeom prst="roundRect">
              <a:avLst>
                <a:gd name="adj" fmla="val 699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64020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3434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3582" y="1769269"/>
              <a:ext cx="2492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例9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22070" y="1768792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反解容量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291965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某单位有 260 部电话分机，每部分机有 4% 的时间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使用外线，各分机是否使用外线相互独立。问总机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要有多少条外线，才能有 95% 的把握保证各分机用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外线时不必等候。</a:t>
              </a:r>
            </a:p>
          </p:txBody>
        </p:sp>
      </p:grpSp>
      <p:grpSp>
        <p:nvGrpSpPr>
          <p:cNvPr id="19" name="c1-card-2"/>
          <p:cNvGrpSpPr/>
          <p:nvPr/>
        </p:nvGrpSpPr>
        <p:grpSpPr>
          <a:xfrm>
            <a:off x="533400" y="3621405"/>
            <a:ext cx="4977765" cy="1955482"/>
            <a:chOff x="533400" y="3621405"/>
            <a:chExt cx="4977765" cy="1955482"/>
          </a:xfrm>
        </p:grpSpPr>
        <p:sp>
          <p:nvSpPr>
            <p:cNvPr id="14" name="Rectangle 14"/>
            <p:cNvSpPr/>
            <p:nvPr/>
          </p:nvSpPr>
          <p:spPr>
            <a:xfrm>
              <a:off x="533400" y="3621405"/>
              <a:ext cx="4977765" cy="1955482"/>
            </a:xfrm>
            <a:prstGeom prst="roundRect">
              <a:avLst>
                <a:gd name="adj" fmla="val 681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3754755"/>
              <a:ext cx="47625" cy="1688782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81050" y="383095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71258" y="386667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思路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73430" y="4208145"/>
              <a:ext cx="4272915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设有 x 条外线，同时使用外线的分机数 X 服从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B(260, 0.04)。不必等候就是 X 不超过 x，要求这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个概率不低于 0.95，于是标准化后的上限要达到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0.95 的分位点 1.65。</a:t>
              </a:r>
            </a:p>
          </p:txBody>
        </p:sp>
      </p:grpSp>
      <p:grpSp>
        <p:nvGrpSpPr>
          <p:cNvPr id="37" name="c2-steps-1"/>
          <p:cNvGrpSpPr/>
          <p:nvPr/>
        </p:nvGrpSpPr>
        <p:grpSpPr>
          <a:xfrm>
            <a:off x="5815965" y="1533525"/>
            <a:ext cx="4095857" cy="2529173"/>
            <a:chOff x="5815965" y="1533525"/>
            <a:chExt cx="4095857" cy="2529173"/>
          </a:xfrm>
        </p:grpSpPr>
        <p:sp>
          <p:nvSpPr>
            <p:cNvPr id="20" name="Rectangle 20"/>
            <p:cNvSpPr/>
            <p:nvPr/>
          </p:nvSpPr>
          <p:spPr>
            <a:xfrm>
              <a:off x="5949315" y="1676400"/>
              <a:ext cx="19050" cy="19526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5815965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90958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5815965" y="218408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909589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5815965" y="283464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909589" y="29084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5815965" y="348615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909589" y="35599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227445" y="156781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写出参数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228588" y="1861661"/>
              <a:ext cx="36832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np = 10.4，np(1 − p) = 9.984，标准差约 3.16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227445" y="2218372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标准化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228588" y="2512219"/>
              <a:ext cx="31843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P{X ≤ x} ≈ Φ((x − 10.4)/3.16) ≥ 0.95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227445" y="286893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查分位点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228588" y="3162776"/>
              <a:ext cx="192563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(x − 10.4)/3.16 ≥ 1.65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227445" y="352044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取整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228588" y="3813334"/>
              <a:ext cx="23994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≥ 15.61，外线是整数，取 16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8" name="formula126"/>
              <p:cNvSpPr txBox="1">
                <a:spLocks noGrp="1"/>
              </p:cNvSpPr>
              <p:nvPr/>
            </p:nvSpPr>
            <p:spPr>
              <a:xfrm>
                <a:off x="5815965" y="4241482"/>
                <a:ext cx="5842635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x</m:t>
                      </m:r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≥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10.4</m:t>
                      </m:r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1.65</m:t>
                      </m:r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×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3.16</m:t>
                      </m:r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15.61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 </m:t>
                      </m:r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⟹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 </m:t>
                      </m:r>
                      <m:sSub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min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16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44" name="c2-callout-3"/>
          <p:cNvGrpSpPr/>
          <p:nvPr/>
        </p:nvGrpSpPr>
        <p:grpSpPr>
          <a:xfrm>
            <a:off x="5815965" y="4793932"/>
            <a:ext cx="5842635" cy="782955"/>
            <a:chOff x="5815965" y="4793932"/>
            <a:chExt cx="5842635" cy="782955"/>
          </a:xfrm>
        </p:grpSpPr>
        <p:sp>
          <p:nvSpPr>
            <p:cNvPr id="39" name="Rectangle 39"/>
            <p:cNvSpPr/>
            <p:nvPr/>
          </p:nvSpPr>
          <p:spPr>
            <a:xfrm>
              <a:off x="5815965" y="4793932"/>
              <a:ext cx="5842635" cy="782955"/>
            </a:xfrm>
            <a:prstGeom prst="roundRect">
              <a:avLst>
                <a:gd name="adj" fmla="val 14599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6020753" y="5085398"/>
              <a:ext cx="200026" cy="200026"/>
              <a:chOff x="6020753" y="5085398"/>
              <a:chExt cx="200026" cy="200026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6020753" y="508539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6087428" y="5163185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6322695" y="4942522"/>
              <a:ext cx="45967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精确二项验算：P{X ≤ 16} = 0.9663 ≥ 0.95，而 P{X ≤</a:t>
              </a:r>
              <a:br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15} = 0.9399 不够，16 条确实是最少的。</a:t>
              </a:r>
            </a:p>
          </p:txBody>
        </p:sp>
      </p:grpSp>
      <p:grpSp>
        <p:nvGrpSpPr>
          <p:cNvPr id="51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5" name="Rectangle 45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726129" y="5992296"/>
              <a:ext cx="224134" cy="192560"/>
              <a:chOff x="726129" y="5992296"/>
              <a:chExt cx="224134" cy="19256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838200" y="606266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726129" y="599229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838200" y="61404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1040130" y="5991225"/>
              <a:ext cx="74866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反解出的是下界，向上取整；这类题若向下取整会直接不满足题目要求的保证水平。</a:t>
              </a: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2" name="TextBox 52"/>
            <p:cNvSpPr txBox="1"/>
            <p:nvPr/>
          </p:nvSpPr>
          <p:spPr>
            <a:xfrm>
              <a:off x="528447" y="6581299"/>
              <a:ext cx="3044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第5章 大数定律及中心极限定理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极限定理 · 中心极限定理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李雅普诺夫定理：不同分布也能相加成正态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card-1"/>
          <p:cNvGrpSpPr/>
          <p:nvPr/>
        </p:nvGrpSpPr>
        <p:grpSpPr>
          <a:xfrm>
            <a:off x="533400" y="1524000"/>
            <a:ext cx="5842635" cy="4012882"/>
            <a:chOff x="533400" y="1524000"/>
            <a:chExt cx="5842635" cy="401288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4012882"/>
            </a:xfrm>
            <a:prstGeom prst="roundRect">
              <a:avLst>
                <a:gd name="adj" fmla="val 3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3746182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5345" y="17506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定理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47597" y="1756410"/>
              <a:ext cx="24468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李雅普诺夫（Liapunov）定理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7047" y="2090738"/>
              <a:ext cx="5165788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X₁, X₂, …, Xₙ, … 相互独立，具有期望 E(Xₖ) = μₖ 与方差 D(Xₖ)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σₖ² ≠ 0。记各项方差之和为 Bₙ²，标准化变量为 Zₙ。若存在正数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δ 使得下式成立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135"/>
                <p:cNvSpPr txBox="1">
                  <a:spLocks noGrp="1"/>
                </p:cNvSpPr>
                <p:nvPr/>
              </p:nvSpPr>
              <p:spPr>
                <a:xfrm>
                  <a:off x="763905" y="2885122"/>
                  <a:ext cx="5419725" cy="50006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f>
                          <m:fPr>
                            <m:type m:val="bar"/>
                            <m:ctrl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sSubSup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B</m:t>
                                </m:r>
                              </m:e>
                              <m:sub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b>
                              <m:sup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δ</m:t>
                                </m:r>
                              </m:sup>
                            </m:sSubSup>
                          </m:den>
                        </m:f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d>
                                      <m:dPr>
                                        <m:begChr m:val="|"/>
                                        <m:sepChr m:val=""/>
                                        <m:endChr m:val="|"/>
                                        <m:grow m:val="on"/>
                                        <m:ctrlP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e>
                                            <m:r>
                                              <a:rPr lang="zh-CN" sz="112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X</m:t>
                                            </m:r>
                                          </m:e>
                                          <m:sub>
                                            <m:r>
                                              <a:rPr lang="zh-CN" sz="112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k</m:t>
                                            </m:r>
                                          </m:sub>
                                        </m:sSub>
                                        <m:r>
                                          <m:rPr>
                                            <m:sty m:val="p"/>
                                          </m:rP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−</m:t>
                                        </m:r>
                                        <m:sSub>
                                          <m:e>
                                            <m:r>
                                              <a:rPr lang="zh-CN" sz="112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μ</m:t>
                                            </m:r>
                                          </m:e>
                                          <m:sub>
                                            <m:r>
                                              <a:rPr lang="zh-CN" sz="112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k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+</m:t>
                                    </m:r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δ</m:t>
                                    </m:r>
                                  </m:sup>
                                </m:sSup>
                              </m:e>
                            </m:d>
                          </m:e>
                        </m:nary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→</m:t>
                        </m:r>
                        <m: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</m:t>
                        </m:r>
                        <m: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→∞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4" name="TextBox 14"/>
            <p:cNvSpPr txBox="1"/>
            <p:nvPr/>
          </p:nvSpPr>
          <p:spPr>
            <a:xfrm>
              <a:off x="757047" y="3493770"/>
              <a:ext cx="39241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则 Zₙ 的分布函数对任意实数 x 都收敛于 Φ(x)。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formula136"/>
                <p:cNvSpPr txBox="1">
                  <a:spLocks noGrp="1"/>
                </p:cNvSpPr>
                <p:nvPr/>
              </p:nvSpPr>
              <p:spPr>
                <a:xfrm>
                  <a:off x="763905" y="3773805"/>
                  <a:ext cx="5419725" cy="4714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Sup>
                          <m:e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</m:e>
                          <m:sub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b>
                          <m:sup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sSubSup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σ</m:t>
                                </m:r>
                              </m:e>
                              <m:sub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sub>
                              <m:sup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bSup>
                          </m:e>
                        </m:nary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sSub>
                          <m:e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Z</m:t>
                            </m:r>
                          </m:e>
                          <m:sub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nary>
                              <m:naryPr>
                                <m:chr m:val="∑"/>
                                <m:limLoc m:val="undOvr"/>
                                <m:grow m:val="off"/>
                                <m:subHide m:val="off"/>
                                <m:supHide m:val="off"/>
                                <m:ctrl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p>
                              <m:e>
                                <m:sSub>
                                  <m:e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</m:sub>
                                </m:sSub>
                              </m:e>
                            </m:nary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nary>
                              <m:naryPr>
                                <m:chr m:val="∑"/>
                                <m:limLoc m:val="undOvr"/>
                                <m:grow m:val="off"/>
                                <m:subHide m:val="off"/>
                                <m:supHide m:val="off"/>
                                <m:ctrl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p>
                              <m:e>
                                <m:sSub>
                                  <m:e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μ</m:t>
                                    </m:r>
                                  </m:e>
                                  <m:sub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</m:sub>
                                </m:sSub>
                              </m:e>
                            </m:nary>
                          </m:num>
                          <m:den>
                            <m:sSub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B</m:t>
                                </m:r>
                              </m:e>
                              <m:sub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22" name="c2-card-1"/>
          <p:cNvGrpSpPr/>
          <p:nvPr/>
        </p:nvGrpSpPr>
        <p:grpSpPr>
          <a:xfrm>
            <a:off x="6680835" y="1524000"/>
            <a:ext cx="4977765" cy="1466850"/>
            <a:chOff x="6680835" y="1524000"/>
            <a:chExt cx="4977765" cy="1466850"/>
          </a:xfrm>
        </p:grpSpPr>
        <p:sp>
          <p:nvSpPr>
            <p:cNvPr id="17" name="Rectangle 17"/>
            <p:cNvSpPr/>
            <p:nvPr/>
          </p:nvSpPr>
          <p:spPr>
            <a:xfrm>
              <a:off x="6680835" y="1524000"/>
              <a:ext cx="4977765" cy="146685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6690360" y="1657350"/>
              <a:ext cx="47625" cy="120015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6911340" y="1716405"/>
              <a:ext cx="10096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986778" y="1750695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条件在说什么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904482" y="2072640"/>
              <a:ext cx="429139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那个比值趋于 0，意思是任何一项在总方差里所占的份额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都趋于 0，也就是“每个因素的影响都微小”。只要没有哪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一项独大，不同分布的独立变量相加照样趋于正态。</a:t>
              </a:r>
            </a:p>
          </p:txBody>
        </p:sp>
      </p:grpSp>
      <p:grpSp>
        <p:nvGrpSpPr>
          <p:cNvPr id="28" name="c2-callout-2"/>
          <p:cNvGrpSpPr/>
          <p:nvPr/>
        </p:nvGrpSpPr>
        <p:grpSpPr>
          <a:xfrm>
            <a:off x="6680835" y="3166110"/>
            <a:ext cx="4977765" cy="729615"/>
            <a:chOff x="6680835" y="3166110"/>
            <a:chExt cx="4977765" cy="729615"/>
          </a:xfrm>
        </p:grpSpPr>
        <p:sp>
          <p:nvSpPr>
            <p:cNvPr id="23" name="Rectangle 23"/>
            <p:cNvSpPr/>
            <p:nvPr/>
          </p:nvSpPr>
          <p:spPr>
            <a:xfrm>
              <a:off x="6680835" y="3166110"/>
              <a:ext cx="4977765" cy="729615"/>
            </a:xfrm>
            <a:prstGeom prst="roundRect">
              <a:avLst>
                <a:gd name="adj" fmla="val 15666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6885623" y="3430907"/>
              <a:ext cx="200023" cy="200023"/>
              <a:chOff x="6885623" y="3430907"/>
              <a:chExt cx="200023" cy="200023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6885623" y="343090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7018973" y="349758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7188327" y="3311842"/>
              <a:ext cx="394849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 很大时和近似服从 N(Σμₖ, Bₙ²)，这是实际问题中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大量独立随机因素之和近似正态的理论依据。</a:t>
              </a:r>
            </a:p>
          </p:txBody>
        </p:sp>
      </p:grpSp>
      <p:grpSp>
        <p:nvGrpSpPr>
          <p:cNvPr id="34" name="c2-card-3"/>
          <p:cNvGrpSpPr/>
          <p:nvPr/>
        </p:nvGrpSpPr>
        <p:grpSpPr>
          <a:xfrm>
            <a:off x="6680835" y="4070032"/>
            <a:ext cx="4977765" cy="1466850"/>
            <a:chOff x="6680835" y="4070032"/>
            <a:chExt cx="4977765" cy="1466850"/>
          </a:xfrm>
        </p:grpSpPr>
        <p:sp>
          <p:nvSpPr>
            <p:cNvPr id="29" name="Rectangle 29"/>
            <p:cNvSpPr/>
            <p:nvPr/>
          </p:nvSpPr>
          <p:spPr>
            <a:xfrm>
              <a:off x="6680835" y="4070032"/>
              <a:ext cx="4977765" cy="146685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6690360" y="4203382"/>
              <a:ext cx="47625" cy="120015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911340" y="4262438"/>
              <a:ext cx="114300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982778" y="4296728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三条定理的层次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904482" y="4619625"/>
              <a:ext cx="431711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列维-林德伯格要求同分布；李雅普诺夫放宽成不同分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布，代价是加一个矩条件；棣莫弗-拉普拉斯是列维-林德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伯格在 0-1 分布上的特例。</a:t>
              </a:r>
            </a:p>
          </p:txBody>
        </p:sp>
      </p:grpSp>
      <p:grpSp>
        <p:nvGrpSpPr>
          <p:cNvPr id="41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35" name="Rectangle 35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738188" y="6017895"/>
              <a:ext cx="200026" cy="200025"/>
              <a:chOff x="738188" y="6017895"/>
              <a:chExt cx="200026" cy="200025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738188" y="60178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777926" y="60623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812642" y="61734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1040892" y="6023610"/>
              <a:ext cx="81100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做题时先看是不是同分布：是就用列维-林德伯格，不是但题目给了各项的期望方差就用李雅普诺夫。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581299"/>
              <a:ext cx="3044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第5章 大数定律及中心极限定理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66640" cy="909257"/>
            <a:chOff x="520446" y="342900"/>
            <a:chExt cx="686664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极限定理 · 中心极限定理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6664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例10：100 次轰炸命中 180 到 220 颗的概率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977765" cy="1483995"/>
            <a:chOff x="533400" y="1524000"/>
            <a:chExt cx="4977765" cy="148399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1483995"/>
            </a:xfrm>
            <a:prstGeom prst="roundRect">
              <a:avLst>
                <a:gd name="adj" fmla="val 8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21729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497205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4868" y="1750695"/>
              <a:ext cx="3152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例10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68552" y="1756410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只给期望和方差，不给分布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7047" y="2090738"/>
              <a:ext cx="4342828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对敌人的防御地区进行 100 次轰炸，每次轰炸命中目标的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炸弹数是一个随机变量，期望为 2、方差为 1.69。求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 次轰炸中有 180 颗到 220 颗炸弹命中目标的概率。</a:t>
              </a:r>
            </a:p>
          </p:txBody>
        </p:sp>
      </p:grpSp>
      <p:grpSp>
        <p:nvGrpSpPr>
          <p:cNvPr id="19" name="c1-card-2"/>
          <p:cNvGrpSpPr/>
          <p:nvPr/>
        </p:nvGrpSpPr>
        <p:grpSpPr>
          <a:xfrm>
            <a:off x="533400" y="3183255"/>
            <a:ext cx="4977765" cy="1466850"/>
            <a:chOff x="533400" y="3183255"/>
            <a:chExt cx="4977765" cy="1466850"/>
          </a:xfrm>
        </p:grpSpPr>
        <p:sp>
          <p:nvSpPr>
            <p:cNvPr id="14" name="Rectangle 14"/>
            <p:cNvSpPr/>
            <p:nvPr/>
          </p:nvSpPr>
          <p:spPr>
            <a:xfrm>
              <a:off x="533400" y="3183255"/>
              <a:ext cx="4977765" cy="146685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3316605"/>
              <a:ext cx="47625" cy="120015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63905" y="337566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55345" y="340995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思路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7047" y="3731895"/>
              <a:ext cx="4342828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题目没有给出每次命中弹数的分布，只给了期望和方差，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各次轰炸相互独立。按李雅普诺夫定理，这 100 项之和渐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近服从正态分布，期望与方差按可加性算出来即可。</a:t>
              </a:r>
            </a:p>
          </p:txBody>
        </p:sp>
      </p:grpSp>
      <p:grpSp>
        <p:nvGrpSpPr>
          <p:cNvPr id="26" name="c1-callout-3"/>
          <p:cNvGrpSpPr/>
          <p:nvPr/>
        </p:nvGrpSpPr>
        <p:grpSpPr>
          <a:xfrm>
            <a:off x="533400" y="4824412"/>
            <a:ext cx="4977765" cy="729615"/>
            <a:chOff x="533400" y="4824412"/>
            <a:chExt cx="4977765" cy="729615"/>
          </a:xfrm>
        </p:grpSpPr>
        <p:sp>
          <p:nvSpPr>
            <p:cNvPr id="20" name="Rectangle 20"/>
            <p:cNvSpPr/>
            <p:nvPr/>
          </p:nvSpPr>
          <p:spPr>
            <a:xfrm>
              <a:off x="533400" y="4824412"/>
              <a:ext cx="4977765" cy="729615"/>
            </a:xfrm>
            <a:prstGeom prst="roundRect">
              <a:avLst>
                <a:gd name="adj" fmla="val 15666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726129" y="5085516"/>
              <a:ext cx="224134" cy="192560"/>
              <a:chOff x="726129" y="5085516"/>
              <a:chExt cx="224134" cy="19256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838200" y="515588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726129" y="508551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838200" y="523367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1040892" y="4971098"/>
              <a:ext cx="3999928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区间关于期望 200 对称，所以可以合并成一个绝对值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事件，只查一次表。</a:t>
              </a:r>
            </a:p>
          </p:txBody>
        </p:sp>
      </p:grpSp>
      <p:grpSp>
        <p:nvGrpSpPr>
          <p:cNvPr id="40" name="c2-steps-1"/>
          <p:cNvGrpSpPr/>
          <p:nvPr/>
        </p:nvGrpSpPr>
        <p:grpSpPr>
          <a:xfrm>
            <a:off x="5815965" y="1533525"/>
            <a:ext cx="4153779" cy="1693069"/>
            <a:chOff x="5815965" y="1533525"/>
            <a:chExt cx="4153779" cy="1693069"/>
          </a:xfrm>
        </p:grpSpPr>
        <p:sp>
          <p:nvSpPr>
            <p:cNvPr id="27" name="Rectangle 27"/>
            <p:cNvSpPr/>
            <p:nvPr/>
          </p:nvSpPr>
          <p:spPr>
            <a:xfrm>
              <a:off x="5949315" y="1676400"/>
              <a:ext cx="19050" cy="1173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5815965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90958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5815965" y="212026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909589" y="21940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5815965" y="270700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909589" y="27808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228207" y="1564957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求和的期望方差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229350" y="1833086"/>
              <a:ext cx="37403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 = 100 × 2 = 200，D = 100 × 1.69 = 169，标准差 13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228207" y="2152650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写成对称形式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229350" y="2419826"/>
              <a:ext cx="23760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180 &lt; X &lt; 220 就是 |X − 200| &lt; 20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228207" y="2739390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标准化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229350" y="3006566"/>
              <a:ext cx="27046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20/13 ≈ 1.54，概率化成 2Φ(1.54) − 1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formula141"/>
              <p:cNvSpPr txBox="1">
                <a:spLocks noGrp="1"/>
              </p:cNvSpPr>
              <p:nvPr/>
            </p:nvSpPr>
            <p:spPr>
              <a:xfrm>
                <a:off x="5815965" y="3395662"/>
                <a:ext cx="5842635" cy="4114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P</m:t>
                      </m:r>
                      <m:d>
                        <m:dPr>
                          <m:begChr m:val="{"/>
                          <m:sepChr m:val=""/>
                          <m:endChr m:val="}"/>
                          <m:grow m:val="on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180</m:t>
                          </m:r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&lt;</m:t>
                          </m:r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&lt;</m:t>
                          </m:r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220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≈</m:t>
                      </m:r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</m:t>
                      </m:r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Φ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f>
                            <m:fPr>
                              <m:type m:val="bar"/>
                              <m:ctrl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20</m:t>
                              </m:r>
                            </m:num>
                            <m:den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13</m:t>
                              </m:r>
                            </m:den>
                          </m:f>
                        </m:e>
                      </m:d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</m:t>
                      </m:r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×</m:t>
                      </m:r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0.9382</m:t>
                      </m:r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0.8764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47" name="c2-callout-3"/>
          <p:cNvGrpSpPr/>
          <p:nvPr/>
        </p:nvGrpSpPr>
        <p:grpSpPr>
          <a:xfrm>
            <a:off x="5815965" y="3982402"/>
            <a:ext cx="5842635" cy="1571625"/>
            <a:chOff x="5815965" y="3982402"/>
            <a:chExt cx="5842635" cy="1571625"/>
          </a:xfrm>
        </p:grpSpPr>
        <p:sp>
          <p:nvSpPr>
            <p:cNvPr id="42" name="Rectangle 42"/>
            <p:cNvSpPr/>
            <p:nvPr/>
          </p:nvSpPr>
          <p:spPr>
            <a:xfrm>
              <a:off x="5815965" y="3982402"/>
              <a:ext cx="5842635" cy="1571625"/>
            </a:xfrm>
            <a:prstGeom prst="roundRect">
              <a:avLst>
                <a:gd name="adj" fmla="val 7273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6020753" y="4668203"/>
              <a:ext cx="200026" cy="200026"/>
              <a:chOff x="6020753" y="4668203"/>
              <a:chExt cx="200026" cy="200026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6020753" y="466820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6087428" y="4745990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6323457" y="4549140"/>
              <a:ext cx="484860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用精确的 20/13 = 1.5385 算得 0.8761，与课件取 1.54 的结果</a:t>
              </a:r>
              <a:br/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差 0.0004。</a:t>
              </a:r>
            </a:p>
          </p:txBody>
        </p:sp>
      </p:grpSp>
      <p:grpSp>
        <p:nvGrpSpPr>
          <p:cNvPr id="53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48" name="Rectangle 48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1040892" y="6023610"/>
              <a:ext cx="69197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分布未知但独立、期望方差已知且项数很多，这就是中心极限定理最典型的使用场景。</a:t>
              </a: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4" name="TextBox 54"/>
            <p:cNvSpPr txBox="1"/>
            <p:nvPr/>
          </p:nvSpPr>
          <p:spPr>
            <a:xfrm>
              <a:off x="528447" y="6581299"/>
              <a:ext cx="3044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第5章 大数定律及中心极限定理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极限定理 · 中心极限定理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怎么选：一张图决定用哪个工具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5" name="c1-flow-1"/>
          <p:cNvGrpSpPr/>
          <p:nvPr/>
        </p:nvGrpSpPr>
        <p:grpSpPr>
          <a:xfrm>
            <a:off x="745808" y="1700212"/>
            <a:ext cx="5634038" cy="3928111"/>
            <a:chOff x="745808" y="1700212"/>
            <a:chExt cx="5634038" cy="3928111"/>
          </a:xfrm>
        </p:grpSpPr>
        <p:sp>
          <p:nvSpPr>
            <p:cNvPr id="7" name="Freeform 7"/>
            <p:cNvSpPr/>
            <p:nvPr/>
          </p:nvSpPr>
          <p:spPr>
            <a:xfrm>
              <a:off x="3350895" y="2070735"/>
              <a:ext cx="319088" cy="9525"/>
            </a:xfrm>
            <a:custGeom>
              <a:avLst/>
              <a:gdLst/>
              <a:ahLst/>
              <a:cxnLst/>
              <a:rect l="l" t="t" r="r" b="b"/>
              <a:pathLst>
                <a:path w="319088" h="9525">
                  <a:moveTo>
                    <a:pt x="0" y="0"/>
                  </a:moveTo>
                  <a:lnTo>
                    <a:pt x="319088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3669982" y="201834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2047875" y="2442210"/>
              <a:ext cx="9525" cy="337185"/>
            </a:xfrm>
            <a:custGeom>
              <a:avLst/>
              <a:gdLst/>
              <a:ahLst/>
              <a:cxnLst/>
              <a:rect l="l" t="t" r="r" b="b"/>
              <a:pathLst>
                <a:path w="9525" h="337185">
                  <a:moveTo>
                    <a:pt x="0" y="0"/>
                  </a:moveTo>
                  <a:lnTo>
                    <a:pt x="0" y="33718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995488" y="277939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2047875" y="3446145"/>
              <a:ext cx="9525" cy="426720"/>
            </a:xfrm>
            <a:custGeom>
              <a:avLst/>
              <a:gdLst/>
              <a:ahLst/>
              <a:cxnLst/>
              <a:rect l="l" t="t" r="r" b="b"/>
              <a:pathLst>
                <a:path w="9525" h="426720">
                  <a:moveTo>
                    <a:pt x="0" y="0"/>
                  </a:moveTo>
                  <a:lnTo>
                    <a:pt x="0" y="42672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995488" y="387286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3350895" y="3165158"/>
              <a:ext cx="319088" cy="9525"/>
            </a:xfrm>
            <a:custGeom>
              <a:avLst/>
              <a:gdLst/>
              <a:ahLst/>
              <a:cxnLst/>
              <a:rect l="l" t="t" r="r" b="b"/>
              <a:pathLst>
                <a:path w="319088" h="9525">
                  <a:moveTo>
                    <a:pt x="0" y="0"/>
                  </a:moveTo>
                  <a:lnTo>
                    <a:pt x="319088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669982" y="311277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2047875" y="4540568"/>
              <a:ext cx="9525" cy="431483"/>
            </a:xfrm>
            <a:custGeom>
              <a:avLst/>
              <a:gdLst/>
              <a:ahLst/>
              <a:cxnLst/>
              <a:rect l="l" t="t" r="r" b="b"/>
              <a:pathLst>
                <a:path w="9525" h="431483">
                  <a:moveTo>
                    <a:pt x="0" y="0"/>
                  </a:moveTo>
                  <a:lnTo>
                    <a:pt x="0" y="43148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1995488" y="497205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3350895" y="4259580"/>
              <a:ext cx="319088" cy="9525"/>
            </a:xfrm>
            <a:custGeom>
              <a:avLst/>
              <a:gdLst/>
              <a:ahLst/>
              <a:cxnLst/>
              <a:rect l="l" t="t" r="r" b="b"/>
              <a:pathLst>
                <a:path w="319088" h="9525">
                  <a:moveTo>
                    <a:pt x="0" y="0"/>
                  </a:moveTo>
                  <a:lnTo>
                    <a:pt x="319088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3669982" y="420719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745808" y="1700212"/>
              <a:ext cx="2605088" cy="741997"/>
            </a:xfrm>
            <a:custGeom>
              <a:avLst/>
              <a:gdLst/>
              <a:ahLst/>
              <a:cxnLst/>
              <a:rect l="l" t="t" r="r" b="b"/>
              <a:pathLst>
                <a:path w="2605088" h="741997">
                  <a:moveTo>
                    <a:pt x="1302068" y="0"/>
                  </a:moveTo>
                  <a:lnTo>
                    <a:pt x="2605088" y="370523"/>
                  </a:lnTo>
                  <a:lnTo>
                    <a:pt x="1302068" y="741997"/>
                  </a:lnTo>
                  <a:lnTo>
                    <a:pt x="0" y="370523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3774758" y="1795462"/>
              <a:ext cx="2605088" cy="551498"/>
            </a:xfrm>
            <a:prstGeom prst="roundRect">
              <a:avLst>
                <a:gd name="adj" fmla="val 17271"/>
              </a:avLst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745808" y="2884170"/>
              <a:ext cx="2605088" cy="561975"/>
            </a:xfrm>
            <a:custGeom>
              <a:avLst/>
              <a:gdLst/>
              <a:ahLst/>
              <a:cxnLst/>
              <a:rect l="l" t="t" r="r" b="b"/>
              <a:pathLst>
                <a:path w="2605088" h="561975">
                  <a:moveTo>
                    <a:pt x="1302068" y="0"/>
                  </a:moveTo>
                  <a:lnTo>
                    <a:pt x="2605088" y="280988"/>
                  </a:lnTo>
                  <a:lnTo>
                    <a:pt x="1302068" y="561975"/>
                  </a:lnTo>
                  <a:lnTo>
                    <a:pt x="0" y="280988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3774758" y="2888932"/>
              <a:ext cx="2605088" cy="551498"/>
            </a:xfrm>
            <a:prstGeom prst="roundRect">
              <a:avLst>
                <a:gd name="adj" fmla="val 17271"/>
              </a:avLst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745808" y="3977640"/>
              <a:ext cx="2605088" cy="562927"/>
            </a:xfrm>
            <a:custGeom>
              <a:avLst/>
              <a:gdLst/>
              <a:ahLst/>
              <a:cxnLst/>
              <a:rect l="l" t="t" r="r" b="b"/>
              <a:pathLst>
                <a:path w="2605088" h="562927">
                  <a:moveTo>
                    <a:pt x="1302068" y="0"/>
                  </a:moveTo>
                  <a:lnTo>
                    <a:pt x="2605088" y="281940"/>
                  </a:lnTo>
                  <a:lnTo>
                    <a:pt x="1302068" y="562927"/>
                  </a:lnTo>
                  <a:lnTo>
                    <a:pt x="0" y="281940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3774758" y="3983355"/>
              <a:ext cx="2605088" cy="551498"/>
            </a:xfrm>
            <a:prstGeom prst="roundRect">
              <a:avLst>
                <a:gd name="adj" fmla="val 17271"/>
              </a:avLst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745808" y="5076825"/>
              <a:ext cx="2605088" cy="551498"/>
            </a:xfrm>
            <a:prstGeom prst="roundRect">
              <a:avLst>
                <a:gd name="adj" fmla="val 17271"/>
              </a:avLst>
            </a:prstGeom>
            <a:solidFill>
              <a:srgbClr val="E8EDF8"/>
            </a:solidFill>
            <a:ln w="19050">
              <a:solidFill>
                <a:srgbClr val="2F4B9A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519142" y="1907857"/>
              <a:ext cx="1057466" cy="3853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418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要近似值，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且独立、n 很大？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605718" y="1907857"/>
              <a:ext cx="944118" cy="3853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418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切比雪夫不等式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只给上界或下界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547812" y="3091815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服从同一分布？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605718" y="3001328"/>
              <a:ext cx="944118" cy="3853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418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李雅普诺夫定理</a:t>
              </a:r>
              <a:br/>
              <a:r>
                <a:rPr lang="el-GR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N(Σμₖ, Bₙ²)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600819" y="4186238"/>
              <a:ext cx="8941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 0-1 分布？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635722" y="4095750"/>
              <a:ext cx="884111" cy="3853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418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列维-林德伯格</a:t>
              </a:r>
              <a:br/>
              <a:r>
                <a:rPr lang="el-GR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N(nμ, nσ²)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539145" y="5190172"/>
              <a:ext cx="1017461" cy="3853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418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棣莫弗-拉普拉斯</a:t>
              </a:r>
              <a:br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N(np, np(1−p))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3458528" y="1874520"/>
              <a:ext cx="209550" cy="165735"/>
            </a:xfrm>
            <a:prstGeom prst="roundRect">
              <a:avLst>
                <a:gd name="adj" fmla="val 2298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3497961" y="1897380"/>
              <a:ext cx="1306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2076450" y="2584132"/>
              <a:ext cx="209550" cy="165735"/>
            </a:xfrm>
            <a:prstGeom prst="roundRect">
              <a:avLst>
                <a:gd name="adj" fmla="val 2298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2100262" y="2606992"/>
              <a:ext cx="1306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2076450" y="3632835"/>
              <a:ext cx="209550" cy="165735"/>
            </a:xfrm>
            <a:prstGeom prst="roundRect">
              <a:avLst>
                <a:gd name="adj" fmla="val 2298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2100262" y="3655695"/>
              <a:ext cx="1306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3458528" y="2968942"/>
              <a:ext cx="209550" cy="165735"/>
            </a:xfrm>
            <a:prstGeom prst="roundRect">
              <a:avLst>
                <a:gd name="adj" fmla="val 2298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3497961" y="2991802"/>
              <a:ext cx="1306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2076450" y="4730115"/>
              <a:ext cx="209550" cy="165735"/>
            </a:xfrm>
            <a:prstGeom prst="roundRect">
              <a:avLst>
                <a:gd name="adj" fmla="val 2298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2100262" y="4752975"/>
              <a:ext cx="1306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3458528" y="4063365"/>
              <a:ext cx="209550" cy="165735"/>
            </a:xfrm>
            <a:prstGeom prst="roundRect">
              <a:avLst>
                <a:gd name="adj" fmla="val 2298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3497961" y="4086225"/>
              <a:ext cx="1306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</p:grpSp>
      <p:grpSp>
        <p:nvGrpSpPr>
          <p:cNvPr id="58" name="c2-card-1"/>
          <p:cNvGrpSpPr/>
          <p:nvPr/>
        </p:nvGrpSpPr>
        <p:grpSpPr>
          <a:xfrm>
            <a:off x="6898005" y="1524000"/>
            <a:ext cx="4760595" cy="1714500"/>
            <a:chOff x="6898005" y="1524000"/>
            <a:chExt cx="4760595" cy="1714500"/>
          </a:xfrm>
        </p:grpSpPr>
        <p:sp>
          <p:nvSpPr>
            <p:cNvPr id="46" name="Rectangle 46"/>
            <p:cNvSpPr/>
            <p:nvPr/>
          </p:nvSpPr>
          <p:spPr>
            <a:xfrm>
              <a:off x="6898005" y="1524000"/>
              <a:ext cx="4760595" cy="1714500"/>
            </a:xfrm>
            <a:prstGeom prst="roundRect">
              <a:avLst>
                <a:gd name="adj" fmla="val 7778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7078980" y="1704975"/>
              <a:ext cx="956310" cy="23812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156399" y="1737836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三步固定套路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7078980" y="2033588"/>
              <a:ext cx="180975" cy="18097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130887" y="206921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348728" y="2045494"/>
              <a:ext cx="380873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把要求的事件写成“和”或“频率”的形式，认出 n 是多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少。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7078980" y="2562225"/>
              <a:ext cx="180975" cy="18097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130887" y="259689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348728" y="2573179"/>
              <a:ext cx="39761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算出这个和的期望与方差，独立是方差可加的前提。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7078980" y="2847022"/>
              <a:ext cx="180975" cy="18097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130887" y="288264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348728" y="2857976"/>
              <a:ext cx="41855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减期望、除标准差，把端点化成 Φ 的自变量，再查表。</a:t>
              </a:r>
            </a:p>
          </p:txBody>
        </p:sp>
      </p:grpSp>
      <p:grpSp>
        <p:nvGrpSpPr>
          <p:cNvPr id="64" name="c2-card-2"/>
          <p:cNvGrpSpPr/>
          <p:nvPr/>
        </p:nvGrpSpPr>
        <p:grpSpPr>
          <a:xfrm>
            <a:off x="6898005" y="3403282"/>
            <a:ext cx="4760595" cy="1629728"/>
            <a:chOff x="6898005" y="3403282"/>
            <a:chExt cx="4760595" cy="1629728"/>
          </a:xfrm>
        </p:grpSpPr>
        <p:sp>
          <p:nvSpPr>
            <p:cNvPr id="59" name="Rectangle 59"/>
            <p:cNvSpPr/>
            <p:nvPr/>
          </p:nvSpPr>
          <p:spPr>
            <a:xfrm>
              <a:off x="6898005" y="3403282"/>
              <a:ext cx="4760595" cy="1629728"/>
            </a:xfrm>
            <a:prstGeom prst="roundRect">
              <a:avLst>
                <a:gd name="adj" fmla="val 818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6907530" y="3536632"/>
              <a:ext cx="47625" cy="136302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7117080" y="3584258"/>
              <a:ext cx="956310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194499" y="3617119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反解题多一步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110603" y="3923824"/>
              <a:ext cx="4076954" cy="9780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例6、例8、例9 都是反过来求 n 或 x：先把未知量留在标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准化式子里，与给定的分位点（1.96、1.65、2）比较，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解出不等式后按题意向上或向下取整，最后一定要代回验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算。</a:t>
              </a:r>
            </a:p>
          </p:txBody>
        </p:sp>
      </p:grpSp>
      <p:grpSp>
        <p:nvGrpSpPr>
          <p:cNvPr id="71" name="c2-callout-3"/>
          <p:cNvGrpSpPr/>
          <p:nvPr/>
        </p:nvGrpSpPr>
        <p:grpSpPr>
          <a:xfrm>
            <a:off x="6898005" y="5197792"/>
            <a:ext cx="4760595" cy="702945"/>
            <a:chOff x="6898005" y="5197792"/>
            <a:chExt cx="4760595" cy="702945"/>
          </a:xfrm>
        </p:grpSpPr>
        <p:sp>
          <p:nvSpPr>
            <p:cNvPr id="65" name="Rectangle 65"/>
            <p:cNvSpPr/>
            <p:nvPr/>
          </p:nvSpPr>
          <p:spPr>
            <a:xfrm>
              <a:off x="6898005" y="5197792"/>
              <a:ext cx="4760595" cy="702945"/>
            </a:xfrm>
            <a:prstGeom prst="roundRect">
              <a:avLst>
                <a:gd name="adj" fmla="val 1626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9" name="Group 69"/>
            <p:cNvGrpSpPr/>
            <p:nvPr/>
          </p:nvGrpSpPr>
          <p:grpSpPr>
            <a:xfrm>
              <a:off x="7090734" y="5445561"/>
              <a:ext cx="224134" cy="192560"/>
              <a:chOff x="7090734" y="5445561"/>
              <a:chExt cx="224134" cy="192560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7202805" y="551592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7090734" y="544556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7202805" y="559371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70" name="TextBox 70"/>
            <p:cNvSpPr txBox="1"/>
            <p:nvPr/>
          </p:nvSpPr>
          <p:spPr>
            <a:xfrm>
              <a:off x="7405878" y="5342096"/>
              <a:ext cx="375183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查表前检查一次：端点是否已经减去期望、是否除的</a:t>
              </a:r>
              <a:br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是标准差而不是方差。</a:t>
              </a:r>
            </a:p>
          </p:txBody>
        </p:sp>
      </p:grpSp>
      <p:grpSp>
        <p:nvGrpSpPr>
          <p:cNvPr id="7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2" name="TextBox 72"/>
            <p:cNvSpPr txBox="1"/>
            <p:nvPr/>
          </p:nvSpPr>
          <p:spPr>
            <a:xfrm>
              <a:off x="528447" y="6581299"/>
              <a:ext cx="3044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第5章 大数定律及中心极限定理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24682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1966" y="407194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极限定理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自测题（一）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3505200" cy="2025968"/>
            <a:chOff x="533400" y="1524000"/>
            <a:chExt cx="3505200" cy="202596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3505200" cy="2025968"/>
            </a:xfrm>
            <a:prstGeom prst="roundRect">
              <a:avLst>
                <a:gd name="adj" fmla="val 6582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58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147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8947" y="2072640"/>
              <a:ext cx="29283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切比雪夫不等式对随机变量的分布有什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么要求？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8947" y="2632710"/>
              <a:ext cx="292836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没有要求，只需期望与方差存在。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正因为对一切分布都成立，它给出的界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通常很松。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725228"/>
            <a:ext cx="3505200" cy="2283142"/>
            <a:chOff x="533400" y="3725228"/>
            <a:chExt cx="3505200" cy="2283142"/>
          </a:xfrm>
        </p:grpSpPr>
        <p:sp>
          <p:nvSpPr>
            <p:cNvPr id="13" name="Rectangle 13"/>
            <p:cNvSpPr/>
            <p:nvPr/>
          </p:nvSpPr>
          <p:spPr>
            <a:xfrm>
              <a:off x="533400" y="3725228"/>
              <a:ext cx="3505200" cy="2283142"/>
            </a:xfrm>
            <a:prstGeom prst="roundRect">
              <a:avLst>
                <a:gd name="adj" fmla="val 5841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25805" y="3917632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14753" y="3951923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8947" y="4274820"/>
              <a:ext cx="29283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辛钦大数定律与切比雪夫大数定律的条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件差在哪？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8947" y="4833937"/>
              <a:ext cx="292836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辛钦要求同分布但不要求方差存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在；切比雪夫不要求同分布但要求方差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一致有上界。两者条件不可互相推出。</a:t>
              </a:r>
            </a:p>
          </p:txBody>
        </p:sp>
      </p:grpSp>
      <p:grpSp>
        <p:nvGrpSpPr>
          <p:cNvPr id="24" name="c2-card-1"/>
          <p:cNvGrpSpPr/>
          <p:nvPr/>
        </p:nvGrpSpPr>
        <p:grpSpPr>
          <a:xfrm>
            <a:off x="4343400" y="1524000"/>
            <a:ext cx="3505200" cy="1768792"/>
            <a:chOff x="4343400" y="1524000"/>
            <a:chExt cx="3505200" cy="1768792"/>
          </a:xfrm>
        </p:grpSpPr>
        <p:sp>
          <p:nvSpPr>
            <p:cNvPr id="19" name="Rectangle 19"/>
            <p:cNvSpPr/>
            <p:nvPr/>
          </p:nvSpPr>
          <p:spPr>
            <a:xfrm>
              <a:off x="4343400" y="1524000"/>
              <a:ext cx="3505200" cy="1768792"/>
            </a:xfrm>
            <a:prstGeom prst="roundRect">
              <a:avLst>
                <a:gd name="adj" fmla="val 753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45358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6247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28947" y="2072640"/>
              <a:ext cx="2827210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D(X) = 2，用切比雪夫不等式估计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P{|X − E(X)| ≥ 2}。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28947" y="2632710"/>
              <a:ext cx="297980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不超过 2/2² = 0.5。若 ε 取成 1，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上界是 2，大于 1 因而没有信息。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4343400" y="3468052"/>
            <a:ext cx="3505200" cy="2540318"/>
            <a:chOff x="4343400" y="3468052"/>
            <a:chExt cx="3505200" cy="2540318"/>
          </a:xfrm>
        </p:grpSpPr>
        <p:sp>
          <p:nvSpPr>
            <p:cNvPr id="25" name="Rectangle 25"/>
            <p:cNvSpPr/>
            <p:nvPr/>
          </p:nvSpPr>
          <p:spPr>
            <a:xfrm>
              <a:off x="4343400" y="3468052"/>
              <a:ext cx="3505200" cy="2540318"/>
            </a:xfrm>
            <a:prstGeom prst="roundRect">
              <a:avLst>
                <a:gd name="adj" fmla="val 524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535805" y="3660458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24753" y="3694748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28947" y="4017645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伯努利定理为什么是辛钦定理的特例？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28947" y="4319588"/>
              <a:ext cx="2971228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把每次试验记为 0-1 变量，它们独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立同分布且期望为 p，算术平均值正是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频率，辛钦定理直接给出频率依概率收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敛于 p。</a:t>
              </a:r>
            </a:p>
          </p:txBody>
        </p:sp>
      </p:grpSp>
      <p:grpSp>
        <p:nvGrpSpPr>
          <p:cNvPr id="36" name="c3-card-1"/>
          <p:cNvGrpSpPr/>
          <p:nvPr/>
        </p:nvGrpSpPr>
        <p:grpSpPr>
          <a:xfrm>
            <a:off x="8153400" y="1524000"/>
            <a:ext cx="3505200" cy="2025968"/>
            <a:chOff x="8153400" y="1524000"/>
            <a:chExt cx="3505200" cy="2025968"/>
          </a:xfrm>
        </p:grpSpPr>
        <p:sp>
          <p:nvSpPr>
            <p:cNvPr id="31" name="Rectangle 31"/>
            <p:cNvSpPr/>
            <p:nvPr/>
          </p:nvSpPr>
          <p:spPr>
            <a:xfrm>
              <a:off x="8153400" y="1524000"/>
              <a:ext cx="3505200" cy="2025968"/>
            </a:xfrm>
            <a:prstGeom prst="roundRect">
              <a:avLst>
                <a:gd name="adj" fmla="val 6582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83458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347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338947" y="2072640"/>
              <a:ext cx="29283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依概率收敛与数列极限的关键差别在哪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里？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338947" y="2632710"/>
              <a:ext cx="292836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数列极限要求从某项起每一项都落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在邻域内；依概率收敛允许任何一项偏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离，只要求偏离超过 ε 的概率趋于 0。</a:t>
              </a:r>
            </a:p>
          </p:txBody>
        </p:sp>
      </p:grpSp>
      <p:grpSp>
        <p:nvGrpSpPr>
          <p:cNvPr id="42" name="c3-card-2"/>
          <p:cNvGrpSpPr/>
          <p:nvPr/>
        </p:nvGrpSpPr>
        <p:grpSpPr>
          <a:xfrm>
            <a:off x="8153400" y="3725228"/>
            <a:ext cx="3505200" cy="2283142"/>
            <a:chOff x="8153400" y="3725228"/>
            <a:chExt cx="3505200" cy="2283142"/>
          </a:xfrm>
        </p:grpSpPr>
        <p:sp>
          <p:nvSpPr>
            <p:cNvPr id="37" name="Rectangle 37"/>
            <p:cNvSpPr/>
            <p:nvPr/>
          </p:nvSpPr>
          <p:spPr>
            <a:xfrm>
              <a:off x="8153400" y="3725228"/>
              <a:ext cx="3505200" cy="2283142"/>
            </a:xfrm>
            <a:prstGeom prst="roundRect">
              <a:avLst>
                <a:gd name="adj" fmla="val 5841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8345805" y="3917632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434753" y="3951923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38947" y="4274820"/>
              <a:ext cx="2979372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服从 B(100, 0.5)，用切比雪夫不等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式估计 P{|X − 50| &lt; 10}，并与真值比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较。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338947" y="5091112"/>
              <a:ext cx="285978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D(X) = 25，下界为 1 − 25/100 =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0.75。精确值 0.9431，正态近似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0.9545。下界比真值低约 0.19。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3044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第5章 大数定律及中心极限定理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24682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1966" y="407194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极限定理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自测题（二）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3505200" cy="2025968"/>
            <a:chOff x="533400" y="1524000"/>
            <a:chExt cx="3505200" cy="202596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3505200" cy="2025968"/>
            </a:xfrm>
            <a:prstGeom prst="roundRect">
              <a:avLst>
                <a:gd name="adj" fmla="val 6582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58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147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8947" y="2072640"/>
              <a:ext cx="268447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列维-林德伯格定理要检查哪三个条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件？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8947" y="2632710"/>
              <a:ext cx="292836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相互独立、服从同一分布、方差存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在且不为零。三条缺一不可，对分布的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具体形式没有要求。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725228"/>
            <a:ext cx="3505200" cy="2540318"/>
            <a:chOff x="533400" y="3725228"/>
            <a:chExt cx="3505200" cy="2540318"/>
          </a:xfrm>
        </p:grpSpPr>
        <p:sp>
          <p:nvSpPr>
            <p:cNvPr id="13" name="Rectangle 13"/>
            <p:cNvSpPr/>
            <p:nvPr/>
          </p:nvSpPr>
          <p:spPr>
            <a:xfrm>
              <a:off x="533400" y="3725228"/>
              <a:ext cx="3505200" cy="2540318"/>
            </a:xfrm>
            <a:prstGeom prst="roundRect">
              <a:avLst>
                <a:gd name="adj" fmla="val 524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25805" y="3917632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14753" y="3951923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8947" y="4274820"/>
              <a:ext cx="29283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二项分布什么时候用泊松近似、什么时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候用正态近似？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8947" y="4833937"/>
              <a:ext cx="2971228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大 p 小、np 适中时用泊松；n 大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且 np(1 − p) 不太小时用正态。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B(100, 0.5) 算 P{X ≤ 45} 时泊松给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0.267，正态给 0.184，真值 0.184。</a:t>
              </a:r>
            </a:p>
          </p:txBody>
        </p:sp>
      </p:grpSp>
      <p:grpSp>
        <p:nvGrpSpPr>
          <p:cNvPr id="24" name="c2-card-1"/>
          <p:cNvGrpSpPr/>
          <p:nvPr/>
        </p:nvGrpSpPr>
        <p:grpSpPr>
          <a:xfrm>
            <a:off x="4343400" y="1524000"/>
            <a:ext cx="3505200" cy="2283142"/>
            <a:chOff x="4343400" y="1524000"/>
            <a:chExt cx="3505200" cy="2283142"/>
          </a:xfrm>
        </p:grpSpPr>
        <p:sp>
          <p:nvSpPr>
            <p:cNvPr id="19" name="Rectangle 19"/>
            <p:cNvSpPr/>
            <p:nvPr/>
          </p:nvSpPr>
          <p:spPr>
            <a:xfrm>
              <a:off x="4343400" y="1524000"/>
              <a:ext cx="3505200" cy="2283142"/>
            </a:xfrm>
            <a:prstGeom prst="roundRect">
              <a:avLst>
                <a:gd name="adj" fmla="val 5841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45358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6247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28947" y="2072640"/>
              <a:ext cx="27569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为什么研究和的极限分布时要先标准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化？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28947" y="2632710"/>
              <a:ext cx="2954084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和的期望与方差一般随 n 增大，和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本身可能趋于无穷；减期望再除标准差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以后期望为 0、方差为 1，极限分布才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存在。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4343400" y="3982402"/>
            <a:ext cx="3505200" cy="2283142"/>
            <a:chOff x="4343400" y="3982402"/>
            <a:chExt cx="3505200" cy="2283142"/>
          </a:xfrm>
        </p:grpSpPr>
        <p:sp>
          <p:nvSpPr>
            <p:cNvPr id="25" name="Rectangle 25"/>
            <p:cNvSpPr/>
            <p:nvPr/>
          </p:nvSpPr>
          <p:spPr>
            <a:xfrm>
              <a:off x="4343400" y="3982402"/>
              <a:ext cx="3505200" cy="2283142"/>
            </a:xfrm>
            <a:prstGeom prst="roundRect">
              <a:avLst>
                <a:gd name="adj" fmla="val 5841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535805" y="4174808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24753" y="4209098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28947" y="4531995"/>
              <a:ext cx="2907792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抛 10000 次硬币，正面频率与 0.5 相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差小于 0.01 的概率约是多少？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28947" y="5091112"/>
              <a:ext cx="2911221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标准差为 0.005，标准化后是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2Φ(2) − 1 ≈ 0.9545。用切比雪夫只能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得到 1 − 0.25/(10000 × 0.0001) =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0.75。</a:t>
              </a:r>
            </a:p>
          </p:txBody>
        </p:sp>
      </p:grpSp>
      <p:grpSp>
        <p:nvGrpSpPr>
          <p:cNvPr id="36" name="c3-card-1"/>
          <p:cNvGrpSpPr/>
          <p:nvPr/>
        </p:nvGrpSpPr>
        <p:grpSpPr>
          <a:xfrm>
            <a:off x="8153400" y="1524000"/>
            <a:ext cx="3505200" cy="1768792"/>
            <a:chOff x="8153400" y="1524000"/>
            <a:chExt cx="3505200" cy="1768792"/>
          </a:xfrm>
        </p:grpSpPr>
        <p:sp>
          <p:nvSpPr>
            <p:cNvPr id="31" name="Rectangle 31"/>
            <p:cNvSpPr/>
            <p:nvPr/>
          </p:nvSpPr>
          <p:spPr>
            <a:xfrm>
              <a:off x="8153400" y="1524000"/>
              <a:ext cx="3505200" cy="1768792"/>
            </a:xfrm>
            <a:prstGeom prst="roundRect">
              <a:avLst>
                <a:gd name="adj" fmla="val 753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83458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347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338947" y="2072640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依概率收敛与依分布收敛哪个更强？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338947" y="2375535"/>
              <a:ext cx="292836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依概率收敛更强，它一定推出依分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布收敛；反之一般不成立，只有极限为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常数时两者等价。</a:t>
              </a:r>
            </a:p>
          </p:txBody>
        </p:sp>
      </p:grpSp>
      <p:grpSp>
        <p:nvGrpSpPr>
          <p:cNvPr id="42" name="c3-card-2"/>
          <p:cNvGrpSpPr/>
          <p:nvPr/>
        </p:nvGrpSpPr>
        <p:grpSpPr>
          <a:xfrm>
            <a:off x="8153400" y="3468052"/>
            <a:ext cx="3505200" cy="2797492"/>
            <a:chOff x="8153400" y="3468052"/>
            <a:chExt cx="3505200" cy="2797492"/>
          </a:xfrm>
        </p:grpSpPr>
        <p:sp>
          <p:nvSpPr>
            <p:cNvPr id="37" name="Rectangle 37"/>
            <p:cNvSpPr/>
            <p:nvPr/>
          </p:nvSpPr>
          <p:spPr>
            <a:xfrm>
              <a:off x="8153400" y="3468052"/>
              <a:ext cx="3505200" cy="2797492"/>
            </a:xfrm>
            <a:prstGeom prst="roundRect">
              <a:avLst>
                <a:gd name="adj" fmla="val 476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8345805" y="3660458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434753" y="3694748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38947" y="4017645"/>
              <a:ext cx="2836212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Xₖ 独立同分布、期望 μ 方差 σ²，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(1/n)ΣXₖ² 依概率收敛于什么？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338947" y="4576762"/>
              <a:ext cx="298837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收敛于 E(X₁²) = σ² + μ²，而不是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μ²。把 Xₖ² 看成新的独立同分布序列，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再用辛钦定理。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3044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第5章 大数定律及中心极限定理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399032" cy="909257"/>
            <a:chOff x="520446" y="342900"/>
            <a:chExt cx="13990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24682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1966" y="407194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第5章 极限定理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4" name="c1-table-1"/>
          <p:cNvGrpSpPr/>
          <p:nvPr/>
        </p:nvGrpSpPr>
        <p:grpSpPr>
          <a:xfrm>
            <a:off x="533400" y="1524000"/>
            <a:ext cx="6059805" cy="3050858"/>
            <a:chOff x="533400" y="1524000"/>
            <a:chExt cx="6059805" cy="305085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38100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416368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条件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284982" y="1641157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用哪条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355908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28078" y="202311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只有期望与方差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688336" y="202311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切比雪夫不等式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505706" y="2023110"/>
              <a:ext cx="12924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P{|X−μ|≥ε} ≤ σ²/ε²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28219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286952"/>
              <a:ext cx="605980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28078" y="2404110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独立、方差一致有上界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688336" y="2404110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切比雪夫大数定律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505706" y="2404110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平均值趋于期望的平均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66319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8078" y="278511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独立重复试验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688336" y="278511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伯努利定理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05706" y="278511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频率趋于概率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04514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049905"/>
              <a:ext cx="605980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28078" y="3167062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独立同分布、有期望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688336" y="316706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辛钦定理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505706" y="3167062"/>
              <a:ext cx="8375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平均值趋于 μ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42614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28078" y="3548062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独立同分布、方差有限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688336" y="3548062"/>
              <a:ext cx="9365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列维-林德伯格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505706" y="3548062"/>
              <a:ext cx="10669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 ≈ N(nμ, nσ²)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380714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3811905"/>
              <a:ext cx="605980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28078" y="3930015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独立、各项分布不同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688336" y="3930015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李雅普诺夫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505706" y="3930015"/>
              <a:ext cx="11761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 ≈ N(Σμₖ, Bₙ²)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418909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28078" y="4311015"/>
              <a:ext cx="11262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二项分布、n 很大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688336" y="4311015"/>
              <a:ext cx="10778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棣莫弗-拉普拉斯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505706" y="4311015"/>
              <a:ext cx="11949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≈ N(np, np(1−p))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1524000"/>
              <a:ext cx="6059805" cy="305085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2588895" y="1524000"/>
              <a:ext cx="9525" cy="3050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4406265" y="1524000"/>
              <a:ext cx="9525" cy="3050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0" name="c1-callout-2"/>
          <p:cNvGrpSpPr/>
          <p:nvPr/>
        </p:nvGrpSpPr>
        <p:grpSpPr>
          <a:xfrm>
            <a:off x="533400" y="4739640"/>
            <a:ext cx="6059805" cy="927735"/>
            <a:chOff x="533400" y="4739640"/>
            <a:chExt cx="6059805" cy="927735"/>
          </a:xfrm>
        </p:grpSpPr>
        <p:sp>
          <p:nvSpPr>
            <p:cNvPr id="45" name="Rectangle 45"/>
            <p:cNvSpPr/>
            <p:nvPr/>
          </p:nvSpPr>
          <p:spPr>
            <a:xfrm>
              <a:off x="533400" y="4739640"/>
              <a:ext cx="6059805" cy="927735"/>
            </a:xfrm>
            <a:prstGeom prst="roundRect">
              <a:avLst>
                <a:gd name="adj" fmla="val 12320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738188" y="5103497"/>
              <a:ext cx="200023" cy="200023"/>
              <a:chOff x="738188" y="5103497"/>
              <a:chExt cx="200023" cy="200023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738188" y="51034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871538" y="51701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1041273" y="5114449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前四行问的是位置，后三行问的是形状。</a:t>
              </a:r>
            </a:p>
          </p:txBody>
        </p:sp>
      </p:grpSp>
      <p:grpSp>
        <p:nvGrpSpPr>
          <p:cNvPr id="66" name="c2-bullets-1"/>
          <p:cNvGrpSpPr/>
          <p:nvPr/>
        </p:nvGrpSpPr>
        <p:grpSpPr>
          <a:xfrm>
            <a:off x="6898005" y="1532572"/>
            <a:ext cx="3358896" cy="1231202"/>
            <a:chOff x="6898005" y="1532572"/>
            <a:chExt cx="3358896" cy="1231202"/>
          </a:xfrm>
        </p:grpSpPr>
        <p:sp>
          <p:nvSpPr>
            <p:cNvPr id="51" name="Ellipse 51"/>
            <p:cNvSpPr/>
            <p:nvPr/>
          </p:nvSpPr>
          <p:spPr>
            <a:xfrm>
              <a:off x="6898005" y="1532572"/>
              <a:ext cx="148590" cy="14859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939939" y="1561386"/>
              <a:ext cx="64723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1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136511" y="1541145"/>
              <a:ext cx="29790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切比雪夫不等式只用期望方差，界松但不挑分布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6898005" y="1786890"/>
              <a:ext cx="148590" cy="14859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939939" y="1815703"/>
              <a:ext cx="64723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1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136511" y="1795462"/>
              <a:ext cx="31203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大数定律讲平均值的位置，收敛方式是依概率收敛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6898005" y="2041207"/>
              <a:ext cx="148590" cy="14859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939939" y="2070021"/>
              <a:ext cx="64723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1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136511" y="2049780"/>
              <a:ext cx="25549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三条大数定律的差别全在对序列的要求上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6898005" y="2295525"/>
              <a:ext cx="148590" cy="14859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939939" y="2324338"/>
              <a:ext cx="64723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1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136511" y="2304098"/>
              <a:ext cx="28376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中心极限定理讲和的分布形状，是依分布收敛</a:t>
              </a:r>
            </a:p>
          </p:txBody>
        </p:sp>
        <p:sp>
          <p:nvSpPr>
            <p:cNvPr id="63" name="Ellipse 63"/>
            <p:cNvSpPr/>
            <p:nvPr/>
          </p:nvSpPr>
          <p:spPr>
            <a:xfrm>
              <a:off x="6898005" y="2548890"/>
              <a:ext cx="148590" cy="14859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939939" y="2578656"/>
              <a:ext cx="64723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1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136511" y="2558415"/>
              <a:ext cx="28376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计算题三步：求期望方差、标准化端点、查表</a:t>
              </a:r>
            </a:p>
          </p:txBody>
        </p:sp>
      </p:grpSp>
      <p:grpSp>
        <p:nvGrpSpPr>
          <p:cNvPr id="80" name="c2-card-2"/>
          <p:cNvGrpSpPr/>
          <p:nvPr/>
        </p:nvGrpSpPr>
        <p:grpSpPr>
          <a:xfrm>
            <a:off x="6898005" y="2887028"/>
            <a:ext cx="4760595" cy="1471612"/>
            <a:chOff x="6898005" y="2887028"/>
            <a:chExt cx="4760595" cy="1471612"/>
          </a:xfrm>
        </p:grpSpPr>
        <p:sp>
          <p:nvSpPr>
            <p:cNvPr id="67" name="Rectangle 67"/>
            <p:cNvSpPr/>
            <p:nvPr/>
          </p:nvSpPr>
          <p:spPr>
            <a:xfrm>
              <a:off x="6898005" y="2887028"/>
              <a:ext cx="4760595" cy="1471612"/>
            </a:xfrm>
            <a:prstGeom prst="roundRect">
              <a:avLst>
                <a:gd name="adj" fmla="val 906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8" name="Rectangle 68"/>
            <p:cNvSpPr/>
            <p:nvPr/>
          </p:nvSpPr>
          <p:spPr>
            <a:xfrm>
              <a:off x="6907530" y="3020378"/>
              <a:ext cx="47625" cy="120491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7117080" y="3068002"/>
              <a:ext cx="182784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7168045" y="3100864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本讲义对原课件的更正与补充</a:t>
              </a:r>
            </a:p>
          </p:txBody>
        </p:sp>
        <p:sp>
          <p:nvSpPr>
            <p:cNvPr id="71" name="Ellipse 71"/>
            <p:cNvSpPr/>
            <p:nvPr/>
          </p:nvSpPr>
          <p:spPr>
            <a:xfrm>
              <a:off x="7117080" y="3396615"/>
              <a:ext cx="180975" cy="18097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7168987" y="343223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7386828" y="3408521"/>
              <a:ext cx="356261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3σ 的正态概率真值 0.9973，课件写 0.9974。</a:t>
              </a:r>
            </a:p>
          </p:txBody>
        </p:sp>
        <p:sp>
          <p:nvSpPr>
            <p:cNvPr id="74" name="Ellipse 74"/>
            <p:cNvSpPr/>
            <p:nvPr/>
          </p:nvSpPr>
          <p:spPr>
            <a:xfrm>
              <a:off x="7117080" y="3682365"/>
              <a:ext cx="180975" cy="18097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7168987" y="371703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7386828" y="3693319"/>
              <a:ext cx="30801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装箱例答案是 98 箱，课件写成 n &lt; 98。</a:t>
              </a:r>
            </a:p>
          </p:txBody>
        </p:sp>
        <p:sp>
          <p:nvSpPr>
            <p:cNvPr id="77" name="Ellipse 77"/>
            <p:cNvSpPr/>
            <p:nvPr/>
          </p:nvSpPr>
          <p:spPr>
            <a:xfrm>
              <a:off x="7117080" y="3967162"/>
              <a:ext cx="180975" cy="18097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7168987" y="400278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7386828" y="3978116"/>
              <a:ext cx="39327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投针页 n、N 含义已统一；四道例题补了精确验算。</a:t>
              </a:r>
            </a:p>
          </p:txBody>
        </p:sp>
      </p:grpSp>
      <p:grpSp>
        <p:nvGrpSpPr>
          <p:cNvPr id="86" name="c2-card-3"/>
          <p:cNvGrpSpPr/>
          <p:nvPr/>
        </p:nvGrpSpPr>
        <p:grpSpPr>
          <a:xfrm>
            <a:off x="6898005" y="4523422"/>
            <a:ext cx="4760595" cy="1143952"/>
            <a:chOff x="6898005" y="4523422"/>
            <a:chExt cx="4760595" cy="1143952"/>
          </a:xfrm>
        </p:grpSpPr>
        <p:sp>
          <p:nvSpPr>
            <p:cNvPr id="81" name="Rectangle 81"/>
            <p:cNvSpPr/>
            <p:nvPr/>
          </p:nvSpPr>
          <p:spPr>
            <a:xfrm>
              <a:off x="6898005" y="4523422"/>
              <a:ext cx="4760595" cy="1143952"/>
            </a:xfrm>
            <a:prstGeom prst="roundRect">
              <a:avLst>
                <a:gd name="adj" fmla="val 116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2" name="Rectangle 82"/>
            <p:cNvSpPr/>
            <p:nvPr/>
          </p:nvSpPr>
          <p:spPr>
            <a:xfrm>
              <a:off x="6907530" y="4656772"/>
              <a:ext cx="47625" cy="877252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83" name="Rectangle 83"/>
            <p:cNvSpPr/>
            <p:nvPr/>
          </p:nvSpPr>
          <p:spPr>
            <a:xfrm>
              <a:off x="7117080" y="4704398"/>
              <a:ext cx="1204912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7186397" y="4737259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与后面几章的接口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7110603" y="5043964"/>
              <a:ext cx="407695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辛钦定理是矩估计法的依据，中心极限定理是区间估计与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假设检验里“样本均值近似正态”的来源。</a:t>
              </a:r>
            </a:p>
          </p:txBody>
        </p:sp>
      </p:grpSp>
      <p:grpSp>
        <p:nvGrpSpPr>
          <p:cNvPr id="92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87" name="Rectangle 87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90" name="Group 90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88" name="Freeform 88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89" name="Freeform 89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91" name="TextBox 91"/>
            <p:cNvSpPr txBox="1"/>
            <p:nvPr/>
          </p:nvSpPr>
          <p:spPr>
            <a:xfrm>
              <a:off x="1041273" y="6039326"/>
              <a:ext cx="759475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复习口诀：只有期望方差就用不等式，问平均值去哪儿用大数定律，问和怎么分布用中心极限定理。</a:t>
              </a:r>
            </a:p>
          </p:txBody>
        </p:sp>
      </p:grpSp>
      <p:grpSp>
        <p:nvGrpSpPr>
          <p:cNvPr id="9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3" name="TextBox 93"/>
            <p:cNvSpPr txBox="1"/>
            <p:nvPr/>
          </p:nvSpPr>
          <p:spPr>
            <a:xfrm>
              <a:off x="528447" y="6581299"/>
              <a:ext cx="3044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概率论与数理统计 · 第5章 大数定律及中心极限定理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prob_ch5">
  <a:themeElements>
    <a:clrScheme name="prob_ch5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rob_ch5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rob_ch5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39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2026-09-23T06:20:46Z</dcterms:created>
  <dcterms:modified xsi:type="dcterms:W3CDTF">2026-09-23T06:20:46Z</dcterms:modified>
  <cp:category/>
  <cp:contentStatus/>
</cp:coreProperties>
</file>