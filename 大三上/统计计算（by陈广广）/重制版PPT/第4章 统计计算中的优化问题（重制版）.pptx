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atc_ch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atc_ch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afba99d33eca1d0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674ee61c1838003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be8743030e5b345.png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692140" cy="3437763"/>
            <a:chOff x="666750" y="1619250"/>
            <a:chExt cx="569214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统计计算 · 第4章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统计计算中的优化问题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9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最大似然估计、非线性回归与 EM 算法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似然函数与得分法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精简似然与非线性回归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5931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EM 算法及其收敛性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5931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高斯混合模型的 EM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067442" cy="205359"/>
            <a:chOff x="680466" y="6192202"/>
            <a:chExt cx="406744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自学复习版｜据吉林大学《统计计算》第4章课件整理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 最大似然估计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似然函数、得分函数与信息阵，牛顿法与得分法，精简最大似然估计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82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 非线性回归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695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正态误差下最大似然与最小二乘的关系，Gauss–Newton 迭代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0511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4.3.1 EM 算法引入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394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缺失数据与双硬币例子，算法步骤与 Q 函数，三硬币模型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49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4.3.2 EM 算法的收敛性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8274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Jensen 不等式构造下界，定理 9.1 与定理 9.2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2732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4.3.3 EM 算法的应用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6328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高斯混合模型的隐变量、E 步、M 步和数值例子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写出常见分布的对数似然、得分函数和信息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阵，求 MLE 及其标准误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写出逻辑斯谛回归的得分法迭代公式，手算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9480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Gauss–Newton 法求非线性最小二乘估计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68808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对含隐变量的模型写出 Q 函数，推出 E 步和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步的公式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30911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Jensen 不等式说明 EM 每次迭代不会减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小似然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从似然函数出发，没有显式解时用迭代算法求最大值点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4.1.1 似然函数与求解步骤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54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4.1.2 得分函数、信息阵与得分法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4.1.3 精简最大似然估计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似然函数：样本取定后，把联合密度看成参数的函数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735002" cy="2559368"/>
            <a:chOff x="533400" y="1524000"/>
            <a:chExt cx="5735002" cy="25593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2559368"/>
            </a:xfrm>
            <a:prstGeom prst="roundRect">
              <a:avLst>
                <a:gd name="adj" fmla="val 52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266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似然函数与对数似然函数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11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有密度或概率函数 p(x|θ)，θ 为 m 维分布参数，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X₂, …, Xₙ 是一组独立样本，则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5277802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4573" y="3439954"/>
              <a:ext cx="4840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L(θ) 称为似然函数（likelihood function），l(θ) 称为对数似然函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273868"/>
            <a:ext cx="5735002" cy="1937385"/>
            <a:chOff x="533400" y="4273868"/>
            <a:chExt cx="5735002" cy="1937385"/>
          </a:xfrm>
        </p:grpSpPr>
        <p:sp>
          <p:nvSpPr>
            <p:cNvPr id="16" name="Rectangle 16"/>
            <p:cNvSpPr/>
            <p:nvPr/>
          </p:nvSpPr>
          <p:spPr>
            <a:xfrm>
              <a:off x="533400" y="4273868"/>
              <a:ext cx="573500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407218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48341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3359" y="45191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直观理解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860608"/>
              <a:ext cx="5015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样本已经出现了，哪个 θ 让“出现这组样本”的可能性最大，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就用它作为 θ 的估计，这就是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最大似然估计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（MLE）。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5481638"/>
              <a:ext cx="4949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取对数把连乘变成求和，求导方便；ln 严格递增，L 与 l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最大值点相同。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6573202" y="1533525"/>
            <a:ext cx="4586951" cy="2529173"/>
            <a:chOff x="6573202" y="1533525"/>
            <a:chExt cx="4586951" cy="2529173"/>
          </a:xfrm>
        </p:grpSpPr>
        <p:sp>
          <p:nvSpPr>
            <p:cNvPr id="23" name="Rectangle 23"/>
            <p:cNvSpPr/>
            <p:nvPr/>
          </p:nvSpPr>
          <p:spPr>
            <a:xfrm>
              <a:off x="6706552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573202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6682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573202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6682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573202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66826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73202" y="34861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66826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84683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写出似然函数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85826" y="1861661"/>
              <a:ext cx="2352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L(θ) = ∏ p(Xᵢ|θ)，i 从 1 到 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84683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取对数并整理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85826" y="2512219"/>
              <a:ext cx="3679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l(θ) = Σ ln p(Xᵢ|θ)，去掉与 θ 无关的常数项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84683" y="2868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求导数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85826" y="3162776"/>
              <a:ext cx="293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θ 的各分量求偏导，得到梯度 ∇l(θ)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84683" y="35204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解似然方程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85826" y="3813334"/>
              <a:ext cx="4174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∇l(θ) = 0 求解；解不出显式解时用 4.1.2 的迭代法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573202" y="4241482"/>
            <a:ext cx="5085398" cy="1969770"/>
            <a:chOff x="6573202" y="4241482"/>
            <a:chExt cx="5085398" cy="1969770"/>
          </a:xfrm>
        </p:grpSpPr>
        <p:sp>
          <p:nvSpPr>
            <p:cNvPr id="41" name="Rectangle 41"/>
            <p:cNvSpPr/>
            <p:nvPr/>
          </p:nvSpPr>
          <p:spPr>
            <a:xfrm>
              <a:off x="6573202" y="4241482"/>
              <a:ext cx="5085398" cy="1969770"/>
            </a:xfrm>
            <a:prstGeom prst="roundRect">
              <a:avLst>
                <a:gd name="adj" fmla="val 580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765932" y="5122663"/>
              <a:ext cx="224134" cy="192560"/>
              <a:chOff x="6765932" y="5122663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878003" y="51930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65932" y="51226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78003" y="52708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079933" y="4845368"/>
              <a:ext cx="40824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似然方程的解还要确认是最大值点：检查海色阵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∇²l(θ) 是否负定，参数有范围限制时还要比较边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界上的取值。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35507" cy="909257"/>
            <a:chOff x="520446" y="342900"/>
            <a:chExt cx="69355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355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例：Poisson 样本的最大似然估计，四步走完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869180" cy="2045970"/>
            <a:chOff x="533400" y="1524000"/>
            <a:chExt cx="4869180" cy="2045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045970"/>
            </a:xfrm>
            <a:prstGeom prst="roundRect">
              <a:avLst>
                <a:gd name="adj" fmla="val 65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92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9202" y="1768792"/>
              <a:ext cx="1900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 Poisson 观测值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767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服从参数为 λ 的 Poisson 分布，概率函数为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41198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126105"/>
              <a:ext cx="3508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观测到 8 个值，求 λ 的最大似然估计。</a:t>
              </a:r>
            </a:p>
          </p:txBody>
        </p:sp>
      </p:grpSp>
      <p:grpSp>
        <p:nvGrpSpPr>
          <p:cNvPr id="33" name="c1-cells-2"/>
          <p:cNvGrpSpPr/>
          <p:nvPr/>
        </p:nvGrpSpPr>
        <p:grpSpPr>
          <a:xfrm>
            <a:off x="526923" y="3760470"/>
            <a:ext cx="3680269" cy="419100"/>
            <a:chOff x="526923" y="3760470"/>
            <a:chExt cx="3680269" cy="419100"/>
          </a:xfrm>
        </p:grpSpPr>
        <p:sp>
          <p:nvSpPr>
            <p:cNvPr id="16" name="TextBox 16"/>
            <p:cNvSpPr txBox="1"/>
            <p:nvPr/>
          </p:nvSpPr>
          <p:spPr>
            <a:xfrm>
              <a:off x="526923" y="38904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xᵢ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4392" y="37604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7710" y="38904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273492" y="37604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26810" y="38904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692592" y="37604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45910" y="38904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111692" y="37604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65010" y="38904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530792" y="37604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84110" y="38904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949892" y="37604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03210" y="38904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368992" y="37604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22310" y="38904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788092" y="376047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941410" y="38904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49" name="c1-table-3"/>
          <p:cNvGrpSpPr/>
          <p:nvPr/>
        </p:nvGrpSpPr>
        <p:grpSpPr>
          <a:xfrm>
            <a:off x="527685" y="4370070"/>
            <a:ext cx="4874895" cy="1193007"/>
            <a:chOff x="527685" y="4370070"/>
            <a:chExt cx="4874895" cy="1193007"/>
          </a:xfrm>
        </p:grpSpPr>
        <p:sp>
          <p:nvSpPr>
            <p:cNvPr id="34" name="Rectangle 34"/>
            <p:cNvSpPr/>
            <p:nvPr/>
          </p:nvSpPr>
          <p:spPr>
            <a:xfrm>
              <a:off x="533400" y="4370070"/>
              <a:ext cx="486918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3895" y="45058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00716" y="450580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98974" y="450580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97231" y="450580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1223" y="4954429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l(λ)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18279" y="495442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−13.660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815590" y="4828222"/>
              <a:ext cx="127920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16537" y="495442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−13.058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14794" y="495442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−13.487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370070"/>
              <a:ext cx="4869180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503045" y="437007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801302" y="437007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099560" y="437007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685" y="5343049"/>
              <a:ext cx="3051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含常数项 −Σ ln xᵢ! 的对数似然；λ = 2 处最大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5707380" y="1524000"/>
            <a:ext cx="5951220" cy="3119438"/>
            <a:chOff x="5707380" y="1524000"/>
            <a:chExt cx="5951220" cy="3119438"/>
          </a:xfrm>
        </p:grpSpPr>
        <p:sp>
          <p:nvSpPr>
            <p:cNvPr id="50" name="Rectangle 50"/>
            <p:cNvSpPr/>
            <p:nvPr/>
          </p:nvSpPr>
          <p:spPr>
            <a:xfrm>
              <a:off x="5707380" y="1524000"/>
              <a:ext cx="5951220" cy="3119438"/>
            </a:xfrm>
            <a:prstGeom prst="roundRect">
              <a:avLst>
                <a:gd name="adj" fmla="val 427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91693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1204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916930" y="209740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7877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17920" y="2110740"/>
              <a:ext cx="2894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写似然函数（n = 8，Σxᵢ = 16）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formula6"/>
                <p:cNvSpPr txBox="1">
                  <a:spLocks noGrp="1"/>
                </p:cNvSpPr>
                <p:nvPr/>
              </p:nvSpPr>
              <p:spPr>
                <a:xfrm>
                  <a:off x="5916930" y="2421255"/>
                  <a:ext cx="5532120" cy="6915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p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sup>
                                </m:sSup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16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8λ</m:t>
                                </m:r>
                              </m:sup>
                            </m:sSup>
                          </m:num>
                          <m:den>
                            <m:nary>
                              <m:naryPr>
                                <m:chr m:val="∏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7" name="Ellipse 57"/>
            <p:cNvSpPr/>
            <p:nvPr/>
          </p:nvSpPr>
          <p:spPr>
            <a:xfrm>
              <a:off x="5916930" y="321945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78779" y="32617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17920" y="3232785"/>
              <a:ext cx="3462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取对数：l(λ) = 16 ln λ − 8λ − Σ ln xᵢ!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916930" y="355473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78779" y="35970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17920" y="356806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求导数：l′(λ) = 16/λ − 8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916930" y="389001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78779" y="39323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17920" y="3903345"/>
              <a:ext cx="4174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解似然方程：16/λ − 8 = 0，得 λ 的估计值为 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910453" y="4235291"/>
              <a:ext cx="310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又 l″(λ) = −16/λ² &lt; 0，确是最大值点。</a:t>
              </a:r>
            </a:p>
          </p:txBody>
        </p:sp>
      </p:grpSp>
      <p:grpSp>
        <p:nvGrpSpPr>
          <p:cNvPr id="73" name="c2-callout-2"/>
          <p:cNvGrpSpPr/>
          <p:nvPr/>
        </p:nvGrpSpPr>
        <p:grpSpPr>
          <a:xfrm>
            <a:off x="5707380" y="4833938"/>
            <a:ext cx="5951220" cy="684848"/>
            <a:chOff x="5707380" y="4833938"/>
            <a:chExt cx="5951220" cy="684848"/>
          </a:xfrm>
        </p:grpSpPr>
        <p:sp>
          <p:nvSpPr>
            <p:cNvPr id="68" name="Rectangle 68"/>
            <p:cNvSpPr/>
            <p:nvPr/>
          </p:nvSpPr>
          <p:spPr>
            <a:xfrm>
              <a:off x="5707380" y="4833938"/>
              <a:ext cx="5951220" cy="684848"/>
            </a:xfrm>
            <a:prstGeom prst="roundRect">
              <a:avLst>
                <a:gd name="adj" fmla="val 16690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5912168" y="5076827"/>
              <a:ext cx="200023" cy="200023"/>
              <a:chOff x="5912168" y="5076827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5912168" y="50768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045518" y="5143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214110" y="5072062"/>
              <a:ext cx="5220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一般地，Poisson 分布参数 λ 的 MLE 是样本均值 Σxᵢ/n。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80507" cy="909257"/>
            <a:chOff x="520446" y="342900"/>
            <a:chExt cx="66805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805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得分函数与信息阵：MLE 是得分函数的零点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2036445"/>
            <a:chOff x="533400" y="1524000"/>
            <a:chExt cx="5193982" cy="2036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91565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528" y="1769269"/>
              <a:ext cx="946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4.1.2 得分法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761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设对数似然函数 l(θ) 有二阶连续偏导数。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602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∇l(θ) 称为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得分函数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（score function）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1300"/>
              <a:ext cx="2599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 ∇l(θ) = 0 称为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估计方程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794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11658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求最大似然估计可以通过解估计方程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750945"/>
            <a:ext cx="5193982" cy="2165985"/>
            <a:chOff x="533400" y="3750945"/>
            <a:chExt cx="5193982" cy="2165985"/>
          </a:xfrm>
        </p:grpSpPr>
        <p:sp>
          <p:nvSpPr>
            <p:cNvPr id="19" name="Rectangle 19"/>
            <p:cNvSpPr/>
            <p:nvPr/>
          </p:nvSpPr>
          <p:spPr>
            <a:xfrm>
              <a:off x="533400" y="3750945"/>
              <a:ext cx="5193982" cy="2165985"/>
            </a:xfrm>
            <a:prstGeom prst="roundRect">
              <a:avLst>
                <a:gd name="adj" fmla="val 6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884295"/>
              <a:ext cx="47625" cy="18992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3960495"/>
              <a:ext cx="90582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5132" y="3996214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 的信息阵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337685"/>
              <a:ext cx="4799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设参数真值为 θ₀，单个观测 X 的（Fisher）信息阵为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9"/>
                <p:cNvSpPr txBox="1">
                  <a:spLocks noGrp="1"/>
                </p:cNvSpPr>
                <p:nvPr/>
              </p:nvSpPr>
              <p:spPr>
                <a:xfrm>
                  <a:off x="781050" y="4648200"/>
                  <a:ext cx="473678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∇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∇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774573" y="5126831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第二个等号在正则性条件下成立（求导与积分可交换，得分函数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期望为 0）。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032182" y="1524000"/>
            <a:ext cx="5626418" cy="2501265"/>
            <a:chOff x="6032182" y="1524000"/>
            <a:chExt cx="5626418" cy="2501265"/>
          </a:xfrm>
        </p:grpSpPr>
        <p:sp>
          <p:nvSpPr>
            <p:cNvPr id="27" name="Rectangle 27"/>
            <p:cNvSpPr/>
            <p:nvPr/>
          </p:nvSpPr>
          <p:spPr>
            <a:xfrm>
              <a:off x="6032182" y="1524000"/>
              <a:ext cx="5626418" cy="2501265"/>
            </a:xfrm>
            <a:prstGeom prst="roundRect">
              <a:avLst>
                <a:gd name="adj" fmla="val 53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41708" y="1657350"/>
              <a:ext cx="47625" cy="22345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79832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3289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样本的信息阵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72212" y="211074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10"/>
                <p:cNvSpPr txBox="1">
                  <a:spLocks noGrp="1"/>
                </p:cNvSpPr>
                <p:nvPr/>
              </p:nvSpPr>
              <p:spPr>
                <a:xfrm>
                  <a:off x="6279832" y="2421255"/>
                  <a:ext cx="516921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∇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∇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Ellipse 33"/>
            <p:cNvSpPr/>
            <p:nvPr/>
          </p:nvSpPr>
          <p:spPr>
            <a:xfrm>
              <a:off x="6285548" y="30232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43662" y="2960370"/>
              <a:ext cx="37129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Iₙ(θ₀) 为 (X₁, X₂, …, Xₙ) 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信息阵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85548" y="33585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43662" y="3295650"/>
              <a:ext cx="4758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X₁, …, Xₙ 独立同分布时 Iₙ(θ₀) = n·I(θ₀)：l 是 n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独立同分布项之和，方差相加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032182" y="4215765"/>
            <a:ext cx="5626418" cy="1701165"/>
            <a:chOff x="6032182" y="4215765"/>
            <a:chExt cx="5626418" cy="1701165"/>
          </a:xfrm>
        </p:grpSpPr>
        <p:sp>
          <p:nvSpPr>
            <p:cNvPr id="38" name="Rectangle 38"/>
            <p:cNvSpPr/>
            <p:nvPr/>
          </p:nvSpPr>
          <p:spPr>
            <a:xfrm>
              <a:off x="6032182" y="4215765"/>
              <a:ext cx="5626418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41708" y="434911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79832" y="44253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66091" y="44610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接上例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85548" y="486537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43662" y="4802505"/>
              <a:ext cx="4851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 p(x|λ) = x ln λ − λ − ln x!，对 λ 求两次导得 −x/λ²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85548" y="520065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43662" y="5137785"/>
              <a:ext cx="4003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I(λ) = E[X/λ²] = λ/λ² = 1/λ，Iₙ(λ) = n/λ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85548" y="55359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43662" y="5473065"/>
              <a:ext cx="4225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越小，单个观测提供的信息越多，估计越精确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80507" cy="909257"/>
            <a:chOff x="520446" y="342900"/>
            <a:chExt cx="66805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805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MLE 渐近正态：用信息阵的逆估计协方差阵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078355"/>
            <a:chOff x="533400" y="1524000"/>
            <a:chExt cx="5626418" cy="2078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78355"/>
            </a:xfrm>
            <a:prstGeom prst="roundRect">
              <a:avLst>
                <a:gd name="adj" fmla="val 64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116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74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渐近正态性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0001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在适当的正则性条件下，θ 的最大似然估计满足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5"/>
                <p:cNvSpPr txBox="1">
                  <a:spLocks noGrp="1"/>
                </p:cNvSpPr>
                <p:nvPr/>
              </p:nvSpPr>
              <p:spPr>
                <a:xfrm>
                  <a:off x="775335" y="2397442"/>
                  <a:ext cx="5180648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ad>
                          <m:radPr>
                            <m:degHide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rad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groupChr>
                          <m:groupChrPr>
                            <m:chr m:val="→"/>
                            <m:pos m:val="bot"/>
                            <m:vertJc m:val="top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groupChr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</m:groupCh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→∞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9239" y="2989898"/>
              <a:ext cx="49728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箭头上的 d 表示依分布收敛。n 较大时，MLE 近似服从均值为 θ₀、协方差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阵为 [Iₙ(θ₀)]⁻¹ 的正态分布。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787140"/>
            <a:ext cx="5626418" cy="2555558"/>
            <a:chOff x="533400" y="3787140"/>
            <a:chExt cx="5626418" cy="2555558"/>
          </a:xfrm>
        </p:grpSpPr>
        <p:sp>
          <p:nvSpPr>
            <p:cNvPr id="15" name="Rectangle 15"/>
            <p:cNvSpPr/>
            <p:nvPr/>
          </p:nvSpPr>
          <p:spPr>
            <a:xfrm>
              <a:off x="533400" y="3787140"/>
              <a:ext cx="5626418" cy="2555558"/>
            </a:xfrm>
            <a:prstGeom prst="roundRect">
              <a:avLst>
                <a:gd name="adj" fmla="val 521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7235" y="3990975"/>
              <a:ext cx="214026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007" y="4026694"/>
              <a:ext cx="2079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求得 MLE 后怎样估计协方差阵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996" y="4363879"/>
              <a:ext cx="2745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 θ₀ 未知，把 MLE 代进去：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16"/>
                <p:cNvSpPr txBox="1">
                  <a:spLocks noGrp="1"/>
                </p:cNvSpPr>
                <p:nvPr/>
              </p:nvSpPr>
              <p:spPr>
                <a:xfrm>
                  <a:off x="737235" y="4660582"/>
                  <a:ext cx="5218748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̂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</m:e>
                        </m:acc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nor m:val="on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or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∇</m:t>
                                    </m:r>
                                  </m:e>
                                  <m:sup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Ellipse 20"/>
            <p:cNvSpPr/>
            <p:nvPr/>
          </p:nvSpPr>
          <p:spPr>
            <a:xfrm>
              <a:off x="744855" y="523684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1446" y="5176361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前者用期望信息（得分法），后者用观测信息（牛顿法）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44855" y="555688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1446" y="549640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对角线元素开方就是各参数的标准误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464618" y="1524000"/>
            <a:ext cx="5193982" cy="3877628"/>
            <a:chOff x="6464618" y="1524000"/>
            <a:chExt cx="5193982" cy="3877628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3877628"/>
            </a:xfrm>
            <a:prstGeom prst="roundRect">
              <a:avLst>
                <a:gd name="adj" fmla="val 3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4142" y="1657350"/>
              <a:ext cx="47625" cy="36109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06552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1663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66038" y="1767364"/>
              <a:ext cx="25240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Poisson 例题的标准误与区间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06552" y="2095500"/>
              <a:ext cx="4748212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8827" y="22269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05875" y="22269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20362" y="22269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11899" y="2657475"/>
              <a:ext cx="703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的 MLE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1136" y="2657475"/>
              <a:ext cx="10622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 16/8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37482" y="26574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706552" y="2951798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06552" y="2956560"/>
              <a:ext cx="474821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11899" y="3087052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1136" y="3087052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n/λ = 8/2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37482" y="30870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06552" y="3381375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11899" y="35175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方差估计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31136" y="3517582"/>
              <a:ext cx="345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1/Iₙ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04208" y="35175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06552" y="3811905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06552" y="3816668"/>
              <a:ext cx="474821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11899" y="39481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31136" y="394811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√0.25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48633" y="394811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06552" y="4241482"/>
              <a:ext cx="474821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11899" y="4377690"/>
              <a:ext cx="1073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 95% 区间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31136" y="4377690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± 1.96 × 0.5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69004" y="437769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[1.02, 2.98]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706552" y="2095500"/>
              <a:ext cx="4748212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221028" y="20955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916478" y="20955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00456" y="4789170"/>
              <a:ext cx="44241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观测信息 −l″(2) = 16/2² = 4，与期望信息相同；一般模型中两者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只是近似相等。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464618" y="5586412"/>
            <a:ext cx="5193982" cy="756285"/>
            <a:chOff x="6464618" y="5586412"/>
            <a:chExt cx="5193982" cy="756285"/>
          </a:xfrm>
        </p:grpSpPr>
        <p:sp>
          <p:nvSpPr>
            <p:cNvPr id="60" name="Rectangle 60"/>
            <p:cNvSpPr/>
            <p:nvPr/>
          </p:nvSpPr>
          <p:spPr>
            <a:xfrm>
              <a:off x="6464618" y="558641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657347" y="5860851"/>
              <a:ext cx="224134" cy="192560"/>
              <a:chOff x="6657347" y="5860851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769418" y="59312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657347" y="58608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69418" y="60090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971729" y="5733574"/>
              <a:ext cx="428853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渐近结论要求 n 较大。n = 8 时这个区间只能作粗略参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考。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数值求解：牛顿法用海色阵，得分法用负信息阵代替它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320290"/>
            <a:chOff x="533400" y="1524000"/>
            <a:chExt cx="5410200" cy="23202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20290"/>
            </a:xfrm>
            <a:prstGeom prst="roundRect">
              <a:avLst>
                <a:gd name="adj" fmla="val 57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359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牛顿法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73938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l(θ) 的最大值点没有显式解时，常用牛顿法、拟牛顿法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（BFGS，用梯度的变化近似海色阵）等。牛顿法在当前点把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l(θ) 展开到二阶，取近似二次函数的最大值点：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1"/>
                <p:cNvSpPr txBox="1">
                  <a:spLocks noGrp="1"/>
                </p:cNvSpPr>
                <p:nvPr/>
              </p:nvSpPr>
              <p:spPr>
                <a:xfrm>
                  <a:off x="775335" y="2940368"/>
                  <a:ext cx="496443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∇</m:t>
                                    </m:r>
                                  </m:e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∇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9239" y="3452812"/>
              <a:ext cx="4472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收敛后，MLE 的协方差阵用 [−∇²l]⁻¹ 在 MLE 处的值来估计。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029075"/>
            <a:ext cx="5410200" cy="2288858"/>
            <a:chOff x="533400" y="4029075"/>
            <a:chExt cx="5410200" cy="2288858"/>
          </a:xfrm>
        </p:grpSpPr>
        <p:sp>
          <p:nvSpPr>
            <p:cNvPr id="15" name="Rectangle 15"/>
            <p:cNvSpPr/>
            <p:nvPr/>
          </p:nvSpPr>
          <p:spPr>
            <a:xfrm>
              <a:off x="533400" y="4029075"/>
              <a:ext cx="5410200" cy="2288858"/>
            </a:xfrm>
            <a:prstGeom prst="roundRect">
              <a:avLst>
                <a:gd name="adj" fmla="val 5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62425"/>
              <a:ext cx="47625" cy="20221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4232910"/>
              <a:ext cx="145827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7335" y="4268629"/>
              <a:ext cx="1335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得分法（scoring）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096" y="4605814"/>
              <a:ext cx="41713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样本量充分大且 θ 接近真值 θ₀ 时，海色阵 ∇²l(θ) 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−Iₙ(θ)。用负信息阵代替海色阵：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2"/>
                <p:cNvSpPr txBox="1">
                  <a:spLocks noGrp="1"/>
                </p:cNvSpPr>
                <p:nvPr/>
              </p:nvSpPr>
              <p:spPr>
                <a:xfrm>
                  <a:off x="775335" y="5173980"/>
                  <a:ext cx="496443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∇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6" name="c2-table-1"/>
          <p:cNvGrpSpPr/>
          <p:nvPr/>
        </p:nvGrpSpPr>
        <p:grpSpPr>
          <a:xfrm>
            <a:off x="6248400" y="1524000"/>
            <a:ext cx="5410200" cy="2790825"/>
            <a:chOff x="6248400" y="1524000"/>
            <a:chExt cx="5410200" cy="2790825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7607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503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牛顿法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5481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得分法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3747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用的矩阵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44372" y="2085022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海色阵 ∇²l(θ)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54159" y="2085022"/>
              <a:ext cx="96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信息阵 Iₙ(θ)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3747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44372" y="251555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要算二阶导，与数据有关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54159" y="251555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求期望后形式常更简单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3747" y="31594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44372" y="2946082"/>
              <a:ext cx="16885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远离最大值点时海色阵可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能不负定，方向可能不上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54159" y="3052762"/>
              <a:ext cx="17114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Iₙ 正定，迭代方向总是上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升方向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6661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3670935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3747" y="3909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44372" y="39090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解附近二次收敛，很快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54159" y="3802380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开始阶段较稳，解附近一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般慢于牛顿法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1524000"/>
              <a:ext cx="5410200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434262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544050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2"/>
          <p:cNvGrpSpPr/>
          <p:nvPr/>
        </p:nvGrpSpPr>
        <p:grpSpPr>
          <a:xfrm>
            <a:off x="6248400" y="4500562"/>
            <a:ext cx="5410200" cy="1817370"/>
            <a:chOff x="6248400" y="4500562"/>
            <a:chExt cx="5410200" cy="1817370"/>
          </a:xfrm>
        </p:grpSpPr>
        <p:sp>
          <p:nvSpPr>
            <p:cNvPr id="47" name="Rectangle 47"/>
            <p:cNvSpPr/>
            <p:nvPr/>
          </p:nvSpPr>
          <p:spPr>
            <a:xfrm>
              <a:off x="6248400" y="4500562"/>
              <a:ext cx="541020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4633912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90335" y="47043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80543" y="4740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83096" y="5077301"/>
              <a:ext cx="464921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原课件把迭代式写作 θ⁽ᵗ⁺¹⁾ = θ⁽ᵗ⁾[−Iₙ(θ⁽ᵗ⁾)]⁻¹∇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l(θ⁽ᵗ⁾)，漏了运算符，并标为“牛顿法的迭代公式”。它其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实是得分法：在牛顿公式中以 −Iₙ 代替 ∇²l，得 θ⁽ᵗ⁾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[−Iₙ]⁻¹∇l，即左边的加号形式。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48639" cy="909257"/>
            <a:chOff x="520446" y="342900"/>
            <a:chExt cx="89486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486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例：逻辑斯谛回归，成功概率的 logit 是自变量的线性函数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4977765" cy="3288030"/>
            <a:chOff x="533400" y="1524000"/>
            <a:chExt cx="4977765" cy="32880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288030"/>
            </a:xfrm>
            <a:prstGeom prst="roundRect">
              <a:avLst>
                <a:gd name="adj" fmla="val 40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213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逻辑斯谛回归模型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Yᵢ ~ B(mᵢ, πᵢ)，i = 1, 2, …, n，Y₁, …, Yₙ 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互独立，其中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7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52056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β</m:t>
                                        </m:r>
                                      </m:e>
                                      <m:sup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β</m:t>
                                        </m:r>
                                      </m:e>
                                      <m:sup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Ellipse 14"/>
            <p:cNvSpPr/>
            <p:nvPr/>
          </p:nvSpPr>
          <p:spPr>
            <a:xfrm>
              <a:off x="786765" y="347472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411855"/>
              <a:ext cx="3498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 为未知参数向量，xᵢ 是已知的自变量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8100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747135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 logit(π) = log[π/(1 − π)]，π ∈ (0, 1)，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逻辑斯谛函数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4310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368165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模型等价于 logit(πᵢ) = βᵀxᵢ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5002530"/>
            <a:ext cx="4977765" cy="1350645"/>
            <a:chOff x="533400" y="5002530"/>
            <a:chExt cx="4977765" cy="1350645"/>
          </a:xfrm>
        </p:grpSpPr>
        <p:sp>
          <p:nvSpPr>
            <p:cNvPr id="21" name="Rectangle 21"/>
            <p:cNvSpPr/>
            <p:nvPr/>
          </p:nvSpPr>
          <p:spPr>
            <a:xfrm>
              <a:off x="533400" y="5002530"/>
              <a:ext cx="4977765" cy="1350645"/>
            </a:xfrm>
            <a:prstGeom prst="roundRect">
              <a:avLst>
                <a:gd name="adj" fmla="val 846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577840"/>
              <a:ext cx="200026" cy="200026"/>
              <a:chOff x="738188" y="5577840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5778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6445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56778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434965"/>
              <a:ext cx="3863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例子：第 i 组有 mᵢ 只昆虫接受剂量 xᵢ，其中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Yᵢ 只死亡，πᵢ 是该剂量下的死亡率。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5815965" y="1524000"/>
            <a:ext cx="5842635" cy="3579495"/>
            <a:chOff x="5815965" y="1524000"/>
            <a:chExt cx="5842635" cy="3579495"/>
          </a:xfrm>
        </p:grpSpPr>
        <p:sp>
          <p:nvSpPr>
            <p:cNvPr id="28" name="Rectangle 28"/>
            <p:cNvSpPr/>
            <p:nvPr/>
          </p:nvSpPr>
          <p:spPr>
            <a:xfrm>
              <a:off x="5815965" y="1524000"/>
              <a:ext cx="5842635" cy="3579495"/>
            </a:xfrm>
            <a:prstGeom prst="roundRect">
              <a:avLst>
                <a:gd name="adj" fmla="val 372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25515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98972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写出对数似然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7895" y="2110740"/>
              <a:ext cx="3484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Yᵢ 的概率函数（代入 πᵢ 的表达式）：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28"/>
                <p:cNvSpPr txBox="1">
                  <a:spLocks noGrp="1"/>
                </p:cNvSpPr>
                <p:nvPr/>
              </p:nvSpPr>
              <p:spPr>
                <a:xfrm>
                  <a:off x="6025515" y="2421255"/>
                  <a:ext cx="542353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b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p>
                        </m:sSub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β</m:t>
                                            </m:r>
                                          </m:e>
                                          <m:sup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sup>
                                        </m:sSup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p>
                        </m:sSup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β</m:t>
                                            </m:r>
                                          </m:e>
                                          <m:sup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sup>
                                        </m:sSup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  <m:sup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6017895" y="2952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其对数为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29"/>
                <p:cNvSpPr txBox="1">
                  <a:spLocks noGrp="1"/>
                </p:cNvSpPr>
                <p:nvPr/>
              </p:nvSpPr>
              <p:spPr>
                <a:xfrm>
                  <a:off x="6025515" y="3263265"/>
                  <a:ext cx="542353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β</m:t>
                                            </m:r>
                                          </m:e>
                                          <m:sup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sup>
                                        </m:sSup>
                                        <m:sSub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TextBox 35"/>
            <p:cNvSpPr txBox="1"/>
            <p:nvPr/>
          </p:nvSpPr>
          <p:spPr>
            <a:xfrm>
              <a:off x="6017895" y="3897630"/>
              <a:ext cx="3256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i 求和，省略不随 β 变化的部分：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30"/>
                <p:cNvSpPr txBox="1">
                  <a:spLocks noGrp="1"/>
                </p:cNvSpPr>
                <p:nvPr/>
              </p:nvSpPr>
              <p:spPr>
                <a:xfrm>
                  <a:off x="6025515" y="4208145"/>
                  <a:ext cx="5423535" cy="666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β</m:t>
                                    </m:r>
                                  </m:e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func>
                                          <m:funcPr/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exp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e>
                                                    <m:r>
                                                      <a:rPr lang="zh-CN" sz="150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β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zh-CN" sz="150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T</m:t>
                                                    </m:r>
                                                  </m:sup>
                                                </m:sSup>
                                                <m:sSub>
                                                  <m:e>
                                                    <m:r>
                                                      <a:rPr lang="zh-CN" sz="150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x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zh-CN" sz="150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4" name="c2-callout-2"/>
          <p:cNvGrpSpPr/>
          <p:nvPr/>
        </p:nvGrpSpPr>
        <p:grpSpPr>
          <a:xfrm>
            <a:off x="5815965" y="5293995"/>
            <a:ext cx="5842635" cy="1059180"/>
            <a:chOff x="5815965" y="5293995"/>
            <a:chExt cx="5842635" cy="1059180"/>
          </a:xfrm>
        </p:grpSpPr>
        <p:sp>
          <p:nvSpPr>
            <p:cNvPr id="38" name="Rectangle 38"/>
            <p:cNvSpPr/>
            <p:nvPr/>
          </p:nvSpPr>
          <p:spPr>
            <a:xfrm>
              <a:off x="5815965" y="5293995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020753" y="5723573"/>
              <a:ext cx="200026" cy="200026"/>
              <a:chOff x="6020753" y="572357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020753" y="57235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120765" y="57902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09653" y="58235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322695" y="5442585"/>
              <a:ext cx="49491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省掉的 Σ log C(mᵢ, yᵢ) 只与数据有关、不含 β，去掉它不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改变最大值点，但比较对数似然数值时要记得它被省略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485680" cy="909257"/>
            <a:chOff x="520446" y="342900"/>
            <a:chExt cx="104856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4856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逻辑斯谛回归的梯度与海色阵：海色阵不含 yᵢ，得分法与牛顿法一致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842635" cy="1263968"/>
            <a:chOff x="533400" y="1524000"/>
            <a:chExt cx="5842635" cy="1263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263968"/>
            </a:xfrm>
            <a:prstGeom prst="roundRect">
              <a:avLst>
                <a:gd name="adj" fmla="val 105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70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梯度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55"/>
                <p:cNvSpPr txBox="1">
                  <a:spLocks noGrp="1"/>
                </p:cNvSpPr>
                <p:nvPr/>
              </p:nvSpPr>
              <p:spPr>
                <a:xfrm>
                  <a:off x="714375" y="2024062"/>
                  <a:ext cx="5480685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∇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func>
                                      <m:funcPr/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e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β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T</m:t>
                                                </m:r>
                                              </m:sup>
                                            </m:sSup>
                                            <m:sSub>
                                              <m:e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func>
                                      <m:funcPr/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e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β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T</m:t>
                                                </m:r>
                                              </m:sup>
                                            </m:sSup>
                                            <m:sSub>
                                              <m:e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7" name="c1-card-2"/>
          <p:cNvGrpSpPr/>
          <p:nvPr/>
        </p:nvGrpSpPr>
        <p:grpSpPr>
          <a:xfrm>
            <a:off x="533400" y="2952750"/>
            <a:ext cx="5842635" cy="1703070"/>
            <a:chOff x="533400" y="2952750"/>
            <a:chExt cx="5842635" cy="1703070"/>
          </a:xfrm>
        </p:grpSpPr>
        <p:sp>
          <p:nvSpPr>
            <p:cNvPr id="12" name="Rectangle 12"/>
            <p:cNvSpPr/>
            <p:nvPr/>
          </p:nvSpPr>
          <p:spPr>
            <a:xfrm>
              <a:off x="533400" y="2952750"/>
              <a:ext cx="5842635" cy="1703070"/>
            </a:xfrm>
            <a:prstGeom prst="roundRect">
              <a:avLst>
                <a:gd name="adj" fmla="val 78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4375" y="313372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996" y="316658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海色阵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56"/>
                <p:cNvSpPr txBox="1">
                  <a:spLocks noGrp="1"/>
                </p:cNvSpPr>
                <p:nvPr/>
              </p:nvSpPr>
              <p:spPr>
                <a:xfrm>
                  <a:off x="714375" y="3452812"/>
                  <a:ext cx="5480685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∇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β</m:t>
                                            </m:r>
                                          </m:e>
                                          <m:sup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sup>
                                        </m:sSup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sSup>
                                  <m:e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func>
                                          <m:funcPr/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exp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e>
                                                    <m:r>
                                                      <a:rPr lang="zh-CN" sz="12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β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zh-CN" sz="12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T</m:t>
                                                    </m:r>
                                                  </m:sup>
                                                </m:sSup>
                                                <m:sSub>
                                                  <m:e>
                                                    <m:r>
                                                      <a:rPr lang="zh-CN" sz="12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x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zh-CN" sz="12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i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09041" y="4117658"/>
              <a:ext cx="517798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 u = βᵀxᵢ，π = exp(u)/[1 + exp(u)] 对 u 的导数为 exp(u)/[1 + exp(u)]² = π(1 −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π)。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4820602"/>
            <a:ext cx="5842635" cy="1258252"/>
            <a:chOff x="533400" y="4820602"/>
            <a:chExt cx="5842635" cy="1258252"/>
          </a:xfrm>
        </p:grpSpPr>
        <p:sp>
          <p:nvSpPr>
            <p:cNvPr id="18" name="Rectangle 18"/>
            <p:cNvSpPr/>
            <p:nvPr/>
          </p:nvSpPr>
          <p:spPr>
            <a:xfrm>
              <a:off x="533400" y="4820602"/>
              <a:ext cx="5842635" cy="1258252"/>
            </a:xfrm>
            <a:prstGeom prst="roundRect">
              <a:avLst>
                <a:gd name="adj" fmla="val 90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350193"/>
              <a:ext cx="200026" cy="200026"/>
              <a:chOff x="738188" y="5350193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3501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5416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54502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1273" y="5243989"/>
              <a:ext cx="48328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海色阵只依赖 β 和已知的 xᵢ，不含随机的 yᵢ，所以 Iₙ(β) = E[−∇²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l(β)] = −∇²l(β)。牛顿法和得分法的迭代完全相同。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680835" y="1524000"/>
            <a:ext cx="4977765" cy="1847850"/>
            <a:chOff x="6680835" y="1524000"/>
            <a:chExt cx="4977765" cy="1847850"/>
          </a:xfrm>
        </p:grpSpPr>
        <p:sp>
          <p:nvSpPr>
            <p:cNvPr id="25" name="Rectangle 25"/>
            <p:cNvSpPr/>
            <p:nvPr/>
          </p:nvSpPr>
          <p:spPr>
            <a:xfrm>
              <a:off x="6680835" y="1524000"/>
              <a:ext cx="4977765" cy="1847850"/>
            </a:xfrm>
            <a:prstGeom prst="roundRect">
              <a:avLst>
                <a:gd name="adj" fmla="val 721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61810" y="1704975"/>
              <a:ext cx="2297430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99194" y="1737836"/>
              <a:ext cx="2222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得分法的迭代公式（t = 0, 1, 2, …）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57"/>
                <p:cNvSpPr txBox="1">
                  <a:spLocks noGrp="1"/>
                </p:cNvSpPr>
                <p:nvPr/>
              </p:nvSpPr>
              <p:spPr>
                <a:xfrm>
                  <a:off x="6861810" y="2024062"/>
                  <a:ext cx="461581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logit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bSup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58"/>
                <p:cNvSpPr txBox="1">
                  <a:spLocks noGrp="1"/>
                </p:cNvSpPr>
                <p:nvPr/>
              </p:nvSpPr>
              <p:spPr>
                <a:xfrm>
                  <a:off x="6861810" y="2428875"/>
                  <a:ext cx="4615815" cy="5000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sSub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π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Sup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π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12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t</m:t>
                                                </m:r>
                                              </m:e>
                                            </m:d>
                                          </m:sup>
                                        </m:sSubSup>
                                      </m:e>
                                    </m:d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sSub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sSub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π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6856476" y="3027045"/>
              <a:ext cx="41191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原课件写成 β⁽ᵗ⁾ − [−Σ…]⁻¹[Σ…]，两个负号相消，与此式相同。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680835" y="3536632"/>
            <a:ext cx="4977765" cy="702945"/>
            <a:chOff x="6680835" y="3536632"/>
            <a:chExt cx="4977765" cy="702945"/>
          </a:xfrm>
        </p:grpSpPr>
        <p:sp>
          <p:nvSpPr>
            <p:cNvPr id="32" name="Rectangle 32"/>
            <p:cNvSpPr/>
            <p:nvPr/>
          </p:nvSpPr>
          <p:spPr>
            <a:xfrm>
              <a:off x="6680835" y="3536632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885623" y="3788093"/>
              <a:ext cx="200026" cy="200025"/>
              <a:chOff x="6885623" y="3788093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885623" y="37880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25361" y="38325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960077" y="39436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188708" y="3681889"/>
              <a:ext cx="40444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这个算法也叫迭代重加权最小二乘（IRLS），R 的 glm()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拟合逻辑斯谛回归就用它。</a:t>
              </a:r>
            </a:p>
          </p:txBody>
        </p:sp>
      </p:grpSp>
      <p:grpSp>
        <p:nvGrpSpPr>
          <p:cNvPr id="48" name="c2-card-3"/>
          <p:cNvGrpSpPr/>
          <p:nvPr/>
        </p:nvGrpSpPr>
        <p:grpSpPr>
          <a:xfrm>
            <a:off x="6680835" y="4404360"/>
            <a:ext cx="4977765" cy="1675448"/>
            <a:chOff x="6680835" y="4404360"/>
            <a:chExt cx="4977765" cy="1675448"/>
          </a:xfrm>
        </p:grpSpPr>
        <p:sp>
          <p:nvSpPr>
            <p:cNvPr id="39" name="Rectangle 39"/>
            <p:cNvSpPr/>
            <p:nvPr/>
          </p:nvSpPr>
          <p:spPr>
            <a:xfrm>
              <a:off x="6680835" y="4404360"/>
              <a:ext cx="4977765" cy="1675448"/>
            </a:xfrm>
            <a:prstGeom prst="roundRect">
              <a:avLst>
                <a:gd name="adj" fmla="val 7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0360" y="4537710"/>
              <a:ext cx="47625" cy="14087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9910" y="458533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81380" y="461819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初值怎么取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909435" y="4977765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64883" y="4925854"/>
              <a:ext cx="2838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β⁽⁰⁾ = 0 最省事，此时所有 πᵢ = 0.5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909435" y="526256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64883" y="5210651"/>
              <a:ext cx="4109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分组数据也可以先算经验 logit：用 log[(yᵢ + 0.5)/(mᵢ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yᵢ + 0.5)] 对 xᵢ 做最小二乘，结果作初值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4576" y="5735002"/>
              <a:ext cx="3374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 0.5 是为了避免 yᵢ = 0 或 yᵢ = mᵢ 时取对数出错。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9294" cy="909257"/>
            <a:chOff x="520446" y="342900"/>
            <a:chExt cx="62392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92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数值例子：5 个剂量组，得分法 4 步收敛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28447" y="1524000"/>
            <a:ext cx="5415153" cy="1408461"/>
            <a:chOff x="528447" y="1524000"/>
            <a:chExt cx="5415153" cy="14084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9570" y="1641157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剂量 xᵢ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51411" y="16411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75323" y="16411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3909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205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8597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023110"/>
              <a:ext cx="672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试验数 mᵢ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55298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79210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02170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5130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49043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2404110"/>
              <a:ext cx="642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死亡数 yᵢ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9416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1808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4104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400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8791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22132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645092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469005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91965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15878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447" y="2741771"/>
              <a:ext cx="2615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 logit(πᵢ) = β₀ + β₁xᵢ，xᵢ = (1, xᵢ)ᵀ</a:t>
              </a:r>
            </a:p>
          </p:txBody>
        </p:sp>
      </p:grpSp>
      <p:grpSp>
        <p:nvGrpSpPr>
          <p:cNvPr id="53" name="c1-card-2"/>
          <p:cNvGrpSpPr/>
          <p:nvPr/>
        </p:nvGrpSpPr>
        <p:grpSpPr>
          <a:xfrm>
            <a:off x="533400" y="3058478"/>
            <a:ext cx="5410200" cy="3227070"/>
            <a:chOff x="533400" y="3058478"/>
            <a:chExt cx="5410200" cy="3227070"/>
          </a:xfrm>
        </p:grpSpPr>
        <p:sp>
          <p:nvSpPr>
            <p:cNvPr id="36" name="Rectangle 36"/>
            <p:cNvSpPr/>
            <p:nvPr/>
          </p:nvSpPr>
          <p:spPr>
            <a:xfrm>
              <a:off x="533400" y="3058478"/>
              <a:ext cx="5410200" cy="3227070"/>
            </a:xfrm>
            <a:prstGeom prst="roundRect">
              <a:avLst>
                <a:gd name="adj" fmla="val 41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3191828"/>
              <a:ext cx="47625" cy="29603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2475" y="3239452"/>
              <a:ext cx="85725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2641" y="3272314"/>
              <a:ext cx="696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手算第 1 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17548" y="3278981"/>
              <a:ext cx="15698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 β⁽⁰⁾ = (0, 0)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52475" y="3584258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4382" y="36198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2223" y="3596164"/>
              <a:ext cx="3786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πᵢ = 0.5，yᵢ − mᵢπᵢ = (−4, −3, −1, 2, 4)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52475" y="3870008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4382" y="390467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2223" y="3880961"/>
              <a:ext cx="35999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 = (Σ(yᵢ − 5), Σxᵢ(yᵢ − 5)) = (−2, 21)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52475" y="4154805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4382" y="41904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2223" y="4165759"/>
              <a:ext cx="43126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信息阵 = Σ 10 × 0.25 × xᵢxᵢᵀ；因 Σxᵢ = 0，Σxᵢ² = 10，得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diag(12.5, 25)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52475" y="4682490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4382" y="471811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2223" y="4693444"/>
              <a:ext cx="4174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β⁽¹⁾ = (0, 0) + (−2/12.5, 21/25) = (−0.16, 0.84)</a:t>
              </a:r>
            </a:p>
          </p:txBody>
        </p:sp>
      </p:grpSp>
      <p:grpSp>
        <p:nvGrpSpPr>
          <p:cNvPr id="98" name="c2-table-1"/>
          <p:cNvGrpSpPr/>
          <p:nvPr/>
        </p:nvGrpSpPr>
        <p:grpSpPr>
          <a:xfrm>
            <a:off x="6243447" y="1524000"/>
            <a:ext cx="5415153" cy="2933414"/>
            <a:chOff x="6243447" y="1524000"/>
            <a:chExt cx="5415153" cy="2933414"/>
          </a:xfrm>
        </p:grpSpPr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0517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79208" y="1641157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β₀⁽ᵗ⁾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08910" y="1641157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β₁⁽ᵗ⁾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13635" y="1641157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l(β⁽ᵗ⁾)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0517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4441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7411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569816" y="202311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−34.6574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05171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11183" y="240411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−0.1600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79757" y="2404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0.8400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69816" y="240411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−24.8867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05171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11183" y="278511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−0.2350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79757" y="2785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1.0725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569816" y="278511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−24.4392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05171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711183" y="316706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−0.2503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179757" y="31670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1.1112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569816" y="316706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−24.4303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705171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11183" y="354806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−0.2507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179757" y="35480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1.1122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569816" y="354806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−24.4302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248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248400" y="3811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705171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263765" y="3821430"/>
              <a:ext cx="144875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711183" y="393001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−0.2507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8731568" y="3821430"/>
              <a:ext cx="137160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179757" y="393001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1.1122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569816" y="3930015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−24.4302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248400" y="1524000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7249478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871728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1010888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243447" y="4266724"/>
              <a:ext cx="3626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省略了常数项 Σ log C(mᵢ, yᵢ)；用 Python 按同一算法复核</a:t>
              </a:r>
            </a:p>
          </p:txBody>
        </p:sp>
      </p:grpSp>
      <p:grpSp>
        <p:nvGrpSpPr>
          <p:cNvPr id="104" name="c2-kv-2"/>
          <p:cNvGrpSpPr/>
          <p:nvPr/>
        </p:nvGrpSpPr>
        <p:grpSpPr>
          <a:xfrm>
            <a:off x="6241923" y="4604861"/>
            <a:ext cx="5416677" cy="863727"/>
            <a:chOff x="6241923" y="4604861"/>
            <a:chExt cx="5416677" cy="863727"/>
          </a:xfrm>
        </p:grpSpPr>
        <p:sp>
          <p:nvSpPr>
            <p:cNvPr id="99" name="TextBox 99"/>
            <p:cNvSpPr txBox="1"/>
            <p:nvPr/>
          </p:nvSpPr>
          <p:spPr>
            <a:xfrm>
              <a:off x="6241923" y="46048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标准误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336346" y="4604861"/>
              <a:ext cx="3934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[Iₙ]⁻¹ 对角线开方：β₀ 为 0.357，β₁ 为 0.306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248400" y="4876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241923" y="49791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拟合死亡率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336346" y="4979194"/>
              <a:ext cx="4028186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0.078、0.204、0.438、0.703、0.878（观测比例 0.1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 0.9）</a:t>
              </a:r>
            </a:p>
          </p:txBody>
        </p:sp>
      </p:grpSp>
      <p:grpSp>
        <p:nvGrpSpPr>
          <p:cNvPr id="110" name="c2-callout-3"/>
          <p:cNvGrpSpPr/>
          <p:nvPr/>
        </p:nvGrpSpPr>
        <p:grpSpPr>
          <a:xfrm>
            <a:off x="6248400" y="5582602"/>
            <a:ext cx="5410200" cy="702945"/>
            <a:chOff x="6248400" y="5582602"/>
            <a:chExt cx="5410200" cy="702945"/>
          </a:xfrm>
        </p:grpSpPr>
        <p:sp>
          <p:nvSpPr>
            <p:cNvPr id="105" name="Rectangle 105"/>
            <p:cNvSpPr/>
            <p:nvPr/>
          </p:nvSpPr>
          <p:spPr>
            <a:xfrm>
              <a:off x="6248400" y="558260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6453188" y="5834063"/>
              <a:ext cx="200026" cy="200026"/>
              <a:chOff x="6453188" y="5834063"/>
              <a:chExt cx="200026" cy="200026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6453188" y="58340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6519863" y="59118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6756273" y="5727859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β₁ 的误差依次约为 0.27、0.04、0.001、0.000001，大致每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步平方一次，这是牛顿类方法的二次收敛。</a:t>
              </a:r>
            </a:p>
          </p:txBody>
        </p:sp>
      </p:grpSp>
      <p:grpSp>
        <p:nvGrpSpPr>
          <p:cNvPr id="11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1" name="TextBox 11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01750" cy="909257"/>
            <a:chOff x="520446" y="342900"/>
            <a:chExt cx="60017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017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实现：手写得分法，并用 glm() 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3950970"/>
            <a:chOff x="533400" y="1524000"/>
            <a:chExt cx="6059805" cy="3950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41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R：逻辑斯谛回归的得分法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264406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c(-2, -1, 0, 1, 2)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 &lt;- rep(10, 5)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 &lt;- c(1, 2, 4, 7, 9)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 &lt;- cbind(1, x)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设计矩阵，第一列为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beta &lt;- c(0, 0)</a:t>
              </a:r>
              <a:br/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1:50)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    &lt;- as.vector(1 / (1 + exp(-X %*% beta)))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grad &lt;- t(X) %*% (y - m * p)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得分函数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    &lt;- t(X) %*% (X * (m * p * (1 - p)))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信息阵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step &lt;- as.vector(solve(I, grad))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beta &lt;- beta + step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(max(abs(step)) &lt; 1e-8)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break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beta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-0.2507  1.1122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sqrt(diag(solve(I)))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 0.3573  0.3059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fit &lt;- glm(cbind(y, m - y) ~ x, family = binomial)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coef(fit)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与 beta 相同</a:t>
              </a:r>
            </a:p>
          </p:txBody>
        </p:sp>
      </p:grpSp>
      <p:grpSp>
        <p:nvGrpSpPr>
          <p:cNvPr id="22" name="c2-kv-1"/>
          <p:cNvGrpSpPr/>
          <p:nvPr/>
        </p:nvGrpSpPr>
        <p:grpSpPr>
          <a:xfrm>
            <a:off x="6890766" y="1547336"/>
            <a:ext cx="4767834" cy="2615184"/>
            <a:chOff x="6890766" y="1547336"/>
            <a:chExt cx="4767834" cy="2615184"/>
          </a:xfrm>
        </p:grpSpPr>
        <p:sp>
          <p:nvSpPr>
            <p:cNvPr id="11" name="TextBox 11"/>
            <p:cNvSpPr txBox="1"/>
            <p:nvPr/>
          </p:nvSpPr>
          <p:spPr>
            <a:xfrm>
              <a:off x="6890766" y="1547336"/>
              <a:ext cx="5201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 * 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04314" y="1547336"/>
              <a:ext cx="273761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长度为 n 时按列循环，第 i 行乘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wᵢ，得到 diag(w)·X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98005" y="212121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90766" y="2236946"/>
              <a:ext cx="14173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solve(I, grad)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04314" y="2236946"/>
              <a:ext cx="280974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解线性方程组 Iδ = grad，比先求逆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再相乘稳定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98005" y="281082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90766" y="2926556"/>
              <a:ext cx="15098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cbind(y, m - y)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04314" y="2926556"/>
              <a:ext cx="27195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glm() 的二项响应写法：成功数、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98005" y="3500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90766" y="3616166"/>
              <a:ext cx="74350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family =</a:t>
              </a:r>
              <a:br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binomial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04314" y="3616166"/>
              <a:ext cx="29859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logit 联系函数，用 IRLS 拟合</a:t>
              </a:r>
            </a:p>
          </p:txBody>
        </p:sp>
      </p:grpSp>
      <p:grpSp>
        <p:nvGrpSpPr>
          <p:cNvPr id="29" name="c2-callout-2"/>
          <p:cNvGrpSpPr/>
          <p:nvPr/>
        </p:nvGrpSpPr>
        <p:grpSpPr>
          <a:xfrm>
            <a:off x="6898005" y="4291965"/>
            <a:ext cx="4760595" cy="756285"/>
            <a:chOff x="6898005" y="4291965"/>
            <a:chExt cx="4760595" cy="756285"/>
          </a:xfrm>
        </p:grpSpPr>
        <p:sp>
          <p:nvSpPr>
            <p:cNvPr id="23" name="Rectangle 23"/>
            <p:cNvSpPr/>
            <p:nvPr/>
          </p:nvSpPr>
          <p:spPr>
            <a:xfrm>
              <a:off x="6898005" y="4291965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090734" y="4566403"/>
              <a:ext cx="224134" cy="192560"/>
              <a:chOff x="7090734" y="4566403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202805" y="46367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90734" y="45664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02805" y="47145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405116" y="4439126"/>
              <a:ext cx="367538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变量名不要用 pi：它会覆盖 R 内置的圆周率常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数。代码里用 p 表示 πᵢ。</a:t>
              </a:r>
            </a:p>
          </p:txBody>
        </p:sp>
      </p:grpSp>
      <p:grpSp>
        <p:nvGrpSpPr>
          <p:cNvPr id="36" name="c2-callout-3"/>
          <p:cNvGrpSpPr/>
          <p:nvPr/>
        </p:nvGrpSpPr>
        <p:grpSpPr>
          <a:xfrm>
            <a:off x="6898005" y="5233035"/>
            <a:ext cx="4760595" cy="1018222"/>
            <a:chOff x="6898005" y="5233035"/>
            <a:chExt cx="4760595" cy="1018222"/>
          </a:xfrm>
        </p:grpSpPr>
        <p:sp>
          <p:nvSpPr>
            <p:cNvPr id="30" name="Rectangle 30"/>
            <p:cNvSpPr/>
            <p:nvPr/>
          </p:nvSpPr>
          <p:spPr>
            <a:xfrm>
              <a:off x="6898005" y="5233035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102793" y="5642610"/>
              <a:ext cx="200026" cy="200026"/>
              <a:chOff x="7102793" y="5642610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102793" y="56426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02805" y="57092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191693" y="57426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405116" y="5381149"/>
              <a:ext cx="377456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本机没有 R，代码已逐行人工核对，输出数值由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 按同一算法算出；glm() 的系数和标准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误应与手写结果一致。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84449" cy="909257"/>
            <a:chOff x="520446" y="342900"/>
            <a:chExt cx="84844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844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线性回归的 MLE：β 与最小二乘相同，σ² 的估计除以 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342198"/>
            <a:chOff x="533400" y="1524000"/>
            <a:chExt cx="5626418" cy="23421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42198"/>
            </a:xfrm>
            <a:prstGeom prst="roundRect">
              <a:avLst>
                <a:gd name="adj" fmla="val 56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549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46760" y="1699260"/>
              <a:ext cx="895350" cy="2286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199" y="1730693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线性回归模型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0664" y="2025968"/>
              <a:ext cx="44851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Xβ + ε，ε|X ~ N(0, σ²Iₙ)，X 为 n × K 矩阵，所以 y|X ~ N(Xβ,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σ²Iₙ)，条件密度为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87"/>
                <p:cNvSpPr txBox="1">
                  <a:spLocks noGrp="1"/>
                </p:cNvSpPr>
                <p:nvPr/>
              </p:nvSpPr>
              <p:spPr>
                <a:xfrm>
                  <a:off x="746760" y="2504122"/>
                  <a:ext cx="523779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sSup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σ</m:t>
                                        </m:r>
                                      </m:e>
                                      <m:sup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Xβ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Xβ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40664" y="30137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取对数得对数似然函数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88"/>
                <p:cNvSpPr txBox="1">
                  <a:spLocks noGrp="1"/>
                </p:cNvSpPr>
                <p:nvPr/>
              </p:nvSpPr>
              <p:spPr>
                <a:xfrm>
                  <a:off x="746760" y="3263265"/>
                  <a:ext cx="523779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Xβ</m:t>
                                </m:r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Xβ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4025265"/>
            <a:ext cx="5626418" cy="2188845"/>
            <a:chOff x="533400" y="4025265"/>
            <a:chExt cx="5626418" cy="2188845"/>
          </a:xfrm>
        </p:grpSpPr>
        <p:sp>
          <p:nvSpPr>
            <p:cNvPr id="16" name="Rectangle 16"/>
            <p:cNvSpPr/>
            <p:nvPr/>
          </p:nvSpPr>
          <p:spPr>
            <a:xfrm>
              <a:off x="533400" y="4025265"/>
              <a:ext cx="5626418" cy="2188845"/>
            </a:xfrm>
            <a:prstGeom prst="roundRect">
              <a:avLst>
                <a:gd name="adj" fmla="val 6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158615"/>
              <a:ext cx="47625" cy="19221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6760" y="4200525"/>
              <a:ext cx="438150" cy="22860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9915" y="423195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0664" y="4527232"/>
              <a:ext cx="49804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原课件“于是似F为”应为“于是对数似然函数为”；“令 e = (Y − Xβ)”中的 e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是残差，应为用 β 的估计值 b 算出的 e = y − Xb。</a:t>
              </a:r>
            </a:p>
          </p:txBody>
        </p:sp>
      </p:grpSp>
      <p:grpSp>
        <p:nvGrpSpPr>
          <p:cNvPr id="31" name="c2-steps-1"/>
          <p:cNvGrpSpPr/>
          <p:nvPr/>
        </p:nvGrpSpPr>
        <p:grpSpPr>
          <a:xfrm>
            <a:off x="6464618" y="1533525"/>
            <a:ext cx="4059848" cy="1014032"/>
            <a:chOff x="6464618" y="1533525"/>
            <a:chExt cx="4059848" cy="1014032"/>
          </a:xfrm>
        </p:grpSpPr>
        <p:sp>
          <p:nvSpPr>
            <p:cNvPr id="22" name="Rectangle 22"/>
            <p:cNvSpPr/>
            <p:nvPr/>
          </p:nvSpPr>
          <p:spPr>
            <a:xfrm>
              <a:off x="6597968" y="1676400"/>
              <a:ext cx="19050" cy="5362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20697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21436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7622" y="156305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β 求偏导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78384" y="1805940"/>
              <a:ext cx="3646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Xᵀ(y − Xβ)/σ² = 0，得正规方程 XᵀXβ = Xᵀy，与 σ² 无关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7622" y="2099310"/>
              <a:ext cx="946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σ² 求偏导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8384" y="2342198"/>
              <a:ext cx="3314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−n/(2σ²) + eᵀe/(2σ⁴) = 0，其中 e = y − Xb 为残差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89"/>
              <p:cNvSpPr txBox="1">
                <a:spLocks noGrp="1"/>
              </p:cNvSpPr>
              <p:nvPr/>
            </p:nvSpPr>
            <p:spPr>
              <a:xfrm>
                <a:off x="6464618" y="2703195"/>
                <a:ext cx="5193982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OLS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90"/>
              <p:cNvSpPr txBox="1">
                <a:spLocks noGrp="1"/>
              </p:cNvSpPr>
              <p:nvPr/>
            </p:nvSpPr>
            <p:spPr>
              <a:xfrm>
                <a:off x="6464618" y="3206115"/>
                <a:ext cx="5193982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acc>
                            <m:accPr>
                              <m:chr m:val="ˆ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ML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≠</m:t>
                      </m:r>
                      <m:sSubSup>
                        <m:e>
                          <m:acc>
                            <m:accPr>
                              <m:chr m:val="ˆ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OLS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40" name="c2-callout-4"/>
          <p:cNvGrpSpPr/>
          <p:nvPr/>
        </p:nvGrpSpPr>
        <p:grpSpPr>
          <a:xfrm>
            <a:off x="6464618" y="3829050"/>
            <a:ext cx="5193982" cy="676275"/>
            <a:chOff x="6464618" y="3829050"/>
            <a:chExt cx="5193982" cy="676275"/>
          </a:xfrm>
        </p:grpSpPr>
        <p:sp>
          <p:nvSpPr>
            <p:cNvPr id="34" name="Rectangle 34"/>
            <p:cNvSpPr/>
            <p:nvPr/>
          </p:nvSpPr>
          <p:spPr>
            <a:xfrm>
              <a:off x="6464618" y="3829050"/>
              <a:ext cx="5193982" cy="676275"/>
            </a:xfrm>
            <a:prstGeom prst="roundRect">
              <a:avLst>
                <a:gd name="adj" fmla="val 1690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657347" y="4062531"/>
              <a:ext cx="224134" cy="192560"/>
              <a:chOff x="6657347" y="4062531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769418" y="41328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57347" y="40625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69418" y="42106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972872" y="3971925"/>
              <a:ext cx="42717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σ² 的 MLE 有偏，期望为 (n − K)σ²/n；s² 才是无偏估计。n 远</a:t>
              </a:r>
              <a:br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大于 K 时两者差别很小。</a:t>
              </a:r>
            </a:p>
          </p:txBody>
        </p:sp>
      </p:grpSp>
      <p:grpSp>
        <p:nvGrpSpPr>
          <p:cNvPr id="46" name="c2-card-5"/>
          <p:cNvGrpSpPr/>
          <p:nvPr/>
        </p:nvGrpSpPr>
        <p:grpSpPr>
          <a:xfrm>
            <a:off x="6464618" y="4664392"/>
            <a:ext cx="5193982" cy="1550670"/>
            <a:chOff x="6464618" y="4664392"/>
            <a:chExt cx="5193982" cy="1550670"/>
          </a:xfrm>
        </p:grpSpPr>
        <p:sp>
          <p:nvSpPr>
            <p:cNvPr id="41" name="Rectangle 41"/>
            <p:cNvSpPr/>
            <p:nvPr/>
          </p:nvSpPr>
          <p:spPr>
            <a:xfrm>
              <a:off x="6464618" y="4664392"/>
              <a:ext cx="5193982" cy="1550670"/>
            </a:xfrm>
            <a:prstGeom prst="roundRect">
              <a:avLst>
                <a:gd name="adj" fmla="val 86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4797742"/>
              <a:ext cx="47625" cy="12839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77978" y="4839652"/>
              <a:ext cx="1411605" cy="22860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41878" y="4871085"/>
              <a:ext cx="12838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 4.1.2 的迭代法对照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71882" y="5166360"/>
              <a:ext cx="455371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l(β, σ²) 关于 β 是二次函数，海色阵 −XᵀX/σ² 是常数阵，所以牛顿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法（得分法）从任何初值出发一步就到最优，等价于直接解正规方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程。参数进入模型的方式一旦非线性（4.2 节），这个便利就没有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最大似然估计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精简最大似然估计：先对一部分参数求出最大值点，再代回去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3503295"/>
            <a:chOff x="533400" y="1524000"/>
            <a:chExt cx="5626418" cy="35032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503295"/>
            </a:xfrm>
            <a:prstGeom prst="roundRect">
              <a:avLst>
                <a:gd name="adj" fmla="val 38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3659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80308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875" y="1769269"/>
              <a:ext cx="1700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4.1.3 精简最大似然估计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58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设参数 θ 分为 θ₁ 和 θ₂ 两部分。如果对任意 θ₁，都能比较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容易地求得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94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5169218" cy="5448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e>
                                  <m:lim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lim>
                                </m:limLow>
                              </m:fNam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fun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acc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3718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95"/>
                <p:cNvSpPr txBox="1">
                  <a:spLocks noGrp="1"/>
                </p:cNvSpPr>
                <p:nvPr/>
              </p:nvSpPr>
              <p:spPr>
                <a:xfrm>
                  <a:off x="781050" y="3682365"/>
                  <a:ext cx="5169218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e>
                                  <m:lim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lim>
                                </m:limLow>
                              </m:fNam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func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4297680"/>
              <a:ext cx="4911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问题简化为以 θ₁ 为自变量的优化问题。这样的方法称为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精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简最大似然方法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（concentrated MLE）。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5217795"/>
            <a:ext cx="5626418" cy="782955"/>
            <a:chOff x="533400" y="5217795"/>
            <a:chExt cx="5626418" cy="782955"/>
          </a:xfrm>
        </p:grpSpPr>
        <p:sp>
          <p:nvSpPr>
            <p:cNvPr id="17" name="Rectangle 17"/>
            <p:cNvSpPr/>
            <p:nvPr/>
          </p:nvSpPr>
          <p:spPr>
            <a:xfrm>
              <a:off x="533400" y="521779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509260"/>
              <a:ext cx="200026" cy="200025"/>
              <a:chOff x="738188" y="5509260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5092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5537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6648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366385"/>
              <a:ext cx="4663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维数降低后，迭代法更快也更稳；θ₂ 的显式解常来自正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规方程或加权平均。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464618" y="1524000"/>
            <a:ext cx="5193982" cy="2903220"/>
            <a:chOff x="6464618" y="1524000"/>
            <a:chExt cx="5193982" cy="2903220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2903220"/>
            </a:xfrm>
            <a:prstGeom prst="roundRect">
              <a:avLst>
                <a:gd name="adj" fmla="val 45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4142" y="1657350"/>
              <a:ext cx="47625" cy="26365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12268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07378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71373" y="1768792"/>
              <a:ext cx="1927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线性回归中先消去 σ²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4648" y="2129790"/>
              <a:ext cx="4063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β，对 σ² 求最大值点，得 RSS(β)/n，其中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RSS(β) = (y − Xβ)ᵀ(y − Xβ)。代回对数似然：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96"/>
                <p:cNvSpPr txBox="1">
                  <a:spLocks noGrp="1"/>
                </p:cNvSpPr>
                <p:nvPr/>
              </p:nvSpPr>
              <p:spPr>
                <a:xfrm>
                  <a:off x="6712268" y="2726055"/>
                  <a:ext cx="473678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func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RSS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β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den>
                            </m:f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704648" y="3411855"/>
              <a:ext cx="4339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精简后的对数似然只通过 RSS(β) 依赖 β，且随 RSS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增大而减小，所以最大化 l_c(β) 就是最小化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RSS(β)，得到最小二乘估计。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464618" y="4617720"/>
            <a:ext cx="5193982" cy="1383030"/>
            <a:chOff x="6464618" y="4617720"/>
            <a:chExt cx="5193982" cy="1383030"/>
          </a:xfrm>
        </p:grpSpPr>
        <p:sp>
          <p:nvSpPr>
            <p:cNvPr id="33" name="Rectangle 33"/>
            <p:cNvSpPr/>
            <p:nvPr/>
          </p:nvSpPr>
          <p:spPr>
            <a:xfrm>
              <a:off x="6464618" y="4617720"/>
              <a:ext cx="5193982" cy="1383030"/>
            </a:xfrm>
            <a:prstGeom prst="roundRect">
              <a:avLst>
                <a:gd name="adj" fmla="val 8264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69405" y="5209225"/>
              <a:ext cx="200023" cy="200023"/>
              <a:chOff x="6669405" y="5209225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69405" y="52092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02755" y="52758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71348" y="5066348"/>
              <a:ext cx="4196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4.2 节的非线性回归用的正是这个办法：正态误差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下先消去 σ²，剩下的问题就是非线性最小二乘。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01868" cy="2997517"/>
            <a:chOff x="667512" y="1835468"/>
            <a:chExt cx="580186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非线性回归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模型对参数非线性时，在当前点线性化，迭代求最小二乘解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非线性回归模型与最小二乘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71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Gauss–Newton 迭代公式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例：指数衰减模型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81057" cy="909257"/>
            <a:chOff x="520446" y="342900"/>
            <a:chExt cx="998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非线性回归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8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非线性回归：正态误差下，最大似然估计就是非线性最小二乘估计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792605"/>
            <a:chOff x="533400" y="1524000"/>
            <a:chExt cx="5193982" cy="1792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92605"/>
            </a:xfrm>
            <a:prstGeom prst="roundRect">
              <a:avLst>
                <a:gd name="adj" fmla="val 7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590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00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736782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nor m:val="on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iid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73430" y="258699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的形式已知，对 p 维参数 θ 是非线性的（不能写成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参数的线性组合）。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33400" y="3507105"/>
            <a:ext cx="5193982" cy="2022158"/>
            <a:chOff x="533400" y="3507105"/>
            <a:chExt cx="5193982" cy="2022158"/>
          </a:xfrm>
        </p:grpSpPr>
        <p:sp>
          <p:nvSpPr>
            <p:cNvPr id="14" name="Rectangle 14"/>
            <p:cNvSpPr/>
            <p:nvPr/>
          </p:nvSpPr>
          <p:spPr>
            <a:xfrm>
              <a:off x="533400" y="3507105"/>
              <a:ext cx="519398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21473" y="36428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36943" y="3642836"/>
              <a:ext cx="664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f(x, θ)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" y="4091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指数衰减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18626" y="4091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θ₁·exp(−θ₂x)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3995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40436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540091"/>
              <a:ext cx="145526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Michaelis–Menten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（酶动力学）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18626" y="4653439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θ₁x / (θ₂ + x)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0758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52154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逻辑斯谛增长曲线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18626" y="5215414"/>
              <a:ext cx="2029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θ₁ / [1 + exp(θ₂ − θ₃x)]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507105"/>
              <a:ext cx="5193982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06040" y="350710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3"/>
          <p:cNvGrpSpPr/>
          <p:nvPr/>
        </p:nvGrpSpPr>
        <p:grpSpPr>
          <a:xfrm>
            <a:off x="533400" y="5719762"/>
            <a:ext cx="5193982" cy="533400"/>
            <a:chOff x="533400" y="5719762"/>
            <a:chExt cx="5193982" cy="533400"/>
          </a:xfrm>
        </p:grpSpPr>
        <p:sp>
          <p:nvSpPr>
            <p:cNvPr id="29" name="Rectangle 29"/>
            <p:cNvSpPr/>
            <p:nvPr/>
          </p:nvSpPr>
          <p:spPr>
            <a:xfrm>
              <a:off x="533400" y="5719762"/>
              <a:ext cx="5193982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886450"/>
              <a:ext cx="200026" cy="200026"/>
              <a:chOff x="738188" y="5886450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8864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953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9864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881688"/>
              <a:ext cx="4306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4.2 节只有标题页，本部分是补充内容。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032182" y="1524000"/>
            <a:ext cx="5626418" cy="3141345"/>
            <a:chOff x="6032182" y="1524000"/>
            <a:chExt cx="5626418" cy="3141345"/>
          </a:xfrm>
        </p:grpSpPr>
        <p:sp>
          <p:nvSpPr>
            <p:cNvPr id="36" name="Rectangle 36"/>
            <p:cNvSpPr/>
            <p:nvPr/>
          </p:nvSpPr>
          <p:spPr>
            <a:xfrm>
              <a:off x="6032182" y="1524000"/>
              <a:ext cx="5626418" cy="3141345"/>
            </a:xfrm>
            <a:prstGeom prst="roundRect">
              <a:avLst>
                <a:gd name="adj" fmla="val 4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41708" y="1657350"/>
              <a:ext cx="47625" cy="28746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79832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4437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为什么是最小二乘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2212" y="21107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对数似然函数为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101"/>
                <p:cNvSpPr txBox="1">
                  <a:spLocks noGrp="1"/>
                </p:cNvSpPr>
                <p:nvPr/>
              </p:nvSpPr>
              <p:spPr>
                <a:xfrm>
                  <a:off x="6279832" y="2421255"/>
                  <a:ext cx="516921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102"/>
                <p:cNvSpPr txBox="1">
                  <a:spLocks noGrp="1"/>
                </p:cNvSpPr>
                <p:nvPr/>
              </p:nvSpPr>
              <p:spPr>
                <a:xfrm>
                  <a:off x="6279832" y="3082290"/>
                  <a:ext cx="5169218" cy="7334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6272212" y="393573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用精简最大似然消去 σ²（其最大值点为 S(θ)/n），问题变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成求 S(θ) 的最小值点。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032182" y="4855845"/>
            <a:ext cx="5626418" cy="1397318"/>
            <a:chOff x="6032182" y="4855845"/>
            <a:chExt cx="5626418" cy="1397318"/>
          </a:xfrm>
        </p:grpSpPr>
        <p:sp>
          <p:nvSpPr>
            <p:cNvPr id="45" name="Rectangle 45"/>
            <p:cNvSpPr/>
            <p:nvPr/>
          </p:nvSpPr>
          <p:spPr>
            <a:xfrm>
              <a:off x="6032182" y="4855845"/>
              <a:ext cx="5626418" cy="1397318"/>
            </a:xfrm>
            <a:prstGeom prst="roundRect">
              <a:avLst>
                <a:gd name="adj" fmla="val 818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224912" y="5450323"/>
              <a:ext cx="224134" cy="192560"/>
              <a:chOff x="6224912" y="5450323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336983" y="55206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224912" y="54503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336983" y="55984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538912" y="5173028"/>
              <a:ext cx="4682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与线性回归不同，方程 ∇S(θ) = 0 一般没有显式解，只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能迭代求解；S(θ) 还可能有多个局部极小值，初值要选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好。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78099" cy="909257"/>
            <a:chOff x="520446" y="342900"/>
            <a:chExt cx="105780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非线性回归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780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Gauss–Newton 法：把 f 在当前点线性化，每步解一个线性最小二乘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309616" cy="2853119"/>
            <a:chOff x="533400" y="1533525"/>
            <a:chExt cx="5309616" cy="285311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040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553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2175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2913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8376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9114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48204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θ⁽ᵗ⁾ 处一阶展开：f(xᵢ, θ) ≈ f(xᵢ, θ⁽ᵗ⁾) + Jᵢ(θ − θ⁽ᵗ⁾)，Jᵢ 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对 θ 的梯度（行向量）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40839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化成线性问题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688907"/>
              <a:ext cx="48966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记残差 r = y − f(θ⁽ᵗ⁾)，J 的第 i 行为 Jᵢ，δ = θ − θ⁽ᵗ⁾，则 S(θ) ≈ ‖r</a:t>
              </a:r>
              <a:br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Jδ‖²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25040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解最小二乘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530918"/>
              <a:ext cx="15436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正规方程 JᵀJδ = Jᵀr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87143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更新并重复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4151948"/>
              <a:ext cx="3358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θ⁽ᵗ⁺¹⁾ = θ⁽ᵗ⁾ + δ，直到 δ 或 S 的变化足够小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07"/>
              <p:cNvSpPr txBox="1">
                <a:spLocks noGrp="1"/>
              </p:cNvSpPr>
              <p:nvPr/>
            </p:nvSpPr>
            <p:spPr>
              <a:xfrm>
                <a:off x="533400" y="4562475"/>
                <a:ext cx="562641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2" name="c1-callout-3"/>
          <p:cNvGrpSpPr/>
          <p:nvPr/>
        </p:nvGrpSpPr>
        <p:grpSpPr>
          <a:xfrm>
            <a:off x="533400" y="5186362"/>
            <a:ext cx="5626418" cy="994410"/>
            <a:chOff x="533400" y="5186362"/>
            <a:chExt cx="5626418" cy="994410"/>
          </a:xfrm>
        </p:grpSpPr>
        <p:sp>
          <p:nvSpPr>
            <p:cNvPr id="26" name="Rectangle 26"/>
            <p:cNvSpPr/>
            <p:nvPr/>
          </p:nvSpPr>
          <p:spPr>
            <a:xfrm>
              <a:off x="533400" y="5186362"/>
              <a:ext cx="5626418" cy="994410"/>
            </a:xfrm>
            <a:prstGeom prst="roundRect">
              <a:avLst>
                <a:gd name="adj" fmla="val 1149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582603"/>
              <a:ext cx="200026" cy="200026"/>
              <a:chOff x="738188" y="5582603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5826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6492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56826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452586"/>
              <a:ext cx="464921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与线性回归对照：f(x, θ) = xᵀθ 时 J = X 与 θ 无关，上式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一步就给出 (XᵀX)⁻¹Xᵀy，正是最小二乘解。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464618" y="1524000"/>
            <a:ext cx="5193982" cy="2555558"/>
            <a:chOff x="6464618" y="1524000"/>
            <a:chExt cx="5193982" cy="2555558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2555558"/>
            </a:xfrm>
            <a:prstGeom prst="roundRect">
              <a:avLst>
                <a:gd name="adj" fmla="val 52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1657350"/>
              <a:ext cx="47625" cy="22888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06552" y="17278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6060" y="17635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与牛顿法的关系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99314" y="2100739"/>
              <a:ext cx="22853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S(θ) 求一阶、二阶导：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108"/>
                <p:cNvSpPr txBox="1">
                  <a:spLocks noGrp="1"/>
                </p:cNvSpPr>
                <p:nvPr/>
              </p:nvSpPr>
              <p:spPr>
                <a:xfrm>
                  <a:off x="6706552" y="2397442"/>
                  <a:ext cx="4748212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∇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∇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∇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9" name="TextBox 39"/>
            <p:cNvSpPr txBox="1"/>
            <p:nvPr/>
          </p:nvSpPr>
          <p:spPr>
            <a:xfrm>
              <a:off x="6699314" y="3110389"/>
              <a:ext cx="455002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牛顿法要用完整的 ∇²S；Gauss–Newton 丢掉含 rᵢ 的二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阶项，只用一阶导数。残差小或 f 接近线性时丢掉的项很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小，收敛速度接近牛顿法。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464618" y="4265295"/>
            <a:ext cx="5193982" cy="1914525"/>
            <a:chOff x="6464618" y="4265295"/>
            <a:chExt cx="5193982" cy="1914525"/>
          </a:xfrm>
        </p:grpSpPr>
        <p:sp>
          <p:nvSpPr>
            <p:cNvPr id="41" name="Rectangle 41"/>
            <p:cNvSpPr/>
            <p:nvPr/>
          </p:nvSpPr>
          <p:spPr>
            <a:xfrm>
              <a:off x="6464618" y="4265295"/>
              <a:ext cx="5193982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4398645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06552" y="446913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88861" y="45048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实用改进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14172" y="4902517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70764" y="4842034"/>
              <a:ext cx="28910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步长减半：S 变大时把 δ 减半再试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14172" y="522255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0764" y="5162074"/>
              <a:ext cx="43246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Levenberg–Marquardt：解 (JᵀJ + λI)δ = Jᵀr，λ 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时接近梯度下降，更稳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714172" y="581406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70764" y="5753576"/>
              <a:ext cx="45171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标准误：取 s²(JᵀJ)⁻¹ 对角线开方，s² = S/(n − p)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94866" cy="909257"/>
            <a:chOff x="520446" y="342900"/>
            <a:chExt cx="95948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非线性回归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948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例：指数衰减模型 y = a·exp(−bx)，两组初值都在几步内收敛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33400" y="1524000"/>
            <a:ext cx="5085398" cy="751522"/>
            <a:chOff x="533400" y="1524000"/>
            <a:chExt cx="5085398" cy="7515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37528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8716" y="1638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77851" y="1638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54138" y="1638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91373" y="1638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28608" y="1638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66796" y="1638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04031" y="1638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5221" y="20145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63180" y="201453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78339" y="201453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15574" y="201453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52809" y="201453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0996" y="201453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28231" y="201453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1524000"/>
              <a:ext cx="5085398" cy="75152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12520" y="1524000"/>
              <a:ext cx="9525" cy="751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26908" y="1524000"/>
              <a:ext cx="9525" cy="751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64142" y="1524000"/>
              <a:ext cx="9525" cy="751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01378" y="1524000"/>
              <a:ext cx="9525" cy="751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139565" y="1524000"/>
              <a:ext cx="9525" cy="751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876800" y="1524000"/>
              <a:ext cx="9525" cy="751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2434590"/>
            <a:ext cx="5085398" cy="2028825"/>
            <a:chOff x="533400" y="2434590"/>
            <a:chExt cx="5085398" cy="2028825"/>
          </a:xfrm>
        </p:grpSpPr>
        <p:sp>
          <p:nvSpPr>
            <p:cNvPr id="30" name="Rectangle 30"/>
            <p:cNvSpPr/>
            <p:nvPr/>
          </p:nvSpPr>
          <p:spPr>
            <a:xfrm>
              <a:off x="533400" y="2434590"/>
              <a:ext cx="5085398" cy="2028825"/>
            </a:xfrm>
            <a:prstGeom prst="roundRect">
              <a:avLst>
                <a:gd name="adj" fmla="val 65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2567940"/>
              <a:ext cx="47625" cy="17621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6760" y="2609850"/>
              <a:ext cx="438150" cy="2286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9915" y="264128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6285" y="298418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2114" y="2936557"/>
              <a:ext cx="421843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选初值：ln y ≈ ln a − bx，对 (x, ln y) 做线性回归，截距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2.3272、斜率 −0.5097，得 a⁽⁰⁾ = exp(2.3272) ≈ 10.250，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b⁽⁰⁾ ≈ 0.5097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56285" y="3710940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2114" y="3663315"/>
              <a:ext cx="3396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的第 i 行：(exp(−bxᵢ), −a·xᵢ·exp(−bxᵢ))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1426" y="3930968"/>
              <a:ext cx="445122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对数线性回归的结果只适合作初值：它最小化的是 ln y 的误差平方和，不是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的。</a:t>
              </a:r>
            </a:p>
          </p:txBody>
        </p:sp>
      </p:grpSp>
      <p:grpSp>
        <p:nvGrpSpPr>
          <p:cNvPr id="43" name="c1-code-3"/>
          <p:cNvGrpSpPr/>
          <p:nvPr/>
        </p:nvGrpSpPr>
        <p:grpSpPr>
          <a:xfrm>
            <a:off x="533400" y="4623435"/>
            <a:ext cx="5085398" cy="1482090"/>
            <a:chOff x="533400" y="4623435"/>
            <a:chExt cx="5085398" cy="1482090"/>
          </a:xfrm>
        </p:grpSpPr>
        <p:sp>
          <p:nvSpPr>
            <p:cNvPr id="40" name="Rectangle 40"/>
            <p:cNvSpPr/>
            <p:nvPr/>
          </p:nvSpPr>
          <p:spPr>
            <a:xfrm>
              <a:off x="533400" y="4623435"/>
              <a:ext cx="5085398" cy="1482090"/>
            </a:xfrm>
            <a:prstGeom prst="roundRect">
              <a:avLst>
                <a:gd name="adj" fmla="val 642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797" y="4775359"/>
              <a:ext cx="2305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R：nls() 默认用 Gauss–Newton 算法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988" y="5034915"/>
              <a:ext cx="3529965" cy="985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&lt;- 0:5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 &lt;- c(10.1, 6.2, 3.7, 2.3, 1.3, 0.8)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  &lt;- coef(lm(log(y) ~ x))     </a:t>
              </a:r>
              <a:r>
                <a:rPr lang="zh-CN" sz="9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对数线性回归定初值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fit &lt;- nls(y ~ a * exp(-b * x),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start = list(a = exp(st[[1]]), b = -st[[2]]))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summary(fit)                    </a:t>
              </a:r>
              <a:r>
                <a:rPr lang="en-US" sz="90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a = 10.126, b = 0.5004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5918835" y="1524000"/>
            <a:ext cx="5739765" cy="1750694"/>
            <a:chOff x="5918835" y="1524000"/>
            <a:chExt cx="5739765" cy="1750694"/>
          </a:xfrm>
        </p:grpSpPr>
        <p:sp>
          <p:nvSpPr>
            <p:cNvPr id="44" name="Rectangle 44"/>
            <p:cNvSpPr/>
            <p:nvPr/>
          </p:nvSpPr>
          <p:spPr>
            <a:xfrm>
              <a:off x="5923598" y="1524000"/>
              <a:ext cx="5735002" cy="37528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11801" y="1638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87613" y="16383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a⁽ᵗ⁾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18281" y="16383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b⁽ᵗ⁾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55564" y="1638300"/>
              <a:ext cx="598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S(θ⁽ᵗ⁾)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11801" y="20145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78773" y="201453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10.2496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09440" y="201453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0.50972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38384" y="201453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0.031646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923598" y="227076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923598" y="2275522"/>
              <a:ext cx="5735002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11801" y="23898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78773" y="238982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10.1257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09440" y="238982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0.50030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38384" y="238982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0.012256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923598" y="264604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11801" y="27651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78773" y="276510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10.1264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09440" y="276510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0.50039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38384" y="276510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0.012255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923598" y="1524000"/>
              <a:ext cx="5735002" cy="15030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86588" y="1524000"/>
              <a:ext cx="9525" cy="15030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517255" y="1524000"/>
              <a:ext cx="9525" cy="15030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046970" y="1524000"/>
              <a:ext cx="9525" cy="15030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18835" y="3098482"/>
              <a:ext cx="15664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初值 1：由对数线性回归得到</a:t>
              </a:r>
            </a:p>
          </p:txBody>
        </p:sp>
      </p:grpSp>
      <p:grpSp>
        <p:nvGrpSpPr>
          <p:cNvPr id="101" name="c2-table-2"/>
          <p:cNvGrpSpPr/>
          <p:nvPr/>
        </p:nvGrpSpPr>
        <p:grpSpPr>
          <a:xfrm>
            <a:off x="5918835" y="3398520"/>
            <a:ext cx="5739765" cy="2126932"/>
            <a:chOff x="5918835" y="3398520"/>
            <a:chExt cx="5739765" cy="2126932"/>
          </a:xfrm>
        </p:grpSpPr>
        <p:sp>
          <p:nvSpPr>
            <p:cNvPr id="70" name="Rectangle 70"/>
            <p:cNvSpPr/>
            <p:nvPr/>
          </p:nvSpPr>
          <p:spPr>
            <a:xfrm>
              <a:off x="5923598" y="3398520"/>
              <a:ext cx="5735002" cy="37528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411801" y="35137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87613" y="351377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a⁽ᵗ⁾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18281" y="351377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b⁽ᵗ⁾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555564" y="3513773"/>
              <a:ext cx="598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S(θ⁽ᵗ⁾)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11801" y="38890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17644" y="388905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8.0000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09440" y="388905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0.30000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538384" y="388905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8.070339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923598" y="414528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923598" y="4150042"/>
              <a:ext cx="5735002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11801" y="42643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517644" y="426434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9.9765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09440" y="426434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0.48142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538384" y="426434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0.064824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923598" y="452151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411801" y="46405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478773" y="464058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10.1264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009440" y="464058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0.50031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538384" y="464058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0.012256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923598" y="489680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5923598" y="4901565"/>
              <a:ext cx="5735002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411801" y="50158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78773" y="501586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10.1264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009440" y="501586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0.50039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538384" y="5015865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0.012255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923598" y="3398520"/>
              <a:ext cx="5735002" cy="18783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6986588" y="3398520"/>
              <a:ext cx="9525" cy="18783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8517255" y="3398520"/>
              <a:ext cx="9525" cy="18783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10046970" y="3398520"/>
              <a:ext cx="9525" cy="18783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5918835" y="5349240"/>
              <a:ext cx="13786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初值 2：随手取 (8, 0.3)</a:t>
              </a:r>
            </a:p>
          </p:txBody>
        </p:sp>
      </p:grpSp>
      <p:grpSp>
        <p:nvGrpSpPr>
          <p:cNvPr id="107" name="c2-callout-3"/>
          <p:cNvGrpSpPr/>
          <p:nvPr/>
        </p:nvGrpSpPr>
        <p:grpSpPr>
          <a:xfrm>
            <a:off x="5923598" y="5649278"/>
            <a:ext cx="5735002" cy="676275"/>
            <a:chOff x="5923598" y="5649278"/>
            <a:chExt cx="5735002" cy="676275"/>
          </a:xfrm>
        </p:grpSpPr>
        <p:sp>
          <p:nvSpPr>
            <p:cNvPr id="102" name="Rectangle 102"/>
            <p:cNvSpPr/>
            <p:nvPr/>
          </p:nvSpPr>
          <p:spPr>
            <a:xfrm>
              <a:off x="5923598" y="5649278"/>
              <a:ext cx="5735002" cy="676275"/>
            </a:xfrm>
            <a:prstGeom prst="roundRect">
              <a:avLst>
                <a:gd name="adj" fmla="val 1690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6128385" y="5887405"/>
              <a:ext cx="200023" cy="200023"/>
              <a:chOff x="6128385" y="5887405"/>
              <a:chExt cx="200023" cy="200023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6128385" y="58874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6261735" y="5954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6431852" y="5793105"/>
              <a:ext cx="4728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 a = 10.126（标准误 0.052），b = 0.5004（标准误 0.0048），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残差平方和 0.01225；数值用 Python 复核。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79924" cy="3351847"/>
            <a:chOff x="667512" y="1835468"/>
            <a:chExt cx="517992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8353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算法引入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700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有隐变量或缺失数据时，交替做“求期望”和“求最大”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972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算法解决什么问题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缺失数据例与双硬币例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672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9.1 与 Q 函数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三硬币模型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00884" cy="909257"/>
            <a:chOff x="520446" y="342900"/>
            <a:chExt cx="75008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008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算法：含隐变量或缺失数据时求极大似然估计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193982" cy="3280410"/>
            <a:chOff x="533400" y="1524000"/>
            <a:chExt cx="5193982" cy="3280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280410"/>
            </a:xfrm>
            <a:prstGeom prst="roundRect">
              <a:avLst>
                <a:gd name="adj" fmla="val 4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1371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18872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293" y="1763554"/>
              <a:ext cx="1090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4.3.1 EM 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每次迭代包括两步：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5335" y="2408872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3680" y="244825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6228" y="2420779"/>
              <a:ext cx="42871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（Expectation，期望步）：在当前参数下，求完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全数据对数似然关于隐变量条件分布的期望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5335" y="3000375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680" y="303976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228" y="3012281"/>
              <a:ext cx="42258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（Maximization，最大化步）：求使这个期望最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大的参数，作为新的参数估计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3603784"/>
              <a:ext cx="45139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主要用来求解以下两类问题的极大似然估计：(1) 存在隐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变量；(2) 数据缺失。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9239" y="4191952"/>
              <a:ext cx="43936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出处：Dempster, Laird, Rubin. Maximum Likelihood from</a:t>
              </a:r>
              <a:br/>
              <a:r>
                <a:rPr lang="en-US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Incomplete Data via the EM Algorithm. JRSS Series B, 1977.</a:t>
              </a:r>
            </a:p>
          </p:txBody>
        </p:sp>
      </p:grpSp>
      <p:grpSp>
        <p:nvGrpSpPr>
          <p:cNvPr id="29" name="c1-kv-2"/>
          <p:cNvGrpSpPr/>
          <p:nvPr/>
        </p:nvGrpSpPr>
        <p:grpSpPr>
          <a:xfrm>
            <a:off x="526161" y="5012531"/>
            <a:ext cx="5201221" cy="1122617"/>
            <a:chOff x="526161" y="5012531"/>
            <a:chExt cx="5201221" cy="1122617"/>
          </a:xfrm>
        </p:grpSpPr>
        <p:sp>
          <p:nvSpPr>
            <p:cNvPr id="21" name="TextBox 21"/>
            <p:cNvSpPr txBox="1"/>
            <p:nvPr/>
          </p:nvSpPr>
          <p:spPr>
            <a:xfrm>
              <a:off x="526161" y="5012531"/>
              <a:ext cx="959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观测数据 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92974" y="501253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能看到的数据，也称不完全数据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3187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161" y="5434489"/>
              <a:ext cx="7682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隐变量 Z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92974" y="5434489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看不到但影响数据生成的量，如类别、缺失值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7407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6161" y="58564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完全数据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92974" y="5856446"/>
              <a:ext cx="36725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(Y, Z)，其对数似然 log P(Y, Z|θ) 好处理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032182" y="1524000"/>
            <a:ext cx="5626418" cy="3007995"/>
            <a:chOff x="6032182" y="1524000"/>
            <a:chExt cx="5626418" cy="3007995"/>
          </a:xfrm>
        </p:grpSpPr>
        <p:sp>
          <p:nvSpPr>
            <p:cNvPr id="30" name="Rectangle 30"/>
            <p:cNvSpPr/>
            <p:nvPr/>
          </p:nvSpPr>
          <p:spPr>
            <a:xfrm>
              <a:off x="6032182" y="1524000"/>
              <a:ext cx="5626418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2078" y="1655445"/>
              <a:ext cx="1160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 EM 的方法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11874" y="1655445"/>
              <a:ext cx="1268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EM 在其中做什么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37529" y="2085022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高斯混合模型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（GMM）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37754" y="2191702"/>
              <a:ext cx="3251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隐变量是每个观测来自哪个分量（4.3.3 节）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25927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32182" y="2597468"/>
              <a:ext cx="562641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37529" y="2728912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隐马尔可夫模型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（HMM）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37754" y="2728912"/>
              <a:ext cx="33421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参数估计的 Baum–Welch 算法就是 EM，隐变量是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状态序列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32365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37529" y="3372802"/>
              <a:ext cx="1007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LDA 主题模型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37754" y="3372802"/>
              <a:ext cx="3338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变分 EM：E 步用简单的分布近似隐变量的后验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36661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2182" y="367093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37529" y="3802380"/>
              <a:ext cx="16002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变分自编码器（VAE）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37754" y="3802380"/>
              <a:ext cx="3657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推导用到的证据下界与 4.3.2 节的下界 B 形式相同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40967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37529" y="4232910"/>
              <a:ext cx="1080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 聚类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37754" y="4232910"/>
              <a:ext cx="3532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相当于“硬分配”的 EM：每个点只归入最近的中心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1524000"/>
              <a:ext cx="5626418" cy="30079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27645" y="1524000"/>
              <a:ext cx="9525" cy="30079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6032182" y="4716780"/>
            <a:ext cx="5626418" cy="1362075"/>
            <a:chOff x="6032182" y="4716780"/>
            <a:chExt cx="5626418" cy="1362075"/>
          </a:xfrm>
        </p:grpSpPr>
        <p:sp>
          <p:nvSpPr>
            <p:cNvPr id="52" name="Rectangle 52"/>
            <p:cNvSpPr/>
            <p:nvPr/>
          </p:nvSpPr>
          <p:spPr>
            <a:xfrm>
              <a:off x="6032182" y="4716780"/>
              <a:ext cx="5626418" cy="1362075"/>
            </a:xfrm>
            <a:prstGeom prst="roundRect">
              <a:avLst>
                <a:gd name="adj" fmla="val 839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236970" y="5297807"/>
              <a:ext cx="200023" cy="200023"/>
              <a:chOff x="6236970" y="5297807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236970" y="52978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370320" y="53644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539294" y="5166836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共同点：知道隐变量时参数容易估计；知道参数时隐变量的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分布容易计算。EM 在这两件事之间来回交替。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身高例子：不知道性别时，怎样估计男、女两个身高分布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760595" cy="3071337"/>
            <a:chOff x="533400" y="1524000"/>
            <a:chExt cx="4760595" cy="307133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11398" r="0" b="11398"/>
            <a:stretch>
              <a:fillRect/>
            </a:stretch>
          </p:blipFill>
          <p:spPr>
            <a:xfrm>
              <a:off x="533400" y="1524000"/>
              <a:ext cx="4760595" cy="2756535"/>
            </a:xfrm>
            <a:prstGeom prst="roundRect">
              <a:avLst>
                <a:gd name="adj" fmla="val 4837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872528" y="4375309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两个漏斗的沙堆叠在一起，单看一粒沙分不出它来自哪个漏斗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4760595"/>
            <a:ext cx="4760595" cy="1602105"/>
            <a:chOff x="533400" y="4760595"/>
            <a:chExt cx="4760595" cy="1602105"/>
          </a:xfrm>
        </p:grpSpPr>
        <p:sp>
          <p:nvSpPr>
            <p:cNvPr id="10" name="Rectangle 10"/>
            <p:cNvSpPr/>
            <p:nvPr/>
          </p:nvSpPr>
          <p:spPr>
            <a:xfrm>
              <a:off x="533400" y="4760595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489394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49701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1258" y="50058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5347335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个人的身高混在一起，没有记录性别。男、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女的身高各服从什么分布？男的多少人？女的多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少人？</a:t>
              </a:r>
            </a:p>
          </p:txBody>
        </p:sp>
      </p:grpSp>
      <p:grpSp>
        <p:nvGrpSpPr>
          <p:cNvPr id="40" name="c2-flow-1"/>
          <p:cNvGrpSpPr/>
          <p:nvPr/>
        </p:nvGrpSpPr>
        <p:grpSpPr>
          <a:xfrm>
            <a:off x="6023610" y="1664018"/>
            <a:ext cx="5496878" cy="3308984"/>
            <a:chOff x="6023610" y="1664018"/>
            <a:chExt cx="5496878" cy="3308984"/>
          </a:xfrm>
        </p:grpSpPr>
        <p:sp>
          <p:nvSpPr>
            <p:cNvPr id="16" name="Freeform 16"/>
            <p:cNvSpPr/>
            <p:nvPr/>
          </p:nvSpPr>
          <p:spPr>
            <a:xfrm>
              <a:off x="8628698" y="2102168"/>
              <a:ext cx="9525" cy="174308"/>
            </a:xfrm>
            <a:custGeom>
              <a:avLst/>
              <a:gdLst/>
              <a:ahLst/>
              <a:cxnLst/>
              <a:rect l="l" t="t" r="r" b="b"/>
              <a:pathLst>
                <a:path w="9525" h="174308">
                  <a:moveTo>
                    <a:pt x="0" y="0"/>
                  </a:moveTo>
                  <a:lnTo>
                    <a:pt x="0" y="1743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576310" y="22764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8628698" y="2819400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576310" y="28994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628698" y="363093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190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576310" y="36309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628698" y="4336732"/>
              <a:ext cx="9525" cy="93345"/>
            </a:xfrm>
            <a:custGeom>
              <a:avLst/>
              <a:gdLst/>
              <a:ahLst/>
              <a:cxnLst/>
              <a:rect l="l" t="t" r="r" b="b"/>
              <a:pathLst>
                <a:path w="9525" h="93345">
                  <a:moveTo>
                    <a:pt x="0" y="0"/>
                  </a:moveTo>
                  <a:lnTo>
                    <a:pt x="0" y="933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576310" y="44300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1234738" y="2600325"/>
              <a:ext cx="209550" cy="1436370"/>
            </a:xfrm>
            <a:custGeom>
              <a:avLst/>
              <a:gdLst/>
              <a:ahLst/>
              <a:cxnLst/>
              <a:rect l="l" t="t" r="r" b="b"/>
              <a:pathLst>
                <a:path w="209550" h="1436370">
                  <a:moveTo>
                    <a:pt x="0" y="1436370"/>
                  </a:moveTo>
                  <a:lnTo>
                    <a:pt x="209550" y="143637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1234738" y="25479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23610" y="1664018"/>
              <a:ext cx="5211128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23610" y="2381250"/>
              <a:ext cx="5211128" cy="438150"/>
            </a:xfrm>
            <a:prstGeom prst="roundRect">
              <a:avLst>
                <a:gd name="adj" fmla="val 2173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23610" y="3004185"/>
              <a:ext cx="5211128" cy="629602"/>
            </a:xfrm>
            <a:prstGeom prst="roundRect">
              <a:avLst>
                <a:gd name="adj" fmla="val 1512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023610" y="3735705"/>
              <a:ext cx="5211128" cy="601028"/>
            </a:xfrm>
            <a:custGeom>
              <a:avLst/>
              <a:gdLst/>
              <a:ahLst/>
              <a:cxnLst/>
              <a:rect l="l" t="t" r="r" b="b"/>
              <a:pathLst>
                <a:path w="5211128" h="601028">
                  <a:moveTo>
                    <a:pt x="2605088" y="0"/>
                  </a:moveTo>
                  <a:lnTo>
                    <a:pt x="5211128" y="300990"/>
                  </a:lnTo>
                  <a:lnTo>
                    <a:pt x="2605088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23610" y="4534852"/>
              <a:ext cx="5211128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12928" y="179403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假设男、女身高都服从正态分布，给参数设初值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3236" y="2511266"/>
              <a:ext cx="4130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步：用当前的两个正态分布，算每个人是男性的概率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23596" y="3119914"/>
              <a:ext cx="441020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步：按这些概率加权，用最大似然更新两组均值、方差和男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女比例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46809" y="394763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参数还在明显变化？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16025" y="466486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输出两个分布与男女人数的估计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291888" y="434435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334178" y="437102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187112" y="322611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240453" y="325278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5598795" y="5303520"/>
            <a:ext cx="6059805" cy="1059180"/>
            <a:chOff x="5598795" y="5303520"/>
            <a:chExt cx="6059805" cy="1059180"/>
          </a:xfrm>
        </p:grpSpPr>
        <p:sp>
          <p:nvSpPr>
            <p:cNvPr id="41" name="Rectangle 41"/>
            <p:cNvSpPr/>
            <p:nvPr/>
          </p:nvSpPr>
          <p:spPr>
            <a:xfrm>
              <a:off x="5598795" y="5303520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5803583" y="5733098"/>
              <a:ext cx="200026" cy="200026"/>
              <a:chOff x="5803583" y="573309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5803583" y="57330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903595" y="5799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892483" y="58331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105525" y="5452110"/>
              <a:ext cx="5158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每个人的性别就是隐变量 z。原课件把类别分布记作 Q(z)，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用它的期望作为下一次迭代的类别，再用最大似然估计新的高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斯模型参数，重复直到收敛。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缺失数据例：双因素模型的表格里缺了一个值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4333875" cy="1642587"/>
            <a:chOff x="527685" y="1524000"/>
            <a:chExt cx="4333875" cy="164258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44839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26879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08919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2799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5521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3725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1929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1649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21255"/>
              <a:ext cx="432816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2799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5521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3725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89045" y="2430780"/>
              <a:ext cx="106299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13926" y="2556986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1524000"/>
              <a:ext cx="432816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61067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9271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7475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2946559"/>
              <a:ext cx="3084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因素 A 两个水平、因素 B 三个水平，x₂₃ 缺失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3312795"/>
            <a:ext cx="4328160" cy="533400"/>
            <a:chOff x="533400" y="3312795"/>
            <a:chExt cx="4328160" cy="533400"/>
          </a:xfrm>
        </p:grpSpPr>
        <p:sp>
          <p:nvSpPr>
            <p:cNvPr id="28" name="Rectangle 28"/>
            <p:cNvSpPr/>
            <p:nvPr/>
          </p:nvSpPr>
          <p:spPr>
            <a:xfrm>
              <a:off x="533400" y="3312795"/>
              <a:ext cx="4328160" cy="533400"/>
            </a:xfrm>
            <a:prstGeom prst="roundRect">
              <a:avLst>
                <a:gd name="adj" fmla="val 2142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3479485"/>
              <a:ext cx="200023" cy="200023"/>
              <a:chOff x="738188" y="3479485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34794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35461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3474720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目标：估计缺失数据 x₂₃。</a:t>
              </a:r>
            </a:p>
          </p:txBody>
        </p:sp>
      </p:grpSp>
      <p:grpSp>
        <p:nvGrpSpPr>
          <p:cNvPr id="43" name="c1-card-3"/>
          <p:cNvGrpSpPr/>
          <p:nvPr/>
        </p:nvGrpSpPr>
        <p:grpSpPr>
          <a:xfrm>
            <a:off x="533400" y="4036695"/>
            <a:ext cx="4328160" cy="2320290"/>
            <a:chOff x="533400" y="4036695"/>
            <a:chExt cx="4328160" cy="2320290"/>
          </a:xfrm>
        </p:grpSpPr>
        <p:sp>
          <p:nvSpPr>
            <p:cNvPr id="34" name="Rectangle 34"/>
            <p:cNvSpPr/>
            <p:nvPr/>
          </p:nvSpPr>
          <p:spPr>
            <a:xfrm>
              <a:off x="533400" y="4036695"/>
              <a:ext cx="4328160" cy="2320290"/>
            </a:xfrm>
            <a:prstGeom prst="roundRect">
              <a:avLst>
                <a:gd name="adj" fmla="val 57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170045"/>
              <a:ext cx="47625" cy="20535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81050" y="424624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3359" y="42819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两种解法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6765" y="46863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4880" y="4623435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 1：只用 5 个观测值直接求最大似然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估计，再算 x₂₃ 的估计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6765" y="53073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4880" y="5244465"/>
              <a:ext cx="3472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 2：EM，先填一个值，用完全数据的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公式估计参数，再重新填，反复进行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4573" y="5861209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两种解法得到同一个结果 27（见后两页）。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5166360" y="1524000"/>
            <a:ext cx="6492240" cy="1209675"/>
            <a:chOff x="5166360" y="1524000"/>
            <a:chExt cx="6492240" cy="1209675"/>
          </a:xfrm>
        </p:grpSpPr>
        <p:sp>
          <p:nvSpPr>
            <p:cNvPr id="44" name="Rectangle 44"/>
            <p:cNvSpPr/>
            <p:nvPr/>
          </p:nvSpPr>
          <p:spPr>
            <a:xfrm>
              <a:off x="5166360" y="1524000"/>
              <a:ext cx="649224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17588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1401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0421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formula111"/>
                <p:cNvSpPr txBox="1">
                  <a:spLocks noGrp="1"/>
                </p:cNvSpPr>
                <p:nvPr/>
              </p:nvSpPr>
              <p:spPr>
                <a:xfrm>
                  <a:off x="5414010" y="2085975"/>
                  <a:ext cx="603504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ϵ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ϵ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7" name="c2-kv-2"/>
          <p:cNvGrpSpPr/>
          <p:nvPr/>
        </p:nvGrpSpPr>
        <p:grpSpPr>
          <a:xfrm>
            <a:off x="5158740" y="2948940"/>
            <a:ext cx="6499860" cy="2493645"/>
            <a:chOff x="5158740" y="2948940"/>
            <a:chExt cx="6499860" cy="2493645"/>
          </a:xfrm>
        </p:grpSpPr>
        <p:sp>
          <p:nvSpPr>
            <p:cNvPr id="50" name="TextBox 50"/>
            <p:cNvSpPr txBox="1"/>
            <p:nvPr/>
          </p:nvSpPr>
          <p:spPr>
            <a:xfrm>
              <a:off x="5158740" y="2948940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xᵢⱼ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03583" y="2948940"/>
              <a:ext cx="35684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因素第 i 水平、B 因素第 j 水平的数值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66360" y="326898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158740" y="338899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03583" y="33889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常数项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6360" y="370903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158740" y="38290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αᵢ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03583" y="3829050"/>
              <a:ext cx="12062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因素的效应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66360" y="41490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158740" y="426910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βⱼ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803583" y="4269105"/>
              <a:ext cx="12062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因素的效应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45891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158740" y="47091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约束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803583" y="4709160"/>
              <a:ext cx="271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 + α₂ = 0，β₁ + β₂ + β₃ = 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166360" y="50292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158740" y="514921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εᵢⱼ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03583" y="51492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扰动项，相互独立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5166360" y="5574030"/>
            <a:ext cx="6492240" cy="782955"/>
            <a:chOff x="5166360" y="5574030"/>
            <a:chExt cx="6492240" cy="782955"/>
          </a:xfrm>
        </p:grpSpPr>
        <p:sp>
          <p:nvSpPr>
            <p:cNvPr id="68" name="Rectangle 68"/>
            <p:cNvSpPr/>
            <p:nvPr/>
          </p:nvSpPr>
          <p:spPr>
            <a:xfrm>
              <a:off x="5166360" y="5574030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5371148" y="5865495"/>
              <a:ext cx="200026" cy="200026"/>
              <a:chOff x="5371148" y="5865495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5371148" y="58654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5471160" y="59321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5460048" y="59655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5673090" y="5722620"/>
              <a:ext cx="5425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 xᵢⱼ ~ N(μ + αᵢ + βⱼ, σ²)。缺失值的估计为 μ + α₂ + β₃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估计值。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72104" cy="909257"/>
            <a:chOff x="520446" y="342900"/>
            <a:chExt cx="96721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721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 1：对 5 个观测值做最大似然，等价于在约束下做最小二乘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685" y="1542574"/>
            <a:ext cx="5203190" cy="441008"/>
            <a:chOff x="527685" y="1542574"/>
            <a:chExt cx="5203190" cy="44100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542574"/>
              <a:ext cx="520319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似然函数是 5 个正态密度的乘积；对数似然中与 μ、αᵢ、βⱼ 有关的只有平方和，所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以最大化似然就是最小化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16"/>
              <p:cNvSpPr txBox="1">
                <a:spLocks noGrp="1"/>
              </p:cNvSpPr>
              <p:nvPr/>
            </p:nvSpPr>
            <p:spPr>
              <a:xfrm>
                <a:off x="533400" y="2114550"/>
                <a:ext cx="5410200" cy="625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13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22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7685" y="2934176"/>
            <a:ext cx="4961382" cy="661988"/>
            <a:chOff x="527685" y="2934176"/>
            <a:chExt cx="4961382" cy="661988"/>
          </a:xfrm>
        </p:grpSpPr>
        <p:sp>
          <p:nvSpPr>
            <p:cNvPr id="10" name="TextBox 10"/>
            <p:cNvSpPr txBox="1"/>
            <p:nvPr/>
          </p:nvSpPr>
          <p:spPr>
            <a:xfrm>
              <a:off x="527685" y="2934176"/>
              <a:ext cx="4961382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对各参数求偏导并令其为 0。例如 ∂S/∂μ = 0 给出 87 − 5μ − 3α₁ − 2α₂ − 2β₁ 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2β₂ − β₃ = 0，用约束化简 −3α₁ − 2α₂ = −α₁、−2β₁ − 2β₂ − β₃ = β₃，得方程</a:t>
              </a:r>
            </a:p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(1)。</a:t>
              </a:r>
            </a:p>
          </p:txBody>
        </p:sp>
      </p:grpSp>
      <p:grpSp>
        <p:nvGrpSpPr>
          <p:cNvPr id="17" name="c1-card-4"/>
          <p:cNvGrpSpPr/>
          <p:nvPr/>
        </p:nvGrpSpPr>
        <p:grpSpPr>
          <a:xfrm>
            <a:off x="533400" y="3728085"/>
            <a:ext cx="5410200" cy="2445068"/>
            <a:chOff x="533400" y="3728085"/>
            <a:chExt cx="5410200" cy="2445068"/>
          </a:xfrm>
        </p:grpSpPr>
        <p:sp>
          <p:nvSpPr>
            <p:cNvPr id="12" name="Rectangle 12"/>
            <p:cNvSpPr/>
            <p:nvPr/>
          </p:nvSpPr>
          <p:spPr>
            <a:xfrm>
              <a:off x="533400" y="3728085"/>
              <a:ext cx="5410200" cy="2445068"/>
            </a:xfrm>
            <a:prstGeom prst="roundRect">
              <a:avLst>
                <a:gd name="adj" fmla="val 54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861435"/>
              <a:ext cx="47625" cy="21783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3905" y="3920490"/>
              <a:ext cx="179546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5318" y="3954780"/>
              <a:ext cx="16916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为什么可以逐个令偏导为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4276725"/>
              <a:ext cx="46000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严格说带约束要用拉格朗日乘子。本题各 ∂S/∂αᵢ 之和等于 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S/∂μ（βⱼ 同理），∂S/∂μ = 0 时乘子必为 0，所以逐个令偏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导为 0 求出的解就是约束最小二乘解。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248400" y="1524000"/>
            <a:ext cx="5410200" cy="2840355"/>
            <a:chOff x="6248400" y="1524000"/>
            <a:chExt cx="5410200" cy="2840355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52185" y="1648301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偏导为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65972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化简后的方程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6967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48412" y="2054066"/>
              <a:ext cx="459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∂S/∂μ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55255" y="2054066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87 − 5μ − α₁ + β₃ =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96061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8412" y="2459831"/>
              <a:ext cx="548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∂S/∂α₁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55255" y="2459831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14 − μ − α₁ = 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96061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8412" y="2865596"/>
              <a:ext cx="548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∂S/∂α₂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55255" y="2865596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45 − 2μ − 2α₂ + β₃ = 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96061" y="2865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8412" y="3271361"/>
              <a:ext cx="548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∂S/∂β₁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55255" y="3271361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16 − μ − β₁ = 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96061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8412" y="3677126"/>
              <a:ext cx="548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∂S/∂β₂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55255" y="3677126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19 − μ − β₂ = 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96061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8412" y="4082891"/>
              <a:ext cx="548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∂S/∂β₃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55255" y="408289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17 − μ − α₁ − β₃ = 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96061" y="40828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5048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78801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6248400" y="4539615"/>
            <a:ext cx="5410200" cy="729615"/>
            <a:chOff x="6248400" y="4539615"/>
            <a:chExt cx="5410200" cy="729615"/>
          </a:xfrm>
        </p:grpSpPr>
        <p:sp>
          <p:nvSpPr>
            <p:cNvPr id="52" name="Rectangle 52"/>
            <p:cNvSpPr/>
            <p:nvPr/>
          </p:nvSpPr>
          <p:spPr>
            <a:xfrm>
              <a:off x="6248400" y="453961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4804412"/>
              <a:ext cx="200023" cy="200023"/>
              <a:chOff x="6453188" y="4804412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48044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86538" y="48710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892" y="4685348"/>
              <a:ext cx="45057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解得 μ = 19，α₁ = −5，α₂ = 5，β₁ = −3，β₂ = 0，β₃ = 3，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缺失数据的估计为 x₂₃ = μ + α₂ + β₃ = 27。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248400" y="5443538"/>
            <a:ext cx="5410200" cy="729615"/>
            <a:chOff x="6248400" y="5443538"/>
            <a:chExt cx="5410200" cy="729615"/>
          </a:xfrm>
        </p:grpSpPr>
        <p:sp>
          <p:nvSpPr>
            <p:cNvPr id="58" name="Rectangle 58"/>
            <p:cNvSpPr/>
            <p:nvPr/>
          </p:nvSpPr>
          <p:spPr>
            <a:xfrm>
              <a:off x="6248400" y="544353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708333"/>
              <a:ext cx="200026" cy="200026"/>
              <a:chOff x="6453188" y="5708333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57083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19863" y="578612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892" y="5590223"/>
              <a:ext cx="43085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复核：5 个拟合值为 11、14、17、21、24，残差为 −1、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1、0、1、−1；消去约束后做最小二乘，结果相同。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49184" cy="909257"/>
            <a:chOff x="520446" y="342900"/>
            <a:chExt cx="10149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491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 2：EM，完全数据下参数有显式解，缺失值就反复“填了再估”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5157978" cy="500824"/>
            <a:chOff x="526923" y="1545431"/>
            <a:chExt cx="5157978" cy="50082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515797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完全数据（6 个格子都有值）时 S(θ) = Σᵢⱼ(xᵢⱼ − μ − αᵢ − βⱼ)²，求偏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导：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2185988"/>
            <a:ext cx="5626418" cy="2470785"/>
            <a:chOff x="533400" y="2185988"/>
            <a:chExt cx="5626418" cy="2470785"/>
          </a:xfrm>
        </p:grpSpPr>
        <p:sp>
          <p:nvSpPr>
            <p:cNvPr id="9" name="Rectangle 9"/>
            <p:cNvSpPr/>
            <p:nvPr/>
          </p:nvSpPr>
          <p:spPr>
            <a:xfrm>
              <a:off x="533400" y="2185988"/>
              <a:ext cx="562641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0683" y="2320766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偏导为 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0771" y="23207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化简结果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87644" y="23207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770346"/>
              <a:ext cx="524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∂S/∂μ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79473" y="2770346"/>
              <a:ext cx="10926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Σxᵢⱼ − 6μ =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41477" y="2770346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(W1)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784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8324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218974"/>
              <a:ext cx="6269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∂S/∂α₁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79473" y="3218974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(x₁₁ + x₁₂ + x₁₃)/3 − μ − α₁ =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41477" y="3218974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(W2)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271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667601"/>
              <a:ext cx="6269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∂S/∂α₂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9473" y="3667601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(x₂₁ + x₂₂ + x₂₃)/3 − μ − α₂ =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41477" y="3667601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(W3)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766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98145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229576"/>
              <a:ext cx="6269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∂S/∂βⱼ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79473" y="4229576"/>
              <a:ext cx="3131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(x₁ⱼ + x₂ⱼ)/2 − μ − βⱼ = 0，j = 1, 2, 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64886" y="4116229"/>
              <a:ext cx="4030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(W4–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W6)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185988"/>
              <a:ext cx="5626418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766888" y="2185988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67338" y="2185988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text-3"/>
          <p:cNvGrpSpPr/>
          <p:nvPr/>
        </p:nvGrpSpPr>
        <p:grpSpPr>
          <a:xfrm>
            <a:off x="526923" y="4867751"/>
            <a:ext cx="3114599" cy="249364"/>
            <a:chOff x="526923" y="4867751"/>
            <a:chExt cx="3114599" cy="249364"/>
          </a:xfrm>
        </p:grpSpPr>
        <p:sp>
          <p:nvSpPr>
            <p:cNvPr id="34" name="TextBox 34"/>
            <p:cNvSpPr txBox="1"/>
            <p:nvPr/>
          </p:nvSpPr>
          <p:spPr>
            <a:xfrm>
              <a:off x="526923" y="486775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于是，用总均值、行均值、列均值表示：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118"/>
              <p:cNvSpPr txBox="1">
                <a:spLocks noGrp="1"/>
              </p:cNvSpPr>
              <p:nvPr/>
            </p:nvSpPr>
            <p:spPr>
              <a:xfrm>
                <a:off x="533400" y="5257800"/>
                <a:ext cx="562641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</m:acc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acc>
                            <m:accPr>
                              <m:chr m:val="̅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acc>
                            <m:accPr>
                              <m:chr m:val="̅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54" name="c2-steps-1"/>
          <p:cNvGrpSpPr/>
          <p:nvPr/>
        </p:nvGrpSpPr>
        <p:grpSpPr>
          <a:xfrm>
            <a:off x="6464618" y="1533525"/>
            <a:ext cx="4920361" cy="2998755"/>
            <a:chOff x="6464618" y="1533525"/>
            <a:chExt cx="4920361" cy="2998755"/>
          </a:xfrm>
        </p:grpSpPr>
        <p:sp>
          <p:nvSpPr>
            <p:cNvPr id="37" name="Rectangle 37"/>
            <p:cNvSpPr/>
            <p:nvPr/>
          </p:nvSpPr>
          <p:spPr>
            <a:xfrm>
              <a:off x="6597968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64618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241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64618" y="39557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8241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6098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给初值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7241" y="1861661"/>
              <a:ext cx="207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给定缺失值的初始估计 x₂₃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6098" y="2218372"/>
              <a:ext cx="1013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步：填值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7241" y="2512219"/>
              <a:ext cx="45077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把当前的 μ + α₂ + β₃ 填进表格；正态模型下它就是缺失值的条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件期望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6098" y="3104198"/>
              <a:ext cx="1058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步：估计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7241" y="3397091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用完全数据的公式算总均值、行均值、列均值，得到新的 μ、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α₂、β₃ 和新的 x₂₃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6098" y="39900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7241" y="4282916"/>
              <a:ext cx="3883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与上一次的 x₂₃ 比较，接近则停止，否则回到 E 步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464618" y="4711065"/>
            <a:ext cx="5193982" cy="1059180"/>
            <a:chOff x="6464618" y="4711065"/>
            <a:chExt cx="5193982" cy="1059180"/>
          </a:xfrm>
        </p:grpSpPr>
        <p:sp>
          <p:nvSpPr>
            <p:cNvPr id="55" name="Rectangle 55"/>
            <p:cNvSpPr/>
            <p:nvPr/>
          </p:nvSpPr>
          <p:spPr>
            <a:xfrm>
              <a:off x="6464618" y="471106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69405" y="5140643"/>
              <a:ext cx="200026" cy="200026"/>
              <a:chOff x="6669405" y="5140643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69405" y="51406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69418" y="52073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58305" y="52406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71348" y="4859655"/>
              <a:ext cx="4215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为什么填期望就够了：完全数据对数似然中含 x₂₃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的项是 (x₂₃ − μ − α₂ − β₃)²，对 x₂₃ 求期望后，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μ、α、β 有关的部分只通过 E(x₂₃) 出现。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0104" cy="909257"/>
            <a:chOff x="520446" y="342900"/>
            <a:chExt cx="71001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01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迭代过程：与 27 的差每步变为原来的 2/3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1" name="c1-table-1"/>
          <p:cNvGrpSpPr/>
          <p:nvPr/>
        </p:nvGrpSpPr>
        <p:grpSpPr>
          <a:xfrm>
            <a:off x="528638" y="1524000"/>
            <a:ext cx="5631180" cy="3253740"/>
            <a:chOff x="528638" y="1524000"/>
            <a:chExt cx="5631180" cy="32537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7528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2945" y="1638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3790" y="1638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填入值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63676" y="1638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12483" y="16383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64006" y="16383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β₃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4184" y="1638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新估计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14334" y="1638300"/>
              <a:ext cx="6870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27 的差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481" y="20145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98073" y="201453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49005" y="201453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77499" y="201453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06764" y="201453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8468" y="201453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13644" y="201453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2707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275522"/>
              <a:ext cx="5626418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3481" y="23898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98073" y="238982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26748" y="238982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55242" y="238982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06764" y="238982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468" y="238982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13644" y="238982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6460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81" y="27651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98073" y="276510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71262" y="276510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18.333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99756" y="276510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4.333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51278" y="276510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1.667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02982" y="276510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24.333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58158" y="276510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2.667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0222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027045"/>
              <a:ext cx="5626418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3481" y="31413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42587" y="314134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24.333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71262" y="314134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18.556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99756" y="314134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4.556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51278" y="314134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2.111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02982" y="314134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25.222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58158" y="314134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1.778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3975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3481" y="35166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42587" y="351663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25.222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171262" y="351663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18.704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999756" y="351663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51278" y="351663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2.407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02982" y="351663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25.815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58158" y="351663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1.185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37728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3400" y="3777615"/>
              <a:ext cx="5626418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03481" y="3892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536944" y="38928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365619" y="38928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155242" y="38928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906764" y="38928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697339" y="38928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13644" y="38928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4149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62666" y="42681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342587" y="426815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26.896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171262" y="426815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18.983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999756" y="42681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4.983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751278" y="42681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2.965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502982" y="426815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26.931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458158" y="42681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0.069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33400" y="1524000"/>
              <a:ext cx="5626418" cy="30051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162050" y="1524000"/>
              <a:ext cx="9525" cy="3005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990725" y="1524000"/>
              <a:ext cx="9525" cy="3005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2819400" y="1524000"/>
              <a:ext cx="9525" cy="3005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3570922" y="1524000"/>
              <a:ext cx="9525" cy="3005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4322445" y="1524000"/>
              <a:ext cx="9525" cy="3005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5151120" y="1524000"/>
              <a:ext cx="9525" cy="3005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28638" y="4601528"/>
              <a:ext cx="19646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初值 x₂₃ = 18；数值用 Python 复核</a:t>
              </a:r>
            </a:p>
          </p:txBody>
        </p:sp>
      </p:grpSp>
      <p:grpSp>
        <p:nvGrpSpPr>
          <p:cNvPr id="87" name="c1-card-2"/>
          <p:cNvGrpSpPr/>
          <p:nvPr/>
        </p:nvGrpSpPr>
        <p:grpSpPr>
          <a:xfrm>
            <a:off x="533400" y="4901565"/>
            <a:ext cx="5626418" cy="1333500"/>
            <a:chOff x="533400" y="4901565"/>
            <a:chExt cx="5626418" cy="1333500"/>
          </a:xfrm>
        </p:grpSpPr>
        <p:sp>
          <p:nvSpPr>
            <p:cNvPr id="82" name="Rectangle 82"/>
            <p:cNvSpPr/>
            <p:nvPr/>
          </p:nvSpPr>
          <p:spPr>
            <a:xfrm>
              <a:off x="533400" y="4901565"/>
              <a:ext cx="5626418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542925" y="5034915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46760" y="5076825"/>
              <a:ext cx="1033462" cy="2286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21629" y="5108258"/>
              <a:ext cx="8827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1 次迭代手算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40664" y="5403532"/>
              <a:ext cx="498043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填入 18 后：总均值 105/6 = 17.5，第 2 行均值 (22 + 23 + 18)/3 = 21，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列均值 (17 + 18)/2 = 17.5。所以 μ = 17.5，α₂ = 3.5，β₃ = 0，新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 17.5 + 3.5 + 0 = 21。</a:t>
              </a:r>
            </a:p>
          </p:txBody>
        </p:sp>
      </p:grpSp>
      <p:grpSp>
        <p:nvGrpSpPr>
          <p:cNvPr id="94" name="c2-card-1"/>
          <p:cNvGrpSpPr/>
          <p:nvPr/>
        </p:nvGrpSpPr>
        <p:grpSpPr>
          <a:xfrm>
            <a:off x="6464618" y="1524000"/>
            <a:ext cx="5193982" cy="1904048"/>
            <a:chOff x="6464618" y="1524000"/>
            <a:chExt cx="5193982" cy="1904048"/>
          </a:xfrm>
        </p:grpSpPr>
        <p:sp>
          <p:nvSpPr>
            <p:cNvPr id="88" name="Rectangle 88"/>
            <p:cNvSpPr/>
            <p:nvPr/>
          </p:nvSpPr>
          <p:spPr>
            <a:xfrm>
              <a:off x="6464618" y="1524000"/>
              <a:ext cx="5193982" cy="1904048"/>
            </a:xfrm>
            <a:prstGeom prst="roundRect">
              <a:avLst>
                <a:gd name="adj" fmla="val 700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639878" y="1699260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726174" y="1730693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迭代公式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633782" y="2025968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填入 t 后，新估计为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formula126"/>
                <p:cNvSpPr txBox="1">
                  <a:spLocks noGrp="1"/>
                </p:cNvSpPr>
                <p:nvPr/>
              </p:nvSpPr>
              <p:spPr>
                <a:xfrm>
                  <a:off x="6639878" y="2275522"/>
                  <a:ext cx="4843462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new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45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17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87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93" name="TextBox 93"/>
            <p:cNvSpPr txBox="1"/>
            <p:nvPr/>
          </p:nvSpPr>
          <p:spPr>
            <a:xfrm>
              <a:off x="6633782" y="2836545"/>
              <a:ext cx="41879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不动点满足 t = 9 + 2t/3，得 t = 27，与解法 1 相同；且 27 −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t_new = (2/3)(27 − t)。</a:t>
              </a:r>
            </a:p>
          </p:txBody>
        </p:sp>
      </p:grpSp>
      <p:grpSp>
        <p:nvGrpSpPr>
          <p:cNvPr id="101" name="c2-callout-2"/>
          <p:cNvGrpSpPr/>
          <p:nvPr/>
        </p:nvGrpSpPr>
        <p:grpSpPr>
          <a:xfrm>
            <a:off x="6464618" y="3587115"/>
            <a:ext cx="5193982" cy="897255"/>
            <a:chOff x="6464618" y="3587115"/>
            <a:chExt cx="5193982" cy="897255"/>
          </a:xfrm>
        </p:grpSpPr>
        <p:sp>
          <p:nvSpPr>
            <p:cNvPr id="95" name="Rectangle 95"/>
            <p:cNvSpPr/>
            <p:nvPr/>
          </p:nvSpPr>
          <p:spPr>
            <a:xfrm>
              <a:off x="6464618" y="3587115"/>
              <a:ext cx="5193982" cy="897255"/>
            </a:xfrm>
            <a:prstGeom prst="roundRect">
              <a:avLst>
                <a:gd name="adj" fmla="val 1273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6657347" y="3932038"/>
              <a:ext cx="224134" cy="192560"/>
              <a:chOff x="6657347" y="3932038"/>
              <a:chExt cx="224134" cy="19256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769418" y="40024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657347" y="39320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6769418" y="40801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6972872" y="3730942"/>
              <a:ext cx="421843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EM 一般只有线性收敛：误差按固定比例缩小，缺失的信息占比</a:t>
              </a:r>
              <a:br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越大，比例越接近 1，收敛越慢。初值取 0 也会收敛（0 → 9 →</a:t>
              </a:r>
              <a:br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15 → 19 → …），只是多迭代几步。</a:t>
              </a:r>
            </a:p>
          </p:txBody>
        </p:sp>
      </p:grpSp>
      <p:grpSp>
        <p:nvGrpSpPr>
          <p:cNvPr id="110" name="c2-card-3"/>
          <p:cNvGrpSpPr/>
          <p:nvPr/>
        </p:nvGrpSpPr>
        <p:grpSpPr>
          <a:xfrm>
            <a:off x="6464618" y="4644390"/>
            <a:ext cx="5193982" cy="1591628"/>
            <a:chOff x="6464618" y="4644390"/>
            <a:chExt cx="5193982" cy="1591628"/>
          </a:xfrm>
        </p:grpSpPr>
        <p:sp>
          <p:nvSpPr>
            <p:cNvPr id="102" name="Rectangle 102"/>
            <p:cNvSpPr/>
            <p:nvPr/>
          </p:nvSpPr>
          <p:spPr>
            <a:xfrm>
              <a:off x="6464618" y="4644390"/>
              <a:ext cx="5193982" cy="1591628"/>
            </a:xfrm>
            <a:prstGeom prst="roundRect">
              <a:avLst>
                <a:gd name="adj" fmla="val 83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474142" y="4777740"/>
              <a:ext cx="47625" cy="13249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677978" y="4819650"/>
              <a:ext cx="1033462" cy="22860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753799" y="4851082"/>
              <a:ext cx="8827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和解法 1 的关系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6687502" y="5193030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843332" y="5145405"/>
              <a:ext cx="44546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迭代的不动点方程与解法 1 的正规方程等价，两种解法必然给出同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27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6687502" y="5692140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843332" y="5644515"/>
              <a:ext cx="43022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两因素表缺一格时也有直接公式：(2 × 45 + 3 × 17 − 87)/[(2 −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1)(3 − 1)] = 27</a:t>
              </a:r>
            </a:p>
          </p:txBody>
        </p:sp>
      </p:grpSp>
      <p:grpSp>
        <p:nvGrpSpPr>
          <p:cNvPr id="11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1" name="TextBox 11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双硬币例子：知道每组用的是哪枚硬币时，直接数正面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28066" y="1524000"/>
            <a:ext cx="6065139" cy="3013329"/>
            <a:chOff x="528066" y="1524000"/>
            <a:chExt cx="6065139" cy="301332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0397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17329" y="1652588"/>
              <a:ext cx="1057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次抛掷结果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2333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6346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0454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4523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0103" y="2076450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T T T H H T H T 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37940" y="207645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8058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21667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67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72678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4523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40103" y="2501265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H H H T H H H H 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37940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8058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21667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9273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4523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0103" y="2926080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T H H H H H T H 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37940" y="292608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8058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21667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2165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221355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4523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40103" y="3349942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T H T T T H H T 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37940" y="334994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80584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21667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6414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4523" y="37747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40103" y="3774757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H H H T H H H T 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37940" y="3774757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80584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21667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6059805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41732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465195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506278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4736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8066" y="4145280"/>
              <a:ext cx="529799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 为正面，T 为反面；例子取自 Do, Batzoglou. What is the expectation maximization</a:t>
              </a:r>
              <a:br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algorithm? Nature Biotechnology, 2008</a:t>
              </a:r>
            </a:p>
          </p:txBody>
        </p:sp>
      </p:grpSp>
      <p:grpSp>
        <p:nvGrpSpPr>
          <p:cNvPr id="60" name="c1-card-2"/>
          <p:cNvGrpSpPr/>
          <p:nvPr/>
        </p:nvGrpSpPr>
        <p:grpSpPr>
          <a:xfrm>
            <a:off x="533400" y="4675822"/>
            <a:ext cx="6059805" cy="1615440"/>
            <a:chOff x="533400" y="4675822"/>
            <a:chExt cx="6059805" cy="1615440"/>
          </a:xfrm>
        </p:grpSpPr>
        <p:sp>
          <p:nvSpPr>
            <p:cNvPr id="51" name="Rectangle 51"/>
            <p:cNvSpPr/>
            <p:nvPr/>
          </p:nvSpPr>
          <p:spPr>
            <a:xfrm>
              <a:off x="533400" y="4675822"/>
              <a:ext cx="6059805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4809172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69620" y="4873942"/>
              <a:ext cx="131064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6972" y="4908233"/>
              <a:ext cx="1195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完全数据下的 MLE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381" y="5234464"/>
              <a:ext cx="56282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记硬币 A、B 正面朝上的概率为 θA、θB。已知每组用哪枚硬币时：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77240" y="561308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3831" y="5552599"/>
              <a:ext cx="47293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硬币 A 共 24 正 6 反：θA 的估计 = 24/(24 + 6)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77240" y="593026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33831" y="5870734"/>
              <a:ext cx="46242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硬币 B 共 9 正 11 反：θB 的估计 = 9/(9 + 11)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0.45</a:t>
              </a:r>
            </a:p>
          </p:txBody>
        </p:sp>
      </p:grpSp>
      <p:grpSp>
        <p:nvGrpSpPr>
          <p:cNvPr id="63" name="c2-image-1"/>
          <p:cNvGrpSpPr/>
          <p:nvPr/>
        </p:nvGrpSpPr>
        <p:grpSpPr>
          <a:xfrm>
            <a:off x="6898005" y="1524000"/>
            <a:ext cx="4760595" cy="3924871"/>
            <a:chOff x="6898005" y="1524000"/>
            <a:chExt cx="4760595" cy="3924871"/>
          </a:xfrm>
        </p:grpSpPr>
        <p:pic>
          <p:nvPicPr>
            <p:cNvPr id="61" name="Image 61"/>
            <p:cNvPicPr>
              <a:picLocks noChangeAspect="1"/>
            </p:cNvPicPr>
            <p:nvPr/>
          </p:nvPicPr>
          <p:blipFill>
            <a:blip r:embed="rId2"/>
            <a:srcRect l="756" t="0" r="755" b="0"/>
            <a:stretch>
              <a:fillRect/>
            </a:stretch>
          </p:blipFill>
          <p:spPr>
            <a:xfrm>
              <a:off x="6898005" y="1524000"/>
              <a:ext cx="4760595" cy="3625215"/>
            </a:xfrm>
            <a:prstGeom prst="roundRect">
              <a:avLst>
                <a:gd name="adj" fmla="val 3678"/>
              </a:avLst>
            </a:prstGeom>
          </p:spPr>
        </p:pic>
        <p:sp>
          <p:nvSpPr>
            <p:cNvPr id="62" name="TextBox 62"/>
            <p:cNvSpPr txBox="1"/>
            <p:nvPr/>
          </p:nvSpPr>
          <p:spPr>
            <a:xfrm>
              <a:off x="7145636" y="5243512"/>
              <a:ext cx="4265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抛之前先选一枚硬币，没记下选的是哪枚，“硬币”这一列就是隐变量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6898005" y="5606415"/>
            <a:ext cx="4760595" cy="756285"/>
            <a:chOff x="6898005" y="5606415"/>
            <a:chExt cx="4760595" cy="756285"/>
          </a:xfrm>
        </p:grpSpPr>
        <p:sp>
          <p:nvSpPr>
            <p:cNvPr id="64" name="Rectangle 64"/>
            <p:cNvSpPr/>
            <p:nvPr/>
          </p:nvSpPr>
          <p:spPr>
            <a:xfrm>
              <a:off x="6898005" y="5606415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102793" y="5884545"/>
              <a:ext cx="200026" cy="200026"/>
              <a:chOff x="7102793" y="5884545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102793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202805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191693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405116" y="5753576"/>
              <a:ext cx="381965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把表中“硬币”一列擦掉，只剩正反面记录，就是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下一页的含隐变量问题。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74934" cy="909257"/>
            <a:chOff x="520446" y="342900"/>
            <a:chExt cx="92749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749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不知道是哪枚硬币：E 步按后验概率把正反面分摊给两枚硬币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4" name="c1-table-1"/>
          <p:cNvGrpSpPr/>
          <p:nvPr/>
        </p:nvGrpSpPr>
        <p:grpSpPr>
          <a:xfrm>
            <a:off x="528066" y="1524000"/>
            <a:ext cx="6497574" cy="3120009"/>
            <a:chOff x="528066" y="1524000"/>
            <a:chExt cx="6497574" cy="31200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0920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00199" y="1648301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正/反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90618" y="164830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P(A)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51678" y="164830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P(B)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08249" y="164830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记给 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5107" y="164830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记给 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2771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70121" y="205406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08768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69828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62714" y="205406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正 2.2 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89572" y="205406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 正 2.8 反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330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33553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2771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70121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08768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69828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62714" y="2459831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 正 0.8 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89572" y="2459831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 正 0.2 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7365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2771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70121" y="2865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8/2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08768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69828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62714" y="286559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5.9 正 1.5 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89572" y="286559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 正 0.5 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142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14706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2771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70121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08768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69828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62714" y="3271361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正 2.1 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89572" y="3271361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 正 3.9 反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5480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2771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70121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08768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69828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62714" y="367712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 正 1.9 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89572" y="367712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 正 1.1 反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9538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95859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5533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982402" y="3968115"/>
              <a:ext cx="150780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221251" y="4082891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21.3 正 8.6 反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08308" y="3968115"/>
              <a:ext cx="150780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48109" y="4082891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11.7 正 8.4 反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524000"/>
              <a:ext cx="649224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34588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224504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10610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96811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49402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8066" y="4438650"/>
              <a:ext cx="3727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 步，取初值 θA = 0.60、θB = 0.50；数值用 Python 复核</a:t>
              </a:r>
            </a:p>
          </p:txBody>
        </p:sp>
      </p:grpSp>
      <p:grpSp>
        <p:nvGrpSpPr>
          <p:cNvPr id="75" name="c1-card-2"/>
          <p:cNvGrpSpPr/>
          <p:nvPr/>
        </p:nvGrpSpPr>
        <p:grpSpPr>
          <a:xfrm>
            <a:off x="533400" y="4777740"/>
            <a:ext cx="6492240" cy="1557338"/>
            <a:chOff x="533400" y="4777740"/>
            <a:chExt cx="6492240" cy="1557338"/>
          </a:xfrm>
        </p:grpSpPr>
        <p:sp>
          <p:nvSpPr>
            <p:cNvPr id="65" name="Rectangle 65"/>
            <p:cNvSpPr/>
            <p:nvPr/>
          </p:nvSpPr>
          <p:spPr>
            <a:xfrm>
              <a:off x="533400" y="4777740"/>
              <a:ext cx="6492240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42925" y="491109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63905" y="4970145"/>
              <a:ext cx="130397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30964" y="5004435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1 组的分摊过程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72478" y="53835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28497" y="5327333"/>
              <a:ext cx="3811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记给 A：5 × 0.45 ≈ 2.2 正，5 × 0.45 ≈ 2.2 反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72478" y="568547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8497" y="5629275"/>
              <a:ext cx="3811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记给 B：5 × 0.55 ≈ 2.8 正，5 × 0.55 ≈ 2.8 反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72478" y="5988367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28497" y="593217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五组都这样处理，再按列求和，得到最后一行的合计</a:t>
              </a:r>
            </a:p>
          </p:txBody>
        </p:sp>
      </p:grpSp>
      <p:grpSp>
        <p:nvGrpSpPr>
          <p:cNvPr id="81" name="c2-card-1"/>
          <p:cNvGrpSpPr/>
          <p:nvPr/>
        </p:nvGrpSpPr>
        <p:grpSpPr>
          <a:xfrm>
            <a:off x="7330440" y="1524000"/>
            <a:ext cx="4328160" cy="1450658"/>
            <a:chOff x="7330440" y="1524000"/>
            <a:chExt cx="4328160" cy="1450658"/>
          </a:xfrm>
        </p:grpSpPr>
        <p:sp>
          <p:nvSpPr>
            <p:cNvPr id="76" name="Rectangle 76"/>
            <p:cNvSpPr/>
            <p:nvPr/>
          </p:nvSpPr>
          <p:spPr>
            <a:xfrm>
              <a:off x="7330440" y="1524000"/>
              <a:ext cx="4328160" cy="1450658"/>
            </a:xfrm>
            <a:prstGeom prst="roundRect">
              <a:avLst>
                <a:gd name="adj" fmla="val 919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22845" y="1716405"/>
              <a:ext cx="130397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589904" y="1750695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 1 组的后验概率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15987" y="207264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假设两枚硬币被选中的机会相等，由贝叶斯公式：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formula132"/>
                <p:cNvSpPr txBox="1">
                  <a:spLocks noGrp="1"/>
                </p:cNvSpPr>
                <p:nvPr/>
              </p:nvSpPr>
              <p:spPr>
                <a:xfrm>
                  <a:off x="7522845" y="2353628"/>
                  <a:ext cx="394335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0.45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87" name="c2-callout-2"/>
          <p:cNvGrpSpPr/>
          <p:nvPr/>
        </p:nvGrpSpPr>
        <p:grpSpPr>
          <a:xfrm>
            <a:off x="7330440" y="3149918"/>
            <a:ext cx="4328160" cy="978218"/>
            <a:chOff x="7330440" y="3149918"/>
            <a:chExt cx="4328160" cy="978218"/>
          </a:xfrm>
        </p:grpSpPr>
        <p:sp>
          <p:nvSpPr>
            <p:cNvPr id="82" name="Rectangle 82"/>
            <p:cNvSpPr/>
            <p:nvPr/>
          </p:nvSpPr>
          <p:spPr>
            <a:xfrm>
              <a:off x="7330440" y="3149918"/>
              <a:ext cx="4328160" cy="978218"/>
            </a:xfrm>
            <a:prstGeom prst="roundRect">
              <a:avLst>
                <a:gd name="adj" fmla="val 1168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535228" y="3538540"/>
              <a:ext cx="200023" cy="200023"/>
              <a:chOff x="7535228" y="3538540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535228" y="35385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668578" y="36052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7837932" y="3295650"/>
              <a:ext cx="346843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不能判定用的是哪枚硬币，就把这一组的 5 正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反按 0.45 和 0.55 分开记账：A 得 2.2 正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2.2 反，B 得 2.8 正 2.8 反。</a:t>
              </a:r>
            </a:p>
          </p:txBody>
        </p:sp>
      </p:grpSp>
      <p:grpSp>
        <p:nvGrpSpPr>
          <p:cNvPr id="94" name="c2-callout-3"/>
          <p:cNvGrpSpPr/>
          <p:nvPr/>
        </p:nvGrpSpPr>
        <p:grpSpPr>
          <a:xfrm>
            <a:off x="7330440" y="4302442"/>
            <a:ext cx="4328160" cy="2032635"/>
            <a:chOff x="7330440" y="4302442"/>
            <a:chExt cx="4328160" cy="2032635"/>
          </a:xfrm>
        </p:grpSpPr>
        <p:sp>
          <p:nvSpPr>
            <p:cNvPr id="88" name="Rectangle 88"/>
            <p:cNvSpPr/>
            <p:nvPr/>
          </p:nvSpPr>
          <p:spPr>
            <a:xfrm>
              <a:off x="7330440" y="4302442"/>
              <a:ext cx="4328160" cy="2032635"/>
            </a:xfrm>
            <a:prstGeom prst="roundRect">
              <a:avLst>
                <a:gd name="adj" fmla="val 562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7535228" y="5218748"/>
              <a:ext cx="200026" cy="200026"/>
              <a:chOff x="7535228" y="5218748"/>
              <a:chExt cx="200026" cy="200026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535228" y="52187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635240" y="52854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7624128" y="53187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7837932" y="4975860"/>
              <a:ext cx="341699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隐变量取值有限时，E 步就是用后验概率给每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种取值加权；这里的“加权计数”正是 Q 函数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 P(Z|Y, θ⁽ⁱ⁾) 的作用。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93001" cy="909257"/>
            <a:chOff x="520446" y="342900"/>
            <a:chExt cx="101930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930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步用分摊后的计数重算概率，10 次迭代后稳定在 (0.80, 0.52)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2046922"/>
            <a:chOff x="533400" y="1524000"/>
            <a:chExt cx="4977765" cy="20469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46922"/>
            </a:xfrm>
            <a:prstGeom prst="roundRect">
              <a:avLst>
                <a:gd name="adj" fmla="val 651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2215515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1425" y="1763554"/>
              <a:ext cx="2147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步：把加权计数当成真实计数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4855" y="21612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1446" y="2100739"/>
              <a:ext cx="31792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θA⁽¹⁾ = 21.3/(21.3 + 8.6) ≈ 0.71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44855" y="248126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1446" y="2420779"/>
              <a:ext cx="31792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θB⁽¹⁾ = 11.7/(11.7 + 8.4) ≈ 0.58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1139" y="2737485"/>
              <a:ext cx="431749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与完全数据下“正面数 / 总次数”的公式一样，只是计数变成了带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小数的加权计数。用新的 (0.71, 0.58) 重算后验概率，再分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摊、再算比例，就是下一次迭代。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755708"/>
            <a:ext cx="4977765" cy="2496502"/>
            <a:chOff x="533400" y="3755708"/>
            <a:chExt cx="4977765" cy="2496502"/>
          </a:xfrm>
        </p:grpSpPr>
        <p:sp>
          <p:nvSpPr>
            <p:cNvPr id="16" name="Rectangle 16"/>
            <p:cNvSpPr/>
            <p:nvPr/>
          </p:nvSpPr>
          <p:spPr>
            <a:xfrm>
              <a:off x="533400" y="3755708"/>
              <a:ext cx="4977765" cy="2496502"/>
            </a:xfrm>
            <a:prstGeom prst="roundRect">
              <a:avLst>
                <a:gd name="adj" fmla="val 5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889058"/>
              <a:ext cx="47625" cy="22298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395954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5753" y="3995261"/>
              <a:ext cx="1083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换成 EM 的说法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439293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4332446"/>
              <a:ext cx="2939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隐变量 zⱼ：第 j 组用的是哪枚硬币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2955" y="471297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546" y="4652486"/>
              <a:ext cx="40811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步：算后验 P(zⱼ = A | 数据, θ⁽ᵗ⁾)，也就是表中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P(A)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2955" y="530447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9546" y="5243989"/>
              <a:ext cx="39458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步：最大化 Q(θ, θ⁽ᵗ⁾)，二项分布下正好得到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“加权正面数 / 加权总次数”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810250" y="1524000"/>
            <a:ext cx="5848350" cy="3306604"/>
            <a:chOff x="5810250" y="1524000"/>
            <a:chExt cx="5848350" cy="3306604"/>
          </a:xfrm>
        </p:grpSpPr>
        <p:sp>
          <p:nvSpPr>
            <p:cNvPr id="27" name="Rectangle 27"/>
            <p:cNvSpPr/>
            <p:nvPr/>
          </p:nvSpPr>
          <p:spPr>
            <a:xfrm>
              <a:off x="5815965" y="1524000"/>
              <a:ext cx="5842635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75488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迭代次数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07657" y="1655445"/>
              <a:ext cx="204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40267" y="1655445"/>
              <a:ext cx="204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28843" y="2085022"/>
              <a:ext cx="751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0（初值）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25891" y="20850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58501" y="20850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15965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51931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25891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58501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51931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25891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58501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0.57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239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324421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51931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25891" y="33756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58501" y="33756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6699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51931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25891" y="380619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58501" y="380619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41005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15965" y="410527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05285" y="4235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002905" y="4114800"/>
              <a:ext cx="181356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725891" y="423576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835515" y="4114800"/>
              <a:ext cx="181356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558501" y="423576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1524000"/>
              <a:ext cx="5842635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988618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821228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10250" y="4610576"/>
              <a:ext cx="1358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数值用 Python 复核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5815965" y="4972050"/>
            <a:ext cx="5842635" cy="1281112"/>
            <a:chOff x="5815965" y="4972050"/>
            <a:chExt cx="5842635" cy="1281112"/>
          </a:xfrm>
        </p:grpSpPr>
        <p:sp>
          <p:nvSpPr>
            <p:cNvPr id="64" name="Rectangle 64"/>
            <p:cNvSpPr/>
            <p:nvPr/>
          </p:nvSpPr>
          <p:spPr>
            <a:xfrm>
              <a:off x="5815965" y="4972050"/>
              <a:ext cx="5842635" cy="1281112"/>
            </a:xfrm>
            <a:prstGeom prst="roundRect">
              <a:avLst>
                <a:gd name="adj" fmla="val 892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020753" y="5512118"/>
              <a:ext cx="200026" cy="200026"/>
              <a:chOff x="6020753" y="5512118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020753" y="55121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120765" y="55787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109653" y="56121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323076" y="5119211"/>
              <a:ext cx="4865624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 (0.80, 0.52) 与已知硬币时的 (0.80, 0.45) 接近但不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相同：丢掉隐变量后信息变少，估计也会变。硬分配（把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P(A) &gt; 0.5 的组整组判给 A，即第 2、3、5 组）会直接得到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(0.80, 0.45)，那是 K-means 式的做法。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52265" cy="909257"/>
            <a:chOff x="520446" y="342900"/>
            <a:chExt cx="92522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522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9.1 EM 算法：E 步构造 Q 函数，M 步求它的最大值点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59353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127" y="1769269"/>
              <a:ext cx="14924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算法 9.1（EM 算法）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：观测变量数据 Y，隐变量数据 Z，联合分布 P(Y,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Z|θ)，条件分布 P(Z|Y, θ)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：模型参数 θ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375660"/>
            <a:ext cx="5074793" cy="2998755"/>
            <a:chOff x="533400" y="3375660"/>
            <a:chExt cx="5074793" cy="2998755"/>
          </a:xfrm>
        </p:grpSpPr>
        <p:sp>
          <p:nvSpPr>
            <p:cNvPr id="14" name="Rectangle 14"/>
            <p:cNvSpPr/>
            <p:nvPr/>
          </p:nvSpPr>
          <p:spPr>
            <a:xfrm>
              <a:off x="666750" y="3518535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37566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4494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02621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1000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91204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9858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79786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8716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4099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选初值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703796"/>
              <a:ext cx="25115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选择参数的初值 θ⁽⁰⁾，开始迭代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4060508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354354"/>
              <a:ext cx="4662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θ⁽ⁱ⁾ 为第 i 次迭代参数 θ 的估计值，在第 i + 1 次迭代的 E 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Q(θ, θ⁽ⁱ⁾)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4946332"/>
              <a:ext cx="452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5239226"/>
              <a:ext cx="46459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求使 Q(θ, θ⁽ⁱ⁾) 极大化的 θ，确定第 i + 1 次迭代的参数估计值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θ⁽ⁱ⁺¹⁾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583215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6125051"/>
              <a:ext cx="2191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 E 步和 M 步，直到收敛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248400" y="1524000"/>
            <a:ext cx="5410200" cy="1897380"/>
            <a:chOff x="6248400" y="1524000"/>
            <a:chExt cx="5410200" cy="1897380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1897380"/>
            </a:xfrm>
            <a:prstGeom prst="roundRect">
              <a:avLst>
                <a:gd name="adj" fmla="val 702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57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40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135"/>
                <p:cNvSpPr txBox="1">
                  <a:spLocks noGrp="1"/>
                </p:cNvSpPr>
                <p:nvPr/>
              </p:nvSpPr>
              <p:spPr>
                <a:xfrm>
                  <a:off x="6457950" y="2085975"/>
                  <a:ext cx="4991100" cy="466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  <m:sup/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136"/>
                <p:cNvSpPr txBox="1">
                  <a:spLocks noGrp="1"/>
                </p:cNvSpPr>
                <p:nvPr/>
              </p:nvSpPr>
              <p:spPr>
                <a:xfrm>
                  <a:off x="6457950" y="2647950"/>
                  <a:ext cx="4991100" cy="5448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p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6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6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4" name="c2-card-2"/>
          <p:cNvGrpSpPr/>
          <p:nvPr/>
        </p:nvGrpSpPr>
        <p:grpSpPr>
          <a:xfrm>
            <a:off x="6248400" y="3611880"/>
            <a:ext cx="5410200" cy="2750820"/>
            <a:chOff x="6248400" y="3611880"/>
            <a:chExt cx="5410200" cy="2750820"/>
          </a:xfrm>
        </p:grpSpPr>
        <p:sp>
          <p:nvSpPr>
            <p:cNvPr id="38" name="Rectangle 38"/>
            <p:cNvSpPr/>
            <p:nvPr/>
          </p:nvSpPr>
          <p:spPr>
            <a:xfrm>
              <a:off x="6248400" y="3611880"/>
              <a:ext cx="5410200" cy="275082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3745230"/>
              <a:ext cx="47625" cy="248412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6050" y="3821430"/>
              <a:ext cx="107727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4695" y="3857149"/>
              <a:ext cx="940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 函数的定义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8430" y="4198620"/>
              <a:ext cx="4730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完全数据的对数似然函数 log P(Y, Z|θ) 关于在给定观测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 Y 和当前参数 θ⁽ⁱ⁾ 下对未观测数据 Z 的条件概率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 P(Z|Y, θ⁽ⁱ⁾) 的期望，称为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Q 函数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9573" y="5102066"/>
              <a:ext cx="474345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Q(θ, θ⁽ⁱ⁾) 的第一个变量 θ 是要极大化的参数，第二个变量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θ⁽ⁱ⁾ 是已知的当前估计值。原课件此处写作“当前函数 θ⁽ⁱ⁾”，应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为当前参数。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58419" cy="909257"/>
            <a:chOff x="520446" y="342900"/>
            <a:chExt cx="7958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584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算法说明：停止条件、初值选择和写 EM 的一般套路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966085"/>
            <a:chOff x="533400" y="1524000"/>
            <a:chExt cx="5410200" cy="2966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66085"/>
            </a:xfrm>
            <a:prstGeom prst="roundRect">
              <a:avLst>
                <a:gd name="adj" fmla="val 44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5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算法说明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8665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1074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步完成一次迭代 θ⁽ⁱ⁾ → θ⁽ⁱ⁺¹⁾；4.3.2 节将证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明每次迭代使似然函数增大或达到局部极大值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48665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273177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步给出停止迭代的条件，一般取较小的正数 ε₁、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ε₂，满足下面任一式即停止：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39"/>
                <p:cNvSpPr txBox="1">
                  <a:spLocks noGrp="1"/>
                </p:cNvSpPr>
                <p:nvPr/>
              </p:nvSpPr>
              <p:spPr>
                <a:xfrm>
                  <a:off x="742950" y="3328035"/>
                  <a:ext cx="49911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40"/>
                <p:cNvSpPr txBox="1">
                  <a:spLocks noGrp="1"/>
                </p:cNvSpPr>
                <p:nvPr/>
              </p:nvSpPr>
              <p:spPr>
                <a:xfrm>
                  <a:off x="742950" y="3842385"/>
                  <a:ext cx="49911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2" name="c1-table-2"/>
          <p:cNvGrpSpPr/>
          <p:nvPr/>
        </p:nvGrpSpPr>
        <p:grpSpPr>
          <a:xfrm>
            <a:off x="533400" y="4680585"/>
            <a:ext cx="5410200" cy="1346835"/>
            <a:chOff x="533400" y="4680585"/>
            <a:chExt cx="5410200" cy="1346835"/>
          </a:xfrm>
        </p:grpSpPr>
        <p:sp>
          <p:nvSpPr>
            <p:cNvPr id="17" name="Rectangle 17"/>
            <p:cNvSpPr/>
            <p:nvPr/>
          </p:nvSpPr>
          <p:spPr>
            <a:xfrm>
              <a:off x="533400" y="4680585"/>
              <a:ext cx="5410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83359" y="48163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90277" y="48163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66627" y="48163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" y="5264944"/>
              <a:ext cx="2041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完全数据 complete-data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84938" y="5264944"/>
              <a:ext cx="5682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(Y, Z)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39266" y="5264944"/>
              <a:ext cx="812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P(Y, Z|θ)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5730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557784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5713571"/>
              <a:ext cx="2367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不完全数据 incomplete-data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12522" y="571357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66246" y="5713571"/>
              <a:ext cx="5583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P(Y|θ)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680585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86138" y="468058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42472" y="468058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rd-1"/>
          <p:cNvGrpSpPr/>
          <p:nvPr/>
        </p:nvGrpSpPr>
        <p:grpSpPr>
          <a:xfrm>
            <a:off x="6248400" y="1524000"/>
            <a:ext cx="5410200" cy="1986915"/>
            <a:chOff x="6248400" y="1524000"/>
            <a:chExt cx="5410200" cy="1986915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6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34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初值很重要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2110740"/>
              <a:ext cx="4799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只保证似然值不减，可能停在局部极大值点或鞍点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244602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不同初值可能得到不同的估计（见三硬币模型）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28441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278130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常用做法：取几组不同初值分别迭代，比较最终的对数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似然值，取最大的一组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248400" y="3701415"/>
            <a:ext cx="5410200" cy="2558415"/>
            <a:chOff x="6248400" y="3701415"/>
            <a:chExt cx="5410200" cy="2558415"/>
          </a:xfrm>
        </p:grpSpPr>
        <p:sp>
          <p:nvSpPr>
            <p:cNvPr id="44" name="Rectangle 44"/>
            <p:cNvSpPr/>
            <p:nvPr/>
          </p:nvSpPr>
          <p:spPr>
            <a:xfrm>
              <a:off x="6248400" y="3701415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3834765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96050" y="3910965"/>
              <a:ext cx="148875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8569" y="3946684"/>
              <a:ext cx="1384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推导 EM 的一般套路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96050" y="427482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7899" y="43171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97040" y="4288155"/>
              <a:ext cx="4053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明确隐变量，写出完全数据的对数似然 log P(Y,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Z|θ)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96050" y="489585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7899" y="49381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97040" y="4909185"/>
              <a:ext cx="4263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步：求隐变量的后验 P(Z|Y, θ⁽ⁱ⁾)，代入得到 Q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96050" y="551688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7899" y="55591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97040" y="5530215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步：对 Q 求导并令其为 0（有约束时用拉格朗日乘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子），得到参数的更新公式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三硬币模型：只看到最后的正反面，看不到中间选了哪枚硬币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2157412"/>
            <a:chOff x="533400" y="1524000"/>
            <a:chExt cx="5410200" cy="2157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57412"/>
            </a:xfrm>
            <a:prstGeom prst="roundRect">
              <a:avLst>
                <a:gd name="adj" fmla="val 6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907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7353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假设有 3 枚硬币 A、B、C，正面出现的概率分别是 π、p、q。先掷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硬币 A，正面选硬币 B，反面选硬币 C；再掷选出的硬币，正面记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1，反面记 0。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816066"/>
              <a:ext cx="473491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独立重复 n = 10 次试验，观测结果为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1, 1, 0, 1, 0, 0, 1, 0,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1, 1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。只能观测到掷硬币的结果，不能观测掷硬币的过程。如何估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计三硬币模型的参数？</a:t>
              </a:r>
            </a:p>
          </p:txBody>
        </p:sp>
      </p:grpSp>
      <p:grpSp>
        <p:nvGrpSpPr>
          <p:cNvPr id="34" name="c1-flow-2"/>
          <p:cNvGrpSpPr/>
          <p:nvPr/>
        </p:nvGrpSpPr>
        <p:grpSpPr>
          <a:xfrm>
            <a:off x="666750" y="3866198"/>
            <a:ext cx="5143500" cy="2352675"/>
            <a:chOff x="666750" y="3866198"/>
            <a:chExt cx="5143500" cy="2352675"/>
          </a:xfrm>
        </p:grpSpPr>
        <p:sp>
          <p:nvSpPr>
            <p:cNvPr id="14" name="Freeform 14"/>
            <p:cNvSpPr/>
            <p:nvPr/>
          </p:nvSpPr>
          <p:spPr>
            <a:xfrm>
              <a:off x="1435418" y="4451985"/>
              <a:ext cx="1803082" cy="272415"/>
            </a:xfrm>
            <a:custGeom>
              <a:avLst/>
              <a:gdLst/>
              <a:ahLst/>
              <a:cxnLst/>
              <a:rect l="l" t="t" r="r" b="b"/>
              <a:pathLst>
                <a:path w="1803082" h="272415">
                  <a:moveTo>
                    <a:pt x="1803082" y="0"/>
                  </a:moveTo>
                  <a:lnTo>
                    <a:pt x="1803082" y="188595"/>
                  </a:lnTo>
                  <a:lnTo>
                    <a:pt x="0" y="188595"/>
                  </a:lnTo>
                  <a:lnTo>
                    <a:pt x="0" y="2724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383030" y="47244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238500" y="4451985"/>
              <a:ext cx="1803082" cy="272415"/>
            </a:xfrm>
            <a:custGeom>
              <a:avLst/>
              <a:gdLst/>
              <a:ahLst/>
              <a:cxnLst/>
              <a:rect l="l" t="t" r="r" b="b"/>
              <a:pathLst>
                <a:path w="1803082" h="272415">
                  <a:moveTo>
                    <a:pt x="0" y="0"/>
                  </a:moveTo>
                  <a:lnTo>
                    <a:pt x="0" y="188595"/>
                  </a:lnTo>
                  <a:lnTo>
                    <a:pt x="1803082" y="188595"/>
                  </a:lnTo>
                  <a:lnTo>
                    <a:pt x="1803082" y="2724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989195" y="47244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435418" y="5380672"/>
              <a:ext cx="1803082" cy="181928"/>
            </a:xfrm>
            <a:custGeom>
              <a:avLst/>
              <a:gdLst/>
              <a:ahLst/>
              <a:cxnLst/>
              <a:rect l="l" t="t" r="r" b="b"/>
              <a:pathLst>
                <a:path w="1803082" h="181928">
                  <a:moveTo>
                    <a:pt x="0" y="0"/>
                  </a:moveTo>
                  <a:lnTo>
                    <a:pt x="0" y="142875"/>
                  </a:lnTo>
                  <a:lnTo>
                    <a:pt x="1803082" y="142875"/>
                  </a:lnTo>
                  <a:lnTo>
                    <a:pt x="1803082" y="181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186112" y="55626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238500" y="5380672"/>
              <a:ext cx="1803082" cy="181928"/>
            </a:xfrm>
            <a:custGeom>
              <a:avLst/>
              <a:gdLst/>
              <a:ahLst/>
              <a:cxnLst/>
              <a:rect l="l" t="t" r="r" b="b"/>
              <a:pathLst>
                <a:path w="1803082" h="181928">
                  <a:moveTo>
                    <a:pt x="1803082" y="0"/>
                  </a:moveTo>
                  <a:lnTo>
                    <a:pt x="1803082" y="142875"/>
                  </a:lnTo>
                  <a:lnTo>
                    <a:pt x="0" y="142875"/>
                  </a:lnTo>
                  <a:lnTo>
                    <a:pt x="0" y="181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186112" y="55626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469832" y="4079558"/>
              <a:ext cx="153638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" y="4829175"/>
              <a:ext cx="1536382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73868" y="4829175"/>
              <a:ext cx="1536382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469832" y="5667375"/>
              <a:ext cx="1536382" cy="551498"/>
            </a:xfrm>
            <a:prstGeom prst="roundRect">
              <a:avLst>
                <a:gd name="adj" fmla="val 17271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57665" y="4192905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掷硬币 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6685" y="4941570"/>
              <a:ext cx="105746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掷硬币 B（正面概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 p）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2850" y="4941570"/>
              <a:ext cx="105746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掷硬币 C（正面概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 q）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53094" y="5779770"/>
              <a:ext cx="1170813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 y = 1 或 0（只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看到这一步）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125980" y="3866198"/>
              <a:ext cx="42100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59070" y="3889058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正面 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67150" y="3866198"/>
              <a:ext cx="54673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96468" y="3889058"/>
              <a:ext cx="4880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反面 1−π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2406968"/>
            <a:chOff x="6248400" y="1524000"/>
            <a:chExt cx="5410200" cy="2406968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2406968"/>
            </a:xfrm>
            <a:prstGeom prst="roundRect">
              <a:avLst>
                <a:gd name="adj" fmla="val 55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214026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0998" y="2045494"/>
              <a:ext cx="48247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是观测变量，表示一次试验的结果 1 或 0；z 是隐变量，表示未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观测到的掷硬币 A 的结果；θ = (π, p, q) 是模型参数。则三硬币模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159"/>
                <p:cNvSpPr txBox="1">
                  <a:spLocks noGrp="1"/>
                </p:cNvSpPr>
                <p:nvPr/>
              </p:nvSpPr>
              <p:spPr>
                <a:xfrm>
                  <a:off x="6467475" y="2794635"/>
                  <a:ext cx="501015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  <m:sup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  <m:sup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160"/>
                <p:cNvSpPr txBox="1">
                  <a:spLocks noGrp="1"/>
                </p:cNvSpPr>
                <p:nvPr/>
              </p:nvSpPr>
              <p:spPr>
                <a:xfrm>
                  <a:off x="6467475" y="3409950"/>
                  <a:ext cx="501015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π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</m:d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0" name="c2-card-2"/>
          <p:cNvGrpSpPr/>
          <p:nvPr/>
        </p:nvGrpSpPr>
        <p:grpSpPr>
          <a:xfrm>
            <a:off x="6248400" y="4095750"/>
            <a:ext cx="5410200" cy="2076450"/>
            <a:chOff x="6248400" y="4095750"/>
            <a:chExt cx="5410200" cy="2076450"/>
          </a:xfrm>
        </p:grpSpPr>
        <p:sp>
          <p:nvSpPr>
            <p:cNvPr id="43" name="Rectangle 43"/>
            <p:cNvSpPr/>
            <p:nvPr/>
          </p:nvSpPr>
          <p:spPr>
            <a:xfrm>
              <a:off x="6248400" y="4095750"/>
              <a:ext cx="5410200" cy="2076450"/>
            </a:xfrm>
            <a:prstGeom prst="roundRect">
              <a:avLst>
                <a:gd name="adj" fmla="val 64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4229100"/>
              <a:ext cx="47625" cy="18097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67475" y="427672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2044" y="430958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似然函数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0998" y="4617244"/>
              <a:ext cx="50302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观测数据 Y = (Y₁, …, Yₙ)ᵀ，未观测数据 Z = (Z₁, …, Zₙ)ᵀ，则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formula161"/>
                <p:cNvSpPr txBox="1">
                  <a:spLocks noGrp="1"/>
                </p:cNvSpPr>
                <p:nvPr/>
              </p:nvSpPr>
              <p:spPr>
                <a:xfrm>
                  <a:off x="6467475" y="4880610"/>
                  <a:ext cx="5010150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p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sup>
                                </m:s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e>
                                </m:d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</m:e>
                                  <m:sup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sup>
                                </m:s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q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9" name="TextBox 49"/>
            <p:cNvSpPr txBox="1"/>
            <p:nvPr/>
          </p:nvSpPr>
          <p:spPr>
            <a:xfrm>
              <a:off x="6460998" y="5549741"/>
              <a:ext cx="4784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极大似然估计是 log P(Y|θ) 的最大值点。该问题没有解析解，使用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迭代求解。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67556" cy="909257"/>
            <a:chOff x="520446" y="342900"/>
            <a:chExt cx="40675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675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三硬币模型的 E 步与 M 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919412"/>
            <a:chOff x="533400" y="1524000"/>
            <a:chExt cx="5626418" cy="2919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19412"/>
            </a:xfrm>
            <a:prstGeom prst="roundRect">
              <a:avLst>
                <a:gd name="adj" fmla="val 456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46196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3652" y="1750695"/>
              <a:ext cx="285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E 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9943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在参数 π⁽ⁱ⁾、p⁽ⁱ⁾、q⁽ⁱ⁾ 下，计算观测数据 yⱼ 来自掷硬币 B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78"/>
                <p:cNvSpPr txBox="1">
                  <a:spLocks noGrp="1"/>
                </p:cNvSpPr>
                <p:nvPr/>
              </p:nvSpPr>
              <p:spPr>
                <a:xfrm>
                  <a:off x="725805" y="2610802"/>
                  <a:ext cx="524160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q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q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20090" y="3153251"/>
              <a:ext cx="5351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这是贝叶斯公式：分子是“选中 B 并得到 yⱼ”的概率，分母是得到 yⱼ 的总概率。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420427"/>
              <a:ext cx="3462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Q 函数（μⱼ 简记当前的 μⱼ⁽ⁱ⁺¹⁾）：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79"/>
                <p:cNvSpPr txBox="1">
                  <a:spLocks noGrp="1"/>
                </p:cNvSpPr>
                <p:nvPr/>
              </p:nvSpPr>
              <p:spPr>
                <a:xfrm>
                  <a:off x="725805" y="3700462"/>
                  <a:ext cx="5241608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π</m:t>
                                        </m:r>
                                        <m:sSup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p</m:t>
                                            </m:r>
                                          </m:e>
                                          <m:sup>
                                            <m:sSub>
                                              <m:e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j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  <m:sSup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p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sSub>
                                              <m:e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j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π</m:t>
                                            </m:r>
                                          </m:e>
                                        </m:d>
                                        <m:sSup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q</m:t>
                                            </m:r>
                                          </m:e>
                                          <m:sup>
                                            <m:sSub>
                                              <m:e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j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  <m:sSup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q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sSub>
                                              <m:e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j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llout-2"/>
          <p:cNvGrpSpPr/>
          <p:nvPr/>
        </p:nvGrpSpPr>
        <p:grpSpPr>
          <a:xfrm>
            <a:off x="533400" y="4618672"/>
            <a:ext cx="5626418" cy="1699260"/>
            <a:chOff x="533400" y="4618672"/>
            <a:chExt cx="5626418" cy="1699260"/>
          </a:xfrm>
        </p:grpSpPr>
        <p:sp>
          <p:nvSpPr>
            <p:cNvPr id="16" name="Rectangle 16"/>
            <p:cNvSpPr/>
            <p:nvPr/>
          </p:nvSpPr>
          <p:spPr>
            <a:xfrm>
              <a:off x="533400" y="4618672"/>
              <a:ext cx="5626418" cy="1699260"/>
            </a:xfrm>
            <a:prstGeom prst="roundRect">
              <a:avLst>
                <a:gd name="adj" fmla="val 672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368290"/>
              <a:ext cx="200026" cy="200025"/>
              <a:chOff x="738188" y="5368290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3682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54127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55238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892" y="5249228"/>
              <a:ext cx="458285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μⱼ 的公式只依赖 yⱼ，而 yⱼ 只取 0 或 1，所以每轮 E 步其实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只要算两个数：yⱼ = 1 时的 μ 和 yⱼ = 0 时的 μ。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524000"/>
            <a:ext cx="5193982" cy="2017395"/>
            <a:chOff x="6464618" y="1524000"/>
            <a:chExt cx="5193982" cy="2017395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2017395"/>
            </a:xfrm>
            <a:prstGeom prst="roundRect">
              <a:avLst>
                <a:gd name="adj" fmla="val 661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57022" y="1716405"/>
              <a:ext cx="2089785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95469" y="1750695"/>
              <a:ext cx="2012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步：计算模型参数的新估计值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80"/>
                <p:cNvSpPr txBox="1">
                  <a:spLocks noGrp="1"/>
                </p:cNvSpPr>
                <p:nvPr/>
              </p:nvSpPr>
              <p:spPr>
                <a:xfrm>
                  <a:off x="6657022" y="2050732"/>
                  <a:ext cx="4809172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81"/>
                <p:cNvSpPr txBox="1">
                  <a:spLocks noGrp="1"/>
                </p:cNvSpPr>
                <p:nvPr/>
              </p:nvSpPr>
              <p:spPr>
                <a:xfrm>
                  <a:off x="6657022" y="2766060"/>
                  <a:ext cx="480917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2" name="c2-steps-2"/>
          <p:cNvGrpSpPr/>
          <p:nvPr/>
        </p:nvGrpSpPr>
        <p:grpSpPr>
          <a:xfrm>
            <a:off x="6464618" y="3726180"/>
            <a:ext cx="4260458" cy="1693069"/>
            <a:chOff x="6464618" y="3726180"/>
            <a:chExt cx="4260458" cy="1693069"/>
          </a:xfrm>
        </p:grpSpPr>
        <p:sp>
          <p:nvSpPr>
            <p:cNvPr id="29" name="Rectangle 29"/>
            <p:cNvSpPr/>
            <p:nvPr/>
          </p:nvSpPr>
          <p:spPr>
            <a:xfrm>
              <a:off x="6597968" y="386905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464618" y="372618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8241" y="37999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64618" y="431292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8241" y="43867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64618" y="489966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8241" y="49734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6860" y="3757612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π 求偏导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8002" y="4025741"/>
              <a:ext cx="3250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Σ[μⱼ/π − (1 − μⱼ)/(1 − π)] = 0，得 π = Σμⱼ/n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6860" y="4345305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p 求偏导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8002" y="4612481"/>
              <a:ext cx="3847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Σμⱼ[yⱼ/p − (1 − yⱼ)/(1 − p)] = 0，得 p = Σμⱼyⱼ / Σμⱼ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6860" y="4932045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q 求偏导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8002" y="5199221"/>
              <a:ext cx="226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p 相同，把权重 μⱼ 换成 1 − μⱼ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6464618" y="5588318"/>
            <a:ext cx="5193982" cy="729615"/>
            <a:chOff x="6464618" y="5588318"/>
            <a:chExt cx="5193982" cy="729615"/>
          </a:xfrm>
        </p:grpSpPr>
        <p:sp>
          <p:nvSpPr>
            <p:cNvPr id="43" name="Rectangle 43"/>
            <p:cNvSpPr/>
            <p:nvPr/>
          </p:nvSpPr>
          <p:spPr>
            <a:xfrm>
              <a:off x="6464618" y="558831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69405" y="5853113"/>
              <a:ext cx="200026" cy="200025"/>
              <a:chOff x="6669405" y="585311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669405" y="58531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09144" y="58975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43859" y="60086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2110" y="5734050"/>
              <a:ext cx="42656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直观含义：π 是“来自 B”的平均份额；p 是分给 B 的观测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里 1 所占的加权比例，q 同理。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13317" cy="909257"/>
            <a:chOff x="520446" y="342900"/>
            <a:chExt cx="101133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133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三硬币模型的计算：两组初值得到两组不同的估计，而且都是 MLE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1902142"/>
            <a:chOff x="533400" y="1524000"/>
            <a:chExt cx="5626418" cy="19021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02142"/>
            </a:xfrm>
            <a:prstGeom prst="roundRect">
              <a:avLst>
                <a:gd name="adj" fmla="val 70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354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46760" y="1699260"/>
              <a:ext cx="2503170" cy="2286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065" y="1730693"/>
              <a:ext cx="24405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初值 π⁽⁰⁾ = 0.5，p⁽⁰⁾ = 0.5，q⁽⁰⁾ = 0.5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56285" y="207359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2114" y="2025968"/>
              <a:ext cx="2701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yⱼ = 1 与 yⱼ = 0 均有 μⱼ⁽¹⁾ = 0.5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56285" y="2343150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2114" y="2295525"/>
              <a:ext cx="5061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步：π⁽¹⁾ = 0.5，p⁽¹⁾ = (0.5 × 6)/(0.5 × 10) = 0.6，q⁽¹⁾ = 0.6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6285" y="2612708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2114" y="2565082"/>
              <a:ext cx="47213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继续迭代：μⱼ⁽²⁾ = 0.5（j = 1, …, 10），π⁽²⁾ = 0.5，p⁽²⁾ = 0.6，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q⁽²⁾ = 0.6，不再变化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6285" y="3110865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2114" y="3063240"/>
              <a:ext cx="4026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得模型参数的极大似然估计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π = 0.5，p = 0.6，q = 0.6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586162"/>
            <a:ext cx="5626418" cy="2019300"/>
            <a:chOff x="533400" y="3586162"/>
            <a:chExt cx="5626418" cy="2019300"/>
          </a:xfrm>
        </p:grpSpPr>
        <p:sp>
          <p:nvSpPr>
            <p:cNvPr id="20" name="Rectangle 20"/>
            <p:cNvSpPr/>
            <p:nvPr/>
          </p:nvSpPr>
          <p:spPr>
            <a:xfrm>
              <a:off x="533400" y="3586162"/>
              <a:ext cx="5626418" cy="2019300"/>
            </a:xfrm>
            <a:prstGeom prst="roundRect">
              <a:avLst>
                <a:gd name="adj" fmla="val 66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719512"/>
              <a:ext cx="47625" cy="17526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46760" y="3761422"/>
              <a:ext cx="2503170" cy="2286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8065" y="3792855"/>
              <a:ext cx="24405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初值 π⁽⁰⁾ = 0.4，p⁽⁰⁾ = 0.6，q⁽⁰⁾ = 0.7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6285" y="4135755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2114" y="4088130"/>
              <a:ext cx="492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yⱼ = 1：μ = 0.4×0.6/(0.4×0.6 + 0.6×0.7) = 0.24/0.66 ≈ 0.3636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56285" y="440531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2114" y="4357688"/>
              <a:ext cx="492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yⱼ = 0：μ = 0.4×0.4/(0.4×0.4 + 0.6×0.3) = 0.16/0.34 ≈ 0.4706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6285" y="4674870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2114" y="4627245"/>
              <a:ext cx="4105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Σμⱼ = 6×0.3636 + 4×0.4706 = 4.0642，π⁽¹⁾ = 0.4064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56285" y="4944428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2114" y="4896802"/>
              <a:ext cx="5003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p⁽¹⁾ = 2.1818/4.0642 ≈ 0.5368，q⁽¹⁾ = 3.8182/5.9358 ≈ 0.6432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56285" y="5213985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2114" y="5166360"/>
              <a:ext cx="4705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再迭代数值不变，估计为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π = 0.4064，p = 0.5368，q = 0.6432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464618" y="1524000"/>
            <a:ext cx="5193982" cy="3025140"/>
            <a:chOff x="6464618" y="1524000"/>
            <a:chExt cx="5193982" cy="3025140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3025140"/>
            </a:xfrm>
            <a:prstGeom prst="roundRect">
              <a:avLst>
                <a:gd name="adj" fmla="val 44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1657350"/>
              <a:ext cx="47625" cy="27584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77978" y="1699260"/>
              <a:ext cx="1238250" cy="2286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47129" y="1730693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为什么两组结果都对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71882" y="2025968"/>
              <a:ext cx="45537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每次观测只有 1 或 0，其分布只通过 P(y = 1) = πp + (1 − π)q 依赖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77978" y="2504122"/>
              <a:ext cx="4805362" cy="37528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60933" y="26184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91829" y="2618423"/>
              <a:ext cx="923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πp + (1 − π)q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39032" y="26184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对数似然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27162" y="2994660"/>
              <a:ext cx="1160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(0.5, 0.5, 0.5)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31601" y="299466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49633" y="299466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−6.7301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77978" y="3250882"/>
              <a:ext cx="48053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77978" y="3255645"/>
              <a:ext cx="4805362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27162" y="3369945"/>
              <a:ext cx="1160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(0.4, 0.6, 0.7)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31601" y="336994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49633" y="336994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−6.7301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677978" y="2504122"/>
              <a:ext cx="4805362" cy="11268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531542" y="2504122"/>
              <a:ext cx="9525" cy="11268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166032" y="2504122"/>
              <a:ext cx="9525" cy="11268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71882" y="3729038"/>
              <a:ext cx="452323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两组估计都让 P(y = 1) 等于样本中 1 的比例 0.6，对数似然都达到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 6 ln 0.6 + 4 ln 0.4 ≈ −6.7301。满足这个等式的 (π, p, q)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有无穷多组，参数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不可识别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464618" y="4709160"/>
            <a:ext cx="5193982" cy="897255"/>
            <a:chOff x="6464618" y="4709160"/>
            <a:chExt cx="5193982" cy="897255"/>
          </a:xfrm>
        </p:grpSpPr>
        <p:sp>
          <p:nvSpPr>
            <p:cNvPr id="57" name="Rectangle 57"/>
            <p:cNvSpPr/>
            <p:nvPr/>
          </p:nvSpPr>
          <p:spPr>
            <a:xfrm>
              <a:off x="6464618" y="4709160"/>
              <a:ext cx="5193982" cy="897255"/>
            </a:xfrm>
            <a:prstGeom prst="roundRect">
              <a:avLst>
                <a:gd name="adj" fmla="val 1273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669405" y="5056823"/>
              <a:ext cx="200026" cy="200025"/>
              <a:chOff x="6669405" y="5056823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669405" y="50568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09144" y="51012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43859" y="52123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72872" y="4852035"/>
              <a:ext cx="431749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双硬币例子每组连续抛同一枚硬币 10 次，组内结果提供了“是哪</a:t>
              </a:r>
              <a:br/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枚硬币”的信息，参数就能识别。实际建模时先检查可识别性；</a:t>
              </a:r>
              <a:br/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不可识别时不能只报告其中一组解。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08200" cy="909257"/>
            <a:chOff x="520446" y="342900"/>
            <a:chExt cx="61082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6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000" y="407194"/>
              <a:ext cx="2113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算法引入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082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实现：缺失值填补与三硬币模型的 EM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085398" cy="3139440"/>
            <a:chOff x="533400" y="1524000"/>
            <a:chExt cx="5085398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438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R：双因素表中缺失值的 EM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079494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tab &lt;- matrix(c(10, 15, 17,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22, 23,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NA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), nrow = 2, byrow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x23 &lt;- 18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初值</a:t>
              </a:r>
              <a:br/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1:200)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tab[2, 3] &lt;- x23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E 步：填入当前估计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mu  &lt;- mean(tab)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M 步：完全数据公式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a2  &lt;- mean(tab[2, ]) - mu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b3  &lt;- mean(tab[, 3]) - mu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new &lt;- mu + a2 + b3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(abs(new - x23) &lt; 1e-8)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break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x23 &lt;- new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x23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27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853940"/>
            <a:ext cx="5085398" cy="1391602"/>
            <a:chOff x="533400" y="4853940"/>
            <a:chExt cx="5085398" cy="1391602"/>
          </a:xfrm>
        </p:grpSpPr>
        <p:sp>
          <p:nvSpPr>
            <p:cNvPr id="11" name="Rectangle 11"/>
            <p:cNvSpPr/>
            <p:nvPr/>
          </p:nvSpPr>
          <p:spPr>
            <a:xfrm>
              <a:off x="533400" y="4853940"/>
              <a:ext cx="5085398" cy="1391602"/>
            </a:xfrm>
            <a:prstGeom prst="roundRect">
              <a:avLst>
                <a:gd name="adj" fmla="val 821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449253"/>
              <a:ext cx="200026" cy="200026"/>
              <a:chOff x="738188" y="544925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4492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5159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5492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306378"/>
              <a:ext cx="4177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两段代码已人工逐行核对（本机没有 R），注释中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的结果由 Python 按同一算法算出。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5923598" y="1524000"/>
            <a:ext cx="5735002" cy="3748088"/>
            <a:chOff x="5923598" y="1524000"/>
            <a:chExt cx="5735002" cy="3748088"/>
          </a:xfrm>
        </p:grpSpPr>
        <p:sp>
          <p:nvSpPr>
            <p:cNvPr id="18" name="Rectangle 18"/>
            <p:cNvSpPr/>
            <p:nvPr/>
          </p:nvSpPr>
          <p:spPr>
            <a:xfrm>
              <a:off x="5923598" y="1524000"/>
              <a:ext cx="5735002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51994" y="1675924"/>
              <a:ext cx="1248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R：三硬币模型的 EM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51232" y="1937861"/>
              <a:ext cx="4235958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 &lt;- c(1, 1, 0, 1, 0, 0, 1, 0, 1, 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em3 &lt;-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(pA, p, q, tol = 1e-10, maxit = 1000)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1:maxit)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  &lt;- pA * p^y * (1 - p)^(1 - y)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  &lt;- (1 - pA) * q^y * (1 - q)^(1 - y)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mu &lt;- a / (a + b)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E 步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new &lt;- c(mean(mu), sum(mu * y) / sum(mu),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sum((1 - mu) * y) / sum(1 - mu))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M 步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done &lt;- max(abs(new - c(pA, p, q))) &lt; tol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pA &lt;- new[1]; p &lt;- new[2]; q &lt;- new[3]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(done)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break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c(pi = pA, p = p, q = q)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em3(0.5, 0.5, 0.5)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0.5000 0.6000 0.6000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em3(0.4, 0.6, 0.7)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0.4064 0.5368 0.6432</a:t>
              </a:r>
            </a:p>
          </p:txBody>
        </p:sp>
      </p:grpSp>
      <p:grpSp>
        <p:nvGrpSpPr>
          <p:cNvPr id="28" name="c2-callout-2"/>
          <p:cNvGrpSpPr/>
          <p:nvPr/>
        </p:nvGrpSpPr>
        <p:grpSpPr>
          <a:xfrm>
            <a:off x="5923598" y="5462588"/>
            <a:ext cx="5735002" cy="782955"/>
            <a:chOff x="5923598" y="5462588"/>
            <a:chExt cx="5735002" cy="782955"/>
          </a:xfrm>
        </p:grpSpPr>
        <p:sp>
          <p:nvSpPr>
            <p:cNvPr id="22" name="Rectangle 22"/>
            <p:cNvSpPr/>
            <p:nvPr/>
          </p:nvSpPr>
          <p:spPr>
            <a:xfrm>
              <a:off x="5923598" y="5462588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128385" y="5754053"/>
              <a:ext cx="200026" cy="200025"/>
              <a:chOff x="6128385" y="5754053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128385" y="57540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168124" y="57985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202839" y="59096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430328" y="5611178"/>
              <a:ext cx="4749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参数 π 在代码里写成 pA，避免覆盖 R 的常数 pi；返回值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的名字仍可以叫 pi。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6560" cy="3351847"/>
            <a:chOff x="667512" y="1835468"/>
            <a:chExt cx="40265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8046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算法的收敛性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6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 EM 能增大似然，最终收敛到哪里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难点：对数里有求和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545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Jensen 不等式与下界函数 B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9.1：似然单调递增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9.2：收敛到稳定点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91902" cy="909257"/>
            <a:chOff x="520446" y="342900"/>
            <a:chExt cx="85919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919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难点在“和的对数”：EM 改为每步保证 L(θ) 比上一步大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735002" cy="3344228"/>
            <a:chOff x="533400" y="1524000"/>
            <a:chExt cx="5735002" cy="33442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3344228"/>
            </a:xfrm>
            <a:prstGeom prst="roundRect">
              <a:avLst>
                <a:gd name="adj" fmla="val 398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34518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8155" y="1743551"/>
              <a:ext cx="33490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4.3.2 为什么 EM 能近似实现对观测数据的极大似然估计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623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目标是极大化不完全数据 Y 关于参数 θ 的对数似然函数：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97"/>
                <p:cNvSpPr txBox="1">
                  <a:spLocks noGrp="1"/>
                </p:cNvSpPr>
                <p:nvPr/>
              </p:nvSpPr>
              <p:spPr>
                <a:xfrm>
                  <a:off x="720090" y="2332672"/>
                  <a:ext cx="5361622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b>
                              <m:sup/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nary>
                          </m:e>
                        </m:fun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  <m:sup/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28662" y="302895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4682" y="2972752"/>
              <a:ext cx="49600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难点：有未观测数据 Z，对数里是求和，求导后各项纠缠在一起，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没有显式解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8662" y="358616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4682" y="3529965"/>
              <a:ext cx="49429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通过迭代逐步近似极大化 L(θ)：已知 θ⁽ⁱ⁾，希望新的 θ 满足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L(θ) &gt; L(θ⁽ⁱ⁾)。为此考虑二者的差：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98"/>
                <p:cNvSpPr txBox="1">
                  <a:spLocks noGrp="1"/>
                </p:cNvSpPr>
                <p:nvPr/>
              </p:nvSpPr>
              <p:spPr>
                <a:xfrm>
                  <a:off x="720090" y="4065270"/>
                  <a:ext cx="5361622" cy="600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  <m:sup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callout-2"/>
          <p:cNvGrpSpPr/>
          <p:nvPr/>
        </p:nvGrpSpPr>
        <p:grpSpPr>
          <a:xfrm>
            <a:off x="533400" y="5038725"/>
            <a:ext cx="5735002" cy="1297305"/>
            <a:chOff x="533400" y="5038725"/>
            <a:chExt cx="5735002" cy="1297305"/>
          </a:xfrm>
        </p:grpSpPr>
        <p:sp>
          <p:nvSpPr>
            <p:cNvPr id="18" name="Rectangle 18"/>
            <p:cNvSpPr/>
            <p:nvPr/>
          </p:nvSpPr>
          <p:spPr>
            <a:xfrm>
              <a:off x="533400" y="5038725"/>
              <a:ext cx="5735002" cy="1297305"/>
            </a:xfrm>
            <a:prstGeom prst="roundRect">
              <a:avLst>
                <a:gd name="adj" fmla="val 881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587367"/>
              <a:ext cx="200023" cy="200023"/>
              <a:chOff x="738188" y="5587367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5873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56540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5344478"/>
              <a:ext cx="484003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思路：找一个容易最大化的函数 B(θ, θ⁽ⁱ⁾)，它处处不超过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L(θ)，并且在 θ⁽ⁱ⁾ 处与 L 相等。把 B 推高，L 至少跟着涨同样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573202" y="1524000"/>
            <a:ext cx="5085398" cy="1609725"/>
            <a:chOff x="6573202" y="1524000"/>
            <a:chExt cx="5085398" cy="1609725"/>
          </a:xfrm>
        </p:grpSpPr>
        <p:sp>
          <p:nvSpPr>
            <p:cNvPr id="24" name="Rectangle 24"/>
            <p:cNvSpPr/>
            <p:nvPr/>
          </p:nvSpPr>
          <p:spPr>
            <a:xfrm>
              <a:off x="6573202" y="1524000"/>
              <a:ext cx="5085398" cy="1609725"/>
            </a:xfrm>
            <a:prstGeom prst="roundRect">
              <a:avLst>
                <a:gd name="adj" fmla="val 82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582728" y="1657350"/>
              <a:ext cx="47625" cy="13430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97992" y="1710690"/>
              <a:ext cx="105346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70185" y="1743551"/>
              <a:ext cx="9090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Jensen 不等式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91134" y="2054542"/>
              <a:ext cx="3258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是凹函数。若 λⱼ ≥ 0 且 Σλⱼ = 1，则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99"/>
                <p:cNvSpPr txBox="1">
                  <a:spLocks noGrp="1"/>
                </p:cNvSpPr>
                <p:nvPr/>
              </p:nvSpPr>
              <p:spPr>
                <a:xfrm>
                  <a:off x="6797992" y="2332672"/>
                  <a:ext cx="4673918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e>
                        </m:func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func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5" name="c2-graph-2"/>
          <p:cNvGrpSpPr/>
          <p:nvPr/>
        </p:nvGrpSpPr>
        <p:grpSpPr>
          <a:xfrm>
            <a:off x="6770370" y="3328511"/>
            <a:ext cx="4792028" cy="1679733"/>
            <a:chOff x="6770370" y="3328511"/>
            <a:chExt cx="4792028" cy="1679733"/>
          </a:xfrm>
        </p:grpSpPr>
        <p:sp>
          <p:nvSpPr>
            <p:cNvPr id="31" name="Freeform 31"/>
            <p:cNvSpPr/>
            <p:nvPr/>
          </p:nvSpPr>
          <p:spPr>
            <a:xfrm>
              <a:off x="6791325" y="4812030"/>
              <a:ext cx="4654868" cy="9525"/>
            </a:xfrm>
            <a:custGeom>
              <a:avLst/>
              <a:gdLst/>
              <a:ahLst/>
              <a:cxnLst/>
              <a:rect l="l" t="t" r="r" b="b"/>
              <a:pathLst>
                <a:path w="4654868" h="9525">
                  <a:moveTo>
                    <a:pt x="0" y="0"/>
                  </a:moveTo>
                  <a:lnTo>
                    <a:pt x="46548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1446192" y="47644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827520" y="3481388"/>
              <a:ext cx="9525" cy="1383030"/>
            </a:xfrm>
            <a:custGeom>
              <a:avLst/>
              <a:gdLst/>
              <a:ahLst/>
              <a:cxnLst/>
              <a:rect l="l" t="t" r="r" b="b"/>
              <a:pathLst>
                <a:path w="9525" h="1383030">
                  <a:moveTo>
                    <a:pt x="0" y="13830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779895" y="33861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990398" y="3487102"/>
              <a:ext cx="4449128" cy="1189672"/>
            </a:xfrm>
            <a:custGeom>
              <a:avLst/>
              <a:gdLst/>
              <a:ahLst/>
              <a:cxnLst/>
              <a:rect l="l" t="t" r="r" b="b"/>
              <a:pathLst>
                <a:path w="4449128" h="1189672">
                  <a:moveTo>
                    <a:pt x="0" y="1189672"/>
                  </a:moveTo>
                  <a:lnTo>
                    <a:pt x="137160" y="1046797"/>
                  </a:lnTo>
                  <a:lnTo>
                    <a:pt x="289560" y="931545"/>
                  </a:lnTo>
                  <a:lnTo>
                    <a:pt x="437197" y="839152"/>
                  </a:lnTo>
                  <a:lnTo>
                    <a:pt x="584835" y="760095"/>
                  </a:lnTo>
                  <a:lnTo>
                    <a:pt x="737235" y="693420"/>
                  </a:lnTo>
                  <a:lnTo>
                    <a:pt x="884872" y="634365"/>
                  </a:lnTo>
                  <a:lnTo>
                    <a:pt x="1031558" y="582930"/>
                  </a:lnTo>
                  <a:lnTo>
                    <a:pt x="1184910" y="535305"/>
                  </a:lnTo>
                  <a:lnTo>
                    <a:pt x="1331595" y="491490"/>
                  </a:lnTo>
                  <a:lnTo>
                    <a:pt x="1479233" y="453390"/>
                  </a:lnTo>
                  <a:lnTo>
                    <a:pt x="1631633" y="416242"/>
                  </a:lnTo>
                  <a:lnTo>
                    <a:pt x="1779270" y="382905"/>
                  </a:lnTo>
                  <a:lnTo>
                    <a:pt x="1926908" y="351472"/>
                  </a:lnTo>
                  <a:lnTo>
                    <a:pt x="2079308" y="320992"/>
                  </a:lnTo>
                  <a:lnTo>
                    <a:pt x="2226945" y="292417"/>
                  </a:lnTo>
                  <a:lnTo>
                    <a:pt x="2374583" y="267652"/>
                  </a:lnTo>
                  <a:lnTo>
                    <a:pt x="2526983" y="241935"/>
                  </a:lnTo>
                  <a:lnTo>
                    <a:pt x="2674620" y="219075"/>
                  </a:lnTo>
                  <a:lnTo>
                    <a:pt x="2822258" y="195262"/>
                  </a:lnTo>
                  <a:lnTo>
                    <a:pt x="2974658" y="173355"/>
                  </a:lnTo>
                  <a:lnTo>
                    <a:pt x="3122295" y="153352"/>
                  </a:lnTo>
                  <a:lnTo>
                    <a:pt x="3269933" y="133350"/>
                  </a:lnTo>
                  <a:lnTo>
                    <a:pt x="3422333" y="114300"/>
                  </a:lnTo>
                  <a:lnTo>
                    <a:pt x="3569970" y="96202"/>
                  </a:lnTo>
                  <a:lnTo>
                    <a:pt x="3717608" y="78105"/>
                  </a:lnTo>
                  <a:lnTo>
                    <a:pt x="3870008" y="60960"/>
                  </a:lnTo>
                  <a:lnTo>
                    <a:pt x="4017645" y="44767"/>
                  </a:lnTo>
                  <a:lnTo>
                    <a:pt x="4164330" y="29527"/>
                  </a:lnTo>
                  <a:lnTo>
                    <a:pt x="4317683" y="12382"/>
                  </a:lnTo>
                  <a:lnTo>
                    <a:pt x="4449128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432358" y="3557588"/>
              <a:ext cx="3402330" cy="785812"/>
            </a:xfrm>
            <a:custGeom>
              <a:avLst/>
              <a:gdLst/>
              <a:ahLst/>
              <a:cxnLst/>
              <a:rect l="l" t="t" r="r" b="b"/>
              <a:pathLst>
                <a:path w="3402330" h="785812">
                  <a:moveTo>
                    <a:pt x="0" y="785812"/>
                  </a:moveTo>
                  <a:lnTo>
                    <a:pt x="3402330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130665" y="386334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9334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38" name="Ellipse 38"/>
            <p:cNvSpPr/>
            <p:nvPr/>
          </p:nvSpPr>
          <p:spPr>
            <a:xfrm>
              <a:off x="6770370" y="480631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550968" y="480631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821805" y="487394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821805" y="336518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974205" y="468249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449050" y="348043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328535" y="430815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843260" y="349758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073515" y="3739515"/>
              <a:ext cx="114300" cy="1143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073515" y="3893820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124950" y="480631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89173" y="3328511"/>
              <a:ext cx="321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log 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04761" y="483203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19486" y="483203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59400" y="4832032"/>
              <a:ext cx="7425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λy₁+(1−λ)y₂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70831" y="3548062"/>
              <a:ext cx="8121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log(加权平均)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79255" y="402145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对数的加权平均</a:t>
              </a:r>
            </a:p>
          </p:txBody>
        </p:sp>
      </p:grpSp>
      <p:grpSp>
        <p:nvGrpSpPr>
          <p:cNvPr id="61" name="c2-card-3"/>
          <p:cNvGrpSpPr/>
          <p:nvPr/>
        </p:nvGrpSpPr>
        <p:grpSpPr>
          <a:xfrm>
            <a:off x="6573202" y="5150168"/>
            <a:ext cx="5085398" cy="1185862"/>
            <a:chOff x="6573202" y="5150168"/>
            <a:chExt cx="5085398" cy="1185862"/>
          </a:xfrm>
        </p:grpSpPr>
        <p:sp>
          <p:nvSpPr>
            <p:cNvPr id="56" name="Rectangle 56"/>
            <p:cNvSpPr/>
            <p:nvPr/>
          </p:nvSpPr>
          <p:spPr>
            <a:xfrm>
              <a:off x="6573202" y="5150168"/>
              <a:ext cx="508539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582728" y="528351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97992" y="53368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89712" y="53697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91134" y="5680710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原课件写作“Jason 不等式”，应为 Jensen 不等式（丹麦数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学家 J. Jensen，1906 年）。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54906" cy="909257"/>
            <a:chOff x="520446" y="342900"/>
            <a:chExt cx="9454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54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Jensen 不等式得到下界：把后验 P(Z|Y, θ⁽ⁱ⁾) 当作权重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8066" y="1541145"/>
            <a:ext cx="6304121" cy="205359"/>
            <a:chOff x="528066" y="1541145"/>
            <a:chExt cx="6304121" cy="205359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541145"/>
              <a:ext cx="6304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在求和号里同时乘除 P(Z|Y, θ⁽ⁱ⁾)。它对 Z 求和等于 1，正好可以当作 Jensen 不等式里的权重 λ：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06"/>
              <p:cNvSpPr txBox="1">
                <a:spLocks noGrp="1"/>
              </p:cNvSpPr>
              <p:nvPr/>
            </p:nvSpPr>
            <p:spPr>
              <a:xfrm>
                <a:off x="533400" y="1869758"/>
                <a:ext cx="11125200" cy="15020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grow m:val="off"/>
                                      <m:subHide m:val="off"/>
                                      <m:supHide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Z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∣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sSup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θ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begChr m:val="("/>
                                                  <m:sepChr m:val=""/>
                                                  <m:endChr m:val=")"/>
                                                  <m:grow m:val="on"/>
                                                  <m:ctrlP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  <m:f>
                                        <m:fPr>
                                          <m:type m:val="bar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Y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∣</m:t>
                                              </m:r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Z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θ</m:t>
                                              </m:r>
                                            </m:e>
                                          </m:d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Z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∣</m:t>
                                              </m:r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θ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Z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∣</m:t>
                                              </m:r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Y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,</m:t>
                                              </m:r>
                                              <m:sSup>
                                                <m:e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θ</m:t>
                                                  </m:r>
                                                </m:e>
                                                <m:sup>
                                                  <m:d>
                                                    <m:dPr>
                                                      <m:begChr m:val="("/>
                                                      <m:sepChr m:val=""/>
                                                      <m:endChr m:val=")"/>
                                                      <m:grow m:val="on"/>
                                                      <m:ctrlPr>
                                                        <a:rPr lang="zh-CN" sz="1420" dirty="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  <a:latin typeface="Cambria Math"/>
                                                          <a:ea typeface="Cambria Math"/>
                                                          <a:cs typeface="Cambria Math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zh-CN" sz="1420" dirty="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  <a:latin typeface="Cambria Math"/>
                                                          <a:ea typeface="Cambria Math"/>
                                                          <a:cs typeface="Cambria Math"/>
                                                        </a:rPr>
                                                        <m:t>i</m:t>
                                                      </m:r>
                                                    </m:e>
                                                  </m:d>
                                                </m:sup>
                                              </m:sSup>
                                            </m:e>
                                          </m:d>
                                        </m:den>
                                      </m:f>
                                    </m:e>
                                  </m:nary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∣</m:t>
                                  </m:r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  <m:sup/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∣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∣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Z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θ</m:t>
                                          </m:r>
                                        </m:e>
                                      </m:d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Z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∣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θ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Z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∣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sSup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θ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begChr m:val="("/>
                                                  <m:sepChr m:val=""/>
                                                  <m:endChr m:val=")"/>
                                                  <m:grow m:val="on"/>
                                                  <m:ctrlP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den>
                                  </m:f>
                                </m:e>
                              </m:func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∣</m:t>
                                  </m:r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sub>
                            <m:sup/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∣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sSup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∣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Z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θ</m:t>
                                          </m:r>
                                        </m:e>
                                      </m:d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Z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∣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θ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Z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∣</m:t>
                                          </m:r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sSup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θ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begChr m:val="("/>
                                                  <m:sepChr m:val=""/>
                                                  <m:endChr m:val=")"/>
                                                  <m:grow m:val="on"/>
                                                  <m:ctrlP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∣</m:t>
                                          </m:r>
                                          <m:sSup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θ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begChr m:val="("/>
                                                  <m:sepChr m:val=""/>
                                                  <m:endChr m:val=")"/>
                                                  <m:grow m:val="on"/>
                                                  <m:ctrlP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den>
                                  </m:f>
                                </m:e>
                              </m:func>
                            </m:e>
                          </m:nary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24" name="c1-table-3"/>
          <p:cNvGrpSpPr/>
          <p:nvPr/>
        </p:nvGrpSpPr>
        <p:grpSpPr>
          <a:xfrm>
            <a:off x="533400" y="3536632"/>
            <a:ext cx="11125200" cy="1525905"/>
            <a:chOff x="533400" y="3536632"/>
            <a:chExt cx="11125200" cy="1525905"/>
          </a:xfrm>
        </p:grpSpPr>
        <p:sp>
          <p:nvSpPr>
            <p:cNvPr id="10" name="Rectangle 10"/>
            <p:cNvSpPr/>
            <p:nvPr/>
          </p:nvSpPr>
          <p:spPr>
            <a:xfrm>
              <a:off x="533400" y="3536632"/>
              <a:ext cx="11125200" cy="38100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87792" y="36547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50392" y="36547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4035743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30234" y="4035743"/>
              <a:ext cx="22258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乘除同一个 P(Z|Y, θ⁽ⁱ⁾)，值不变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2948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429958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4416742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0234" y="4416742"/>
              <a:ext cx="25562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Jensen 不等式，权重 λ = P(Z|Y, θ⁽ⁱ⁾)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6767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4798695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30234" y="4798695"/>
              <a:ext cx="24195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P(Y|θ⁽ⁱ⁾) 与 Z 无关，移进求和号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536632"/>
              <a:ext cx="11125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530792" y="353663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0" name="c1-card-4"/>
          <p:cNvGrpSpPr/>
          <p:nvPr/>
        </p:nvGrpSpPr>
        <p:grpSpPr>
          <a:xfrm>
            <a:off x="533400" y="5227320"/>
            <a:ext cx="11192500" cy="1135380"/>
            <a:chOff x="533400" y="5227320"/>
            <a:chExt cx="11192500" cy="1135380"/>
          </a:xfrm>
        </p:grpSpPr>
        <p:sp>
          <p:nvSpPr>
            <p:cNvPr id="25" name="Rectangle 25"/>
            <p:cNvSpPr/>
            <p:nvPr/>
          </p:nvSpPr>
          <p:spPr>
            <a:xfrm>
              <a:off x="533400" y="5227320"/>
              <a:ext cx="11125200" cy="1135380"/>
            </a:xfrm>
            <a:prstGeom prst="roundRect">
              <a:avLst>
                <a:gd name="adj" fmla="val 117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5360670"/>
              <a:ext cx="47625" cy="8686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54082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5147" y="54411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5998" y="5748814"/>
              <a:ext cx="10979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 行把权重和分母写成 P(Y|Z, θ⁽ⁱ⁾)。它对 Z 求和一般不等于 1，不能用 Jensen 不等式；应为后验 P(Z|Y, θ⁽ⁱ⁾)，与第 2 行一致。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759204" cy="909257"/>
            <a:chOff x="520446" y="342900"/>
            <a:chExt cx="107592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7592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下界函数 B：处处不超过 L，在 θ⁽ⁱ⁾ 处相等，极大化 B 就是极大化 Q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143125"/>
            <a:chOff x="533400" y="1524000"/>
            <a:chExt cx="5410200" cy="21431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43125"/>
            </a:xfrm>
            <a:prstGeom prst="roundRect">
              <a:avLst>
                <a:gd name="adj" fmla="val 62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7642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246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43"/>
                <p:cNvSpPr txBox="1">
                  <a:spLocks noGrp="1"/>
                </p:cNvSpPr>
                <p:nvPr/>
              </p:nvSpPr>
              <p:spPr>
                <a:xfrm>
                  <a:off x="752475" y="2024062"/>
                  <a:ext cx="5010150" cy="4714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≜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  <m:sup/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sSup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sSup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</m:e>
                            </m:func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45998" y="25979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则由上页结论：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44"/>
                <p:cNvSpPr txBox="1">
                  <a:spLocks noGrp="1"/>
                </p:cNvSpPr>
                <p:nvPr/>
              </p:nvSpPr>
              <p:spPr>
                <a:xfrm>
                  <a:off x="752475" y="2861310"/>
                  <a:ext cx="50101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7141" y="3321368"/>
              <a:ext cx="4876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第二式：θ = θ⁽ⁱ⁾ 时，log 里的分子分母都等于 P(Y, Z|θ⁽ⁱ⁾)，求和项为 0。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831908"/>
            <a:ext cx="5410200" cy="702945"/>
            <a:chOff x="533400" y="3831908"/>
            <a:chExt cx="5410200" cy="702945"/>
          </a:xfrm>
        </p:grpSpPr>
        <p:sp>
          <p:nvSpPr>
            <p:cNvPr id="16" name="Rectangle 16"/>
            <p:cNvSpPr/>
            <p:nvPr/>
          </p:nvSpPr>
          <p:spPr>
            <a:xfrm>
              <a:off x="533400" y="383190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082417"/>
              <a:ext cx="200023" cy="200023"/>
              <a:chOff x="738188" y="4082417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0824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41490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1273" y="3976211"/>
              <a:ext cx="43207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选择：任何可以使 B(θ, θ⁽ⁱ⁾) 增大的 θ，也可以使 L(θ) 增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大。所以取 θ⁽ⁱ⁺¹⁾ = arg max B(θ, θ⁽ⁱ⁾)。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698682"/>
            <a:ext cx="5410200" cy="1386840"/>
            <a:chOff x="533400" y="4698682"/>
            <a:chExt cx="5410200" cy="1386840"/>
          </a:xfrm>
        </p:grpSpPr>
        <p:sp>
          <p:nvSpPr>
            <p:cNvPr id="22" name="Rectangle 22"/>
            <p:cNvSpPr/>
            <p:nvPr/>
          </p:nvSpPr>
          <p:spPr>
            <a:xfrm>
              <a:off x="533400" y="4698682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832032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2475" y="487965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946" y="491251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差距是多少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5220176"/>
              <a:ext cx="46459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L(θ) − B(θ, θ⁽ⁱ⁾) 等于两个条件分布 P(Z|Y, θ⁽ⁱ⁾) 与 P(Z|Y,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θ) 之间的 KL 散度，它非负，且只有在两个分布相同时才为 0。θ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θ⁽ⁱ⁾ 时两者相同，所以曲线在这里贴住。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3509962"/>
            <a:chOff x="6248400" y="1524000"/>
            <a:chExt cx="5410200" cy="3509962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3509962"/>
            </a:xfrm>
            <a:prstGeom prst="roundRect">
              <a:avLst>
                <a:gd name="adj" fmla="val 37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29375" y="1704975"/>
              <a:ext cx="123063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98339" y="1737836"/>
              <a:ext cx="10927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省去与 θ 无关的项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245"/>
                <p:cNvSpPr txBox="1">
                  <a:spLocks noGrp="1"/>
                </p:cNvSpPr>
                <p:nvPr/>
              </p:nvSpPr>
              <p:spPr>
                <a:xfrm>
                  <a:off x="6429375" y="2024062"/>
                  <a:ext cx="5048250" cy="4705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p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6422898" y="2596991"/>
              <a:ext cx="45158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去掉常数 L(θ⁽ⁱ⁾) 和分母 P(Z|Y, θ⁽ⁱ⁾)P(Y|θ⁽ⁱ⁾)（都与 θ 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246"/>
                <p:cNvSpPr txBox="1">
                  <a:spLocks noGrp="1"/>
                </p:cNvSpPr>
                <p:nvPr/>
              </p:nvSpPr>
              <p:spPr>
                <a:xfrm>
                  <a:off x="6429375" y="3103245"/>
                  <a:ext cx="5048250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lim>
                                </m:limLow>
                              </m:fNam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  <m:sup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sSup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  <m:func>
                                      <m:funcPr/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begChr m:val="["/>
                                            <m:sepChr m:val=""/>
                                            <m:endChr m:val="]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P</m:t>
                                            </m:r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∣</m:t>
                                                </m:r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Z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θ</m:t>
                                                </m:r>
                                              </m:e>
                                            </m:d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P</m:t>
                                            </m:r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Z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∣</m:t>
                                                </m:r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θ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e>
                                </m:nary>
                              </m:e>
                            </m:func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247"/>
                <p:cNvSpPr txBox="1">
                  <a:spLocks noGrp="1"/>
                </p:cNvSpPr>
                <p:nvPr/>
              </p:nvSpPr>
              <p:spPr>
                <a:xfrm>
                  <a:off x="6429375" y="3750945"/>
                  <a:ext cx="504825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lim>
                                </m:limLow>
                              </m:fNam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  <m:sup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sSup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2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  <m:func>
                                      <m:funcPr/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,</m:t>
                                            </m:r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Z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∣</m:t>
                                            </m:r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nary>
                              </m:e>
                            </m:func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248"/>
                <p:cNvSpPr txBox="1">
                  <a:spLocks noGrp="1"/>
                </p:cNvSpPr>
                <p:nvPr/>
              </p:nvSpPr>
              <p:spPr>
                <a:xfrm>
                  <a:off x="6429375" y="4366260"/>
                  <a:ext cx="5048250" cy="4705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arg</m:t>
                            </m:r>
                          </m:fName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p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3" name="c2-callout-2"/>
          <p:cNvGrpSpPr/>
          <p:nvPr/>
        </p:nvGrpSpPr>
        <p:grpSpPr>
          <a:xfrm>
            <a:off x="6248400" y="5198745"/>
            <a:ext cx="5410200" cy="886778"/>
            <a:chOff x="6248400" y="5198745"/>
            <a:chExt cx="5410200" cy="886778"/>
          </a:xfrm>
        </p:grpSpPr>
        <p:sp>
          <p:nvSpPr>
            <p:cNvPr id="37" name="Rectangle 37"/>
            <p:cNvSpPr/>
            <p:nvPr/>
          </p:nvSpPr>
          <p:spPr>
            <a:xfrm>
              <a:off x="6248400" y="5198745"/>
              <a:ext cx="5410200" cy="886778"/>
            </a:xfrm>
            <a:prstGeom prst="roundRect">
              <a:avLst>
                <a:gd name="adj" fmla="val 1288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53188" y="5542598"/>
              <a:ext cx="200026" cy="200026"/>
              <a:chOff x="6453188" y="554259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55425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53200" y="56092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42088" y="56426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6273" y="5436394"/>
              <a:ext cx="44183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步算后验 P(Z|Y, θ⁽ⁱ⁾)，就是在 θ⁽ⁱ⁾ 处构造下界；M 步极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大化 Q，就是把下界推到最高。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809870" cy="909257"/>
            <a:chOff x="520446" y="342900"/>
            <a:chExt cx="108098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8098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的几何解释：下界曲线在 θ⁽ⁱ⁾ 处贴住 L(θ)，每步把似然推高一截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graph-1"/>
          <p:cNvGrpSpPr/>
          <p:nvPr/>
        </p:nvGrpSpPr>
        <p:grpSpPr>
          <a:xfrm>
            <a:off x="1029653" y="1594485"/>
            <a:ext cx="5659755" cy="3784854"/>
            <a:chOff x="1029653" y="1594485"/>
            <a:chExt cx="5659755" cy="3784854"/>
          </a:xfrm>
        </p:grpSpPr>
        <p:sp>
          <p:nvSpPr>
            <p:cNvPr id="7" name="Freeform 7"/>
            <p:cNvSpPr/>
            <p:nvPr/>
          </p:nvSpPr>
          <p:spPr>
            <a:xfrm>
              <a:off x="1050608" y="5029200"/>
              <a:ext cx="5522595" cy="9525"/>
            </a:xfrm>
            <a:custGeom>
              <a:avLst/>
              <a:gdLst/>
              <a:ahLst/>
              <a:cxnLst/>
              <a:rect l="l" t="t" r="r" b="b"/>
              <a:pathLst>
                <a:path w="5522595" h="9525">
                  <a:moveTo>
                    <a:pt x="0" y="0"/>
                  </a:moveTo>
                  <a:lnTo>
                    <a:pt x="55225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573202" y="49815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98232" y="1710690"/>
              <a:ext cx="9525" cy="3493770"/>
            </a:xfrm>
            <a:custGeom>
              <a:avLst/>
              <a:gdLst/>
              <a:ahLst/>
              <a:cxnLst/>
              <a:rect l="l" t="t" r="r" b="b"/>
              <a:pathLst>
                <a:path w="9525" h="3493770">
                  <a:moveTo>
                    <a:pt x="0" y="34937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50608" y="1615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172652" y="2026920"/>
              <a:ext cx="4374832" cy="2619375"/>
            </a:xfrm>
            <a:custGeom>
              <a:avLst/>
              <a:gdLst/>
              <a:ahLst/>
              <a:cxnLst/>
              <a:rect l="l" t="t" r="r" b="b"/>
              <a:pathLst>
                <a:path w="4374832" h="2619375">
                  <a:moveTo>
                    <a:pt x="0" y="2619375"/>
                  </a:moveTo>
                  <a:lnTo>
                    <a:pt x="93345" y="2468880"/>
                  </a:lnTo>
                  <a:lnTo>
                    <a:pt x="186690" y="2301240"/>
                  </a:lnTo>
                  <a:lnTo>
                    <a:pt x="287655" y="2133600"/>
                  </a:lnTo>
                  <a:lnTo>
                    <a:pt x="381952" y="1962150"/>
                  </a:lnTo>
                  <a:lnTo>
                    <a:pt x="481965" y="1790700"/>
                  </a:lnTo>
                  <a:lnTo>
                    <a:pt x="576263" y="1626870"/>
                  </a:lnTo>
                  <a:lnTo>
                    <a:pt x="676275" y="1466850"/>
                  </a:lnTo>
                  <a:lnTo>
                    <a:pt x="770572" y="1318260"/>
                  </a:lnTo>
                  <a:lnTo>
                    <a:pt x="871538" y="1173480"/>
                  </a:lnTo>
                  <a:lnTo>
                    <a:pt x="971550" y="1036320"/>
                  </a:lnTo>
                  <a:lnTo>
                    <a:pt x="1065848" y="910590"/>
                  </a:lnTo>
                  <a:lnTo>
                    <a:pt x="1165860" y="792480"/>
                  </a:lnTo>
                  <a:lnTo>
                    <a:pt x="1260157" y="681990"/>
                  </a:lnTo>
                  <a:lnTo>
                    <a:pt x="1360170" y="582930"/>
                  </a:lnTo>
                  <a:lnTo>
                    <a:pt x="1454468" y="491490"/>
                  </a:lnTo>
                  <a:lnTo>
                    <a:pt x="1555432" y="407670"/>
                  </a:lnTo>
                  <a:lnTo>
                    <a:pt x="1649730" y="335280"/>
                  </a:lnTo>
                  <a:lnTo>
                    <a:pt x="1749743" y="266700"/>
                  </a:lnTo>
                  <a:lnTo>
                    <a:pt x="1849755" y="209550"/>
                  </a:lnTo>
                  <a:lnTo>
                    <a:pt x="1944052" y="156210"/>
                  </a:lnTo>
                  <a:lnTo>
                    <a:pt x="2045018" y="114300"/>
                  </a:lnTo>
                  <a:lnTo>
                    <a:pt x="2138363" y="76200"/>
                  </a:lnTo>
                  <a:lnTo>
                    <a:pt x="2239328" y="49530"/>
                  </a:lnTo>
                  <a:lnTo>
                    <a:pt x="2333625" y="26670"/>
                  </a:lnTo>
                  <a:lnTo>
                    <a:pt x="2433638" y="11430"/>
                  </a:lnTo>
                  <a:lnTo>
                    <a:pt x="2527935" y="0"/>
                  </a:lnTo>
                  <a:lnTo>
                    <a:pt x="2627948" y="0"/>
                  </a:lnTo>
                  <a:lnTo>
                    <a:pt x="2728912" y="0"/>
                  </a:lnTo>
                  <a:lnTo>
                    <a:pt x="2823210" y="11430"/>
                  </a:lnTo>
                  <a:lnTo>
                    <a:pt x="2923222" y="26670"/>
                  </a:lnTo>
                  <a:lnTo>
                    <a:pt x="3017520" y="45720"/>
                  </a:lnTo>
                  <a:lnTo>
                    <a:pt x="3117532" y="72390"/>
                  </a:lnTo>
                  <a:lnTo>
                    <a:pt x="3211830" y="106680"/>
                  </a:lnTo>
                  <a:lnTo>
                    <a:pt x="3312795" y="144780"/>
                  </a:lnTo>
                  <a:lnTo>
                    <a:pt x="3406140" y="186690"/>
                  </a:lnTo>
                  <a:lnTo>
                    <a:pt x="3507105" y="236220"/>
                  </a:lnTo>
                  <a:lnTo>
                    <a:pt x="3607117" y="293370"/>
                  </a:lnTo>
                  <a:lnTo>
                    <a:pt x="3701415" y="354330"/>
                  </a:lnTo>
                  <a:lnTo>
                    <a:pt x="3801428" y="422910"/>
                  </a:lnTo>
                  <a:lnTo>
                    <a:pt x="3895725" y="499110"/>
                  </a:lnTo>
                  <a:lnTo>
                    <a:pt x="3996690" y="582930"/>
                  </a:lnTo>
                  <a:lnTo>
                    <a:pt x="4090988" y="674370"/>
                  </a:lnTo>
                  <a:lnTo>
                    <a:pt x="4191000" y="769620"/>
                  </a:lnTo>
                  <a:lnTo>
                    <a:pt x="4285298" y="872490"/>
                  </a:lnTo>
                  <a:lnTo>
                    <a:pt x="4374832" y="97155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71712" y="2579370"/>
              <a:ext cx="3502343" cy="2172652"/>
            </a:xfrm>
            <a:custGeom>
              <a:avLst/>
              <a:gdLst/>
              <a:ahLst/>
              <a:cxnLst/>
              <a:rect l="l" t="t" r="r" b="b"/>
              <a:pathLst>
                <a:path w="3502343" h="2172652">
                  <a:moveTo>
                    <a:pt x="0" y="2069782"/>
                  </a:moveTo>
                  <a:lnTo>
                    <a:pt x="87630" y="1855470"/>
                  </a:lnTo>
                  <a:lnTo>
                    <a:pt x="188595" y="1642110"/>
                  </a:lnTo>
                  <a:lnTo>
                    <a:pt x="282892" y="1440180"/>
                  </a:lnTo>
                  <a:lnTo>
                    <a:pt x="382905" y="1253490"/>
                  </a:lnTo>
                  <a:lnTo>
                    <a:pt x="477203" y="1078230"/>
                  </a:lnTo>
                  <a:lnTo>
                    <a:pt x="577215" y="914400"/>
                  </a:lnTo>
                  <a:lnTo>
                    <a:pt x="671512" y="765810"/>
                  </a:lnTo>
                  <a:lnTo>
                    <a:pt x="772478" y="632460"/>
                  </a:lnTo>
                  <a:lnTo>
                    <a:pt x="872490" y="510540"/>
                  </a:lnTo>
                  <a:lnTo>
                    <a:pt x="966788" y="400050"/>
                  </a:lnTo>
                  <a:lnTo>
                    <a:pt x="1066800" y="304800"/>
                  </a:lnTo>
                  <a:lnTo>
                    <a:pt x="1161097" y="220980"/>
                  </a:lnTo>
                  <a:lnTo>
                    <a:pt x="1261110" y="152400"/>
                  </a:lnTo>
                  <a:lnTo>
                    <a:pt x="1355408" y="95250"/>
                  </a:lnTo>
                  <a:lnTo>
                    <a:pt x="1456372" y="53340"/>
                  </a:lnTo>
                  <a:lnTo>
                    <a:pt x="1550670" y="22860"/>
                  </a:lnTo>
                  <a:lnTo>
                    <a:pt x="1650682" y="3810"/>
                  </a:lnTo>
                  <a:lnTo>
                    <a:pt x="1750695" y="0"/>
                  </a:lnTo>
                  <a:lnTo>
                    <a:pt x="1844992" y="11430"/>
                  </a:lnTo>
                  <a:lnTo>
                    <a:pt x="1945958" y="34290"/>
                  </a:lnTo>
                  <a:lnTo>
                    <a:pt x="2039303" y="68580"/>
                  </a:lnTo>
                  <a:lnTo>
                    <a:pt x="2140268" y="118110"/>
                  </a:lnTo>
                  <a:lnTo>
                    <a:pt x="2234565" y="179070"/>
                  </a:lnTo>
                  <a:lnTo>
                    <a:pt x="2334578" y="255270"/>
                  </a:lnTo>
                  <a:lnTo>
                    <a:pt x="2428875" y="342900"/>
                  </a:lnTo>
                  <a:lnTo>
                    <a:pt x="2528888" y="445770"/>
                  </a:lnTo>
                  <a:lnTo>
                    <a:pt x="2629852" y="560070"/>
                  </a:lnTo>
                  <a:lnTo>
                    <a:pt x="2724150" y="689610"/>
                  </a:lnTo>
                  <a:lnTo>
                    <a:pt x="2824162" y="830580"/>
                  </a:lnTo>
                  <a:lnTo>
                    <a:pt x="2918460" y="982980"/>
                  </a:lnTo>
                  <a:lnTo>
                    <a:pt x="3018472" y="1150620"/>
                  </a:lnTo>
                  <a:lnTo>
                    <a:pt x="3112770" y="1333500"/>
                  </a:lnTo>
                  <a:lnTo>
                    <a:pt x="3213735" y="1527810"/>
                  </a:lnTo>
                  <a:lnTo>
                    <a:pt x="3307080" y="1733550"/>
                  </a:lnTo>
                  <a:lnTo>
                    <a:pt x="3408045" y="1954530"/>
                  </a:lnTo>
                  <a:lnTo>
                    <a:pt x="3502343" y="2172652"/>
                  </a:lnTo>
                </a:path>
              </a:pathLst>
            </a:custGeom>
            <a:noFill/>
            <a:ln w="24765">
              <a:solidFill>
                <a:srgbClr val="F26B3A"/>
              </a:solidFill>
              <a:custDash>
                <a:ds d="230769" sp="153846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2848928" y="3550920"/>
              <a:ext cx="9525" cy="1463040"/>
            </a:xfrm>
            <a:custGeom>
              <a:avLst/>
              <a:gdLst/>
              <a:ahLst/>
              <a:cxnLst/>
              <a:rect l="l" t="t" r="r" b="b"/>
              <a:pathLst>
                <a:path w="9525" h="1463040">
                  <a:moveTo>
                    <a:pt x="0" y="14630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997642" y="2305050"/>
              <a:ext cx="9525" cy="2708910"/>
            </a:xfrm>
            <a:custGeom>
              <a:avLst/>
              <a:gdLst/>
              <a:ahLst/>
              <a:cxnLst/>
              <a:rect l="l" t="t" r="r" b="b"/>
              <a:pathLst>
                <a:path w="9525" h="2708910">
                  <a:moveTo>
                    <a:pt x="0" y="27089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1113472" y="3493770"/>
              <a:ext cx="1678305" cy="9525"/>
            </a:xfrm>
            <a:custGeom>
              <a:avLst/>
              <a:gdLst/>
              <a:ahLst/>
              <a:cxnLst/>
              <a:rect l="l" t="t" r="r" b="b"/>
              <a:pathLst>
                <a:path w="1678305" h="9525">
                  <a:moveTo>
                    <a:pt x="0" y="0"/>
                  </a:moveTo>
                  <a:lnTo>
                    <a:pt x="1678305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1113472" y="2579370"/>
              <a:ext cx="2827020" cy="9525"/>
            </a:xfrm>
            <a:custGeom>
              <a:avLst/>
              <a:gdLst/>
              <a:ahLst/>
              <a:cxnLst/>
              <a:rect l="l" t="t" r="r" b="b"/>
              <a:pathLst>
                <a:path w="2827020" h="9525">
                  <a:moveTo>
                    <a:pt x="0" y="0"/>
                  </a:moveTo>
                  <a:lnTo>
                    <a:pt x="282702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1113472" y="2247900"/>
              <a:ext cx="2827020" cy="9525"/>
            </a:xfrm>
            <a:custGeom>
              <a:avLst/>
              <a:gdLst/>
              <a:ahLst/>
              <a:cxnLst/>
              <a:rect l="l" t="t" r="r" b="b"/>
              <a:pathLst>
                <a:path w="2827020" h="9525">
                  <a:moveTo>
                    <a:pt x="0" y="0"/>
                  </a:moveTo>
                  <a:lnTo>
                    <a:pt x="282702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18" name="Ellipse 18"/>
            <p:cNvSpPr/>
            <p:nvPr/>
          </p:nvSpPr>
          <p:spPr>
            <a:xfrm>
              <a:off x="1029653" y="50234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677978" y="50234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92518" y="52139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92518" y="15944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159318" y="465391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552248" y="30041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260282" y="465772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774055" y="476059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801302" y="3446145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950018" y="253174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950018" y="2200275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843212" y="50234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991927" y="50234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92518" y="348805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92518" y="257365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92518" y="22421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688107" y="517398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θ⁽ⁱ⁾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59079" y="517398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θ⁽ⁱ⁺¹⁾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76622" y="517398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83589" y="2137886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L(θ)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10188" y="3593306"/>
              <a:ext cx="8582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B(θ, θ⁽ⁱ⁾)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19010" y="3274219"/>
              <a:ext cx="16153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L(θ⁽ⁱ⁾) = B(θ⁽ⁱ⁾, θ⁽ⁱ⁾)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19010" y="2359819"/>
              <a:ext cx="1085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B(θ⁽ⁱ⁺¹⁾, θ⁽ⁱ⁾)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19010" y="2028349"/>
              <a:ext cx="681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L(θ⁽ⁱ⁺¹⁾)</a:t>
              </a:r>
            </a:p>
          </p:txBody>
        </p:sp>
      </p:grpSp>
      <p:grpSp>
        <p:nvGrpSpPr>
          <p:cNvPr id="44" name="c1-text-2"/>
          <p:cNvGrpSpPr/>
          <p:nvPr/>
        </p:nvGrpSpPr>
        <p:grpSpPr>
          <a:xfrm>
            <a:off x="839978" y="5545931"/>
            <a:ext cx="5661914" cy="500824"/>
            <a:chOff x="839978" y="5545931"/>
            <a:chExt cx="5661914" cy="500824"/>
          </a:xfrm>
        </p:grpSpPr>
        <p:sp>
          <p:nvSpPr>
            <p:cNvPr id="43" name="TextBox 43"/>
            <p:cNvSpPr txBox="1"/>
            <p:nvPr/>
          </p:nvSpPr>
          <p:spPr>
            <a:xfrm>
              <a:off x="839978" y="5545931"/>
              <a:ext cx="566191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按真实例子画出：模型 0.5N(0, 1) + 0.5N(θ, 1)，观测值 −0.6、0.3、1.2、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2.9、3.4</a:t>
              </a:r>
            </a:p>
          </p:txBody>
        </p:sp>
      </p:grpSp>
      <p:grpSp>
        <p:nvGrpSpPr>
          <p:cNvPr id="62" name="c2-steps-1"/>
          <p:cNvGrpSpPr/>
          <p:nvPr/>
        </p:nvGrpSpPr>
        <p:grpSpPr>
          <a:xfrm>
            <a:off x="7114222" y="1533525"/>
            <a:ext cx="4484933" cy="2998756"/>
            <a:chOff x="7114222" y="1533525"/>
            <a:chExt cx="4484933" cy="2998756"/>
          </a:xfrm>
        </p:grpSpPr>
        <p:sp>
          <p:nvSpPr>
            <p:cNvPr id="45" name="Rectangle 45"/>
            <p:cNvSpPr/>
            <p:nvPr/>
          </p:nvSpPr>
          <p:spPr>
            <a:xfrm>
              <a:off x="7247572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14222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0784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14222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07846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14222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07846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25702" y="1567815"/>
              <a:ext cx="1214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θ⁽ⁱ⁾ 出发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26846" y="1861661"/>
              <a:ext cx="3748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两条曲线在 θ⁽ⁱ⁾ = 0.8 处相切：L = B = −12.29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25702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极大化下界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26846" y="2512219"/>
              <a:ext cx="36217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B(θ, θ⁽ⁱ⁾) 的最大值点 θ⁽ⁱ⁺¹⁾ = 1.98，此处 B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−10.04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25702" y="310419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似然至少增大同样多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26846" y="3397091"/>
              <a:ext cx="40723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L(θ⁽ⁱ⁺¹⁾) = −9.22 ≥ B(θ⁽ⁱ⁺¹⁾, θ⁽ⁱ⁾) &gt; L(θ⁽ⁱ⁾)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25702" y="37547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在新点重新构造下界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26846" y="4048601"/>
              <a:ext cx="3824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继续迭代得 2.47、2.67、2.75、…，收敛到极大值点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2.795</a:t>
              </a:r>
            </a:p>
          </p:txBody>
        </p:sp>
      </p:grpSp>
      <p:grpSp>
        <p:nvGrpSpPr>
          <p:cNvPr id="69" name="c2-callout-2"/>
          <p:cNvGrpSpPr/>
          <p:nvPr/>
        </p:nvGrpSpPr>
        <p:grpSpPr>
          <a:xfrm>
            <a:off x="7114222" y="4711065"/>
            <a:ext cx="4544378" cy="1284922"/>
            <a:chOff x="7114222" y="4711065"/>
            <a:chExt cx="4544378" cy="1284922"/>
          </a:xfrm>
        </p:grpSpPr>
        <p:sp>
          <p:nvSpPr>
            <p:cNvPr id="63" name="Rectangle 63"/>
            <p:cNvSpPr/>
            <p:nvPr/>
          </p:nvSpPr>
          <p:spPr>
            <a:xfrm>
              <a:off x="7114222" y="4711065"/>
              <a:ext cx="4544378" cy="1284922"/>
            </a:xfrm>
            <a:prstGeom prst="roundRect">
              <a:avLst>
                <a:gd name="adj" fmla="val 88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06952" y="5249346"/>
              <a:ext cx="224134" cy="192560"/>
              <a:chOff x="7306952" y="5249346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419023" y="53197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306952" y="52493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419023" y="53975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620952" y="497205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每一步只保证上升。L 有多个峰时，EM 会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停在初值附近的那个峰上，不保证到达全局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最大值点。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30628" cy="909257"/>
            <a:chOff x="520446" y="342900"/>
            <a:chExt cx="68306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306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9.1：EM 得到的似然函数序列单调递增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2440305"/>
            <a:chOff x="533400" y="1524000"/>
            <a:chExt cx="4977765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440305"/>
            </a:xfrm>
            <a:prstGeom prst="roundRect">
              <a:avLst>
                <a:gd name="adj" fmla="val 5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736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635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9.1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P(Y|θ) 为观测数据的似然函数，θ⁽ⁱ⁾（i = 1,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…）为 EM 算法得到的参数估计序列，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P(Y|θ⁽ⁱ⁾) 为对应的似然函数序列，则 P(Y|θ⁽ⁱ⁾)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是单调递增的，即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53"/>
                <p:cNvSpPr txBox="1">
                  <a:spLocks noGrp="1"/>
                </p:cNvSpPr>
                <p:nvPr/>
              </p:nvSpPr>
              <p:spPr>
                <a:xfrm>
                  <a:off x="781050" y="3278505"/>
                  <a:ext cx="4520565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1-steps-2"/>
          <p:cNvGrpSpPr/>
          <p:nvPr/>
        </p:nvGrpSpPr>
        <p:grpSpPr>
          <a:xfrm>
            <a:off x="533400" y="4164330"/>
            <a:ext cx="4918410" cy="2113883"/>
            <a:chOff x="533400" y="4164330"/>
            <a:chExt cx="4918410" cy="2113883"/>
          </a:xfrm>
        </p:grpSpPr>
        <p:sp>
          <p:nvSpPr>
            <p:cNvPr id="14" name="Rectangle 14"/>
            <p:cNvSpPr/>
            <p:nvPr/>
          </p:nvSpPr>
          <p:spPr>
            <a:xfrm>
              <a:off x="666750" y="430720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416433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238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50501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51239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7007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5774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41986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由条件概率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4492466"/>
              <a:ext cx="42801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P(Y|θ) = P(Y, Z|θ)/P(Z|Y, θ)，取对数得 log P(Y|θ) = log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P(Y,Z|θ) − log P(Z|Y,θ)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5084445"/>
              <a:ext cx="27077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两边对 P(Z|Y, θ⁽ⁱ⁾) 求期望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5377339"/>
              <a:ext cx="45057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左边与 Z 无关，不变；右边第一项的期望就是 Q(θ, θ⁽ⁱ⁾)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573500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得到分解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6028849"/>
              <a:ext cx="31292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P(Y|θ) = Q(θ, θ⁽ⁱ⁾) − H(θ, θ⁽ⁱ⁾)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5815965" y="1524000"/>
            <a:ext cx="5842635" cy="2268855"/>
            <a:chOff x="5815965" y="1524000"/>
            <a:chExt cx="5842635" cy="2268855"/>
          </a:xfrm>
        </p:grpSpPr>
        <p:sp>
          <p:nvSpPr>
            <p:cNvPr id="28" name="Rectangle 28"/>
            <p:cNvSpPr/>
            <p:nvPr/>
          </p:nvSpPr>
          <p:spPr>
            <a:xfrm>
              <a:off x="5815965" y="1524000"/>
              <a:ext cx="5842635" cy="2268855"/>
            </a:xfrm>
            <a:prstGeom prst="roundRect">
              <a:avLst>
                <a:gd name="adj" fmla="val 58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25515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1268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证明中用到的两个函数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254"/>
                <p:cNvSpPr txBox="1">
                  <a:spLocks noGrp="1"/>
                </p:cNvSpPr>
                <p:nvPr/>
              </p:nvSpPr>
              <p:spPr>
                <a:xfrm>
                  <a:off x="6025515" y="2085975"/>
                  <a:ext cx="5423535" cy="6915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  <m:sup/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255"/>
                <p:cNvSpPr txBox="1">
                  <a:spLocks noGrp="1"/>
                </p:cNvSpPr>
                <p:nvPr/>
              </p:nvSpPr>
              <p:spPr>
                <a:xfrm>
                  <a:off x="6025515" y="2872740"/>
                  <a:ext cx="5423535" cy="6915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  <m:sup/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card-2"/>
          <p:cNvGrpSpPr/>
          <p:nvPr/>
        </p:nvGrpSpPr>
        <p:grpSpPr>
          <a:xfrm>
            <a:off x="5815965" y="3983355"/>
            <a:ext cx="5842635" cy="2282190"/>
            <a:chOff x="5815965" y="3983355"/>
            <a:chExt cx="5842635" cy="2282190"/>
          </a:xfrm>
        </p:grpSpPr>
        <p:sp>
          <p:nvSpPr>
            <p:cNvPr id="34" name="Rectangle 34"/>
            <p:cNvSpPr/>
            <p:nvPr/>
          </p:nvSpPr>
          <p:spPr>
            <a:xfrm>
              <a:off x="5815965" y="3983355"/>
              <a:ext cx="5842635" cy="2282190"/>
            </a:xfrm>
            <a:prstGeom prst="roundRect">
              <a:avLst>
                <a:gd name="adj" fmla="val 584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25515" y="4192905"/>
              <a:ext cx="263271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51934" y="4228624"/>
              <a:ext cx="2579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θ⁽ⁱ⁺¹⁾ 与 θ⁽ⁱ⁾ 处分别取值再相减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256"/>
                <p:cNvSpPr txBox="1">
                  <a:spLocks noGrp="1"/>
                </p:cNvSpPr>
                <p:nvPr/>
              </p:nvSpPr>
              <p:spPr>
                <a:xfrm>
                  <a:off x="6025515" y="4545330"/>
                  <a:ext cx="5423535" cy="421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e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6017895" y="5086350"/>
              <a:ext cx="5144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只需证右端非负：第一个方括号 ≥ 0，第二个方括号 ≤ 0。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26140" cy="909257"/>
            <a:chOff x="520446" y="342900"/>
            <a:chExt cx="84261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261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9.1 的证明（续）：Q 的部分不减，H 的部分不增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495425"/>
            <a:chOff x="533400" y="1524000"/>
            <a:chExt cx="4760595" cy="14954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95425"/>
            </a:xfrm>
            <a:prstGeom prst="roundRect">
              <a:avLst>
                <a:gd name="adj" fmla="val 891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95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前半部分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36014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θ⁽ⁱ⁺¹⁾ 使 Q(θ, θ⁽ⁱ⁾) 达到极大值，所以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61"/>
                <p:cNvSpPr txBox="1">
                  <a:spLocks noGrp="1"/>
                </p:cNvSpPr>
                <p:nvPr/>
              </p:nvSpPr>
              <p:spPr>
                <a:xfrm>
                  <a:off x="737235" y="2397442"/>
                  <a:ext cx="43529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llout-2"/>
          <p:cNvGrpSpPr/>
          <p:nvPr/>
        </p:nvGrpSpPr>
        <p:grpSpPr>
          <a:xfrm>
            <a:off x="533400" y="3205162"/>
            <a:ext cx="4760595" cy="1018222"/>
            <a:chOff x="533400" y="3205162"/>
            <a:chExt cx="4760595" cy="1018222"/>
          </a:xfrm>
        </p:grpSpPr>
        <p:sp>
          <p:nvSpPr>
            <p:cNvPr id="13" name="Rectangle 13"/>
            <p:cNvSpPr/>
            <p:nvPr/>
          </p:nvSpPr>
          <p:spPr>
            <a:xfrm>
              <a:off x="533400" y="3205162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3614738"/>
              <a:ext cx="200026" cy="200025"/>
              <a:chOff x="738188" y="3614738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36147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36591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37703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3352324"/>
              <a:ext cx="389178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这里只用到“不小于”。M 步即使只找到让 Q 增大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 θ、没有求出最大值点（广义 EM，GEM），定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理仍然成立。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409122"/>
            <a:ext cx="4760595" cy="1502092"/>
            <a:chOff x="533400" y="4409122"/>
            <a:chExt cx="4760595" cy="1502092"/>
          </a:xfrm>
        </p:grpSpPr>
        <p:sp>
          <p:nvSpPr>
            <p:cNvPr id="20" name="Rectangle 20"/>
            <p:cNvSpPr/>
            <p:nvPr/>
          </p:nvSpPr>
          <p:spPr>
            <a:xfrm>
              <a:off x="533400" y="4409122"/>
              <a:ext cx="4760595" cy="1502092"/>
            </a:xfrm>
            <a:prstGeom prst="roundRect">
              <a:avLst>
                <a:gd name="adj" fmla="val 887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7235" y="46129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443" y="46486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9996" y="4985861"/>
              <a:ext cx="38106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前半部分非负、后半部分非正，所以 log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P(Y|θ⁽ⁱ⁺¹⁾) − log P(Y|θ⁽ⁱ⁾) ≥ 0，定理得证。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5598795" y="1524000"/>
            <a:ext cx="6059805" cy="2927032"/>
            <a:chOff x="5598795" y="1524000"/>
            <a:chExt cx="6059805" cy="2927032"/>
          </a:xfrm>
        </p:grpSpPr>
        <p:sp>
          <p:nvSpPr>
            <p:cNvPr id="25" name="Rectangle 25"/>
            <p:cNvSpPr/>
            <p:nvPr/>
          </p:nvSpPr>
          <p:spPr>
            <a:xfrm>
              <a:off x="5598795" y="1524000"/>
              <a:ext cx="6059805" cy="2927032"/>
            </a:xfrm>
            <a:prstGeom prst="roundRect">
              <a:avLst>
                <a:gd name="adj" fmla="val 4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02630" y="1727835"/>
              <a:ext cx="264128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26376" y="1763554"/>
              <a:ext cx="259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后半部分（再用一次 Jensen 不等式）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62"/>
                <p:cNvSpPr txBox="1">
                  <a:spLocks noGrp="1"/>
                </p:cNvSpPr>
                <p:nvPr/>
              </p:nvSpPr>
              <p:spPr>
                <a:xfrm>
                  <a:off x="5802630" y="2077402"/>
                  <a:ext cx="5652135" cy="18697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b>
                              <m:sup/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unc>
                                      <m:funcPr/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P</m:t>
                                            </m:r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Z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∣</m:t>
                                                </m:r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,</m:t>
                                                </m:r>
                                                <m:sSup>
                                                  <m:e>
                                                    <m:r>
                                                      <a:rPr lang="zh-CN" sz="15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θ</m:t>
                                                    </m:r>
                                                  </m:e>
                                                  <m:sup>
                                                    <m:d>
                                                      <m:dPr>
                                                        <m:begChr m:val="("/>
                                                        <m:sepChr m:val=""/>
                                                        <m:endChr m:val=")"/>
                                                        <m:grow m:val="on"/>
                                                        <m:ctrlP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i</m:t>
                                                        </m:r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+</m:t>
                                                        </m:r>
                                                        <m: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</m:d>
                                                  </m:sup>
                                                </m:sSup>
                                              </m:e>
                                            </m:d>
                                          </m:num>
                                          <m:den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P</m:t>
                                            </m:r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Z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∣</m:t>
                                                </m:r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,</m:t>
                                                </m:r>
                                                <m:sSup>
                                                  <m:e>
                                                    <m:r>
                                                      <a:rPr lang="zh-CN" sz="15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θ</m:t>
                                                    </m:r>
                                                  </m:e>
                                                  <m:sup>
                                                    <m:d>
                                                      <m:dPr>
                                                        <m:begChr m:val="("/>
                                                        <m:sepChr m:val=""/>
                                                        <m:endChr m:val=")"/>
                                                        <m:grow m:val="on"/>
                                                        <m:ctrlP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i</m:t>
                                                        </m:r>
                                                      </m:e>
                                                    </m:d>
                                                  </m:sup>
                                                </m:sSup>
                                              </m:e>
                                            </m:d>
                                          </m:den>
                                        </m:f>
                                      </m:e>
                                    </m:func>
                                  </m:e>
                                </m:d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nary>
                          </m:e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grow m:val="off"/>
                                        <m:subHide m:val="off"/>
                                        <m:supHide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</m:sub>
                                      <m:sup/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P</m:t>
                                            </m:r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Z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∣</m:t>
                                                </m:r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,</m:t>
                                                </m:r>
                                                <m:sSup>
                                                  <m:e>
                                                    <m:r>
                                                      <a:rPr lang="zh-CN" sz="15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θ</m:t>
                                                    </m:r>
                                                  </m:e>
                                                  <m:sup>
                                                    <m:d>
                                                      <m:dPr>
                                                        <m:begChr m:val="("/>
                                                        <m:sepChr m:val=""/>
                                                        <m:endChr m:val=")"/>
                                                        <m:grow m:val="on"/>
                                                        <m:ctrlP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i</m:t>
                                                        </m:r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+</m:t>
                                                        </m:r>
                                                        <m: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</m:d>
                                                  </m:sup>
                                                </m:sSup>
                                              </m:e>
                                            </m:d>
                                          </m:num>
                                          <m:den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P</m:t>
                                            </m:r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Z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∣</m:t>
                                                </m:r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,</m:t>
                                                </m:r>
                                                <m:sSup>
                                                  <m:e>
                                                    <m:r>
                                                      <a:rPr lang="zh-CN" sz="15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θ</m:t>
                                                    </m:r>
                                                  </m:e>
                                                  <m:sup>
                                                    <m:d>
                                                      <m:dPr>
                                                        <m:begChr m:val="("/>
                                                        <m:sepChr m:val=""/>
                                                        <m:endChr m:val=")"/>
                                                        <m:grow m:val="on"/>
                                                        <m:ctrlP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zh-CN" sz="158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i</m:t>
                                                        </m:r>
                                                      </m:e>
                                                    </m:d>
                                                  </m:sup>
                                                </m:sSup>
                                              </m:e>
                                            </m:d>
                                          </m:den>
                                        </m:f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Z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∣</m:t>
                                            </m:r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,</m:t>
                                            </m:r>
                                            <m:sSup>
                                              <m:e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θ</m:t>
                                                </m:r>
                                              </m:e>
                                              <m:sup>
                                                <m:d>
                                                  <m:dPr>
                                                    <m:begChr m:val="("/>
                                                    <m:sepChr m:val=""/>
                                                    <m:endChr m:val=")"/>
                                                    <m:grow m:val="on"/>
                                                    <m:ctrlPr>
                                                      <a:rPr lang="zh-CN" sz="15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zh-CN" sz="15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i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e>
                            </m:func>
                          </m:e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  <m:sup/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sSup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nary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5796534" y="4059555"/>
              <a:ext cx="3000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这个差等于负的 KL 散度，所以总是 ≤ 0。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5598795" y="4636770"/>
            <a:ext cx="6059805" cy="1274445"/>
            <a:chOff x="5598795" y="4636770"/>
            <a:chExt cx="6059805" cy="1274445"/>
          </a:xfrm>
        </p:grpSpPr>
        <p:sp>
          <p:nvSpPr>
            <p:cNvPr id="31" name="Rectangle 31"/>
            <p:cNvSpPr/>
            <p:nvPr/>
          </p:nvSpPr>
          <p:spPr>
            <a:xfrm>
              <a:off x="5598795" y="4636770"/>
              <a:ext cx="605980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608320" y="477012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40730" y="48406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31891" y="48763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33491" y="5213509"/>
              <a:ext cx="52263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原课件最后一步写作 log P(Z|Y, θ⁽ⁱ⁺¹⁾) = 0，漏了求和号。应为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Σ_Z P(Z|Y, θ⁽ⁱ⁺¹⁾) = log 1 = 0：条件分布对 Z 求和为 1。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54082" cy="909257"/>
            <a:chOff x="520446" y="342900"/>
            <a:chExt cx="96540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算法的收敛性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540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9.2：似然值收敛，参数收敛到稳定点，不一定是全局最大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814512"/>
            <a:chOff x="533400" y="1524000"/>
            <a:chExt cx="5410200" cy="1814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966788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4283" y="1750695"/>
              <a:ext cx="8269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EM 的收敛性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提供了一种近似计算含有隐变量概率模型的极大似然估计的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方法，最大优点是简单性和普适性。疑问：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3905" y="2620327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583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702" y="2632710"/>
              <a:ext cx="2865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算法得到的估计序列是否收敛？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3905" y="292322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9583" y="29616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4702" y="293560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如果收敛，是全局极大值还是局部极大值？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513772"/>
            <a:ext cx="5410200" cy="2586038"/>
            <a:chOff x="533400" y="3513772"/>
            <a:chExt cx="5410200" cy="2586038"/>
          </a:xfrm>
        </p:grpSpPr>
        <p:sp>
          <p:nvSpPr>
            <p:cNvPr id="19" name="Rectangle 19"/>
            <p:cNvSpPr/>
            <p:nvPr/>
          </p:nvSpPr>
          <p:spPr>
            <a:xfrm>
              <a:off x="533400" y="3513772"/>
              <a:ext cx="5410200" cy="2586038"/>
            </a:xfrm>
            <a:prstGeom prst="roundRect">
              <a:avLst>
                <a:gd name="adj" fmla="val 5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647122"/>
              <a:ext cx="47625" cy="23193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3706178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6844" y="3740468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9.2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4062412"/>
              <a:ext cx="47114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L(θ) = log P(Y|θ) 为观测数据的对数似然函数，θ⁽ⁱ⁾（i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…）为 EM 算法得到的参数估计序列，L(θ⁽ⁱ⁾) 为对应的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对数似然函数序列。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3905" y="4867275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9583" y="490566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4702" y="4879658"/>
              <a:ext cx="44114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 P(Y|θ) 有上界，则 L(θ⁽ⁱ⁾) = log P(Y|θ⁽ⁱ⁾) 收敛到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某一值 L*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3905" y="5427345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9583" y="54657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4702" y="5438775"/>
              <a:ext cx="44114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在函数 Q(θ, θ′) 与 L(θ) 满足一定条件下，由 EM 算法得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到的参数估计序列 θ⁽ⁱ⁾ 的收敛值 θ* 是 L(θ) 的稳定点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248400" y="1524000"/>
            <a:ext cx="5410200" cy="2628900"/>
            <a:chOff x="6248400" y="1524000"/>
            <a:chExt cx="5410200" cy="262890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48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999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48412" y="21540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似然值收敛吗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55255" y="2054066"/>
              <a:ext cx="34251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有上界时收敛：单调递增且有上界的数列必收敛（定理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 + 结论 1）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253555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8412" y="27598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参数收敛到哪里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55255" y="2659856"/>
              <a:ext cx="35887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稳定点，即梯度为 0 的点：可能是全局极大、局部极大，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也可能是鞍点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1365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8412" y="33656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收敛多快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55255" y="3265646"/>
              <a:ext cx="35674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一般是线性收敛，缺失信息越多越慢（缺失值例子中比例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2/3）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7423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374713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8412" y="387143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怎样降低风险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55255" y="387143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多取几组初值分别迭代，取对数似然最大的结果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26289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50480" y="1524000"/>
              <a:ext cx="9525" cy="2628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248400" y="4328160"/>
            <a:ext cx="5410200" cy="1771650"/>
            <a:chOff x="6248400" y="4328160"/>
            <a:chExt cx="5410200" cy="1771650"/>
          </a:xfrm>
        </p:grpSpPr>
        <p:sp>
          <p:nvSpPr>
            <p:cNvPr id="50" name="Rectangle 50"/>
            <p:cNvSpPr/>
            <p:nvPr/>
          </p:nvSpPr>
          <p:spPr>
            <a:xfrm>
              <a:off x="6248400" y="4328160"/>
              <a:ext cx="5410200" cy="1771650"/>
            </a:xfrm>
            <a:prstGeom prst="roundRect">
              <a:avLst>
                <a:gd name="adj" fmla="val 7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4461510"/>
              <a:ext cx="47625" cy="15049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8905" y="452056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46342" y="455485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上界条件不是摆设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72047" y="4876800"/>
              <a:ext cx="47885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高斯混合模型的似然没有上界：让某个分量的均值等于一个观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测值、方差趋于 0，似然趋于无穷。实际计算要给方差设下限，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或丢弃方差塌缩到 0 的解。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712428" cy="3706177"/>
            <a:chOff x="667512" y="1835468"/>
            <a:chExt cx="6712428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7124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算法的应用：高斯混合模型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92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隐变量是“每个观测来自哪个分模型”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高斯混合模型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完全数据的对数似然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1000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步：响应度与 Q 函数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508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步与完整算法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例：8 个身高数据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85405" cy="909257"/>
            <a:chOff x="520446" y="342900"/>
            <a:chExt cx="6185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64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45" y="407194"/>
              <a:ext cx="331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算法的应用：高斯混合模型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85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高斯混合模型：K 个正态分布按权重叠加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193982" cy="3730942"/>
            <a:chOff x="533400" y="1524000"/>
            <a:chExt cx="5193982" cy="37309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730942"/>
            </a:xfrm>
            <a:prstGeom prst="roundRect">
              <a:avLst>
                <a:gd name="adj" fmla="val 35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6424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518285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0727" y="1769269"/>
              <a:ext cx="139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4.3.3 高斯混合模型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概率分布模型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65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4736782" cy="6915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86765" y="329565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232785"/>
              <a:ext cx="20839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系数：αₖ ≥ 0，Σαₖ = 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6309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568065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φ(y|θₖ) 是高斯分布密度，θₖ = (μₖ, σₖ²)，称为第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个分模型：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266"/>
                <p:cNvSpPr txBox="1">
                  <a:spLocks noGrp="1"/>
                </p:cNvSpPr>
                <p:nvPr/>
              </p:nvSpPr>
              <p:spPr>
                <a:xfrm>
                  <a:off x="781050" y="4164330"/>
                  <a:ext cx="473678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ϕ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sSub>
                                              <m:e>
                                                <m:r>
                                                  <a:rPr lang="zh-CN" sz="16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6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sSubSup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  <m:sup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74573" y="484679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分模型可以换成任意维的高斯分布，本节讲一维情形。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5445442"/>
            <a:ext cx="5193982" cy="782955"/>
            <a:chOff x="533400" y="5445442"/>
            <a:chExt cx="5193982" cy="782955"/>
          </a:xfrm>
        </p:grpSpPr>
        <p:sp>
          <p:nvSpPr>
            <p:cNvPr id="20" name="Rectangle 20"/>
            <p:cNvSpPr/>
            <p:nvPr/>
          </p:nvSpPr>
          <p:spPr>
            <a:xfrm>
              <a:off x="533400" y="5445442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736908"/>
              <a:ext cx="200026" cy="200026"/>
              <a:chOff x="738188" y="5736908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7369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8035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58369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5594032"/>
              <a:ext cx="4177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生成一个观测：先按概率 αₖ 选第 k 个分模型，再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N(μₖ, σₖ²) 抽取 y。只看到 y，看不到 k。</a:t>
              </a:r>
            </a:p>
          </p:txBody>
        </p:sp>
      </p:grpSp>
      <p:grpSp>
        <p:nvGrpSpPr>
          <p:cNvPr id="57" name="c2-graph-1"/>
          <p:cNvGrpSpPr/>
          <p:nvPr/>
        </p:nvGrpSpPr>
        <p:grpSpPr>
          <a:xfrm>
            <a:off x="6195060" y="1632109"/>
            <a:ext cx="5413058" cy="2931985"/>
            <a:chOff x="6195060" y="1632109"/>
            <a:chExt cx="5413058" cy="2931985"/>
          </a:xfrm>
        </p:grpSpPr>
        <p:sp>
          <p:nvSpPr>
            <p:cNvPr id="27" name="Freeform 27"/>
            <p:cNvSpPr/>
            <p:nvPr/>
          </p:nvSpPr>
          <p:spPr>
            <a:xfrm>
              <a:off x="6216015" y="4038600"/>
              <a:ext cx="5275898" cy="9525"/>
            </a:xfrm>
            <a:custGeom>
              <a:avLst/>
              <a:gdLst/>
              <a:ahLst/>
              <a:cxnLst/>
              <a:rect l="l" t="t" r="r" b="b"/>
              <a:pathLst>
                <a:path w="5275898" h="9525">
                  <a:moveTo>
                    <a:pt x="0" y="0"/>
                  </a:moveTo>
                  <a:lnTo>
                    <a:pt x="52758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1491912" y="3990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773228" y="1942148"/>
              <a:ext cx="2085022" cy="2084070"/>
            </a:xfrm>
            <a:custGeom>
              <a:avLst/>
              <a:gdLst/>
              <a:ahLst/>
              <a:cxnLst/>
              <a:rect l="l" t="t" r="r" b="b"/>
              <a:pathLst>
                <a:path w="2085022" h="2084070">
                  <a:moveTo>
                    <a:pt x="0" y="2084070"/>
                  </a:moveTo>
                  <a:lnTo>
                    <a:pt x="40957" y="2077402"/>
                  </a:lnTo>
                  <a:lnTo>
                    <a:pt x="97155" y="2065020"/>
                  </a:lnTo>
                  <a:lnTo>
                    <a:pt x="153353" y="2045970"/>
                  </a:lnTo>
                  <a:lnTo>
                    <a:pt x="209550" y="2018348"/>
                  </a:lnTo>
                  <a:lnTo>
                    <a:pt x="265747" y="1977390"/>
                  </a:lnTo>
                  <a:lnTo>
                    <a:pt x="321945" y="1917382"/>
                  </a:lnTo>
                  <a:lnTo>
                    <a:pt x="372428" y="1838325"/>
                  </a:lnTo>
                  <a:lnTo>
                    <a:pt x="428625" y="1738312"/>
                  </a:lnTo>
                  <a:lnTo>
                    <a:pt x="485775" y="1609725"/>
                  </a:lnTo>
                  <a:lnTo>
                    <a:pt x="541972" y="1452562"/>
                  </a:lnTo>
                  <a:lnTo>
                    <a:pt x="598170" y="1269682"/>
                  </a:lnTo>
                  <a:lnTo>
                    <a:pt x="654367" y="1068705"/>
                  </a:lnTo>
                  <a:lnTo>
                    <a:pt x="710565" y="854393"/>
                  </a:lnTo>
                  <a:lnTo>
                    <a:pt x="766762" y="638175"/>
                  </a:lnTo>
                  <a:lnTo>
                    <a:pt x="822960" y="433388"/>
                  </a:lnTo>
                  <a:lnTo>
                    <a:pt x="879157" y="254317"/>
                  </a:lnTo>
                  <a:lnTo>
                    <a:pt x="929640" y="116205"/>
                  </a:lnTo>
                  <a:lnTo>
                    <a:pt x="985838" y="31432"/>
                  </a:lnTo>
                  <a:lnTo>
                    <a:pt x="1042035" y="0"/>
                  </a:lnTo>
                  <a:lnTo>
                    <a:pt x="1098232" y="34290"/>
                  </a:lnTo>
                  <a:lnTo>
                    <a:pt x="1155382" y="122873"/>
                  </a:lnTo>
                  <a:lnTo>
                    <a:pt x="1211580" y="263842"/>
                  </a:lnTo>
                  <a:lnTo>
                    <a:pt x="1267778" y="442912"/>
                  </a:lnTo>
                  <a:lnTo>
                    <a:pt x="1323975" y="650557"/>
                  </a:lnTo>
                  <a:lnTo>
                    <a:pt x="1380172" y="863918"/>
                  </a:lnTo>
                  <a:lnTo>
                    <a:pt x="1430655" y="1078230"/>
                  </a:lnTo>
                  <a:lnTo>
                    <a:pt x="1486853" y="1279207"/>
                  </a:lnTo>
                  <a:lnTo>
                    <a:pt x="1543050" y="1461135"/>
                  </a:lnTo>
                  <a:lnTo>
                    <a:pt x="1599247" y="1615440"/>
                  </a:lnTo>
                  <a:lnTo>
                    <a:pt x="1655445" y="1744028"/>
                  </a:lnTo>
                  <a:lnTo>
                    <a:pt x="1711642" y="1844993"/>
                  </a:lnTo>
                  <a:lnTo>
                    <a:pt x="1767840" y="1920240"/>
                  </a:lnTo>
                  <a:lnTo>
                    <a:pt x="1824038" y="1980248"/>
                  </a:lnTo>
                  <a:lnTo>
                    <a:pt x="1881188" y="2021205"/>
                  </a:lnTo>
                  <a:lnTo>
                    <a:pt x="1931670" y="2045970"/>
                  </a:lnTo>
                  <a:lnTo>
                    <a:pt x="1987867" y="2065020"/>
                  </a:lnTo>
                  <a:lnTo>
                    <a:pt x="2044065" y="2077402"/>
                  </a:lnTo>
                  <a:lnTo>
                    <a:pt x="2085022" y="2084070"/>
                  </a:lnTo>
                </a:path>
              </a:pathLst>
            </a:custGeom>
            <a:noFill/>
            <a:ln w="22860">
              <a:solidFill>
                <a:srgbClr val="F26B3A"/>
              </a:solidFill>
              <a:custDash>
                <a:ds d="250000" sp="166667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8219122" y="2513648"/>
              <a:ext cx="2810828" cy="1513523"/>
            </a:xfrm>
            <a:custGeom>
              <a:avLst/>
              <a:gdLst/>
              <a:ahLst/>
              <a:cxnLst/>
              <a:rect l="l" t="t" r="r" b="b"/>
              <a:pathLst>
                <a:path w="2810828" h="1513523">
                  <a:moveTo>
                    <a:pt x="0" y="1511618"/>
                  </a:moveTo>
                  <a:lnTo>
                    <a:pt x="40958" y="1509712"/>
                  </a:lnTo>
                  <a:lnTo>
                    <a:pt x="97155" y="1503045"/>
                  </a:lnTo>
                  <a:lnTo>
                    <a:pt x="153353" y="1490662"/>
                  </a:lnTo>
                  <a:lnTo>
                    <a:pt x="209550" y="1478280"/>
                  </a:lnTo>
                  <a:lnTo>
                    <a:pt x="265747" y="1462088"/>
                  </a:lnTo>
                  <a:lnTo>
                    <a:pt x="321945" y="1437323"/>
                  </a:lnTo>
                  <a:lnTo>
                    <a:pt x="378143" y="1408748"/>
                  </a:lnTo>
                  <a:lnTo>
                    <a:pt x="435293" y="1374458"/>
                  </a:lnTo>
                  <a:lnTo>
                    <a:pt x="485775" y="1326832"/>
                  </a:lnTo>
                  <a:lnTo>
                    <a:pt x="541972" y="1273493"/>
                  </a:lnTo>
                  <a:lnTo>
                    <a:pt x="598170" y="1210628"/>
                  </a:lnTo>
                  <a:lnTo>
                    <a:pt x="654368" y="1135380"/>
                  </a:lnTo>
                  <a:lnTo>
                    <a:pt x="710565" y="1050608"/>
                  </a:lnTo>
                  <a:lnTo>
                    <a:pt x="766762" y="956310"/>
                  </a:lnTo>
                  <a:lnTo>
                    <a:pt x="822960" y="855345"/>
                  </a:lnTo>
                  <a:lnTo>
                    <a:pt x="879158" y="745808"/>
                  </a:lnTo>
                  <a:lnTo>
                    <a:pt x="935355" y="632460"/>
                  </a:lnTo>
                  <a:lnTo>
                    <a:pt x="985838" y="519112"/>
                  </a:lnTo>
                  <a:lnTo>
                    <a:pt x="1042988" y="405765"/>
                  </a:lnTo>
                  <a:lnTo>
                    <a:pt x="1099185" y="301943"/>
                  </a:lnTo>
                  <a:lnTo>
                    <a:pt x="1155383" y="207645"/>
                  </a:lnTo>
                  <a:lnTo>
                    <a:pt x="1211580" y="125730"/>
                  </a:lnTo>
                  <a:lnTo>
                    <a:pt x="1267778" y="63818"/>
                  </a:lnTo>
                  <a:lnTo>
                    <a:pt x="1323975" y="19050"/>
                  </a:lnTo>
                  <a:lnTo>
                    <a:pt x="1380172" y="0"/>
                  </a:lnTo>
                  <a:lnTo>
                    <a:pt x="1436370" y="3810"/>
                  </a:lnTo>
                  <a:lnTo>
                    <a:pt x="1486853" y="28575"/>
                  </a:lnTo>
                  <a:lnTo>
                    <a:pt x="1543050" y="76200"/>
                  </a:lnTo>
                  <a:lnTo>
                    <a:pt x="1599247" y="144780"/>
                  </a:lnTo>
                  <a:lnTo>
                    <a:pt x="1655445" y="226695"/>
                  </a:lnTo>
                  <a:lnTo>
                    <a:pt x="1711642" y="323850"/>
                  </a:lnTo>
                  <a:lnTo>
                    <a:pt x="1768792" y="431483"/>
                  </a:lnTo>
                  <a:lnTo>
                    <a:pt x="1824990" y="543878"/>
                  </a:lnTo>
                  <a:lnTo>
                    <a:pt x="1881188" y="660083"/>
                  </a:lnTo>
                  <a:lnTo>
                    <a:pt x="1937385" y="770573"/>
                  </a:lnTo>
                  <a:lnTo>
                    <a:pt x="1987867" y="881062"/>
                  </a:lnTo>
                  <a:lnTo>
                    <a:pt x="2044065" y="981075"/>
                  </a:lnTo>
                  <a:lnTo>
                    <a:pt x="2100263" y="1072515"/>
                  </a:lnTo>
                  <a:lnTo>
                    <a:pt x="2156460" y="1154430"/>
                  </a:lnTo>
                  <a:lnTo>
                    <a:pt x="2212658" y="1225868"/>
                  </a:lnTo>
                  <a:lnTo>
                    <a:pt x="2268855" y="1288732"/>
                  </a:lnTo>
                  <a:lnTo>
                    <a:pt x="2325052" y="1339215"/>
                  </a:lnTo>
                  <a:lnTo>
                    <a:pt x="2381250" y="1383030"/>
                  </a:lnTo>
                  <a:lnTo>
                    <a:pt x="2438400" y="1418273"/>
                  </a:lnTo>
                  <a:lnTo>
                    <a:pt x="2494598" y="1443038"/>
                  </a:lnTo>
                  <a:lnTo>
                    <a:pt x="2545080" y="1464945"/>
                  </a:lnTo>
                  <a:lnTo>
                    <a:pt x="2601278" y="1481138"/>
                  </a:lnTo>
                  <a:lnTo>
                    <a:pt x="2657475" y="1493520"/>
                  </a:lnTo>
                  <a:lnTo>
                    <a:pt x="2713672" y="1503045"/>
                  </a:lnTo>
                  <a:lnTo>
                    <a:pt x="2769870" y="1509712"/>
                  </a:lnTo>
                  <a:lnTo>
                    <a:pt x="2810828" y="1513523"/>
                  </a:lnTo>
                </a:path>
              </a:pathLst>
            </a:custGeom>
            <a:noFill/>
            <a:ln w="22860">
              <a:solidFill>
                <a:srgbClr val="14A38B"/>
              </a:solidFill>
              <a:custDash>
                <a:ds d="250000" sp="166667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6384608" y="1942148"/>
              <a:ext cx="5090160" cy="2096452"/>
            </a:xfrm>
            <a:custGeom>
              <a:avLst/>
              <a:gdLst/>
              <a:ahLst/>
              <a:cxnLst/>
              <a:rect l="l" t="t" r="r" b="b"/>
              <a:pathLst>
                <a:path w="5090160" h="2096452">
                  <a:moveTo>
                    <a:pt x="0" y="2096452"/>
                  </a:moveTo>
                  <a:lnTo>
                    <a:pt x="40958" y="2096452"/>
                  </a:lnTo>
                  <a:lnTo>
                    <a:pt x="97155" y="2096452"/>
                  </a:lnTo>
                  <a:lnTo>
                    <a:pt x="153353" y="2096452"/>
                  </a:lnTo>
                  <a:lnTo>
                    <a:pt x="210503" y="2093595"/>
                  </a:lnTo>
                  <a:lnTo>
                    <a:pt x="260985" y="2093595"/>
                  </a:lnTo>
                  <a:lnTo>
                    <a:pt x="317183" y="2089785"/>
                  </a:lnTo>
                  <a:lnTo>
                    <a:pt x="373380" y="2086928"/>
                  </a:lnTo>
                  <a:lnTo>
                    <a:pt x="429578" y="2077402"/>
                  </a:lnTo>
                  <a:lnTo>
                    <a:pt x="485775" y="2065020"/>
                  </a:lnTo>
                  <a:lnTo>
                    <a:pt x="541973" y="2045970"/>
                  </a:lnTo>
                  <a:lnTo>
                    <a:pt x="598170" y="2018348"/>
                  </a:lnTo>
                  <a:lnTo>
                    <a:pt x="654368" y="1977390"/>
                  </a:lnTo>
                  <a:lnTo>
                    <a:pt x="710565" y="1917382"/>
                  </a:lnTo>
                  <a:lnTo>
                    <a:pt x="761048" y="1838325"/>
                  </a:lnTo>
                  <a:lnTo>
                    <a:pt x="817245" y="1738312"/>
                  </a:lnTo>
                  <a:lnTo>
                    <a:pt x="874395" y="1609725"/>
                  </a:lnTo>
                  <a:lnTo>
                    <a:pt x="930593" y="1452562"/>
                  </a:lnTo>
                  <a:lnTo>
                    <a:pt x="986790" y="1269682"/>
                  </a:lnTo>
                  <a:lnTo>
                    <a:pt x="1042988" y="1068705"/>
                  </a:lnTo>
                  <a:lnTo>
                    <a:pt x="1099185" y="854393"/>
                  </a:lnTo>
                  <a:lnTo>
                    <a:pt x="1155383" y="638175"/>
                  </a:lnTo>
                  <a:lnTo>
                    <a:pt x="1211580" y="433388"/>
                  </a:lnTo>
                  <a:lnTo>
                    <a:pt x="1267778" y="254317"/>
                  </a:lnTo>
                  <a:lnTo>
                    <a:pt x="1318260" y="116205"/>
                  </a:lnTo>
                  <a:lnTo>
                    <a:pt x="1374458" y="31432"/>
                  </a:lnTo>
                  <a:lnTo>
                    <a:pt x="1430655" y="0"/>
                  </a:lnTo>
                  <a:lnTo>
                    <a:pt x="1486853" y="31432"/>
                  </a:lnTo>
                  <a:lnTo>
                    <a:pt x="1544003" y="122873"/>
                  </a:lnTo>
                  <a:lnTo>
                    <a:pt x="1600200" y="260985"/>
                  </a:lnTo>
                  <a:lnTo>
                    <a:pt x="1656398" y="440055"/>
                  </a:lnTo>
                  <a:lnTo>
                    <a:pt x="1712595" y="643890"/>
                  </a:lnTo>
                  <a:lnTo>
                    <a:pt x="1768793" y="858202"/>
                  </a:lnTo>
                  <a:lnTo>
                    <a:pt x="1819275" y="1068705"/>
                  </a:lnTo>
                  <a:lnTo>
                    <a:pt x="1875473" y="1263968"/>
                  </a:lnTo>
                  <a:lnTo>
                    <a:pt x="1931670" y="1436370"/>
                  </a:lnTo>
                  <a:lnTo>
                    <a:pt x="1987868" y="1581150"/>
                  </a:lnTo>
                  <a:lnTo>
                    <a:pt x="2044065" y="1697355"/>
                  </a:lnTo>
                  <a:lnTo>
                    <a:pt x="2100262" y="1779270"/>
                  </a:lnTo>
                  <a:lnTo>
                    <a:pt x="2156460" y="1835468"/>
                  </a:lnTo>
                  <a:lnTo>
                    <a:pt x="2212658" y="1864043"/>
                  </a:lnTo>
                  <a:lnTo>
                    <a:pt x="2269808" y="1866900"/>
                  </a:lnTo>
                  <a:lnTo>
                    <a:pt x="2320290" y="1851660"/>
                  </a:lnTo>
                  <a:lnTo>
                    <a:pt x="2376488" y="1816418"/>
                  </a:lnTo>
                  <a:lnTo>
                    <a:pt x="2432685" y="1763078"/>
                  </a:lnTo>
                  <a:lnTo>
                    <a:pt x="2488883" y="1697355"/>
                  </a:lnTo>
                  <a:lnTo>
                    <a:pt x="2545080" y="1615440"/>
                  </a:lnTo>
                  <a:lnTo>
                    <a:pt x="2601278" y="1524000"/>
                  </a:lnTo>
                  <a:lnTo>
                    <a:pt x="2657475" y="1423987"/>
                  </a:lnTo>
                  <a:lnTo>
                    <a:pt x="2713673" y="1317307"/>
                  </a:lnTo>
                  <a:lnTo>
                    <a:pt x="2769870" y="1203960"/>
                  </a:lnTo>
                  <a:lnTo>
                    <a:pt x="2820352" y="1090612"/>
                  </a:lnTo>
                  <a:lnTo>
                    <a:pt x="2877502" y="977265"/>
                  </a:lnTo>
                  <a:lnTo>
                    <a:pt x="2933700" y="873443"/>
                  </a:lnTo>
                  <a:lnTo>
                    <a:pt x="2989898" y="779145"/>
                  </a:lnTo>
                  <a:lnTo>
                    <a:pt x="3046095" y="697230"/>
                  </a:lnTo>
                  <a:lnTo>
                    <a:pt x="3102293" y="635318"/>
                  </a:lnTo>
                  <a:lnTo>
                    <a:pt x="3158490" y="590550"/>
                  </a:lnTo>
                  <a:lnTo>
                    <a:pt x="3214688" y="571500"/>
                  </a:lnTo>
                  <a:lnTo>
                    <a:pt x="3270885" y="575310"/>
                  </a:lnTo>
                  <a:lnTo>
                    <a:pt x="3321368" y="600075"/>
                  </a:lnTo>
                  <a:lnTo>
                    <a:pt x="3377565" y="647700"/>
                  </a:lnTo>
                  <a:lnTo>
                    <a:pt x="3433762" y="716280"/>
                  </a:lnTo>
                  <a:lnTo>
                    <a:pt x="3489960" y="798195"/>
                  </a:lnTo>
                  <a:lnTo>
                    <a:pt x="3546157" y="895350"/>
                  </a:lnTo>
                  <a:lnTo>
                    <a:pt x="3603307" y="1002982"/>
                  </a:lnTo>
                  <a:lnTo>
                    <a:pt x="3659505" y="1115378"/>
                  </a:lnTo>
                  <a:lnTo>
                    <a:pt x="3715703" y="1231582"/>
                  </a:lnTo>
                  <a:lnTo>
                    <a:pt x="3771900" y="1342072"/>
                  </a:lnTo>
                  <a:lnTo>
                    <a:pt x="3822382" y="1452562"/>
                  </a:lnTo>
                  <a:lnTo>
                    <a:pt x="3878580" y="1552575"/>
                  </a:lnTo>
                  <a:lnTo>
                    <a:pt x="3934778" y="1644015"/>
                  </a:lnTo>
                  <a:lnTo>
                    <a:pt x="3990975" y="1725930"/>
                  </a:lnTo>
                  <a:lnTo>
                    <a:pt x="4047173" y="1797368"/>
                  </a:lnTo>
                  <a:lnTo>
                    <a:pt x="4103370" y="1860232"/>
                  </a:lnTo>
                  <a:lnTo>
                    <a:pt x="4159568" y="1910715"/>
                  </a:lnTo>
                  <a:lnTo>
                    <a:pt x="4215765" y="1954530"/>
                  </a:lnTo>
                  <a:lnTo>
                    <a:pt x="4272915" y="1989772"/>
                  </a:lnTo>
                  <a:lnTo>
                    <a:pt x="4329112" y="2014537"/>
                  </a:lnTo>
                  <a:lnTo>
                    <a:pt x="4379595" y="2036445"/>
                  </a:lnTo>
                  <a:lnTo>
                    <a:pt x="4435792" y="2052637"/>
                  </a:lnTo>
                  <a:lnTo>
                    <a:pt x="4491990" y="2065020"/>
                  </a:lnTo>
                  <a:lnTo>
                    <a:pt x="4548188" y="2074545"/>
                  </a:lnTo>
                  <a:lnTo>
                    <a:pt x="4604385" y="2081212"/>
                  </a:lnTo>
                  <a:lnTo>
                    <a:pt x="4660582" y="2086928"/>
                  </a:lnTo>
                  <a:lnTo>
                    <a:pt x="4716780" y="2089785"/>
                  </a:lnTo>
                  <a:lnTo>
                    <a:pt x="4772978" y="2093595"/>
                  </a:lnTo>
                  <a:lnTo>
                    <a:pt x="4829175" y="2093595"/>
                  </a:lnTo>
                  <a:lnTo>
                    <a:pt x="4879658" y="2093595"/>
                  </a:lnTo>
                  <a:lnTo>
                    <a:pt x="4936808" y="2096452"/>
                  </a:lnTo>
                  <a:lnTo>
                    <a:pt x="4993005" y="2096452"/>
                  </a:lnTo>
                  <a:lnTo>
                    <a:pt x="5049203" y="2096452"/>
                  </a:lnTo>
                  <a:lnTo>
                    <a:pt x="5090160" y="2096452"/>
                  </a:lnTo>
                </a:path>
              </a:pathLst>
            </a:custGeom>
            <a:noFill/>
            <a:ln w="30480">
              <a:solidFill>
                <a:srgbClr val="2E7D4F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195060" y="40328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596688" y="40328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363652" y="40328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484292" y="40328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752272" y="402336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867775" y="402336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198167" y="402050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039475" y="402336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314248" y="398145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645718" y="398145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7871460" y="398145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202930" y="398145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84932" y="398145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429750" y="398145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648825" y="398145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206038" y="398145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00392" y="437340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14817" y="437340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28289" y="437340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42714" y="437340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50472" y="437340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54174" y="3556159"/>
              <a:ext cx="5969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身高 / cm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06584" y="2205990"/>
              <a:ext cx="708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α₁φ(y|θ₁)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60686" y="2900362"/>
              <a:ext cx="708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α₂φ(y|θ₂)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64641" y="1632109"/>
              <a:ext cx="1154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混合密度 P(y|θ)</a:t>
              </a:r>
            </a:p>
          </p:txBody>
        </p:sp>
      </p:grpSp>
      <p:grpSp>
        <p:nvGrpSpPr>
          <p:cNvPr id="59" name="c2-text-2"/>
          <p:cNvGrpSpPr/>
          <p:nvPr/>
        </p:nvGrpSpPr>
        <p:grpSpPr>
          <a:xfrm>
            <a:off x="6343142" y="4879181"/>
            <a:ext cx="5003546" cy="500824"/>
            <a:chOff x="6343142" y="4879181"/>
            <a:chExt cx="5003546" cy="500824"/>
          </a:xfrm>
        </p:grpSpPr>
        <p:sp>
          <p:nvSpPr>
            <p:cNvPr id="58" name="TextBox 58"/>
            <p:cNvSpPr txBox="1"/>
            <p:nvPr/>
          </p:nvSpPr>
          <p:spPr>
            <a:xfrm>
              <a:off x="6343142" y="4879181"/>
              <a:ext cx="500354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49 页例子的拟合结果：两个分模型（虚线）相加得到混合密度（实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线），圆点是 8 个观测值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2602" cy="909257"/>
            <a:chOff x="520446" y="342900"/>
            <a:chExt cx="79926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64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45" y="407194"/>
              <a:ext cx="331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算法的应用：高斯混合模型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26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步：明确隐变量，写出完全数据的对数似然函数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544378" cy="2607945"/>
            <a:chOff x="533400" y="1524000"/>
            <a:chExt cx="4544378" cy="2607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隐变量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930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假设观测数据 y₁, y₂, …, y_N 由高斯混合模型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生成，参数 θ = (α₁, …, α_K; θ₁, …, θ_K)。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3930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设想观测数据 yⱼ 是依概率 αₖ 选择第 k 个高斯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分模型 φ(y|θₖ) 生成的，定义隐变量：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352800"/>
              <a:ext cx="3528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γⱼₖ = 1：第 j 个观测来自第 k 个分模型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7509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688080"/>
              <a:ext cx="1297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γⱼₖ = 0：否则</a:t>
              </a:r>
            </a:p>
          </p:txBody>
        </p:sp>
      </p:grpSp>
      <p:grpSp>
        <p:nvGrpSpPr>
          <p:cNvPr id="23" name="c1-kv-2"/>
          <p:cNvGrpSpPr/>
          <p:nvPr/>
        </p:nvGrpSpPr>
        <p:grpSpPr>
          <a:xfrm>
            <a:off x="525780" y="4347210"/>
            <a:ext cx="4551998" cy="1297305"/>
            <a:chOff x="525780" y="4347210"/>
            <a:chExt cx="4551998" cy="1297305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43472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完全数据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6862" y="4347210"/>
              <a:ext cx="28060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(yⱼ, γⱼ₁, γⱼ₂, …, γⱼK)，j = 1,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…, 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949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506920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nₖ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66862" y="5069205"/>
              <a:ext cx="31013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Σⱼ γⱼₖ，来自第 k 个分模型的观测个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数，Σₖ nₖ = N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5382578" y="1524000"/>
            <a:ext cx="6276022" cy="1822132"/>
            <a:chOff x="5382578" y="1524000"/>
            <a:chExt cx="6276022" cy="1822132"/>
          </a:xfrm>
        </p:grpSpPr>
        <p:sp>
          <p:nvSpPr>
            <p:cNvPr id="24" name="Rectangle 24"/>
            <p:cNvSpPr/>
            <p:nvPr/>
          </p:nvSpPr>
          <p:spPr>
            <a:xfrm>
              <a:off x="5382578" y="1524000"/>
              <a:ext cx="6276022" cy="1822132"/>
            </a:xfrm>
            <a:prstGeom prst="roundRect">
              <a:avLst>
                <a:gd name="adj" fmla="val 731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9212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7443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似然函数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269"/>
                <p:cNvSpPr txBox="1">
                  <a:spLocks noGrp="1"/>
                </p:cNvSpPr>
                <p:nvPr/>
              </p:nvSpPr>
              <p:spPr>
                <a:xfrm>
                  <a:off x="5592128" y="2085975"/>
                  <a:ext cx="5856922" cy="10315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γ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∏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,…,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jK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∏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nary>
                                  <m:naryPr>
                                    <m:chr m:val="∏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e>
                                        <m:d>
                                          <m:dPr>
                                            <m:begChr m:val="["/>
                                            <m:sepChr m:val=""/>
                                            <m:endChr m:val="]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a:rPr lang="zh-CN" sz="14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α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4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ϕ</m:t>
                                            </m:r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4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e>
                                                    <m: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y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j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4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∣</m:t>
                                                </m:r>
                                                <m:sSub>
                                                  <m:e>
                                                    <m: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θ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k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sSub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γ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jk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nary>
                              </m:e>
                            </m:nary>
                          </m: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∏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  <m:sup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sup>
                                </m:sSubSup>
                                <m:nary>
                                  <m:naryPr>
                                    <m:chr m:val="∏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e>
                                        <m:d>
                                          <m:dPr>
                                            <m:begChr m:val="["/>
                                            <m:sepChr m:val=""/>
                                            <m:endChr m:val="]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type m:val="bar"/>
                                                <m:ctrlPr>
                                                  <a:rPr lang="zh-CN" sz="14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zh-CN" sz="14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ad>
                                                  <m:radPr>
                                                    <m:degHide m:val="on"/>
                                                    <m:ctrlP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radPr>
                                                  <m:deg/>
                                                  <m:e>
                                                    <m: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2π</m:t>
                                                    </m:r>
                                                  </m:e>
                                                </m:rad>
                                                <m:sSub>
                                                  <m:e>
                                                    <m: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σ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k</m:t>
                                                    </m:r>
                                                  </m:sub>
                                                </m:sSub>
                                              </m:den>
                                            </m:f>
                                            <m:func>
                                              <m:funcPr/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4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exp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begChr m:val="("/>
                                                    <m:sepChr m:val=""/>
                                                    <m:endChr m:val=")"/>
                                                    <m:grow m:val="on"/>
                                                    <m:ctrlP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−</m:t>
                                                    </m:r>
                                                    <m:f>
                                                      <m:fPr>
                                                        <m:type m:val="bar"/>
                                                        <m:ctrlPr>
                                                          <a:rPr lang="zh-CN" sz="142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</m:ctrlPr>
                                                      </m:fPr>
                                                      <m:num>
                                                        <m:sSup>
                                                          <m:e>
                                                            <m:d>
                                                              <m:dPr>
                                                                <m:begChr m:val="("/>
                                                                <m:sepChr m:val=""/>
                                                                <m:endChr m:val=")"/>
                                                                <m:grow m:val="on"/>
                                                                <m:ctrlPr>
                                                                  <a:rPr lang="zh-CN" sz="1420" dirty="0">
                                                                    <a:solidFill>
                                                                      <a:srgbClr val="1F2937"/>
                                                                    </a:solidFill>
                                                                    <a:latin typeface="Cambria Math"/>
                                                                    <a:ea typeface="Cambria Math"/>
                                                                    <a:cs typeface="Cambria Math"/>
                                                                  </a:rPr>
                                                                </m:ctrlPr>
                                                              </m:dPr>
                                                              <m:e>
                                                                <m:sSub>
                                                                  <m:e>
                                                                    <m:r>
                                                                      <a:rPr lang="zh-CN" sz="1420" dirty="0">
                                                                        <a:solidFill>
                                                                          <a:srgbClr val="1F2937"/>
                                                                        </a:solidFill>
                                                                        <a:latin typeface="Cambria Math"/>
                                                                        <a:ea typeface="Cambria Math"/>
                                                                        <a:cs typeface="Cambria Math"/>
                                                                      </a:rPr>
                                                                      <m:t>y</m:t>
                                                                    </m:r>
                                                                  </m:e>
                                                                  <m:sub>
                                                                    <m:r>
                                                                      <a:rPr lang="zh-CN" sz="1420" dirty="0">
                                                                        <a:solidFill>
                                                                          <a:srgbClr val="1F2937"/>
                                                                        </a:solidFill>
                                                                        <a:latin typeface="Cambria Math"/>
                                                                        <a:ea typeface="Cambria Math"/>
                                                                        <a:cs typeface="Cambria Math"/>
                                                                      </a:rPr>
                                                                      <m:t>j</m:t>
                                                                    </m:r>
                                                                  </m:sub>
                                                                </m:sSub>
                                                                <m:r>
                                                                  <m:rPr>
                                                                    <m:sty m:val="p"/>
                                                                  </m:rPr>
                                                                  <a:rPr lang="zh-CN" sz="1420" dirty="0">
                                                                    <a:solidFill>
                                                                      <a:srgbClr val="1F2937"/>
                                                                    </a:solidFill>
                                                                    <a:latin typeface="Cambria Math"/>
                                                                    <a:ea typeface="Cambria Math"/>
                                                                    <a:cs typeface="Cambria Math"/>
                                                                  </a:rPr>
                                                                  <m:t>−</m:t>
                                                                </m:r>
                                                                <m:sSub>
                                                                  <m:e>
                                                                    <m:r>
                                                                      <a:rPr lang="zh-CN" sz="1420" dirty="0">
                                                                        <a:solidFill>
                                                                          <a:srgbClr val="1F2937"/>
                                                                        </a:solidFill>
                                                                        <a:latin typeface="Cambria Math"/>
                                                                        <a:ea typeface="Cambria Math"/>
                                                                        <a:cs typeface="Cambria Math"/>
                                                                      </a:rPr>
                                                                      <m:t>μ</m:t>
                                                                    </m:r>
                                                                  </m:e>
                                                                  <m:sub>
                                                                    <m:r>
                                                                      <a:rPr lang="zh-CN" sz="1420" dirty="0">
                                                                        <a:solidFill>
                                                                          <a:srgbClr val="1F2937"/>
                                                                        </a:solidFill>
                                                                        <a:latin typeface="Cambria Math"/>
                                                                        <a:ea typeface="Cambria Math"/>
                                                                        <a:cs typeface="Cambria Math"/>
                                                                      </a:rPr>
                                                                      <m:t>k</m:t>
                                                                    </m:r>
                                                                  </m:sub>
                                                                </m:sSub>
                                                              </m:e>
                                                            </m:d>
                                                          </m:e>
                                                          <m:sup>
                                                            <m:r>
                                                              <a:rPr lang="zh-CN" sz="1420" dirty="0">
                                                                <a:solidFill>
                                                                  <a:srgbClr val="1F2937"/>
                                                                </a:solidFill>
                                                                <a:latin typeface="Cambria Math"/>
                                                                <a:ea typeface="Cambria Math"/>
                                                                <a:cs typeface="Cambria Math"/>
                                                              </a:rPr>
                                                              <m:t>2</m:t>
                                                            </m:r>
                                                          </m:sup>
                                                        </m:sSup>
                                                      </m:num>
                                                      <m:den>
                                                        <m:r>
                                                          <a:rPr lang="zh-CN" sz="142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2</m:t>
                                                        </m:r>
                                                        <m:sSubSup>
                                                          <m:e>
                                                            <m:r>
                                                              <a:rPr lang="zh-CN" sz="1420" dirty="0">
                                                                <a:solidFill>
                                                                  <a:srgbClr val="1F2937"/>
                                                                </a:solidFill>
                                                                <a:latin typeface="Cambria Math"/>
                                                                <a:ea typeface="Cambria Math"/>
                                                                <a:cs typeface="Cambria Math"/>
                                                              </a:rPr>
                                                              <m:t>σ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zh-CN" sz="1420" dirty="0">
                                                                <a:solidFill>
                                                                  <a:srgbClr val="1F2937"/>
                                                                </a:solidFill>
                                                                <a:latin typeface="Cambria Math"/>
                                                                <a:ea typeface="Cambria Math"/>
                                                                <a:cs typeface="Cambria Math"/>
                                                              </a:rPr>
                                                              <m:t>k</m:t>
                                                            </m:r>
                                                          </m:sub>
                                                          <m:sup>
                                                            <m:r>
                                                              <a:rPr lang="zh-CN" sz="1420" dirty="0">
                                                                <a:solidFill>
                                                                  <a:srgbClr val="1F2937"/>
                                                                </a:solidFill>
                                                                <a:latin typeface="Cambria Math"/>
                                                                <a:ea typeface="Cambria Math"/>
                                                                <a:cs typeface="Cambria Math"/>
                                                              </a:rPr>
                                                              <m:t>2</m:t>
                                                            </m:r>
                                                          </m:sup>
                                                        </m:sSubSup>
                                                      </m:den>
                                                    </m:f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d>
                                      </m:e>
                                      <m:sup>
                                        <m:sSub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γ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jk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nary>
                              </m:e>
                            </m:nary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2-card-2"/>
          <p:cNvGrpSpPr/>
          <p:nvPr/>
        </p:nvGrpSpPr>
        <p:grpSpPr>
          <a:xfrm>
            <a:off x="5382578" y="3536632"/>
            <a:ext cx="6276022" cy="2048828"/>
            <a:chOff x="5382578" y="3536632"/>
            <a:chExt cx="6276022" cy="2048828"/>
          </a:xfrm>
        </p:grpSpPr>
        <p:sp>
          <p:nvSpPr>
            <p:cNvPr id="29" name="Rectangle 29"/>
            <p:cNvSpPr/>
            <p:nvPr/>
          </p:nvSpPr>
          <p:spPr>
            <a:xfrm>
              <a:off x="5382578" y="3536632"/>
              <a:ext cx="6276022" cy="2048828"/>
            </a:xfrm>
            <a:prstGeom prst="roundRect">
              <a:avLst>
                <a:gd name="adj" fmla="val 650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592128" y="3746182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44883" y="378190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完全数据的对数似然函数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270"/>
                <p:cNvSpPr txBox="1">
                  <a:spLocks noGrp="1"/>
                </p:cNvSpPr>
                <p:nvPr/>
              </p:nvSpPr>
              <p:spPr>
                <a:xfrm>
                  <a:off x="5592128" y="4098608"/>
                  <a:ext cx="5856922" cy="1085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nary>
                          </m:e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jk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/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f>
                                              <m:fPr>
                                                <m:type m:val="bar"/>
                                                <m:ctrlPr>
                                                  <a:rPr lang="zh-CN" sz="150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ad>
                                                  <m:radPr>
                                                    <m:degHide m:val="on"/>
                                                    <m:ctrlPr>
                                                      <a:rPr lang="zh-CN" sz="1500" dirty="0">
                                                        <a:solidFill>
                                                          <a:srgbClr val="FFFFFF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radPr>
                                                  <m:deg/>
                                                  <m:e>
                                                    <m:r>
                                                      <a:rPr lang="zh-CN" sz="1500" dirty="0">
                                                        <a:solidFill>
                                                          <a:srgbClr val="FFFFFF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2π</m:t>
                                                    </m:r>
                                                  </m:e>
                                                </m:rad>
                                              </m:den>
                                            </m:f>
                                          </m:e>
                                        </m:func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func>
                                          <m:funcPr/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sSub>
                                              <m:e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type m:val="bar"/>
                                            <m:ctrlPr>
                                              <a:rPr lang="zh-CN" sz="15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e>
                                                <m:d>
                                                  <m:dPr>
                                                    <m:begChr m:val="("/>
                                                    <m:sepChr m:val=""/>
                                                    <m:endChr m:val=")"/>
                                                    <m:grow m:val="on"/>
                                                    <m:ctrlPr>
                                                      <a:rPr lang="zh-CN" sz="1500" dirty="0">
                                                        <a:solidFill>
                                                          <a:srgbClr val="FFFFFF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e>
                                                        <m:r>
                                                          <a:rPr lang="zh-CN" sz="1500" dirty="0">
                                                            <a:solidFill>
                                                              <a:srgbClr val="FFFFFF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y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zh-CN" sz="1500" dirty="0">
                                                            <a:solidFill>
                                                              <a:srgbClr val="FFFFFF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j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zh-CN" sz="1500" dirty="0">
                                                        <a:solidFill>
                                                          <a:srgbClr val="FFFFFF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e>
                                                        <m:r>
                                                          <a:rPr lang="zh-CN" sz="1500" dirty="0">
                                                            <a:solidFill>
                                                              <a:srgbClr val="FFFFFF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μ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zh-CN" sz="1500" dirty="0">
                                                            <a:solidFill>
                                                              <a:srgbClr val="FFFFFF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k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zh-CN" sz="15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  <m:sSubSup>
                                              <m:e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den>
                                        </m:f>
                                      </m:e>
                                    </m:d>
                                  </m:e>
                                </m:nary>
                              </m:e>
                            </m:nary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94781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更正：原课件写作 Σₖ nₖ log αₖ + Σⱼ γⱼₖ[…]，第二项漏了对 k 的求和；两项都应放在 Σₖ 里面，如上式。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98473" cy="909257"/>
            <a:chOff x="520446" y="342900"/>
            <a:chExt cx="61984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64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45" y="407194"/>
              <a:ext cx="331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算法的应用：高斯混合模型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984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 E 步：算出响应度，确定 Q 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135505"/>
            <a:chOff x="533400" y="1524000"/>
            <a:chExt cx="5410200" cy="21355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35505"/>
            </a:xfrm>
            <a:prstGeom prst="roundRect">
              <a:avLst>
                <a:gd name="adj" fmla="val 624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08660" y="1699260"/>
              <a:ext cx="563880" cy="2286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4111" y="1730693"/>
              <a:ext cx="3929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 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285"/>
                <p:cNvSpPr txBox="1">
                  <a:spLocks noGrp="1"/>
                </p:cNvSpPr>
                <p:nvPr/>
              </p:nvSpPr>
              <p:spPr>
                <a:xfrm>
                  <a:off x="708660" y="2005965"/>
                  <a:ext cx="5059680" cy="9639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γ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jk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func>
                                      <m:funcPr/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α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</m:nary>
                              </m:e>
                            </m:nary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γ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jk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/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f>
                                              <m:fPr>
                                                <m:type m:val="bar"/>
                                                <m:ctrlP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ad>
                                                  <m:radPr>
                                                    <m:degHide m:val="on"/>
                                                    <m:ctrlPr>
                                                      <a:rPr lang="zh-CN" sz="11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radPr>
                                                  <m:deg/>
                                                  <m:e>
                                                    <m:r>
                                                      <a:rPr lang="zh-CN" sz="11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2π</m:t>
                                                    </m:r>
                                                  </m:e>
                                                </m:rad>
                                              </m:den>
                                            </m:f>
                                          </m:e>
                                        </m:func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func>
                                          <m:funcPr/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sSub>
                                              <m:e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type m:val="bar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e>
                                                <m:d>
                                                  <m:dPr>
                                                    <m:begChr m:val="("/>
                                                    <m:sepChr m:val=""/>
                                                    <m:endChr m:val=")"/>
                                                    <m:grow m:val="on"/>
                                                    <m:ctrlPr>
                                                      <a:rPr lang="zh-CN" sz="11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e>
                                                        <m:r>
                                                          <a:rPr lang="zh-CN" sz="112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y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zh-CN" sz="112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j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zh-CN" sz="11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e>
                                                        <m:r>
                                                          <a:rPr lang="zh-CN" sz="112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μ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zh-CN" sz="112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k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  <m:sSubSup>
                                              <m:e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den>
                                        </m:f>
                                      </m:e>
                                    </m:d>
                                  </m:e>
                                </m:nary>
                              </m:e>
                            </m:nary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02564" y="3068002"/>
              <a:ext cx="4812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对数似然关于 γⱼₖ 是线性的，求期望只需把 γⱼₖ 换成它的期望。于是需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要计算 E(γⱼₖ|y, θ)。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3819525"/>
            <a:ext cx="5410200" cy="676275"/>
            <a:chOff x="533400" y="3819525"/>
            <a:chExt cx="5410200" cy="676275"/>
          </a:xfrm>
        </p:grpSpPr>
        <p:sp>
          <p:nvSpPr>
            <p:cNvPr id="13" name="Rectangle 13"/>
            <p:cNvSpPr/>
            <p:nvPr/>
          </p:nvSpPr>
          <p:spPr>
            <a:xfrm>
              <a:off x="533400" y="3819525"/>
              <a:ext cx="5410200" cy="676275"/>
            </a:xfrm>
            <a:prstGeom prst="roundRect">
              <a:avLst>
                <a:gd name="adj" fmla="val 1690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4057652"/>
              <a:ext cx="200023" cy="200023"/>
              <a:chOff x="738188" y="4057652"/>
              <a:chExt cx="200023" cy="20002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0576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4124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1654" y="3963352"/>
              <a:ext cx="44622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j 个观测数据来自第 k 个分模型的概率，称为分模型 k 对观测数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据 yⱼ 的</a:t>
              </a:r>
              <a:r>
                <a:rPr lang="zh-CN" sz="12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响应度</a:t>
              </a: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654868"/>
            <a:ext cx="5410200" cy="1550670"/>
            <a:chOff x="533400" y="4654868"/>
            <a:chExt cx="5410200" cy="1550670"/>
          </a:xfrm>
        </p:grpSpPr>
        <p:sp>
          <p:nvSpPr>
            <p:cNvPr id="19" name="Rectangle 19"/>
            <p:cNvSpPr/>
            <p:nvPr/>
          </p:nvSpPr>
          <p:spPr>
            <a:xfrm>
              <a:off x="533400" y="4654868"/>
              <a:ext cx="5410200" cy="1550670"/>
            </a:xfrm>
            <a:prstGeom prst="roundRect">
              <a:avLst>
                <a:gd name="adj" fmla="val 86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788218"/>
              <a:ext cx="47625" cy="12839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46760" y="4830128"/>
              <a:ext cx="1238250" cy="22860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5912" y="486156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为什么期望这么好算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0664" y="5156835"/>
              <a:ext cx="482803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γⱼₖ 只取 0 或 1，所以 E(γⱼₖ|y, θ) = P(γⱼₖ = 1|y, θ)，求期望就是求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这个后验概率。完全数据的对数似然对 γⱼₖ 又是线性的，代入后 Q 的形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式与完全数据的对数似然完全一样，只是把 0-1 标签换成了 0 到 1 之间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的权重。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2252662"/>
            <a:chOff x="6248400" y="1524000"/>
            <a:chExt cx="5410200" cy="225266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2252662"/>
            </a:xfrm>
            <a:prstGeom prst="roundRect">
              <a:avLst>
                <a:gd name="adj" fmla="val 592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3660" y="1699260"/>
              <a:ext cx="1695450" cy="2286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79096" y="1730693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响应度的计算（贝叶斯公式）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86"/>
                <p:cNvSpPr txBox="1">
                  <a:spLocks noGrp="1"/>
                </p:cNvSpPr>
                <p:nvPr/>
              </p:nvSpPr>
              <p:spPr>
                <a:xfrm>
                  <a:off x="6423660" y="2005965"/>
                  <a:ext cx="5059680" cy="13354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jk</m:t>
                                </m:r>
                              </m:sub>
                            </m:s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jk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jk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jk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γ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jk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=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e>
                                </m:nary>
                              </m:den>
                            </m:f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jk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jk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γ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jk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=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γ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jk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=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e>
                                </m:nary>
                              </m:den>
                            </m:f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ϕ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418326" y="3437573"/>
              <a:ext cx="46349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这里的 θ 取当前估计值 θ⁽ⁱ⁾。一个观测对 K 个分模型的响应度之和为 1。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248400" y="3935730"/>
            <a:ext cx="5410200" cy="897255"/>
            <a:chOff x="6248400" y="3935730"/>
            <a:chExt cx="5410200" cy="897255"/>
          </a:xfrm>
        </p:grpSpPr>
        <p:sp>
          <p:nvSpPr>
            <p:cNvPr id="31" name="Rectangle 31"/>
            <p:cNvSpPr/>
            <p:nvPr/>
          </p:nvSpPr>
          <p:spPr>
            <a:xfrm>
              <a:off x="6248400" y="3935730"/>
              <a:ext cx="5410200" cy="897255"/>
            </a:xfrm>
            <a:prstGeom prst="roundRect">
              <a:avLst>
                <a:gd name="adj" fmla="val 1273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53188" y="4284345"/>
              <a:ext cx="200026" cy="200025"/>
              <a:chOff x="6453188" y="4284345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453188" y="42843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92926" y="43287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27642" y="44399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756654" y="4079557"/>
              <a:ext cx="446989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响应度是 0 到 1 之间的“软标签”：它越接近 1，说明在当前参数下</a:t>
              </a:r>
              <a:br/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yⱼ 越可能来自第 k 个分模型。K-means 用的则是非 0 即 1 的硬标</a:t>
              </a:r>
              <a:br/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签。</a:t>
              </a:r>
            </a:p>
          </p:txBody>
        </p:sp>
      </p:grpSp>
      <p:grpSp>
        <p:nvGrpSpPr>
          <p:cNvPr id="44" name="c2-callout-3"/>
          <p:cNvGrpSpPr/>
          <p:nvPr/>
        </p:nvGrpSpPr>
        <p:grpSpPr>
          <a:xfrm>
            <a:off x="6248400" y="4993005"/>
            <a:ext cx="5410200" cy="1212532"/>
            <a:chOff x="6248400" y="4993005"/>
            <a:chExt cx="5410200" cy="1212532"/>
          </a:xfrm>
        </p:grpSpPr>
        <p:sp>
          <p:nvSpPr>
            <p:cNvPr id="38" name="Rectangle 38"/>
            <p:cNvSpPr/>
            <p:nvPr/>
          </p:nvSpPr>
          <p:spPr>
            <a:xfrm>
              <a:off x="6248400" y="4993005"/>
              <a:ext cx="5410200" cy="1212532"/>
            </a:xfrm>
            <a:prstGeom prst="roundRect">
              <a:avLst>
                <a:gd name="adj" fmla="val 942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41129" y="5495091"/>
              <a:ext cx="224134" cy="192560"/>
              <a:chOff x="6441129" y="5495091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53200" y="55654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41129" y="54950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53200" y="56432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56654" y="5293995"/>
              <a:ext cx="450037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编程时注意下溢：数据点离所有分模型都很远时，分子分母都接近</a:t>
              </a:r>
              <a:br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0。稳妥的做法是先算 log(αₖ) + log φ(yⱼ|θₖ)，减去其中的最大值</a:t>
              </a:r>
              <a:br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再取指数。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47766" cy="909257"/>
            <a:chOff x="520446" y="342900"/>
            <a:chExt cx="76477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64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45" y="407194"/>
              <a:ext cx="331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算法的应用：高斯混合模型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477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 M 步：对 Q 函数求导，得到三个更新公式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2832735"/>
            <a:chOff x="533400" y="1524000"/>
            <a:chExt cx="5626418" cy="28327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832735"/>
            </a:xfrm>
            <a:prstGeom prst="roundRect">
              <a:avLst>
                <a:gd name="adj" fmla="val 47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69164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660" y="1769269"/>
              <a:ext cx="1594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代入响应度后的 Q 函数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094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将响应度（即 Eγⱼₖ）及 nₖ = Σⱼ Eγⱼₖ 代入：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90"/>
                <p:cNvSpPr txBox="1">
                  <a:spLocks noGrp="1"/>
                </p:cNvSpPr>
                <p:nvPr/>
              </p:nvSpPr>
              <p:spPr>
                <a:xfrm>
                  <a:off x="742950" y="2421255"/>
                  <a:ext cx="5207318" cy="1085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nary>
                          </m: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γ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jk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/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f>
                                              <m:fPr>
                                                <m:type m:val="bar"/>
                                                <m:ctrlP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ad>
                                                  <m:radPr>
                                                    <m:degHide m:val="on"/>
                                                    <m:ctrlPr>
                                                      <a:rPr lang="zh-CN" sz="150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radPr>
                                                  <m:deg/>
                                                  <m:e>
                                                    <m:r>
                                                      <a:rPr lang="zh-CN" sz="150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2π</m:t>
                                                    </m:r>
                                                  </m:e>
                                                </m:rad>
                                              </m:den>
                                            </m:f>
                                          </m:e>
                                        </m:func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func>
                                          <m:funcPr/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sSub>
                                              <m:e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type m:val="bar"/>
                                            <m:ctrl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e>
                                                <m:d>
                                                  <m:dPr>
                                                    <m:begChr m:val="("/>
                                                    <m:sepChr m:val=""/>
                                                    <m:endChr m:val=")"/>
                                                    <m:grow m:val="on"/>
                                                    <m:ctrlPr>
                                                      <a:rPr lang="zh-CN" sz="150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e>
                                                        <m:r>
                                                          <a:rPr lang="zh-CN" sz="150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y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zh-CN" sz="150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j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zh-CN" sz="150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e>
                                                        <m:r>
                                                          <a:rPr lang="zh-CN" sz="150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μ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zh-CN" sz="1500" dirty="0">
                                                            <a:solidFill>
                                                              <a:srgbClr val="1F2937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k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  <m:sSubSup>
                                              <m:e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den>
                                        </m:f>
                                      </m:e>
                                    </m:d>
                                  </m:e>
                                </m:nary>
                              </m:e>
                            </m:nary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35330" y="3627120"/>
              <a:ext cx="4872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步求 θ⁽ⁱ⁺¹⁾ = arg max Q(θ, θ⁽ⁱ⁾)，用 μₖ、σₖ²、αₖ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（k = 1, …, K）的新估计值表示 θ⁽ⁱ⁺¹⁾。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547235"/>
            <a:ext cx="5626418" cy="1717358"/>
            <a:chOff x="533400" y="4547235"/>
            <a:chExt cx="5626418" cy="1717358"/>
          </a:xfrm>
        </p:grpSpPr>
        <p:sp>
          <p:nvSpPr>
            <p:cNvPr id="14" name="Rectangle 14"/>
            <p:cNvSpPr/>
            <p:nvPr/>
          </p:nvSpPr>
          <p:spPr>
            <a:xfrm>
              <a:off x="533400" y="4547235"/>
              <a:ext cx="5626418" cy="1717358"/>
            </a:xfrm>
            <a:prstGeom prst="roundRect">
              <a:avLst>
                <a:gd name="adj" fmla="val 77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680585"/>
              <a:ext cx="47625" cy="14506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47567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47925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5133975"/>
              <a:ext cx="4882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原课件此式写作 Σₖ nₖ log αₖ + Σₖ₌₁ᴺ γ̂ⱼₖ[…]，第二个求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和的下标和上限都错了；应为外层 Σₖ、内层 Σⱼ（j 从 1 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N），如上式。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6464618" y="1533525"/>
            <a:ext cx="4258010" cy="1878615"/>
            <a:chOff x="6464618" y="1533525"/>
            <a:chExt cx="4258010" cy="1878615"/>
          </a:xfrm>
        </p:grpSpPr>
        <p:sp>
          <p:nvSpPr>
            <p:cNvPr id="20" name="Rectangle 20"/>
            <p:cNvSpPr/>
            <p:nvPr/>
          </p:nvSpPr>
          <p:spPr>
            <a:xfrm>
              <a:off x="6597968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6098" y="1567815"/>
              <a:ext cx="11834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μₖ 求偏导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77241" y="1861661"/>
              <a:ext cx="19995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Σⱼ γ̂ⱼₖ(yⱼ − μₖ)/σₖ² = 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6098" y="2218372"/>
              <a:ext cx="1300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σₖ² 求偏导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7241" y="2512219"/>
              <a:ext cx="3630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Σⱼ γ̂ⱼₖ[−1/(2σₖ²) + (yⱼ − μₖ)²/(2σₖ⁴)] =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6098" y="2868930"/>
              <a:ext cx="1991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αₖ 用拉格朗日乘子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7241" y="3162776"/>
              <a:ext cx="3845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 Σαₖ = 1：nₖ/αₖ + λ = 0，对 k 求和得 λ = −N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464618" y="3590925"/>
            <a:ext cx="5193982" cy="2674620"/>
            <a:chOff x="6464618" y="3590925"/>
            <a:chExt cx="5193982" cy="2674620"/>
          </a:xfrm>
        </p:grpSpPr>
        <p:sp>
          <p:nvSpPr>
            <p:cNvPr id="34" name="Rectangle 34"/>
            <p:cNvSpPr/>
            <p:nvPr/>
          </p:nvSpPr>
          <p:spPr>
            <a:xfrm>
              <a:off x="6464618" y="3590925"/>
              <a:ext cx="5193982" cy="2674620"/>
            </a:xfrm>
            <a:prstGeom prst="roundRect">
              <a:avLst>
                <a:gd name="adj" fmla="val 498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74168" y="380047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56476" y="3836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更新公式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291"/>
                <p:cNvSpPr txBox="1">
                  <a:spLocks noGrp="1"/>
                </p:cNvSpPr>
                <p:nvPr/>
              </p:nvSpPr>
              <p:spPr>
                <a:xfrm>
                  <a:off x="6674168" y="4152900"/>
                  <a:ext cx="4774882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</m:acc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jk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jk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</m:acc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jk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292"/>
                <p:cNvSpPr txBox="1">
                  <a:spLocks noGrp="1"/>
                </p:cNvSpPr>
                <p:nvPr/>
              </p:nvSpPr>
              <p:spPr>
                <a:xfrm>
                  <a:off x="6674168" y="4876800"/>
                  <a:ext cx="4774882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acc>
                              <m:accPr>
                                <m:chr m:val="ˆ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</m:acc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jk</m:t>
                                    </m:r>
                                  </m:sub>
                                </m:sSub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a:rPr lang="zh-CN" sz="15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acc>
                                              <m:accPr>
                                                <m:chr m:val="ˆ"/>
                                                <m:ctrlPr>
                                                  <a:rPr lang="zh-CN" sz="150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zh-CN" sz="150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μ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zh-CN" sz="15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γ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jk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9" name="TextBox 39"/>
            <p:cNvSpPr txBox="1"/>
            <p:nvPr/>
          </p:nvSpPr>
          <p:spPr>
            <a:xfrm>
              <a:off x="6667691" y="5621179"/>
              <a:ext cx="45565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均值、方差都是以响应度为权重的加权平均；σₖ² 用本轮新算出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的均值。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64115" cy="909257"/>
            <a:chOff x="520446" y="342900"/>
            <a:chExt cx="8864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64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45" y="407194"/>
              <a:ext cx="331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算法的应用：高斯混合模型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64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9.2 高斯混合模型参数估计的 EM 算法，以及 R 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ard-1"/>
          <p:cNvGrpSpPr/>
          <p:nvPr/>
        </p:nvGrpSpPr>
        <p:grpSpPr>
          <a:xfrm>
            <a:off x="533400" y="1524000"/>
            <a:ext cx="5193982" cy="3565208"/>
            <a:chOff x="533400" y="1524000"/>
            <a:chExt cx="5193982" cy="35652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565208"/>
            </a:xfrm>
            <a:prstGeom prst="roundRect">
              <a:avLst>
                <a:gd name="adj" fmla="val 37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9850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769" y="1737836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算法 9.2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605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：观测数据 y₁, y₂, …, y_N，高斯混合模型；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：高斯混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合模型参数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2475" y="2562225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382" y="25968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223" y="257317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取参数的初始值，开始迭代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2475" y="2847022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382" y="28826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223" y="2857976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步：依据当前模型参数，计算分模型 k 对观测数据 yⱼ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299"/>
                <p:cNvSpPr txBox="1">
                  <a:spLocks noGrp="1"/>
                </p:cNvSpPr>
                <p:nvPr/>
              </p:nvSpPr>
              <p:spPr>
                <a:xfrm>
                  <a:off x="752475" y="3365182"/>
                  <a:ext cx="4793932" cy="4714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γ</m:t>
                                </m:r>
                              </m:e>
                            </m:acc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ϕ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;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Ellipse 19"/>
            <p:cNvSpPr/>
            <p:nvPr/>
          </p:nvSpPr>
          <p:spPr>
            <a:xfrm>
              <a:off x="752475" y="3927158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82" y="39627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223" y="3938111"/>
              <a:ext cx="42720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步：计算新一轮迭代的模型参数 μₖ、σₖ²、αₖ（上页更新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52475" y="4454842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4382" y="449046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2223" y="4465796"/>
              <a:ext cx="42882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重复第 2 步和第 3 步，直到收敛（如对数似然的变化小于给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定阈值）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5253990"/>
            <a:ext cx="5193982" cy="937260"/>
            <a:chOff x="533400" y="5253990"/>
            <a:chExt cx="5193982" cy="937260"/>
          </a:xfrm>
        </p:grpSpPr>
        <p:sp>
          <p:nvSpPr>
            <p:cNvPr id="26" name="Rectangle 26"/>
            <p:cNvSpPr/>
            <p:nvPr/>
          </p:nvSpPr>
          <p:spPr>
            <a:xfrm>
              <a:off x="533400" y="5253990"/>
              <a:ext cx="5193982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622608"/>
              <a:ext cx="200026" cy="200025"/>
              <a:chOff x="738188" y="5622608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622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667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778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1273" y="5399246"/>
              <a:ext cx="431266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K-means 可以看作这个算法的“硬分配”版本：各分量方差相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同且趋于 0 时，响应度变成 0 或 1，每个点只归入最近的均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值。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6032182" y="1524000"/>
            <a:ext cx="5626418" cy="3670935"/>
            <a:chOff x="6032182" y="1524000"/>
            <a:chExt cx="5626418" cy="3670935"/>
          </a:xfrm>
        </p:grpSpPr>
        <p:sp>
          <p:nvSpPr>
            <p:cNvPr id="33" name="Rectangle 33"/>
            <p:cNvSpPr/>
            <p:nvPr/>
          </p:nvSpPr>
          <p:spPr>
            <a:xfrm>
              <a:off x="6032182" y="1524000"/>
              <a:ext cx="5626418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60580" y="1675924"/>
              <a:ext cx="16438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R：一维高斯混合模型的 EM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60580" y="1935956"/>
              <a:ext cx="4322445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gmm_em &lt;-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(y, alpha, mu, s2, tol = 1e-8, maxit = 500)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K &lt;- length(alpha); ll_old &lt;- -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Inf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1:maxit)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 &lt;- sapply(1:K,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(k)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alpha[k] * dnorm(y, mu[k], sqrt(s2[k])))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N×K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ll &lt;- sum(log(rowSums(d)))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当前参数的对数似然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  &lt;- d / rowSums(d)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E 步：响应度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nk &lt;- colSums(g)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M 步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mu &lt;- colSums(g * y) / nk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s2 &lt;- colSums(g * outer(y, mu,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"-"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)^2) / nk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alpha &lt;- nk / length(y)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(ll - ll_old &lt; tol)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break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ll_old &lt;- ll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list(alpha = alpha, mu = mu, s2 = s2, loglik = ll)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 &lt;- c(155, 158, 160, 163, 170, 174, 176, 181)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gmm_em(h, c(0.5, 0.5), c(160, 175), c(25, 25))</a:t>
              </a:r>
            </a:p>
          </p:txBody>
        </p:sp>
      </p:grpSp>
      <p:grpSp>
        <p:nvGrpSpPr>
          <p:cNvPr id="42" name="c2-kv-2"/>
          <p:cNvGrpSpPr/>
          <p:nvPr/>
        </p:nvGrpSpPr>
        <p:grpSpPr>
          <a:xfrm>
            <a:off x="6025706" y="5381149"/>
            <a:ext cx="5632894" cy="622744"/>
            <a:chOff x="6025706" y="5381149"/>
            <a:chExt cx="5632894" cy="622744"/>
          </a:xfrm>
        </p:grpSpPr>
        <p:sp>
          <p:nvSpPr>
            <p:cNvPr id="37" name="TextBox 37"/>
            <p:cNvSpPr txBox="1"/>
            <p:nvPr/>
          </p:nvSpPr>
          <p:spPr>
            <a:xfrm>
              <a:off x="6025706" y="5381149"/>
              <a:ext cx="13966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d / rowSums(d)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82128" y="5381149"/>
              <a:ext cx="3769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按列循环相除，第 j 行除以第 j 个行和，得响应度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56530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25706" y="5754529"/>
              <a:ext cx="165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outer(y, mu, "-")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82128" y="5754529"/>
              <a:ext cx="2725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× K 矩阵，第 (j, k) 元为 yⱼ − μₖ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36587" cy="909257"/>
            <a:chOff x="520446" y="342900"/>
            <a:chExt cx="88365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64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45" y="407194"/>
              <a:ext cx="331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算法的应用：高斯混合模型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365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例：8 个身高数据，手算一次 E 步和 M 步，再迭代到收敛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28638" y="1524000"/>
            <a:ext cx="5090160" cy="3629024"/>
            <a:chOff x="528638" y="1524000"/>
            <a:chExt cx="5090160" cy="362902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37528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0045" y="1638300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身高 yⱼ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74942" y="1638300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分模型 1 的响应度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80894" y="1638300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分模型 2 的响应度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843" y="201453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21782" y="201453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27734" y="201453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7076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75522"/>
              <a:ext cx="5085398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2843" y="238982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21782" y="238982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0.9967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7734" y="238982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0.0033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4604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2843" y="276510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1782" y="276510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0.9890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27734" y="276510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0.0110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2228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27045"/>
              <a:ext cx="5085398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2843" y="314134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21782" y="314134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0.9370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27734" y="314134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0.0630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39756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42843" y="351663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817370" y="3411855"/>
              <a:ext cx="1886902" cy="3562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21782" y="351663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0.1824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722370" y="3411855"/>
              <a:ext cx="1886902" cy="3562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27734" y="351663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0.8176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77285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777615"/>
              <a:ext cx="5085398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2843" y="389286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21782" y="389286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0.0198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27734" y="389286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0.9802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14909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2843" y="426815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21782" y="426815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0.0061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27734" y="426815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0.9939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52437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529138"/>
              <a:ext cx="5085398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42843" y="464343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21782" y="464343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27734" y="464343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524000"/>
              <a:ext cx="5085398" cy="3381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803082" y="1524000"/>
              <a:ext cx="9525" cy="3381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708082" y="1524000"/>
              <a:ext cx="9525" cy="3381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638" y="4976812"/>
              <a:ext cx="41710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 步，初值 α = (0.5, 0.5)，μ = (160, 175)，σ² = (25, 25)；两列之和为 1</a:t>
              </a:r>
            </a:p>
          </p:txBody>
        </p:sp>
      </p:grpSp>
      <p:grpSp>
        <p:nvGrpSpPr>
          <p:cNvPr id="59" name="c1-callout-2"/>
          <p:cNvGrpSpPr/>
          <p:nvPr/>
        </p:nvGrpSpPr>
        <p:grpSpPr>
          <a:xfrm>
            <a:off x="533400" y="5276850"/>
            <a:ext cx="5085398" cy="897255"/>
            <a:chOff x="533400" y="5276850"/>
            <a:chExt cx="5085398" cy="897255"/>
          </a:xfrm>
        </p:grpSpPr>
        <p:sp>
          <p:nvSpPr>
            <p:cNvPr id="53" name="Rectangle 53"/>
            <p:cNvSpPr/>
            <p:nvPr/>
          </p:nvSpPr>
          <p:spPr>
            <a:xfrm>
              <a:off x="533400" y="5276850"/>
              <a:ext cx="5085398" cy="897255"/>
            </a:xfrm>
            <a:prstGeom prst="roundRect">
              <a:avLst>
                <a:gd name="adj" fmla="val 1273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625465"/>
              <a:ext cx="200026" cy="200025"/>
              <a:chOff x="738188" y="562546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6254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56699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57810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654" y="5420678"/>
              <a:ext cx="403555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 y = 170（c = 1/√(2π × 25)）：α₁φ₁ = 0.5c·exp(−2)</a:t>
              </a:r>
              <a:br/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≈ 0.0054，α₂φ₂ = 0.5c·exp(−0.5) ≈ 0.0242，响应度 ≈</a:t>
              </a:r>
              <a:br/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0.1824。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5923598" y="1524000"/>
            <a:ext cx="5735002" cy="1403985"/>
            <a:chOff x="5923598" y="1524000"/>
            <a:chExt cx="5735002" cy="1403985"/>
          </a:xfrm>
        </p:grpSpPr>
        <p:sp>
          <p:nvSpPr>
            <p:cNvPr id="60" name="Rectangle 60"/>
            <p:cNvSpPr/>
            <p:nvPr/>
          </p:nvSpPr>
          <p:spPr>
            <a:xfrm>
              <a:off x="5923598" y="1524000"/>
              <a:ext cx="5735002" cy="1403985"/>
            </a:xfrm>
            <a:prstGeom prst="roundRect">
              <a:avLst>
                <a:gd name="adj" fmla="val 949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98858" y="1699260"/>
              <a:ext cx="1502092" cy="22860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56689" y="1730693"/>
              <a:ext cx="138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步结果（第 1 次迭代）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108382" y="207359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64212" y="2025968"/>
              <a:ext cx="2535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n₁ = Σγ̂ⱼ₁ = 4.1308，n₂ = 3.8692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108382" y="234315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64212" y="2295525"/>
              <a:ext cx="50898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μ₁ = Σγ̂ⱼ₁yⱼ/n₁ ≈ 159.52，μ₂ ≈ 175.24；σ₁² ≈ 14.59，σ₂² ≈ 18.32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108382" y="261270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64212" y="2565082"/>
              <a:ext cx="268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α₁ = 4.1308/8 ≈ 0.516，α₂ ≈ 0.484</a:t>
              </a:r>
            </a:p>
          </p:txBody>
        </p:sp>
      </p:grpSp>
      <p:grpSp>
        <p:nvGrpSpPr>
          <p:cNvPr id="109" name="c2-table-2"/>
          <p:cNvGrpSpPr/>
          <p:nvPr/>
        </p:nvGrpSpPr>
        <p:grpSpPr>
          <a:xfrm>
            <a:off x="5918835" y="3088005"/>
            <a:ext cx="5739765" cy="2125979"/>
            <a:chOff x="5918835" y="3088005"/>
            <a:chExt cx="5739765" cy="2125979"/>
          </a:xfrm>
        </p:grpSpPr>
        <p:sp>
          <p:nvSpPr>
            <p:cNvPr id="70" name="Rectangle 70"/>
            <p:cNvSpPr/>
            <p:nvPr/>
          </p:nvSpPr>
          <p:spPr>
            <a:xfrm>
              <a:off x="5923598" y="3088005"/>
              <a:ext cx="5735002" cy="37528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171248" y="32023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79646" y="32023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α₁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71283" y="320230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μ₁, μ₂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78410" y="3202305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σ₁², σ₂²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840022" y="32023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对数似然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71783" y="35775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66918" y="357759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104318" y="357759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160, 175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70818" y="3577590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25, 25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850623" y="357759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−27.484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923598" y="383381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923598" y="3838575"/>
              <a:ext cx="5735002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271783" y="3953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966918" y="39538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0.516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871089" y="3953828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159.52, 175.24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437589" y="3953828"/>
              <a:ext cx="908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14.59, 18.32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850623" y="395382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−26.912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923598" y="421005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271783" y="4329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966918" y="432911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871089" y="4329112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159.13, 175.25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437589" y="4329112"/>
              <a:ext cx="908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10.06, 16.33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850623" y="432911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−26.689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923598" y="458533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5923598" y="4590098"/>
              <a:ext cx="5735002" cy="37528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230968" y="47043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966918" y="470439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0.498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7629525" y="4599622"/>
              <a:ext cx="1546860" cy="3562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871089" y="4704398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158.99, 175.19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9195435" y="4599622"/>
              <a:ext cx="1392555" cy="35623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476461" y="4704398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8.54, 16.38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850623" y="470439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−26.662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5923598" y="3088005"/>
              <a:ext cx="5735002" cy="18783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708458" y="3088005"/>
              <a:ext cx="9525" cy="18783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7615238" y="3088005"/>
              <a:ext cx="9525" cy="18783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181148" y="3088005"/>
              <a:ext cx="9525" cy="18783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592752" y="3088005"/>
              <a:ext cx="9525" cy="18783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5918835" y="5037772"/>
              <a:ext cx="31822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对数似然逐次增大，与定理 9.1 一致；数值用 Python 复核</a:t>
              </a:r>
            </a:p>
          </p:txBody>
        </p:sp>
      </p:grpSp>
      <p:grpSp>
        <p:nvGrpSpPr>
          <p:cNvPr id="116" name="c2-callout-3"/>
          <p:cNvGrpSpPr/>
          <p:nvPr/>
        </p:nvGrpSpPr>
        <p:grpSpPr>
          <a:xfrm>
            <a:off x="5923598" y="5337810"/>
            <a:ext cx="5735002" cy="836295"/>
            <a:chOff x="5923598" y="5337810"/>
            <a:chExt cx="5735002" cy="836295"/>
          </a:xfrm>
        </p:grpSpPr>
        <p:sp>
          <p:nvSpPr>
            <p:cNvPr id="110" name="Rectangle 110"/>
            <p:cNvSpPr/>
            <p:nvPr/>
          </p:nvSpPr>
          <p:spPr>
            <a:xfrm>
              <a:off x="5923598" y="5337810"/>
              <a:ext cx="5735002" cy="836295"/>
            </a:xfrm>
            <a:prstGeom prst="roundRect">
              <a:avLst>
                <a:gd name="adj" fmla="val 136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6128385" y="5655945"/>
              <a:ext cx="200026" cy="200026"/>
              <a:chOff x="6128385" y="5655945"/>
              <a:chExt cx="200026" cy="200026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6128385" y="56559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6228398" y="57226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6217285" y="57559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6431852" y="5561648"/>
              <a:ext cx="45537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收敛结果：约一半人身高在 159 cm 附近（标准差 2.9），另一半在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175 cm 附近（标准差 4.0）。</a:t>
              </a:r>
            </a:p>
          </p:txBody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77184" cy="909257"/>
            <a:chOff x="520446" y="342900"/>
            <a:chExt cx="3377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64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45" y="407194"/>
              <a:ext cx="331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 · EM 算法的应用：高斯混合模型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91628"/>
            <a:chOff x="533400" y="1524000"/>
            <a:chExt cx="5410200" cy="15916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91628"/>
            </a:xfrm>
            <a:prstGeom prst="roundRect">
              <a:avLst>
                <a:gd name="adj" fmla="val 83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08660" y="1699260"/>
              <a:ext cx="365760" cy="2286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9407" y="1730693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2564" y="2025968"/>
              <a:ext cx="4738116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…, Xₙ 独立同分布，密度为 p(x|λ) = λe^(−λx)（x &gt; 0），求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的 MLE 和 Iₙ(λ)。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2564" y="2524125"/>
              <a:ext cx="47670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l(λ) = n ln λ − λΣxᵢ，l′(λ) = n/λ − Σxᵢ = 0，得 n/Σxᵢ；l″(λ)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−n/λ²，Iₙ(λ) = n/λ²。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274695"/>
            <a:ext cx="5410200" cy="1134428"/>
            <a:chOff x="533400" y="3274695"/>
            <a:chExt cx="5410200" cy="1134428"/>
          </a:xfrm>
        </p:grpSpPr>
        <p:sp>
          <p:nvSpPr>
            <p:cNvPr id="13" name="Rectangle 13"/>
            <p:cNvSpPr/>
            <p:nvPr/>
          </p:nvSpPr>
          <p:spPr>
            <a:xfrm>
              <a:off x="533400" y="3274695"/>
              <a:ext cx="5410200" cy="1134428"/>
            </a:xfrm>
            <a:prstGeom prst="roundRect">
              <a:avLst>
                <a:gd name="adj" fmla="val 1175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08660" y="3449955"/>
              <a:ext cx="365760" cy="2286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9407" y="348138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2564" y="3776662"/>
              <a:ext cx="4346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缺失值例子中若初值取 x₂₃ = 0，前三次迭代的估计是多少？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2564" y="4046220"/>
              <a:ext cx="44950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t_new = 9 + 2t/3，依次为 9、15、19，最终趋于 27。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569142"/>
            <a:ext cx="5410200" cy="1591628"/>
            <a:chOff x="533400" y="4569142"/>
            <a:chExt cx="5410200" cy="1591628"/>
          </a:xfrm>
        </p:grpSpPr>
        <p:sp>
          <p:nvSpPr>
            <p:cNvPr id="19" name="Rectangle 19"/>
            <p:cNvSpPr/>
            <p:nvPr/>
          </p:nvSpPr>
          <p:spPr>
            <a:xfrm>
              <a:off x="533400" y="4569142"/>
              <a:ext cx="5410200" cy="1591628"/>
            </a:xfrm>
            <a:prstGeom prst="roundRect">
              <a:avLst>
                <a:gd name="adj" fmla="val 83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8660" y="4744402"/>
              <a:ext cx="365760" cy="2286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9407" y="477583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2564" y="5071110"/>
              <a:ext cx="4549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9.1 的证明把 log P(Y|θ) 拆成哪两部分？各自怎样变化？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2564" y="5340667"/>
              <a:ext cx="48051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 Q(θ, θ⁽ⁱ⁾) − H(θ, θ⁽ⁱ⁾)。M 步使 Q 不减；由 Jensen 不等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 H 不增。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363028"/>
            <a:chOff x="6248400" y="1524000"/>
            <a:chExt cx="5410200" cy="1363028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363028"/>
            </a:xfrm>
            <a:prstGeom prst="roundRect">
              <a:avLst>
                <a:gd name="adj" fmla="val 97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3660" y="1699260"/>
              <a:ext cx="365760" cy="2286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4407" y="1730693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17564" y="2025968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牛顿法与得分法差在哪里？为什么逻辑斯谛回归中两者相同？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17564" y="2295525"/>
              <a:ext cx="46908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牛顿法用海色阵 ∇²l，得分法用 −Iₙ 代替。逻辑斯谛回归的海色阵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不含 yᵢ，期望等于自身。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046095"/>
            <a:ext cx="5410200" cy="1363028"/>
            <a:chOff x="6248400" y="3046095"/>
            <a:chExt cx="5410200" cy="1363028"/>
          </a:xfrm>
        </p:grpSpPr>
        <p:sp>
          <p:nvSpPr>
            <p:cNvPr id="31" name="Rectangle 31"/>
            <p:cNvSpPr/>
            <p:nvPr/>
          </p:nvSpPr>
          <p:spPr>
            <a:xfrm>
              <a:off x="6248400" y="3046095"/>
              <a:ext cx="5410200" cy="1363028"/>
            </a:xfrm>
            <a:prstGeom prst="roundRect">
              <a:avLst>
                <a:gd name="adj" fmla="val 97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3660" y="3221355"/>
              <a:ext cx="365760" cy="2286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4407" y="325278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7564" y="3548062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三硬币模型两组初值得到不同估计，哪一组是极大似然估计？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17564" y="3817620"/>
              <a:ext cx="47975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两组都是：都满足 πp + (1 − π)q = 0.6，对数似然都是 −6.7301；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参数不可识别。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569142"/>
            <a:ext cx="5410200" cy="1591628"/>
            <a:chOff x="6248400" y="4569142"/>
            <a:chExt cx="5410200" cy="1591628"/>
          </a:xfrm>
        </p:grpSpPr>
        <p:sp>
          <p:nvSpPr>
            <p:cNvPr id="37" name="Rectangle 37"/>
            <p:cNvSpPr/>
            <p:nvPr/>
          </p:nvSpPr>
          <p:spPr>
            <a:xfrm>
              <a:off x="6248400" y="4569142"/>
              <a:ext cx="5410200" cy="1591628"/>
            </a:xfrm>
            <a:prstGeom prst="roundRect">
              <a:avLst>
                <a:gd name="adj" fmla="val 83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23660" y="4744402"/>
              <a:ext cx="365760" cy="2286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4407" y="4775835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17564" y="5071110"/>
              <a:ext cx="4518279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GMM 中 α = (0.5, 0.5)，μ = (160, 175)，σ² = (25, 25)，y =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167.5 的响应度是多少？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17564" y="5569267"/>
              <a:ext cx="47746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各为 0.5：权重、方差相同，167.5 到两个均值等距，两个 αₖφ 相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优化问题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5452110" cy="2404396"/>
            <a:chOff x="533400" y="1533525"/>
            <a:chExt cx="5452110" cy="2404396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5076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MLE 四步：写似然、取对数、求导、解方程；协方差阵用信息阵的逆估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69782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2080736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牛顿法用海色阵，得分法用负信息阵代替；逻辑斯谛回归中两者相同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363152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3987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374106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精简最大似然先消去有显式解的参数；正态误差的非线性回归化为最小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二乘，用 Gauss–Newton 迭代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899410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9340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910364"/>
              <a:ext cx="50441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EM：E 步求 Q(θ, θ⁽ⁱ⁾)，M 步求其最大值点；缺失值、双硬币、三硬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币、GMM 都是同一个套路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34715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34703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3445669"/>
              <a:ext cx="50604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Jensen 不等式给出下界 B；EM 使似然单调不减，收敛到稳定点，结果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可能依赖初值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33400" y="4052888"/>
            <a:ext cx="5626418" cy="2287905"/>
            <a:chOff x="533400" y="4052888"/>
            <a:chExt cx="5626418" cy="2287905"/>
          </a:xfrm>
        </p:grpSpPr>
        <p:sp>
          <p:nvSpPr>
            <p:cNvPr id="23" name="Rectangle 23"/>
            <p:cNvSpPr/>
            <p:nvPr/>
          </p:nvSpPr>
          <p:spPr>
            <a:xfrm>
              <a:off x="533400" y="4052888"/>
              <a:ext cx="5626418" cy="38100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76884" y="41700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公式速查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61244" y="41700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078" y="455199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得分法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91118" y="4551998"/>
              <a:ext cx="2621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θ⁽ᵗ⁺¹⁾ = θ⁽ᵗ⁾ + [Iₙ(θ⁽ᵗ⁾)]⁻¹∇l(θ⁽ᵗ⁾)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8110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815840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4932998"/>
              <a:ext cx="1030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Gauss–Newton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91118" y="4932998"/>
              <a:ext cx="2811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θ⁽ᵗ⁺¹⁾ = θ⁽ᵗ⁾ + (JᵀJ)⁻¹Jᵀ[y − f(θ⁽ᵗ⁾)]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1920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5313998"/>
              <a:ext cx="458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函数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91118" y="5313998"/>
              <a:ext cx="2168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Σ_Z log P(Y, Z|θ)·P(Z|Y, θ⁽ⁱ⁾)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5740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57879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5695950"/>
              <a:ext cx="8422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GMM 的 E 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91118" y="5695950"/>
              <a:ext cx="2454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响应度 = αₖφ(yⱼ|θₖ) / Σₖ αₖφ(yⱼ|θₖ)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9550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" y="6076950"/>
              <a:ext cx="8736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GMM 的 M 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91118" y="6076950"/>
              <a:ext cx="3202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μₖ、σₖ² 为以响应度加权的均值、方差，αₖ = nₖ/N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052888"/>
              <a:ext cx="5626418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991678" y="40528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rd-1"/>
          <p:cNvGrpSpPr/>
          <p:nvPr/>
        </p:nvGrpSpPr>
        <p:grpSpPr>
          <a:xfrm>
            <a:off x="6464618" y="1524000"/>
            <a:ext cx="5193982" cy="2526982"/>
            <a:chOff x="6464618" y="1524000"/>
            <a:chExt cx="5193982" cy="2526982"/>
          </a:xfrm>
        </p:grpSpPr>
        <p:sp>
          <p:nvSpPr>
            <p:cNvPr id="45" name="Rectangle 45"/>
            <p:cNvSpPr/>
            <p:nvPr/>
          </p:nvSpPr>
          <p:spPr>
            <a:xfrm>
              <a:off x="6464618" y="1524000"/>
              <a:ext cx="5193982" cy="2526982"/>
            </a:xfrm>
            <a:prstGeom prst="roundRect">
              <a:avLst>
                <a:gd name="adj" fmla="val 52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4142" y="1657350"/>
              <a:ext cx="47625" cy="22602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3692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46812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93218" y="2097405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48666" y="2045494"/>
              <a:ext cx="40020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得分法迭代式漏写运算符并误标为牛顿法（第 8 页）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93218" y="238220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48666" y="2330291"/>
              <a:ext cx="4393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线性回归页“似F”与残差写法（第 13 页）；Q 函数定义中“当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前函数”应为当前参数（第 29 页）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693218" y="2910840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48666" y="2857976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“Jason 不等式”应为 Jensen 不等式，下界推导第 1 行的权重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P(Z|Y, θ⁽ⁱ⁾)（第 36、37 页）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93218" y="3438525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48666" y="3385661"/>
              <a:ext cx="310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9.1 证明末步漏求和号（第 41 页）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693218" y="372332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48666" y="3670459"/>
              <a:ext cx="3926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GMM 对数似然与 Q 函数漏求和号（第 45、47 页）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464618" y="4215765"/>
            <a:ext cx="5193982" cy="2125028"/>
            <a:chOff x="6464618" y="4215765"/>
            <a:chExt cx="5193982" cy="2125028"/>
          </a:xfrm>
        </p:grpSpPr>
        <p:sp>
          <p:nvSpPr>
            <p:cNvPr id="60" name="Rectangle 60"/>
            <p:cNvSpPr/>
            <p:nvPr/>
          </p:nvSpPr>
          <p:spPr>
            <a:xfrm>
              <a:off x="6464618" y="4215765"/>
              <a:ext cx="5193982" cy="2125028"/>
            </a:xfrm>
            <a:prstGeom prst="roundRect">
              <a:avLst>
                <a:gd name="adj" fmla="val 62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74142" y="4349115"/>
              <a:ext cx="47625" cy="185832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83692" y="439674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69214" y="44296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复习建议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77216" y="4737259"/>
              <a:ext cx="44914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动手跑一遍：逻辑斯谛回归的得分法、三硬币模型两组初值、8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个身高数据的 GMM，并对照本讲义的迭代表。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第4章 统计计算中的优化问题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atc_ch4">
  <a:themeElements>
    <a:clrScheme name="statc_ch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tc_ch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tc_ch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2026-09-19T13:53:45Z</dcterms:created>
  <dcterms:modified xsi:type="dcterms:W3CDTF">2026-09-19T13:53:45Z</dcterms:modified>
  <cp:category/>
  <cp:contentStatus/>
</cp:coreProperties>
</file>