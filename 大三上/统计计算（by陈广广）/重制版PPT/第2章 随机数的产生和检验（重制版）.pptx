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tatc_ch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tatc_ch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a219834ad5ce95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f8860c0ad46d226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2305d357b80c418.png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统计计算 · 第2章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随机数的产生和检验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从均匀随机数到任意分布和随机向量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81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同余发生器与 FSR 发生器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随机数的统计检验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逆变换、舍选与复合法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多项分布与多元正态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067442" cy="205359"/>
            <a:chOff x="680466" y="6192202"/>
            <a:chExt cx="40674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自学复习版｜据吉林大学《统计计算》第2章课件整理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 随机数产生器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随机数的定义与用途、周期、平方取中法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248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 均匀随机数的产生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759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线性同余、混合同余、乘同余、FSR、组合发生器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20608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2.2.6 随机数的检验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096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参数、均匀性、独立性、游程、扑克等 11 种经验检验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24706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 非均匀随机数的产生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逆变换法、变换法、舍选法、复合法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20264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 随机向量的产生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条件分布法、多项分布、多元正态分布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用定理 5.1 判断混合同余发生器能否达到满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写出参数检验和卡方检验的统计量，并据此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下结论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用逆变换法推出几何、指数、三角形分布的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生成公式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72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求出舍选法的常数 M 或 c，算出平均迭代次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用条件分布法和 Cholesky 分解生成多项分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布、多元正态随机向量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57622" cy="2997517"/>
            <a:chOff x="667512" y="1835468"/>
            <a:chExt cx="535762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随机数产生器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随机数是什么，计算机产生的随机数为什么一定有周期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随机数的定义与用途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周期与随机数检验的意义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随机数产生器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随机数：独立同分布随机变量序列的一次观测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21155"/>
            <a:chOff x="533400" y="1524000"/>
            <a:chExt cx="5626418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随机数序列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30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X 有分布函数 F(x)，{Xᵢ, i = 1, 2, …} 独立同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分布于 F(x)，则 {Xᵢ} 的一次观测值 {xᵢ, i = 1, 2, …} 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为分布 F(x) 的随机数序列，简称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随机数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335655"/>
            <a:ext cx="5626418" cy="2607945"/>
            <a:chOff x="533400" y="3335655"/>
            <a:chExt cx="5626418" cy="260794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626418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0557" y="358092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哪里要用随机性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98526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9223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抛硬币、彩票抽奖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3205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25767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加密：网络信息、信用卡信息做安全确认时，用随机数形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成加密密钥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9415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87870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模拟真实世界：银行在随机时刻、随机取款机上模拟客户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访问账户，测试自动取款机网络软件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55626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549973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蒙特卡罗算法</a:t>
              </a:r>
            </a:p>
          </p:txBody>
        </p:sp>
      </p:grpSp>
      <p:grpSp>
        <p:nvGrpSpPr>
          <p:cNvPr id="53" name="c2-flow-1"/>
          <p:cNvGrpSpPr/>
          <p:nvPr/>
        </p:nvGrpSpPr>
        <p:grpSpPr>
          <a:xfrm>
            <a:off x="6597968" y="1753552"/>
            <a:ext cx="4927282" cy="3129916"/>
            <a:chOff x="6597968" y="1753552"/>
            <a:chExt cx="4927282" cy="3129916"/>
          </a:xfrm>
        </p:grpSpPr>
        <p:sp>
          <p:nvSpPr>
            <p:cNvPr id="27" name="Freeform 27"/>
            <p:cNvSpPr/>
            <p:nvPr/>
          </p:nvSpPr>
          <p:spPr>
            <a:xfrm>
              <a:off x="9062085" y="2191702"/>
              <a:ext cx="9525" cy="354330"/>
            </a:xfrm>
            <a:custGeom>
              <a:avLst/>
              <a:gdLst/>
              <a:ahLst/>
              <a:cxnLst/>
              <a:rect l="l" t="t" r="r" b="b"/>
              <a:pathLst>
                <a:path w="9525" h="354330">
                  <a:moveTo>
                    <a:pt x="0" y="0"/>
                  </a:moveTo>
                  <a:lnTo>
                    <a:pt x="0" y="3543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009698" y="25460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330440" y="3088958"/>
              <a:ext cx="1731645" cy="354330"/>
            </a:xfrm>
            <a:custGeom>
              <a:avLst/>
              <a:gdLst/>
              <a:ahLst/>
              <a:cxnLst/>
              <a:rect l="l" t="t" r="r" b="b"/>
              <a:pathLst>
                <a:path w="1731645" h="354330">
                  <a:moveTo>
                    <a:pt x="1731645" y="0"/>
                  </a:moveTo>
                  <a:lnTo>
                    <a:pt x="1731645" y="229552"/>
                  </a:lnTo>
                  <a:lnTo>
                    <a:pt x="0" y="229552"/>
                  </a:lnTo>
                  <a:lnTo>
                    <a:pt x="0" y="3543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278052" y="3443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062085" y="3088958"/>
              <a:ext cx="9525" cy="354330"/>
            </a:xfrm>
            <a:custGeom>
              <a:avLst/>
              <a:gdLst/>
              <a:ahLst/>
              <a:cxnLst/>
              <a:rect l="l" t="t" r="r" b="b"/>
              <a:pathLst>
                <a:path w="9525" h="354330">
                  <a:moveTo>
                    <a:pt x="0" y="0"/>
                  </a:moveTo>
                  <a:lnTo>
                    <a:pt x="0" y="3543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009698" y="34432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062085" y="3088958"/>
              <a:ext cx="1730692" cy="259080"/>
            </a:xfrm>
            <a:custGeom>
              <a:avLst/>
              <a:gdLst/>
              <a:ahLst/>
              <a:cxnLst/>
              <a:rect l="l" t="t" r="r" b="b"/>
              <a:pathLst>
                <a:path w="1730692" h="259080">
                  <a:moveTo>
                    <a:pt x="0" y="0"/>
                  </a:moveTo>
                  <a:lnTo>
                    <a:pt x="0" y="181927"/>
                  </a:lnTo>
                  <a:lnTo>
                    <a:pt x="1730692" y="181927"/>
                  </a:lnTo>
                  <a:lnTo>
                    <a:pt x="1730692" y="2590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740390" y="3348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330440" y="3986212"/>
              <a:ext cx="1731645" cy="354330"/>
            </a:xfrm>
            <a:custGeom>
              <a:avLst/>
              <a:gdLst/>
              <a:ahLst/>
              <a:cxnLst/>
              <a:rect l="l" t="t" r="r" b="b"/>
              <a:pathLst>
                <a:path w="1731645" h="354330">
                  <a:moveTo>
                    <a:pt x="0" y="0"/>
                  </a:moveTo>
                  <a:lnTo>
                    <a:pt x="0" y="229553"/>
                  </a:lnTo>
                  <a:lnTo>
                    <a:pt x="1731645" y="229553"/>
                  </a:lnTo>
                  <a:lnTo>
                    <a:pt x="1731645" y="3543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009698" y="43405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062085" y="3986212"/>
              <a:ext cx="9525" cy="354330"/>
            </a:xfrm>
            <a:custGeom>
              <a:avLst/>
              <a:gdLst/>
              <a:ahLst/>
              <a:cxnLst/>
              <a:rect l="l" t="t" r="r" b="b"/>
              <a:pathLst>
                <a:path w="9525" h="354330">
                  <a:moveTo>
                    <a:pt x="0" y="0"/>
                  </a:moveTo>
                  <a:lnTo>
                    <a:pt x="0" y="3543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09698" y="43405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062085" y="4081462"/>
              <a:ext cx="1730692" cy="259080"/>
            </a:xfrm>
            <a:custGeom>
              <a:avLst/>
              <a:gdLst/>
              <a:ahLst/>
              <a:cxnLst/>
              <a:rect l="l" t="t" r="r" b="b"/>
              <a:pathLst>
                <a:path w="1730692" h="259080">
                  <a:moveTo>
                    <a:pt x="1730692" y="0"/>
                  </a:moveTo>
                  <a:lnTo>
                    <a:pt x="1730692" y="181928"/>
                  </a:lnTo>
                  <a:lnTo>
                    <a:pt x="0" y="181928"/>
                  </a:lnTo>
                  <a:lnTo>
                    <a:pt x="0" y="25908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09698" y="43405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28472" y="1753552"/>
              <a:ext cx="446627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828472" y="2650808"/>
              <a:ext cx="4466272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597968" y="3548062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329612" y="3548062"/>
              <a:ext cx="146494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60305" y="3452812"/>
              <a:ext cx="146494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828472" y="4445318"/>
              <a:ext cx="4466272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94040" y="188356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均匀分布随机数发生器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37007" y="2780824"/>
              <a:ext cx="20501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U(0,1) 随机数 R₁, R₂, 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79336" y="3678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逆变换法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97138" y="3678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98620" y="3568541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舍选法、复合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35570" y="457533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指定分布的随机数与随机向量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464618" y="5303520"/>
            <a:ext cx="5193982" cy="1059180"/>
            <a:chOff x="6464618" y="5303520"/>
            <a:chExt cx="5193982" cy="1059180"/>
          </a:xfrm>
        </p:grpSpPr>
        <p:sp>
          <p:nvSpPr>
            <p:cNvPr id="54" name="Rectangle 54"/>
            <p:cNvSpPr/>
            <p:nvPr/>
          </p:nvSpPr>
          <p:spPr>
            <a:xfrm>
              <a:off x="6464618" y="530352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669405" y="5733100"/>
              <a:ext cx="200023" cy="200023"/>
              <a:chOff x="6669405" y="573310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669405" y="57331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802755" y="57997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71348" y="545211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需要某种分布的随机数时，先生成均匀分布随机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数，再转换成其他分布。产生均匀分布随机数的算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法叫做均匀分布随机数发生器。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随机数产生器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计算机产生的随机数只取有限个值，所以一定会重复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52662"/>
            <a:chOff x="533400" y="1524000"/>
            <a:chExt cx="5410200" cy="2252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实际做法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离散取值再缩放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发生器生成的是 {0, 1, …, M} 或 {1, 2, …, M} 上的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离散均匀分布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再除以 M 或 M + 1，变成 [0, 1] 内的值，当作连续型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均匀分布随机数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3685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实际上只取了有限个值。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967162"/>
            <a:ext cx="5410200" cy="1995488"/>
            <a:chOff x="533400" y="3967162"/>
            <a:chExt cx="5410200" cy="1995488"/>
          </a:xfrm>
        </p:grpSpPr>
        <p:sp>
          <p:nvSpPr>
            <p:cNvPr id="18" name="Rectangle 18"/>
            <p:cNvSpPr/>
            <p:nvPr/>
          </p:nvSpPr>
          <p:spPr>
            <a:xfrm>
              <a:off x="533400" y="3967162"/>
              <a:ext cx="5410200" cy="1995488"/>
            </a:xfrm>
            <a:prstGeom prst="roundRect">
              <a:avLst>
                <a:gd name="adj" fmla="val 668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" y="417671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158" y="42124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4553902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取值个数有限，根据算法可知序列一定在某个时刻发生重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复。使序列发生重复的间隔 T 叫做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随机数发生器的周期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48665" y="523779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6780" y="5174932"/>
              <a:ext cx="3268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好的发生器：M 很大，而且周期很长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3465195"/>
            <a:chOff x="6248400" y="1524000"/>
            <a:chExt cx="5410200" cy="346519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3465195"/>
            </a:xfrm>
            <a:prstGeom prst="roundRect">
              <a:avLst>
                <a:gd name="adj" fmla="val 38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1657350"/>
              <a:ext cx="47625" cy="31984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0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随机数检验的意义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6050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899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7040" y="211074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有意识地写一串 0 和 1 算不算随机？人写的序列往往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交替得太频繁，很少出现长串的相同数字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27184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8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73177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自然现象（如放射性衰变、电路热噪声）极有可能产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生真正的随机数序列，但产生速度慢，也无法重现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96050" y="333946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7899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97040" y="335280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无理数 π 的各位数字是否形成随机序列？各数字出现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的频率接近 1/10，但序列本身完全确定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96050" y="39604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7899" y="4002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97040" y="397383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用确定的递推公式算出来的序列叫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伪随机数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：给定种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子就能完整重现，便于调试和复算，只要通过统计检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验就可以当作随机数使用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248400" y="5179695"/>
            <a:ext cx="5410200" cy="782955"/>
            <a:chOff x="6248400" y="5179695"/>
            <a:chExt cx="5410200" cy="782955"/>
          </a:xfrm>
        </p:grpSpPr>
        <p:sp>
          <p:nvSpPr>
            <p:cNvPr id="42" name="Rectangle 42"/>
            <p:cNvSpPr/>
            <p:nvPr/>
          </p:nvSpPr>
          <p:spPr>
            <a:xfrm>
              <a:off x="6248400" y="51796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53188" y="5471160"/>
              <a:ext cx="200026" cy="200025"/>
              <a:chOff x="6453188" y="547116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453188" y="54711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92926" y="55156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27642" y="56267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55130" y="532828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看起来随机不等于统计上可以当作随机数用。一个序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列能不能用，要靠 2.2.6 的统计检验来判断。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随机数产生器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平方取中法：平方后取中间几位，简单但容易退化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384632" cy="1878615"/>
            <a:chOff x="533400" y="1533525"/>
            <a:chExt cx="5384632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给初值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3953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想产生 8 位数的随机序列，先给定初始值 X₀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5305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X₀²，不足 16 位时左边补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4972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去掉首尾各 4 位，中间 8 位作为 X₁；重复做下去就得到一系列数</a:t>
              </a:r>
            </a:p>
          </p:txBody>
        </p:sp>
      </p:grpSp>
      <p:grpSp>
        <p:nvGrpSpPr>
          <p:cNvPr id="53" name="c1-table-2"/>
          <p:cNvGrpSpPr/>
          <p:nvPr/>
        </p:nvGrpSpPr>
        <p:grpSpPr>
          <a:xfrm>
            <a:off x="527685" y="3590925"/>
            <a:ext cx="6065520" cy="2539842"/>
            <a:chOff x="527685" y="3590925"/>
            <a:chExt cx="6065520" cy="2539842"/>
          </a:xfrm>
        </p:grpSpPr>
        <p:sp>
          <p:nvSpPr>
            <p:cNvPr id="21" name="Rectangle 21"/>
            <p:cNvSpPr/>
            <p:nvPr/>
          </p:nvSpPr>
          <p:spPr>
            <a:xfrm>
              <a:off x="533400" y="3590925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9102" y="3725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3352" y="372570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34956" y="3725704"/>
              <a:ext cx="10986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Xₙ²（16 位）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88723" y="3725704"/>
              <a:ext cx="433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Xₙ₊₁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9102" y="41743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99406" y="417433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35385906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360295" y="4049078"/>
              <a:ext cx="26469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67919" y="4174331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1252 16234344 0836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19921" y="417433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16234344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4834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48818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9102" y="46239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99406" y="462391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16234344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7919" y="4623911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0263 55392511 0336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19921" y="462391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55392511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9320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9102" y="50725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99406" y="507253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55392511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67919" y="5072539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3068 33027488 5121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19921" y="507253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33027488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3806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38543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9102" y="55211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99406" y="552116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33027488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67919" y="5521166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1090 81496359 0144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19921" y="552116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81496359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590925"/>
              <a:ext cx="605980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3460" y="35909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346008" y="35909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013008" y="359092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685" y="5910739"/>
              <a:ext cx="3675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行是原课件的例子，后 3 行用脚本按同一规则续算</a:t>
              </a:r>
            </a:p>
          </p:txBody>
        </p:sp>
      </p:grpSp>
      <p:grpSp>
        <p:nvGrpSpPr>
          <p:cNvPr id="65" name="c2-card-1"/>
          <p:cNvGrpSpPr/>
          <p:nvPr/>
        </p:nvGrpSpPr>
        <p:grpSpPr>
          <a:xfrm>
            <a:off x="6898005" y="1524000"/>
            <a:ext cx="4760595" cy="2568892"/>
            <a:chOff x="6898005" y="1524000"/>
            <a:chExt cx="4760595" cy="2568892"/>
          </a:xfrm>
        </p:grpSpPr>
        <p:sp>
          <p:nvSpPr>
            <p:cNvPr id="54" name="Rectangle 54"/>
            <p:cNvSpPr/>
            <p:nvPr/>
          </p:nvSpPr>
          <p:spPr>
            <a:xfrm>
              <a:off x="6898005" y="1524000"/>
              <a:ext cx="4760595" cy="2568892"/>
            </a:xfrm>
            <a:prstGeom prst="roundRect">
              <a:avLst>
                <a:gd name="adj" fmla="val 5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1657350"/>
              <a:ext cx="47625" cy="23021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45655" y="1733550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204955" y="1769269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缺点（以 4 位为例）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09485" y="2110740"/>
              <a:ext cx="3806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0100：0100² = 00010000，中间 4 位还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0100，序列停在一个数上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51370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09485" y="2731770"/>
              <a:ext cx="3549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2100：2100 → 4100 → 8100 → 6100 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2100，周期只有 4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51370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09485" y="3352800"/>
              <a:ext cx="250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一旦出现 0000，以后全是 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39178" y="368474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周期长短强烈依赖初值，没有理论保证。</a:t>
              </a:r>
            </a:p>
          </p:txBody>
        </p:sp>
      </p:grpSp>
      <p:grpSp>
        <p:nvGrpSpPr>
          <p:cNvPr id="72" name="c2-callout-2"/>
          <p:cNvGrpSpPr/>
          <p:nvPr/>
        </p:nvGrpSpPr>
        <p:grpSpPr>
          <a:xfrm>
            <a:off x="6898005" y="4283392"/>
            <a:ext cx="4760595" cy="1059180"/>
            <a:chOff x="6898005" y="4283392"/>
            <a:chExt cx="4760595" cy="1059180"/>
          </a:xfrm>
        </p:grpSpPr>
        <p:sp>
          <p:nvSpPr>
            <p:cNvPr id="66" name="Rectangle 66"/>
            <p:cNvSpPr/>
            <p:nvPr/>
          </p:nvSpPr>
          <p:spPr>
            <a:xfrm>
              <a:off x="6898005" y="4283392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102793" y="4712970"/>
              <a:ext cx="200026" cy="200026"/>
              <a:chOff x="7102793" y="4712970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102793" y="47129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02805" y="47796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191693" y="48129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04735" y="4431982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平方取中法由 von Neumann 在 20 世纪 40 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代提出。因为上面这些缺点，现在改用下一部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分的同余发生器。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4913376" cy="3706177"/>
            <a:chOff x="667512" y="1835468"/>
            <a:chExt cx="4913376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均匀随机数的产生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用整数递推产生周期长、统计性质好的均匀随机数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 线性同余发生器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2.2.2 混合同余发生器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2.2.3 乘同余法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87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2.2.4 FSR 发生器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2.2.5 组合发生器法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2705" cy="909257"/>
            <a:chOff x="520446" y="342900"/>
            <a:chExt cx="50027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27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同余：两个整数之差是 M 的倍数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760595" cy="2114550"/>
            <a:chOff x="533400" y="1524000"/>
            <a:chExt cx="4760595" cy="21145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78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1532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i、j 为整数，M 为正整数。若 j − i 为 M 的倍数，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则称 i 与 j 关于模 M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"/>
                <p:cNvSpPr txBox="1">
                  <a:spLocks noGrp="1"/>
                </p:cNvSpPr>
                <p:nvPr/>
              </p:nvSpPr>
              <p:spPr>
                <a:xfrm>
                  <a:off x="769620" y="2666048"/>
                  <a:ext cx="4326255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62381" y="3218021"/>
              <a:ext cx="27340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否则称 i 与 j 关于模 M 不同余。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818572"/>
            <a:ext cx="4760595" cy="2126932"/>
            <a:chOff x="533400" y="3818572"/>
            <a:chExt cx="4760595" cy="2126932"/>
          </a:xfrm>
        </p:grpSpPr>
        <p:sp>
          <p:nvSpPr>
            <p:cNvPr id="16" name="Rectangle 16"/>
            <p:cNvSpPr/>
            <p:nvPr/>
          </p:nvSpPr>
          <p:spPr>
            <a:xfrm>
              <a:off x="533400" y="3818572"/>
              <a:ext cx="4760595" cy="2126932"/>
            </a:xfrm>
            <a:prstGeom prst="roundRect">
              <a:avLst>
                <a:gd name="adj" fmla="val 62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51922"/>
              <a:ext cx="47625" cy="18602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9620" y="4016692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7868" y="4050982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例5.1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6"/>
                <p:cNvSpPr txBox="1">
                  <a:spLocks noGrp="1"/>
                </p:cNvSpPr>
                <p:nvPr/>
              </p:nvSpPr>
              <p:spPr>
                <a:xfrm>
                  <a:off x="769620" y="4353878"/>
                  <a:ext cx="432625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10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63524" y="4825365"/>
              <a:ext cx="3898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11 − 1 = 10，1 − 11 = −10，1 − (−9) = 10，都是 10 的倍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5598795" y="1524000"/>
            <a:ext cx="6059805" cy="2548890"/>
            <a:chOff x="5598795" y="1524000"/>
            <a:chExt cx="6059805" cy="2548890"/>
          </a:xfrm>
        </p:grpSpPr>
        <p:sp>
          <p:nvSpPr>
            <p:cNvPr id="23" name="Rectangle 23"/>
            <p:cNvSpPr/>
            <p:nvPr/>
          </p:nvSpPr>
          <p:spPr>
            <a:xfrm>
              <a:off x="5598795" y="1524000"/>
              <a:ext cx="605980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3636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同余性质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2780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01284" y="207645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对称性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4784" y="2076450"/>
              <a:ext cx="2172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≡ j (mod M) ⇔ j ≡ i (mod M)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98795" y="23679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98795" y="2372678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01284" y="2501265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传递性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4784" y="2501265"/>
              <a:ext cx="379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i ≡ j (mod M)，j ≡ k (mod M)，则 i ≡ k (mod M)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598795" y="279273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1284" y="3032760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加减乘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4784" y="2926080"/>
              <a:ext cx="39364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i₁ ≡ j₁ (mod M)，i₂ ≡ j₂ (mod M)，则 i₁ ± i₂ ≡ j₁ ± j₂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(mod M)，i₁i₂ ≡ j₁j₂ (mod M)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34299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3434715"/>
              <a:ext cx="605980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01284" y="366998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消去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4784" y="3563302"/>
              <a:ext cx="41498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ik ≡ jk (mod M)（k 为正整数），则 i ≡ j (mod M/gcd(M,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k))，gcd(M, k) 是 M 与 k 的最大公约数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1524000"/>
              <a:ext cx="6059805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27532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2-callout-2"/>
          <p:cNvGrpSpPr/>
          <p:nvPr/>
        </p:nvGrpSpPr>
        <p:grpSpPr>
          <a:xfrm>
            <a:off x="5598795" y="4252912"/>
            <a:ext cx="6059805" cy="756285"/>
            <a:chOff x="5598795" y="4252912"/>
            <a:chExt cx="6059805" cy="756285"/>
          </a:xfrm>
        </p:grpSpPr>
        <p:sp>
          <p:nvSpPr>
            <p:cNvPr id="42" name="Rectangle 42"/>
            <p:cNvSpPr/>
            <p:nvPr/>
          </p:nvSpPr>
          <p:spPr>
            <a:xfrm>
              <a:off x="5598795" y="425291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791524" y="4527351"/>
              <a:ext cx="224134" cy="192560"/>
              <a:chOff x="5791524" y="4527351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903595" y="45977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791524" y="45273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903595" y="46755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5906" y="4400074"/>
              <a:ext cx="502793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性质 4 的例子：2×3 ≡ 2×8 (mod 10)，gcd(10, 2) = 2，两边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消去 2 只能得到 3 ≡ 8 (mod 5)，而 3 与 8 关于模 10 不同余。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598795" y="5189220"/>
            <a:ext cx="6059805" cy="756285"/>
            <a:chOff x="5598795" y="5189220"/>
            <a:chExt cx="6059805" cy="756285"/>
          </a:xfrm>
        </p:grpSpPr>
        <p:sp>
          <p:nvSpPr>
            <p:cNvPr id="49" name="Rectangle 49"/>
            <p:cNvSpPr/>
            <p:nvPr/>
          </p:nvSpPr>
          <p:spPr>
            <a:xfrm>
              <a:off x="5598795" y="5189220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803583" y="5467350"/>
              <a:ext cx="200026" cy="200025"/>
              <a:chOff x="5803583" y="5467350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803583" y="54673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5843321" y="55118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878037" y="56229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105906" y="5336381"/>
              <a:ext cx="500989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与 k 互素时 gcd = 1，才可以像等式一样直接消去 k。乘同余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法的周期分析（Lemma 5.1）就用到这一点。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5105" cy="909257"/>
            <a:chOff x="520446" y="342900"/>
            <a:chExt cx="67651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51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线性同余发生器：xₙ = (axₙ₋₁ + c) mod 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626870"/>
            <a:chOff x="533400" y="1524000"/>
            <a:chExt cx="5626418" cy="1626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2687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01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20848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线性同余发生器（LCG）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利用求余运算的随机数发生器，递推公式为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1"/>
                <p:cNvSpPr txBox="1">
                  <a:spLocks noGrp="1"/>
                </p:cNvSpPr>
                <p:nvPr/>
              </p:nvSpPr>
              <p:spPr>
                <a:xfrm>
                  <a:off x="769620" y="2394585"/>
                  <a:ext cx="519207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1-kv-2"/>
          <p:cNvGrpSpPr/>
          <p:nvPr/>
        </p:nvGrpSpPr>
        <p:grpSpPr>
          <a:xfrm>
            <a:off x="526161" y="3355181"/>
            <a:ext cx="5633657" cy="1795082"/>
            <a:chOff x="526161" y="3355181"/>
            <a:chExt cx="5633657" cy="1795082"/>
          </a:xfrm>
        </p:grpSpPr>
        <p:sp>
          <p:nvSpPr>
            <p:cNvPr id="15" name="TextBox 15"/>
            <p:cNvSpPr txBox="1"/>
            <p:nvPr/>
          </p:nvSpPr>
          <p:spPr>
            <a:xfrm>
              <a:off x="526161" y="3355181"/>
              <a:ext cx="173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0981" y="335518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除数（模），正整数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576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161" y="3771424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0981" y="37714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乘数，正整数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0738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161" y="418766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0981" y="4187666"/>
              <a:ext cx="490169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增量，非负整数；c = 0 称为乘同余发生器，c &gt; 0 称为混合同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余发生器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7586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161" y="4871561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0981" y="487156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初值（种子）</a:t>
              </a:r>
            </a:p>
          </p:txBody>
        </p:sp>
      </p:grpSp>
      <p:grpSp>
        <p:nvGrpSpPr>
          <p:cNvPr id="33" name="c1-callout-3"/>
          <p:cNvGrpSpPr/>
          <p:nvPr/>
        </p:nvGrpSpPr>
        <p:grpSpPr>
          <a:xfrm>
            <a:off x="533400" y="5273992"/>
            <a:ext cx="5626418" cy="1018222"/>
            <a:chOff x="533400" y="5273992"/>
            <a:chExt cx="5626418" cy="1018222"/>
          </a:xfrm>
        </p:grpSpPr>
        <p:sp>
          <p:nvSpPr>
            <p:cNvPr id="27" name="Rectangle 27"/>
            <p:cNvSpPr/>
            <p:nvPr/>
          </p:nvSpPr>
          <p:spPr>
            <a:xfrm>
              <a:off x="533400" y="5273992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683568"/>
              <a:ext cx="200026" cy="200026"/>
              <a:chOff x="738188" y="568356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6835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7502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7835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421154"/>
              <a:ext cx="473036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 T = M 称为满周期：一个周期内 0, 1, …, M − 1 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值恰好出现一次，就像右图的线把 8 个钉子各绕一次再回到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起点。</a:t>
              </a:r>
            </a:p>
          </p:txBody>
        </p:sp>
      </p:grpSp>
      <p:grpSp>
        <p:nvGrpSpPr>
          <p:cNvPr id="36" name="c2-image-1"/>
          <p:cNvGrpSpPr/>
          <p:nvPr/>
        </p:nvGrpSpPr>
        <p:grpSpPr>
          <a:xfrm>
            <a:off x="6464618" y="1524000"/>
            <a:ext cx="5193982" cy="2358009"/>
            <a:chOff x="6464618" y="1524000"/>
            <a:chExt cx="5193982" cy="2358009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rcRect l="0" t="23568" r="0" b="23568"/>
            <a:stretch>
              <a:fillRect/>
            </a:stretch>
          </p:blipFill>
          <p:spPr>
            <a:xfrm>
              <a:off x="6464618" y="1524000"/>
              <a:ext cx="5193982" cy="2059305"/>
            </a:xfrm>
            <a:prstGeom prst="roundRect">
              <a:avLst>
                <a:gd name="adj" fmla="val 6475"/>
              </a:avLst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077837" y="367665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下一个数只由当前数决定，某个值再次出现后整条路线都会重复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4040505"/>
            <a:ext cx="5193982" cy="2252662"/>
            <a:chOff x="6464618" y="4040505"/>
            <a:chExt cx="5193982" cy="2252662"/>
          </a:xfrm>
        </p:grpSpPr>
        <p:sp>
          <p:nvSpPr>
            <p:cNvPr id="37" name="Rectangle 37"/>
            <p:cNvSpPr/>
            <p:nvPr/>
          </p:nvSpPr>
          <p:spPr>
            <a:xfrm>
              <a:off x="6464618" y="4040505"/>
              <a:ext cx="5193982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4173855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00838" y="42386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2278" y="4272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93598" y="4599146"/>
              <a:ext cx="453199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若存在正整数 n、m（m &lt; n）使 xₙ = xₘ，则必有 xₙ₊ₖ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xₘ₊ₖ（k = 0, 1, 2, …），即序列重复了 xₘ, xₘ₊₁, …。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这样的 n − m 的最小值 T 称为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在初值 x₀ 下的周期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94742" y="5455920"/>
              <a:ext cx="3888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序列只能取 0, 1, …, M − 1 这 M 个值，所以 T ≤ M。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856" cy="909257"/>
            <a:chOff x="520446" y="342900"/>
            <a:chExt cx="66048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8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三个小例子：参数选得不好，周期远小于 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8447" y="1524000"/>
            <a:ext cx="6064758" cy="2463831"/>
            <a:chOff x="528447" y="1524000"/>
            <a:chExt cx="6064758" cy="24638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471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599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16173" y="16454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9453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299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9492" y="21455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6338" y="2045494"/>
              <a:ext cx="14267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 = (7xₙ₋₁ + 7) mod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1782" y="2145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17570" y="2145506"/>
              <a:ext cx="178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6, 9, 0, 7, 6, 9, 0, 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70959" y="2145506"/>
              <a:ext cx="1031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4 &lt; M = 10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24125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492" y="274558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6338" y="2645569"/>
              <a:ext cx="142671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 = (5xₙ₋₁ + 1) mod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61782" y="27455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7570" y="2745581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6, 1, 6, 1, 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01525" y="2745581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9492" y="33456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6338" y="3345656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 = (5xₙ₋₁ + 1) mod 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61782" y="3345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17570" y="3245644"/>
              <a:ext cx="156184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1, 6, 7, 4, 5, 2, 3, 0,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6, 7, …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90198" y="3133725"/>
              <a:ext cx="1192530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43360" y="3245644"/>
              <a:ext cx="8862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8 = M，满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74420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91790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15652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75910" y="1524000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3797141"/>
              <a:ext cx="44030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例5.3 换任何初值，序列最后都在 1、6 之间来回（脚本检验了 x₀ = 0～9）</a:t>
              </a:r>
            </a:p>
          </p:txBody>
        </p:sp>
      </p:grpSp>
      <p:grpSp>
        <p:nvGrpSpPr>
          <p:cNvPr id="42" name="c1-code-2"/>
          <p:cNvGrpSpPr/>
          <p:nvPr/>
        </p:nvGrpSpPr>
        <p:grpSpPr>
          <a:xfrm>
            <a:off x="533400" y="4119562"/>
            <a:ext cx="6059805" cy="2088832"/>
            <a:chOff x="533400" y="4119562"/>
            <a:chExt cx="6059805" cy="2088832"/>
          </a:xfrm>
        </p:grpSpPr>
        <p:sp>
          <p:nvSpPr>
            <p:cNvPr id="39" name="Rectangle 39"/>
            <p:cNvSpPr/>
            <p:nvPr/>
          </p:nvSpPr>
          <p:spPr>
            <a:xfrm>
              <a:off x="533400" y="4119562"/>
              <a:ext cx="6059805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1797" y="4271486"/>
              <a:ext cx="1145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R：线性同余发生器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1797" y="4532471"/>
              <a:ext cx="4185539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lcg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a, c, M, x0)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numeric(n); xp &lt;- x0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xp &lt;- (a * xp + c) %% M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x[i] &lt;- xp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/ M               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R_n = x_n / M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lcg(8, 5, 1, 8, 1)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0.75 0.875 0.5 0.625 0.25 0.375 0 0.125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898005" y="1524000"/>
            <a:ext cx="4760595" cy="1185862"/>
            <a:chOff x="6898005" y="1524000"/>
            <a:chExt cx="4760595" cy="1185862"/>
          </a:xfrm>
        </p:grpSpPr>
        <p:sp>
          <p:nvSpPr>
            <p:cNvPr id="43" name="Rectangle 43"/>
            <p:cNvSpPr/>
            <p:nvPr/>
          </p:nvSpPr>
          <p:spPr>
            <a:xfrm>
              <a:off x="6898005" y="1524000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2795" y="1710690"/>
              <a:ext cx="7981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4766" y="1743551"/>
              <a:ext cx="634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手算例5.2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5937" y="2054542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7×7 + 7 = 56 → 6；7×6 + 7 = 49 → 9；7×9 + 7 = 70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0；7×0 + 7 = 7，回到初值，周期为 4。</a:t>
              </a:r>
            </a:p>
          </p:txBody>
        </p:sp>
      </p:grpSp>
      <p:grpSp>
        <p:nvGrpSpPr>
          <p:cNvPr id="50" name="c2-text-2"/>
          <p:cNvGrpSpPr/>
          <p:nvPr/>
        </p:nvGrpSpPr>
        <p:grpSpPr>
          <a:xfrm>
            <a:off x="6892290" y="2897981"/>
            <a:ext cx="3124921" cy="220028"/>
            <a:chOff x="6892290" y="2897981"/>
            <a:chExt cx="3124921" cy="220028"/>
          </a:xfrm>
        </p:grpSpPr>
        <p:sp>
          <p:nvSpPr>
            <p:cNvPr id="49" name="TextBox 49"/>
            <p:cNvSpPr txBox="1"/>
            <p:nvPr/>
          </p:nvSpPr>
          <p:spPr>
            <a:xfrm>
              <a:off x="6892290" y="2897981"/>
              <a:ext cx="312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例5.4 的状态转移：8 个值各出现一次后回到 1</a:t>
              </a:r>
            </a:p>
          </p:txBody>
        </p:sp>
      </p:grpSp>
      <p:grpSp>
        <p:nvGrpSpPr>
          <p:cNvPr id="84" name="c2-graph-3"/>
          <p:cNvGrpSpPr/>
          <p:nvPr/>
        </p:nvGrpSpPr>
        <p:grpSpPr>
          <a:xfrm>
            <a:off x="7411402" y="3301365"/>
            <a:ext cx="3732848" cy="1988248"/>
            <a:chOff x="7411402" y="3301365"/>
            <a:chExt cx="3732848" cy="1988248"/>
          </a:xfrm>
        </p:grpSpPr>
        <p:sp>
          <p:nvSpPr>
            <p:cNvPr id="51" name="Freeform 51"/>
            <p:cNvSpPr/>
            <p:nvPr/>
          </p:nvSpPr>
          <p:spPr>
            <a:xfrm>
              <a:off x="9436418" y="3485198"/>
              <a:ext cx="803910" cy="162878"/>
            </a:xfrm>
            <a:custGeom>
              <a:avLst/>
              <a:gdLst/>
              <a:ahLst/>
              <a:cxnLst/>
              <a:rect l="l" t="t" r="r" b="b"/>
              <a:pathLst>
                <a:path w="803910" h="162878">
                  <a:moveTo>
                    <a:pt x="0" y="0"/>
                  </a:moveTo>
                  <a:lnTo>
                    <a:pt x="803910" y="1628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10230802" y="360140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4770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596562" y="3822382"/>
              <a:ext cx="229552" cy="272415"/>
            </a:xfrm>
            <a:custGeom>
              <a:avLst/>
              <a:gdLst/>
              <a:ahLst/>
              <a:cxnLst/>
              <a:rect l="l" t="t" r="r" b="b"/>
              <a:pathLst>
                <a:path w="229552" h="272415">
                  <a:moveTo>
                    <a:pt x="0" y="0"/>
                  </a:moveTo>
                  <a:lnTo>
                    <a:pt x="229552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789920" y="4064318"/>
              <a:ext cx="98107" cy="103823"/>
            </a:xfrm>
            <a:custGeom>
              <a:avLst/>
              <a:gdLst/>
              <a:ahLst/>
              <a:cxnLst/>
              <a:rect l="l" t="t" r="r" b="b"/>
              <a:pathLst>
                <a:path w="98107" h="103823">
                  <a:moveTo>
                    <a:pt x="98107" y="103823"/>
                  </a:moveTo>
                  <a:lnTo>
                    <a:pt x="0" y="6096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0657522" y="4415790"/>
              <a:ext cx="230505" cy="272415"/>
            </a:xfrm>
            <a:custGeom>
              <a:avLst/>
              <a:gdLst/>
              <a:ahLst/>
              <a:cxnLst/>
              <a:rect l="l" t="t" r="r" b="b"/>
              <a:pathLst>
                <a:path w="230505" h="272415">
                  <a:moveTo>
                    <a:pt x="230505" y="0"/>
                  </a:moveTo>
                  <a:lnTo>
                    <a:pt x="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596562" y="4657725"/>
              <a:ext cx="98107" cy="102870"/>
            </a:xfrm>
            <a:custGeom>
              <a:avLst/>
              <a:gdLst/>
              <a:ahLst/>
              <a:cxnLst/>
              <a:rect l="l" t="t" r="r" b="b"/>
              <a:pathLst>
                <a:path w="98107" h="102870">
                  <a:moveTo>
                    <a:pt x="0" y="102870"/>
                  </a:moveTo>
                  <a:lnTo>
                    <a:pt x="24765" y="0"/>
                  </a:lnTo>
                  <a:lnTo>
                    <a:pt x="98107" y="609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529762" y="4916805"/>
              <a:ext cx="803910" cy="161925"/>
            </a:xfrm>
            <a:custGeom>
              <a:avLst/>
              <a:gdLst/>
              <a:ahLst/>
              <a:cxnLst/>
              <a:rect l="l" t="t" r="r" b="b"/>
              <a:pathLst>
                <a:path w="803910" h="161925">
                  <a:moveTo>
                    <a:pt x="803910" y="0"/>
                  </a:moveTo>
                  <a:lnTo>
                    <a:pt x="0" y="161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436418" y="503205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5723"/>
                  </a:moveTo>
                  <a:lnTo>
                    <a:pt x="84772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316278" y="4935855"/>
              <a:ext cx="802957" cy="161925"/>
            </a:xfrm>
            <a:custGeom>
              <a:avLst/>
              <a:gdLst/>
              <a:ahLst/>
              <a:cxnLst/>
              <a:rect l="l" t="t" r="r" b="b"/>
              <a:pathLst>
                <a:path w="802957" h="161925">
                  <a:moveTo>
                    <a:pt x="802957" y="1619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8222932" y="488918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27623"/>
                  </a:moveTo>
                  <a:lnTo>
                    <a:pt x="102870" y="0"/>
                  </a:lnTo>
                  <a:lnTo>
                    <a:pt x="83820" y="933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7729538" y="4488180"/>
              <a:ext cx="230505" cy="272415"/>
            </a:xfrm>
            <a:custGeom>
              <a:avLst/>
              <a:gdLst/>
              <a:ahLst/>
              <a:cxnLst/>
              <a:rect l="l" t="t" r="r" b="b"/>
              <a:pathLst>
                <a:path w="230505" h="272415">
                  <a:moveTo>
                    <a:pt x="230505" y="2724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668578" y="4415790"/>
              <a:ext cx="98107" cy="102870"/>
            </a:xfrm>
            <a:custGeom>
              <a:avLst/>
              <a:gdLst/>
              <a:ahLst/>
              <a:cxnLst/>
              <a:rect l="l" t="t" r="r" b="b"/>
              <a:pathLst>
                <a:path w="98107" h="102870">
                  <a:moveTo>
                    <a:pt x="0" y="0"/>
                  </a:moveTo>
                  <a:lnTo>
                    <a:pt x="98107" y="41910"/>
                  </a:lnTo>
                  <a:lnTo>
                    <a:pt x="24765" y="10287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7668578" y="3894772"/>
              <a:ext cx="229553" cy="273368"/>
            </a:xfrm>
            <a:custGeom>
              <a:avLst/>
              <a:gdLst/>
              <a:ahLst/>
              <a:cxnLst/>
              <a:rect l="l" t="t" r="r" b="b"/>
              <a:pathLst>
                <a:path w="229553" h="273368">
                  <a:moveTo>
                    <a:pt x="0" y="273368"/>
                  </a:moveTo>
                  <a:lnTo>
                    <a:pt x="22955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861935" y="3822382"/>
              <a:ext cx="98108" cy="103822"/>
            </a:xfrm>
            <a:custGeom>
              <a:avLst/>
              <a:gdLst/>
              <a:ahLst/>
              <a:cxnLst/>
              <a:rect l="l" t="t" r="r" b="b"/>
              <a:pathLst>
                <a:path w="98108" h="103822">
                  <a:moveTo>
                    <a:pt x="98108" y="0"/>
                  </a:moveTo>
                  <a:lnTo>
                    <a:pt x="72390" y="103822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222932" y="3504248"/>
              <a:ext cx="802958" cy="161925"/>
            </a:xfrm>
            <a:custGeom>
              <a:avLst/>
              <a:gdLst/>
              <a:ahLst/>
              <a:cxnLst/>
              <a:rect l="l" t="t" r="r" b="b"/>
              <a:pathLst>
                <a:path w="802958" h="161925">
                  <a:moveTo>
                    <a:pt x="0" y="161925"/>
                  </a:moveTo>
                  <a:lnTo>
                    <a:pt x="80295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016365" y="3457575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27622"/>
                  </a:moveTo>
                  <a:lnTo>
                    <a:pt x="1905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125902" y="3301365"/>
              <a:ext cx="304800" cy="304800"/>
            </a:xfrm>
            <a:prstGeom prst="ellipse">
              <a:avLst/>
            </a:prstGeom>
            <a:solidFill>
              <a:srgbClr val="2E7D4F"/>
            </a:solidFill>
            <a:ln w="17145">
              <a:solidFill>
                <a:srgbClr val="2E7D4F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339388" y="35461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839450" y="413956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10339388" y="47320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9125902" y="497776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911465" y="47320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411402" y="413956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911465" y="35461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225561" y="33785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39046" y="36242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939108" y="42167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439046" y="48101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25561" y="5054917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11123" y="48101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11061" y="42167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11123" y="36242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813578" y="4178618"/>
              <a:ext cx="929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×5 + 1，mod 8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9386" cy="909257"/>
            <a:chOff x="520446" y="342900"/>
            <a:chExt cx="88593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93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定理5.1：三个条件同时满足，混合同余发生器达到满周期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760595" cy="2586990"/>
            <a:chOff x="533400" y="1524000"/>
            <a:chExt cx="4760595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586990"/>
            </a:xfrm>
            <a:prstGeom prst="roundRect">
              <a:avLst>
                <a:gd name="adj" fmla="val 51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202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400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4475" y="1769269"/>
              <a:ext cx="5741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定理5.1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925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混合同余发生器（c &gt; 0）达到满周期的条件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465070"/>
              <a:ext cx="1080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与 M 互素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800350"/>
              <a:ext cx="3870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M 的任一个素因子 P，a − 1 能被 P 整除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1222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135630"/>
              <a:ext cx="3766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4 是 M 的因子，则 a − 1 能被 4 整除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573" y="3467576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原课件称为“一个充分条件”。事实上这三个条件也是必要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的（Hull–Dobell 定理），缺一条就达不到满周期。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301490"/>
            <a:ext cx="4760595" cy="782955"/>
            <a:chOff x="533400" y="4301490"/>
            <a:chExt cx="4760595" cy="782955"/>
          </a:xfrm>
        </p:grpSpPr>
        <p:sp>
          <p:nvSpPr>
            <p:cNvPr id="23" name="Rectangle 23"/>
            <p:cNvSpPr/>
            <p:nvPr/>
          </p:nvSpPr>
          <p:spPr>
            <a:xfrm>
              <a:off x="533400" y="4301490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592955"/>
              <a:ext cx="200026" cy="200025"/>
              <a:chOff x="738188" y="459295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592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637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748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4450080"/>
              <a:ext cx="3729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 M 取 2 的整数次幂（最常用）时，条件化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简为：c 是奇数，且 a − 1 是 4 的倍数。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5274945"/>
            <a:ext cx="4760595" cy="1059180"/>
            <a:chOff x="533400" y="5274945"/>
            <a:chExt cx="4760595" cy="1059180"/>
          </a:xfrm>
        </p:grpSpPr>
        <p:sp>
          <p:nvSpPr>
            <p:cNvPr id="30" name="Rectangle 30"/>
            <p:cNvSpPr/>
            <p:nvPr/>
          </p:nvSpPr>
          <p:spPr>
            <a:xfrm>
              <a:off x="533400" y="5274945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26129" y="5700831"/>
              <a:ext cx="224134" cy="192560"/>
              <a:chOff x="726129" y="5700831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8200" y="577119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6129" y="570083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84898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423535"/>
              <a:ext cx="3844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 R 实现时注意：R 的数是双精度浮点数，a·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xₙ₋₁ 超过 2⁵³ 后 %% 的结果会失真。例5.5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这样的大模数发生器要把乘法拆开算。</a:t>
              </a:r>
            </a:p>
          </p:txBody>
        </p:sp>
      </p:grpSp>
      <p:grpSp>
        <p:nvGrpSpPr>
          <p:cNvPr id="67" name="c2-table-1"/>
          <p:cNvGrpSpPr/>
          <p:nvPr/>
        </p:nvGrpSpPr>
        <p:grpSpPr>
          <a:xfrm>
            <a:off x="5598795" y="1524000"/>
            <a:ext cx="6059805" cy="2475548"/>
            <a:chOff x="5598795" y="1524000"/>
            <a:chExt cx="6059805" cy="2475548"/>
          </a:xfrm>
        </p:grpSpPr>
        <p:sp>
          <p:nvSpPr>
            <p:cNvPr id="37" name="Rectangle 37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4348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73394" y="165973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64006" y="165973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85099" y="1659731"/>
              <a:ext cx="457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645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06618" y="2108359"/>
              <a:ext cx="140528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例5.2：a = 7，c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7，M = 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09306" y="222170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67484" y="2108359"/>
              <a:ext cx="850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5 不整除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05619" y="2221706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4∤10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31995" y="2221706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598795" y="26431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598795" y="264795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706618" y="2783681"/>
              <a:ext cx="140528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例5.3：a = 5，c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1，M = 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09306" y="289702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67484" y="2783681"/>
              <a:ext cx="8501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5 不整除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05619" y="2897029"/>
              <a:ext cx="6160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4∤10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31995" y="2897029"/>
              <a:ext cx="422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06618" y="3459004"/>
              <a:ext cx="140528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例5.4：a = 5，c =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1，M = 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09306" y="357235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01758" y="357235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2 | 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22851" y="357235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✓ 4 | 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638472" y="3333750"/>
              <a:ext cx="1010602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805117" y="357235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满周期 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598795" y="1524000"/>
              <a:ext cx="605980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41235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8200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59358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624185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2"/>
          <p:cNvGrpSpPr/>
          <p:nvPr/>
        </p:nvGrpSpPr>
        <p:grpSpPr>
          <a:xfrm>
            <a:off x="5598795" y="4190048"/>
            <a:ext cx="6059805" cy="2157412"/>
            <a:chOff x="5598795" y="4190048"/>
            <a:chExt cx="6059805" cy="2157412"/>
          </a:xfrm>
        </p:grpSpPr>
        <p:sp>
          <p:nvSpPr>
            <p:cNvPr id="68" name="Rectangle 68"/>
            <p:cNvSpPr/>
            <p:nvPr/>
          </p:nvSpPr>
          <p:spPr>
            <a:xfrm>
              <a:off x="5598795" y="4190048"/>
              <a:ext cx="6059805" cy="2157412"/>
            </a:xfrm>
            <a:prstGeom prst="roundRect">
              <a:avLst>
                <a:gd name="adj" fmla="val 61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608320" y="4323398"/>
              <a:ext cx="47625" cy="18907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46445" y="4399598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33819" y="4435316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例5.5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51295" y="4434840"/>
              <a:ext cx="3707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Kobayashi 提出的满周期混合同余发生器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formula14"/>
                <p:cNvSpPr txBox="1">
                  <a:spLocks noGrp="1"/>
                </p:cNvSpPr>
                <p:nvPr/>
              </p:nvSpPr>
              <p:spPr>
                <a:xfrm>
                  <a:off x="5846445" y="4771072"/>
                  <a:ext cx="560260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314159269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453806245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31</m:t>
                                </m:r>
                              </m:sup>
                            </m:sSup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4" name="Ellipse 74"/>
            <p:cNvSpPr/>
            <p:nvPr/>
          </p:nvSpPr>
          <p:spPr>
            <a:xfrm>
              <a:off x="5852160" y="5334952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10275" y="5272088"/>
              <a:ext cx="40639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1：c = 453806245 是奇数，与 2³¹ 互素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5852160" y="5670233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010275" y="5607368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2、3：a − 1 = 314159268 = 4 × 78539817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839968" y="5938361"/>
              <a:ext cx="3450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周期达到 2³¹ ≈ 2.1×10⁹，统计性质比较好。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29727" cy="909257"/>
            <a:chOff x="520446" y="342900"/>
            <a:chExt cx="89297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297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充分大时 Rₙ 近似 U(0,1)；a 要取大，前后项才不相关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5316982" cy="441008"/>
            <a:chOff x="527685" y="1542574"/>
            <a:chExt cx="5316982" cy="44100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531698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满周期时一个周期内 xₙ 把 0, 1, …, M − 1 各取一次，可看作这 M 个值上的离散均匀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7"/>
              <p:cNvSpPr txBox="1">
                <a:spLocks noGrp="1"/>
              </p:cNvSpPr>
              <p:nvPr/>
            </p:nvSpPr>
            <p:spPr>
              <a:xfrm>
                <a:off x="533400" y="2109788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8"/>
              <p:cNvSpPr txBox="1">
                <a:spLocks noGrp="1"/>
              </p:cNvSpPr>
              <p:nvPr/>
            </p:nvSpPr>
            <p:spPr>
              <a:xfrm>
                <a:off x="533400" y="2876550"/>
                <a:ext cx="562641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527685" y="3662839"/>
            <a:ext cx="1858701" cy="220028"/>
            <a:chOff x="527685" y="3662839"/>
            <a:chExt cx="1858701" cy="220028"/>
          </a:xfrm>
        </p:grpSpPr>
        <p:sp>
          <p:nvSpPr>
            <p:cNvPr id="11" name="TextBox 11"/>
            <p:cNvSpPr txBox="1"/>
            <p:nvPr/>
          </p:nvSpPr>
          <p:spPr>
            <a:xfrm>
              <a:off x="527685" y="3662839"/>
              <a:ext cx="1858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Rₙ = xₙ/M，于是 M 很大时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9"/>
              <p:cNvSpPr txBox="1">
                <a:spLocks noGrp="1"/>
              </p:cNvSpPr>
              <p:nvPr/>
            </p:nvSpPr>
            <p:spPr>
              <a:xfrm>
                <a:off x="533400" y="4008120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2M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Var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llout-6"/>
          <p:cNvGrpSpPr/>
          <p:nvPr/>
        </p:nvGrpSpPr>
        <p:grpSpPr>
          <a:xfrm>
            <a:off x="533400" y="4666298"/>
            <a:ext cx="5626418" cy="729615"/>
            <a:chOff x="533400" y="4666298"/>
            <a:chExt cx="5626418" cy="729615"/>
          </a:xfrm>
        </p:grpSpPr>
        <p:sp>
          <p:nvSpPr>
            <p:cNvPr id="14" name="Rectangle 14"/>
            <p:cNvSpPr/>
            <p:nvPr/>
          </p:nvSpPr>
          <p:spPr>
            <a:xfrm>
              <a:off x="533400" y="4666298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931093"/>
              <a:ext cx="200026" cy="200026"/>
              <a:chOff x="738188" y="493109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9310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9977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0311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4812982"/>
              <a:ext cx="46600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U(0,1) 的期望是 1/2、方差是 1/12。M 充分大时，生成的数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 Rₙ 很接近均匀分布。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2358390"/>
            <a:chOff x="6464618" y="1524000"/>
            <a:chExt cx="5193982" cy="2358390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2358390"/>
            </a:xfrm>
            <a:prstGeom prst="roundRect">
              <a:avLst>
                <a:gd name="adj" fmla="val 565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51308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14427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前后两项的自相关系数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44449" y="205454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满周期的混合同余发生器，前后两项自相关系数的近似公式为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30"/>
                <p:cNvSpPr txBox="1">
                  <a:spLocks noGrp="1"/>
                </p:cNvSpPr>
                <p:nvPr/>
              </p:nvSpPr>
              <p:spPr>
                <a:xfrm>
                  <a:off x="6651308" y="2332672"/>
                  <a:ext cx="4820602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ρ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6c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aM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Ellipse 26"/>
            <p:cNvSpPr/>
            <p:nvPr/>
          </p:nvSpPr>
          <p:spPr>
            <a:xfrm>
              <a:off x="6659880" y="298418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15899" y="2927985"/>
              <a:ext cx="3824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第一项是 1/a，所以应该选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 值大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（但 a &lt; M）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659880" y="328422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15899" y="3228022"/>
              <a:ext cx="41628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c/M 取在 1/2 − √3/6 ≈ 0.2113 附近时，第二项约等于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1/a，两项几乎抵消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464618" y="4052888"/>
            <a:ext cx="5193982" cy="2047875"/>
            <a:chOff x="6464618" y="4052888"/>
            <a:chExt cx="5193982" cy="2047875"/>
          </a:xfrm>
        </p:grpSpPr>
        <p:sp>
          <p:nvSpPr>
            <p:cNvPr id="31" name="Rectangle 31"/>
            <p:cNvSpPr/>
            <p:nvPr/>
          </p:nvSpPr>
          <p:spPr>
            <a:xfrm>
              <a:off x="6464618" y="4052888"/>
              <a:ext cx="5193982" cy="2047875"/>
            </a:xfrm>
            <a:prstGeom prst="roundRect">
              <a:avLst>
                <a:gd name="adj" fmla="val 6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4186238"/>
              <a:ext cx="47625" cy="17811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9408" y="4239578"/>
              <a:ext cx="7981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1378" y="4272439"/>
              <a:ext cx="6342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代入例5.5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97980" y="463962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3999" y="4583430"/>
              <a:ext cx="47469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c/M = 453806245/2³¹ = 0.211325，正好在 0.2113 附近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97980" y="493966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3999" y="4883468"/>
              <a:ext cx="3739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代入得 ρ(1) ≈ 5×10⁻¹⁴，前后两项几乎不相关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697980" y="523970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53999" y="5183505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x₀ = 1 时前三个随机数 R₁, R₂, R₃ = 0.3576, 0.9818,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0.7474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83692" y="5737384"/>
              <a:ext cx="2565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以上数值用 Python 的整数运算算出。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14780" cy="909257"/>
            <a:chOff x="520446" y="342900"/>
            <a:chExt cx="69147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147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乘同余法：c = 0，周期等于 a 对模 M 的阶数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501140"/>
            <a:chOff x="533400" y="1524000"/>
            <a:chExt cx="5626418" cy="1501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01140"/>
            </a:xfrm>
            <a:prstGeom prst="roundRect">
              <a:avLst>
                <a:gd name="adj" fmla="val 8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3444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7258" y="174355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乘同余法（积式发生器）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37"/>
                <p:cNvSpPr txBox="1">
                  <a:spLocks noGrp="1"/>
                </p:cNvSpPr>
                <p:nvPr/>
              </p:nvSpPr>
              <p:spPr>
                <a:xfrm>
                  <a:off x="758190" y="2032635"/>
                  <a:ext cx="521493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66762" y="268319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626995"/>
              <a:ext cx="5161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 只在 1 ~ M − 1 中取值（出现 0 后恒为 0），最大周期 M − 1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194685"/>
            <a:ext cx="5626418" cy="1612582"/>
            <a:chOff x="533400" y="3194685"/>
            <a:chExt cx="5626418" cy="1612582"/>
          </a:xfrm>
        </p:grpSpPr>
        <p:sp>
          <p:nvSpPr>
            <p:cNvPr id="15" name="Rectangle 15"/>
            <p:cNvSpPr/>
            <p:nvPr/>
          </p:nvSpPr>
          <p:spPr>
            <a:xfrm>
              <a:off x="533400" y="3194685"/>
              <a:ext cx="5626418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28035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3381375"/>
              <a:ext cx="117157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8959" y="3414236"/>
              <a:ext cx="1030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定义5.2（阶数）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3726180"/>
              <a:ext cx="50114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设正整数 a 与 M 互素，满足下式的最小正整数 V 称为 a 对模 M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阶数（或次数），简称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的阶数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38"/>
                <p:cNvSpPr txBox="1">
                  <a:spLocks noGrp="1"/>
                </p:cNvSpPr>
                <p:nvPr/>
              </p:nvSpPr>
              <p:spPr>
                <a:xfrm>
                  <a:off x="758190" y="4260532"/>
                  <a:ext cx="52149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callout-3"/>
          <p:cNvGrpSpPr/>
          <p:nvPr/>
        </p:nvGrpSpPr>
        <p:grpSpPr>
          <a:xfrm>
            <a:off x="533400" y="4976812"/>
            <a:ext cx="5626418" cy="729615"/>
            <a:chOff x="533400" y="4976812"/>
            <a:chExt cx="5626418" cy="729615"/>
          </a:xfrm>
        </p:grpSpPr>
        <p:sp>
          <p:nvSpPr>
            <p:cNvPr id="22" name="Rectangle 22"/>
            <p:cNvSpPr/>
            <p:nvPr/>
          </p:nvSpPr>
          <p:spPr>
            <a:xfrm>
              <a:off x="533400" y="4976812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5241610"/>
              <a:ext cx="200023" cy="200023"/>
              <a:chOff x="738188" y="524161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241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1538" y="5308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5123498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充分大时同样有 E(Rₙ) ≈ 1/2、Var(Rₙ) ≈ 1/12。为使前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后两项相关系数小，a 应较大，且二进制表示排列无规律。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6459665" y="1524000"/>
            <a:ext cx="5198935" cy="1863756"/>
            <a:chOff x="6459665" y="1524000"/>
            <a:chExt cx="5198935" cy="1863756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26834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5581" y="1645444"/>
              <a:ext cx="1105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 = 1 时的序列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55697" y="1645444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阶数 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26834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5660" y="2045494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2, 6, 4, 5, 1, 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317480" y="1933575"/>
              <a:ext cx="133159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46997" y="2045494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= M − 1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2683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85660" y="2445544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4, 1, 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3610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2683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85660" y="2845594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6, 1, 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3610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1524000"/>
              <a:ext cx="519398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8374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303192" y="152400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59665" y="3197066"/>
              <a:ext cx="2240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= 7 时三个乘数的对比（脚本复核）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6464618" y="3519488"/>
            <a:ext cx="5193982" cy="1654492"/>
            <a:chOff x="6464618" y="3519488"/>
            <a:chExt cx="5193982" cy="1654492"/>
          </a:xfrm>
        </p:grpSpPr>
        <p:sp>
          <p:nvSpPr>
            <p:cNvPr id="50" name="Rectangle 50"/>
            <p:cNvSpPr/>
            <p:nvPr/>
          </p:nvSpPr>
          <p:spPr>
            <a:xfrm>
              <a:off x="6464618" y="3519488"/>
              <a:ext cx="5193982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4142" y="3652838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89408" y="3706178"/>
              <a:ext cx="87630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65369" y="3739039"/>
              <a:ext cx="7243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Lemma 5.1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82549" y="4050982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与 M 互素，初值 x₀ 与 M 互素，则乘同余法的周期为 a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对模 M 的阶数 V。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83692" y="4603909"/>
              <a:ext cx="42928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xₙ ≡ aⁿx₀ (mod M)，x₀ 与 M 互素可以消去，所以 xₙ = x₀ ⇔ aⁿ ≡ 1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(mod M)。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6464618" y="5343525"/>
            <a:ext cx="5193982" cy="729615"/>
            <a:chOff x="6464618" y="5343525"/>
            <a:chExt cx="5193982" cy="729615"/>
          </a:xfrm>
        </p:grpSpPr>
        <p:sp>
          <p:nvSpPr>
            <p:cNvPr id="57" name="Rectangle 57"/>
            <p:cNvSpPr/>
            <p:nvPr/>
          </p:nvSpPr>
          <p:spPr>
            <a:xfrm>
              <a:off x="6464618" y="5343525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657347" y="5604628"/>
              <a:ext cx="224134" cy="192560"/>
              <a:chOff x="6657347" y="5604628"/>
              <a:chExt cx="224134" cy="19256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769418" y="56749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657347" y="56046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69418" y="5752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972110" y="5490210"/>
              <a:ext cx="423138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周期 M − 1 只在 M 为素数且 a 的阶数为 M − 1 时才能达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到；M 是 2 的整数次幂时最长只有 M/4（例5.6）。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30617" cy="909257"/>
            <a:chOff x="520446" y="342900"/>
            <a:chExt cx="89306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306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例5.6：把模为 2 的幂的乘同余发生器化成混合同余发生器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5246218" cy="234696"/>
            <a:chOff x="527304" y="1544002"/>
            <a:chExt cx="5246218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5246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依次是乘同余发生器、混合同余发生器、两者的关系（α、b 为非负整数）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45"/>
              <p:cNvSpPr txBox="1">
                <a:spLocks noGrp="1"/>
              </p:cNvSpPr>
              <p:nvPr/>
            </p:nvSpPr>
            <p:spPr>
              <a:xfrm>
                <a:off x="533400" y="1911668"/>
                <a:ext cx="584263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8α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5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mod</m:t>
                          </m:r>
                        </m:fName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p>
                          </m:sSup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4b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46"/>
              <p:cNvSpPr txBox="1">
                <a:spLocks noGrp="1"/>
              </p:cNvSpPr>
              <p:nvPr/>
            </p:nvSpPr>
            <p:spPr>
              <a:xfrm>
                <a:off x="533400" y="2453640"/>
                <a:ext cx="584263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b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2α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mod</m:t>
                          </m:r>
                        </m:fName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47"/>
              <p:cNvSpPr txBox="1">
                <a:spLocks noGrp="1"/>
              </p:cNvSpPr>
              <p:nvPr/>
            </p:nvSpPr>
            <p:spPr>
              <a:xfrm>
                <a:off x="533400" y="2995612"/>
                <a:ext cx="5842635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5"/>
          <p:cNvGrpSpPr/>
          <p:nvPr/>
        </p:nvGrpSpPr>
        <p:grpSpPr>
          <a:xfrm>
            <a:off x="533400" y="3547110"/>
            <a:ext cx="5213299" cy="1782508"/>
            <a:chOff x="533400" y="3547110"/>
            <a:chExt cx="5213299" cy="1782508"/>
          </a:xfrm>
        </p:grpSpPr>
        <p:sp>
          <p:nvSpPr>
            <p:cNvPr id="12" name="Rectangle 12"/>
            <p:cNvSpPr/>
            <p:nvPr/>
          </p:nvSpPr>
          <p:spPr>
            <a:xfrm>
              <a:off x="666750" y="3689985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33400" y="35471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620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7815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855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261" y="3580924"/>
              <a:ext cx="466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3861435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4x*₀ + 1 = 4b + 1 = x₀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41971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4477702"/>
              <a:ext cx="3953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(8α+5)(4x*ₙ₋₁ + 1) = 4[(8α+5)x*ₙ₋₁ + (2α+1)] + 1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481441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5094922"/>
              <a:ext cx="48002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方括号对 M/4 取余，乘 4 后正对应对 M 取余（M 为 2 的 L 次方）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1522095"/>
            <a:chOff x="6680835" y="1524000"/>
            <a:chExt cx="4977765" cy="1522095"/>
          </a:xfrm>
        </p:grpSpPr>
        <p:sp>
          <p:nvSpPr>
            <p:cNvPr id="26" name="Rectangle 26"/>
            <p:cNvSpPr/>
            <p:nvPr/>
          </p:nvSpPr>
          <p:spPr>
            <a:xfrm>
              <a:off x="6680835" y="152400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78955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54393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推论（补充）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1716" y="2082641"/>
              <a:ext cx="441477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混合式增量 2α + 1 为奇数，a − 1 = 8α + 4 是 4 的倍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数，由定理 5.1 满周期 M/4。所以该乘同余发生器周期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也是 M/4，是模为 2 的幂时的最长周期。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6675501" y="3227070"/>
            <a:ext cx="4983099" cy="3039047"/>
            <a:chOff x="6675501" y="3227070"/>
            <a:chExt cx="4983099" cy="3039047"/>
          </a:xfrm>
        </p:grpSpPr>
        <p:sp>
          <p:nvSpPr>
            <p:cNvPr id="31" name="Rectangle 31"/>
            <p:cNvSpPr/>
            <p:nvPr/>
          </p:nvSpPr>
          <p:spPr>
            <a:xfrm>
              <a:off x="6680835" y="3227070"/>
              <a:ext cx="4977765" cy="63817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77648" y="34613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63409" y="3354705"/>
              <a:ext cx="72466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x*ₙ（mod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33800" y="3461385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4x*ₙ + 1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85365" y="3461385"/>
              <a:ext cx="1555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 = 13xₙ₋₁ mod 64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7648" y="39928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75219" y="39928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20137" y="39928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12717" y="39928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4284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0835" y="428910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77648" y="44176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75219" y="44176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20137" y="44176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12717" y="44176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470820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7648" y="48415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75219" y="484155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75712" y="484155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68292" y="484155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513302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80835" y="513778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77648" y="526637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30795" y="526637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975712" y="526637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68292" y="526637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55578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77648" y="56902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75219" y="56902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75712" y="56902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68292" y="56902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80835" y="3227070"/>
              <a:ext cx="4977765" cy="2760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74230" y="322707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468678" y="322707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63112" y="322707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75501" y="6060758"/>
              <a:ext cx="4530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= 6，α = 1，b = 1；脚本验证前 20 项全部相等，两个序列周期都是 16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FSR 发生器：对二进制位做线性递推，再拼成整数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1697355"/>
            <a:chOff x="533400" y="1524000"/>
            <a:chExt cx="5626418" cy="1697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459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线性同余法的不足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4232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周期不可能超过 2 的 L 次方（L 为整数型尾数的位数）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作为多维随机数时相关性大，分布不均匀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475" y="2651284"/>
              <a:ext cx="49115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基于 Tausworthe（1965）文章的 FSR 方法是一种全新的做法，对这些方面有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改善。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390900"/>
            <a:ext cx="5626418" cy="2588895"/>
            <a:chOff x="533400" y="3390900"/>
            <a:chExt cx="5626418" cy="2588895"/>
          </a:xfrm>
        </p:grpSpPr>
        <p:sp>
          <p:nvSpPr>
            <p:cNvPr id="17" name="Rectangle 17"/>
            <p:cNvSpPr/>
            <p:nvPr/>
          </p:nvSpPr>
          <p:spPr>
            <a:xfrm>
              <a:off x="533400" y="3390900"/>
              <a:ext cx="5626418" cy="2588895"/>
            </a:xfrm>
            <a:prstGeom prst="roundRect">
              <a:avLst>
                <a:gd name="adj" fmla="val 51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524250"/>
              <a:ext cx="47625" cy="23221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3577590"/>
              <a:ext cx="331660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60" y="3610451"/>
              <a:ext cx="3329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FSR（Feedback Shift Register，反馈位移寄存器法）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3922395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按递推法则生成一系列二进制数 α₁, α₂, …, αₖ, …，其中 αₖ 由前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面若干个 αᵢ 线性组合并除以 2 取余产生：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57"/>
                <p:cNvSpPr txBox="1">
                  <a:spLocks noGrp="1"/>
                </p:cNvSpPr>
                <p:nvPr/>
              </p:nvSpPr>
              <p:spPr>
                <a:xfrm>
                  <a:off x="758190" y="4456748"/>
                  <a:ext cx="52149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Ellipse 23"/>
            <p:cNvSpPr/>
            <p:nvPr/>
          </p:nvSpPr>
          <p:spPr>
            <a:xfrm>
              <a:off x="766762" y="496252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4906328"/>
              <a:ext cx="4860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线性组合系数 {cᵢ}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只取 0、1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，这样的递推可以用程序语言中的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整数二进制运算快速实现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6464618" y="1533525"/>
            <a:ext cx="4955158" cy="1892142"/>
            <a:chOff x="6464618" y="1533525"/>
            <a:chExt cx="4955158" cy="1892142"/>
          </a:xfrm>
        </p:grpSpPr>
        <p:sp>
          <p:nvSpPr>
            <p:cNvPr id="26" name="Rectangle 26"/>
            <p:cNvSpPr/>
            <p:nvPr/>
          </p:nvSpPr>
          <p:spPr>
            <a:xfrm>
              <a:off x="6597968" y="1676400"/>
              <a:ext cx="19050" cy="1372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64618" y="211645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8241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64618" y="290607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8241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860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给初值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8002" y="1833086"/>
              <a:ext cx="3494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给定初值 (α₋ₚ₊₁, α₋ₚ₊₂, …, α₀)，按递推式向前推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6860" y="21478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截取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8002" y="2416016"/>
              <a:ext cx="45417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 {αₖ, k = 1, 2, …} 后，依次截取长度为 L 的二进制位，组合成整数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6860" y="293846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8002" y="3205639"/>
              <a:ext cx="1885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Rₙ = xₙ 除以 2 的 L 次方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589972"/>
            <a:ext cx="5193982" cy="2390775"/>
            <a:chOff x="6464618" y="3589972"/>
            <a:chExt cx="5193982" cy="2390775"/>
          </a:xfrm>
        </p:grpSpPr>
        <p:sp>
          <p:nvSpPr>
            <p:cNvPr id="40" name="Rectangle 40"/>
            <p:cNvSpPr/>
            <p:nvPr/>
          </p:nvSpPr>
          <p:spPr>
            <a:xfrm>
              <a:off x="6464618" y="3589972"/>
              <a:ext cx="5193982" cy="2390775"/>
            </a:xfrm>
            <a:prstGeom prst="roundRect">
              <a:avLst>
                <a:gd name="adj" fmla="val 557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51308" y="3776662"/>
              <a:ext cx="160401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09070" y="3809524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只有两个系数为 1 的特例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44449" y="4120515"/>
              <a:ext cx="4911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系数中仅有两个为 1，比如下式中 1 &lt; q &lt; p，其余系数为 0：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58"/>
                <p:cNvSpPr txBox="1">
                  <a:spLocks noGrp="1"/>
                </p:cNvSpPr>
                <p:nvPr/>
              </p:nvSpPr>
              <p:spPr>
                <a:xfrm>
                  <a:off x="6651308" y="4398645"/>
                  <a:ext cx="4820602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644449" y="4847272"/>
              <a:ext cx="2731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则递推变成两位的异或（XOR）：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59"/>
                <p:cNvSpPr txBox="1">
                  <a:spLocks noGrp="1"/>
                </p:cNvSpPr>
                <p:nvPr/>
              </p:nvSpPr>
              <p:spPr>
                <a:xfrm>
                  <a:off x="6651308" y="5125402"/>
                  <a:ext cx="4820602" cy="6515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sub>
                            </m:sSub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 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p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98684" cy="909257"/>
            <a:chOff x="520446" y="342900"/>
            <a:chExt cx="91986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986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FSR 手算：p = 4、q = 3，15 位一循环，拼出 1～15 各一次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1"/>
              <p:cNvSpPr txBox="1">
                <a:spLocks noGrp="1"/>
              </p:cNvSpPr>
              <p:nvPr/>
            </p:nvSpPr>
            <p:spPr>
              <a:xfrm>
                <a:off x="533400" y="1524000"/>
                <a:ext cx="605980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⊕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00" name="c1-cells-2"/>
          <p:cNvGrpSpPr/>
          <p:nvPr/>
        </p:nvGrpSpPr>
        <p:grpSpPr>
          <a:xfrm>
            <a:off x="527304" y="2095500"/>
            <a:ext cx="6065901" cy="1431607"/>
            <a:chOff x="527304" y="2095500"/>
            <a:chExt cx="6065901" cy="1431607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2230755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α₁…α₁₅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283018" y="2095500"/>
              <a:ext cx="35433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7441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36395" y="2095500"/>
              <a:ext cx="35433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60818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990725" y="2095500"/>
              <a:ext cx="35433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15148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345055" y="2095500"/>
              <a:ext cx="35433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69478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698432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22856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52762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77186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07092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31516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60470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84893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114800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39223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469130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93553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22508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46931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176838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01261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31168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54638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84545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08968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38875" y="209550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63298" y="2230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22102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75479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29809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84139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37517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91847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46177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99554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53884" y="25698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74896" y="2569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28273" y="2569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2603" y="2569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35981" y="2569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990311" y="2569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44641" y="25698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7304" y="3011805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α₁₆…α₃₀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283018" y="2876550"/>
              <a:ext cx="3543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407441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636395" y="2876550"/>
              <a:ext cx="3543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760818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990725" y="2876550"/>
              <a:ext cx="3543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115148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345055" y="2876550"/>
              <a:ext cx="35433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469478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698432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822856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052762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177186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407092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531516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760470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884893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114800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239223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469130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593553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822508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946931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176838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301261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531168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654638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884545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008968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238875" y="2876550"/>
              <a:ext cx="35433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63298" y="30118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388783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742161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096491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450821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804198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158528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3512858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866236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220566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4574896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928273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282603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635981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990311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344641" y="33508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  <p:grpSp>
        <p:nvGrpSpPr>
          <p:cNvPr id="137" name="c1-table-3"/>
          <p:cNvGrpSpPr/>
          <p:nvPr/>
        </p:nvGrpSpPr>
        <p:grpSpPr>
          <a:xfrm>
            <a:off x="527685" y="3676650"/>
            <a:ext cx="6102716" cy="2095977"/>
            <a:chOff x="527685" y="3676650"/>
            <a:chExt cx="6102716" cy="2095977"/>
          </a:xfrm>
        </p:grpSpPr>
        <p:sp>
          <p:nvSpPr>
            <p:cNvPr id="101" name="Rectangle 101"/>
            <p:cNvSpPr/>
            <p:nvPr/>
          </p:nvSpPr>
          <p:spPr>
            <a:xfrm>
              <a:off x="533400" y="3676650"/>
              <a:ext cx="6059805" cy="675322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37552" y="3812381"/>
              <a:ext cx="6794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n 组 4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808086" y="3925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594851" y="3925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0101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381616" y="3925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168381" y="3925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4910378" y="3925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1110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652376" y="392572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1011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365522" y="39257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41223" y="448770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912336" y="4487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2746487" y="4487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3533252" y="4487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4320017" y="4487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5014628" y="4487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5756626" y="4487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6367892" y="448770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533400" y="47958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533400" y="4800600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641223" y="4936331"/>
              <a:ext cx="4823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Rₙ =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xₙ/16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783588" y="4936331"/>
              <a:ext cx="459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0.937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2570353" y="4936331"/>
              <a:ext cx="459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3357118" y="4936331"/>
              <a:ext cx="459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0.562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4143883" y="4936331"/>
              <a:ext cx="459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4930585" y="4936331"/>
              <a:ext cx="3705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627878" y="4936331"/>
              <a:ext cx="459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0.687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367892" y="50496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533400" y="3676650"/>
              <a:ext cx="605980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1615440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2402205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3188970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3975735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4762500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5459730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6246495" y="367665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527685" y="5552599"/>
              <a:ext cx="6102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连续 15 组依次是 15, 5, 9, 1, 14, 11, 2, 3, 13, 6, 4, 7, 10, 12, 8，1～15 各出现一次</a:t>
              </a:r>
            </a:p>
          </p:txBody>
        </p:sp>
      </p:grpSp>
      <p:grpSp>
        <p:nvGrpSpPr>
          <p:cNvPr id="139" name="c2-text-1"/>
          <p:cNvGrpSpPr/>
          <p:nvPr/>
        </p:nvGrpSpPr>
        <p:grpSpPr>
          <a:xfrm>
            <a:off x="6891528" y="1545431"/>
            <a:ext cx="4255770" cy="500824"/>
            <a:chOff x="6891528" y="1545431"/>
            <a:chExt cx="4255770" cy="500824"/>
          </a:xfrm>
        </p:grpSpPr>
        <p:sp>
          <p:nvSpPr>
            <p:cNvPr id="138" name="TextBox 138"/>
            <p:cNvSpPr txBox="1"/>
            <p:nvPr/>
          </p:nvSpPr>
          <p:spPr>
            <a:xfrm>
              <a:off x="6891528" y="1545431"/>
              <a:ext cx="425577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手算前几位：α₁ = α₋₃ ⊕ α₀ = 1 ⊕ 0 = 1，α₂ = α₋₂ ⊕ α₁ = 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⊕ 1 = 1，…，α₅ = α₁ ⊕ α₄ = 1 ⊕ 1 = 0</a:t>
              </a:r>
            </a:p>
          </p:txBody>
        </p:sp>
      </p:grpSp>
      <p:grpSp>
        <p:nvGrpSpPr>
          <p:cNvPr id="143" name="c2-code-2"/>
          <p:cNvGrpSpPr/>
          <p:nvPr/>
        </p:nvGrpSpPr>
        <p:grpSpPr>
          <a:xfrm>
            <a:off x="6898005" y="2185988"/>
            <a:ext cx="4760595" cy="2327910"/>
            <a:chOff x="6898005" y="2185988"/>
            <a:chExt cx="4760595" cy="2327910"/>
          </a:xfrm>
        </p:grpSpPr>
        <p:sp>
          <p:nvSpPr>
            <p:cNvPr id="140" name="Rectangle 140"/>
            <p:cNvSpPr/>
            <p:nvPr/>
          </p:nvSpPr>
          <p:spPr>
            <a:xfrm>
              <a:off x="6898005" y="2185988"/>
              <a:ext cx="4760595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7026402" y="2337911"/>
              <a:ext cx="9035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R：两抽头 FSR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7025640" y="2599849"/>
              <a:ext cx="3844798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fsr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(nbits, init, p = 4, q = 3)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 &lt;- c(init, numeric(nbits))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前 p 位是初值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+ 1):(p + nbits))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a[k] &lt;- bitwXor(a[k - p], a[k - p + q])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a[-(1:p)]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 &lt;- fsr(60, c(1, 0, 0, 0))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colSums(matrix(b, nrow = 4) * c(8, 4, 2, 1))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/ 16                    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R_n</a:t>
              </a:r>
            </a:p>
          </p:txBody>
        </p:sp>
      </p:grpSp>
      <p:grpSp>
        <p:nvGrpSpPr>
          <p:cNvPr id="150" name="c2-callout-3"/>
          <p:cNvGrpSpPr/>
          <p:nvPr/>
        </p:nvGrpSpPr>
        <p:grpSpPr>
          <a:xfrm>
            <a:off x="6898005" y="4704398"/>
            <a:ext cx="4760595" cy="782955"/>
            <a:chOff x="6898005" y="4704398"/>
            <a:chExt cx="4760595" cy="782955"/>
          </a:xfrm>
        </p:grpSpPr>
        <p:sp>
          <p:nvSpPr>
            <p:cNvPr id="144" name="Rectangle 144"/>
            <p:cNvSpPr/>
            <p:nvPr/>
          </p:nvSpPr>
          <p:spPr>
            <a:xfrm>
              <a:off x="6898005" y="4704398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8" name="Group 148"/>
            <p:cNvGrpSpPr/>
            <p:nvPr/>
          </p:nvGrpSpPr>
          <p:grpSpPr>
            <a:xfrm>
              <a:off x="7102793" y="4995863"/>
              <a:ext cx="200026" cy="200026"/>
              <a:chOff x="7102793" y="4995863"/>
              <a:chExt cx="200026" cy="200026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7102793" y="49958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6" name="Freeform 146"/>
              <p:cNvSpPr/>
              <p:nvPr/>
            </p:nvSpPr>
            <p:spPr>
              <a:xfrm>
                <a:off x="7202805" y="5062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7191693" y="50958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9" name="TextBox 149"/>
            <p:cNvSpPr txBox="1"/>
            <p:nvPr/>
          </p:nvSpPr>
          <p:spPr>
            <a:xfrm>
              <a:off x="7404735" y="4852988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位寄存器最多有 2⁴ − 1 = 15 个非零状态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（全 0 会一直是 0），本例达到了这个上限。</a:t>
              </a:r>
            </a:p>
          </p:txBody>
        </p:sp>
      </p:grpSp>
      <p:grpSp>
        <p:nvGrpSpPr>
          <p:cNvPr id="1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1" name="TextBox 1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54487" cy="909257"/>
            <a:chOff x="520446" y="342900"/>
            <a:chExt cx="91544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544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例5.10 Wichmann–Hill：三个小发生器相加，只取小数部分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562225"/>
            <a:chOff x="533400" y="1524000"/>
            <a:chExt cx="5410200" cy="2562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62225"/>
            </a:xfrm>
            <a:prstGeom prst="roundRect">
              <a:avLst>
                <a:gd name="adj" fmla="val 5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55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219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412" y="1743551"/>
              <a:ext cx="44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例5.10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7614" y="1745932"/>
              <a:ext cx="3703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Wichmann 和 Hill（1982）的线性组合发生器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利用三个 16 位运算的素数模乘同余发生器：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8"/>
                <p:cNvSpPr txBox="1">
                  <a:spLocks noGrp="1"/>
                </p:cNvSpPr>
                <p:nvPr/>
              </p:nvSpPr>
              <p:spPr>
                <a:xfrm>
                  <a:off x="758190" y="2349818"/>
                  <a:ext cx="4998720" cy="6610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171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mod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func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0269</m:t>
                            </m:r>
                          </m:e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172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mod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func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0307</m:t>
                            </m:r>
                          </m:e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170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mod</m:t>
                                </m:r>
                              </m:fName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func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0323</m:t>
                            </m:r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1332" y="31165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作线性组合并求余：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69"/>
                <p:cNvSpPr txBox="1">
                  <a:spLocks noGrp="1"/>
                </p:cNvSpPr>
                <p:nvPr/>
              </p:nvSpPr>
              <p:spPr>
                <a:xfrm>
                  <a:off x="758190" y="3394710"/>
                  <a:ext cx="499872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30269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30307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W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30323</m:t>
                                </m:r>
                              </m:den>
                            </m:f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llout-2"/>
          <p:cNvGrpSpPr/>
          <p:nvPr/>
        </p:nvGrpSpPr>
        <p:grpSpPr>
          <a:xfrm>
            <a:off x="533400" y="4256722"/>
            <a:ext cx="5410200" cy="1226820"/>
            <a:chOff x="533400" y="4256722"/>
            <a:chExt cx="5410200" cy="1226820"/>
          </a:xfrm>
        </p:grpSpPr>
        <p:sp>
          <p:nvSpPr>
            <p:cNvPr id="17" name="Rectangle 17"/>
            <p:cNvSpPr/>
            <p:nvPr/>
          </p:nvSpPr>
          <p:spPr>
            <a:xfrm>
              <a:off x="533400" y="4256722"/>
              <a:ext cx="5410200" cy="1226820"/>
            </a:xfrm>
            <a:prstGeom prst="roundRect">
              <a:avLst>
                <a:gd name="adj" fmla="val 931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769168"/>
              <a:ext cx="200026" cy="200026"/>
              <a:chOff x="738188" y="4769168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7691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48358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48691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4402455"/>
              <a:ext cx="4394264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三个模都是素数，脚本算得三个乘数对各自模的阶数都是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“模 − 1”，组合后的周期是三者的最小公倍数，约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6.95×10¹²；三个种子分别取 1 ~ 30268、1 ~ 30306、1 ~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30322 内的整数，都不能取 0。</a:t>
              </a:r>
            </a:p>
          </p:txBody>
        </p:sp>
      </p:grpSp>
      <p:grpSp>
        <p:nvGrpSpPr>
          <p:cNvPr id="25" name="c1-text-3"/>
          <p:cNvGrpSpPr/>
          <p:nvPr/>
        </p:nvGrpSpPr>
        <p:grpSpPr>
          <a:xfrm>
            <a:off x="527685" y="5671661"/>
            <a:ext cx="5075174" cy="441008"/>
            <a:chOff x="527685" y="5671661"/>
            <a:chExt cx="5075174" cy="441008"/>
          </a:xfrm>
        </p:grpSpPr>
        <p:sp>
          <p:nvSpPr>
            <p:cNvPr id="24" name="TextBox 24"/>
            <p:cNvSpPr txBox="1"/>
            <p:nvPr/>
          </p:nvSpPr>
          <p:spPr>
            <a:xfrm>
              <a:off x="527685" y="5671661"/>
              <a:ext cx="507517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里可以用 RNGkind("Wichmann-Hill") 把默认发生器换成它，再用 set.seed()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设定种子。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248400" y="1524000"/>
            <a:ext cx="5410200" cy="2264092"/>
            <a:chOff x="6248400" y="1524000"/>
            <a:chExt cx="5410200" cy="226409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76797" y="1675924"/>
              <a:ext cx="15759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R：Wichmann–Hill 发生器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6797" y="1935956"/>
              <a:ext cx="3158744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wh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s = c(1, 2, 3))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 &lt;- c(30269, 30307, 30323)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 &lt;- numeric(n)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 &lt;- (c(171, 172, 170) * s) %% m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R[i] &lt;- sum(s / m) %% 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round(wh(3), 6)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0.033819 0.777542 0.052735</a:t>
              </a:r>
            </a:p>
          </p:txBody>
        </p:sp>
      </p:grpSp>
      <p:grpSp>
        <p:nvGrpSpPr>
          <p:cNvPr id="39" name="c2-steps-2"/>
          <p:cNvGrpSpPr/>
          <p:nvPr/>
        </p:nvGrpSpPr>
        <p:grpSpPr>
          <a:xfrm>
            <a:off x="6248400" y="3968115"/>
            <a:ext cx="4638959" cy="1310163"/>
            <a:chOff x="6248400" y="3968115"/>
            <a:chExt cx="4638959" cy="1310163"/>
          </a:xfrm>
        </p:grpSpPr>
        <p:sp>
          <p:nvSpPr>
            <p:cNvPr id="30" name="Rectangle 30"/>
            <p:cNvSpPr/>
            <p:nvPr/>
          </p:nvSpPr>
          <p:spPr>
            <a:xfrm>
              <a:off x="6381750" y="4110990"/>
              <a:ext cx="19050" cy="5829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248400" y="39681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024" y="40419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8400" y="45510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2024" y="4624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399954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步的状态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1785" y="4267676"/>
              <a:ext cx="422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(171×1, 172×2, 170×3) = (171, 344, 510)，都小于各自的模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0642" y="45824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1785" y="4850606"/>
              <a:ext cx="41506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171/30269 + 344/30307 + 510/30323 = 0.005649 + 0.011351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0.016819 = 0.033819</a:t>
              </a:r>
            </a:p>
          </p:txBody>
        </p:sp>
      </p:grpSp>
      <p:grpSp>
        <p:nvGrpSpPr>
          <p:cNvPr id="46" name="c2-callout-3"/>
          <p:cNvGrpSpPr/>
          <p:nvPr/>
        </p:nvGrpSpPr>
        <p:grpSpPr>
          <a:xfrm>
            <a:off x="6248400" y="5441632"/>
            <a:ext cx="5410200" cy="729615"/>
            <a:chOff x="6248400" y="5441632"/>
            <a:chExt cx="5410200" cy="729615"/>
          </a:xfrm>
        </p:grpSpPr>
        <p:sp>
          <p:nvSpPr>
            <p:cNvPr id="40" name="Rectangle 40"/>
            <p:cNvSpPr/>
            <p:nvPr/>
          </p:nvSpPr>
          <p:spPr>
            <a:xfrm>
              <a:off x="6248400" y="544163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53188" y="5705475"/>
              <a:ext cx="200026" cy="200025"/>
              <a:chOff x="6453188" y="5705475"/>
              <a:chExt cx="200026" cy="20002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453188" y="57054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92926" y="57499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27642" y="58610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55892" y="5587365"/>
              <a:ext cx="423995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每一步的乘积不超过 172×30306 ≈ 5.2×10⁶，32 位整数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不会溢出，R 的双精度也能精确计算。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52883" cy="909257"/>
            <a:chOff x="520446" y="342900"/>
            <a:chExt cx="96528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均匀随机数的产生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528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例5.11 MacLaren–Marsaglia：用第二个发生器打乱输出次序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740859" cy="2619756"/>
            <a:chOff x="533400" y="1533525"/>
            <a:chExt cx="4740859" cy="2619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3717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8799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052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40355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设有两个同余发生器 A 和 B。用 A 产生 m 个随机数（如 m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128），存放在数组 T = (t₁, t₂, …, tₘ)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4045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选下标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685098"/>
              <a:ext cx="4327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需要产生 xₙ 时，从 B 中生成一个随机下标 j ∈ {1, 2, …, m}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0208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301365"/>
              <a:ext cx="763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xₙ = tⱼ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380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18585"/>
              <a:ext cx="3886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A 再生成一个新随机数 y 代替 T 中的 tⱼ，如此重复</a:t>
              </a:r>
            </a:p>
          </p:txBody>
        </p:sp>
      </p:grpSp>
      <p:grpSp>
        <p:nvGrpSpPr>
          <p:cNvPr id="34" name="c1-card-2"/>
          <p:cNvGrpSpPr/>
          <p:nvPr/>
        </p:nvGrpSpPr>
        <p:grpSpPr>
          <a:xfrm>
            <a:off x="533400" y="4324350"/>
            <a:ext cx="5193982" cy="2016442"/>
            <a:chOff x="533400" y="4324350"/>
            <a:chExt cx="5193982" cy="2016442"/>
          </a:xfrm>
        </p:grpSpPr>
        <p:sp>
          <p:nvSpPr>
            <p:cNvPr id="25" name="Rectangle 25"/>
            <p:cNvSpPr/>
            <p:nvPr/>
          </p:nvSpPr>
          <p:spPr>
            <a:xfrm>
              <a:off x="533400" y="4324350"/>
              <a:ext cx="5193982" cy="2016442"/>
            </a:xfrm>
            <a:prstGeom prst="roundRect">
              <a:avLst>
                <a:gd name="adj" fmla="val 661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31520" y="45224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2960" y="45567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9140" y="494347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5731" y="4882991"/>
              <a:ext cx="28874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输出次序被 B“搅乱”，增强随机性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9140" y="52606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5731" y="520112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加大周期，可超过单个同余发生器的上限（2 的 L 次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方）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39140" y="585025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5731" y="5789771"/>
              <a:ext cx="39906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也可以只使用一个发生器，用 xₙ₋₁ 来选择下标</a:t>
              </a:r>
            </a:p>
          </p:txBody>
        </p:sp>
      </p:grpSp>
      <p:grpSp>
        <p:nvGrpSpPr>
          <p:cNvPr id="74" name="c2-cells-1"/>
          <p:cNvGrpSpPr/>
          <p:nvPr/>
        </p:nvGrpSpPr>
        <p:grpSpPr>
          <a:xfrm>
            <a:off x="6026467" y="1569720"/>
            <a:ext cx="3304223" cy="2442210"/>
            <a:chOff x="6026467" y="1569720"/>
            <a:chExt cx="3304223" cy="2442210"/>
          </a:xfrm>
        </p:grpSpPr>
        <p:sp>
          <p:nvSpPr>
            <p:cNvPr id="35" name="TextBox 35"/>
            <p:cNvSpPr txBox="1"/>
            <p:nvPr/>
          </p:nvSpPr>
          <p:spPr>
            <a:xfrm>
              <a:off x="6026467" y="19464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49378" y="181927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58126" y="194643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025640" y="181927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34388" y="194643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01902" y="1819275"/>
              <a:ext cx="576262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10651" y="194643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178165" y="181927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86913" y="194643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54428" y="181927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63176" y="194643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02866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79128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55391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31653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007916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61164" y="1569720"/>
              <a:ext cx="6586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 给出 j = 3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85241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26467" y="26827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49378" y="2555558"/>
              <a:ext cx="125349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61697" y="268271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0.13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26467" y="32370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49378" y="311086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8126" y="32370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025640" y="311086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34388" y="32370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0.87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601902" y="3110865"/>
              <a:ext cx="57626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10651" y="32370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0.51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178165" y="311086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286913" y="32370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754428" y="3110865"/>
              <a:ext cx="5762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863176" y="32370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02866" y="3558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79128" y="3558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55391" y="3558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31653" y="3558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07916" y="3558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7852410" y="37042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00069" y="3835718"/>
              <a:ext cx="1180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生成 y = 0.51 补位</a:t>
              </a:r>
            </a:p>
          </p:txBody>
        </p:sp>
      </p:grpSp>
      <p:grpSp>
        <p:nvGrpSpPr>
          <p:cNvPr id="78" name="c2-code-2"/>
          <p:cNvGrpSpPr/>
          <p:nvPr/>
        </p:nvGrpSpPr>
        <p:grpSpPr>
          <a:xfrm>
            <a:off x="6032182" y="4131945"/>
            <a:ext cx="5626418" cy="2207895"/>
            <a:chOff x="6032182" y="4131945"/>
            <a:chExt cx="5626418" cy="2207895"/>
          </a:xfrm>
        </p:grpSpPr>
        <p:sp>
          <p:nvSpPr>
            <p:cNvPr id="75" name="Rectangle 75"/>
            <p:cNvSpPr/>
            <p:nvPr/>
          </p:nvSpPr>
          <p:spPr>
            <a:xfrm>
              <a:off x="6032182" y="4131945"/>
              <a:ext cx="562641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60580" y="4283869"/>
              <a:ext cx="28000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R：genA、genB 是返回 k 个 U(0,1) 数的函数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160198" y="4545330"/>
              <a:ext cx="353110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mm_shuffle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genA, genB, m = 128)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tab &lt;- genA(m); x &lt;- numeric(n)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j &lt;- floor(m * genB(1)) + 1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下标 1..m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x[i] &lt;- tab[j]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tab[j] &lt;- genA(1)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A 的新数补位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72936" cy="2997517"/>
            <a:chOff x="667512" y="1835468"/>
            <a:chExt cx="627293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随机数的检验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63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生成的序列像不像独立同分布的 U(0,1) 样本，用统计检验回答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理论检验与经验检验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参数检验与均匀性检验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独立性检验与组合规律检验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检验分两类：理论检验不产生随机数，经验检验看生成的序列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654492"/>
            <a:chOff x="533400" y="1524000"/>
            <a:chExt cx="4328160" cy="16544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理论检验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不必产生任何随机数，直接由发生器的参数分析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周期、相关性等性质。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475" y="2608421"/>
              <a:ext cx="37167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例：用定理 5.1 判断能否满周期，用 ρ(1) 的近似公式估计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相关性。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48038"/>
            <a:ext cx="4328160" cy="1443038"/>
            <a:chOff x="533400" y="3348038"/>
            <a:chExt cx="4328160" cy="1443038"/>
          </a:xfrm>
        </p:grpSpPr>
        <p:sp>
          <p:nvSpPr>
            <p:cNvPr id="14" name="Rectangle 14"/>
            <p:cNvSpPr/>
            <p:nvPr/>
          </p:nvSpPr>
          <p:spPr>
            <a:xfrm>
              <a:off x="533400" y="3348038"/>
              <a:ext cx="432816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81388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53472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759" y="35675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经验检验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3879532"/>
              <a:ext cx="37684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以发生器产生的均匀随机数列为基础，检验它是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否像独立同 U(0,1) 分布的样本。分为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参数检验、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均匀性检验、独立性检验、组合规律检验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960620"/>
            <a:ext cx="4328160" cy="978218"/>
            <a:chOff x="533400" y="4960620"/>
            <a:chExt cx="4328160" cy="978218"/>
          </a:xfrm>
        </p:grpSpPr>
        <p:sp>
          <p:nvSpPr>
            <p:cNvPr id="20" name="Rectangle 20"/>
            <p:cNvSpPr/>
            <p:nvPr/>
          </p:nvSpPr>
          <p:spPr>
            <a:xfrm>
              <a:off x="533400" y="4960620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5346501"/>
              <a:ext cx="224134" cy="192560"/>
              <a:chOff x="726129" y="5346501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54168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53465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54946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5107305"/>
              <a:ext cx="345986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原假设 H₀ 是“Rₙ 独立同 U(0,1) 分布”。通过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检验只说明没发现问题，不能证明序列真的随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机。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5166360" y="1524000"/>
            <a:ext cx="6492240" cy="4400550"/>
            <a:chOff x="5166360" y="1524000"/>
            <a:chExt cx="6492240" cy="4400550"/>
          </a:xfrm>
        </p:grpSpPr>
        <p:sp>
          <p:nvSpPr>
            <p:cNvPr id="27" name="Rectangle 27"/>
            <p:cNvSpPr/>
            <p:nvPr/>
          </p:nvSpPr>
          <p:spPr>
            <a:xfrm>
              <a:off x="5166360" y="1524000"/>
              <a:ext cx="649224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9944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247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4363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看什么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0668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42660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参数检验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90522" y="2045494"/>
              <a:ext cx="31475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均值、二阶矩、方差是否接近 1/2、1/3、1/12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166360" y="23193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66360" y="23241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0668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42660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卡方检验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90522" y="2445544"/>
              <a:ext cx="24472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等分成 k 段后各段频数是否接近 N/k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166360" y="27193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06681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42660" y="2845594"/>
              <a:ext cx="6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K-S 检验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90522" y="2845594"/>
              <a:ext cx="2512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经验分布函数与 F(x) = x 的最大偏差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31194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31242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0668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42660" y="3245644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维组合检验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90522" y="324564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个一组的向量在 d 维单位立方体中是否均匀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35194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506681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42660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自相关检验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90522" y="3645694"/>
              <a:ext cx="1654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相隔 j 步的两项是否相关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39195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66360" y="39243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0668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42660" y="40457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列联表检验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90522" y="4045744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相隔 b 步的两项离散化后是否独立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66360" y="43195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506681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42660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游程检验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90522" y="444579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上升段的长度分布是否正常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47196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66360" y="47244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506681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42660" y="48458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扑克检验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90522" y="4845844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8 个数中不同数字的个数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51196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06681" y="52458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42660" y="52458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配套检验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90522" y="5245894"/>
              <a:ext cx="2242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凑齐 0～k−1 所有数字需要抽几个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166360" y="551973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66360" y="5524500"/>
              <a:ext cx="649224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300686" y="5645944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10、11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42660" y="56459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正负连、升降连检验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90522" y="56459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同号段或单调段的长度与个数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166360" y="1524000"/>
              <a:ext cx="6492240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940742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888605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5724" cy="909257"/>
            <a:chOff x="520446" y="342900"/>
            <a:chExt cx="86657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57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检验1 参数检验：三个统计量与理论期望比较，用 Z 检验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3025191" cy="249364"/>
            <a:chOff x="526923" y="1545431"/>
            <a:chExt cx="3025191" cy="24936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3025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对随机数列 {Rₙ, n = 1, 2, …, N} 计算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72"/>
              <p:cNvSpPr txBox="1">
                <a:spLocks noGrp="1"/>
              </p:cNvSpPr>
              <p:nvPr/>
            </p:nvSpPr>
            <p:spPr>
              <a:xfrm>
                <a:off x="533400" y="1934528"/>
                <a:ext cx="584263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bar>
                        <m:barPr>
                          <m:pos m:val="top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ba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923" y="2813209"/>
            <a:ext cx="4577639" cy="249364"/>
            <a:chOff x="526923" y="2813209"/>
            <a:chExt cx="4577639" cy="249364"/>
          </a:xfrm>
        </p:grpSpPr>
        <p:sp>
          <p:nvSpPr>
            <p:cNvPr id="10" name="TextBox 10"/>
            <p:cNvSpPr txBox="1"/>
            <p:nvPr/>
          </p:nvSpPr>
          <p:spPr>
            <a:xfrm>
              <a:off x="526923" y="2813209"/>
              <a:ext cx="4577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→ ∞ 时三者都渐近服从正态分布。在原假设 H₀ 下标准化：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73"/>
              <p:cNvSpPr txBox="1">
                <a:spLocks noGrp="1"/>
              </p:cNvSpPr>
              <p:nvPr/>
            </p:nvSpPr>
            <p:spPr>
              <a:xfrm>
                <a:off x="533400" y="3202305"/>
                <a:ext cx="5842635" cy="7124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bar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12N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ba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bar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45N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den>
                          </m:f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bar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180N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4" name="c1-text-5"/>
          <p:cNvGrpSpPr/>
          <p:nvPr/>
        </p:nvGrpSpPr>
        <p:grpSpPr>
          <a:xfrm>
            <a:off x="526923" y="4126706"/>
            <a:ext cx="5458714" cy="500824"/>
            <a:chOff x="526923" y="4126706"/>
            <a:chExt cx="5458714" cy="500824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4126706"/>
              <a:ext cx="54587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 下 u₁、u₂、u₃ 都近似服从 N(0,1)；取 0.05 水平时，|u| &gt; 1.96 就拒绝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H₀。</a:t>
              </a:r>
            </a:p>
          </p:txBody>
        </p:sp>
      </p:grpSp>
      <p:grpSp>
        <p:nvGrpSpPr>
          <p:cNvPr id="18" name="c1-code-6"/>
          <p:cNvGrpSpPr/>
          <p:nvPr/>
        </p:nvGrpSpPr>
        <p:grpSpPr>
          <a:xfrm>
            <a:off x="533400" y="4767262"/>
            <a:ext cx="5842635" cy="1313498"/>
            <a:chOff x="533400" y="4767262"/>
            <a:chExt cx="5842635" cy="1313498"/>
          </a:xfrm>
        </p:grpSpPr>
        <p:sp>
          <p:nvSpPr>
            <p:cNvPr id="15" name="Rectangle 15"/>
            <p:cNvSpPr/>
            <p:nvPr/>
          </p:nvSpPr>
          <p:spPr>
            <a:xfrm>
              <a:off x="533400" y="4767262"/>
              <a:ext cx="584263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49191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035" y="5182076"/>
              <a:ext cx="423595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 &lt;- wh(1000); N &lt;- length(R)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u1 &lt;- (mean(R) - 1/2) / sqrt(1 / (12 * N))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u2 &lt;- (mean(R^2) - 1/3) / sqrt(4 / (45 * N))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u3 &lt;- (mean((R - 1/2)^2) - 1/12) / sqrt(1 / (180 * N))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680835" y="1524000"/>
            <a:ext cx="4977765" cy="2283142"/>
            <a:chOff x="6680835" y="1524000"/>
            <a:chExt cx="4977765" cy="2283142"/>
          </a:xfrm>
        </p:grpSpPr>
        <p:sp>
          <p:nvSpPr>
            <p:cNvPr id="19" name="Rectangle 19"/>
            <p:cNvSpPr/>
            <p:nvPr/>
          </p:nvSpPr>
          <p:spPr>
            <a:xfrm>
              <a:off x="6680835" y="1524000"/>
              <a:ext cx="4977765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90360" y="165735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28485" y="1733550"/>
              <a:ext cx="25212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36435" y="1769269"/>
              <a:ext cx="2506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分母里的方差从哪来（R ~ U(0,1)）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934200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92315" y="2110740"/>
              <a:ext cx="1396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Var(R) = 1/12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934200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92315" y="2446020"/>
              <a:ext cx="43621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Var(R²) = E R⁴ − (E R²)² = 1/5 − 1/9 = 4/45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34200" y="28441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92315" y="2781300"/>
              <a:ext cx="3882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Var((R − 1/2)²) = E(R − 1/2)⁴ − (1/12)²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1/80 − 1/144 = 1/180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2008" y="3398996"/>
              <a:ext cx="2734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个独立项取平均，方差再除以 N。</a:t>
              </a:r>
            </a:p>
          </p:txBody>
        </p:sp>
      </p:grpSp>
      <p:grpSp>
        <p:nvGrpSpPr>
          <p:cNvPr id="56" name="c2-table-2"/>
          <p:cNvGrpSpPr/>
          <p:nvPr/>
        </p:nvGrpSpPr>
        <p:grpSpPr>
          <a:xfrm>
            <a:off x="6675120" y="3997642"/>
            <a:ext cx="4983480" cy="2091215"/>
            <a:chOff x="6675120" y="3997642"/>
            <a:chExt cx="4983480" cy="2091215"/>
          </a:xfrm>
        </p:grpSpPr>
        <p:sp>
          <p:nvSpPr>
            <p:cNvPr id="31" name="Rectangle 31"/>
            <p:cNvSpPr/>
            <p:nvPr/>
          </p:nvSpPr>
          <p:spPr>
            <a:xfrm>
              <a:off x="6680835" y="3997642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6923" y="41333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63750" y="41333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观测值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26321" y="41333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理论期望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3247" y="41333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8658" y="4582001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的均值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0517" y="458200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0.50339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28789" y="458200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6072" y="45820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48910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0835" y="489585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88658" y="5030629"/>
              <a:ext cx="797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的均值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0517" y="503062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0.33593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28789" y="503062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36072" y="503062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53397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8658" y="547925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90517" y="547925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0.08254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81403" y="547925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88686" y="547925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−0.335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3997642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998142" y="399764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250680" y="399764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495598" y="399764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75120" y="5868829"/>
              <a:ext cx="4546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例：wh(1000)，种子 (1, 2, 3)；三个 |u| 都小于 1.96，不拒绝 H₀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6496" cy="909257"/>
            <a:chOff x="520446" y="342900"/>
            <a:chExt cx="75664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64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检验2、3 均匀性：卡方拟合优度检验与 K-S 检验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279332"/>
            <a:chOff x="533400" y="1524000"/>
            <a:chExt cx="5410200" cy="22793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79332"/>
            </a:xfrm>
            <a:prstGeom prst="roundRect">
              <a:avLst>
                <a:gd name="adj" fmla="val 5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1263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12871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35" y="1756410"/>
              <a:ext cx="984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检验2 卡方检验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[0, 1] 等分成 k 段，用拟合优度卡方检验法检验 {Rₙ}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落在每一段的概率是否近似为 1/k。第 i 段频数为 nᵢ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8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97586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e>
                                          <m:sub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/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3524" y="3417570"/>
              <a:ext cx="4055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H₀ 下近似服从 χ²(k − 1)，大于上 0.05 分位数时拒绝。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83355"/>
            <a:ext cx="5410200" cy="2284095"/>
            <a:chOff x="533400" y="3983355"/>
            <a:chExt cx="5410200" cy="2284095"/>
          </a:xfrm>
        </p:grpSpPr>
        <p:sp>
          <p:nvSpPr>
            <p:cNvPr id="15" name="Rectangle 15"/>
            <p:cNvSpPr/>
            <p:nvPr/>
          </p:nvSpPr>
          <p:spPr>
            <a:xfrm>
              <a:off x="533400" y="3983355"/>
              <a:ext cx="5410200" cy="2284095"/>
            </a:xfrm>
            <a:prstGeom prst="roundRect">
              <a:avLst>
                <a:gd name="adj" fmla="val 58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16705"/>
              <a:ext cx="47625" cy="20173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4181475"/>
              <a:ext cx="227647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1819" y="4215765"/>
              <a:ext cx="22120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检验3 Kolmogorov–Smirnov 检验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542949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K-S 检验法做拟合优度检验，看 {Rₙ} 是否与 U[0,1] 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布相符。下式中 F 带下标 N 的是 N 个数的经验分布函数：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79"/>
                <p:cNvSpPr txBox="1">
                  <a:spLocks noGrp="1"/>
                </p:cNvSpPr>
                <p:nvPr/>
              </p:nvSpPr>
              <p:spPr>
                <a:xfrm>
                  <a:off x="769620" y="5108258"/>
                  <a:ext cx="4975860" cy="520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63524" y="5737860"/>
              <a:ext cx="3463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较大时，0.05 水平的临界值约为 1.358/√N。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3066" y="1524000"/>
            <a:ext cx="5415534" cy="1128332"/>
            <a:chOff x="6243066" y="1524000"/>
            <a:chExt cx="5415534" cy="112833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46330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8432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438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0920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930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7694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6081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4563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7332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85719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95370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0889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42125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82180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99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22578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0872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90318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18612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59010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86695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14990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55388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1228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52335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9239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21028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661082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188768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629775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15746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685145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1126152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3066" y="2446973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同一组 wh(1000) 随机数，k = 10</a:t>
              </a:r>
            </a:p>
          </p:txBody>
        </p:sp>
      </p:grpSp>
      <p:grpSp>
        <p:nvGrpSpPr>
          <p:cNvPr id="72" name="c2-steps-2"/>
          <p:cNvGrpSpPr/>
          <p:nvPr/>
        </p:nvGrpSpPr>
        <p:grpSpPr>
          <a:xfrm>
            <a:off x="6248400" y="2801302"/>
            <a:ext cx="5073396" cy="2223516"/>
            <a:chOff x="6248400" y="2801302"/>
            <a:chExt cx="5073396" cy="2223516"/>
          </a:xfrm>
        </p:grpSpPr>
        <p:sp>
          <p:nvSpPr>
            <p:cNvPr id="59" name="Rectangle 59"/>
            <p:cNvSpPr/>
            <p:nvPr/>
          </p:nvSpPr>
          <p:spPr>
            <a:xfrm>
              <a:off x="6381750" y="2944178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248400" y="280130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2024" y="28751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48400" y="36385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2024" y="3712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48400" y="44767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2024" y="45505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60261" y="28341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算卡方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1404" y="3114675"/>
              <a:ext cx="46222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期望频数 N/k = 100，χ² = (9 + 1 + 9 + 196 + 289 + 144 + 81 + 49 +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+ 4)/100 = 8.46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0261" y="367236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61404" y="3952875"/>
              <a:ext cx="4660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χ² 分布 9 个自由度的上 0.05 分位数为 16.92，8.46 &lt; 16.92，不拒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绝均匀性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0261" y="4509611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K-S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61404" y="4790122"/>
              <a:ext cx="3823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0.0205 &lt; 1.358/√1000 = 0.0429，同样不拒绝</a:t>
              </a:r>
            </a:p>
          </p:txBody>
        </p:sp>
      </p:grpSp>
      <p:grpSp>
        <p:nvGrpSpPr>
          <p:cNvPr id="76" name="c2-code-3"/>
          <p:cNvGrpSpPr/>
          <p:nvPr/>
        </p:nvGrpSpPr>
        <p:grpSpPr>
          <a:xfrm>
            <a:off x="6248400" y="5195888"/>
            <a:ext cx="5410200" cy="1072515"/>
            <a:chOff x="6248400" y="5195888"/>
            <a:chExt cx="5410200" cy="1072515"/>
          </a:xfrm>
        </p:grpSpPr>
        <p:sp>
          <p:nvSpPr>
            <p:cNvPr id="73" name="Rectangle 73"/>
            <p:cNvSpPr/>
            <p:nvPr/>
          </p:nvSpPr>
          <p:spPr>
            <a:xfrm>
              <a:off x="6248400" y="5195888"/>
              <a:ext cx="541020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376797" y="5347811"/>
              <a:ext cx="1145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R：两个均匀性检验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376416" y="5609272"/>
              <a:ext cx="3144393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n_i &lt;- table(cut(R, seq(0, 1, by = 0.1)))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chisq.test(n_i)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默认各段等概率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ks.test(R, </a:t>
              </a:r>
              <a:r>
                <a:rPr lang="en-US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"punif"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检验4～6：多维均匀性与独立性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3505200" cy="2611755"/>
            <a:chOff x="533400" y="1524000"/>
            <a:chExt cx="3505200" cy="26117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611755"/>
            </a:xfrm>
            <a:prstGeom prst="roundRect">
              <a:avLst>
                <a:gd name="adj" fmla="val 51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50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38112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964" y="1756410"/>
              <a:ext cx="12524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检验4 d 维组合检验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28818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{Rₙ} 每 d 个组合成一个 d 维向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量，把超立方体 [0,1]ᵈ 每一维均分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k 份，得到 kᵈ 个子集。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943701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用卡方检验法检验向量落在每个子集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的概率是否近似为 k⁻ᵈ。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3529012"/>
              <a:ext cx="2953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例：d = 2，k = 10，共 100 个小方格，每格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期望频数 N/200（N 个数配成 N/2 对）。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315778"/>
            <a:ext cx="3505200" cy="1281112"/>
            <a:chOff x="533400" y="4315778"/>
            <a:chExt cx="3505200" cy="1281112"/>
          </a:xfrm>
        </p:grpSpPr>
        <p:sp>
          <p:nvSpPr>
            <p:cNvPr id="15" name="Rectangle 15"/>
            <p:cNvSpPr/>
            <p:nvPr/>
          </p:nvSpPr>
          <p:spPr>
            <a:xfrm>
              <a:off x="533400" y="4315778"/>
              <a:ext cx="3505200" cy="1281112"/>
            </a:xfrm>
            <a:prstGeom prst="roundRect">
              <a:avLst>
                <a:gd name="adj" fmla="val 89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855845"/>
              <a:ext cx="200026" cy="200025"/>
              <a:chOff x="738188" y="4855845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8558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49002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50114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511" y="4462939"/>
              <a:ext cx="2539238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线性同余发生器的相邻值组成的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点常落在少数几组平行平面上，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一维检验看不出，这类检验能发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现。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4343400" y="1524000"/>
            <a:ext cx="3505200" cy="3007042"/>
            <a:chOff x="4343400" y="1524000"/>
            <a:chExt cx="3505200" cy="3007042"/>
          </a:xfrm>
        </p:grpSpPr>
        <p:sp>
          <p:nvSpPr>
            <p:cNvPr id="22" name="Rectangle 22"/>
            <p:cNvSpPr/>
            <p:nvPr/>
          </p:nvSpPr>
          <p:spPr>
            <a:xfrm>
              <a:off x="4343400" y="1524000"/>
              <a:ext cx="3505200" cy="3007042"/>
            </a:xfrm>
            <a:prstGeom prst="roundRect">
              <a:avLst>
                <a:gd name="adj" fmla="val 4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52925" y="1657350"/>
              <a:ext cx="47625" cy="274034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79620" y="1722120"/>
              <a:ext cx="126206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47035" y="1756410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检验5 自相关检验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2381" y="2082641"/>
              <a:ext cx="28638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{Rₙ} 看作时间序列样本，计算样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本自相关函数：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84"/>
                <p:cNvSpPr txBox="1">
                  <a:spLocks noGrp="1"/>
                </p:cNvSpPr>
                <p:nvPr/>
              </p:nvSpPr>
              <p:spPr>
                <a:xfrm>
                  <a:off x="4579620" y="2648902"/>
                  <a:ext cx="307086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ρ</m:t>
                                </m:r>
                              </m:e>
                            </m:acc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</m:acc>
                                  </m:e>
                                </m:d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ff"/>
                                <m:supHide m:val="off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p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n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R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4572381" y="3296126"/>
              <a:ext cx="2872867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{Rₙ} 独立同分布时，√N 乘以前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个样本自相关系数应渐近服从独立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的标准正态分布，据此做白噪声检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验。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4343400" y="4711065"/>
            <a:ext cx="3505200" cy="1522095"/>
            <a:chOff x="4343400" y="4711065"/>
            <a:chExt cx="3505200" cy="1522095"/>
          </a:xfrm>
        </p:grpSpPr>
        <p:sp>
          <p:nvSpPr>
            <p:cNvPr id="30" name="Rectangle 30"/>
            <p:cNvSpPr/>
            <p:nvPr/>
          </p:nvSpPr>
          <p:spPr>
            <a:xfrm>
              <a:off x="4343400" y="4711065"/>
              <a:ext cx="3505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52925" y="484441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79620" y="49091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71060" y="49434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72381" y="5269706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j = 1, 2, …, N。渐近正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态只对固定的滞后阶数成立，实际取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远小于 N（如 K = 10）。</a:t>
              </a:r>
            </a:p>
          </p:txBody>
        </p:sp>
      </p:grpSp>
      <p:grpSp>
        <p:nvGrpSpPr>
          <p:cNvPr id="44" name="c3-card-1"/>
          <p:cNvGrpSpPr/>
          <p:nvPr/>
        </p:nvGrpSpPr>
        <p:grpSpPr>
          <a:xfrm>
            <a:off x="8153400" y="1524000"/>
            <a:ext cx="3505200" cy="4710112"/>
            <a:chOff x="8153400" y="1524000"/>
            <a:chExt cx="3505200" cy="4710112"/>
          </a:xfrm>
        </p:grpSpPr>
        <p:sp>
          <p:nvSpPr>
            <p:cNvPr id="36" name="Rectangle 36"/>
            <p:cNvSpPr/>
            <p:nvPr/>
          </p:nvSpPr>
          <p:spPr>
            <a:xfrm>
              <a:off x="8153400" y="1524000"/>
              <a:ext cx="3505200" cy="4710112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62925" y="1657350"/>
              <a:ext cx="47625" cy="44434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89620" y="1722120"/>
              <a:ext cx="126206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7035" y="1756410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检验6 列联表检验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82381" y="2082641"/>
              <a:ext cx="2566289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{Rₙ} 离散化为 yₙ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floor(kRₙ)，令 ξₙ = yₙ，ηₙ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yₙ₊b，其中 b 为正整数，n = 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…, N − b。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82381" y="3215164"/>
              <a:ext cx="295402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 − b 对 (ξₙ, ηₙ) 计数成 k×k 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联表，用列联表检验法检验 ξ 与 η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85"/>
                <p:cNvSpPr txBox="1">
                  <a:spLocks noGrp="1"/>
                </p:cNvSpPr>
                <p:nvPr/>
              </p:nvSpPr>
              <p:spPr>
                <a:xfrm>
                  <a:off x="8389620" y="4051935"/>
                  <a:ext cx="3070860" cy="5343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χ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O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sSub>
                                          <m:e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E</m:t>
                                            </m:r>
                                          </m:e>
                                          <m:sub>
                                            <m:r>
                                              <a:rPr lang="zh-CN" sz="12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ij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8383524" y="4695825"/>
              <a:ext cx="29001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Eᵢⱼ = 第 i 行合计 × 第 j 列合计 /(N − b)，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H₀ 下近似服从 χ²((k − 1)²)。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54625" cy="909257"/>
            <a:chOff x="520446" y="342900"/>
            <a:chExt cx="68546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546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检验7 游程检验：把序列切成一段段上升游程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743075"/>
            <a:chOff x="533400" y="1524000"/>
            <a:chExt cx="5842635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上升游程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1743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把序列 {Rₙ, n = 1, 2, …, N} 按顺序切分为不同段，每一段中的数值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都是递增的，这样的一段叫做一个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上升游程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61270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相邻两个上升游程中，前一个游程的最后一个值大于后一个游程的第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一个值。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8447" y="3436620"/>
            <a:ext cx="5847587" cy="368618"/>
            <a:chOff x="528447" y="3436620"/>
            <a:chExt cx="5847587" cy="368618"/>
          </a:xfrm>
        </p:grpSpPr>
        <p:sp>
          <p:nvSpPr>
            <p:cNvPr id="14" name="TextBox 14"/>
            <p:cNvSpPr txBox="1"/>
            <p:nvPr/>
          </p:nvSpPr>
          <p:spPr>
            <a:xfrm>
              <a:off x="528447" y="35609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15352" y="3436620"/>
              <a:ext cx="606742" cy="368618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5682" y="3560921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0.8555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522095" y="3436620"/>
              <a:ext cx="606742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30519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128838" y="3436620"/>
              <a:ext cx="606742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237262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0.226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35580" y="3436620"/>
              <a:ext cx="606742" cy="368618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44004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0.108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42322" y="3436620"/>
              <a:ext cx="606742" cy="368618"/>
            </a:xfrm>
            <a:prstGeom prst="rect">
              <a:avLst/>
            </a:prstGeom>
            <a:solidFill>
              <a:srgbClr val="E5F2EA"/>
            </a:solidFill>
            <a:ln w="15240">
              <a:solidFill>
                <a:srgbClr val="2E7D4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50747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0.226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49065" y="3436620"/>
              <a:ext cx="60674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057489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0.055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55808" y="3436620"/>
              <a:ext cx="60674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64232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0.545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162550" y="3436620"/>
              <a:ext cx="60674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0974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0.642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69292" y="3436620"/>
              <a:ext cx="606742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77717" y="3560921"/>
              <a:ext cx="3908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0.870</a:t>
              </a:r>
            </a:p>
          </p:txBody>
        </p:sp>
      </p:grpSp>
      <p:grpSp>
        <p:nvGrpSpPr>
          <p:cNvPr id="59" name="c1-table-3"/>
          <p:cNvGrpSpPr/>
          <p:nvPr/>
        </p:nvGrpSpPr>
        <p:grpSpPr>
          <a:xfrm>
            <a:off x="528447" y="3975735"/>
            <a:ext cx="5847588" cy="2263806"/>
            <a:chOff x="528447" y="3975735"/>
            <a:chExt cx="5847588" cy="2263806"/>
          </a:xfrm>
        </p:grpSpPr>
        <p:sp>
          <p:nvSpPr>
            <p:cNvPr id="34" name="Rectangle 34"/>
            <p:cNvSpPr/>
            <p:nvPr/>
          </p:nvSpPr>
          <p:spPr>
            <a:xfrm>
              <a:off x="533400" y="3975735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3183" y="40971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游程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47454" y="40971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包含的数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63273" y="40971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0421" y="4497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44052" y="449722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(0.8555)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72585" y="44972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771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77583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40421" y="4897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44052" y="4897279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(0.108, 0.226)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72585" y="48972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1711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40421" y="52973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44052" y="5297329"/>
              <a:ext cx="11346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(0.108, 0.226)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72585" y="52973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5711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57593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40421" y="56973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44052" y="5697379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(0.055, 0.545, 0.642, 0.870)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672585" y="56973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975735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842135" y="397573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058728" y="397573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8447" y="6048851"/>
              <a:ext cx="43371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原课件的例子；0.8555 &gt; 0.108、0.226 &gt; 0.108、0.226 &gt; 0.055 处断开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680835" y="1524000"/>
            <a:ext cx="4977765" cy="1443038"/>
            <a:chOff x="6680835" y="1524000"/>
            <a:chExt cx="4977765" cy="1443038"/>
          </a:xfrm>
        </p:grpSpPr>
        <p:sp>
          <p:nvSpPr>
            <p:cNvPr id="60" name="Rectangle 60"/>
            <p:cNvSpPr/>
            <p:nvPr/>
          </p:nvSpPr>
          <p:spPr>
            <a:xfrm>
              <a:off x="6680835" y="1524000"/>
              <a:ext cx="4977765" cy="1443038"/>
            </a:xfrm>
            <a:prstGeom prst="roundRect">
              <a:avLst>
                <a:gd name="adj" fmla="val 924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67525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53047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怎样检验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60667" y="2054542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{Rₙ} 独立同分布条件下，游程长度的理论分布可以求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出，然后比较实际游程长度与理论期望（或用卡方检验比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较频数）。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680835" y="3136582"/>
            <a:ext cx="4977765" cy="3065145"/>
            <a:chOff x="6680835" y="3136582"/>
            <a:chExt cx="4977765" cy="3065145"/>
          </a:xfrm>
        </p:grpSpPr>
        <p:sp>
          <p:nvSpPr>
            <p:cNvPr id="65" name="Rectangle 65"/>
            <p:cNvSpPr/>
            <p:nvPr/>
          </p:nvSpPr>
          <p:spPr>
            <a:xfrm>
              <a:off x="6680835" y="3136582"/>
              <a:ext cx="4977765" cy="3065145"/>
            </a:xfrm>
            <a:prstGeom prst="roundRect">
              <a:avLst>
                <a:gd name="adj" fmla="val 43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90360" y="3269932"/>
              <a:ext cx="47625" cy="27984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05625" y="332327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75894" y="335613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理论分布（补充）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98767" y="3668077"/>
              <a:ext cx="4629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从一个新数开始，前 k 个数恰好递增的概率是 1/k!，所以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formula89"/>
                <p:cNvSpPr txBox="1">
                  <a:spLocks noGrp="1"/>
                </p:cNvSpPr>
                <p:nvPr/>
              </p:nvSpPr>
              <p:spPr>
                <a:xfrm>
                  <a:off x="6905625" y="3945255"/>
                  <a:ext cx="456628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EL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1.718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1" name="Ellipse 71"/>
            <p:cNvSpPr/>
            <p:nvPr/>
          </p:nvSpPr>
          <p:spPr>
            <a:xfrm>
              <a:off x="6914198" y="451961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70217" y="4463415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相邻游程并不独立（后一个游程的首项偏小）。Knuth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的做法是每个游程结束后丢掉紧跟的那个数，各游程长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度就独立同分布于上式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99910" y="5274469"/>
              <a:ext cx="43497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 20 万个游程：长度 1、2、3 的频率 0.497、0.336、0.126，理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论 0.5、0.333、0.125。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12556" cy="909257"/>
            <a:chOff x="520446" y="342900"/>
            <a:chExt cx="91125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125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检验8、9 扑克检验与配套检验：数一数局部出现了几种数字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250758"/>
            <a:chOff x="533400" y="1524000"/>
            <a:chExt cx="5626418" cy="22507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50758"/>
            </a:xfrm>
            <a:prstGeom prst="roundRect">
              <a:avLst>
                <a:gd name="adj" fmla="val 59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405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0677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982" y="1743551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检验8 扑克检验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429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{Rₙ} 离散化为 yₙ = floor(kRₙ)，每连续 8 个作为一组，计数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每组内不同数字的个数（1～8 个），用卡方检验法比较实际频数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与理论概率：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96"/>
                <p:cNvSpPr txBox="1">
                  <a:spLocks noGrp="1"/>
                </p:cNvSpPr>
                <p:nvPr/>
              </p:nvSpPr>
              <p:spPr>
                <a:xfrm>
                  <a:off x="758190" y="2847022"/>
                  <a:ext cx="521493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恰有 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种数字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⋯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2475" y="3412331"/>
              <a:ext cx="47744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S(8, r) 是第二类 Stirling 数：把 8 个位置分成 r 个非空组的方法数。</a:t>
              </a:r>
            </a:p>
          </p:txBody>
        </p:sp>
      </p:grpSp>
      <p:grpSp>
        <p:nvGrpSpPr>
          <p:cNvPr id="38" name="c1-table-2"/>
          <p:cNvGrpSpPr/>
          <p:nvPr/>
        </p:nvGrpSpPr>
        <p:grpSpPr>
          <a:xfrm>
            <a:off x="528447" y="3945255"/>
            <a:ext cx="5631371" cy="1063656"/>
            <a:chOff x="528447" y="3945255"/>
            <a:chExt cx="5631371" cy="1063656"/>
          </a:xfrm>
        </p:grpSpPr>
        <p:sp>
          <p:nvSpPr>
            <p:cNvPr id="15" name="Rectangle 15"/>
            <p:cNvSpPr/>
            <p:nvPr/>
          </p:nvSpPr>
          <p:spPr>
            <a:xfrm>
              <a:off x="533400" y="3945255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0881" y="4066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76030" y="40666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≤3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81566" y="4066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43566" y="4066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05566" y="4066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67566" y="4066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29566" y="40666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555" y="4466749"/>
              <a:ext cx="848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P（k = 10）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14325" y="44667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76325" y="44667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0.0857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38325" y="44667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0.3175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00325" y="44667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0.4022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62325" y="44667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0.1693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4325" y="446674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0.0181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945255"/>
              <a:ext cx="5626418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583055" y="39452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345055" y="39452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107055" y="39452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69055" y="39452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631055" y="39452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93055" y="3945255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4818221"/>
              <a:ext cx="38160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概率小的类合并，保证每类期望频数不太小；脚本复核概率和为 1</a:t>
              </a:r>
            </a:p>
          </p:txBody>
        </p:sp>
      </p:grpSp>
      <p:grpSp>
        <p:nvGrpSpPr>
          <p:cNvPr id="45" name="c1-callout-3"/>
          <p:cNvGrpSpPr/>
          <p:nvPr/>
        </p:nvGrpSpPr>
        <p:grpSpPr>
          <a:xfrm>
            <a:off x="533400" y="5140642"/>
            <a:ext cx="5626418" cy="729615"/>
            <a:chOff x="533400" y="5140642"/>
            <a:chExt cx="5626418" cy="729615"/>
          </a:xfrm>
        </p:grpSpPr>
        <p:sp>
          <p:nvSpPr>
            <p:cNvPr id="39" name="Rectangle 39"/>
            <p:cNvSpPr/>
            <p:nvPr/>
          </p:nvSpPr>
          <p:spPr>
            <a:xfrm>
              <a:off x="533400" y="5140642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405438"/>
              <a:ext cx="200026" cy="200026"/>
              <a:chOff x="738188" y="540543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54054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54721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55054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892" y="5286375"/>
              <a:ext cx="45057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10 时 5～7 种数字最常见。把 N 个数分成 N/8 组统计频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数，合并后的类数减 1 就是卡方检验的自由度。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464618" y="1524000"/>
            <a:ext cx="5193982" cy="2300288"/>
            <a:chOff x="6464618" y="1524000"/>
            <a:chExt cx="5193982" cy="2300288"/>
          </a:xfrm>
        </p:grpSpPr>
        <p:sp>
          <p:nvSpPr>
            <p:cNvPr id="46" name="Rectangle 46"/>
            <p:cNvSpPr/>
            <p:nvPr/>
          </p:nvSpPr>
          <p:spPr>
            <a:xfrm>
              <a:off x="6464618" y="1524000"/>
              <a:ext cx="5193982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4142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89408" y="1710690"/>
              <a:ext cx="10677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64152" y="1743551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检验9 配套检验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97980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53999" y="2054542"/>
              <a:ext cx="4132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{Rₙ} 离散化为 yₙ = floor(kRₙ)（k 为正整数）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697980" y="24117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53999" y="2355532"/>
              <a:ext cx="44371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顺序抽取 y₁, y₂, …，直到 0, 1, …, k − 1 都出现过，记录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抽取的个数 L；反复做，得到 lⱼ，j = 1, 2, …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697980" y="29689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53999" y="2912745"/>
              <a:ext cx="440283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独立同 U(0,1) 条件下 L 的分布可以求出：用 {lⱼ} 的平均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值做渐近正态检验，或用卡方检验比较 {lⱼ} 的频数与理论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期望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464618" y="3994785"/>
            <a:ext cx="5193982" cy="2130742"/>
            <a:chOff x="6464618" y="3994785"/>
            <a:chExt cx="5193982" cy="2130742"/>
          </a:xfrm>
        </p:grpSpPr>
        <p:sp>
          <p:nvSpPr>
            <p:cNvPr id="57" name="Rectangle 57"/>
            <p:cNvSpPr/>
            <p:nvPr/>
          </p:nvSpPr>
          <p:spPr>
            <a:xfrm>
              <a:off x="6464618" y="3994785"/>
              <a:ext cx="5193982" cy="2130742"/>
            </a:xfrm>
            <a:prstGeom prst="roundRect">
              <a:avLst>
                <a:gd name="adj" fmla="val 62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4128135"/>
              <a:ext cx="47625" cy="18640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689408" y="4181475"/>
              <a:ext cx="119157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56768" y="4214336"/>
              <a:ext cx="1057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 的期望（补充）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2549" y="4525328"/>
              <a:ext cx="45399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已出现 i 种数字后，出现新数字的概率是 (k − i)/k，平均要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 k/(k − i) 个：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formula97"/>
                <p:cNvSpPr txBox="1">
                  <a:spLocks noGrp="1"/>
                </p:cNvSpPr>
                <p:nvPr/>
              </p:nvSpPr>
              <p:spPr>
                <a:xfrm>
                  <a:off x="6689408" y="5060632"/>
                  <a:ext cx="4782502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EL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+⋯+</m:t>
                            </m:r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3" name="TextBox 63"/>
            <p:cNvSpPr txBox="1"/>
            <p:nvPr/>
          </p:nvSpPr>
          <p:spPr>
            <a:xfrm>
              <a:off x="6683692" y="5763101"/>
              <a:ext cx="3396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10 时 EL = 29.29，模拟 10 万次平均 29.29。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35922" cy="909257"/>
            <a:chOff x="520446" y="342900"/>
            <a:chExt cx="81359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随机数的检验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359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检验10、11 正负连与升降连：看同号段的长度和个数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3006090"/>
            <a:chOff x="533400" y="1524000"/>
            <a:chExt cx="5410200" cy="30060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006090"/>
            </a:xfrm>
            <a:prstGeom prst="roundRect">
              <a:avLst>
                <a:gd name="adj" fmla="val 44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393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33921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272" y="1756410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检验10 正负连检验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yₙ = Rₙ − 1/2，把连续同号的 {yₙ} 分为一段，每段叫做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一个“连”。连长 L 的分布概率为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04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97586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3161824"/>
              <a:ext cx="4847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可以用卡方检验法检验 L 的分布。n 个数的总连数 T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05"/>
                <p:cNvSpPr txBox="1">
                  <a:spLocks noGrp="1"/>
                </p:cNvSpPr>
                <p:nvPr/>
              </p:nvSpPr>
              <p:spPr>
                <a:xfrm>
                  <a:off x="769620" y="3455670"/>
                  <a:ext cx="49758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ET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62381" y="4108609"/>
              <a:ext cx="41110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可以用 Z 检验法检验 T 的值与理论期望的差距。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710112"/>
            <a:ext cx="5410200" cy="1522095"/>
            <a:chOff x="533400" y="4710112"/>
            <a:chExt cx="5410200" cy="1522095"/>
          </a:xfrm>
        </p:grpSpPr>
        <p:sp>
          <p:nvSpPr>
            <p:cNvPr id="17" name="Rectangle 17"/>
            <p:cNvSpPr/>
            <p:nvPr/>
          </p:nvSpPr>
          <p:spPr>
            <a:xfrm>
              <a:off x="533400" y="4710112"/>
              <a:ext cx="541020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843462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9620" y="49082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1060" y="49425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381" y="5268754"/>
              <a:ext cx="468528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原课件写作“把连续的 {yₙ} 的负值分为一段”，应为连续的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正值或负值各成一段；ET、Var(T) 是正、负两种连合起来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计数的结果。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248400" y="1524000"/>
            <a:ext cx="5410200" cy="2158365"/>
            <a:chOff x="6248400" y="1524000"/>
            <a:chExt cx="5410200" cy="215836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84620" y="1722120"/>
              <a:ext cx="133921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0272" y="1756410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检验11 升降连检验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92240" y="21431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48831" y="2082641"/>
              <a:ext cx="32444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yₙ = Rₙ − Rₙ₋₁，n = 2, 3, …, N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2240" y="24603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48831" y="2400776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连续正值的 {yₙ} 分为一段，叫做一个上升连；连续负值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的一段叫做一个下降连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2240" y="304990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48831" y="298942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用卡方检验法比较连的长度与独立同分布假设下的理论分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布，或用 Z 检验法比较总连数与理论期望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862388"/>
            <a:ext cx="5410200" cy="2369820"/>
            <a:chOff x="6248400" y="3862388"/>
            <a:chExt cx="5410200" cy="2369820"/>
          </a:xfrm>
        </p:grpSpPr>
        <p:sp>
          <p:nvSpPr>
            <p:cNvPr id="34" name="Rectangle 34"/>
            <p:cNvSpPr/>
            <p:nvPr/>
          </p:nvSpPr>
          <p:spPr>
            <a:xfrm>
              <a:off x="6248400" y="3862388"/>
              <a:ext cx="5410200" cy="2369820"/>
            </a:xfrm>
            <a:prstGeom prst="roundRect">
              <a:avLst>
                <a:gd name="adj" fmla="val 562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46520" y="4060508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93954" y="409479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总连数的期望与方差（补充）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106"/>
                <p:cNvSpPr txBox="1">
                  <a:spLocks noGrp="1"/>
                </p:cNvSpPr>
                <p:nvPr/>
              </p:nvSpPr>
              <p:spPr>
                <a:xfrm>
                  <a:off x="6446520" y="4397692"/>
                  <a:ext cx="50139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ET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Var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16N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29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90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440424" y="5047298"/>
              <a:ext cx="4713732" cy="6766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模拟复核（n = N = 50，各 4 万次）：正负连 T 的均值、方差 25.48、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12.35（理论 25.5、12.25）；升降连 33.01、8.56（理论 33、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8.57）。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505134" cy="2997517"/>
            <a:chOff x="667512" y="1835468"/>
            <a:chExt cx="450513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逆变换法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把均匀随机数送进分布函数的反函数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48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2.3.1 逆变换法的两个定理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42658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2.3.2 离散型：均匀、排列、几何、二项、泊松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660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2.3.3 连续型：三角形、指数、泊松过程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15263" cy="909257"/>
            <a:chOff x="520446" y="342900"/>
            <a:chExt cx="75152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152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逆变换法：U ~ U(0,1) 时，F⁻¹(U) 服从分布 F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2290762"/>
            <a:chOff x="533400" y="1524000"/>
            <a:chExt cx="5626418" cy="22907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290762"/>
            </a:xfrm>
            <a:prstGeom prst="roundRect">
              <a:avLst>
                <a:gd name="adj" fmla="val 58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40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37445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865" y="1756410"/>
              <a:ext cx="1245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定理6.1（连续型）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为连续型随机变量，取值于区间 (a, b)（可包括 ±∞ 和端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点），X 的密度在 (a, b) 上取正值，分布函数为 F(x)，U ~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U(0,1)，则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1"/>
                <p:cNvSpPr txBox="1">
                  <a:spLocks noGrp="1"/>
                </p:cNvSpPr>
                <p:nvPr/>
              </p:nvSpPr>
              <p:spPr>
                <a:xfrm>
                  <a:off x="769620" y="2920365"/>
                  <a:ext cx="5192078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∼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⋅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3524" y="3429000"/>
              <a:ext cx="4415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证明：F 严格单调，P(F⁻¹(U) ≤ y) = P(U ≤ F(y)) = F(y)。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994785"/>
            <a:ext cx="5626418" cy="2291715"/>
            <a:chOff x="533400" y="3994785"/>
            <a:chExt cx="5626418" cy="2291715"/>
          </a:xfrm>
        </p:grpSpPr>
        <p:sp>
          <p:nvSpPr>
            <p:cNvPr id="15" name="Rectangle 15"/>
            <p:cNvSpPr/>
            <p:nvPr/>
          </p:nvSpPr>
          <p:spPr>
            <a:xfrm>
              <a:off x="533400" y="3994785"/>
              <a:ext cx="5626418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28135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4192905"/>
              <a:ext cx="137445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3865" y="4227195"/>
              <a:ext cx="1245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定理6.2（离散型）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554379"/>
              <a:ext cx="491972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为离散型随机变量，取值于集合 {a₁, a₂, …}（a₁ &lt; a₂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…），F(x) 为 X 的分布函数，U ~ U(0,1)。根据 U 的值定义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 Y：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112"/>
                <p:cNvSpPr txBox="1">
                  <a:spLocks noGrp="1"/>
                </p:cNvSpPr>
                <p:nvPr/>
              </p:nvSpPr>
              <p:spPr>
                <a:xfrm>
                  <a:off x="769620" y="5391150"/>
                  <a:ext cx="519207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当且仅当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62381" y="5865971"/>
              <a:ext cx="27371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 F(a₀) = 0，则 Y ~ F(y)。</a:t>
              </a:r>
            </a:p>
          </p:txBody>
        </p:sp>
      </p:grpSp>
      <p:grpSp>
        <p:nvGrpSpPr>
          <p:cNvPr id="50" name="c2-graph-1"/>
          <p:cNvGrpSpPr/>
          <p:nvPr/>
        </p:nvGrpSpPr>
        <p:grpSpPr>
          <a:xfrm>
            <a:off x="6613214" y="1625918"/>
            <a:ext cx="4936354" cy="2608326"/>
            <a:chOff x="6613214" y="1625918"/>
            <a:chExt cx="4936354" cy="2608326"/>
          </a:xfrm>
        </p:grpSpPr>
        <p:sp>
          <p:nvSpPr>
            <p:cNvPr id="23" name="Freeform 23"/>
            <p:cNvSpPr/>
            <p:nvPr/>
          </p:nvSpPr>
          <p:spPr>
            <a:xfrm>
              <a:off x="6791325" y="3833812"/>
              <a:ext cx="4600575" cy="9525"/>
            </a:xfrm>
            <a:custGeom>
              <a:avLst/>
              <a:gdLst/>
              <a:ahLst/>
              <a:cxnLst/>
              <a:rect l="l" t="t" r="r" b="b"/>
              <a:pathLst>
                <a:path w="4600575" h="9525">
                  <a:moveTo>
                    <a:pt x="0" y="0"/>
                  </a:moveTo>
                  <a:lnTo>
                    <a:pt x="46005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1391900" y="37861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879908" y="1742122"/>
              <a:ext cx="9525" cy="2237422"/>
            </a:xfrm>
            <a:custGeom>
              <a:avLst/>
              <a:gdLst/>
              <a:ahLst/>
              <a:cxnLst/>
              <a:rect l="l" t="t" r="r" b="b"/>
              <a:pathLst>
                <a:path w="9525" h="2237422">
                  <a:moveTo>
                    <a:pt x="0" y="223742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832282" y="16468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6895148" y="1900238"/>
              <a:ext cx="4540567" cy="9525"/>
            </a:xfrm>
            <a:custGeom>
              <a:avLst/>
              <a:gdLst/>
              <a:ahLst/>
              <a:cxnLst/>
              <a:rect l="l" t="t" r="r" b="b"/>
              <a:pathLst>
                <a:path w="4540567" h="9525">
                  <a:moveTo>
                    <a:pt x="0" y="0"/>
                  </a:moveTo>
                  <a:lnTo>
                    <a:pt x="4540567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6998970" y="1900238"/>
              <a:ext cx="4229100" cy="1932622"/>
            </a:xfrm>
            <a:custGeom>
              <a:avLst/>
              <a:gdLst/>
              <a:ahLst/>
              <a:cxnLst/>
              <a:rect l="l" t="t" r="r" b="b"/>
              <a:pathLst>
                <a:path w="4229100" h="1932622">
                  <a:moveTo>
                    <a:pt x="0" y="1932622"/>
                  </a:moveTo>
                  <a:lnTo>
                    <a:pt x="161925" y="1917382"/>
                  </a:lnTo>
                  <a:lnTo>
                    <a:pt x="338138" y="1896428"/>
                  </a:lnTo>
                  <a:lnTo>
                    <a:pt x="515303" y="1866900"/>
                  </a:lnTo>
                  <a:lnTo>
                    <a:pt x="697230" y="1824038"/>
                  </a:lnTo>
                  <a:lnTo>
                    <a:pt x="873443" y="1764982"/>
                  </a:lnTo>
                  <a:lnTo>
                    <a:pt x="1049655" y="1686878"/>
                  </a:lnTo>
                  <a:lnTo>
                    <a:pt x="1226820" y="1584960"/>
                  </a:lnTo>
                  <a:lnTo>
                    <a:pt x="1403033" y="1452562"/>
                  </a:lnTo>
                  <a:lnTo>
                    <a:pt x="1584960" y="1300162"/>
                  </a:lnTo>
                  <a:lnTo>
                    <a:pt x="1761173" y="1124903"/>
                  </a:lnTo>
                  <a:lnTo>
                    <a:pt x="1938338" y="940117"/>
                  </a:lnTo>
                  <a:lnTo>
                    <a:pt x="2114550" y="757238"/>
                  </a:lnTo>
                  <a:lnTo>
                    <a:pt x="2291715" y="590550"/>
                  </a:lnTo>
                  <a:lnTo>
                    <a:pt x="2467928" y="445770"/>
                  </a:lnTo>
                  <a:lnTo>
                    <a:pt x="2644140" y="324802"/>
                  </a:lnTo>
                  <a:lnTo>
                    <a:pt x="2826068" y="233362"/>
                  </a:lnTo>
                  <a:lnTo>
                    <a:pt x="3003232" y="163830"/>
                  </a:lnTo>
                  <a:lnTo>
                    <a:pt x="3179445" y="109538"/>
                  </a:lnTo>
                  <a:lnTo>
                    <a:pt x="3355657" y="72390"/>
                  </a:lnTo>
                  <a:lnTo>
                    <a:pt x="3532823" y="48577"/>
                  </a:lnTo>
                  <a:lnTo>
                    <a:pt x="3714750" y="29527"/>
                  </a:lnTo>
                  <a:lnTo>
                    <a:pt x="3890962" y="16192"/>
                  </a:lnTo>
                  <a:lnTo>
                    <a:pt x="4067175" y="4762"/>
                  </a:lnTo>
                  <a:lnTo>
                    <a:pt x="4229100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895148" y="2517458"/>
              <a:ext cx="2253615" cy="9525"/>
            </a:xfrm>
            <a:custGeom>
              <a:avLst/>
              <a:gdLst/>
              <a:ahLst/>
              <a:cxnLst/>
              <a:rect l="l" t="t" r="r" b="b"/>
              <a:pathLst>
                <a:path w="2253615" h="9525">
                  <a:moveTo>
                    <a:pt x="0" y="0"/>
                  </a:moveTo>
                  <a:lnTo>
                    <a:pt x="2253615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9148762" y="2469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259252" y="2532698"/>
              <a:ext cx="9525" cy="1190625"/>
            </a:xfrm>
            <a:custGeom>
              <a:avLst/>
              <a:gdLst/>
              <a:ahLst/>
              <a:cxnLst/>
              <a:rect l="l" t="t" r="r" b="b"/>
              <a:pathLst>
                <a:path w="9525" h="1190625">
                  <a:moveTo>
                    <a:pt x="0" y="0"/>
                  </a:moveTo>
                  <a:lnTo>
                    <a:pt x="0" y="1190625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9211628" y="37233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978015" y="382809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237595" y="189452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770370" y="382809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496675" y="382809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874192" y="398907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874192" y="162591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874192" y="251174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253538" y="251174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53538" y="382809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874192" y="189452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445240" y="189452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5085" y="18054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3214" y="2407444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5085" y="38200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15578" y="3999548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= F⁻¹(U)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08291" y="2084546"/>
              <a:ext cx="422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55212" y="395430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464618" y="4390072"/>
            <a:ext cx="5193982" cy="1018222"/>
            <a:chOff x="6464618" y="4390072"/>
            <a:chExt cx="5193982" cy="1018222"/>
          </a:xfrm>
        </p:grpSpPr>
        <p:sp>
          <p:nvSpPr>
            <p:cNvPr id="51" name="Rectangle 51"/>
            <p:cNvSpPr/>
            <p:nvPr/>
          </p:nvSpPr>
          <p:spPr>
            <a:xfrm>
              <a:off x="6464618" y="4390072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669405" y="4799648"/>
              <a:ext cx="200026" cy="200026"/>
              <a:chOff x="6669405" y="4799648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669405" y="47996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69418" y="4866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758305" y="48996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71729" y="4537234"/>
              <a:ext cx="4225417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纵坐标表示累积分布值，范围 [0, 1]。在纵轴上均匀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地取一点 U，水平碰到曲线后向下落到横轴，得到的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就服从该分布。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离散型的例子：按概率从大到小比较，平均比较次数更少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4740910" cy="441008"/>
            <a:chOff x="527685" y="1542574"/>
            <a:chExt cx="4740910" cy="44100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474091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模拟分布列为 p₁ = 0.20，p₂ = 0.15，p₃ = 0.25，p₄ = 0.40 的随机变量 X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（pⱼ = P{X = j}）。</a:t>
              </a:r>
            </a:p>
          </p:txBody>
        </p:sp>
      </p:grpSp>
      <p:grpSp>
        <p:nvGrpSpPr>
          <p:cNvPr id="60" name="c1-graph-2"/>
          <p:cNvGrpSpPr/>
          <p:nvPr/>
        </p:nvGrpSpPr>
        <p:grpSpPr>
          <a:xfrm>
            <a:off x="614855" y="2316480"/>
            <a:ext cx="4962033" cy="3919251"/>
            <a:chOff x="614855" y="2316480"/>
            <a:chExt cx="4962033" cy="3919251"/>
          </a:xfrm>
        </p:grpSpPr>
        <p:sp>
          <p:nvSpPr>
            <p:cNvPr id="9" name="Freeform 9"/>
            <p:cNvSpPr/>
            <p:nvPr/>
          </p:nvSpPr>
          <p:spPr>
            <a:xfrm>
              <a:off x="860108" y="5767388"/>
              <a:ext cx="4600575" cy="9525"/>
            </a:xfrm>
            <a:custGeom>
              <a:avLst/>
              <a:gdLst/>
              <a:ahLst/>
              <a:cxnLst/>
              <a:rect l="l" t="t" r="r" b="b"/>
              <a:pathLst>
                <a:path w="4600575" h="9525">
                  <a:moveTo>
                    <a:pt x="0" y="0"/>
                  </a:moveTo>
                  <a:lnTo>
                    <a:pt x="46005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60682" y="57197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52512" y="2432685"/>
              <a:ext cx="9525" cy="3574733"/>
            </a:xfrm>
            <a:custGeom>
              <a:avLst/>
              <a:gdLst/>
              <a:ahLst/>
              <a:cxnLst/>
              <a:rect l="l" t="t" r="r" b="b"/>
              <a:pathLst>
                <a:path w="9525" h="3574733">
                  <a:moveTo>
                    <a:pt x="0" y="357473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04888" y="23374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35492" y="5154930"/>
              <a:ext cx="871538" cy="9525"/>
            </a:xfrm>
            <a:custGeom>
              <a:avLst/>
              <a:gdLst/>
              <a:ahLst/>
              <a:cxnLst/>
              <a:rect l="l" t="t" r="r" b="b"/>
              <a:pathLst>
                <a:path w="871538" h="9525">
                  <a:moveTo>
                    <a:pt x="0" y="0"/>
                  </a:moveTo>
                  <a:lnTo>
                    <a:pt x="871538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87868" y="5170170"/>
              <a:ext cx="9525" cy="581978"/>
            </a:xfrm>
            <a:custGeom>
              <a:avLst/>
              <a:gdLst/>
              <a:ahLst/>
              <a:cxnLst/>
              <a:rect l="l" t="t" r="r" b="b"/>
              <a:pathLst>
                <a:path w="9525" h="581978">
                  <a:moveTo>
                    <a:pt x="0" y="58197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  <a:custDash>
                <a:ds d="375000" sp="25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969895" y="4695825"/>
              <a:ext cx="872490" cy="9525"/>
            </a:xfrm>
            <a:custGeom>
              <a:avLst/>
              <a:gdLst/>
              <a:ahLst/>
              <a:cxnLst/>
              <a:rect l="l" t="t" r="r" b="b"/>
              <a:pathLst>
                <a:path w="872490" h="9525">
                  <a:moveTo>
                    <a:pt x="0" y="0"/>
                  </a:moveTo>
                  <a:lnTo>
                    <a:pt x="872490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22270" y="471106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4286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  <a:custDash>
                <a:ds d="375000" sp="25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3905250" y="3930015"/>
              <a:ext cx="871538" cy="9525"/>
            </a:xfrm>
            <a:custGeom>
              <a:avLst/>
              <a:gdLst/>
              <a:ahLst/>
              <a:cxnLst/>
              <a:rect l="l" t="t" r="r" b="b"/>
              <a:pathLst>
                <a:path w="871538" h="9525">
                  <a:moveTo>
                    <a:pt x="0" y="0"/>
                  </a:moveTo>
                  <a:lnTo>
                    <a:pt x="871538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57625" y="3945255"/>
              <a:ext cx="9525" cy="735330"/>
            </a:xfrm>
            <a:custGeom>
              <a:avLst/>
              <a:gdLst/>
              <a:ahLst/>
              <a:cxnLst/>
              <a:rect l="l" t="t" r="r" b="b"/>
              <a:pathLst>
                <a:path w="9525" h="735330">
                  <a:moveTo>
                    <a:pt x="0" y="7353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  <a:custDash>
                <a:ds d="375000" sp="250000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4839652" y="2705100"/>
              <a:ext cx="664845" cy="9525"/>
            </a:xfrm>
            <a:custGeom>
              <a:avLst/>
              <a:gdLst/>
              <a:ahLst/>
              <a:cxnLst/>
              <a:rect l="l" t="t" r="r" b="b"/>
              <a:pathLst>
                <a:path w="664845" h="9525">
                  <a:moveTo>
                    <a:pt x="0" y="0"/>
                  </a:moveTo>
                  <a:lnTo>
                    <a:pt x="664845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92028" y="2720340"/>
              <a:ext cx="9525" cy="1194435"/>
            </a:xfrm>
            <a:custGeom>
              <a:avLst/>
              <a:gdLst/>
              <a:ahLst/>
              <a:cxnLst/>
              <a:rect l="l" t="t" r="r" b="b"/>
              <a:pathLst>
                <a:path w="9525" h="1194435">
                  <a:moveTo>
                    <a:pt x="0" y="119443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D9DFEA"/>
              </a:solidFill>
              <a:custDash>
                <a:ds d="375000" sp="250000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1067752" y="5767388"/>
              <a:ext cx="904875" cy="9525"/>
            </a:xfrm>
            <a:custGeom>
              <a:avLst/>
              <a:gdLst/>
              <a:ahLst/>
              <a:cxnLst/>
              <a:rect l="l" t="t" r="r" b="b"/>
              <a:pathLst>
                <a:path w="904875" h="9525">
                  <a:moveTo>
                    <a:pt x="0" y="0"/>
                  </a:moveTo>
                  <a:lnTo>
                    <a:pt x="904875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67752" y="4235768"/>
              <a:ext cx="2679382" cy="9525"/>
            </a:xfrm>
            <a:custGeom>
              <a:avLst/>
              <a:gdLst/>
              <a:ahLst/>
              <a:cxnLst/>
              <a:rect l="l" t="t" r="r" b="b"/>
              <a:pathLst>
                <a:path w="2679382" h="9525">
                  <a:moveTo>
                    <a:pt x="0" y="0"/>
                  </a:moveTo>
                  <a:lnTo>
                    <a:pt x="2679382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3747135" y="4188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857625" y="4251008"/>
              <a:ext cx="9525" cy="1405890"/>
            </a:xfrm>
            <a:custGeom>
              <a:avLst/>
              <a:gdLst/>
              <a:ahLst/>
              <a:cxnLst/>
              <a:rect l="l" t="t" r="r" b="b"/>
              <a:pathLst>
                <a:path w="9525" h="1405890">
                  <a:moveTo>
                    <a:pt x="0" y="0"/>
                  </a:moveTo>
                  <a:lnTo>
                    <a:pt x="0" y="1405890"/>
                  </a:lnTo>
                </a:path>
              </a:pathLst>
            </a:custGeom>
            <a:noFill/>
            <a:ln w="22860">
              <a:solidFill>
                <a:srgbClr val="F26B3A"/>
              </a:solidFill>
              <a:custDash>
                <a:ds d="250000" sp="166667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3810000" y="56568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39153" y="576167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565458" y="576167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46798" y="601694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6798" y="231648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949768" y="511683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916555" y="51492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982152" y="576167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982152" y="51492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884170" y="465772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51910" y="469011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916555" y="51492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916555" y="469011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819525" y="38919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786312" y="392430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851910" y="469011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851910" y="392430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753928" y="2667000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514022" y="26993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4786312" y="392430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4786312" y="269938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046798" y="576167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982152" y="576167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46798" y="42300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851910" y="42300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851910" y="576167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4855" y="5124926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4855" y="465724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0.35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4855" y="3892391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8313" y="26589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946634" y="60450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81037" y="60450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816392" y="60450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50794" y="60450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515589" y="3279934"/>
              <a:ext cx="2190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 = 0.5 落在 (0.35, 0.60]，X = 3</a:t>
              </a:r>
            </a:p>
          </p:txBody>
        </p:sp>
      </p:grpSp>
      <p:grpSp>
        <p:nvGrpSpPr>
          <p:cNvPr id="80" name="c2-table-1"/>
          <p:cNvGrpSpPr/>
          <p:nvPr/>
        </p:nvGrpSpPr>
        <p:grpSpPr>
          <a:xfrm>
            <a:off x="6027230" y="1524000"/>
            <a:ext cx="5631370" cy="2263806"/>
            <a:chOff x="6027230" y="1524000"/>
            <a:chExt cx="5631370" cy="2263806"/>
          </a:xfrm>
        </p:grpSpPr>
        <p:sp>
          <p:nvSpPr>
            <p:cNvPr id="61" name="Rectangle 61"/>
            <p:cNvSpPr/>
            <p:nvPr/>
          </p:nvSpPr>
          <p:spPr>
            <a:xfrm>
              <a:off x="6032182" y="1524000"/>
              <a:ext cx="562641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89091" y="164544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法1 自然顺序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51049" y="164544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法2 概率从大到小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9338" y="2045494"/>
              <a:ext cx="1340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0.20，令 X =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2070" y="2045494"/>
              <a:ext cx="1340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0.40，令 X = 4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32182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32182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29338" y="2445544"/>
              <a:ext cx="1340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0.35，令 X = 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42070" y="2445544"/>
              <a:ext cx="1340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0.65，令 X = 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32182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29338" y="2845594"/>
              <a:ext cx="1340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0.60，令 X = 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942070" y="2845594"/>
              <a:ext cx="1340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0.85，令 X = 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032182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032182" y="31242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29338" y="3245644"/>
              <a:ext cx="869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否则令 X = 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42070" y="3245644"/>
              <a:ext cx="869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否则令 X = 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032182" y="152400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84015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27230" y="3597116"/>
              <a:ext cx="20020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每行“且停止”，不满足才看下一行</a:t>
              </a:r>
            </a:p>
          </p:txBody>
        </p:sp>
      </p:grpSp>
      <p:grpSp>
        <p:nvGrpSpPr>
          <p:cNvPr id="90" name="c2-card-2"/>
          <p:cNvGrpSpPr/>
          <p:nvPr/>
        </p:nvGrpSpPr>
        <p:grpSpPr>
          <a:xfrm>
            <a:off x="6032182" y="3919538"/>
            <a:ext cx="5626418" cy="1489710"/>
            <a:chOff x="6032182" y="3919538"/>
            <a:chExt cx="5626418" cy="1489710"/>
          </a:xfrm>
        </p:grpSpPr>
        <p:sp>
          <p:nvSpPr>
            <p:cNvPr id="81" name="Rectangle 81"/>
            <p:cNvSpPr/>
            <p:nvPr/>
          </p:nvSpPr>
          <p:spPr>
            <a:xfrm>
              <a:off x="6032182" y="3919538"/>
              <a:ext cx="5626418" cy="1489710"/>
            </a:xfrm>
            <a:prstGeom prst="roundRect">
              <a:avLst>
                <a:gd name="adj" fmla="val 8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6041708" y="4052888"/>
              <a:ext cx="47625" cy="12230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56972" y="410622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319139" y="413908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平均比较次数（补充）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265545" y="45072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421564" y="4451032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法1：1×0.20 + 2×0.15 + 3×(0.25 + 0.40) = 2.45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265545" y="480726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421564" y="4751070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法2：1×0.40 + 2×0.25 + 3×(0.20 + 0.15) = 1.95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251258" y="5047774"/>
              <a:ext cx="4120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最后一行“否则”不用再比较，所以最后两个值都只比较 3 次。</a:t>
              </a:r>
            </a:p>
          </p:txBody>
        </p:sp>
      </p:grpSp>
      <p:grpSp>
        <p:nvGrpSpPr>
          <p:cNvPr id="96" name="c2-callout-3"/>
          <p:cNvGrpSpPr/>
          <p:nvPr/>
        </p:nvGrpSpPr>
        <p:grpSpPr>
          <a:xfrm>
            <a:off x="6032182" y="5579745"/>
            <a:ext cx="5626418" cy="729615"/>
            <a:chOff x="6032182" y="5579745"/>
            <a:chExt cx="5626418" cy="729615"/>
          </a:xfrm>
        </p:grpSpPr>
        <p:sp>
          <p:nvSpPr>
            <p:cNvPr id="91" name="Rectangle 91"/>
            <p:cNvSpPr/>
            <p:nvPr/>
          </p:nvSpPr>
          <p:spPr>
            <a:xfrm>
              <a:off x="6032182" y="5579745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6236970" y="5844542"/>
              <a:ext cx="200023" cy="200023"/>
              <a:chOff x="6236970" y="5844542"/>
              <a:chExt cx="200023" cy="200023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236970" y="58445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370320" y="59112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6539674" y="5725478"/>
              <a:ext cx="46085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两种顺序得到的 X 分布相同，只是区间在 [0, 1] 上的排列不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同；取值多时，把大概率的值放前面能明显提速。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94297" cy="909257"/>
            <a:chOff x="520446" y="342900"/>
            <a:chExt cx="58942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942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 离散均匀分布与例6.3 随机排列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760595" cy="3699510"/>
            <a:chOff x="533400" y="1524000"/>
            <a:chExt cx="4760595" cy="36995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699510"/>
            </a:xfrm>
            <a:prstGeom prst="roundRect">
              <a:avLst>
                <a:gd name="adj" fmla="val 36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4328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49637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934" y="1769269"/>
              <a:ext cx="1375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例6.1 离散均匀分布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420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 X 在 {1, 2, …, m} 中取值且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5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430339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310705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由定理 6.2：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16"/>
                <p:cNvSpPr txBox="1">
                  <a:spLocks noGrp="1"/>
                </p:cNvSpPr>
                <p:nvPr/>
              </p:nvSpPr>
              <p:spPr>
                <a:xfrm>
                  <a:off x="781050" y="3417570"/>
                  <a:ext cx="4303395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mU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405193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X = Int(mU) + 1，Int(x) 表示不大于 x 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最大整数。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4669631"/>
              <a:ext cx="4233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mU 恰为整数的概率为 0，边界落在哪一边不影响分布。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5598795" y="1524000"/>
            <a:ext cx="6059805" cy="2726055"/>
            <a:chOff x="5598795" y="1524000"/>
            <a:chExt cx="6059805" cy="2726055"/>
          </a:xfrm>
        </p:grpSpPr>
        <p:sp>
          <p:nvSpPr>
            <p:cNvPr id="18" name="Rectangle 18"/>
            <p:cNvSpPr/>
            <p:nvPr/>
          </p:nvSpPr>
          <p:spPr>
            <a:xfrm>
              <a:off x="5598795" y="1524000"/>
              <a:ext cx="6059805" cy="2726055"/>
            </a:xfrm>
            <a:prstGeom prst="roundRect">
              <a:avLst>
                <a:gd name="adj" fmla="val 48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08320" y="1657350"/>
              <a:ext cx="47625" cy="2459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846445" y="1733550"/>
              <a:ext cx="159353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04267" y="1769269"/>
              <a:ext cx="1478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例6.3（无放回抽样）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47610" y="1768792"/>
              <a:ext cx="3497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(1, 2, 3, …, n) 的一个随机排列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846445" y="21164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08294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47435" y="2129790"/>
              <a:ext cx="4002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P₁, P₂, …, Pₙ 是 1, 2, …, n 的任一排列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846445" y="24517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08294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47435" y="2465070"/>
              <a:ext cx="732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k = n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46445" y="27870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8294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47435" y="2800350"/>
              <a:ext cx="3679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生成一个随机数 U，并设 I = Int(kU) + 1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46445" y="31222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8294" y="31645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47435" y="3135630"/>
              <a:ext cx="26607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交换第 I 个元素和第 k 个元素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46445" y="345757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8294" y="34998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47435" y="3470910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k = k − 1，如果 k &gt; 1，转至步骤 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46445" y="37928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8294" y="38351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47435" y="3806190"/>
              <a:ext cx="3060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P₁, P₂, …, Pₙ 为所求的随机排列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5598795" y="4440555"/>
            <a:ext cx="6059805" cy="782955"/>
            <a:chOff x="5598795" y="4440555"/>
            <a:chExt cx="6059805" cy="782955"/>
          </a:xfrm>
        </p:grpSpPr>
        <p:sp>
          <p:nvSpPr>
            <p:cNvPr id="42" name="Rectangle 42"/>
            <p:cNvSpPr/>
            <p:nvPr/>
          </p:nvSpPr>
          <p:spPr>
            <a:xfrm>
              <a:off x="5598795" y="444055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5803583" y="4732020"/>
              <a:ext cx="200026" cy="200025"/>
              <a:chOff x="5803583" y="473202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803583" y="47320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5843321" y="47764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78037" y="48875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105525" y="4589145"/>
              <a:ext cx="4987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步骤 3 就是例6.1：I 在 1～k 中等可能取值，每一轮从还没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定位的 k 个数里等可能挑一个放到第 k 位。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28335"/>
              <a:ext cx="9835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runif() 返回 [0, 1) 内的值，所以 Int(mU) + 1 落在 1 ~ m，下标不会越界；若改用会取到 1 的均匀数，要单独处理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U = 1。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45810" cy="909257"/>
            <a:chOff x="520446" y="342900"/>
            <a:chExt cx="8045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45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随机排列手算：n = 5，每轮把随机选中的数换到末尾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cells-1"/>
          <p:cNvGrpSpPr/>
          <p:nvPr/>
        </p:nvGrpSpPr>
        <p:grpSpPr>
          <a:xfrm>
            <a:off x="527685" y="1524000"/>
            <a:ext cx="3436620" cy="2627948"/>
            <a:chOff x="527685" y="1524000"/>
            <a:chExt cx="3436620" cy="262794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387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868805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029104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87905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448204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07005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67304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26105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86404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45205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05504" y="16387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4323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233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8143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0053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19636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7685" y="2338864"/>
              <a:ext cx="133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k=5, U=0.62, I=4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68805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29104" y="2338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287905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48204" y="2338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707005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67304" y="2338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126105" y="222504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86404" y="2338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545205" y="222504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05504" y="2338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2858929"/>
              <a:ext cx="133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k=4, U=0.15, I=1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868805" y="274415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029104" y="2858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287905" y="274415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448204" y="2858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707005" y="274415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867304" y="2858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126105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86404" y="2858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45205" y="274415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05504" y="2858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7685" y="3378041"/>
              <a:ext cx="133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k=3, U=0.91, I=3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868805" y="326421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0291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87905" y="326421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4482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707005" y="326421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8673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126105" y="326421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2864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545205" y="326421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70550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7685" y="3898106"/>
              <a:ext cx="133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k=2, U=0.40, I=1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868805" y="378333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029104" y="3898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287905" y="378333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448204" y="3898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707005" y="378333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867304" y="3898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3126105" y="378333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3286404" y="3898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545205" y="378333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705504" y="38981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69" name="c1-text-2"/>
          <p:cNvGrpSpPr/>
          <p:nvPr/>
        </p:nvGrpSpPr>
        <p:grpSpPr>
          <a:xfrm>
            <a:off x="527685" y="4341019"/>
            <a:ext cx="5573014" cy="441008"/>
            <a:chOff x="527685" y="4341019"/>
            <a:chExt cx="5573014" cy="441008"/>
          </a:xfrm>
        </p:grpSpPr>
        <p:sp>
          <p:nvSpPr>
            <p:cNvPr id="68" name="TextBox 68"/>
            <p:cNvSpPr txBox="1"/>
            <p:nvPr/>
          </p:nvSpPr>
          <p:spPr>
            <a:xfrm>
              <a:off x="527685" y="4341019"/>
              <a:ext cx="557301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橙色格是被 I 选中的位置，绿色格是本轮定下来的第 k 位，灰色格已经定好。I = Int(kU)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+ 1，例如 Int(5×0.62) + 1 = 4。结果为 (2, 5, 3, 1, 4)。</a:t>
              </a:r>
            </a:p>
          </p:txBody>
        </p:sp>
      </p:grpSp>
      <p:grpSp>
        <p:nvGrpSpPr>
          <p:cNvPr id="75" name="c1-card-3"/>
          <p:cNvGrpSpPr/>
          <p:nvPr/>
        </p:nvGrpSpPr>
        <p:grpSpPr>
          <a:xfrm>
            <a:off x="533400" y="4908232"/>
            <a:ext cx="5842635" cy="1443038"/>
            <a:chOff x="533400" y="4908232"/>
            <a:chExt cx="5842635" cy="1443038"/>
          </a:xfrm>
        </p:grpSpPr>
        <p:sp>
          <p:nvSpPr>
            <p:cNvPr id="70" name="Rectangle 70"/>
            <p:cNvSpPr/>
            <p:nvPr/>
          </p:nvSpPr>
          <p:spPr>
            <a:xfrm>
              <a:off x="533400" y="4908232"/>
              <a:ext cx="584263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42925" y="504158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58190" y="509492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42759" y="51277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1332" y="5438775"/>
              <a:ext cx="520865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每轮都在全部 n 个位置里随机挑一个交换（而不是在前 k 个里挑），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得到的排列不再等可能：这样共有 n 的 n 次方条等概率路径，而排列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n! 种，n! 不整除它，各排列的概率必然不相等。</a:t>
              </a:r>
            </a:p>
          </p:txBody>
        </p:sp>
      </p:grpSp>
      <p:grpSp>
        <p:nvGrpSpPr>
          <p:cNvPr id="83" name="c2-card-1"/>
          <p:cNvGrpSpPr/>
          <p:nvPr/>
        </p:nvGrpSpPr>
        <p:grpSpPr>
          <a:xfrm>
            <a:off x="6680835" y="1524000"/>
            <a:ext cx="4977765" cy="1743075"/>
            <a:chOff x="6680835" y="1524000"/>
            <a:chExt cx="4977765" cy="1743075"/>
          </a:xfrm>
        </p:grpSpPr>
        <p:sp>
          <p:nvSpPr>
            <p:cNvPr id="76" name="Rectangle 76"/>
            <p:cNvSpPr/>
            <p:nvPr/>
          </p:nvSpPr>
          <p:spPr>
            <a:xfrm>
              <a:off x="6680835" y="1524000"/>
              <a:ext cx="4977765" cy="1743075"/>
            </a:xfrm>
            <a:prstGeom prst="roundRect">
              <a:avLst>
                <a:gd name="adj" fmla="val 765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867525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930644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为什么每个排列等可能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6876098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32117" y="2054542"/>
              <a:ext cx="41970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轮每个数被换到第 5 位的概率都是 1/5；第 2 轮从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剩下 4 个中等可能选一个放到第 4 位，依此类推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876098" y="26689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032117" y="2612708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某个特定排列出现的概率为 1/5 × 1/4 × 1/3 × 1/2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1/120 = 1/5!</a:t>
              </a:r>
            </a:p>
          </p:txBody>
        </p:sp>
      </p:grpSp>
      <p:grpSp>
        <p:nvGrpSpPr>
          <p:cNvPr id="87" name="c2-code-2"/>
          <p:cNvGrpSpPr/>
          <p:nvPr/>
        </p:nvGrpSpPr>
        <p:grpSpPr>
          <a:xfrm>
            <a:off x="6680835" y="3436620"/>
            <a:ext cx="4977765" cy="1912620"/>
            <a:chOff x="6680835" y="3436620"/>
            <a:chExt cx="4977765" cy="1912620"/>
          </a:xfrm>
        </p:grpSpPr>
        <p:sp>
          <p:nvSpPr>
            <p:cNvPr id="84" name="Rectangle 84"/>
            <p:cNvSpPr/>
            <p:nvPr/>
          </p:nvSpPr>
          <p:spPr>
            <a:xfrm>
              <a:off x="6680835" y="3436620"/>
              <a:ext cx="4977765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809232" y="3588544"/>
              <a:ext cx="750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R：随机排列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809232" y="3849529"/>
              <a:ext cx="3208528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perm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 &lt;- 1:n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n:2)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 &lt;- floor(k * runif(1)) + 1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P[c(I, k)] &lt;- P[c(k, I)]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交换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R 自带的 sample(n) 作用相同</a:t>
              </a:r>
            </a:p>
          </p:txBody>
        </p:sp>
      </p:grpSp>
      <p:grpSp>
        <p:nvGrpSpPr>
          <p:cNvPr id="94" name="c2-callout-3"/>
          <p:cNvGrpSpPr/>
          <p:nvPr/>
        </p:nvGrpSpPr>
        <p:grpSpPr>
          <a:xfrm>
            <a:off x="6680835" y="5519738"/>
            <a:ext cx="4977765" cy="729615"/>
            <a:chOff x="6680835" y="5519738"/>
            <a:chExt cx="4977765" cy="729615"/>
          </a:xfrm>
        </p:grpSpPr>
        <p:sp>
          <p:nvSpPr>
            <p:cNvPr id="88" name="Rectangle 88"/>
            <p:cNvSpPr/>
            <p:nvPr/>
          </p:nvSpPr>
          <p:spPr>
            <a:xfrm>
              <a:off x="6680835" y="551973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6885623" y="5784533"/>
              <a:ext cx="200026" cy="200025"/>
              <a:chOff x="6885623" y="5784533"/>
              <a:chExt cx="200026" cy="200025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6885623" y="57845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6925361" y="58289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960077" y="59401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7188327" y="5665470"/>
              <a:ext cx="403421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只做前 r 轮，末尾 r 个位置就是从 n 个数中无放回抽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取的 r 个。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84061" cy="909257"/>
            <a:chOff x="520446" y="342900"/>
            <a:chExt cx="60840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840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例6.4 几何分布：X = ceil(ln U / ln q)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171575"/>
            <a:chOff x="533400" y="1524000"/>
            <a:chExt cx="5842635" cy="11715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171575"/>
            </a:xfrm>
            <a:prstGeom prst="roundRect">
              <a:avLst>
                <a:gd name="adj" fmla="val 113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048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13467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8726" y="1769269"/>
              <a:ext cx="31202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几何分布 Geom(p)：首次成功所需的试验次数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20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538543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,…,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1-steps-2"/>
          <p:cNvGrpSpPr/>
          <p:nvPr/>
        </p:nvGrpSpPr>
        <p:grpSpPr>
          <a:xfrm>
            <a:off x="533400" y="2895600"/>
            <a:ext cx="4847813" cy="1878615"/>
            <a:chOff x="533400" y="2895600"/>
            <a:chExt cx="4847813" cy="1878615"/>
          </a:xfrm>
        </p:grpSpPr>
        <p:sp>
          <p:nvSpPr>
            <p:cNvPr id="13" name="Rectangle 13"/>
            <p:cNvSpPr/>
            <p:nvPr/>
          </p:nvSpPr>
          <p:spPr>
            <a:xfrm>
              <a:off x="666750" y="303847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89560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694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4615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199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1967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2705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9298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分布函数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223736"/>
              <a:ext cx="3444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F(k) = 1 − qᵏ，k = 1, 2, …；令 U ~ U(0,1)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80448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6.2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74294"/>
              <a:ext cx="3875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k ⇔ 1 − qᵏ⁻¹ &lt; U ≤ 1 − qᵏ ⇔ qᵏ ≤ 1 − U &lt; qᵏ⁻¹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23100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求最小的 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524851"/>
              <a:ext cx="44351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ln q ≤ ln(1 − U)，ln q &lt; 0，两边除以 ln q 时不等号反向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ormula121"/>
              <p:cNvSpPr txBox="1">
                <a:spLocks noGrp="1"/>
              </p:cNvSpPr>
              <p:nvPr/>
            </p:nvSpPr>
            <p:spPr>
              <a:xfrm>
                <a:off x="533400" y="4953000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: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f>
                                <m:fPr>
                                  <m:type m:val="bar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5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U</m:t>
                                          </m:r>
                                        </m:e>
                                      </m:d>
                                    </m:e>
                                  </m:func>
                                </m:num>
                                <m:den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q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⌈"/>
                          <m:sepChr m:val=""/>
                          <m:endChr m:val="⌉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</m:func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1" name="c1-code-4"/>
          <p:cNvGrpSpPr/>
          <p:nvPr/>
        </p:nvGrpSpPr>
        <p:grpSpPr>
          <a:xfrm>
            <a:off x="533400" y="5657850"/>
            <a:ext cx="5842635" cy="704850"/>
            <a:chOff x="533400" y="5657850"/>
            <a:chExt cx="5842635" cy="704850"/>
          </a:xfrm>
        </p:grpSpPr>
        <p:sp>
          <p:nvSpPr>
            <p:cNvPr id="28" name="Rectangle 28"/>
            <p:cNvSpPr/>
            <p:nvPr/>
          </p:nvSpPr>
          <p:spPr>
            <a:xfrm>
              <a:off x="533400" y="5657850"/>
              <a:ext cx="5842635" cy="704850"/>
            </a:xfrm>
            <a:prstGeom prst="roundRect">
              <a:avLst>
                <a:gd name="adj" fmla="val 135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797" y="58097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035" y="6071711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rgeom1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p) ceiling(log(runif(n)) / log(1 - p))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680835" y="1524000"/>
            <a:ext cx="4977765" cy="1743075"/>
            <a:chOff x="6680835" y="1524000"/>
            <a:chExt cx="4977765" cy="1743075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1743075"/>
            </a:xfrm>
            <a:prstGeom prst="roundRect">
              <a:avLst>
                <a:gd name="adj" fmla="val 765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90385" y="1733550"/>
              <a:ext cx="174402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44109" y="1769269"/>
              <a:ext cx="1637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化简（log 为自然对数）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82765" y="2110740"/>
              <a:ext cx="31447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1 − U 也服从 U(0,1)，所以只要取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formula122"/>
                <p:cNvSpPr txBox="1">
                  <a:spLocks noGrp="1"/>
                </p:cNvSpPr>
                <p:nvPr/>
              </p:nvSpPr>
              <p:spPr>
                <a:xfrm>
                  <a:off x="6890385" y="2421255"/>
                  <a:ext cx="4558665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⌈"/>
                            <m:sepChr m:val=""/>
                            <m:endChr m:val="⌉"/>
                            <m:grow m:val="on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U</m:t>
                                    </m:r>
                                  </m:e>
                                </m:func>
                              </m:num>
                              <m:den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a:rPr lang="zh-CN" sz="18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</m:func>
                              </m:den>
                            </m:f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4" name="c2-table-2"/>
          <p:cNvGrpSpPr/>
          <p:nvPr/>
        </p:nvGrpSpPr>
        <p:grpSpPr>
          <a:xfrm>
            <a:off x="6675120" y="3457575"/>
            <a:ext cx="4983480" cy="1642587"/>
            <a:chOff x="6675120" y="3457575"/>
            <a:chExt cx="4983480" cy="1642587"/>
          </a:xfrm>
        </p:grpSpPr>
        <p:sp>
          <p:nvSpPr>
            <p:cNvPr id="38" name="Rectangle 38"/>
            <p:cNvSpPr/>
            <p:nvPr/>
          </p:nvSpPr>
          <p:spPr>
            <a:xfrm>
              <a:off x="6680835" y="3457575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31411" y="35933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88713" y="3593306"/>
              <a:ext cx="843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ln U / ln q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30896" y="359330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84961" y="404193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67279" y="404193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1.432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36082" y="40419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680835" y="43500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80835" y="435483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84961" y="4490561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67279" y="449056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36082" y="44905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3457575"/>
              <a:ext cx="4977765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95322" y="345757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316528" y="345757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75120" y="4880134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例：p = 0.3，q = 0.7</a:t>
              </a:r>
            </a:p>
          </p:txBody>
        </p:sp>
      </p:grpSp>
      <p:grpSp>
        <p:nvGrpSpPr>
          <p:cNvPr id="61" name="c2-callout-3"/>
          <p:cNvGrpSpPr/>
          <p:nvPr/>
        </p:nvGrpSpPr>
        <p:grpSpPr>
          <a:xfrm>
            <a:off x="6680835" y="5246370"/>
            <a:ext cx="4977765" cy="782955"/>
            <a:chOff x="6680835" y="5246370"/>
            <a:chExt cx="4977765" cy="782955"/>
          </a:xfrm>
        </p:grpSpPr>
        <p:sp>
          <p:nvSpPr>
            <p:cNvPr id="55" name="Rectangle 55"/>
            <p:cNvSpPr/>
            <p:nvPr/>
          </p:nvSpPr>
          <p:spPr>
            <a:xfrm>
              <a:off x="6680835" y="524637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873564" y="5534143"/>
              <a:ext cx="224134" cy="192560"/>
              <a:chOff x="6873564" y="5534143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6985635" y="56045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873564" y="55341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985635" y="5682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187565" y="5394960"/>
              <a:ext cx="4110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R 自带的 rgeom() 返回首次成功之前的失败次数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（取值 0, 1, 2, …），比这里的 X 小 1。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0774" cy="909257"/>
            <a:chOff x="520446" y="342900"/>
            <a:chExt cx="7900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0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例6.5 独立试验序列：p 较小时用几何分布跳过失败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3549091" cy="234696"/>
            <a:chOff x="527304" y="1544002"/>
            <a:chExt cx="3549091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35490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N 个独立同 b(1, p) 分布的随机变量 Xᵢ，即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25"/>
              <p:cNvSpPr txBox="1">
                <a:spLocks noGrp="1"/>
              </p:cNvSpPr>
              <p:nvPr/>
            </p:nvSpPr>
            <p:spPr>
              <a:xfrm>
                <a:off x="533400" y="1911668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3"/>
          <p:cNvGrpSpPr/>
          <p:nvPr/>
        </p:nvGrpSpPr>
        <p:grpSpPr>
          <a:xfrm>
            <a:off x="533400" y="2491740"/>
            <a:ext cx="5410200" cy="1529715"/>
            <a:chOff x="533400" y="2491740"/>
            <a:chExt cx="5410200" cy="1529715"/>
          </a:xfrm>
        </p:grpSpPr>
        <p:sp>
          <p:nvSpPr>
            <p:cNvPr id="10" name="Rectangle 10"/>
            <p:cNvSpPr/>
            <p:nvPr/>
          </p:nvSpPr>
          <p:spPr>
            <a:xfrm>
              <a:off x="533400" y="2491740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62509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9620" y="2689860"/>
              <a:ext cx="99536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5036" y="272415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法1 逐个比较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3050381"/>
              <a:ext cx="45860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N 个 Uᵢ 独立同 U(0,1)，当 Uᵢ ≤ p 时取 Xᵢ = 1，当 Uᵢ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p 时取 Xᵢ = 0，构造出独立试验序列。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3524" y="3635692"/>
              <a:ext cx="2793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每个位置用一个均匀随机数，共 N 个。</a:t>
              </a:r>
            </a:p>
          </p:txBody>
        </p:sp>
      </p:grpSp>
      <p:grpSp>
        <p:nvGrpSpPr>
          <p:cNvPr id="28" name="c1-card-4"/>
          <p:cNvGrpSpPr/>
          <p:nvPr/>
        </p:nvGrpSpPr>
        <p:grpSpPr>
          <a:xfrm>
            <a:off x="533400" y="4201478"/>
            <a:ext cx="5410200" cy="2114550"/>
            <a:chOff x="533400" y="4201478"/>
            <a:chExt cx="5410200" cy="2114550"/>
          </a:xfrm>
        </p:grpSpPr>
        <p:sp>
          <p:nvSpPr>
            <p:cNvPr id="17" name="Rectangle 17"/>
            <p:cNvSpPr/>
            <p:nvPr/>
          </p:nvSpPr>
          <p:spPr>
            <a:xfrm>
              <a:off x="533400" y="4201478"/>
              <a:ext cx="5410200" cy="2114550"/>
            </a:xfrm>
            <a:prstGeom prst="roundRect">
              <a:avLst>
                <a:gd name="adj" fmla="val 63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334828"/>
              <a:ext cx="47625" cy="18478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9620" y="4399598"/>
              <a:ext cx="2047875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3962" y="4433888"/>
              <a:ext cx="19591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法2 用几何分布（p 比较小时）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7240" y="482060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3831" y="476107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生成首次成功时间，则在成功之前的试验都是失败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77240" y="513873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3831" y="507825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再生成下次成功的间隔，两次成功之间的试验为失败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77240" y="54559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831" y="5396389"/>
              <a:ext cx="2158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一直到凑够 N 次试验为止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3524" y="5710238"/>
              <a:ext cx="46984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平均约需 Np + 1 个几何随机数。N = 1000、p = 0.01 时约 11 个，法1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 1000 个。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6242685" y="1569720"/>
            <a:ext cx="5415915" cy="1151572"/>
            <a:chOff x="6242685" y="1569720"/>
            <a:chExt cx="5415915" cy="1151572"/>
          </a:xfrm>
        </p:grpSpPr>
        <p:sp>
          <p:nvSpPr>
            <p:cNvPr id="29" name="TextBox 29"/>
            <p:cNvSpPr txBox="1"/>
            <p:nvPr/>
          </p:nvSpPr>
          <p:spPr>
            <a:xfrm>
              <a:off x="6242685" y="19464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66548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2494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081838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41184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498080" y="1819275"/>
              <a:ext cx="41624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57426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914322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2716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330565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8959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46808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0520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162098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21444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578340" y="1819275"/>
              <a:ext cx="41624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737686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994582" y="1819275"/>
              <a:ext cx="416242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52976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410825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69219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826115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85461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242358" y="1819275"/>
              <a:ext cx="41624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401704" y="1946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39073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55316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71558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86848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03091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19333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35576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51818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67108" y="22674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52994" y="226742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69236" y="226742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385479" y="226742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554057" y="156972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T₁=3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766857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634317" y="156972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T₂=5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9748838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0164128" y="24136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049607" y="254508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T₃=1</a:t>
              </a:r>
            </a:p>
          </p:txBody>
        </p:sp>
      </p:grpSp>
      <p:grpSp>
        <p:nvGrpSpPr>
          <p:cNvPr id="90" name="c2-steps-2"/>
          <p:cNvGrpSpPr/>
          <p:nvPr/>
        </p:nvGrpSpPr>
        <p:grpSpPr>
          <a:xfrm>
            <a:off x="6248400" y="2850832"/>
            <a:ext cx="4912157" cy="2398776"/>
            <a:chOff x="6248400" y="2850832"/>
            <a:chExt cx="4912157" cy="2398776"/>
          </a:xfrm>
        </p:grpSpPr>
        <p:sp>
          <p:nvSpPr>
            <p:cNvPr id="73" name="Rectangle 73"/>
            <p:cNvSpPr/>
            <p:nvPr/>
          </p:nvSpPr>
          <p:spPr>
            <a:xfrm>
              <a:off x="6381750" y="2993708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6248400" y="28508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42024" y="29246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248400" y="346710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42024" y="35409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248400" y="40843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342024" y="41581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248400" y="470154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42024" y="47753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60261" y="2883694"/>
              <a:ext cx="608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T₁ = 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61404" y="3164205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1、2 次失败，第 3 次成功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60261" y="3500914"/>
              <a:ext cx="608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 = 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661404" y="3781425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4～7 次失败，第 8 次成功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660261" y="4117181"/>
              <a:ext cx="608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T₃ = 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661404" y="4397692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 次紧接着成功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660261" y="4734401"/>
              <a:ext cx="608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T₄ = 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661404" y="5014912"/>
              <a:ext cx="4499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下一次成功在第 15 次，超出 N = 12，第 10～12 次都记为失败</a:t>
              </a:r>
            </a:p>
          </p:txBody>
        </p:sp>
      </p:grpSp>
      <p:grpSp>
        <p:nvGrpSpPr>
          <p:cNvPr id="96" name="c2-callout-3"/>
          <p:cNvGrpSpPr/>
          <p:nvPr/>
        </p:nvGrpSpPr>
        <p:grpSpPr>
          <a:xfrm>
            <a:off x="6248400" y="5420678"/>
            <a:ext cx="5410200" cy="756285"/>
            <a:chOff x="6248400" y="5420678"/>
            <a:chExt cx="5410200" cy="756285"/>
          </a:xfrm>
        </p:grpSpPr>
        <p:sp>
          <p:nvSpPr>
            <p:cNvPr id="91" name="Rectangle 91"/>
            <p:cNvSpPr/>
            <p:nvPr/>
          </p:nvSpPr>
          <p:spPr>
            <a:xfrm>
              <a:off x="6248400" y="542067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6453188" y="5698810"/>
              <a:ext cx="200023" cy="200023"/>
              <a:chOff x="6453188" y="5698810"/>
              <a:chExt cx="200023" cy="200023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453188" y="56988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586538" y="5765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6755511" y="5567839"/>
              <a:ext cx="412623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这里的 Tᵢ 是“到下一次成功为止的试验次数”，服从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Geom(p)，可以用例6.4 的公式一次生成。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09881" cy="909257"/>
            <a:chOff x="520446" y="342900"/>
            <a:chExt cx="6709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09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例6.5 的 R 代码：循环条件要写成 k &lt; size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2791778"/>
            <a:chOff x="533400" y="1524000"/>
            <a:chExt cx="5842635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132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R：法2（已更正第 4 行）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426970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519678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rbernoulli.geom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(size = 1, prob = 0.1)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 &lt;- numeric(size)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k &lt;- 0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已经处理到第 k 位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&lt; size) {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原课件为 k &lt;= size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&lt;- rgeom(1, prob = prob)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&gt; 1)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x[(k + 1):(min(c(k + T - 1, size)))] &lt;- 0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+ T &lt;= size) x[k + T] &lt;- 1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k &lt;- k + T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1-table-2"/>
          <p:cNvGrpSpPr/>
          <p:nvPr/>
        </p:nvGrpSpPr>
        <p:grpSpPr>
          <a:xfrm>
            <a:off x="528447" y="4486275"/>
            <a:ext cx="5847588" cy="1863756"/>
            <a:chOff x="528447" y="4486275"/>
            <a:chExt cx="5847588" cy="1863756"/>
          </a:xfrm>
        </p:grpSpPr>
        <p:sp>
          <p:nvSpPr>
            <p:cNvPr id="12" name="Rectangle 12"/>
            <p:cNvSpPr/>
            <p:nvPr/>
          </p:nvSpPr>
          <p:spPr>
            <a:xfrm>
              <a:off x="533400" y="4486275"/>
              <a:ext cx="584263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9423" y="4607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82811" y="4607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原写法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16177" y="4607719"/>
              <a:ext cx="9383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 k &lt; size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21388" y="4607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555" y="5007769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长度不等于 10 的比例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47950" y="4895850"/>
              <a:ext cx="113442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86580" y="5007769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20.7%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38157" y="5007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30700" y="500776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2816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5286375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54078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平均成功次数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3121" y="54078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13768" y="5407819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30700" y="540781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6816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5807869"/>
              <a:ext cx="10044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P(x[10] = 1)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647950" y="5695950"/>
              <a:ext cx="113442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01658" y="58078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0.090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72305" y="58078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47774" y="580786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486275"/>
              <a:ext cx="584263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633662" y="448627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787140" y="448627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4005" y="448627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8447" y="6159341"/>
              <a:ext cx="3770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size = 10，prob = 0.3，按 R 的下标语义用 Python 模拟 4 万次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680835" y="1524000"/>
            <a:ext cx="4977765" cy="1700212"/>
            <a:chOff x="6680835" y="1524000"/>
            <a:chExt cx="4977765" cy="1700212"/>
          </a:xfrm>
        </p:grpSpPr>
        <p:sp>
          <p:nvSpPr>
            <p:cNvPr id="40" name="Rectangle 40"/>
            <p:cNvSpPr/>
            <p:nvPr/>
          </p:nvSpPr>
          <p:spPr>
            <a:xfrm>
              <a:off x="6680835" y="1524000"/>
              <a:ext cx="4977765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0360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90562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98297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98767" y="2054542"/>
              <a:ext cx="430853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原课件写作 </a:t>
              </a:r>
              <a:r>
                <a:rPr lang="en-US" sz="1350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while(k &lt;= size)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。最后一次成功恰好落在第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size 位时 k = size，循环还会继续：若新的 T &gt; 1，</a:t>
              </a:r>
              <a:br/>
              <a:r>
                <a:rPr lang="en-US" sz="1350" dirty="0">
                  <a:solidFill>
                    <a:srgbClr val="23613D"/>
                  </a:solidFill>
                  <a:latin typeface="+mn-lt"/>
                  <a:ea typeface="+mn-ea"/>
                  <a:cs typeface="+mn-cs"/>
                </a:rPr>
                <a:t>(k+1):size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R 里是降序的 size+1, size，会把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x[size] 的 1 改成 0，还把 x 加长一位。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680835" y="3393758"/>
            <a:ext cx="4977765" cy="2917508"/>
            <a:chOff x="6680835" y="3393758"/>
            <a:chExt cx="4977765" cy="2917508"/>
          </a:xfrm>
        </p:grpSpPr>
        <p:sp>
          <p:nvSpPr>
            <p:cNvPr id="46" name="Rectangle 46"/>
            <p:cNvSpPr/>
            <p:nvPr/>
          </p:nvSpPr>
          <p:spPr>
            <a:xfrm>
              <a:off x="6680835" y="3393758"/>
              <a:ext cx="4977765" cy="2917508"/>
            </a:xfrm>
            <a:prstGeom prst="roundRect">
              <a:avLst>
                <a:gd name="adj" fmla="val 457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67525" y="3580448"/>
              <a:ext cx="2651760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4242" y="3613309"/>
              <a:ext cx="2598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rgeom 的取值从 0 开始，为什么结果仍然对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876098" y="398145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32117" y="3925252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rgeom 返回失败次数，T = 0 时 k 不变，只是把已经是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的 x[k] 再置 1，相当于重抽一次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76098" y="453866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32117" y="448246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T ≥ 1 的条件下 P(T = t | T ≥ 1) = pqᵗ/q = pqᵗ⁻¹，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正好是按试验次数计的几何分布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61810" y="5036344"/>
              <a:ext cx="44137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所以只需改循环条件；写成 rgeom(1, prob) + 1 语义更清楚，也不会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浪费抽样。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例6.6 二项分布：边递推概率边比较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8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d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2224564"/>
            <a:ext cx="5304282" cy="500824"/>
            <a:chOff x="526923" y="2224564"/>
            <a:chExt cx="5304282" cy="50082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224564"/>
              <a:ext cx="530428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次独立重复试验（成功概率 p）中成功的次数 X。相邻两项之比给出递推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式，用定理 6.2 构造时递推计算：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29"/>
              <p:cNvSpPr txBox="1">
                <a:spLocks noGrp="1"/>
              </p:cNvSpPr>
              <p:nvPr/>
            </p:nvSpPr>
            <p:spPr>
              <a:xfrm>
                <a:off x="533400" y="286512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9" name="c1-card-4"/>
          <p:cNvGrpSpPr/>
          <p:nvPr/>
        </p:nvGrpSpPr>
        <p:grpSpPr>
          <a:xfrm>
            <a:off x="533400" y="3569970"/>
            <a:ext cx="5626418" cy="2757488"/>
            <a:chOff x="533400" y="3569970"/>
            <a:chExt cx="5626418" cy="2757488"/>
          </a:xfrm>
        </p:grpSpPr>
        <p:sp>
          <p:nvSpPr>
            <p:cNvPr id="11" name="Rectangle 11"/>
            <p:cNvSpPr/>
            <p:nvPr/>
          </p:nvSpPr>
          <p:spPr>
            <a:xfrm>
              <a:off x="533400" y="3569970"/>
              <a:ext cx="5626418" cy="2757488"/>
            </a:xfrm>
            <a:prstGeom prst="roundRect">
              <a:avLst>
                <a:gd name="adj" fmla="val 483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42950" y="37795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158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414337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799" y="41856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3940" y="4156710"/>
              <a:ext cx="1610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生成一个随机数 U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2950" y="44786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799" y="45209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3940" y="4491990"/>
              <a:ext cx="386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= p/(1 − p)，i = 0，a = (1 − p)ⁿ，F = a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2950" y="48139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799" y="48562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3940" y="4827270"/>
              <a:ext cx="2512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 U &lt; F，令 X = i 并停止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2950" y="51492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799" y="51915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3940" y="5162550"/>
              <a:ext cx="4205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= [c(n − i)/(i + 1)]·a，F = F + a，i = i + 1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42950" y="54844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799" y="55267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3940" y="5497830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转至步骤 3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6458902" y="1524000"/>
            <a:ext cx="5199698" cy="2091214"/>
            <a:chOff x="6458902" y="1524000"/>
            <a:chExt cx="5199698" cy="2091214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31051" y="165973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9229" y="1659731"/>
              <a:ext cx="1008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= P(X = i)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0405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44144" y="1659731"/>
              <a:ext cx="6154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&lt; F？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843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35209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0.16807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24919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0.16807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5921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843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5209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0.36015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24919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0.52822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5921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843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35209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0.30870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24919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0.83692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253662" y="2880360"/>
              <a:ext cx="139541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68229" y="3005614"/>
              <a:ext cx="767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是，X = 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1524000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5900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87730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23937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458902" y="3395186"/>
              <a:ext cx="2648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例：n = 5，p = 0.3，U = 0.8，c = 3/7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761422"/>
            <a:ext cx="5193982" cy="1316355"/>
            <a:chOff x="6464618" y="3761422"/>
            <a:chExt cx="5193982" cy="1316355"/>
          </a:xfrm>
        </p:grpSpPr>
        <p:sp>
          <p:nvSpPr>
            <p:cNvPr id="57" name="Rectangle 57"/>
            <p:cNvSpPr/>
            <p:nvPr/>
          </p:nvSpPr>
          <p:spPr>
            <a:xfrm>
              <a:off x="6464618" y="3761422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4142" y="389477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712268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03428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04648" y="4348162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原课件步骤 4 写作 a=(c(n-i)/(i+1)a，括号不配对，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应为 a = [c(n − i)/(i + 1)]·a。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464618" y="5268278"/>
            <a:ext cx="5193982" cy="1059180"/>
            <a:chOff x="6464618" y="5268278"/>
            <a:chExt cx="5193982" cy="1059180"/>
          </a:xfrm>
        </p:grpSpPr>
        <p:sp>
          <p:nvSpPr>
            <p:cNvPr id="63" name="Rectangle 63"/>
            <p:cNvSpPr/>
            <p:nvPr/>
          </p:nvSpPr>
          <p:spPr>
            <a:xfrm>
              <a:off x="6464618" y="5268278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669405" y="5697855"/>
              <a:ext cx="200026" cy="200025"/>
              <a:chOff x="6669405" y="5697855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9405" y="56978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09144" y="57423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743859" y="58534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971348" y="5416868"/>
              <a:ext cx="4301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 0 开始查找，比较次数为 X + 1，平均 np + 1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次。R 实现与下一页泊松分布的 rpois1 结构相同，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只是递推系数不同。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96423" cy="909257"/>
            <a:chOff x="520446" y="342900"/>
            <a:chExt cx="59964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964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例6.7 泊松分布：pₖ₊₁ = λpₖ/(k + 1)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32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sup>
                      </m:sSup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,…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&gt;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∼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Poisson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33"/>
              <p:cNvSpPr txBox="1">
                <a:spLocks noGrp="1"/>
              </p:cNvSpPr>
              <p:nvPr/>
            </p:nvSpPr>
            <p:spPr>
              <a:xfrm>
                <a:off x="533400" y="2177415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2882265"/>
            <a:ext cx="5626418" cy="3452812"/>
            <a:chOff x="533400" y="2882265"/>
            <a:chExt cx="5626418" cy="3452812"/>
          </a:xfrm>
        </p:grpSpPr>
        <p:sp>
          <p:nvSpPr>
            <p:cNvPr id="9" name="Rectangle 9"/>
            <p:cNvSpPr/>
            <p:nvPr/>
          </p:nvSpPr>
          <p:spPr>
            <a:xfrm>
              <a:off x="533400" y="2882265"/>
              <a:ext cx="5626418" cy="3452812"/>
            </a:xfrm>
            <a:prstGeom prst="roundRect">
              <a:avLst>
                <a:gd name="adj" fmla="val 386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42950" y="30918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3158" y="31275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2950" y="345567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799" y="34979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3940" y="3469005"/>
              <a:ext cx="1610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生成一个随机数 U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2950" y="379095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799" y="38332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940" y="3804285"/>
              <a:ext cx="241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0，p = exp(−λ)，F = p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2950" y="412623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799" y="41685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3940" y="4139565"/>
              <a:ext cx="2512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 U &lt; F，取 X = i 且停止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2950" y="446151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799" y="45038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3940" y="4474845"/>
              <a:ext cx="3245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= λp/(i + 1)，F = F + p，i = i + 1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42950" y="479679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799" y="48390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3940" y="48101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转向步骤 3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458902" y="1524000"/>
            <a:ext cx="5199698" cy="2539842"/>
            <a:chOff x="6458902" y="1524000"/>
            <a:chExt cx="5199698" cy="2539842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42481" y="165973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03519" y="1659731"/>
              <a:ext cx="1008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= P(X = i)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15481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31762" y="1659731"/>
              <a:ext cx="6154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&lt; F？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1986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16886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83736" y="210835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0.1353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46829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986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16886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0.2707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283736" y="2556986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0.4060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46829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1986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16886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0.2707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83736" y="30056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0.6767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46829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1986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16886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0.1804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83736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0.8571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230802" y="3328988"/>
              <a:ext cx="14182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555846" y="3454241"/>
              <a:ext cx="767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是，X = 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15240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8281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92397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21651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8902" y="3843814"/>
              <a:ext cx="13366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例：λ = 2，U = 0.7</a:t>
              </a:r>
            </a:p>
          </p:txBody>
        </p:sp>
      </p:grpSp>
      <p:grpSp>
        <p:nvGrpSpPr>
          <p:cNvPr id="64" name="c2-code-2"/>
          <p:cNvGrpSpPr/>
          <p:nvPr/>
        </p:nvGrpSpPr>
        <p:grpSpPr>
          <a:xfrm>
            <a:off x="6464618" y="4210050"/>
            <a:ext cx="5193982" cy="2125028"/>
            <a:chOff x="6464618" y="4210050"/>
            <a:chExt cx="5193982" cy="2125028"/>
          </a:xfrm>
        </p:grpSpPr>
        <p:sp>
          <p:nvSpPr>
            <p:cNvPr id="61" name="Rectangle 61"/>
            <p:cNvSpPr/>
            <p:nvPr/>
          </p:nvSpPr>
          <p:spPr>
            <a:xfrm>
              <a:off x="6464618" y="4210050"/>
              <a:ext cx="5193982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93015" y="43619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92252" y="4623911"/>
              <a:ext cx="4314190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rpois1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(lambda)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 &lt;- runif(1); i &lt;- 0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 &lt;- exp(-lambda); Fk &lt;- p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(U &gt;= Fk)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 &lt;- lambda * p / (i + 1); Fk &lt;- Fk + p; i &lt;- i + 1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2076" cy="909257"/>
            <a:chOff x="520446" y="342900"/>
            <a:chExt cx="7562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2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np 或 λ 较大时，从均值附近的 K 开始向两边查找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158365"/>
            <a:chOff x="533400" y="1524000"/>
            <a:chExt cx="5410200" cy="2158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33921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272" y="1756410"/>
              <a:ext cx="1207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二项分布，np 较大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5002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K = floor(np)，先算出 F(K)，判断 X ≤ K 还是 X &gt; K：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9620" y="2387918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7965" y="24282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514" y="2400776"/>
              <a:ext cx="43516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F(K)：X ≤ K，依次判断 X 是否取 K, K − 1, …, 0，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反向递推 F(k)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9620" y="297751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7965" y="30178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0514" y="2989421"/>
              <a:ext cx="43246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&gt; F(K)：X &gt; K，依次判断 X 是否取 K + 1, K + 2, …,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n，正向递推 F(k)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3862388"/>
            <a:ext cx="5410200" cy="2475548"/>
            <a:chOff x="533400" y="3862388"/>
            <a:chExt cx="5410200" cy="2475548"/>
          </a:xfrm>
        </p:grpSpPr>
        <p:sp>
          <p:nvSpPr>
            <p:cNvPr id="19" name="Rectangle 19"/>
            <p:cNvSpPr/>
            <p:nvPr/>
          </p:nvSpPr>
          <p:spPr>
            <a:xfrm>
              <a:off x="533400" y="3862388"/>
              <a:ext cx="5410200" cy="2475548"/>
            </a:xfrm>
            <a:prstGeom prst="roundRect">
              <a:avLst>
                <a:gd name="adj" fmla="val 5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995738"/>
              <a:ext cx="47625" cy="220884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4060508"/>
              <a:ext cx="1262062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035" y="4094798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泊松分布，λ 较大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381" y="4421029"/>
              <a:ext cx="4333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K = floor(λ)，先递推算出 F(K) 和 F(K + 1)：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9620" y="472630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7965" y="476664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0514" y="4739164"/>
              <a:ext cx="3062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F(K) &lt; U ≤ F(K + 1)：令 X = K + 1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9620" y="504444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965" y="50838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0514" y="5056346"/>
              <a:ext cx="43065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≤ F(K)：依次判断 X 是否为 K, K − 1, …, 0，反向递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 F(k)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9620" y="563308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7965" y="567342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0514" y="5645944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&gt; F(K + 1)：依次判断 X 是否为 K + 2, K + 3, …，正向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 F(k)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3066" y="1524000"/>
            <a:ext cx="5415534" cy="1128332"/>
            <a:chOff x="6243066" y="1524000"/>
            <a:chExt cx="5415534" cy="1128332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0712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1673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493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1312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10371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61920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6011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0889" y="2076450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F(k)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6836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0.1301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95031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0.2202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476298" y="1958340"/>
              <a:ext cx="77914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93226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0.3328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90469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0.4579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88664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0.5830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86859" y="207645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0.6968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6562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663815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62010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260205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57448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855642" y="1524000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3066" y="2446973"/>
              <a:ext cx="1890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例：λ = 10，K = 10，U = 0.3</a:t>
              </a:r>
            </a:p>
          </p:txBody>
        </p:sp>
      </p:grpSp>
      <p:grpSp>
        <p:nvGrpSpPr>
          <p:cNvPr id="72" name="c2-steps-2"/>
          <p:cNvGrpSpPr/>
          <p:nvPr/>
        </p:nvGrpSpPr>
        <p:grpSpPr>
          <a:xfrm>
            <a:off x="6248400" y="2801302"/>
            <a:ext cx="5050536" cy="2223516"/>
            <a:chOff x="6248400" y="2801302"/>
            <a:chExt cx="5050536" cy="2223516"/>
          </a:xfrm>
        </p:grpSpPr>
        <p:sp>
          <p:nvSpPr>
            <p:cNvPr id="59" name="Rectangle 59"/>
            <p:cNvSpPr/>
            <p:nvPr/>
          </p:nvSpPr>
          <p:spPr>
            <a:xfrm>
              <a:off x="6381750" y="2944178"/>
              <a:ext cx="19050" cy="16754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248400" y="280130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2024" y="28751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48400" y="36385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2024" y="3712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48400" y="44767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2024" y="45505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60261" y="283416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先看中间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1404" y="3114675"/>
              <a:ext cx="46375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F(10) &lt; U ≤ F(11) 不成立，而 U = 0.3 ≤ F(10) = 0.5830，所以 X 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0261" y="367236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向下找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61404" y="3952875"/>
              <a:ext cx="45384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10？要 F(9) &lt; U，0.4579 不行；X = 9？0.3328 不行；X = 8？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F(7) = 0.2202 &lt; U，成立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60261" y="450961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661404" y="4790122"/>
              <a:ext cx="4022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8。向下只比较 3 次，从 0 开始逐个累加要比较 9 次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248400" y="5195888"/>
            <a:ext cx="5410200" cy="756285"/>
            <a:chOff x="6248400" y="5195888"/>
            <a:chExt cx="5410200" cy="756285"/>
          </a:xfrm>
        </p:grpSpPr>
        <p:sp>
          <p:nvSpPr>
            <p:cNvPr id="73" name="Rectangle 73"/>
            <p:cNvSpPr/>
            <p:nvPr/>
          </p:nvSpPr>
          <p:spPr>
            <a:xfrm>
              <a:off x="6248400" y="519588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453188" y="5474018"/>
              <a:ext cx="200026" cy="200025"/>
              <a:chOff x="6453188" y="5474018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53188" y="54740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492926" y="55184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27642" y="56295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755511" y="5343049"/>
              <a:ext cx="436968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 0 开始平均要比较 λ + 1 次；分布集中在 λ 附近，从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 向两边找时比较次数只和标准差 √λ 同阶。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连续型：反函数容易求时，逆变换法最方便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85862"/>
            <a:chOff x="533400" y="1524000"/>
            <a:chExt cx="5410200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4391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4012" y="1743551"/>
              <a:ext cx="6922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U(a, b)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[a, b] 上均匀分布的随机数：如果 U 服从标准均匀分布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U(0,1)，则 X = a + (b − a)U 服从 U(a, b)。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879408"/>
            <a:ext cx="5410200" cy="1612582"/>
            <a:chOff x="533400" y="2879408"/>
            <a:chExt cx="5410200" cy="1612582"/>
          </a:xfrm>
        </p:grpSpPr>
        <p:sp>
          <p:nvSpPr>
            <p:cNvPr id="13" name="Rectangle 13"/>
            <p:cNvSpPr/>
            <p:nvPr/>
          </p:nvSpPr>
          <p:spPr>
            <a:xfrm>
              <a:off x="533400" y="2879408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12758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066098"/>
              <a:ext cx="202215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8261" y="3098959"/>
              <a:ext cx="194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例6.8 右三角形分布 Beta(2,1)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146"/>
                <p:cNvSpPr txBox="1">
                  <a:spLocks noGrp="1"/>
                </p:cNvSpPr>
                <p:nvPr/>
              </p:nvSpPr>
              <p:spPr>
                <a:xfrm>
                  <a:off x="758190" y="3388042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51332" y="3837622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密度函数为三角形。令 U = X²，得 X = √U，为 Beta(2,1) 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机数。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661535"/>
            <a:ext cx="5410200" cy="1612582"/>
            <a:chOff x="533400" y="4661535"/>
            <a:chExt cx="5410200" cy="1612582"/>
          </a:xfrm>
        </p:grpSpPr>
        <p:sp>
          <p:nvSpPr>
            <p:cNvPr id="20" name="Rectangle 20"/>
            <p:cNvSpPr/>
            <p:nvPr/>
          </p:nvSpPr>
          <p:spPr>
            <a:xfrm>
              <a:off x="533400" y="4661535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794885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848225"/>
              <a:ext cx="202215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8261" y="4881086"/>
              <a:ext cx="194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例6.8 左三角形分布 Beta(1,2)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47"/>
                <p:cNvSpPr txBox="1">
                  <a:spLocks noGrp="1"/>
                </p:cNvSpPr>
                <p:nvPr/>
              </p:nvSpPr>
              <p:spPr>
                <a:xfrm>
                  <a:off x="758190" y="5170170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751332" y="5619750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U = 1 − (1 − X)² 得 X = 1 − √(1 − U)。因为 U 与 1 − U 同分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布，所以 X = 1 − √U 也是 Beta(1,2) 随机数。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2358390"/>
            <a:chOff x="6248400" y="1524000"/>
            <a:chExt cx="5410200" cy="2358390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5410200" cy="2358390"/>
            </a:xfrm>
            <a:prstGeom prst="roundRect">
              <a:avLst>
                <a:gd name="adj" fmla="val 5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20916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3190" y="1710690"/>
              <a:ext cx="210026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2373" y="1743551"/>
              <a:ext cx="20209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例6.9 指数分布 Exp(λ)（λ &gt; 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148"/>
                <p:cNvSpPr txBox="1">
                  <a:spLocks noGrp="1"/>
                </p:cNvSpPr>
                <p:nvPr/>
              </p:nvSpPr>
              <p:spPr>
                <a:xfrm>
                  <a:off x="6473190" y="2032635"/>
                  <a:ext cx="499872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TextBox 32"/>
            <p:cNvSpPr txBox="1"/>
            <p:nvPr/>
          </p:nvSpPr>
          <p:spPr>
            <a:xfrm>
              <a:off x="6466332" y="24812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49"/>
                <p:cNvSpPr txBox="1">
                  <a:spLocks noGrp="1"/>
                </p:cNvSpPr>
                <p:nvPr/>
              </p:nvSpPr>
              <p:spPr>
                <a:xfrm>
                  <a:off x="6473190" y="2759392"/>
                  <a:ext cx="499872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466332" y="3228022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U ~ U(0,1) 时 X = −λ⁻¹ log(1 − U) 服从 Exp(λ)，也可以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 = −λ⁻¹ log U。</a:t>
              </a:r>
            </a:p>
          </p:txBody>
        </p:sp>
      </p:grpSp>
      <p:grpSp>
        <p:nvGrpSpPr>
          <p:cNvPr id="39" name="c2-code-2"/>
          <p:cNvGrpSpPr/>
          <p:nvPr/>
        </p:nvGrpSpPr>
        <p:grpSpPr>
          <a:xfrm>
            <a:off x="6248400" y="4051935"/>
            <a:ext cx="5410200" cy="1561148"/>
            <a:chOff x="6248400" y="4051935"/>
            <a:chExt cx="5410200" cy="1561148"/>
          </a:xfrm>
        </p:grpSpPr>
        <p:sp>
          <p:nvSpPr>
            <p:cNvPr id="36" name="Rectangle 36"/>
            <p:cNvSpPr/>
            <p:nvPr/>
          </p:nvSpPr>
          <p:spPr>
            <a:xfrm>
              <a:off x="6248400" y="4051935"/>
              <a:ext cx="541020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6797" y="4203859"/>
              <a:ext cx="46169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R：三个逆变换（Python 各模拟 20 万个，均值 0.6663、0.3337、0.5001）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76797" y="4464844"/>
              <a:ext cx="3463671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n &lt;- 10000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sqrt(runif(n))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Beta(2,1)，均值 2/3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y &lt;- 1 - sqrt(runif(n))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Beta(1,2)，均值 1/3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z &lt;- -log(runif(n)) / 2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Exp(2)，均值 1/2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hist(x, freq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curve(2 * x, add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c(mean(x), mean(y), mean(z))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10059" cy="909257"/>
            <a:chOff x="520446" y="342900"/>
            <a:chExt cx="87100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逆变换法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100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例6.10 泊松过程：均匀随机数连乘到小于 exp(−λ) 为止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986915"/>
            <a:chOff x="533400" y="1524000"/>
            <a:chExt cx="5626418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泊松过程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249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N(t) 为到时刻 t 为止到来的事件个数（t ≥ 0）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568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如果相邻两个事件到来的间隔都服从独立的 Exp(λ) 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布，则称 N(t) 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泊松过程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3162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N(1) 服从参数为 λ 的泊松分布</a:t>
              </a:r>
            </a:p>
          </p:txBody>
        </p:sp>
      </p:grpSp>
      <p:grpSp>
        <p:nvGrpSpPr>
          <p:cNvPr id="19" name="c1-text-2"/>
          <p:cNvGrpSpPr/>
          <p:nvPr/>
        </p:nvGrpSpPr>
        <p:grpSpPr>
          <a:xfrm>
            <a:off x="526923" y="3722846"/>
            <a:ext cx="5092954" cy="500824"/>
            <a:chOff x="526923" y="3722846"/>
            <a:chExt cx="5092954" cy="500824"/>
          </a:xfrm>
        </p:grpSpPr>
        <p:sp>
          <p:nvSpPr>
            <p:cNvPr id="18" name="TextBox 18"/>
            <p:cNvSpPr txBox="1"/>
            <p:nvPr/>
          </p:nvSpPr>
          <p:spPr>
            <a:xfrm>
              <a:off x="526923" y="3722846"/>
              <a:ext cx="509295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U₁, U₂, … 是独立的 U(0,1) 随机变量列，Xᵢ = −λ⁻¹ ln Uᵢ 是独立的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Exp(λ) 随机变量列，则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151"/>
              <p:cNvSpPr txBox="1">
                <a:spLocks noGrp="1"/>
              </p:cNvSpPr>
              <p:nvPr/>
            </p:nvSpPr>
            <p:spPr>
              <a:xfrm>
                <a:off x="533400" y="4363402"/>
                <a:ext cx="5626418" cy="711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eqArr>
                        <m:eqArrPr>
                          <m:baseJc m:val="center"/>
                        </m:eqArr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: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  <m:e>
                                      <m:sSub>
                                        <m:e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≤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:−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p>
                                  </m:sSup>
                                  <m:nary>
                                    <m:naryPr>
                                      <m:chr m:val="∑"/>
                                      <m:limLoc m:val="undOvr"/>
                                      <m:grow m:val="off"/>
                                      <m:subHide m:val="off"/>
                                      <m:supHide m:val="off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p>
                                    <m:e>
                                      <m:func>
                                        <m:funcPr/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35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ln</m:t>
                                          </m:r>
                                        </m:fName>
                                        <m:e>
                                          <m:sSub>
                                            <m:e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U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35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i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e>
                                  </m:nary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≤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&amp;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: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≥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sepChr m:val=""/>
                                  <m:endChr m:val="}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: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⋯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&lt;</m:t>
                                  </m:r>
                                  <m:sSup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e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eqArr>
                    </m:oMath>
                  </m:oMathPara>
                </a14:m>
              </a:p>
            </p:txBody>
          </p:sp>
        </mc:Choice>
      </mc:AlternateContent>
      <p:grpSp>
        <p:nvGrpSpPr>
          <p:cNvPr id="26" name="c1-callout-4"/>
          <p:cNvGrpSpPr/>
          <p:nvPr/>
        </p:nvGrpSpPr>
        <p:grpSpPr>
          <a:xfrm>
            <a:off x="533400" y="5265420"/>
            <a:ext cx="5626418" cy="1059180"/>
            <a:chOff x="533400" y="5265420"/>
            <a:chExt cx="5626418" cy="1059180"/>
          </a:xfrm>
        </p:grpSpPr>
        <p:sp>
          <p:nvSpPr>
            <p:cNvPr id="21" name="Rectangle 21"/>
            <p:cNvSpPr/>
            <p:nvPr/>
          </p:nvSpPr>
          <p:spPr>
            <a:xfrm>
              <a:off x="533400" y="5265420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695000"/>
              <a:ext cx="200023" cy="200023"/>
              <a:chOff x="738188" y="5695000"/>
              <a:chExt cx="200023" cy="20002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6950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71538" y="5761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5414010"/>
              <a:ext cx="4587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连乘积 ≥ exp(−λ) 等价于前 n 个间隔之和 ≤ 1，即时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刻 1 前到了 n 个事件。平均要用 λ + 1 个均匀数，λ 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时较慢。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458902" y="1524000"/>
            <a:ext cx="5199698" cy="2539842"/>
            <a:chOff x="6458902" y="1524000"/>
            <a:chExt cx="5199698" cy="2539842"/>
          </a:xfrm>
        </p:grpSpPr>
        <p:sp>
          <p:nvSpPr>
            <p:cNvPr id="27" name="Rectangle 27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88445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5569" y="165973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8192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连乘积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22810" y="1659731"/>
              <a:ext cx="936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&lt; 0.1353？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88445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48554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03462" y="21083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98239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88445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8554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03462" y="255698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0.350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98239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88445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48554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03462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98239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88445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48554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03462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932670" y="3328988"/>
              <a:ext cx="171640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698239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15240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41902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6583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918382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58902" y="3843814"/>
              <a:ext cx="4094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例：λ = 2，exp(−2) = 0.1353；用了 4 个均匀随机数，N = 3</a:t>
              </a:r>
            </a:p>
          </p:txBody>
        </p:sp>
      </p:grpSp>
      <p:grpSp>
        <p:nvGrpSpPr>
          <p:cNvPr id="63" name="c2-code-2"/>
          <p:cNvGrpSpPr/>
          <p:nvPr/>
        </p:nvGrpSpPr>
        <p:grpSpPr>
          <a:xfrm>
            <a:off x="6464618" y="4210050"/>
            <a:ext cx="5193982" cy="1922145"/>
            <a:chOff x="6464618" y="4210050"/>
            <a:chExt cx="5193982" cy="1922145"/>
          </a:xfrm>
        </p:grpSpPr>
        <p:sp>
          <p:nvSpPr>
            <p:cNvPr id="60" name="Rectangle 60"/>
            <p:cNvSpPr/>
            <p:nvPr/>
          </p:nvSpPr>
          <p:spPr>
            <a:xfrm>
              <a:off x="6464618" y="4210050"/>
              <a:ext cx="5193982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93015" y="43619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92252" y="4623911"/>
              <a:ext cx="3062478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rpois2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(lambda)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 &lt;- 0; prod &lt;- runif(1)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(prod &gt;= exp(-lambda))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prod &lt;- prod * runif(1); n &lt;- n + 1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变换法、舍选法与复合法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反函数不好求时，利用分布之间的关系、先抽再筛，或者拆成几个简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单分布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37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2.3.4 利用变换生成随机数：Box–Muller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24286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2.3.5 舍选法 I 与舍选法 II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2.3.6 复合法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变换法：已知分布的随机数经过函数变换，得到新分布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631632"/>
            <a:chOff x="533400" y="1524000"/>
            <a:chExt cx="5842635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117157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959" y="1743551"/>
              <a:ext cx="1030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定理6.3（一元）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50800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设随机变量 X 有密度 p(x)，Y = g(X) 是 X 的函数，g 有反函数 x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g⁻¹(y) = h(y)，h(y) 有一阶连续导数，则 Y 有密度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8"/>
                <p:cNvSpPr txBox="1">
                  <a:spLocks noGrp="1"/>
                </p:cNvSpPr>
                <p:nvPr/>
              </p:nvSpPr>
              <p:spPr>
                <a:xfrm>
                  <a:off x="758190" y="2589848"/>
                  <a:ext cx="543115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h'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325178"/>
            <a:ext cx="5842635" cy="2701290"/>
            <a:chOff x="533400" y="3325178"/>
            <a:chExt cx="5842635" cy="2701290"/>
          </a:xfrm>
        </p:grpSpPr>
        <p:sp>
          <p:nvSpPr>
            <p:cNvPr id="14" name="Rectangle 14"/>
            <p:cNvSpPr/>
            <p:nvPr/>
          </p:nvSpPr>
          <p:spPr>
            <a:xfrm>
              <a:off x="533400" y="3325178"/>
              <a:ext cx="5842635" cy="2701290"/>
            </a:xfrm>
            <a:prstGeom prst="roundRect">
              <a:avLst>
                <a:gd name="adj" fmla="val 4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58528"/>
              <a:ext cx="47625" cy="24345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511868"/>
              <a:ext cx="1171575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8959" y="3544729"/>
              <a:ext cx="1030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定理6.4（二元）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3856672"/>
              <a:ext cx="51229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有联合密度 p(x, y)，(u, v) = (g₁, g₂)(x, y) 的反变换 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h₁(u, v)，y = h₂(u, v) 唯一存在且有一阶偏导数，Jacobi 行列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59"/>
                <p:cNvSpPr txBox="1">
                  <a:spLocks noGrp="1"/>
                </p:cNvSpPr>
                <p:nvPr/>
              </p:nvSpPr>
              <p:spPr>
                <a:xfrm>
                  <a:off x="758190" y="4648200"/>
                  <a:ext cx="5431155" cy="8743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</m:t>
                                      </m:r>
                                    </m:den>
                                  </m:f>
                                </m:e>
                              </m:mr>
                              <m:m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den>
                                  </m:f>
                                </m:e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∂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v</m:t>
                                      </m:r>
                                    </m:den>
                                  </m:f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≠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51332" y="5629275"/>
              <a:ext cx="53743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(U, V) 的联合密度为 f(u, v) = p(h₁(u, v), h₂(u, v))·|J|。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675882" y="1524000"/>
            <a:ext cx="4982718" cy="2837212"/>
            <a:chOff x="6675882" y="1524000"/>
            <a:chExt cx="4982718" cy="2837212"/>
          </a:xfrm>
        </p:grpSpPr>
        <p:sp>
          <p:nvSpPr>
            <p:cNvPr id="22" name="Rectangle 22"/>
            <p:cNvSpPr/>
            <p:nvPr/>
          </p:nvSpPr>
          <p:spPr>
            <a:xfrm>
              <a:off x="6680835" y="1524000"/>
              <a:ext cx="497776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711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275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0582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7990" y="2045494"/>
              <a:ext cx="1366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个独立的 b(1, p)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70582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63175" y="2045494"/>
              <a:ext cx="5644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B(n, p)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3193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80835" y="23241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7990" y="2445544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~ U(0,1)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0582" y="2445544"/>
              <a:ext cx="1137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a + (b − a)U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63175" y="2445544"/>
              <a:ext cx="5644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U(a, b)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27193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77990" y="2845594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~ N(0,1)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70582" y="2845594"/>
              <a:ext cx="709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μ + σZ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63175" y="2845594"/>
              <a:ext cx="648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N(μ, σ²)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311943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0835" y="3124200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7990" y="3245644"/>
              <a:ext cx="825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~ Exp(1)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70582" y="3245644"/>
              <a:ext cx="621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λ⁻¹Z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63175" y="3245644"/>
              <a:ext cx="516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Exp(λ)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35194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7990" y="3645694"/>
              <a:ext cx="1282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~ Gamma(α, 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70582" y="3645694"/>
              <a:ext cx="621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λ⁻¹Z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63175" y="3645694"/>
              <a:ext cx="953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Gamma(α, λ)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1524000"/>
              <a:ext cx="497776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68665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06125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75882" y="3997166"/>
              <a:ext cx="4739386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利用分布之间已知的关系产生随机数；会生成标准形式就够了，一般参数做一次线性变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6680835" y="4492942"/>
            <a:ext cx="4977765" cy="978218"/>
            <a:chOff x="6680835" y="4492942"/>
            <a:chExt cx="4977765" cy="978218"/>
          </a:xfrm>
        </p:grpSpPr>
        <p:sp>
          <p:nvSpPr>
            <p:cNvPr id="52" name="Rectangle 52"/>
            <p:cNvSpPr/>
            <p:nvPr/>
          </p:nvSpPr>
          <p:spPr>
            <a:xfrm>
              <a:off x="6680835" y="4492942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885623" y="4882515"/>
              <a:ext cx="200026" cy="200026"/>
              <a:chOff x="6885623" y="488251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885623" y="4882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985635" y="4949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974523" y="49825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7188327" y="4639628"/>
              <a:ext cx="406850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定理6.3 的例子：X ~ U(0,1)，Y = −λ⁻¹ ln X，则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h(y) = exp(−λy)，f(y) = 1·|h′(y)| = λexp(−λy)，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Y ~ Exp(λ)。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10621" cy="909257"/>
            <a:chOff x="520446" y="342900"/>
            <a:chExt cx="96106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106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定理6.5 Box–Muller 变换：两个均匀数变成两个独立的正态数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492692"/>
            <a:chOff x="533400" y="1524000"/>
            <a:chExt cx="5410200" cy="2492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92692"/>
            </a:xfrm>
            <a:prstGeom prst="roundRect">
              <a:avLst>
                <a:gd name="adj" fmla="val 53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259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7437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212" y="1743551"/>
              <a:ext cx="502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060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U₁、U₂ 独立且都服从 U(0,1)，令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3"/>
                <p:cNvSpPr txBox="1">
                  <a:spLocks noGrp="1"/>
                </p:cNvSpPr>
                <p:nvPr/>
              </p:nvSpPr>
              <p:spPr>
                <a:xfrm>
                  <a:off x="758190" y="2332672"/>
                  <a:ext cx="4998720" cy="9229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eqArr>
                          <m:eqArrPr>
                            <m:baseJc m:val="center"/>
                          </m:eqArr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ln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ra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&amp;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ln</m:t>
                                    </m:r>
                                  </m:fName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rad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2π</m:t>
                                    </m:r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U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eqAr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362325"/>
              <a:ext cx="4353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 X、Y 独立且都服从标准正态分布。这个变换叫做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Box–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Muller 变换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4195762"/>
            <a:ext cx="5302509" cy="1893095"/>
            <a:chOff x="533400" y="4195762"/>
            <a:chExt cx="5302509" cy="1893095"/>
          </a:xfrm>
        </p:grpSpPr>
        <p:sp>
          <p:nvSpPr>
            <p:cNvPr id="15" name="Rectangle 15"/>
            <p:cNvSpPr/>
            <p:nvPr/>
          </p:nvSpPr>
          <p:spPr>
            <a:xfrm>
              <a:off x="666750" y="4338638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41957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69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98633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060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56926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643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42281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极坐标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495324"/>
              <a:ext cx="46200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−2 ln U₁，P(S ≤ s) = 1 − exp(−s/2)；Θ = 2πU₂ ~ U(0, 2π)，与 S 独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5017770"/>
              <a:ext cx="873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用定理6.4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5285899"/>
              <a:ext cx="48891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(S, Θ) 密度 exp(−s/2)/(4π)；s = x² + y²，θ = arctan(y/x)，|J| =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56007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5868829"/>
              <a:ext cx="47699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密度 exp(−(x² + y²)/2)/(2π)，即两个独立 N(0,1) 密度之积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248400" y="1524000"/>
            <a:ext cx="5410200" cy="2264092"/>
            <a:chOff x="6248400" y="1524000"/>
            <a:chExt cx="5410200" cy="2264092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1675924"/>
              <a:ext cx="9517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R：Box–Muller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797" y="1935956"/>
              <a:ext cx="3637915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rnorm_bm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m  &lt;- ceiling(n / 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U1 &lt;- runif(m); U2 &lt;- runif(m)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S  &lt;- sqrt(-2 * log(U1))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  &lt;- c(S * cos(2 * pi * U2), S * sin(2 * pi * U2))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z[1:n]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&lt;- 10 + 2 * rnorm_bm(10000)       </a:t>
              </a:r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N(10, 2^2)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hist(x, freq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curve(dnorm(x, 10, 2), add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958590"/>
            <a:ext cx="5410200" cy="2124075"/>
            <a:chOff x="6248400" y="3958590"/>
            <a:chExt cx="5410200" cy="2124075"/>
          </a:xfrm>
        </p:grpSpPr>
        <p:sp>
          <p:nvSpPr>
            <p:cNvPr id="33" name="Rectangle 33"/>
            <p:cNvSpPr/>
            <p:nvPr/>
          </p:nvSpPr>
          <p:spPr>
            <a:xfrm>
              <a:off x="6248400" y="3958590"/>
              <a:ext cx="5410200" cy="2124075"/>
            </a:xfrm>
            <a:prstGeom prst="roundRect">
              <a:avLst>
                <a:gd name="adj" fmla="val 62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4091940"/>
              <a:ext cx="47625" cy="1857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3190" y="414528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57759" y="417814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数值例子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6332" y="4489132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 = 0.5，U₂ = 0.25：√(−2 ln 0.5) = 1.1774，2πU₂ = π/2，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X = 0，Y = 1.1774。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7475" y="5043011"/>
              <a:ext cx="4740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 10 万对：X 的均值 −0.003、方差 1.002，X 与 Y 的协方差 0.003，与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理论值 0、1、0 相符。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3161" cy="909257"/>
            <a:chOff x="520446" y="342900"/>
            <a:chExt cx="84931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31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I：在矩形里均匀投点，落在密度曲线下方才接受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02118"/>
            <a:chOff x="533400" y="1524000"/>
            <a:chExt cx="4977765" cy="17021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02118"/>
            </a:xfrm>
            <a:prstGeom prst="roundRect">
              <a:avLst>
                <a:gd name="adj" fmla="val 78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541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3059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适用情形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532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 的分布函数难求反函数，但 Z 取值于有限区间 [a,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b]，且密度 p(x) 有上界 M：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66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54342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code-2"/>
          <p:cNvGrpSpPr/>
          <p:nvPr/>
        </p:nvGrpSpPr>
        <p:grpSpPr>
          <a:xfrm>
            <a:off x="533400" y="3407092"/>
            <a:ext cx="4977765" cy="1829752"/>
            <a:chOff x="533400" y="3407092"/>
            <a:chExt cx="4977765" cy="1829752"/>
          </a:xfrm>
        </p:grpSpPr>
        <p:sp>
          <p:nvSpPr>
            <p:cNvPr id="14" name="Rectangle 14"/>
            <p:cNvSpPr/>
            <p:nvPr/>
          </p:nvSpPr>
          <p:spPr>
            <a:xfrm>
              <a:off x="533400" y="3407092"/>
              <a:ext cx="4977765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559016"/>
              <a:ext cx="1747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R：舍选法 I（p 为密度函数）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416" y="3820478"/>
              <a:ext cx="2697671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ar1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(p, a, b, M)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&lt;- a + (b - a) * runif(1)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 &lt;- M * runif(1)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&lt;= p(X))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(X)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接受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034126" y="1685925"/>
            <a:ext cx="5326696" cy="2069211"/>
            <a:chOff x="6034126" y="1685925"/>
            <a:chExt cx="5326696" cy="2069211"/>
          </a:xfrm>
        </p:grpSpPr>
        <p:sp>
          <p:nvSpPr>
            <p:cNvPr id="18" name="Freeform 18"/>
            <p:cNvSpPr/>
            <p:nvPr/>
          </p:nvSpPr>
          <p:spPr>
            <a:xfrm>
              <a:off x="6415088" y="3449002"/>
              <a:ext cx="4877752" cy="9525"/>
            </a:xfrm>
            <a:custGeom>
              <a:avLst/>
              <a:gdLst/>
              <a:ahLst/>
              <a:cxnLst/>
              <a:rect l="l" t="t" r="r" b="b"/>
              <a:pathLst>
                <a:path w="4877752" h="9525">
                  <a:moveTo>
                    <a:pt x="0" y="0"/>
                  </a:moveTo>
                  <a:lnTo>
                    <a:pt x="48777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308080" y="1807845"/>
              <a:ext cx="9525" cy="1625918"/>
            </a:xfrm>
            <a:custGeom>
              <a:avLst/>
              <a:gdLst/>
              <a:ahLst/>
              <a:cxnLst/>
              <a:rect l="l" t="t" r="r" b="b"/>
              <a:pathLst>
                <a:path w="9525" h="1625918">
                  <a:moveTo>
                    <a:pt x="0" y="162591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6415088" y="1792605"/>
              <a:ext cx="4877752" cy="9525"/>
            </a:xfrm>
            <a:custGeom>
              <a:avLst/>
              <a:gdLst/>
              <a:ahLst/>
              <a:cxnLst/>
              <a:rect l="l" t="t" r="r" b="b"/>
              <a:pathLst>
                <a:path w="4877752" h="9525">
                  <a:moveTo>
                    <a:pt x="487775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6399848" y="1807845"/>
              <a:ext cx="9525" cy="1625918"/>
            </a:xfrm>
            <a:custGeom>
              <a:avLst/>
              <a:gdLst/>
              <a:ahLst/>
              <a:cxnLst/>
              <a:rect l="l" t="t" r="r" b="b"/>
              <a:pathLst>
                <a:path w="9525" h="1625918">
                  <a:moveTo>
                    <a:pt x="0" y="0"/>
                  </a:moveTo>
                  <a:lnTo>
                    <a:pt x="0" y="16259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415088" y="1857375"/>
              <a:ext cx="4877752" cy="1581150"/>
            </a:xfrm>
            <a:custGeom>
              <a:avLst/>
              <a:gdLst/>
              <a:ahLst/>
              <a:cxnLst/>
              <a:rect l="l" t="t" r="r" b="b"/>
              <a:pathLst>
                <a:path w="4877752" h="1581150">
                  <a:moveTo>
                    <a:pt x="0" y="1552575"/>
                  </a:moveTo>
                  <a:lnTo>
                    <a:pt x="148590" y="1515428"/>
                  </a:lnTo>
                  <a:lnTo>
                    <a:pt x="312420" y="1445895"/>
                  </a:lnTo>
                  <a:lnTo>
                    <a:pt x="475297" y="1336358"/>
                  </a:lnTo>
                  <a:lnTo>
                    <a:pt x="639128" y="1173480"/>
                  </a:lnTo>
                  <a:lnTo>
                    <a:pt x="802957" y="958215"/>
                  </a:lnTo>
                  <a:lnTo>
                    <a:pt x="966788" y="704850"/>
                  </a:lnTo>
                  <a:lnTo>
                    <a:pt x="1129665" y="439102"/>
                  </a:lnTo>
                  <a:lnTo>
                    <a:pt x="1293495" y="205740"/>
                  </a:lnTo>
                  <a:lnTo>
                    <a:pt x="1457325" y="46673"/>
                  </a:lnTo>
                  <a:lnTo>
                    <a:pt x="1621155" y="0"/>
                  </a:lnTo>
                  <a:lnTo>
                    <a:pt x="1784032" y="71438"/>
                  </a:lnTo>
                  <a:lnTo>
                    <a:pt x="1947862" y="246698"/>
                  </a:lnTo>
                  <a:lnTo>
                    <a:pt x="2111693" y="490538"/>
                  </a:lnTo>
                  <a:lnTo>
                    <a:pt x="2275522" y="756285"/>
                  </a:lnTo>
                  <a:lnTo>
                    <a:pt x="2438400" y="1002983"/>
                  </a:lnTo>
                  <a:lnTo>
                    <a:pt x="2602230" y="1197292"/>
                  </a:lnTo>
                  <a:lnTo>
                    <a:pt x="2766060" y="1321118"/>
                  </a:lnTo>
                  <a:lnTo>
                    <a:pt x="2929890" y="1352550"/>
                  </a:lnTo>
                  <a:lnTo>
                    <a:pt x="3093720" y="1280160"/>
                  </a:lnTo>
                  <a:lnTo>
                    <a:pt x="3256598" y="1110615"/>
                  </a:lnTo>
                  <a:lnTo>
                    <a:pt x="3420427" y="893445"/>
                  </a:lnTo>
                  <a:lnTo>
                    <a:pt x="3584257" y="716280"/>
                  </a:lnTo>
                  <a:lnTo>
                    <a:pt x="3748088" y="671512"/>
                  </a:lnTo>
                  <a:lnTo>
                    <a:pt x="3910965" y="783908"/>
                  </a:lnTo>
                  <a:lnTo>
                    <a:pt x="4074795" y="1001078"/>
                  </a:lnTo>
                  <a:lnTo>
                    <a:pt x="4238625" y="1231582"/>
                  </a:lnTo>
                  <a:lnTo>
                    <a:pt x="4402455" y="1407795"/>
                  </a:lnTo>
                  <a:lnTo>
                    <a:pt x="4565332" y="1515428"/>
                  </a:lnTo>
                  <a:lnTo>
                    <a:pt x="4729162" y="1564958"/>
                  </a:lnTo>
                  <a:lnTo>
                    <a:pt x="4877752" y="158115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394132" y="344328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1302365" y="344328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1302365" y="178689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394132" y="178689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394132" y="340709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302365" y="34347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976110" y="223742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777990" y="299656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05950" y="264509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582978" y="2586990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298055" y="2029778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355330" y="191071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215312" y="321849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66548" y="237839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209598" y="231171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958138" y="2237422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799195" y="232981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780395" y="244411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052310" y="329850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1002328" y="259556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309485" y="1839278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196388" y="219932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680382" y="2933700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109585" y="1950720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7017068" y="211645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804082" y="1832610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499408" y="2570798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326630" y="315753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009698" y="256222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707505" y="191071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845868" y="215455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555230" y="3003232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665720" y="2705100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8209598" y="2069782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419148" y="313086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10107930" y="2839402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547735" y="2781300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9243060" y="2927032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765608" y="3265170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877050" y="2611755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021955" y="2499360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950768" y="271176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458450" y="3104198"/>
              <a:ext cx="85725" cy="85725"/>
            </a:xfrm>
            <a:prstGeom prst="ellipse">
              <a:avLst/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1095672" y="2147888"/>
              <a:ext cx="85725" cy="85725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34126" y="1685925"/>
              <a:ext cx="146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47106" y="35204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55338" y="35204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75886" y="168592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p(x)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5815965" y="3942398"/>
            <a:ext cx="5842635" cy="756285"/>
            <a:chOff x="5815965" y="3942398"/>
            <a:chExt cx="5842635" cy="756285"/>
          </a:xfrm>
        </p:grpSpPr>
        <p:sp>
          <p:nvSpPr>
            <p:cNvPr id="72" name="Rectangle 72"/>
            <p:cNvSpPr/>
            <p:nvPr/>
          </p:nvSpPr>
          <p:spPr>
            <a:xfrm>
              <a:off x="5815965" y="3942398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020753" y="4220528"/>
              <a:ext cx="200026" cy="200026"/>
              <a:chOff x="6020753" y="4220528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020753" y="42205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120765" y="4287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109653" y="43205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323076" y="4089559"/>
              <a:ext cx="494677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(X, Y) 在矩形里均匀投点，绿点在曲线下方被接受，红点被拒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绝。接受概率 = 曲线下面积 1 ÷ 矩形面积 M(b − a)。</a:t>
              </a:r>
            </a:p>
          </p:txBody>
        </p:sp>
      </p:grpSp>
      <p:grpSp>
        <p:nvGrpSpPr>
          <p:cNvPr id="84" name="c2-card-3"/>
          <p:cNvGrpSpPr/>
          <p:nvPr/>
        </p:nvGrpSpPr>
        <p:grpSpPr>
          <a:xfrm>
            <a:off x="5815965" y="4878705"/>
            <a:ext cx="5842635" cy="1250632"/>
            <a:chOff x="5815965" y="4878705"/>
            <a:chExt cx="5842635" cy="1250632"/>
          </a:xfrm>
        </p:grpSpPr>
        <p:sp>
          <p:nvSpPr>
            <p:cNvPr id="79" name="Rectangle 79"/>
            <p:cNvSpPr/>
            <p:nvPr/>
          </p:nvSpPr>
          <p:spPr>
            <a:xfrm>
              <a:off x="5815965" y="4878705"/>
              <a:ext cx="584263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825490" y="501205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052185" y="5076825"/>
              <a:ext cx="70770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36432" y="5111115"/>
              <a:ext cx="538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044946" y="5437346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 产生的 Z 密度为 p(x)，所需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迭代次数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服从均值为 M(b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a) 的几何分布。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17516" cy="909257"/>
            <a:chOff x="520446" y="342900"/>
            <a:chExt cx="83175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175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例6.12 用舍选法 I 生成 Beta(2,4)：平均试 2.11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2970911" cy="220028"/>
            <a:chOff x="527685" y="1542574"/>
            <a:chExt cx="2970911" cy="22002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297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用舍选法产生 Beta(2,4) 的随机数，密度为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70"/>
              <p:cNvSpPr txBox="1">
                <a:spLocks noGrp="1"/>
              </p:cNvSpPr>
              <p:nvPr/>
            </p:nvSpPr>
            <p:spPr>
              <a:xfrm>
                <a:off x="533400" y="1887855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20x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3" name="c1-steps-3"/>
          <p:cNvGrpSpPr/>
          <p:nvPr/>
        </p:nvGrpSpPr>
        <p:grpSpPr>
          <a:xfrm>
            <a:off x="533400" y="2467928"/>
            <a:ext cx="4853031" cy="1685449"/>
            <a:chOff x="533400" y="2467928"/>
            <a:chExt cx="4853031" cy="1685449"/>
          </a:xfrm>
        </p:grpSpPr>
        <p:sp>
          <p:nvSpPr>
            <p:cNvPr id="10" name="Rectangle 10"/>
            <p:cNvSpPr/>
            <p:nvPr/>
          </p:nvSpPr>
          <p:spPr>
            <a:xfrm>
              <a:off x="666750" y="2610802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3400" y="24679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2541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05085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124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363378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707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249936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求驻点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785" y="2767489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p′(x) = 20(1 − x)²(1 − 4x) = 0，在 (0, 1) 内得 x = 1/4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30822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求上界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350419"/>
              <a:ext cx="3755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p(1/4) = 20 × (1/4) × (3/4)³ = 135/64 ≈ 2.109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66522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算效率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933349"/>
              <a:ext cx="4439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 [0, 1] 长度为 1，平均迭代次数为 M(b − a) = 135/64 ≈ 2.1</a:t>
              </a:r>
            </a:p>
          </p:txBody>
        </p:sp>
      </p:grpSp>
      <p:grpSp>
        <p:nvGrpSpPr>
          <p:cNvPr id="28" name="c1-card-4"/>
          <p:cNvGrpSpPr/>
          <p:nvPr/>
        </p:nvGrpSpPr>
        <p:grpSpPr>
          <a:xfrm>
            <a:off x="533400" y="4316730"/>
            <a:ext cx="5410200" cy="1946910"/>
            <a:chOff x="533400" y="4316730"/>
            <a:chExt cx="5410200" cy="1946910"/>
          </a:xfrm>
        </p:grpSpPr>
        <p:sp>
          <p:nvSpPr>
            <p:cNvPr id="24" name="Rectangle 24"/>
            <p:cNvSpPr/>
            <p:nvPr/>
          </p:nvSpPr>
          <p:spPr>
            <a:xfrm>
              <a:off x="533400" y="4316730"/>
              <a:ext cx="5410200" cy="1946910"/>
            </a:xfrm>
            <a:prstGeom prst="roundRect">
              <a:avLst>
                <a:gd name="adj" fmla="val 68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450080"/>
              <a:ext cx="47625" cy="16802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1332" y="4525328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每次试投被接受的概率是 64/135 ≈ 0.474，不到一半的点被留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475" y="5079206"/>
              <a:ext cx="4054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检查归一化：B(2, 4) = 1!·3!/5! = 1/20，所以系数是 20。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6248400" y="1524000"/>
            <a:ext cx="5410200" cy="3143250"/>
            <a:chOff x="6248400" y="1524000"/>
            <a:chExt cx="5410200" cy="3143250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76797" y="1675924"/>
              <a:ext cx="1751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R：舍选法 I 生成 Beta(2,4)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76797" y="1935956"/>
              <a:ext cx="2748026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rbeta24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 &lt;- numeric(n)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 &lt;- runif(1)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Y &lt;- 135 / 64 * runif(1)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&lt;= 20 * X * (1 - X)^3)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z[i] &lt;- X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 &lt;- rbeta24(10000)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hist(x, freq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curve(20 * x * (1 - x)^3, add =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49" name="c2-table-2"/>
          <p:cNvGrpSpPr/>
          <p:nvPr/>
        </p:nvGrpSpPr>
        <p:grpSpPr>
          <a:xfrm>
            <a:off x="6243447" y="4837748"/>
            <a:ext cx="5415153" cy="1463706"/>
            <a:chOff x="6243447" y="4837748"/>
            <a:chExt cx="5415153" cy="1463706"/>
          </a:xfrm>
        </p:grpSpPr>
        <p:sp>
          <p:nvSpPr>
            <p:cNvPr id="33" name="Rectangle 33"/>
            <p:cNvSpPr/>
            <p:nvPr/>
          </p:nvSpPr>
          <p:spPr>
            <a:xfrm>
              <a:off x="6248400" y="4837748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3926" y="4959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40906" y="495919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 5 万个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504843" y="49591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5555" y="535924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平均迭代次数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26170" y="535924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2.111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12830" y="5359241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135/64 = 2.109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56330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5637848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5555" y="57592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84707" y="57592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0.3349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09060" y="5759291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2/(2 + 4) = 1/3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4837748"/>
              <a:ext cx="5410200" cy="1200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008620" y="48377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60255" y="4837748"/>
              <a:ext cx="9525" cy="1200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43447" y="6110764"/>
              <a:ext cx="18485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模拟用 Python 按同一算法完成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61465" cy="909257"/>
            <a:chOff x="520446" y="342900"/>
            <a:chExt cx="66614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61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 的缺点，引出舍选法 II 的试投密度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ompare-1"/>
          <p:cNvGrpSpPr/>
          <p:nvPr/>
        </p:nvGrpSpPr>
        <p:grpSpPr>
          <a:xfrm>
            <a:off x="533400" y="1524000"/>
            <a:ext cx="11125200" cy="1703070"/>
            <a:chOff x="533400" y="1524000"/>
            <a:chExt cx="11125200" cy="1703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911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428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 的优点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只要随机变量在有限区间取值、密度函数有界就可以使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44173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不需要分布函数的反函数，只用到 p(x) 的函数值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67450" y="1524000"/>
              <a:ext cx="53911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76975" y="1657350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07480" y="1758315"/>
              <a:ext cx="1428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 的缺点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520815" y="21755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78930" y="2112645"/>
              <a:ext cx="2619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首先，X 的取值范围必须有界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20815" y="251079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78930" y="2447925"/>
              <a:ext cx="2781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其次，X 的密度 p(x) 必须有界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20815" y="28460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78930" y="2783205"/>
              <a:ext cx="3347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第三，p(x) 高低变化很大时效率很差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934075" y="221361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04415" y="23098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27" name="c1-text-2"/>
          <p:cNvGrpSpPr/>
          <p:nvPr/>
        </p:nvGrpSpPr>
        <p:grpSpPr>
          <a:xfrm>
            <a:off x="526923" y="3439001"/>
            <a:ext cx="10179131" cy="249364"/>
            <a:chOff x="526923" y="3439001"/>
            <a:chExt cx="10179131" cy="249364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3439001"/>
              <a:ext cx="10179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第三个缺点的原因：接受概率是曲线 p(x) 下面积与矩形面积之比，X 落在 p(x) 很小处时多半被拒绝，p(x) 起伏大时这个比例很低。</a:t>
              </a:r>
            </a:p>
          </p:txBody>
        </p:sp>
      </p:grpSp>
      <p:grpSp>
        <p:nvGrpSpPr>
          <p:cNvPr id="39" name="c1-table-3"/>
          <p:cNvGrpSpPr/>
          <p:nvPr/>
        </p:nvGrpSpPr>
        <p:grpSpPr>
          <a:xfrm>
            <a:off x="533400" y="3828098"/>
            <a:ext cx="11125200" cy="1800225"/>
            <a:chOff x="533400" y="3828098"/>
            <a:chExt cx="11125200" cy="1800225"/>
          </a:xfrm>
        </p:grpSpPr>
        <p:sp>
          <p:nvSpPr>
            <p:cNvPr id="28" name="Rectangle 28"/>
            <p:cNvSpPr/>
            <p:nvPr/>
          </p:nvSpPr>
          <p:spPr>
            <a:xfrm>
              <a:off x="533400" y="3828098"/>
              <a:ext cx="11125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55725" y="3963829"/>
              <a:ext cx="12762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舍选法 II 的做法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3027" y="39638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解决哪个问题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223" y="4412456"/>
              <a:ext cx="640196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抽取 X 时不用均匀分布，而从一个一般密度 g(x) 抽取，称这个密度为“试投密度”，要求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g(x) 的随机数容易生成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1161" y="45258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第一、第二个问题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9482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953000"/>
              <a:ext cx="11125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5087779"/>
              <a:ext cx="651698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 g(x) 形状与 p(x) 相像：p(x) 大时相应 g(x) 也大，p(x) 小时相应 g(x) 也小，目标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密度小的地方尝试抽取 X 也少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61161" y="520112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第三个问题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828098"/>
              <a:ext cx="11125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48575" y="3828098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8758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选试投密度的两条标准：随机数容易生成，形状贴近目标密度（下一页的常数 c 越接近 1 越好）。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61637" cy="909257"/>
            <a:chOff x="520446" y="342900"/>
            <a:chExt cx="78616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616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II：c·g(x) 包住目标密度，接受概率为 a/c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787968"/>
            <a:chOff x="533400" y="1524000"/>
            <a:chExt cx="5410200" cy="27879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87968"/>
            </a:xfrm>
            <a:prstGeom prst="roundRect">
              <a:avLst>
                <a:gd name="adj" fmla="val 4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52126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设定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6672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目标密度 p(x) 本身可能是未知的，只知道它乘以未知常数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以后的函数：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73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9758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˜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acc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acc>
                              <m:accPr>
                                <m:chr m:val="˜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num>
                          <m:den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∀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77240" y="3361373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3301841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定义域延伸到 ±∞ 时，g 的尾部不能比目标密度薄（x 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±∞ 时 a·p(x) = O(g(x))）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95097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890486"/>
              <a:ext cx="31303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选取试投密度 g 时，常数 c 越小越好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4491990"/>
            <a:ext cx="5410200" cy="1829752"/>
            <a:chOff x="533400" y="4491990"/>
            <a:chExt cx="5410200" cy="1829752"/>
          </a:xfrm>
        </p:grpSpPr>
        <p:sp>
          <p:nvSpPr>
            <p:cNvPr id="18" name="Rectangle 18"/>
            <p:cNvSpPr/>
            <p:nvPr/>
          </p:nvSpPr>
          <p:spPr>
            <a:xfrm>
              <a:off x="533400" y="4491990"/>
              <a:ext cx="5410200" cy="1829752"/>
            </a:xfrm>
            <a:prstGeom prst="roundRect">
              <a:avLst>
                <a:gd name="adj" fmla="val 520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4643914"/>
              <a:ext cx="25737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R：舍选法 II（rg 从 g 抽样，ptil 即 a·p）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416" y="4905375"/>
              <a:ext cx="3784473" cy="1342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ar2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(rg, g, ptil, c)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 &lt;- rg(1)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从 g(x) 抽取 X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Y &lt;- runif(1)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从 U(0,1) 抽取 Y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&lt;= ptil(X) / (c * g(X)))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(X)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1529715"/>
            <a:chOff x="6248400" y="1524000"/>
            <a:chExt cx="5410200" cy="152971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84620" y="1722120"/>
              <a:ext cx="707708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8867" y="1756410"/>
              <a:ext cx="538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定理6.7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7381" y="2082641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II 产生的 Z 密度为 p(x)，所需迭代次数是均值为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c/a 的几何分布随机变量。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8524" y="2667952"/>
              <a:ext cx="3921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每次接受概率 = ∫ g(x)·a·p(x)/(c·g(x)) dx = a/c。</a:t>
              </a:r>
            </a:p>
          </p:txBody>
        </p:sp>
      </p:grpSp>
      <p:grpSp>
        <p:nvGrpSpPr>
          <p:cNvPr id="53" name="c2-graph-2"/>
          <p:cNvGrpSpPr/>
          <p:nvPr/>
        </p:nvGrpSpPr>
        <p:grpSpPr>
          <a:xfrm>
            <a:off x="6567488" y="3325177"/>
            <a:ext cx="4934902" cy="2266664"/>
            <a:chOff x="6567488" y="3325177"/>
            <a:chExt cx="4934902" cy="2266664"/>
          </a:xfrm>
        </p:grpSpPr>
        <p:sp>
          <p:nvSpPr>
            <p:cNvPr id="29" name="Freeform 29"/>
            <p:cNvSpPr/>
            <p:nvPr/>
          </p:nvSpPr>
          <p:spPr>
            <a:xfrm>
              <a:off x="6588442" y="5264468"/>
              <a:ext cx="4797742" cy="9525"/>
            </a:xfrm>
            <a:custGeom>
              <a:avLst/>
              <a:gdLst/>
              <a:ahLst/>
              <a:cxnLst/>
              <a:rect l="l" t="t" r="r" b="b"/>
              <a:pathLst>
                <a:path w="4797742" h="9525">
                  <a:moveTo>
                    <a:pt x="0" y="0"/>
                  </a:moveTo>
                  <a:lnTo>
                    <a:pt x="47977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386185" y="52168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789420" y="3441382"/>
              <a:ext cx="9525" cy="2001202"/>
            </a:xfrm>
            <a:custGeom>
              <a:avLst/>
              <a:gdLst/>
              <a:ahLst/>
              <a:cxnLst/>
              <a:rect l="l" t="t" r="r" b="b"/>
              <a:pathLst>
                <a:path w="9525" h="2001202">
                  <a:moveTo>
                    <a:pt x="0" y="200120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741795" y="33461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97992" y="3488055"/>
              <a:ext cx="4520565" cy="1743075"/>
            </a:xfrm>
            <a:custGeom>
              <a:avLst/>
              <a:gdLst/>
              <a:ahLst/>
              <a:cxnLst/>
              <a:rect l="l" t="t" r="r" b="b"/>
              <a:pathLst>
                <a:path w="4520565" h="1743075">
                  <a:moveTo>
                    <a:pt x="0" y="0"/>
                  </a:moveTo>
                  <a:lnTo>
                    <a:pt x="132397" y="198120"/>
                  </a:lnTo>
                  <a:lnTo>
                    <a:pt x="272415" y="383858"/>
                  </a:lnTo>
                  <a:lnTo>
                    <a:pt x="419100" y="545783"/>
                  </a:lnTo>
                  <a:lnTo>
                    <a:pt x="559117" y="691515"/>
                  </a:lnTo>
                  <a:lnTo>
                    <a:pt x="700088" y="819150"/>
                  </a:lnTo>
                  <a:lnTo>
                    <a:pt x="845820" y="930592"/>
                  </a:lnTo>
                  <a:lnTo>
                    <a:pt x="986790" y="1032510"/>
                  </a:lnTo>
                  <a:lnTo>
                    <a:pt x="1127760" y="1119188"/>
                  </a:lnTo>
                  <a:lnTo>
                    <a:pt x="1267777" y="1196340"/>
                  </a:lnTo>
                  <a:lnTo>
                    <a:pt x="1408747" y="1263968"/>
                  </a:lnTo>
                  <a:lnTo>
                    <a:pt x="1555432" y="1324928"/>
                  </a:lnTo>
                  <a:lnTo>
                    <a:pt x="1695450" y="1378268"/>
                  </a:lnTo>
                  <a:lnTo>
                    <a:pt x="1836420" y="1423988"/>
                  </a:lnTo>
                  <a:lnTo>
                    <a:pt x="1982152" y="1464945"/>
                  </a:lnTo>
                  <a:lnTo>
                    <a:pt x="2123122" y="1503998"/>
                  </a:lnTo>
                  <a:lnTo>
                    <a:pt x="2264092" y="1535430"/>
                  </a:lnTo>
                  <a:lnTo>
                    <a:pt x="2404110" y="1564005"/>
                  </a:lnTo>
                  <a:lnTo>
                    <a:pt x="2545080" y="1587818"/>
                  </a:lnTo>
                  <a:lnTo>
                    <a:pt x="2690812" y="1609725"/>
                  </a:lnTo>
                  <a:lnTo>
                    <a:pt x="2831782" y="1629727"/>
                  </a:lnTo>
                  <a:lnTo>
                    <a:pt x="2972752" y="1645920"/>
                  </a:lnTo>
                  <a:lnTo>
                    <a:pt x="3118485" y="1663065"/>
                  </a:lnTo>
                  <a:lnTo>
                    <a:pt x="3259455" y="1675448"/>
                  </a:lnTo>
                  <a:lnTo>
                    <a:pt x="3399472" y="1686877"/>
                  </a:lnTo>
                  <a:lnTo>
                    <a:pt x="3540443" y="1697355"/>
                  </a:lnTo>
                  <a:lnTo>
                    <a:pt x="3681412" y="1706880"/>
                  </a:lnTo>
                  <a:lnTo>
                    <a:pt x="3827145" y="1716405"/>
                  </a:lnTo>
                  <a:lnTo>
                    <a:pt x="3968115" y="1723073"/>
                  </a:lnTo>
                  <a:lnTo>
                    <a:pt x="4108132" y="1728788"/>
                  </a:lnTo>
                  <a:lnTo>
                    <a:pt x="4254818" y="1735455"/>
                  </a:lnTo>
                  <a:lnTo>
                    <a:pt x="4395788" y="1740218"/>
                  </a:lnTo>
                  <a:lnTo>
                    <a:pt x="4520565" y="1743075"/>
                  </a:lnTo>
                </a:path>
              </a:pathLst>
            </a:custGeom>
            <a:noFill/>
            <a:ln w="28575">
              <a:solidFill>
                <a:srgbClr val="F26B3A"/>
              </a:solidFill>
              <a:custDash>
                <a:ds d="200000" sp="133333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6804660" y="4180522"/>
              <a:ext cx="4513898" cy="1083945"/>
            </a:xfrm>
            <a:custGeom>
              <a:avLst/>
              <a:gdLst/>
              <a:ahLst/>
              <a:cxnLst/>
              <a:rect l="l" t="t" r="r" b="b"/>
              <a:pathLst>
                <a:path w="4513898" h="1083945">
                  <a:moveTo>
                    <a:pt x="0" y="0"/>
                  </a:moveTo>
                  <a:lnTo>
                    <a:pt x="125730" y="8573"/>
                  </a:lnTo>
                  <a:lnTo>
                    <a:pt x="265747" y="32385"/>
                  </a:lnTo>
                  <a:lnTo>
                    <a:pt x="412433" y="73343"/>
                  </a:lnTo>
                  <a:lnTo>
                    <a:pt x="552450" y="126683"/>
                  </a:lnTo>
                  <a:lnTo>
                    <a:pt x="693420" y="192405"/>
                  </a:lnTo>
                  <a:lnTo>
                    <a:pt x="839153" y="264795"/>
                  </a:lnTo>
                  <a:lnTo>
                    <a:pt x="980122" y="344805"/>
                  </a:lnTo>
                  <a:lnTo>
                    <a:pt x="1121093" y="426720"/>
                  </a:lnTo>
                  <a:lnTo>
                    <a:pt x="1261110" y="508635"/>
                  </a:lnTo>
                  <a:lnTo>
                    <a:pt x="1402080" y="588645"/>
                  </a:lnTo>
                  <a:lnTo>
                    <a:pt x="1548765" y="663893"/>
                  </a:lnTo>
                  <a:lnTo>
                    <a:pt x="1688783" y="731520"/>
                  </a:lnTo>
                  <a:lnTo>
                    <a:pt x="1829753" y="794385"/>
                  </a:lnTo>
                  <a:lnTo>
                    <a:pt x="1975485" y="849630"/>
                  </a:lnTo>
                  <a:lnTo>
                    <a:pt x="2116455" y="898208"/>
                  </a:lnTo>
                  <a:lnTo>
                    <a:pt x="2257425" y="937260"/>
                  </a:lnTo>
                  <a:lnTo>
                    <a:pt x="2397443" y="970597"/>
                  </a:lnTo>
                  <a:lnTo>
                    <a:pt x="2538412" y="997268"/>
                  </a:lnTo>
                  <a:lnTo>
                    <a:pt x="2684145" y="1019175"/>
                  </a:lnTo>
                  <a:lnTo>
                    <a:pt x="2825115" y="1036320"/>
                  </a:lnTo>
                  <a:lnTo>
                    <a:pt x="2966085" y="1050608"/>
                  </a:lnTo>
                  <a:lnTo>
                    <a:pt x="3111817" y="1060133"/>
                  </a:lnTo>
                  <a:lnTo>
                    <a:pt x="3252788" y="1067753"/>
                  </a:lnTo>
                  <a:lnTo>
                    <a:pt x="3392805" y="1072515"/>
                  </a:lnTo>
                  <a:lnTo>
                    <a:pt x="3533775" y="1077278"/>
                  </a:lnTo>
                  <a:lnTo>
                    <a:pt x="3674745" y="1079183"/>
                  </a:lnTo>
                  <a:lnTo>
                    <a:pt x="3820478" y="1079183"/>
                  </a:lnTo>
                  <a:lnTo>
                    <a:pt x="3961448" y="1082040"/>
                  </a:lnTo>
                  <a:lnTo>
                    <a:pt x="4101465" y="1082040"/>
                  </a:lnTo>
                  <a:lnTo>
                    <a:pt x="4248150" y="1083945"/>
                  </a:lnTo>
                  <a:lnTo>
                    <a:pt x="4389120" y="1083945"/>
                  </a:lnTo>
                  <a:lnTo>
                    <a:pt x="4513898" y="1083945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925752" y="4664392"/>
              <a:ext cx="9525" cy="584835"/>
            </a:xfrm>
            <a:custGeom>
              <a:avLst/>
              <a:gdLst/>
              <a:ahLst/>
              <a:cxnLst/>
              <a:rect l="l" t="t" r="r" b="b"/>
              <a:pathLst>
                <a:path w="9525" h="584835">
                  <a:moveTo>
                    <a:pt x="0" y="5848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  <a:custDash>
                <a:ds d="333333" sp="222222"/>
              </a:custDash>
            </a:ln>
          </p:spPr>
        </p:sp>
        <p:sp>
          <p:nvSpPr>
            <p:cNvPr id="36" name="Ellipse 36"/>
            <p:cNvSpPr/>
            <p:nvPr/>
          </p:nvSpPr>
          <p:spPr>
            <a:xfrm>
              <a:off x="6567488" y="52587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490960" y="52587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83705" y="545211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783705" y="3325177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83705" y="417385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28083" y="52587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783705" y="3469957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1328083" y="5225415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920038" y="52587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878128" y="4559618"/>
              <a:ext cx="95250" cy="952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40942" y="3644741"/>
              <a:ext cx="1325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c·g(x) = 1.32e⁻ˣ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5630" y="3910489"/>
              <a:ext cx="1264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p(x)：半正态密度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82344" y="4377690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1 处相切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48187" y="54011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84519" y="54011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20852" y="54011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56232" y="54011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55" name="c2-text-3"/>
          <p:cNvGrpSpPr/>
          <p:nvPr/>
        </p:nvGrpSpPr>
        <p:grpSpPr>
          <a:xfrm>
            <a:off x="6242304" y="5851208"/>
            <a:ext cx="5148072" cy="470916"/>
            <a:chOff x="6242304" y="5851208"/>
            <a:chExt cx="5148072" cy="470916"/>
          </a:xfrm>
        </p:grpSpPr>
        <p:sp>
          <p:nvSpPr>
            <p:cNvPr id="54" name="TextBox 54"/>
            <p:cNvSpPr txBox="1"/>
            <p:nvPr/>
          </p:nvSpPr>
          <p:spPr>
            <a:xfrm>
              <a:off x="6242304" y="5851208"/>
              <a:ext cx="514807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例6.15 的包络：X 从 Exp(1) 抽取，以两条曲线的高度之比 p(X)/(c·g(X))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为概率接受。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58475" cy="909257"/>
            <a:chOff x="520446" y="342900"/>
            <a:chExt cx="95584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584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例6.13 Gamma(3/2, 1)：用均值 3/2 的指数分布作试投密度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80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Γ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ra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2"/>
          <p:cNvGrpSpPr/>
          <p:nvPr/>
        </p:nvGrpSpPr>
        <p:grpSpPr>
          <a:xfrm>
            <a:off x="533400" y="2165985"/>
            <a:ext cx="5538343" cy="2476024"/>
            <a:chOff x="533400" y="2165985"/>
            <a:chExt cx="5538343" cy="2476024"/>
          </a:xfrm>
        </p:grpSpPr>
        <p:sp>
          <p:nvSpPr>
            <p:cNvPr id="8" name="Rectangle 8"/>
            <p:cNvSpPr/>
            <p:nvPr/>
          </p:nvSpPr>
          <p:spPr>
            <a:xfrm>
              <a:off x="666750" y="2308860"/>
              <a:ext cx="19050" cy="19554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1659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2398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95656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0303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35394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1224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4196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2198370"/>
              <a:ext cx="357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 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785" y="2465546"/>
              <a:ext cx="51249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p(x) 形状在尾部与指数分布相近，且 EZ = 3/2，所以用期望为 3/2 的指数分布作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试投密度 g(x) = (2/3)exp(−2x/3)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29879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求比值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256121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p(x)/g(x) = (3/√π)·√x·exp(−x/3)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57092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839051"/>
              <a:ext cx="38486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对比值取对数求导：1/(2x) − 1/3 = 0，最大值点 x = 3/2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4153852"/>
              <a:ext cx="357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421981"/>
              <a:ext cx="2898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sup p(x)/g(x) = 3√3/√(2πe) ≈ 1.257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81"/>
              <p:cNvSpPr txBox="1">
                <a:spLocks noGrp="1"/>
              </p:cNvSpPr>
              <p:nvPr/>
            </p:nvSpPr>
            <p:spPr>
              <a:xfrm>
                <a:off x="533400" y="4805362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2e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den>
                          </m:f>
                        </m:e>
                      </m:ra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32" name="c1-callout-4"/>
          <p:cNvGrpSpPr/>
          <p:nvPr/>
        </p:nvGrpSpPr>
        <p:grpSpPr>
          <a:xfrm>
            <a:off x="533400" y="5463540"/>
            <a:ext cx="5842635" cy="729615"/>
            <a:chOff x="533400" y="5463540"/>
            <a:chExt cx="5842635" cy="729615"/>
          </a:xfrm>
        </p:grpSpPr>
        <p:sp>
          <p:nvSpPr>
            <p:cNvPr id="27" name="Rectangle 27"/>
            <p:cNvSpPr/>
            <p:nvPr/>
          </p:nvSpPr>
          <p:spPr>
            <a:xfrm>
              <a:off x="533400" y="5463540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28337"/>
              <a:ext cx="200023" cy="200023"/>
              <a:chOff x="738188" y="5728337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7283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795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5610225"/>
              <a:ext cx="46000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 p(x) 是已归一化的密度，a = 1，平均迭代次数就是 c 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1.257。</a:t>
              </a:r>
            </a:p>
          </p:txBody>
        </p:sp>
      </p:grpSp>
      <p:grpSp>
        <p:nvGrpSpPr>
          <p:cNvPr id="36" name="c2-code-1"/>
          <p:cNvGrpSpPr/>
          <p:nvPr/>
        </p:nvGrpSpPr>
        <p:grpSpPr>
          <a:xfrm>
            <a:off x="6680835" y="1524000"/>
            <a:ext cx="4977765" cy="2791778"/>
            <a:chOff x="6680835" y="1524000"/>
            <a:chExt cx="4977765" cy="2791778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09232" y="1675924"/>
              <a:ext cx="2122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R：舍选法 II 生成 Gamma(3/2, 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9232" y="1935956"/>
              <a:ext cx="3438779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rgamma32 &lt;-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 &lt;- numeric(n)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 &lt;- -1.5 * log(runif(1))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均值 3/2 的指数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Y &lt;- runif(1)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&lt;= sqrt(2 * exp(1) / 3) *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sqrt(X) * exp(-X / 3)) </a:t>
              </a:r>
              <a:r>
                <a:rPr lang="en-US" sz="98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z[i] &lt;- X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675882" y="4486275"/>
            <a:ext cx="4982718" cy="1863756"/>
            <a:chOff x="6675882" y="4486275"/>
            <a:chExt cx="4982718" cy="1863756"/>
          </a:xfrm>
        </p:grpSpPr>
        <p:sp>
          <p:nvSpPr>
            <p:cNvPr id="37" name="Rectangle 37"/>
            <p:cNvSpPr/>
            <p:nvPr/>
          </p:nvSpPr>
          <p:spPr>
            <a:xfrm>
              <a:off x="6680835" y="4486275"/>
              <a:ext cx="4977765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04456" y="4607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65721" y="4607719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 5 万个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16298" y="4607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77990" y="50077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平均迭代次数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50985" y="50077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31599" y="5007769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1.257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52816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0835" y="5286375"/>
              <a:ext cx="497776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7990" y="54078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样本均值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50985" y="540781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742684" y="540781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680835" y="56816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7990" y="5807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样本方差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50985" y="580786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1.522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42684" y="580786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680835" y="4486275"/>
              <a:ext cx="497776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436292" y="448627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083165" y="448627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5882" y="6159341"/>
              <a:ext cx="18485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模拟用 Python 按同一算法完成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1432" cy="909257"/>
            <a:chOff x="520446" y="342900"/>
            <a:chExt cx="90314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14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例6.15 正态随机数：先用指数分布生成 |Z|，再随机加符号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5605272" cy="707136"/>
            <a:chOff x="527304" y="1544002"/>
            <a:chExt cx="5605272" cy="70713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5605272" cy="707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~ N(0,1) 时 Y = μ + σX ~ N(μ, σ²)，所以只要产生 N(0,1) 随机数 Z。标准正态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密度在尾部正比于 exp(−x²/2)，用舍选法 II，以标准指数密度作试投密度。指数分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布非负，先产生 |Z|：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88"/>
              <p:cNvSpPr txBox="1">
                <a:spLocks noGrp="1"/>
              </p:cNvSpPr>
              <p:nvPr/>
            </p:nvSpPr>
            <p:spPr>
              <a:xfrm>
                <a:off x="533400" y="2384108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den>
                          </m:f>
                        </m:e>
                      </m:ra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189"/>
              <p:cNvSpPr txBox="1">
                <a:spLocks noGrp="1"/>
              </p:cNvSpPr>
              <p:nvPr/>
            </p:nvSpPr>
            <p:spPr>
              <a:xfrm>
                <a:off x="533400" y="3052762"/>
                <a:ext cx="584263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den>
                          </m:f>
                        </m:e>
                      </m:ra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8" name="c1-steps-4"/>
          <p:cNvGrpSpPr/>
          <p:nvPr/>
        </p:nvGrpSpPr>
        <p:grpSpPr>
          <a:xfrm>
            <a:off x="533400" y="3730942"/>
            <a:ext cx="4205326" cy="2398776"/>
            <a:chOff x="533400" y="3730942"/>
            <a:chExt cx="4205326" cy="2398776"/>
          </a:xfrm>
        </p:grpSpPr>
        <p:sp>
          <p:nvSpPr>
            <p:cNvPr id="11" name="Rectangle 11"/>
            <p:cNvSpPr/>
            <p:nvPr/>
          </p:nvSpPr>
          <p:spPr>
            <a:xfrm>
              <a:off x="666750" y="3873818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3400" y="373094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8047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34816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421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9644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5038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55816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5655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76380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4044315"/>
              <a:ext cx="37923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 h(x) 最大只要使 x − x²/2 最大，最大值点 x₀ =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4381024"/>
              <a:ext cx="3762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4661535"/>
              <a:ext cx="360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h(1) = √(2e/π) ≈ 1.32，这也是平均迭代次数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99824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接受概率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5278755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p(x)/(c·g(x)) = exp(−(x − 1)²/2)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561451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加符号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5895022"/>
              <a:ext cx="3097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|Z| 后，以各自 1/2 的概率加上正负号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680835" y="1524000"/>
            <a:ext cx="4977765" cy="2446972"/>
            <a:chOff x="6680835" y="1524000"/>
            <a:chExt cx="4977765" cy="2446972"/>
          </a:xfrm>
        </p:grpSpPr>
        <p:sp>
          <p:nvSpPr>
            <p:cNvPr id="29" name="Rectangle 29"/>
            <p:cNvSpPr/>
            <p:nvPr/>
          </p:nvSpPr>
          <p:spPr>
            <a:xfrm>
              <a:off x="6680835" y="1524000"/>
              <a:ext cx="4977765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165735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17055" y="1722120"/>
              <a:ext cx="219551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57419" y="1756410"/>
              <a:ext cx="21157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为什么指数分布参数取 1（补充）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09816" y="2082641"/>
              <a:ext cx="43787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原课件说“可以像例6.14 那样证明参数为 1 的指数分布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最优”，例6.14 不在本课件中，这里补上推导。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09816" y="2672239"/>
              <a:ext cx="20981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g(x) = λexp(−λx)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formula190"/>
                <p:cNvSpPr txBox="1">
                  <a:spLocks noGrp="1"/>
                </p:cNvSpPr>
                <p:nvPr/>
              </p:nvSpPr>
              <p:spPr>
                <a:xfrm>
                  <a:off x="6917055" y="2966085"/>
                  <a:ext cx="4543425" cy="4705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sup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den>
                            </m:f>
                          </m:e>
                        </m:ra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sSup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p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6909816" y="354949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ln c(λ) 求导得 λ − 1/λ = 0，λ = 1 时 c 最小。</a:t>
              </a:r>
            </a:p>
          </p:txBody>
        </p:sp>
      </p:grpSp>
      <p:grpSp>
        <p:nvGrpSpPr>
          <p:cNvPr id="58" name="c2-table-2"/>
          <p:cNvGrpSpPr/>
          <p:nvPr/>
        </p:nvGrpSpPr>
        <p:grpSpPr>
          <a:xfrm>
            <a:off x="6680835" y="4150995"/>
            <a:ext cx="4977765" cy="848678"/>
            <a:chOff x="6680835" y="4150995"/>
            <a:chExt cx="4977765" cy="848678"/>
          </a:xfrm>
        </p:grpSpPr>
        <p:sp>
          <p:nvSpPr>
            <p:cNvPr id="38" name="Rectangle 38"/>
            <p:cNvSpPr/>
            <p:nvPr/>
          </p:nvSpPr>
          <p:spPr>
            <a:xfrm>
              <a:off x="6680835" y="4150995"/>
              <a:ext cx="4977765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6236" y="4279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13997" y="42795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57912" y="42795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95118" y="4279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45742" y="4279582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83901" y="42795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83324" y="470344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c(λ)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31811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1.808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5726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1.373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135428" y="4584382"/>
              <a:ext cx="824865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19641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1.315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63556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1.638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08424" y="470344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2.948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4150995"/>
              <a:ext cx="4977765" cy="8486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432358" y="4150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77225" y="4150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121140" y="4150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965055" y="4150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809922" y="4150995"/>
              <a:ext cx="9525" cy="8486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llout-3"/>
          <p:cNvGrpSpPr/>
          <p:nvPr/>
        </p:nvGrpSpPr>
        <p:grpSpPr>
          <a:xfrm>
            <a:off x="6680835" y="5179695"/>
            <a:ext cx="4977765" cy="1018222"/>
            <a:chOff x="6680835" y="5179695"/>
            <a:chExt cx="4977765" cy="1018222"/>
          </a:xfrm>
        </p:grpSpPr>
        <p:sp>
          <p:nvSpPr>
            <p:cNvPr id="59" name="Rectangle 59"/>
            <p:cNvSpPr/>
            <p:nvPr/>
          </p:nvSpPr>
          <p:spPr>
            <a:xfrm>
              <a:off x="6680835" y="5179695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885623" y="5589272"/>
              <a:ext cx="200023" cy="200023"/>
              <a:chOff x="6885623" y="5589272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885623" y="55892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018973" y="56559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187946" y="5326856"/>
              <a:ext cx="407212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≈ 1.32 表示平均试投 1.32 次得到一个 |Z|，接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受概率约 0.76；再用一个均匀随机数决定符号，每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个正态数平均用掉 3.3 个均匀随机数。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97385" cy="909257"/>
            <a:chOff x="520446" y="342900"/>
            <a:chExt cx="83973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973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N(0,1) 的算法：Y ≤ exp(−(X − 1)²/2) 时接受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088636" cy="2002536"/>
            <a:chOff x="533400" y="1533525"/>
            <a:chExt cx="5088636" cy="200253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507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2281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生成参数为 1 的指数随机变量 X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3606"/>
              <a:ext cx="507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4118"/>
              <a:ext cx="1611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生成一个均匀随机数 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799874"/>
              <a:ext cx="507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0385"/>
              <a:ext cx="4675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Y ≤ exp(−(X − 1)²/2)，再生成均匀随机数 U₂：U₂ &lt; 0.5 时令 Z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X，否则令 Z = −X；若不满足则转步骤 1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707130"/>
            <a:ext cx="5410200" cy="2359342"/>
            <a:chOff x="533400" y="3707130"/>
            <a:chExt cx="5410200" cy="2359342"/>
          </a:xfrm>
        </p:grpSpPr>
        <p:sp>
          <p:nvSpPr>
            <p:cNvPr id="21" name="Rectangle 21"/>
            <p:cNvSpPr/>
            <p:nvPr/>
          </p:nvSpPr>
          <p:spPr>
            <a:xfrm>
              <a:off x="533400" y="3707130"/>
              <a:ext cx="5410200" cy="2359342"/>
            </a:xfrm>
            <a:prstGeom prst="roundRect">
              <a:avLst>
                <a:gd name="adj" fmla="val 56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840480"/>
              <a:ext cx="47625" cy="20926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9620" y="39052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1060" y="39395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381" y="4266724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原课件步骤 3 写作“如果 Y ≥ exp(−(x − 1)²/2)”，不等号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方向反了。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7240" y="49158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3831" y="4855369"/>
              <a:ext cx="47830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Y ≥ 模拟：|Z| 的样本均值约 1.64，平均要试 4.17 次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7240" y="523303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33831" y="5173504"/>
              <a:ext cx="37926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Y ≤ 模拟：|Z| 的均值 0.797（理论 √(2/π)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0.798），平均试 1.32 次</a:t>
              </a:r>
            </a:p>
          </p:txBody>
        </p:sp>
      </p:grpSp>
      <p:grpSp>
        <p:nvGrpSpPr>
          <p:cNvPr id="34" name="c2-code-1"/>
          <p:cNvGrpSpPr/>
          <p:nvPr/>
        </p:nvGrpSpPr>
        <p:grpSpPr>
          <a:xfrm>
            <a:off x="6248400" y="1524000"/>
            <a:ext cx="5410200" cy="3344228"/>
            <a:chOff x="6248400" y="1524000"/>
            <a:chExt cx="5410200" cy="3344228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3344228"/>
            </a:xfrm>
            <a:prstGeom prst="roundRect">
              <a:avLst>
                <a:gd name="adj" fmla="val 284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797" y="1675924"/>
              <a:ext cx="1541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R：舍选法生成正态随机数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76416" y="1937385"/>
              <a:ext cx="3457766" cy="28590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rnorm_ar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 &lt;- numeric(n)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repeat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 &lt;- -log(runif(1))    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Exp(1)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Y &lt;- runif(1)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(Y &lt;= exp(-(X - 1)^2 / 2))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break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z[i] &lt;-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(runif(1) &lt; 0.5) X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-X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z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&lt;- 10 + 2 * rnorm_ar(10000)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N(10, 2^2)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hist(x, freq =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curve(dnorm(x, 10, 2), add = </a:t>
              </a:r>
              <a:r>
                <a:rPr lang="en-US" sz="105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5048250"/>
            <a:ext cx="5410200" cy="1018222"/>
            <a:chOff x="6248400" y="5048250"/>
            <a:chExt cx="5410200" cy="1018222"/>
          </a:xfrm>
        </p:grpSpPr>
        <p:sp>
          <p:nvSpPr>
            <p:cNvPr id="35" name="Rectangle 35"/>
            <p:cNvSpPr/>
            <p:nvPr/>
          </p:nvSpPr>
          <p:spPr>
            <a:xfrm>
              <a:off x="6248400" y="5048250"/>
              <a:ext cx="5410200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5457825"/>
              <a:ext cx="200026" cy="200025"/>
              <a:chOff x="6453188" y="545782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54578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92926" y="55022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27642" y="56134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511" y="5196364"/>
              <a:ext cx="4288536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等价写法：另生成 Exp(1) 变量 Y₂，Y₂ ≥ (X − 1)²/2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时接受。因为 Y ≤ exp(−t) 与 −ln Y ≥ t 是同一事件，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这种写法才用“≥”。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2641" cy="909257"/>
            <a:chOff x="520446" y="342900"/>
            <a:chExt cx="77926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26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例6.16 极坐标法：在单位圆内取点，省掉三角函数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408041" cy="2816829"/>
            <a:chOff x="533400" y="1533525"/>
            <a:chExt cx="5408041" cy="2816829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059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5394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6133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正方形到圆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9954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= 2U₁ − 1，V₂ = 2U₂ − 1 在中心为原点、面积为 4 的正方形中均匀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分布；只保留 V₁² + V₂² ≤ 1 的点，它在单位圆内均匀分布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极坐标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97103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R、Θ 为 (V₁, V₂) 的极坐标，则 R 与 Θ 独立，R² 在 (0,1) 上均匀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（P(R² ≤ s) = πs/π = s），Θ 在 (0, 2π) 上均匀，sin Θ = V₂/R，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Θ = V₁/R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573780"/>
              <a:ext cx="1599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Box–Muller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866674"/>
              <a:ext cx="44589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 S = R² = V₁² + V₂²，用 S 当作 U₁，用 V₁/√S、V₂/√S 代替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cos、sin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92"/>
              <p:cNvSpPr txBox="1">
                <a:spLocks noGrp="1"/>
              </p:cNvSpPr>
              <p:nvPr/>
            </p:nvSpPr>
            <p:spPr>
              <a:xfrm>
                <a:off x="533400" y="453009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</m:func>
                        </m:e>
                      </m:ra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den>
                          </m:f>
                        </m:e>
                      </m:ra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f>
                            <m:fPr>
                              <m:type m:val="bar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llout-3"/>
          <p:cNvGrpSpPr/>
          <p:nvPr/>
        </p:nvGrpSpPr>
        <p:grpSpPr>
          <a:xfrm>
            <a:off x="533400" y="5234940"/>
            <a:ext cx="5626418" cy="782955"/>
            <a:chOff x="533400" y="5234940"/>
            <a:chExt cx="5626418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2349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526405"/>
              <a:ext cx="200026" cy="200025"/>
              <a:chOff x="738188" y="552640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5264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5708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6819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383530"/>
              <a:ext cx="4330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每轮接受概率为 π/4 ≈ 0.785，平均 1.27 轮得到一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对。S = 0 时 ln S 无定义，也要重抽。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2322195"/>
            <a:chOff x="6464618" y="1524000"/>
            <a:chExt cx="5193982" cy="232219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2322195"/>
            </a:xfrm>
            <a:prstGeom prst="roundRect">
              <a:avLst>
                <a:gd name="adj" fmla="val 574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74168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3675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极坐标算法步骤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674167" y="209740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36017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5158" y="2110740"/>
              <a:ext cx="1760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生成随机数 U₁、U₂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74167" y="243268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36017" y="24749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75158" y="2446020"/>
              <a:ext cx="4386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V₁ = 2U₁ − 1，V₂ = 2U₂ − 1，S = V₁² + V₂²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74167" y="276796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6017" y="28102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75158" y="2781300"/>
              <a:ext cx="23463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 S &gt; 1，则转至步骤 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74167" y="310324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6017" y="31455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75158" y="3116580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= √(−2 ln S / S)·V₁，Y = √(−2 ln S / S)·V₂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是独立的标准正态随机变量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6464618" y="4036695"/>
            <a:ext cx="5193982" cy="2244091"/>
            <a:chOff x="6464618" y="4036695"/>
            <a:chExt cx="5193982" cy="2244091"/>
          </a:xfrm>
        </p:grpSpPr>
        <p:sp>
          <p:nvSpPr>
            <p:cNvPr id="45" name="Rectangle 45"/>
            <p:cNvSpPr/>
            <p:nvPr/>
          </p:nvSpPr>
          <p:spPr>
            <a:xfrm>
              <a:off x="6464618" y="4036695"/>
              <a:ext cx="519398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12395" y="4172426"/>
              <a:ext cx="2021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例：U₁ = 0.8，U₂ = 0.4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40632" y="417242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72441" y="4621054"/>
              <a:ext cx="2746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= 2×0.8 − 1，V₂ = 2×0.4 − 1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89020" y="4621054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0.6，−0.2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49291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493395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2441" y="5069681"/>
              <a:ext cx="1398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0.36 + 0.04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89020" y="5069681"/>
              <a:ext cx="1201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0.40 ≤ 1，接受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5378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72441" y="5518309"/>
              <a:ext cx="1577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√(−2 ln 0.4 / 0.4)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9020" y="551830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2.1404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58273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64618" y="5832158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72441" y="5966936"/>
              <a:ext cx="395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X，Y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89020" y="5966936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1.2843，−0.4281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4036695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76435" y="403669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89512" cy="909257"/>
            <a:chOff x="520446" y="342900"/>
            <a:chExt cx="73895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895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复合法：先按 αᵢ 选出成分 I，再从这个成分抽样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2092642"/>
            <a:chOff x="533400" y="1524000"/>
            <a:chExt cx="5842635" cy="20926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092642"/>
            </a:xfrm>
            <a:prstGeom prst="roundRect">
              <a:avLst>
                <a:gd name="adj" fmla="val 63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594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离散型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96862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离散型随机变量 I 的分布为 P(I = i) = αᵢ（i = 1, …, m），Z₁, …,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Zₘ 都是离散型随机变量，I = i 时令 X = Zᵢ，则 X 是离散型随机变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05"/>
                <p:cNvSpPr txBox="1">
                  <a:spLocks noGrp="1"/>
                </p:cNvSpPr>
                <p:nvPr/>
              </p:nvSpPr>
              <p:spPr>
                <a:xfrm>
                  <a:off x="758190" y="2847022"/>
                  <a:ext cx="543115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1" name="c1-card-2"/>
          <p:cNvGrpSpPr/>
          <p:nvPr/>
        </p:nvGrpSpPr>
        <p:grpSpPr>
          <a:xfrm>
            <a:off x="533400" y="3786188"/>
            <a:ext cx="5842635" cy="2485072"/>
            <a:chOff x="533400" y="3786188"/>
            <a:chExt cx="5842635" cy="2485072"/>
          </a:xfrm>
        </p:grpSpPr>
        <p:sp>
          <p:nvSpPr>
            <p:cNvPr id="14" name="Rectangle 14"/>
            <p:cNvSpPr/>
            <p:nvPr/>
          </p:nvSpPr>
          <p:spPr>
            <a:xfrm>
              <a:off x="533400" y="3786188"/>
              <a:ext cx="5842635" cy="2485072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19538"/>
              <a:ext cx="47625" cy="221837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8190" y="397287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6811" y="400573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连续型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4317682"/>
              <a:ext cx="51743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Z₁, …, Zₘ 都是连续型随机变量，密度分别为 p₁(z), …, pₘ(z)，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 X 的分布函数为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06"/>
                <p:cNvSpPr txBox="1">
                  <a:spLocks noGrp="1"/>
                </p:cNvSpPr>
                <p:nvPr/>
              </p:nvSpPr>
              <p:spPr>
                <a:xfrm>
                  <a:off x="758190" y="4852035"/>
                  <a:ext cx="543115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|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07"/>
                <p:cNvSpPr txBox="1">
                  <a:spLocks noGrp="1"/>
                </p:cNvSpPr>
                <p:nvPr/>
              </p:nvSpPr>
              <p:spPr>
                <a:xfrm>
                  <a:off x="758190" y="5501640"/>
                  <a:ext cx="5431155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F'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2-image-1"/>
          <p:cNvGrpSpPr/>
          <p:nvPr/>
        </p:nvGrpSpPr>
        <p:grpSpPr>
          <a:xfrm>
            <a:off x="6680835" y="1524000"/>
            <a:ext cx="4977765" cy="2461926"/>
            <a:chOff x="6680835" y="1524000"/>
            <a:chExt cx="4977765" cy="2461926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rcRect l="0" t="20812" r="0" b="20813"/>
            <a:stretch>
              <a:fillRect/>
            </a:stretch>
          </p:blipFill>
          <p:spPr>
            <a:xfrm>
              <a:off x="6680835" y="1524000"/>
              <a:ext cx="4977765" cy="2179320"/>
            </a:xfrm>
            <a:prstGeom prst="roundRect">
              <a:avLst>
                <a:gd name="adj" fmla="val 6118"/>
              </a:avLst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7144032" y="3795236"/>
              <a:ext cx="4051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先转转盘决定去哪个罐子（抽 I），再从那个罐子里摸一颗（抽成分）</a:t>
              </a:r>
            </a:p>
          </p:txBody>
        </p:sp>
      </p:grpSp>
      <p:grpSp>
        <p:nvGrpSpPr>
          <p:cNvPr id="30" name="c2-callout-2"/>
          <p:cNvGrpSpPr/>
          <p:nvPr/>
        </p:nvGrpSpPr>
        <p:grpSpPr>
          <a:xfrm>
            <a:off x="6680835" y="4136708"/>
            <a:ext cx="4977765" cy="729615"/>
            <a:chOff x="6680835" y="4136708"/>
            <a:chExt cx="4977765" cy="729615"/>
          </a:xfrm>
        </p:grpSpPr>
        <p:sp>
          <p:nvSpPr>
            <p:cNvPr id="25" name="Rectangle 25"/>
            <p:cNvSpPr/>
            <p:nvPr/>
          </p:nvSpPr>
          <p:spPr>
            <a:xfrm>
              <a:off x="6680835" y="4136708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885623" y="4401505"/>
              <a:ext cx="200023" cy="200023"/>
              <a:chOff x="6885623" y="4401505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885623" y="44015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018973" y="44681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188327" y="4283392"/>
              <a:ext cx="397421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两步：① 生成 I 的样本；② 根据 I 的值 i 生成 Zᵢ 的样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本，结果就是 X 的样本。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6109" cy="909257"/>
            <a:chOff x="520446" y="342900"/>
            <a:chExt cx="80561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61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例6.18 离散型复合：1～5 各 0.05，6～10 各 0.15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10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796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0.05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5</m:t>
                              </m:r>
                            </m:e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0.15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steps-2"/>
          <p:cNvGrpSpPr/>
          <p:nvPr/>
        </p:nvGrpSpPr>
        <p:grpSpPr>
          <a:xfrm>
            <a:off x="533400" y="2520315"/>
            <a:ext cx="5269865" cy="3233071"/>
            <a:chOff x="533400" y="2520315"/>
            <a:chExt cx="5269865" cy="3233071"/>
          </a:xfrm>
        </p:grpSpPr>
        <p:sp>
          <p:nvSpPr>
            <p:cNvPr id="8" name="Rectangle 8"/>
            <p:cNvSpPr/>
            <p:nvPr/>
          </p:nvSpPr>
          <p:spPr>
            <a:xfrm>
              <a:off x="666750" y="266319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52031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594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317087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2446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405669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4130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33400" y="49425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5016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5546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选成分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48451"/>
              <a:ext cx="43311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随机变量 I 的分布为 P(I = 1) = 0.25，P(I = 2) = 0.75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20516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两个成分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499009"/>
              <a:ext cx="4816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Z₁ 服从 1, 2, 3, 4, 5 上的离散均匀分布，Z₂ 服从 6, 7, 8, 9, 10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上的离散均匀分布；I = 1 时取 Z₁，I = 2 时取 Z₂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09098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384834"/>
              <a:ext cx="4857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P(X = 3) = 0.25 × 1/5 = 0.05，P(X = 8) = 0.75 × 1/5 = 0.15，与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目标分布一致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97681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5269706"/>
              <a:ext cx="47434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Z₁ = ceil(5U)；Z₂ = ceil(5U) + 5。模拟 20 万次，1～5 的频率在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0.049～0.050，6～10 在 0.149～0.151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464618" y="1524000"/>
            <a:ext cx="5193982" cy="3139440"/>
            <a:chOff x="6464618" y="1524000"/>
            <a:chExt cx="5193982" cy="3139440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93015" y="1675924"/>
              <a:ext cx="2773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R：例6.18（原课件为 Julia 代码，逻辑相同）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2252" y="1937861"/>
              <a:ext cx="3610102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randmix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xs &lt;- numeric(n)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1:n)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 &lt;- runif(2)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(u[1] &lt; 0.75)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xs[i] &lt;- ceiling(5 * u[2]) + 5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2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xs[i] &lt;- ceiling(5 * u[2])       </a:t>
              </a:r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# I = 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xs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table(randmix(10000)) / 10000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464618" y="4853940"/>
            <a:ext cx="5193982" cy="1059180"/>
            <a:chOff x="6464618" y="4853940"/>
            <a:chExt cx="5193982" cy="1059180"/>
          </a:xfrm>
        </p:grpSpPr>
        <p:sp>
          <p:nvSpPr>
            <p:cNvPr id="30" name="Rectangle 30"/>
            <p:cNvSpPr/>
            <p:nvPr/>
          </p:nvSpPr>
          <p:spPr>
            <a:xfrm>
              <a:off x="6464618" y="485394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69405" y="5283518"/>
              <a:ext cx="200026" cy="200025"/>
              <a:chOff x="6669405" y="528351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669405" y="52835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9144" y="53279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43859" y="54390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71348" y="5002530"/>
              <a:ext cx="4253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每个样本只用 2 个均匀随机数。按 10 个值直接做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逆变换要逐段累加比较，复合法拆成“抽 I”和“抽均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匀整数”两步。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95608" cy="909257"/>
            <a:chOff x="520446" y="342900"/>
            <a:chExt cx="10195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变换法、舍选法与复合法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95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例6.19 梯形分布：逆变换法要解二次方程，复合法只需两个均匀数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752969" cy="264033"/>
            <a:chOff x="526542" y="1545907"/>
            <a:chExt cx="775296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752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0 &lt; a &lt; 1，考虑梯形密度 p₁ 或 p₂；令 F(x) = u 解一元二次方程，取 (0, 1) 内的根得反函数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26"/>
              <p:cNvSpPr txBox="1">
                <a:spLocks noGrp="1"/>
              </p:cNvSpPr>
              <p:nvPr/>
            </p:nvSpPr>
            <p:spPr>
              <a:xfrm>
                <a:off x="533400" y="1928812"/>
                <a:ext cx="584263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27"/>
              <p:cNvSpPr txBox="1">
                <a:spLocks noGrp="1"/>
              </p:cNvSpPr>
              <p:nvPr/>
            </p:nvSpPr>
            <p:spPr>
              <a:xfrm>
                <a:off x="533400" y="2441258"/>
                <a:ext cx="5842635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ax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228"/>
              <p:cNvSpPr txBox="1">
                <a:spLocks noGrp="1"/>
              </p:cNvSpPr>
              <p:nvPr/>
            </p:nvSpPr>
            <p:spPr>
              <a:xfrm>
                <a:off x="533400" y="2935605"/>
                <a:ext cx="584263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ra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229"/>
              <p:cNvSpPr txBox="1">
                <a:spLocks noGrp="1"/>
              </p:cNvSpPr>
              <p:nvPr/>
            </p:nvSpPr>
            <p:spPr>
              <a:xfrm>
                <a:off x="533400" y="3568065"/>
                <a:ext cx="584263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</m:d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</m:ra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llout-5"/>
          <p:cNvGrpSpPr/>
          <p:nvPr/>
        </p:nvGrpSpPr>
        <p:grpSpPr>
          <a:xfrm>
            <a:off x="533400" y="4200525"/>
            <a:ext cx="5842635" cy="729615"/>
            <a:chOff x="533400" y="4200525"/>
            <a:chExt cx="5842635" cy="729615"/>
          </a:xfrm>
        </p:grpSpPr>
        <p:sp>
          <p:nvSpPr>
            <p:cNvPr id="13" name="Rectangle 13"/>
            <p:cNvSpPr/>
            <p:nvPr/>
          </p:nvSpPr>
          <p:spPr>
            <a:xfrm>
              <a:off x="533400" y="420052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465320"/>
              <a:ext cx="200026" cy="200026"/>
              <a:chOff x="738188" y="4465320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465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4531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45653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4347210"/>
              <a:ext cx="460857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用逆变换法获得 p₁、p₂ 的随机数。例：a = 0.4，u = 0.5 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F₁⁻¹(u) = 0.6385，F₂⁻¹(u) = 0.3615。</a:t>
              </a:r>
            </a:p>
          </p:txBody>
        </p:sp>
      </p:grpSp>
      <p:grpSp>
        <p:nvGrpSpPr>
          <p:cNvPr id="25" name="c1-callout-6"/>
          <p:cNvGrpSpPr/>
          <p:nvPr/>
        </p:nvGrpSpPr>
        <p:grpSpPr>
          <a:xfrm>
            <a:off x="533400" y="5100638"/>
            <a:ext cx="5842635" cy="729615"/>
            <a:chOff x="533400" y="5100638"/>
            <a:chExt cx="5842635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510063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365433"/>
              <a:ext cx="200026" cy="200026"/>
              <a:chOff x="738188" y="5365433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3654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3" y="544322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246370"/>
              <a:ext cx="43599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= 0.4 时逆变换法与右边的复合法各模拟 10 万个，均值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0.6002、0.6006，理论值 0.6。</a:t>
              </a:r>
            </a:p>
          </p:txBody>
        </p:sp>
      </p:grpSp>
      <p:grpSp>
        <p:nvGrpSpPr>
          <p:cNvPr id="47" name="c2-graph-1"/>
          <p:cNvGrpSpPr/>
          <p:nvPr/>
        </p:nvGrpSpPr>
        <p:grpSpPr>
          <a:xfrm>
            <a:off x="6974205" y="2000250"/>
            <a:ext cx="4441508" cy="1858327"/>
            <a:chOff x="6974205" y="2000250"/>
            <a:chExt cx="4441508" cy="1858327"/>
          </a:xfrm>
        </p:grpSpPr>
        <p:sp>
          <p:nvSpPr>
            <p:cNvPr id="26" name="Freeform 26"/>
            <p:cNvSpPr/>
            <p:nvPr/>
          </p:nvSpPr>
          <p:spPr>
            <a:xfrm>
              <a:off x="6995160" y="3586162"/>
              <a:ext cx="4304348" cy="9525"/>
            </a:xfrm>
            <a:custGeom>
              <a:avLst/>
              <a:gdLst/>
              <a:ahLst/>
              <a:cxnLst/>
              <a:rect l="l" t="t" r="r" b="b"/>
              <a:pathLst>
                <a:path w="4304348" h="9525">
                  <a:moveTo>
                    <a:pt x="0" y="0"/>
                  </a:moveTo>
                  <a:lnTo>
                    <a:pt x="43043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1299508" y="3538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278052" y="2116455"/>
              <a:ext cx="9525" cy="1570673"/>
            </a:xfrm>
            <a:custGeom>
              <a:avLst/>
              <a:gdLst/>
              <a:ahLst/>
              <a:cxnLst/>
              <a:rect l="l" t="t" r="r" b="b"/>
              <a:pathLst>
                <a:path w="9525" h="1570673">
                  <a:moveTo>
                    <a:pt x="0" y="157067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230428" y="20212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293292" y="3220402"/>
              <a:ext cx="3354705" cy="9525"/>
            </a:xfrm>
            <a:custGeom>
              <a:avLst/>
              <a:gdLst/>
              <a:ahLst/>
              <a:cxnLst/>
              <a:rect l="l" t="t" r="r" b="b"/>
              <a:pathLst>
                <a:path w="3354705" h="9525">
                  <a:moveTo>
                    <a:pt x="0" y="0"/>
                  </a:moveTo>
                  <a:lnTo>
                    <a:pt x="3354705" y="0"/>
                  </a:lnTo>
                </a:path>
              </a:pathLst>
            </a:custGeom>
            <a:noFill/>
            <a:ln w="22860">
              <a:solidFill>
                <a:srgbClr val="14A38B"/>
              </a:solidFill>
              <a:custDash>
                <a:ds d="250000" sp="166667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7293292" y="2125980"/>
              <a:ext cx="3355657" cy="1089660"/>
            </a:xfrm>
            <a:custGeom>
              <a:avLst/>
              <a:gdLst/>
              <a:ahLst/>
              <a:cxnLst/>
              <a:rect l="l" t="t" r="r" b="b"/>
              <a:pathLst>
                <a:path w="3355657" h="1089660">
                  <a:moveTo>
                    <a:pt x="0" y="1089660"/>
                  </a:moveTo>
                  <a:lnTo>
                    <a:pt x="3355657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663238" y="2136458"/>
              <a:ext cx="9525" cy="1434465"/>
            </a:xfrm>
            <a:custGeom>
              <a:avLst/>
              <a:gdLst/>
              <a:ahLst/>
              <a:cxnLst/>
              <a:rect l="l" t="t" r="r" b="b"/>
              <a:pathLst>
                <a:path w="9525" h="1434465">
                  <a:moveTo>
                    <a:pt x="0" y="143446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E7D4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974205" y="358044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404283" y="358044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272338" y="369665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272338" y="2000250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272338" y="321468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57522" y="321468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657522" y="3580448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657522" y="2115502"/>
              <a:ext cx="11430" cy="114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83301" y="31261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99650" y="2055019"/>
              <a:ext cx="321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2 − 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39972" y="36823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25157" y="36823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77000" y="3365659"/>
              <a:ext cx="7872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矩形：面积 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90509" y="2825591"/>
              <a:ext cx="11547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三角形：面积 1 − a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680835" y="4026218"/>
            <a:ext cx="4977765" cy="2169795"/>
            <a:chOff x="6680835" y="4026218"/>
            <a:chExt cx="4977765" cy="2169795"/>
          </a:xfrm>
        </p:grpSpPr>
        <p:sp>
          <p:nvSpPr>
            <p:cNvPr id="48" name="Rectangle 48"/>
            <p:cNvSpPr/>
            <p:nvPr/>
          </p:nvSpPr>
          <p:spPr>
            <a:xfrm>
              <a:off x="6680835" y="4026218"/>
              <a:ext cx="4977765" cy="2169795"/>
            </a:xfrm>
            <a:prstGeom prst="roundRect">
              <a:avLst>
                <a:gd name="adj" fmla="val 614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67525" y="4212908"/>
              <a:ext cx="101441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43469" y="4245769"/>
              <a:ext cx="863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复合法生成 p₁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60667" y="4557712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p₁ 下的区域 = 面积 a 的矩形 + 面积 1 − a 的三角形。令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g₁(x) = 1，g₂(x) = 2x（0 &lt; x &lt; 1），则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formula230"/>
                <p:cNvSpPr txBox="1">
                  <a:spLocks noGrp="1"/>
                </p:cNvSpPr>
                <p:nvPr/>
              </p:nvSpPr>
              <p:spPr>
                <a:xfrm>
                  <a:off x="6867525" y="5092065"/>
                  <a:ext cx="4604385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3" name="Ellipse 53"/>
            <p:cNvSpPr/>
            <p:nvPr/>
          </p:nvSpPr>
          <p:spPr>
            <a:xfrm>
              <a:off x="6876098" y="559784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032117" y="5541645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U₁ &lt; a 时取 X = U₂，否则取 X = √U₂（Beta(2,1)，例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6.8）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690360" cy="2997517"/>
            <a:chOff x="667512" y="1835468"/>
            <a:chExt cx="66903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随机向量的产生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分量之间有关系时，按条件分布逐个生成，或对独立分量做线性变换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多项分布随机数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多元正态分布随机数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随机向量的产生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条件分布法：把联合分布拆成一串条件分布，逐个分量生成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716405"/>
            <a:chOff x="533400" y="1524000"/>
            <a:chExt cx="5626418" cy="1716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条件分布法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44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设随机向量 X = (X₁, X₂, …, Xᵣ)，X 的分布密度或分布概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率为 p(x₁, x₂, …, xᵣ)，p 可以分解为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3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5169218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|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|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|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1-flow-2"/>
          <p:cNvGrpSpPr/>
          <p:nvPr/>
        </p:nvGrpSpPr>
        <p:grpSpPr>
          <a:xfrm>
            <a:off x="927735" y="3578542"/>
            <a:ext cx="4838700" cy="2636520"/>
            <a:chOff x="927735" y="3578542"/>
            <a:chExt cx="4838700" cy="2636520"/>
          </a:xfrm>
        </p:grpSpPr>
        <p:sp>
          <p:nvSpPr>
            <p:cNvPr id="14" name="Freeform 14"/>
            <p:cNvSpPr/>
            <p:nvPr/>
          </p:nvSpPr>
          <p:spPr>
            <a:xfrm>
              <a:off x="3347085" y="4016692"/>
              <a:ext cx="9525" cy="189548"/>
            </a:xfrm>
            <a:custGeom>
              <a:avLst/>
              <a:gdLst/>
              <a:ahLst/>
              <a:cxnLst/>
              <a:rect l="l" t="t" r="r" b="b"/>
              <a:pathLst>
                <a:path w="9525" h="189548">
                  <a:moveTo>
                    <a:pt x="0" y="0"/>
                  </a:moveTo>
                  <a:lnTo>
                    <a:pt x="0" y="1895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94698" y="42062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47085" y="474916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294698" y="49396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47085" y="5482590"/>
              <a:ext cx="9525" cy="189547"/>
            </a:xfrm>
            <a:custGeom>
              <a:avLst/>
              <a:gdLst/>
              <a:ahLst/>
              <a:cxnLst/>
              <a:rect l="l" t="t" r="r" b="b"/>
              <a:pathLst>
                <a:path w="9525" h="189547">
                  <a:moveTo>
                    <a:pt x="0" y="0"/>
                  </a:moveTo>
                  <a:lnTo>
                    <a:pt x="0" y="1895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294698" y="56721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7735" y="3578542"/>
              <a:ext cx="4838700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27735" y="4311015"/>
              <a:ext cx="48387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7735" y="5044440"/>
              <a:ext cx="48387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927735" y="5776912"/>
              <a:ext cx="4838700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507472" y="3708559"/>
              <a:ext cx="16792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首先生成 X₁ ~ p(x₁)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35242" y="4441031"/>
              <a:ext cx="3823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由已知的 X₁ 的值，从条件分布 p(x₂|X₁) 产生 X₂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30797" y="5174456"/>
              <a:ext cx="4032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再由已知的 X₁、X₂ 的值，从 p(x₃|X₁, X₂) 产生 X₃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31377" y="5906929"/>
              <a:ext cx="1831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如此重复，直到产生 Xᵣ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2596515"/>
            <a:chOff x="6464618" y="1524000"/>
            <a:chExt cx="5193982" cy="259651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2596515"/>
            </a:xfrm>
            <a:prstGeom prst="roundRect">
              <a:avLst>
                <a:gd name="adj" fmla="val 51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23298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1775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小例子（补充）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4648" y="2110740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~ U(0,1)，给定 X₁ = x₁ 时 X₂ ~ U(0, x₁)，联合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formula234"/>
                <p:cNvSpPr txBox="1">
                  <a:spLocks noGrp="1"/>
                </p:cNvSpPr>
                <p:nvPr/>
              </p:nvSpPr>
              <p:spPr>
                <a:xfrm>
                  <a:off x="6712268" y="2707005"/>
                  <a:ext cx="4736782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5" name="Ellipse 35"/>
            <p:cNvSpPr/>
            <p:nvPr/>
          </p:nvSpPr>
          <p:spPr>
            <a:xfrm>
              <a:off x="6712267" y="33280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74117" y="33703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13258" y="3341370"/>
              <a:ext cx="1900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U₁，令 X₁ = U₁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12267" y="36633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4117" y="37056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13258" y="3676650"/>
              <a:ext cx="4360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U₂，令 X₂ = X₁·U₂，它在 (0, X₁) 上均匀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464618" y="4311015"/>
            <a:ext cx="5193982" cy="782955"/>
            <a:chOff x="6464618" y="4311015"/>
            <a:chExt cx="5193982" cy="782955"/>
          </a:xfrm>
        </p:grpSpPr>
        <p:sp>
          <p:nvSpPr>
            <p:cNvPr id="42" name="Rectangle 42"/>
            <p:cNvSpPr/>
            <p:nvPr/>
          </p:nvSpPr>
          <p:spPr>
            <a:xfrm>
              <a:off x="6464618" y="431101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9405" y="4602480"/>
              <a:ext cx="200026" cy="200026"/>
              <a:chOff x="6669405" y="4602480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669405" y="46024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769418" y="46691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58305" y="47024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1348" y="445960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每个条件分布都要会抽样。分量的顺序可以自己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选，选条件分布最容易抽样的顺序。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6464618" y="5284470"/>
            <a:ext cx="5193982" cy="1059180"/>
            <a:chOff x="6464618" y="5284470"/>
            <a:chExt cx="5193982" cy="1059180"/>
          </a:xfrm>
        </p:grpSpPr>
        <p:sp>
          <p:nvSpPr>
            <p:cNvPr id="49" name="Rectangle 49"/>
            <p:cNvSpPr/>
            <p:nvPr/>
          </p:nvSpPr>
          <p:spPr>
            <a:xfrm>
              <a:off x="6464618" y="528447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714048"/>
              <a:ext cx="200026" cy="200025"/>
              <a:chOff x="6669405" y="571404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7140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09144" y="57584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43859" y="58696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1348" y="5433060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下面两个例子都是这个思路：多项分布拆成一串二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项分布，多元正态分布用下三角矩阵逐个分量叠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2261" cy="909257"/>
            <a:chOff x="520446" y="342900"/>
            <a:chExt cx="8642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随机向量的产生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2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多项分布：r 与 n 相比较小时，用一串二项分布逐个产生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548890"/>
            <a:chOff x="533400" y="1524000"/>
            <a:chExt cx="5626418" cy="2548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48890"/>
            </a:xfrm>
            <a:prstGeom prst="roundRect">
              <a:avLst>
                <a:gd name="adj" fmla="val 52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821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多项分布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110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 n 次独立重复试验 Y₁, Y₂, …, Yₙ，每次结果 Yᵢ 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…, r 中取值，P(Yᵢ = j) = pⱼ。令 Xⱼ 为这 n 次试验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中结果 j 的个数，称 X = (X₁, X₂, …, Xᵣ) 服从多项分布，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其联合概率函数为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7"/>
                <p:cNvSpPr txBox="1">
                  <a:spLocks noGrp="1"/>
                </p:cNvSpPr>
                <p:nvPr/>
              </p:nvSpPr>
              <p:spPr>
                <a:xfrm>
                  <a:off x="781050" y="3278505"/>
                  <a:ext cx="5169218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!⋯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sup>
                        </m:sSubSup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5" name="c1-table-2"/>
          <p:cNvGrpSpPr/>
          <p:nvPr/>
        </p:nvGrpSpPr>
        <p:grpSpPr>
          <a:xfrm>
            <a:off x="533400" y="4263390"/>
            <a:ext cx="5626418" cy="1800225"/>
            <a:chOff x="533400" y="4263390"/>
            <a:chExt cx="5626418" cy="1800225"/>
          </a:xfrm>
        </p:grpSpPr>
        <p:sp>
          <p:nvSpPr>
            <p:cNvPr id="14" name="Rectangle 14"/>
            <p:cNvSpPr/>
            <p:nvPr/>
          </p:nvSpPr>
          <p:spPr>
            <a:xfrm>
              <a:off x="533400" y="4263390"/>
              <a:ext cx="5626418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86129" y="43991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9814" y="43991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4961096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与 n 相比很大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4263" y="4847749"/>
              <a:ext cx="37518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模拟产生 Yᵢ（i = 1, …, n），然后从 {Yᵢ} 中计数得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(X₁, X₂, …, Xᵣ)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53825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538734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5636419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与 n 相比较小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04263" y="5523071"/>
              <a:ext cx="36542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使用条件分布逐个地产生 X₁, X₂, …, Xᵣ，只需 r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个二项随机数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263390"/>
              <a:ext cx="5626418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91678" y="426339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steps-1"/>
          <p:cNvGrpSpPr/>
          <p:nvPr/>
        </p:nvGrpSpPr>
        <p:grpSpPr>
          <a:xfrm>
            <a:off x="6464618" y="1533525"/>
            <a:ext cx="5084872" cy="2998755"/>
            <a:chOff x="6464618" y="1533525"/>
            <a:chExt cx="5084872" cy="2998755"/>
          </a:xfrm>
        </p:grpSpPr>
        <p:sp>
          <p:nvSpPr>
            <p:cNvPr id="26" name="Rectangle 26"/>
            <p:cNvSpPr/>
            <p:nvPr/>
          </p:nvSpPr>
          <p:spPr>
            <a:xfrm>
              <a:off x="6597968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64618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824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64618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8241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6098" y="156781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7241" y="1861661"/>
              <a:ext cx="46722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以结果 1 作为成功，其他结果作为失败，显然 X₁ ~ B(n, p₁)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6098" y="2218372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7241" y="2512219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 X₁ 的值 x₁ 后，剩余 n − x₁ 次试验结果只有 2, 3, …, r 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取，于是结果 2 的条件概率为 p₂/(1 − p₁)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6098" y="3104198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77241" y="3397091"/>
              <a:ext cx="4337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类似地，剩下 n − x₁ − x₂ 次试验中结果 3 的次数服从 B(n 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− x₂, p₃/(1 − p₁ − p₂))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6098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7241" y="4282916"/>
              <a:ext cx="4286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如此重复，可以产生多项分布的随机数 (x₁, x₂, …, xᵣ)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238"/>
              <p:cNvSpPr txBox="1">
                <a:spLocks noGrp="1"/>
              </p:cNvSpPr>
              <p:nvPr/>
            </p:nvSpPr>
            <p:spPr>
              <a:xfrm>
                <a:off x="6464618" y="4711065"/>
                <a:ext cx="5193982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|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=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</m:e>
                          </m:nary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0" name="c2-callout-3"/>
          <p:cNvGrpSpPr/>
          <p:nvPr/>
        </p:nvGrpSpPr>
        <p:grpSpPr>
          <a:xfrm>
            <a:off x="6464618" y="5530215"/>
            <a:ext cx="5193982" cy="782955"/>
            <a:chOff x="6464618" y="5530215"/>
            <a:chExt cx="5193982" cy="782955"/>
          </a:xfrm>
        </p:grpSpPr>
        <p:sp>
          <p:nvSpPr>
            <p:cNvPr id="45" name="Rectangle 45"/>
            <p:cNvSpPr/>
            <p:nvPr/>
          </p:nvSpPr>
          <p:spPr>
            <a:xfrm>
              <a:off x="6464618" y="553021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5821682"/>
              <a:ext cx="200023" cy="200023"/>
              <a:chOff x="6669405" y="5821682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669405" y="58216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02755" y="58883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348" y="5678805"/>
              <a:ext cx="4263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 X₂ 在 X₁ = x₁ 条件下服从 B(n − x₁, p₂/(1 −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p₁))，从这个条件分布产生 X₂ = x₂。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5584" cy="909257"/>
            <a:chOff x="520446" y="342900"/>
            <a:chExt cx="83255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随机向量的产生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5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例：n = 10，p = (0.2, 0.3, 0.5) 的多项分布随机数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936558"/>
            <a:chOff x="533400" y="1524000"/>
            <a:chExt cx="5842635" cy="2936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936558"/>
            </a:xfrm>
            <a:prstGeom prst="roundRect">
              <a:avLst>
                <a:gd name="adj" fmla="val 324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3331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R：用条件二项分布产生多项分布随机数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37254" cy="2451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rmultinom_cond &lt;-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function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(n, p)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 &lt;- length(p); x &lt;- numeric(r)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left &lt;- n; rest &lt;- 1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剩余次数、剩余概率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</a:t>
              </a:r>
              <a:r>
                <a:rPr lang="en-US" sz="1120" b="1" dirty="0">
                  <a:solidFill>
                    <a:srgbClr val="2E7D4F"/>
                  </a:solidFill>
                  <a:latin typeface="Consolas"/>
                  <a:ea typeface="Consolas"/>
                  <a:cs typeface="Consolas"/>
                </a:rPr>
                <a:t>in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1:(r - 1))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x[j] &lt;- rbinom(1, left, p[j] / rest)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left &lt;- left - x[j]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rest &lt;- rest - p[j]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x[r] &lt;- left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最后一类取剩下的次数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x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rmultinom_cond(10, c(0.2, 0.3, 0.5))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651058"/>
            <a:ext cx="5842635" cy="782955"/>
            <a:chOff x="533400" y="4651058"/>
            <a:chExt cx="5842635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465105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4942523"/>
              <a:ext cx="200026" cy="200025"/>
              <a:chOff x="738188" y="494252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9425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49869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0980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4799648"/>
              <a:ext cx="4787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自带 rmultinom(1, 10, c(0.2, 0.3, 0.5)) 给出同样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分布的结果（按列返回）。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675120" y="1524000"/>
            <a:ext cx="4983480" cy="2544604"/>
            <a:chOff x="6675120" y="1524000"/>
            <a:chExt cx="4983480" cy="2544604"/>
          </a:xfrm>
        </p:grpSpPr>
        <p:sp>
          <p:nvSpPr>
            <p:cNvPr id="18" name="Rectangle 18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067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2048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条件分布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6073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本次抽到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8658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4961" y="2108359"/>
              <a:ext cx="968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B(10, 0.2)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72903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0835" y="2421255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88658" y="267033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84961" y="2556986"/>
              <a:ext cx="2044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B(10 − 2, 0.3/0.8) = B(8,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72903" y="26703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80835" y="3092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8658" y="334565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84961" y="3232309"/>
              <a:ext cx="22644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条件概率 0.5/0.5 = 1，取剩余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72903" y="3345656"/>
              <a:ext cx="1081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10 − 2 − 3 = 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1524000"/>
              <a:ext cx="4977765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7237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16031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75120" y="384857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抽到的数字只是一次示例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675120" y="4214812"/>
            <a:ext cx="4983480" cy="2091215"/>
            <a:chOff x="6675120" y="4214812"/>
            <a:chExt cx="4983480" cy="2091215"/>
          </a:xfrm>
        </p:grpSpPr>
        <p:sp>
          <p:nvSpPr>
            <p:cNvPr id="39" name="Rectangle 39"/>
            <p:cNvSpPr/>
            <p:nvPr/>
          </p:nvSpPr>
          <p:spPr>
            <a:xfrm>
              <a:off x="6680835" y="4214812"/>
              <a:ext cx="497776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08787" y="43495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89421" y="4349591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 4 万次的均值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30926" y="4349591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 npⱼ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5957" y="479917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59622" y="479917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32259" y="47991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80835" y="51073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680835" y="511206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5957" y="524779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59622" y="524779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2.998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32259" y="524779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80835" y="555593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75957" y="569642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59622" y="569642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832259" y="56964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680835" y="4214812"/>
              <a:ext cx="497776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88605" y="421481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08882" y="421481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75120" y="6085999"/>
              <a:ext cx="1811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Python 按同一算法模拟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4446" cy="909257"/>
            <a:chOff x="520446" y="342900"/>
            <a:chExt cx="79244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随机向量的产生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44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多元正态：Cholesky 分解 Σ = CCᵀ，令 X = μ + CZ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848802"/>
            <a:chOff x="533400" y="1524000"/>
            <a:chExt cx="5626418" cy="18488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48802"/>
            </a:xfrm>
            <a:prstGeom prst="roundRect">
              <a:avLst>
                <a:gd name="adj" fmla="val 72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8210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多元正态分布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设随机向量 X = (X₁, X₂, …, Xₚ)ᵀ 服从 N(μ, Σ)，联合密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度函数为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41"/>
                <p:cNvSpPr txBox="1">
                  <a:spLocks noGrp="1"/>
                </p:cNvSpPr>
                <p:nvPr/>
              </p:nvSpPr>
              <p:spPr>
                <a:xfrm>
                  <a:off x="781050" y="2707005"/>
                  <a:ext cx="516921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b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/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begChr m:val="{"/>
                                <m:sepChr m:val=""/>
                                <m:endChr m:val="}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b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m:rPr>
                                            <m:sty m:val="bi"/>
                                          </m:rP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μ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T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b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bi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μ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b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sSup>
                          <m:e>
                            <m:r>
                              <m:rPr>
                                <m:scr m:val="double-struck"/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1-steps-2"/>
          <p:cNvGrpSpPr/>
          <p:nvPr/>
        </p:nvGrpSpPr>
        <p:grpSpPr>
          <a:xfrm>
            <a:off x="533400" y="3572828"/>
            <a:ext cx="5424297" cy="2112930"/>
            <a:chOff x="533400" y="3572828"/>
            <a:chExt cx="5424297" cy="2112930"/>
          </a:xfrm>
        </p:grpSpPr>
        <p:sp>
          <p:nvSpPr>
            <p:cNvPr id="14" name="Rectangle 14"/>
            <p:cNvSpPr/>
            <p:nvPr/>
          </p:nvSpPr>
          <p:spPr>
            <a:xfrm>
              <a:off x="666750" y="3715702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57282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6466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22338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297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1092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1830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60711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900964"/>
              <a:ext cx="4677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正定矩阵 Σ 作 Cholesky 分解 Σ = CCᵀ，其中 C 为下三角矩阵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257675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Z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551521"/>
              <a:ext cx="50116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Z = (Z₁, Z₂, …, Zₚ)ᵀ 服从 p 元标准正态分布 N(0, I)（I 表示单位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阵），即 p 个独立的 N(0,1)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5143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5436394"/>
              <a:ext cx="23154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μ + CZ 服从 N(μ, Σ) 分布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1701165"/>
            <a:chOff x="6464618" y="1524000"/>
            <a:chExt cx="5193982" cy="1701165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74168" y="1733550"/>
              <a:ext cx="13325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6401" y="1769269"/>
              <a:ext cx="1209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为什么协方差是 Σ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79883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37998" y="211074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正态向量的线性变换仍是正态向量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679883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37998" y="2446020"/>
              <a:ext cx="2126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E(X) = μ + C·E(Z) = μ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679883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37998" y="2781300"/>
              <a:ext cx="3825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Cov(X) = C·Cov(Z)·Cᵀ = CICᵀ = CCᵀ = Σ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415665"/>
            <a:ext cx="5193982" cy="2863215"/>
            <a:chOff x="6464618" y="3415665"/>
            <a:chExt cx="5193982" cy="2863215"/>
          </a:xfrm>
        </p:grpSpPr>
        <p:sp>
          <p:nvSpPr>
            <p:cNvPr id="38" name="Rectangle 38"/>
            <p:cNvSpPr/>
            <p:nvPr/>
          </p:nvSpPr>
          <p:spPr>
            <a:xfrm>
              <a:off x="6464618" y="3415665"/>
              <a:ext cx="5193982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3549015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12268" y="362521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0626" y="366093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例（补充）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4002405"/>
              <a:ext cx="25424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μ = (3, 2)ᵀ，对 Σ 作分解：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242"/>
                <p:cNvSpPr txBox="1">
                  <a:spLocks noGrp="1"/>
                </p:cNvSpPr>
                <p:nvPr/>
              </p:nvSpPr>
              <p:spPr>
                <a:xfrm>
                  <a:off x="6712268" y="4312920"/>
                  <a:ext cx="4736782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0.5</m:t>
                                  </m:r>
                                </m:e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0.866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Ellipse 44"/>
            <p:cNvSpPr/>
            <p:nvPr/>
          </p:nvSpPr>
          <p:spPr>
            <a:xfrm>
              <a:off x="6717983" y="49911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6098" y="4928235"/>
              <a:ext cx="4063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c₁₁ = √4 = 2，c₂₁ = 1/c₁₁ = 0.5，c₂₂ = √(1 −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0.5²) = 0.866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717983" y="56121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76098" y="554926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Z = (1, −1)ᵀ，则 X = (3 + 2, 2 + 0.5 −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0.866)ᵀ = (5, 1.634)ᵀ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36994" cy="909257"/>
            <a:chOff x="520446" y="342900"/>
            <a:chExt cx="85369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 · 随机向量的产生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369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多元正态的 R 实现：chol() 返回上三角矩阵，要先转置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1922145"/>
            <a:chOff x="533400" y="1524000"/>
            <a:chExt cx="5842635" cy="1922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73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R：生成 1000 个 N(μ, Σ) 样本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71246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mu    &lt;- c(3, 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Sigma &lt;- matrix(c(4, 1, 1, 1), 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C &lt;- t(chol(Sigma))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chol 给上三角 R，Sigma = t(R) %*% R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Z &lt;- matrix(rnorm(2 * 1000), nrow = 2)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X &lt;- mu + C %*% Z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每一列是一个样本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plot(t(X)); abline(v = 3, h = 2, col = 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"green"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rowMeans(X); cov(t(X))</a:t>
              </a:r>
            </a:p>
          </p:txBody>
        </p:sp>
      </p:grpSp>
      <p:grpSp>
        <p:nvGrpSpPr>
          <p:cNvPr id="31" name="c1-table-2"/>
          <p:cNvGrpSpPr/>
          <p:nvPr/>
        </p:nvGrpSpPr>
        <p:grpSpPr>
          <a:xfrm>
            <a:off x="527685" y="3636645"/>
            <a:ext cx="5848350" cy="2091214"/>
            <a:chOff x="527685" y="3636645"/>
            <a:chExt cx="5848350" cy="2091214"/>
          </a:xfrm>
        </p:grpSpPr>
        <p:sp>
          <p:nvSpPr>
            <p:cNvPr id="11" name="Rectangle 11"/>
            <p:cNvSpPr/>
            <p:nvPr/>
          </p:nvSpPr>
          <p:spPr>
            <a:xfrm>
              <a:off x="533400" y="3636645"/>
              <a:ext cx="5842635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60995" y="37723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统计量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6573" y="3772376"/>
              <a:ext cx="100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模拟 10 万个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1452" y="37723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223" y="42210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73122" y="4221004"/>
              <a:ext cx="12966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(3.006, 2.006)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0987" y="422100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(3, 2)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5291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453390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669631"/>
              <a:ext cx="2018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方差 Var(X₁)、Var(X₂)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4971" y="4669631"/>
              <a:ext cx="1132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4.001、0.999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62836" y="466963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787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5118259"/>
              <a:ext cx="1671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协方差 Cov(X₁, X₂)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78059" y="5118259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96379" y="51182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36645"/>
              <a:ext cx="584263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14675" y="363664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18735" y="363664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685" y="5507831"/>
              <a:ext cx="200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Python 按 X = μ + CZ 模拟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680835" y="1524000"/>
            <a:ext cx="4977765" cy="1847850"/>
            <a:chOff x="6680835" y="1524000"/>
            <a:chExt cx="4977765" cy="1847850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0360" y="165735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2848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1474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20865" y="211074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的 chol() 返回上三角矩阵 R，满足 Σ = RᵀR。直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接用 R 左乘 Z 时，协方差是 RRᵀ，一般不等于 Σ。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22008" y="272843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 RRᵀ = [[4.25, 0.433], [0.433, 0.75]]，与 Σ 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680835" y="3562350"/>
            <a:ext cx="4977765" cy="2121218"/>
            <a:chOff x="6680835" y="3562350"/>
            <a:chExt cx="4977765" cy="2121218"/>
          </a:xfrm>
        </p:grpSpPr>
        <p:sp>
          <p:nvSpPr>
            <p:cNvPr id="39" name="Rectangle 39"/>
            <p:cNvSpPr/>
            <p:nvPr/>
          </p:nvSpPr>
          <p:spPr>
            <a:xfrm>
              <a:off x="6680835" y="3562350"/>
              <a:ext cx="4977765" cy="2121218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3695700"/>
              <a:ext cx="47625" cy="18545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28485" y="377190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97992" y="380761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原课件的散点图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0865" y="4149090"/>
              <a:ext cx="4272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原课件最后一页画出了二元正态样本的散点图：点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云中心在 (3, 2)（图中两条绿线的交点），沿右上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方向拉长，说明两个分量正相关，与本例的 μ 和正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的协方差形状一致。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7854" cy="909257"/>
            <a:chOff x="520446" y="342900"/>
            <a:chExt cx="11178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68768"/>
            <a:chOff x="533400" y="1524000"/>
            <a:chExt cx="5410200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38821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 = (5xₙ₋₁ + 3) mod 16 能否达到满周期？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400776"/>
              <a:ext cx="45590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能。c = 3 与 16 互素，a − 1 = 4 被 2 和 4 整除，T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72790"/>
            <a:ext cx="5410200" cy="1297305"/>
            <a:chOff x="533400" y="3272790"/>
            <a:chExt cx="5410200" cy="1297305"/>
          </a:xfrm>
        </p:grpSpPr>
        <p:sp>
          <p:nvSpPr>
            <p:cNvPr id="13" name="Rectangle 13"/>
            <p:cNvSpPr/>
            <p:nvPr/>
          </p:nvSpPr>
          <p:spPr>
            <a:xfrm>
              <a:off x="533400" y="327279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3831431"/>
              <a:ext cx="4066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用逆变换法生成密度 3x²（0 &lt; x &lt; 1）的随机数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149566"/>
              <a:ext cx="3471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x³，令 U = X³，得 X = ∛U。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750118"/>
            <a:ext cx="5410200" cy="1568768"/>
            <a:chOff x="533400" y="4750118"/>
            <a:chExt cx="5410200" cy="1568768"/>
          </a:xfrm>
        </p:grpSpPr>
        <p:sp>
          <p:nvSpPr>
            <p:cNvPr id="19" name="Rectangle 19"/>
            <p:cNvSpPr/>
            <p:nvPr/>
          </p:nvSpPr>
          <p:spPr>
            <a:xfrm>
              <a:off x="533400" y="4750118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1520" y="494823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0468" y="49825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4281" y="5309711"/>
              <a:ext cx="48380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连乘积法生成 λ = 1 的泊松数，U 依次为 0.6, 0.9, 0.5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4281" y="5626894"/>
              <a:ext cx="47484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exp(−1) = 0.368，连乘积 0.6、0.54、0.27，第 3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才小于它，N = 2。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568768"/>
            <a:chOff x="6248400" y="1524000"/>
            <a:chExt cx="5410200" cy="1568768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2082641"/>
              <a:ext cx="42744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1000 个随机数均值为 0.52，参数检验结论？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2400776"/>
              <a:ext cx="45410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 = 0.02 × √12000 ≈ 2.19 &gt; 1.96，0.05 水平下拒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 H₀。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272790"/>
            <a:ext cx="5410200" cy="1297305"/>
            <a:chOff x="6248400" y="3272790"/>
            <a:chExt cx="5410200" cy="1297305"/>
          </a:xfrm>
        </p:grpSpPr>
        <p:sp>
          <p:nvSpPr>
            <p:cNvPr id="31" name="Rectangle 31"/>
            <p:cNvSpPr/>
            <p:nvPr/>
          </p:nvSpPr>
          <p:spPr>
            <a:xfrm>
              <a:off x="6248400" y="327279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6520" y="34709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5468" y="35052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9281" y="3831431"/>
              <a:ext cx="4440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 I 生成密度 6x(1 − x)，M 与平均迭代次数？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9281" y="4149566"/>
              <a:ext cx="45356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最大值在 x = 1/2，M = 1.5，平均迭代 1.5 次。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750118"/>
            <a:ext cx="5410200" cy="1568768"/>
            <a:chOff x="6248400" y="4750118"/>
            <a:chExt cx="5410200" cy="1568768"/>
          </a:xfrm>
        </p:grpSpPr>
        <p:sp>
          <p:nvSpPr>
            <p:cNvPr id="37" name="Rectangle 37"/>
            <p:cNvSpPr/>
            <p:nvPr/>
          </p:nvSpPr>
          <p:spPr>
            <a:xfrm>
              <a:off x="6248400" y="4750118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6520" y="494823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5468" y="498252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9281" y="5309711"/>
              <a:ext cx="46244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[[9, 3], [3, 5]] 的 Cholesky 下三角因子 C？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9281" y="5626894"/>
              <a:ext cx="46943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c₁₁ = 3，c₂₁ = 1，c₂₂ = √(5 − 1) = 2，C = [[3, 0],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2]]。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第2章 随机数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33400" y="1524000"/>
            <a:ext cx="6708458" cy="4000500"/>
            <a:chOff x="533400" y="1524000"/>
            <a:chExt cx="6708458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07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3974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适用情形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413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线性同余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38325" y="20454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产生均匀随机数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0957" y="2045494"/>
              <a:ext cx="30763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xₙ = (axₙ₋₁ + c) mod M；定理 5.1 判满周期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670845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82682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FSR、组合发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38325" y="2445544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需要更长周期、更好的多维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50957" y="2445544"/>
              <a:ext cx="31407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二进制位异或递推；多个发生器相加取小数或打乱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1456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经验检验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8325" y="3045619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判断序列像不像独立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U(0,1)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50957" y="3145631"/>
              <a:ext cx="2837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参数、卡方、K-S、自相关、游程、扑克等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2425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6456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逆变换法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38325" y="3645694"/>
              <a:ext cx="774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F⁻¹ 容易求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50957" y="3645694"/>
              <a:ext cx="3371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F⁻¹(U)；离散型累加比较，大概率的值放前面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045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变换法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38325" y="40457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分布之间有已知关系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50957" y="4045744"/>
              <a:ext cx="2705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6.3、6.4；Box–Muller、极坐标法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195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32435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4457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舍选法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38325" y="444579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只知道密度或它的常数倍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50957" y="4445794"/>
              <a:ext cx="215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接受概率 a/c，平均迭代 c/a 次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196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48458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复合法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38325" y="48458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目标是几个分布的混合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50957" y="4845844"/>
              <a:ext cx="1916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先抽成分 I，再从该成分抽样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1196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12445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52458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随机向量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38325" y="52458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分量不独立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50957" y="5245894"/>
              <a:ext cx="1623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条件分布法；X = μ + CZ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6708458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736408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3749040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card-1"/>
          <p:cNvGrpSpPr/>
          <p:nvPr/>
        </p:nvGrpSpPr>
        <p:grpSpPr>
          <a:xfrm>
            <a:off x="7546658" y="1524000"/>
            <a:ext cx="4111942" cy="2129790"/>
            <a:chOff x="7546658" y="1524000"/>
            <a:chExt cx="4111942" cy="2129790"/>
          </a:xfrm>
        </p:grpSpPr>
        <p:sp>
          <p:nvSpPr>
            <p:cNvPr id="50" name="Rectangle 50"/>
            <p:cNvSpPr/>
            <p:nvPr/>
          </p:nvSpPr>
          <p:spPr>
            <a:xfrm>
              <a:off x="7546658" y="1524000"/>
              <a:ext cx="4111942" cy="2129790"/>
            </a:xfrm>
            <a:prstGeom prst="roundRect">
              <a:avLst>
                <a:gd name="adj" fmla="val 6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556182" y="1657350"/>
              <a:ext cx="47625" cy="18630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771448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834566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780020" y="211074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36039" y="2054542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自相关检验的滞后阶数应固定（第 23 页）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780020" y="241173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936039" y="2355532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正负连应为同号段，不只是负值（第 26 页）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780020" y="271176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936039" y="2655570"/>
              <a:ext cx="3041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例6.5 R 代码的循环条件（第 34 页）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780020" y="30118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936039" y="2955608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二项分布算法步骤 4 的括号（第 35 页）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780020" y="33118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36039" y="3255645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正态舍选算法的不等号方向（第 49 页）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7546658" y="3823335"/>
            <a:ext cx="4111942" cy="1701165"/>
            <a:chOff x="7546658" y="3823335"/>
            <a:chExt cx="4111942" cy="1701165"/>
          </a:xfrm>
        </p:grpSpPr>
        <p:sp>
          <p:nvSpPr>
            <p:cNvPr id="65" name="Rectangle 65"/>
            <p:cNvSpPr/>
            <p:nvPr/>
          </p:nvSpPr>
          <p:spPr>
            <a:xfrm>
              <a:off x="7546658" y="3823335"/>
              <a:ext cx="4111942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556182" y="395668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771448" y="401002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48867" y="404288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选方法的顺序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64589" y="4353878"/>
              <a:ext cx="34427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F⁻¹ 有显式公式就用逆变换；分布能写成混合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就用复合法；只有密度时，找一个形状相近、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容易抽样的试投密度做舍选。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892" y="6028373"/>
              <a:ext cx="10000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复习时动手跑一遍：LCG 周期、参数检验与卡方检验、几何与泊松的逆变换、Beta(2,4) 的舍选、Box–Muller 和多元正态。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统计计算 · 第2章 随机数的产生和检验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tatc_ch2">
  <a:themeElements>
    <a:clrScheme name="statc_ch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tc_ch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tc_ch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2026-09-19T02:37:43Z</dcterms:created>
  <dcterms:modified xsi:type="dcterms:W3CDTF">2026-09-19T02:37:43Z</dcterms:modified>
  <cp:category/>
  <cp:contentStatus/>
</cp:coreProperties>
</file>