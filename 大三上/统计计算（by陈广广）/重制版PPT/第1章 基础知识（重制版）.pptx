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tatc_ch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tatc_ch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8ef0be92d13e8fe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2a49c198f3ee822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2d562c46c24590a.png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16830" cy="3437763"/>
            <a:chOff x="666750" y="1619250"/>
            <a:chExt cx="511683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29715" cy="3429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5751" y="171831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统计计算 · 第1章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基础知识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探索性数据分析、统计量、矩阵分解与统计图形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探索性数据分析与五数总括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统计量与随机过程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967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QR 分解、SVD 与广义逆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0525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直方图、盒形图与 QQ 图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067442" cy="205359"/>
            <a:chOff x="680466" y="6192202"/>
            <a:chExt cx="406744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0674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自学复习版｜据吉林大学《统计计算》第1章课件整理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20264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 探索性数据分析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29526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EDA 的思想、四大主题、五数总括例题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360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 概率统计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常用统计量的公式与计算，随机过程的基本概念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360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 矩阵分解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5277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Schmidt 正交化与 QR 分解、特征值分解、SVD 与推荐算法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8042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 广义逆与投影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加号逆与减号逆、叉积阵、正交投影与最小二乘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360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 统计图形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46485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直方图、核密度估计、盒形图、茎叶图、QQ 图、散点图矩阵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630930"/>
            <a:chOff x="7114222" y="1524000"/>
            <a:chExt cx="4544378" cy="3630930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630930"/>
            </a:xfrm>
            <a:prstGeom prst="roundRect">
              <a:avLst>
                <a:gd name="adj" fmla="val 36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36423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手算一组数据的五数总括，并据此画出盒形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写出均值、方差、变异系数、偏度、峰度的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公式并算出结果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769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Schmidt 正交化求 3 阶矩阵的 QR 分解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375094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688080"/>
              <a:ext cx="3672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AᵀA 的特征值和特征向量手算 SVD，并用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k 项近似矩阵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37197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30911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验证一个矩阵是不是加号逆，读懂正态 QQ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图的弯曲形状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429000" cy="2997517"/>
            <a:chOff x="667512" y="1835468"/>
            <a:chExt cx="342900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探索性数据分析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少做假定，先把数据看清楚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46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EDA 的定义与两个阶段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主要工作与四大主题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例：用五数总括找典型值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探索性数据分析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探索性数据分析：在尽量少的假定下找数据的结构和规律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2487930"/>
            <a:chOff x="533400" y="1524000"/>
            <a:chExt cx="5626418" cy="24879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487930"/>
            </a:xfrm>
            <a:prstGeom prst="roundRect">
              <a:avLst>
                <a:gd name="adj" fmla="val 53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2123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9393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探索性数据分析 EDA（Exploratory Data Analysis）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465070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对调查、观察得到的初步的、杂乱无章的数据，在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尽量少的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先验假定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下进行处理，通过作图、制表、方程拟合、计算特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征量等手段，探索数据的结构和规律的一种数据分析方法。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3368516"/>
              <a:ext cx="48328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参考：Hoaglin 等著，陈忠琏等译，《探索性数据分析》，中国统计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出版社，1998</a:t>
              </a:r>
            </a:p>
          </p:txBody>
        </p:sp>
      </p:grpSp>
      <p:grpSp>
        <p:nvGrpSpPr>
          <p:cNvPr id="31" name="c1-compare-2"/>
          <p:cNvGrpSpPr/>
          <p:nvPr/>
        </p:nvGrpSpPr>
        <p:grpSpPr>
          <a:xfrm>
            <a:off x="533400" y="4202430"/>
            <a:ext cx="5627370" cy="1653540"/>
            <a:chOff x="533400" y="4202430"/>
            <a:chExt cx="5627370" cy="1653540"/>
          </a:xfrm>
        </p:grpSpPr>
        <p:sp>
          <p:nvSpPr>
            <p:cNvPr id="15" name="Rectangle 15"/>
            <p:cNvSpPr/>
            <p:nvPr/>
          </p:nvSpPr>
          <p:spPr>
            <a:xfrm>
              <a:off x="533400" y="4202430"/>
              <a:ext cx="2642235" cy="1653540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335780"/>
              <a:ext cx="47625" cy="138684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3430" y="44367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探索性数据分析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485394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47910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灵活探求线索和证据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518922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51263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少做假定，多看图表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518535" y="4202430"/>
              <a:ext cx="2642235" cy="1653540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528060" y="4335780"/>
              <a:ext cx="47625" cy="13868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58565" y="44367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证实性数据分析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771900" y="485394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30015" y="47910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着重评估现有证据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771900" y="518922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930015" y="512635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先有模型或假设，再做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估计和检验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3185160" y="486727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255500" y="496347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0" name="c2-flow-1"/>
          <p:cNvGrpSpPr/>
          <p:nvPr/>
        </p:nvGrpSpPr>
        <p:grpSpPr>
          <a:xfrm>
            <a:off x="6646545" y="1664018"/>
            <a:ext cx="4830127" cy="3390900"/>
            <a:chOff x="6646545" y="1664018"/>
            <a:chExt cx="4830127" cy="3390900"/>
          </a:xfrm>
        </p:grpSpPr>
        <p:sp>
          <p:nvSpPr>
            <p:cNvPr id="32" name="Freeform 32"/>
            <p:cNvSpPr/>
            <p:nvPr/>
          </p:nvSpPr>
          <p:spPr>
            <a:xfrm>
              <a:off x="7762875" y="2102168"/>
              <a:ext cx="9525" cy="79058"/>
            </a:xfrm>
            <a:custGeom>
              <a:avLst/>
              <a:gdLst/>
              <a:ahLst/>
              <a:cxnLst/>
              <a:rect l="l" t="t" r="r" b="b"/>
              <a:pathLst>
                <a:path w="9525" h="79058">
                  <a:moveTo>
                    <a:pt x="0" y="0"/>
                  </a:moveTo>
                  <a:lnTo>
                    <a:pt x="0" y="790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710488" y="21812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762875" y="2915602"/>
              <a:ext cx="9525" cy="79057"/>
            </a:xfrm>
            <a:custGeom>
              <a:avLst/>
              <a:gdLst/>
              <a:ahLst/>
              <a:cxnLst/>
              <a:rect l="l" t="t" r="r" b="b"/>
              <a:pathLst>
                <a:path w="9525" h="79057">
                  <a:moveTo>
                    <a:pt x="0" y="0"/>
                  </a:moveTo>
                  <a:lnTo>
                    <a:pt x="0" y="7905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710488" y="29946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7762875" y="3537585"/>
              <a:ext cx="9525" cy="175260"/>
            </a:xfrm>
            <a:custGeom>
              <a:avLst/>
              <a:gdLst/>
              <a:ahLst/>
              <a:cxnLst/>
              <a:rect l="l" t="t" r="r" b="b"/>
              <a:pathLst>
                <a:path w="9525" h="175260">
                  <a:moveTo>
                    <a:pt x="0" y="0"/>
                  </a:moveTo>
                  <a:lnTo>
                    <a:pt x="0" y="1752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710488" y="37128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7762875" y="4255770"/>
              <a:ext cx="9525" cy="93345"/>
            </a:xfrm>
            <a:custGeom>
              <a:avLst/>
              <a:gdLst/>
              <a:ahLst/>
              <a:cxnLst/>
              <a:rect l="l" t="t" r="r" b="b"/>
              <a:pathLst>
                <a:path w="9525" h="93345">
                  <a:moveTo>
                    <a:pt x="0" y="0"/>
                  </a:moveTo>
                  <a:lnTo>
                    <a:pt x="0" y="933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710488" y="43491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8880158" y="4753928"/>
              <a:ext cx="258128" cy="9525"/>
            </a:xfrm>
            <a:custGeom>
              <a:avLst/>
              <a:gdLst/>
              <a:ahLst/>
              <a:cxnLst/>
              <a:rect l="l" t="t" r="r" b="b"/>
              <a:pathLst>
                <a:path w="258128" h="9525">
                  <a:moveTo>
                    <a:pt x="0" y="0"/>
                  </a:moveTo>
                  <a:lnTo>
                    <a:pt x="25812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138285" y="47015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880158" y="2600325"/>
              <a:ext cx="2051685" cy="2153602"/>
            </a:xfrm>
            <a:custGeom>
              <a:avLst/>
              <a:gdLst/>
              <a:ahLst/>
              <a:cxnLst/>
              <a:rect l="l" t="t" r="r" b="b"/>
              <a:pathLst>
                <a:path w="2051685" h="2153602">
                  <a:moveTo>
                    <a:pt x="0" y="2153602"/>
                  </a:moveTo>
                  <a:lnTo>
                    <a:pt x="209550" y="2153602"/>
                  </a:lnTo>
                  <a:lnTo>
                    <a:pt x="2051685" y="2153602"/>
                  </a:lnTo>
                  <a:lnTo>
                    <a:pt x="2051685" y="0"/>
                  </a:lnTo>
                  <a:lnTo>
                    <a:pt x="209550" y="0"/>
                  </a:ln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880158" y="25479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46545" y="1664018"/>
              <a:ext cx="2233612" cy="4381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46545" y="2286000"/>
              <a:ext cx="2233612" cy="629602"/>
            </a:xfrm>
            <a:prstGeom prst="roundRect">
              <a:avLst>
                <a:gd name="adj" fmla="val 15129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46545" y="3099435"/>
              <a:ext cx="223361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46545" y="3817620"/>
              <a:ext cx="223361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6646545" y="4453890"/>
              <a:ext cx="2233612" cy="601028"/>
            </a:xfrm>
            <a:custGeom>
              <a:avLst/>
              <a:gdLst/>
              <a:ahLst/>
              <a:cxnLst/>
              <a:rect l="l" t="t" r="r" b="b"/>
              <a:pathLst>
                <a:path w="2233612" h="601028">
                  <a:moveTo>
                    <a:pt x="1116330" y="0"/>
                  </a:moveTo>
                  <a:lnTo>
                    <a:pt x="2233612" y="300038"/>
                  </a:lnTo>
                  <a:lnTo>
                    <a:pt x="1116330" y="601028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243060" y="4534852"/>
              <a:ext cx="2233612" cy="4381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08673" y="179403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一大组或相继几小组数据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62318" y="2402681"/>
              <a:ext cx="18011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探索：作图、制表、算特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征量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94830" y="322945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形成线索、模型或假设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67144" y="394763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证实：估计与检验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25614" y="466486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结果满意？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009238" y="46648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得出结论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947785" y="453771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986076" y="456438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960418" y="358521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983659" y="361188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67" name="c2-callout-2"/>
          <p:cNvGrpSpPr/>
          <p:nvPr/>
        </p:nvGrpSpPr>
        <p:grpSpPr>
          <a:xfrm>
            <a:off x="6464618" y="5303520"/>
            <a:ext cx="5193982" cy="1059180"/>
            <a:chOff x="6464618" y="5303520"/>
            <a:chExt cx="5193982" cy="1059180"/>
          </a:xfrm>
        </p:grpSpPr>
        <p:sp>
          <p:nvSpPr>
            <p:cNvPr id="61" name="Rectangle 61"/>
            <p:cNvSpPr/>
            <p:nvPr/>
          </p:nvSpPr>
          <p:spPr>
            <a:xfrm>
              <a:off x="6464618" y="5303520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669405" y="5733098"/>
              <a:ext cx="200026" cy="200025"/>
              <a:chOff x="6669405" y="5733098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669405" y="57330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709144" y="57775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743859" y="58886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971348" y="5452110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分析一般都要经过探索和证实两个阶段，并交替使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用两类技术，循环反复多次，才能得到满意的结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果。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07305" cy="909257"/>
            <a:chOff x="520446" y="342900"/>
            <a:chExt cx="90073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探索性数据分析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073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EDA 做什么：清洗、描述、比较、总结，围绕四大主题展开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3699535" cy="2529173"/>
            <a:chOff x="533400" y="1533525"/>
            <a:chExt cx="3699535" cy="2529173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61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清洗数据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检查缺失值、录入错误和可疑的极端值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描述数据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计算描述统计量，作图表，查看数据的分布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比较关系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16277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比较数据之间的关系，培养对数据的直觉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5204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81333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对数据的特点和规律作出概括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4511040" y="1524000"/>
            <a:ext cx="7147560" cy="4126707"/>
            <a:chOff x="4511040" y="1524000"/>
            <a:chExt cx="7147560" cy="4126707"/>
          </a:xfrm>
        </p:grpSpPr>
        <p:sp>
          <p:nvSpPr>
            <p:cNvPr id="25" name="Rectangle 25"/>
            <p:cNvSpPr/>
            <p:nvPr/>
          </p:nvSpPr>
          <p:spPr>
            <a:xfrm>
              <a:off x="4516755" y="1524000"/>
              <a:ext cx="714184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8853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5169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7300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24578" y="2335054"/>
              <a:ext cx="90906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耐抗性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Resistance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24766" y="2108359"/>
              <a:ext cx="2939034" cy="92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对数据的不良表现（极端值、奇异点）不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敏感：数据中任意一小部分有很大改变，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或大部分有很小改变，分析或概括只产生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很小的变化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52813" y="2335054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中位数有耐抗性，均值没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516755" y="309657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516755" y="3101340"/>
              <a:ext cx="7141845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24578" y="3463766"/>
              <a:ext cx="12224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残差</a:t>
              </a: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Residuals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24766" y="3237071"/>
              <a:ext cx="2963418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从原始数据中减去概括统计量或所配合模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型的趋势值后剩下的部分：残差 = 原数据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拟合值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52813" y="3237071"/>
              <a:ext cx="180111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回归中 eᵢ = yᵢ − ŷᵢ；残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差图有规律，说明模型漏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掉了结构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516755" y="399954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624578" y="4139089"/>
              <a:ext cx="1190701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重新表述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Re-expression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24766" y="425243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选用合适的尺度（变换）使分析简化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552813" y="425243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右偏数据取对数后更对称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516755" y="4674870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516755" y="4679632"/>
              <a:ext cx="714184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624578" y="4814411"/>
              <a:ext cx="8663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图形启示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Revelation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24766" y="4814411"/>
              <a:ext cx="29390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用图形看出数据、拟合以及残差的行为，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抓住数据中意想不到的特点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52813" y="492775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直方图、盒形图、残差图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516755" y="1524000"/>
              <a:ext cx="7141845" cy="38309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12180" y="1524000"/>
              <a:ext cx="9525" cy="38309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440228" y="1524000"/>
              <a:ext cx="9525" cy="38309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511040" y="5430679"/>
              <a:ext cx="10759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EDA 的四大主题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1" name="Rectangle 5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130" y="5991225"/>
              <a:ext cx="43495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更正：原课件把 Resistance 拼作 Resistnace。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探索性数据分析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耐抗性：一个极端值能把均值拉走，中位数不动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27685" y="1524000"/>
            <a:ext cx="6065520" cy="2539842"/>
            <a:chOff x="527685" y="1524000"/>
            <a:chExt cx="6065520" cy="25398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6382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统计量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0214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原数据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47538" y="1659731"/>
              <a:ext cx="19062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把最大值 100 改成 1000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23679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62.09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95652" y="2108359"/>
              <a:ext cx="6100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143.91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23679" y="255698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20.47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95652" y="2556986"/>
              <a:ext cx="6100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284.39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56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中位数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65838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94674" y="300561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47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19462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454241"/>
              <a:ext cx="150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四分数间距 Fu − Fl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65838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94674" y="34542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05980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71938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00431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7685" y="3843814"/>
              <a:ext cx="3401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数据为下一页 Bendixen 例子中的 11 个生存百分率</a:t>
              </a:r>
            </a:p>
          </p:txBody>
        </p:sp>
      </p:grpSp>
      <p:grpSp>
        <p:nvGrpSpPr>
          <p:cNvPr id="41" name="c1-card-2"/>
          <p:cNvGrpSpPr/>
          <p:nvPr/>
        </p:nvGrpSpPr>
        <p:grpSpPr>
          <a:xfrm>
            <a:off x="533400" y="4210050"/>
            <a:ext cx="6059805" cy="1937385"/>
            <a:chOff x="533400" y="4210050"/>
            <a:chExt cx="6059805" cy="1937385"/>
          </a:xfrm>
        </p:grpSpPr>
        <p:sp>
          <p:nvSpPr>
            <p:cNvPr id="33" name="Rectangle 33"/>
            <p:cNvSpPr/>
            <p:nvPr/>
          </p:nvSpPr>
          <p:spPr>
            <a:xfrm>
              <a:off x="533400" y="4210050"/>
              <a:ext cx="6059805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434340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81050" y="441960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7308" y="44553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86765" y="485965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4880" y="4796790"/>
              <a:ext cx="4768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均值用到每个数据的数值：最大值增加 900，均值就增加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900/11 ≈ 81.8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86765" y="548068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44880" y="5417820"/>
              <a:ext cx="5130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中位数只取排在正中间的那个数：最大值再大，也不改变第 6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小的数</a:t>
              </a:r>
            </a:p>
          </p:txBody>
        </p:sp>
      </p:grpSp>
      <p:grpSp>
        <p:nvGrpSpPr>
          <p:cNvPr id="44" name="c2-image-1"/>
          <p:cNvGrpSpPr/>
          <p:nvPr/>
        </p:nvGrpSpPr>
        <p:grpSpPr>
          <a:xfrm>
            <a:off x="6898005" y="1524000"/>
            <a:ext cx="4760595" cy="3885724"/>
            <a:chOff x="6898005" y="1524000"/>
            <a:chExt cx="4760595" cy="3885724"/>
          </a:xfrm>
        </p:grpSpPr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2"/>
            <a:srcRect l="6" t="0" r="7" b="0"/>
            <a:stretch>
              <a:fillRect/>
            </a:stretch>
          </p:blipFill>
          <p:spPr>
            <a:xfrm>
              <a:off x="6898005" y="1524000"/>
              <a:ext cx="4760595" cy="3570922"/>
            </a:xfrm>
            <a:prstGeom prst="roundRect">
              <a:avLst>
                <a:gd name="adj" fmla="val 3734"/>
              </a:avLst>
            </a:prstGeom>
          </p:spPr>
        </p:pic>
        <p:sp>
          <p:nvSpPr>
            <p:cNvPr id="43" name="TextBox 43"/>
            <p:cNvSpPr txBox="1"/>
            <p:nvPr/>
          </p:nvSpPr>
          <p:spPr>
            <a:xfrm>
              <a:off x="7764843" y="518969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最右边的积木再高，排在正中间的那块也不变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6898005" y="5579745"/>
            <a:ext cx="4760595" cy="782955"/>
            <a:chOff x="6898005" y="5579745"/>
            <a:chExt cx="4760595" cy="782955"/>
          </a:xfrm>
        </p:grpSpPr>
        <p:sp>
          <p:nvSpPr>
            <p:cNvPr id="45" name="Rectangle 45"/>
            <p:cNvSpPr/>
            <p:nvPr/>
          </p:nvSpPr>
          <p:spPr>
            <a:xfrm>
              <a:off x="6898005" y="5579745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102793" y="5871212"/>
              <a:ext cx="200023" cy="200023"/>
              <a:chOff x="7102793" y="5871212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102793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236143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7404735" y="5728335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耐抗统计量：中位数、四分数、四分数间距。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非耐抗统计量：均值、标准差、极差。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探索性数据分析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例：用五数总括找出生存百分率的典型值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1278767" cy="293370"/>
            <a:chOff x="525780" y="1548765"/>
            <a:chExt cx="11278767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12787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Bendixen（1977）给出了需要 24 小时以上呼吸支持（一种强化治疗）的 11 类病人的生存百分率。分析什么百分率是典型的。</a:t>
              </a:r>
            </a:p>
          </p:txBody>
        </p:sp>
      </p:grpSp>
      <p:grpSp>
        <p:nvGrpSpPr>
          <p:cNvPr id="53" name="c1-cells-1"/>
          <p:cNvGrpSpPr/>
          <p:nvPr/>
        </p:nvGrpSpPr>
        <p:grpSpPr>
          <a:xfrm>
            <a:off x="527304" y="2001679"/>
            <a:ext cx="6065901" cy="1185100"/>
            <a:chOff x="527304" y="2001679"/>
            <a:chExt cx="6065901" cy="1185100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238125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x₍ᵢ₎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19175" y="2259330"/>
              <a:ext cx="50673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73152" y="23812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25905" y="2259330"/>
              <a:ext cx="50673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79882" y="23812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032635" y="2259330"/>
              <a:ext cx="50673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186612" y="23812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39365" y="2259330"/>
              <a:ext cx="50673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93342" y="23812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046095" y="2259330"/>
              <a:ext cx="50673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200072" y="23812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552825" y="2259330"/>
              <a:ext cx="50673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06802" y="23812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059555" y="2259330"/>
              <a:ext cx="50673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13532" y="23812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66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566285" y="2259330"/>
              <a:ext cx="50673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720262" y="23812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073015" y="2259330"/>
              <a:ext cx="50673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26992" y="23812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579745" y="2259330"/>
              <a:ext cx="50673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33722" y="23812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86475" y="2259330"/>
              <a:ext cx="50673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93807" y="238125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34459" y="27089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41189" y="27089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47919" y="27089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54649" y="27089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261379" y="27089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68109" y="27089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74839" y="27089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81569" y="27089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88299" y="27089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61711" y="270891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68441" y="270891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746350" y="2001679"/>
              <a:ext cx="1196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3768090" y="21640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2247900" y="286321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128671" y="299608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x₍₃₎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2754630" y="286321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635401" y="299608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x₍₄₎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4781550" y="286321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662321" y="299608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x₍₈₎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5288280" y="286321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169051" y="2996089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x₍₉₎</a:t>
              </a:r>
            </a:p>
          </p:txBody>
        </p:sp>
      </p:grpSp>
      <p:grpSp>
        <p:nvGrpSpPr>
          <p:cNvPr id="71" name="c1-steps-2"/>
          <p:cNvGrpSpPr/>
          <p:nvPr/>
        </p:nvGrpSpPr>
        <p:grpSpPr>
          <a:xfrm>
            <a:off x="533400" y="3309938"/>
            <a:ext cx="5173294" cy="2398775"/>
            <a:chOff x="533400" y="3309938"/>
            <a:chExt cx="5173294" cy="2398775"/>
          </a:xfrm>
        </p:grpSpPr>
        <p:sp>
          <p:nvSpPr>
            <p:cNvPr id="54" name="Rectangle 54"/>
            <p:cNvSpPr/>
            <p:nvPr/>
          </p:nvSpPr>
          <p:spPr>
            <a:xfrm>
              <a:off x="666750" y="3452812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533400" y="330993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7024" y="3383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33400" y="392620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7024" y="40000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533400" y="45434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27024" y="46172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533400" y="516064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27024" y="52344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45261" y="334279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中位数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46404" y="3623310"/>
              <a:ext cx="38114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11，深度 d(M) = (n + 1)/2 = 6，M = x₍₆₎ = 58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45261" y="396001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四分数深度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46404" y="4240530"/>
              <a:ext cx="47602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d(F) = ([d(M)] + 1)/2 = (6 + 1)/2 = 3.5，[ ] 表示取整数部分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45261" y="45762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下四分数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46404" y="4856798"/>
              <a:ext cx="4588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从小端数 3.5 个：Fl = (x₍₃₎ + x₍₄₎)/2 = (45 + 52)/2 = 48.5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45261" y="519350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上四分数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46404" y="5474017"/>
              <a:ext cx="4629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从大端数 3.5 个：Fu = (x₍₉₎ + x₍₈₎)/2 = (75 + 68)/2 = 71.5</a:t>
              </a:r>
            </a:p>
          </p:txBody>
        </p:sp>
      </p:grpSp>
      <p:grpSp>
        <p:nvGrpSpPr>
          <p:cNvPr id="97" name="c2-table-1"/>
          <p:cNvGrpSpPr/>
          <p:nvPr/>
        </p:nvGrpSpPr>
        <p:grpSpPr>
          <a:xfrm>
            <a:off x="6892671" y="1954530"/>
            <a:ext cx="4765929" cy="1977961"/>
            <a:chOff x="6892671" y="1954530"/>
            <a:chExt cx="4765929" cy="1977961"/>
          </a:xfrm>
        </p:grpSpPr>
        <p:sp>
          <p:nvSpPr>
            <p:cNvPr id="72" name="Rectangle 72"/>
            <p:cNvSpPr/>
            <p:nvPr/>
          </p:nvSpPr>
          <p:spPr>
            <a:xfrm>
              <a:off x="6898005" y="1954530"/>
              <a:ext cx="4760595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433310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680132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深度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790747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下端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924222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上端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000494" y="2506980"/>
              <a:ext cx="6850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中位数 M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797252" y="25069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9400222" y="2388870"/>
              <a:ext cx="1114425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863442" y="25069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898005" y="279844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898005" y="2803208"/>
              <a:ext cx="476059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000494" y="2931795"/>
              <a:ext cx="6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四分数 F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708403" y="293179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774593" y="293179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48.5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908068" y="293179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71.5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898005" y="322326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000494" y="33566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极端值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797252" y="33566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863442" y="33566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952493" y="335661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898005" y="1954530"/>
              <a:ext cx="4760595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8300085" y="19545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9385935" y="19545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10520362" y="19545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892671" y="372713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五数总括（按深度排列）</a:t>
              </a:r>
            </a:p>
          </p:txBody>
        </p:sp>
      </p:grpSp>
      <p:grpSp>
        <p:nvGrpSpPr>
          <p:cNvPr id="103" name="c2-callout-2"/>
          <p:cNvGrpSpPr/>
          <p:nvPr/>
        </p:nvGrpSpPr>
        <p:grpSpPr>
          <a:xfrm>
            <a:off x="6898005" y="4070985"/>
            <a:ext cx="4760595" cy="1018222"/>
            <a:chOff x="6898005" y="4070985"/>
            <a:chExt cx="4760595" cy="1018222"/>
          </a:xfrm>
        </p:grpSpPr>
        <p:sp>
          <p:nvSpPr>
            <p:cNvPr id="98" name="Rectangle 98"/>
            <p:cNvSpPr/>
            <p:nvPr/>
          </p:nvSpPr>
          <p:spPr>
            <a:xfrm>
              <a:off x="6898005" y="4070985"/>
              <a:ext cx="4760595" cy="1018222"/>
            </a:xfrm>
            <a:prstGeom prst="roundRect">
              <a:avLst>
                <a:gd name="adj" fmla="val 1122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01" name="Group 101"/>
            <p:cNvGrpSpPr/>
            <p:nvPr/>
          </p:nvGrpSpPr>
          <p:grpSpPr>
            <a:xfrm>
              <a:off x="7102793" y="4480560"/>
              <a:ext cx="200026" cy="200026"/>
              <a:chOff x="7102793" y="4480560"/>
              <a:chExt cx="200026" cy="200026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7102793" y="44805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7169468" y="455834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02" name="TextBox 102"/>
            <p:cNvSpPr txBox="1"/>
            <p:nvPr/>
          </p:nvSpPr>
          <p:spPr>
            <a:xfrm>
              <a:off x="7405116" y="4218146"/>
              <a:ext cx="380161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典型值是 58%；生存率最低 36%、最高 100%，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但其中一半类别的生存率在 48.5%～71.5% 之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间。</a:t>
              </a:r>
            </a:p>
          </p:txBody>
        </p:sp>
      </p:grpSp>
      <p:grpSp>
        <p:nvGrpSpPr>
          <p:cNvPr id="107" name="c2-code-3"/>
          <p:cNvGrpSpPr/>
          <p:nvPr/>
        </p:nvGrpSpPr>
        <p:grpSpPr>
          <a:xfrm>
            <a:off x="6898005" y="5270182"/>
            <a:ext cx="4760595" cy="1072515"/>
            <a:chOff x="6898005" y="5270182"/>
            <a:chExt cx="4760595" cy="1072515"/>
          </a:xfrm>
        </p:grpSpPr>
        <p:sp>
          <p:nvSpPr>
            <p:cNvPr id="104" name="Rectangle 104"/>
            <p:cNvSpPr/>
            <p:nvPr/>
          </p:nvSpPr>
          <p:spPr>
            <a:xfrm>
              <a:off x="6898005" y="5270182"/>
              <a:ext cx="4760595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7026402" y="5422106"/>
              <a:ext cx="19980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R：fivenum() 按同样的规则计算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026021" y="5683568"/>
              <a:ext cx="3751136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&lt;- c(36, 37, 45, 52, 56, 58, 66, 68, 75, 90, 100)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fivenum(x)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[1]  36.0  48.5  58.0  71.5 100.0</a:t>
              </a:r>
            </a:p>
          </p:txBody>
        </p:sp>
      </p:grpSp>
      <p:grpSp>
        <p:nvGrpSpPr>
          <p:cNvPr id="11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8" name="TextBox 10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691253" cy="2997517"/>
            <a:chOff x="667512" y="1835468"/>
            <a:chExt cx="4691253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概率统计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描述数据的统计量，以及随时间变化的随机现象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统计量：位置、分散程度、分布形状、相关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798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Bendixen 数据把公式算一遍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随机过程：到达过程与马尔可夫过程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概率统计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统计量按用途分四类：位置、分散程度、分布形状、相关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3895725" cy="1701165"/>
            <a:chOff x="533400" y="1524000"/>
            <a:chExt cx="3895725" cy="17011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895725" cy="1701165"/>
            </a:xfrm>
            <a:prstGeom prst="roundRect">
              <a:avLst>
                <a:gd name="adj" fmla="val 7839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1369695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7300" y="1769269"/>
              <a:ext cx="1240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统计的三个“必须”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48665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211074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必须为各个领域服务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48665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244602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必须和数据打交道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48665" y="28441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278130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必须和计算机结合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415665"/>
            <a:ext cx="3895725" cy="1898332"/>
            <a:chOff x="533400" y="3415665"/>
            <a:chExt cx="3895725" cy="1898332"/>
          </a:xfrm>
        </p:grpSpPr>
        <p:sp>
          <p:nvSpPr>
            <p:cNvPr id="17" name="Rectangle 17"/>
            <p:cNvSpPr/>
            <p:nvPr/>
          </p:nvSpPr>
          <p:spPr>
            <a:xfrm>
              <a:off x="533400" y="3415665"/>
              <a:ext cx="3895725" cy="1898332"/>
            </a:xfrm>
            <a:prstGeom prst="roundRect">
              <a:avLst>
                <a:gd name="adj" fmla="val 70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549015"/>
              <a:ext cx="47625" cy="163163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36252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1258" y="36609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4002405"/>
              <a:ext cx="3196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 x₁, x₂, …, xₙ；从小到大排序后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记为 x₍₁₎ ≤ x₍₂₎ ≤ … ≤ x₍ₙ₎，称为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次序统计量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4573" y="490585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统计量是只由样本算出、不含未知参数的量。</a:t>
              </a:r>
            </a:p>
          </p:txBody>
        </p:sp>
      </p:grpSp>
      <p:grpSp>
        <p:nvGrpSpPr>
          <p:cNvPr id="68" name="c2-tree-1"/>
          <p:cNvGrpSpPr/>
          <p:nvPr/>
        </p:nvGrpSpPr>
        <p:grpSpPr>
          <a:xfrm>
            <a:off x="4733925" y="1579245"/>
            <a:ext cx="6924675" cy="4727258"/>
            <a:chOff x="4733925" y="1579245"/>
            <a:chExt cx="6924675" cy="4727258"/>
          </a:xfrm>
        </p:grpSpPr>
        <p:sp>
          <p:nvSpPr>
            <p:cNvPr id="24" name="Freeform 24"/>
            <p:cNvSpPr/>
            <p:nvPr/>
          </p:nvSpPr>
          <p:spPr>
            <a:xfrm>
              <a:off x="9210675" y="1765935"/>
              <a:ext cx="419100" cy="483870"/>
            </a:xfrm>
            <a:custGeom>
              <a:avLst/>
              <a:gdLst/>
              <a:ahLst/>
              <a:cxnLst/>
              <a:rect l="l" t="t" r="r" b="b"/>
              <a:pathLst>
                <a:path w="419100" h="483870">
                  <a:moveTo>
                    <a:pt x="0" y="483870"/>
                  </a:moveTo>
                  <a:lnTo>
                    <a:pt x="209550" y="48387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9210675" y="224980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210675" y="2249805"/>
              <a:ext cx="419100" cy="483870"/>
            </a:xfrm>
            <a:custGeom>
              <a:avLst/>
              <a:gdLst/>
              <a:ahLst/>
              <a:cxnLst/>
              <a:rect l="l" t="t" r="r" b="b"/>
              <a:pathLst>
                <a:path w="419100" h="483870">
                  <a:moveTo>
                    <a:pt x="0" y="0"/>
                  </a:moveTo>
                  <a:lnTo>
                    <a:pt x="209550" y="0"/>
                  </a:lnTo>
                  <a:lnTo>
                    <a:pt x="209550" y="483870"/>
                  </a:lnTo>
                  <a:lnTo>
                    <a:pt x="419100" y="48387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210675" y="3217545"/>
              <a:ext cx="419100" cy="725805"/>
            </a:xfrm>
            <a:custGeom>
              <a:avLst/>
              <a:gdLst/>
              <a:ahLst/>
              <a:cxnLst/>
              <a:rect l="l" t="t" r="r" b="b"/>
              <a:pathLst>
                <a:path w="419100" h="725805">
                  <a:moveTo>
                    <a:pt x="0" y="725805"/>
                  </a:moveTo>
                  <a:lnTo>
                    <a:pt x="209550" y="72580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210675" y="3701415"/>
              <a:ext cx="419100" cy="241935"/>
            </a:xfrm>
            <a:custGeom>
              <a:avLst/>
              <a:gdLst/>
              <a:ahLst/>
              <a:cxnLst/>
              <a:rect l="l" t="t" r="r" b="b"/>
              <a:pathLst>
                <a:path w="419100" h="241935">
                  <a:moveTo>
                    <a:pt x="0" y="241935"/>
                  </a:moveTo>
                  <a:lnTo>
                    <a:pt x="209550" y="24193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210675" y="3943350"/>
              <a:ext cx="419100" cy="241935"/>
            </a:xfrm>
            <a:custGeom>
              <a:avLst/>
              <a:gdLst/>
              <a:ahLst/>
              <a:cxnLst/>
              <a:rect l="l" t="t" r="r" b="b"/>
              <a:pathLst>
                <a:path w="419100" h="241935">
                  <a:moveTo>
                    <a:pt x="0" y="0"/>
                  </a:moveTo>
                  <a:lnTo>
                    <a:pt x="209550" y="0"/>
                  </a:lnTo>
                  <a:lnTo>
                    <a:pt x="209550" y="241935"/>
                  </a:lnTo>
                  <a:lnTo>
                    <a:pt x="419100" y="24193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210675" y="3943350"/>
              <a:ext cx="419100" cy="725805"/>
            </a:xfrm>
            <a:custGeom>
              <a:avLst/>
              <a:gdLst/>
              <a:ahLst/>
              <a:cxnLst/>
              <a:rect l="l" t="t" r="r" b="b"/>
              <a:pathLst>
                <a:path w="419100" h="725805">
                  <a:moveTo>
                    <a:pt x="0" y="0"/>
                  </a:moveTo>
                  <a:lnTo>
                    <a:pt x="209550" y="0"/>
                  </a:lnTo>
                  <a:lnTo>
                    <a:pt x="209550" y="725805"/>
                  </a:lnTo>
                  <a:lnTo>
                    <a:pt x="419100" y="72580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210675" y="5153025"/>
              <a:ext cx="419100" cy="241935"/>
            </a:xfrm>
            <a:custGeom>
              <a:avLst/>
              <a:gdLst/>
              <a:ahLst/>
              <a:cxnLst/>
              <a:rect l="l" t="t" r="r" b="b"/>
              <a:pathLst>
                <a:path w="419100" h="241935">
                  <a:moveTo>
                    <a:pt x="0" y="241935"/>
                  </a:moveTo>
                  <a:lnTo>
                    <a:pt x="209550" y="24193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210675" y="5394960"/>
              <a:ext cx="419100" cy="241935"/>
            </a:xfrm>
            <a:custGeom>
              <a:avLst/>
              <a:gdLst/>
              <a:ahLst/>
              <a:cxnLst/>
              <a:rect l="l" t="t" r="r" b="b"/>
              <a:pathLst>
                <a:path w="419100" h="241935">
                  <a:moveTo>
                    <a:pt x="0" y="0"/>
                  </a:moveTo>
                  <a:lnTo>
                    <a:pt x="209550" y="0"/>
                  </a:lnTo>
                  <a:lnTo>
                    <a:pt x="209550" y="241935"/>
                  </a:lnTo>
                  <a:lnTo>
                    <a:pt x="419100" y="24193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210675" y="612076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762750" y="2249805"/>
              <a:ext cx="419100" cy="1935480"/>
            </a:xfrm>
            <a:custGeom>
              <a:avLst/>
              <a:gdLst/>
              <a:ahLst/>
              <a:cxnLst/>
              <a:rect l="l" t="t" r="r" b="b"/>
              <a:pathLst>
                <a:path w="419100" h="1935480">
                  <a:moveTo>
                    <a:pt x="0" y="1935480"/>
                  </a:moveTo>
                  <a:lnTo>
                    <a:pt x="209550" y="193548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762750" y="3943350"/>
              <a:ext cx="419100" cy="241935"/>
            </a:xfrm>
            <a:custGeom>
              <a:avLst/>
              <a:gdLst/>
              <a:ahLst/>
              <a:cxnLst/>
              <a:rect l="l" t="t" r="r" b="b"/>
              <a:pathLst>
                <a:path w="419100" h="241935">
                  <a:moveTo>
                    <a:pt x="0" y="241935"/>
                  </a:moveTo>
                  <a:lnTo>
                    <a:pt x="209550" y="24193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762750" y="4185285"/>
              <a:ext cx="419100" cy="1209675"/>
            </a:xfrm>
            <a:custGeom>
              <a:avLst/>
              <a:gdLst/>
              <a:ahLst/>
              <a:cxnLst/>
              <a:rect l="l" t="t" r="r" b="b"/>
              <a:pathLst>
                <a:path w="419100" h="1209675">
                  <a:moveTo>
                    <a:pt x="0" y="0"/>
                  </a:moveTo>
                  <a:lnTo>
                    <a:pt x="209550" y="0"/>
                  </a:lnTo>
                  <a:lnTo>
                    <a:pt x="209550" y="1209675"/>
                  </a:lnTo>
                  <a:lnTo>
                    <a:pt x="419100" y="12096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762750" y="4185285"/>
              <a:ext cx="419100" cy="1935480"/>
            </a:xfrm>
            <a:custGeom>
              <a:avLst/>
              <a:gdLst/>
              <a:ahLst/>
              <a:cxnLst/>
              <a:rect l="l" t="t" r="r" b="b"/>
              <a:pathLst>
                <a:path w="419100" h="1935480">
                  <a:moveTo>
                    <a:pt x="0" y="0"/>
                  </a:moveTo>
                  <a:lnTo>
                    <a:pt x="209550" y="0"/>
                  </a:lnTo>
                  <a:lnTo>
                    <a:pt x="209550" y="1935480"/>
                  </a:lnTo>
                  <a:lnTo>
                    <a:pt x="419100" y="193548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629775" y="1579245"/>
              <a:ext cx="202882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9629775" y="2063115"/>
              <a:ext cx="202882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629775" y="2546985"/>
              <a:ext cx="202882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181850" y="2063115"/>
              <a:ext cx="2028825" cy="372428"/>
            </a:xfrm>
            <a:prstGeom prst="roundRect">
              <a:avLst>
                <a:gd name="adj" fmla="val 25575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629775" y="3030855"/>
              <a:ext cx="202882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629775" y="3514725"/>
              <a:ext cx="202882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9629775" y="3998595"/>
              <a:ext cx="202882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629775" y="4482465"/>
              <a:ext cx="202882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81850" y="3756660"/>
              <a:ext cx="2028825" cy="372428"/>
            </a:xfrm>
            <a:prstGeom prst="roundRect">
              <a:avLst>
                <a:gd name="adj" fmla="val 25575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629775" y="4966335"/>
              <a:ext cx="202882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629775" y="5450205"/>
              <a:ext cx="202882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181850" y="5208270"/>
              <a:ext cx="2028825" cy="372428"/>
            </a:xfrm>
            <a:prstGeom prst="roundRect">
              <a:avLst>
                <a:gd name="adj" fmla="val 25575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629775" y="5934075"/>
              <a:ext cx="202882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81850" y="5934075"/>
              <a:ext cx="2028825" cy="372428"/>
            </a:xfrm>
            <a:prstGeom prst="roundRect">
              <a:avLst>
                <a:gd name="adj" fmla="val 25575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733925" y="3998595"/>
              <a:ext cx="2028825" cy="372428"/>
            </a:xfrm>
            <a:prstGeom prst="roundRect">
              <a:avLst>
                <a:gd name="adj" fmla="val 25575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718548" y="167687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718548" y="216074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中位数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18548" y="26446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众数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70623" y="216074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位置特征量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18548" y="312848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方差和标准差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718548" y="36123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变异系数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718548" y="409622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极差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718548" y="458009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四分位间距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70623" y="385429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分散程度（变异性）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718548" y="50639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偏度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18548" y="55478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峰度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270623" y="530590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与分布形状有关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718548" y="603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相关系数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270623" y="60317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两个变量之间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822698" y="409622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常用统计量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9194" cy="909257"/>
            <a:chOff x="520446" y="342900"/>
            <a:chExt cx="79291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概率统计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91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位置与分散程度：公式和 Bendixen 数据的计算结果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table-1"/>
          <p:cNvGrpSpPr/>
          <p:nvPr/>
        </p:nvGrpSpPr>
        <p:grpSpPr>
          <a:xfrm>
            <a:off x="533400" y="1524000"/>
            <a:ext cx="11125200" cy="4039553"/>
            <a:chOff x="533400" y="1524000"/>
            <a:chExt cx="11125200" cy="4039553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755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4873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统计量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211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公式或规则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8353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本例结果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87118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55898" y="2108359"/>
              <a:ext cx="16499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(x₁ + x₂ + … + xₙ)/n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07832" y="2108359"/>
              <a:ext cx="12536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683/11 ≈ 62.09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16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212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087118" y="25569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中位数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55898" y="2556986"/>
              <a:ext cx="42346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为奇数取 x₍₍ₙ₊₁₎/₂₎；n 为偶数取中间两个数的平均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44763" y="2556986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x₍₆₎ = 58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8660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87118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众数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55898" y="30056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出现次数最多的值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94279" y="30056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每个值只出现一次，无众数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3147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31946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34542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分散程度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87118" y="34542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55898" y="3454241"/>
              <a:ext cx="2202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s² = Σ(xᵢ − 均值)²/(n − 1)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18287" y="3454241"/>
              <a:ext cx="1632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4190.9/10 ≈ 419.09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7633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087118" y="390382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55898" y="3903821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√s²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117996" y="3903821"/>
              <a:ext cx="633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20.47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2119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4216718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087118" y="43524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变异系数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55898" y="4352449"/>
              <a:ext cx="42305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CV = s/均值，无量纲，用来比较单位或量级不同的数据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65382" y="4352449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0.33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6605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087118" y="480107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755898" y="4801076"/>
              <a:ext cx="12857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x₍ₙ₎ − x₍₁₎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98296" y="4801076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100 − 36 = 64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51101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511492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087118" y="524970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四分位间距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755898" y="5249704"/>
              <a:ext cx="37046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IQR = Q₃ − Q₁（EDA 中用四分数间距 Fu − Fl）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56137" y="5249704"/>
              <a:ext cx="1357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71.5 − 48.5 = 23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1524000"/>
              <a:ext cx="11125200" cy="40395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974532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3643312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205912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4" name="Rectangle 5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130" y="5991225"/>
              <a:ext cx="91420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易错：样本方差除以 n − 1，R 的 var()、sd() 都这样算；除以 n 得到的是二阶中心矩 m₂ ≈ 380.99。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概率统计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分布形状与相关：偏度、峰度、相关系数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8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9"/>
              <p:cNvSpPr txBox="1">
                <a:spLocks noGrp="1"/>
              </p:cNvSpPr>
              <p:nvPr/>
            </p:nvSpPr>
            <p:spPr>
              <a:xfrm>
                <a:off x="533400" y="2301240"/>
                <a:ext cx="5410200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3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0"/>
              <p:cNvSpPr txBox="1">
                <a:spLocks noGrp="1"/>
              </p:cNvSpPr>
              <p:nvPr/>
            </p:nvSpPr>
            <p:spPr>
              <a:xfrm>
                <a:off x="533400" y="2969895"/>
                <a:ext cx="5410200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undOvr"/>
                                  <m:grow m:val="off"/>
                                  <m:subHide m:val="off"/>
                                  <m:supHide m:val="off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  <m:e>
                                  <m:sSup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e>
                                              <m: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x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x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  <m:nary>
                                    <m:naryPr>
                                      <m:chr m:val="∑"/>
                                      <m:limLoc m:val="undOvr"/>
                                      <m:grow m:val="off"/>
                                      <m:subHide m:val="off"/>
                                      <m:supHide m:val="off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=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sup>
                                    <m:e>
                                      <m:sSup>
                                        <m:e>
                                          <m:d>
                                            <m:dPr>
                                              <m:begChr m:val="("/>
                                              <m:sepChr m:val=""/>
                                              <m:endChr m:val=")"/>
                                              <m:grow m:val="on"/>
                                              <m:ctrlP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e>
                                                  <m:r>
                                                    <a:rPr lang="zh-CN" sz="14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y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sz="14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i</m:t>
                                                  </m:r>
                                                </m:sub>
                                              </m:s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zh-CN" sz="14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−</m:t>
                                              </m:r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zh-CN" sz="14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zh-CN" sz="1420" dirty="0">
                                                      <a:solidFill>
                                                        <a:srgbClr val="1F2937"/>
                                                      </a:solidFill>
                                                      <a:latin typeface="Cambria Math"/>
                                                      <a:ea typeface="Cambria Math"/>
                                                      <a:cs typeface="Cambria Math"/>
                                                    </a:rPr>
                                                    <m:t>y</m:t>
                                                  </m:r>
                                                </m:e>
                                              </m:acc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5" name="c1-card-4"/>
          <p:cNvGrpSpPr/>
          <p:nvPr/>
        </p:nvGrpSpPr>
        <p:grpSpPr>
          <a:xfrm>
            <a:off x="533400" y="3748088"/>
            <a:ext cx="5410200" cy="2372678"/>
            <a:chOff x="533400" y="3748088"/>
            <a:chExt cx="5410200" cy="2372678"/>
          </a:xfrm>
        </p:grpSpPr>
        <p:sp>
          <p:nvSpPr>
            <p:cNvPr id="10" name="Rectangle 10"/>
            <p:cNvSpPr/>
            <p:nvPr/>
          </p:nvSpPr>
          <p:spPr>
            <a:xfrm>
              <a:off x="533400" y="3748088"/>
              <a:ext cx="5410200" cy="2372678"/>
            </a:xfrm>
            <a:prstGeom prst="roundRect">
              <a:avLst>
                <a:gd name="adj" fmla="val 56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3881438"/>
              <a:ext cx="47625" cy="21059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9620" y="394620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1060" y="39804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本例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381" y="4306729"/>
              <a:ext cx="429755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m₂ ≈ 380.99，偏度 g₁ ≈ 0.47（略右偏），峰度 g₂ 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−0.71（尾部比正态分布轻）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6248400" y="1524000"/>
            <a:ext cx="5410200" cy="3398520"/>
            <a:chOff x="6248400" y="1524000"/>
            <a:chExt cx="5410200" cy="3398520"/>
          </a:xfrm>
        </p:grpSpPr>
        <p:sp>
          <p:nvSpPr>
            <p:cNvPr id="16" name="Rectangle 16"/>
            <p:cNvSpPr/>
            <p:nvPr/>
          </p:nvSpPr>
          <p:spPr>
            <a:xfrm>
              <a:off x="6248400" y="1524000"/>
              <a:ext cx="5410200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95300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统计量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2003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02982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50889" y="2183130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偏度 g₁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41514" y="2183130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39772" y="2076450"/>
              <a:ext cx="2450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右偏：右侧尾巴长，均值通常大于中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位数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248400" y="25812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48400" y="258603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41514" y="2714625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39772" y="271462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左偏：左侧尾巴长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48400" y="30060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41514" y="3139440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39772" y="313944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大致对称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34299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48400" y="343471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0889" y="3563302"/>
              <a:ext cx="572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峰度 g₂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41514" y="3563302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39772" y="3563302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尾部比正态分布重，极端值更多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3854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41514" y="3988118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39772" y="398811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尾部比正态分布轻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42795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4284345"/>
              <a:ext cx="541020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0889" y="4518660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相关系数 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41514" y="4518660"/>
              <a:ext cx="593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[−1, 1]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39772" y="4411980"/>
              <a:ext cx="25801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|r| 越接近 1，线性关系越强；r = 0 只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说明没有线性关系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1524000"/>
              <a:ext cx="5410200" cy="339756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434262" y="1524000"/>
              <a:ext cx="9525" cy="33975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732520" y="1524000"/>
              <a:ext cx="9525" cy="33975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allout-2"/>
          <p:cNvGrpSpPr/>
          <p:nvPr/>
        </p:nvGrpSpPr>
        <p:grpSpPr>
          <a:xfrm>
            <a:off x="6248400" y="5101590"/>
            <a:ext cx="5410200" cy="1018222"/>
            <a:chOff x="6248400" y="5101590"/>
            <a:chExt cx="5410200" cy="1018222"/>
          </a:xfrm>
        </p:grpSpPr>
        <p:sp>
          <p:nvSpPr>
            <p:cNvPr id="47" name="Rectangle 47"/>
            <p:cNvSpPr/>
            <p:nvPr/>
          </p:nvSpPr>
          <p:spPr>
            <a:xfrm>
              <a:off x="6248400" y="5101590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453188" y="5511165"/>
              <a:ext cx="200026" cy="200026"/>
              <a:chOff x="6453188" y="5511165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453188" y="55111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553200" y="55778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542088" y="56111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755511" y="5249704"/>
              <a:ext cx="434263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偏度、峰度有几种相差修正系数的定义（峰度也有不减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的写法），不同软件结果可能不同，使用前先看清公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76197" cy="909257"/>
            <a:chOff x="520446" y="342900"/>
            <a:chExt cx="62761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概率统计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761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随机过程：依赖于参数 t 的一族随机变量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2103120"/>
            <a:chOff x="533400" y="1524000"/>
            <a:chExt cx="5410200" cy="21031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03120"/>
            </a:xfrm>
            <a:prstGeom prst="roundRect">
              <a:avLst>
                <a:gd name="adj" fmla="val 63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3642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20553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随机过程 {X(t), t ∈ T}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T 是一无限实数集。把依赖于参数 t ∈ T 的一族（无限多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个）随机变量称为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随机过程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，记为 {X(t), t ∈ T}。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68509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628900"/>
              <a:ext cx="264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X(t) 是随机变量，T 叫做参数集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298513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2928938"/>
              <a:ext cx="24743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X(t₁) = x 称为 t₁ 时刻的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28612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3229927"/>
              <a:ext cx="3808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全体 X(t) 的可能取值称为随机过程的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状态空间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3796665"/>
            <a:ext cx="5410200" cy="729615"/>
            <a:chOff x="533400" y="3796665"/>
            <a:chExt cx="5410200" cy="729615"/>
          </a:xfrm>
        </p:grpSpPr>
        <p:sp>
          <p:nvSpPr>
            <p:cNvPr id="20" name="Rectangle 20"/>
            <p:cNvSpPr/>
            <p:nvPr/>
          </p:nvSpPr>
          <p:spPr>
            <a:xfrm>
              <a:off x="533400" y="379666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4061460"/>
              <a:ext cx="200026" cy="200025"/>
              <a:chOff x="738188" y="4061460"/>
              <a:chExt cx="200026" cy="2000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40614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7926" y="41059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12642" y="42170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892" y="3943350"/>
              <a:ext cx="435997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固定 t，X(t) 是一个随机变量；固定一次试验的结果、让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 变化，得到一条随 t 变化的曲线，叫样本路径。</a:t>
              </a:r>
            </a:p>
          </p:txBody>
        </p:sp>
      </p:grpSp>
      <p:grpSp>
        <p:nvGrpSpPr>
          <p:cNvPr id="32" name="c1-card-3"/>
          <p:cNvGrpSpPr/>
          <p:nvPr/>
        </p:nvGrpSpPr>
        <p:grpSpPr>
          <a:xfrm>
            <a:off x="533400" y="4696778"/>
            <a:ext cx="5410200" cy="1443038"/>
            <a:chOff x="533400" y="4696778"/>
            <a:chExt cx="5410200" cy="1443038"/>
          </a:xfrm>
        </p:grpSpPr>
        <p:sp>
          <p:nvSpPr>
            <p:cNvPr id="27" name="Rectangle 27"/>
            <p:cNvSpPr/>
            <p:nvPr/>
          </p:nvSpPr>
          <p:spPr>
            <a:xfrm>
              <a:off x="533400" y="4696778"/>
              <a:ext cx="5410200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830128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8190" y="488346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3961" y="491632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1332" y="5227320"/>
              <a:ext cx="473716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N(t) = 到时刻 t 为止到达银行的顾客数：参数集 T = [0, ∞)，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状态空间 {0, 1, 2, …}；N(3) = 5 表示 t = 3 时刻的状态是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6243447" y="1524000"/>
            <a:ext cx="5415153" cy="1863756"/>
            <a:chOff x="6243447" y="1524000"/>
            <a:chExt cx="5415153" cy="1863756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40744" y="1645444"/>
              <a:ext cx="605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参数集 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8617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状态离散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95966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状态连续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45555" y="2045494"/>
              <a:ext cx="85633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离散（t = 1,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…）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36180" y="2145506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t 天到店的顾客人数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645968" y="214550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t 天中午的气温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25193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2524125"/>
              <a:ext cx="541020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5555" y="2645569"/>
              <a:ext cx="647243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连续（t ≥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36180" y="2745581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到时刻 t 为止到达的顾客数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45968" y="2645569"/>
              <a:ext cx="173964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时刻 t 花粉微粒的位置（布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朗运动）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1524000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434262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544050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43447" y="3197066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按参数集和状态空间是否离散，随机过程可分四类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248400" y="3519488"/>
            <a:ext cx="5410200" cy="2619375"/>
            <a:chOff x="6248400" y="3519488"/>
            <a:chExt cx="5410200" cy="2619375"/>
          </a:xfrm>
        </p:grpSpPr>
        <p:sp>
          <p:nvSpPr>
            <p:cNvPr id="50" name="Rectangle 50"/>
            <p:cNvSpPr/>
            <p:nvPr/>
          </p:nvSpPr>
          <p:spPr>
            <a:xfrm>
              <a:off x="6248400" y="3519488"/>
              <a:ext cx="5410200" cy="2619375"/>
            </a:xfrm>
            <a:prstGeom prst="roundRect">
              <a:avLst>
                <a:gd name="adj" fmla="val 5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57925" y="3652838"/>
              <a:ext cx="47625" cy="23526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73190" y="370617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46558" y="373903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在本课中的位置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481762" y="410718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37782" y="405098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随机服务系统（排队）模拟：顾客到达、服务结束都是随机过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481762" y="466439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37782" y="4608195"/>
              <a:ext cx="46257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MCMC 方法：构造一个马尔可夫链，让它的平稳分布就是要抽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样的分布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概率统计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两类随机过程：到达过程与马尔可夫过程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328862"/>
            <a:chOff x="533400" y="1524000"/>
            <a:chExt cx="5410200" cy="2328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28862"/>
            </a:xfrm>
            <a:prstGeom prst="roundRect">
              <a:avLst>
                <a:gd name="adj" fmla="val 57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6216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939165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274" y="1756410"/>
              <a:ext cx="783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1. 到达过程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7213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关注的是某种“到达”的事件是否发生、何时发生，如顾客到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达银行、电话呼叫到达交换机。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3524" y="2667952"/>
              <a:ext cx="46070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最常用的是泊松过程：N(t) 表示 [0, t] 内到达的次数，到达强度为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λ。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5"/>
                <p:cNvSpPr txBox="1">
                  <a:spLocks noGrp="1"/>
                </p:cNvSpPr>
                <p:nvPr/>
              </p:nvSpPr>
              <p:spPr>
                <a:xfrm>
                  <a:off x="769620" y="3148012"/>
                  <a:ext cx="497586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λt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λt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0" name="c1-card-2"/>
          <p:cNvGrpSpPr/>
          <p:nvPr/>
        </p:nvGrpSpPr>
        <p:grpSpPr>
          <a:xfrm>
            <a:off x="533400" y="4032885"/>
            <a:ext cx="5410200" cy="2227898"/>
            <a:chOff x="533400" y="4032885"/>
            <a:chExt cx="5410200" cy="2227898"/>
          </a:xfrm>
        </p:grpSpPr>
        <p:sp>
          <p:nvSpPr>
            <p:cNvPr id="15" name="Rectangle 15"/>
            <p:cNvSpPr/>
            <p:nvPr/>
          </p:nvSpPr>
          <p:spPr>
            <a:xfrm>
              <a:off x="533400" y="4032885"/>
              <a:ext cx="5410200" cy="2227898"/>
            </a:xfrm>
            <a:prstGeom prst="roundRect">
              <a:avLst>
                <a:gd name="adj" fmla="val 59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166235"/>
              <a:ext cx="47625" cy="19611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9620" y="423100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5060" y="42652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381" y="4592479"/>
              <a:ext cx="460413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2 人/分钟，2 分钟内恰好到达 3 人的概率：λt = 4，P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4³e⁻⁴/3! ≈ 0.195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248400" y="1524000"/>
            <a:ext cx="5410200" cy="1810702"/>
            <a:chOff x="6248400" y="1524000"/>
            <a:chExt cx="5410200" cy="1810702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1810702"/>
            </a:xfrm>
            <a:prstGeom prst="roundRect">
              <a:avLst>
                <a:gd name="adj" fmla="val 73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57925" y="1657350"/>
              <a:ext cx="47625" cy="154400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84620" y="1722120"/>
              <a:ext cx="1205865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4273" y="1756410"/>
              <a:ext cx="10665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2. 马尔可夫过程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77381" y="208264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未来的状态只依赖于当前的状态，而与过去的历史无关（无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后效性）。离散时间、离散状态时称为马尔可夫链：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16"/>
                <p:cNvSpPr txBox="1">
                  <a:spLocks noGrp="1"/>
                </p:cNvSpPr>
                <p:nvPr/>
              </p:nvSpPr>
              <p:spPr>
                <a:xfrm>
                  <a:off x="6484620" y="2648902"/>
                  <a:ext cx="4975860" cy="4705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,…,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6" name="c2-graph-2"/>
          <p:cNvGrpSpPr/>
          <p:nvPr/>
        </p:nvGrpSpPr>
        <p:grpSpPr>
          <a:xfrm>
            <a:off x="7088619" y="4031297"/>
            <a:ext cx="3729762" cy="972185"/>
            <a:chOff x="7088619" y="4031297"/>
            <a:chExt cx="3729762" cy="972185"/>
          </a:xfrm>
        </p:grpSpPr>
        <p:sp>
          <p:nvSpPr>
            <p:cNvPr id="28" name="Freeform 28"/>
            <p:cNvSpPr/>
            <p:nvPr/>
          </p:nvSpPr>
          <p:spPr>
            <a:xfrm>
              <a:off x="8021955" y="4601528"/>
              <a:ext cx="1781175" cy="388302"/>
            </a:xfrm>
            <a:custGeom>
              <a:avLst/>
              <a:gdLst/>
              <a:ahLst/>
              <a:cxnLst/>
              <a:rect l="l" t="t" r="r" b="b"/>
              <a:pathLst>
                <a:path w="1781175" h="388302">
                  <a:moveTo>
                    <a:pt x="0" y="0"/>
                  </a:moveTo>
                  <a:cubicBezTo>
                    <a:pt x="621030" y="372110"/>
                    <a:pt x="1214755" y="388302"/>
                    <a:pt x="1781175" y="48577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778365" y="4601528"/>
              <a:ext cx="106680" cy="89535"/>
            </a:xfrm>
            <a:custGeom>
              <a:avLst/>
              <a:gdLst/>
              <a:ahLst/>
              <a:cxnLst/>
              <a:rect l="l" t="t" r="r" b="b"/>
              <a:pathLst>
                <a:path w="106680" h="89535">
                  <a:moveTo>
                    <a:pt x="106680" y="0"/>
                  </a:moveTo>
                  <a:lnTo>
                    <a:pt x="49530" y="89535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8103870" y="4031297"/>
              <a:ext cx="1781175" cy="389255"/>
            </a:xfrm>
            <a:custGeom>
              <a:avLst/>
              <a:gdLst/>
              <a:ahLst/>
              <a:cxnLst/>
              <a:rect l="l" t="t" r="r" b="b"/>
              <a:pathLst>
                <a:path w="1781175" h="389255">
                  <a:moveTo>
                    <a:pt x="1781175" y="389255"/>
                  </a:moveTo>
                  <a:cubicBezTo>
                    <a:pt x="1160145" y="16510"/>
                    <a:pt x="566420" y="0"/>
                    <a:pt x="0" y="33972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021955" y="4330065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0" y="90488"/>
                  </a:moveTo>
                  <a:lnTo>
                    <a:pt x="57150" y="0"/>
                  </a:lnTo>
                  <a:lnTo>
                    <a:pt x="106680" y="8191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7262812" y="4227195"/>
              <a:ext cx="441960" cy="566738"/>
            </a:xfrm>
            <a:custGeom>
              <a:avLst/>
              <a:gdLst/>
              <a:ahLst/>
              <a:cxnLst/>
              <a:rect l="l" t="t" r="r" b="b"/>
              <a:pathLst>
                <a:path w="441960" h="566738">
                  <a:moveTo>
                    <a:pt x="441960" y="208597"/>
                  </a:moveTo>
                  <a:cubicBezTo>
                    <a:pt x="0" y="0"/>
                    <a:pt x="0" y="566738"/>
                    <a:pt x="441960" y="35814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609522" y="4583430"/>
              <a:ext cx="95250" cy="77153"/>
            </a:xfrm>
            <a:custGeom>
              <a:avLst/>
              <a:gdLst/>
              <a:ahLst/>
              <a:cxnLst/>
              <a:rect l="l" t="t" r="r" b="b"/>
              <a:pathLst>
                <a:path w="95250" h="77153">
                  <a:moveTo>
                    <a:pt x="95250" y="1905"/>
                  </a:moveTo>
                  <a:lnTo>
                    <a:pt x="36195" y="77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10202228" y="4227195"/>
              <a:ext cx="441960" cy="566738"/>
            </a:xfrm>
            <a:custGeom>
              <a:avLst/>
              <a:gdLst/>
              <a:ahLst/>
              <a:cxnLst/>
              <a:rect l="l" t="t" r="r" b="b"/>
              <a:pathLst>
                <a:path w="441960" h="566738">
                  <a:moveTo>
                    <a:pt x="0" y="208597"/>
                  </a:moveTo>
                  <a:cubicBezTo>
                    <a:pt x="441960" y="0"/>
                    <a:pt x="441960" y="566738"/>
                    <a:pt x="0" y="35814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0202228" y="4583430"/>
              <a:ext cx="95250" cy="77153"/>
            </a:xfrm>
            <a:custGeom>
              <a:avLst/>
              <a:gdLst/>
              <a:ahLst/>
              <a:cxnLst/>
              <a:rect l="l" t="t" r="r" b="b"/>
              <a:pathLst>
                <a:path w="95250" h="77153">
                  <a:moveTo>
                    <a:pt x="0" y="1905"/>
                  </a:moveTo>
                  <a:lnTo>
                    <a:pt x="95250" y="0"/>
                  </a:lnTo>
                  <a:lnTo>
                    <a:pt x="59055" y="7715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704772" y="4344352"/>
              <a:ext cx="333375" cy="333375"/>
            </a:xfrm>
            <a:prstGeom prst="ellipse">
              <a:avLst/>
            </a:prstGeom>
            <a:solidFill>
              <a:srgbClr val="2E7D4F"/>
            </a:solidFill>
            <a:ln w="17145">
              <a:solidFill>
                <a:srgbClr val="2E7D4F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9868852" y="4344352"/>
              <a:ext cx="333375" cy="3333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790358" y="44410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54438" y="44410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雨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821102" y="4794885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848782" y="482727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821102" y="4054792"/>
              <a:ext cx="26479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848782" y="4087178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88619" y="446151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608945" y="446151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</p:grpSp>
      <p:grpSp>
        <p:nvGrpSpPr>
          <p:cNvPr id="52" name="c2-callout-3"/>
          <p:cNvGrpSpPr/>
          <p:nvPr/>
        </p:nvGrpSpPr>
        <p:grpSpPr>
          <a:xfrm>
            <a:off x="6248400" y="5505450"/>
            <a:ext cx="5410200" cy="756285"/>
            <a:chOff x="6248400" y="5505450"/>
            <a:chExt cx="5410200" cy="756285"/>
          </a:xfrm>
        </p:grpSpPr>
        <p:sp>
          <p:nvSpPr>
            <p:cNvPr id="47" name="Rectangle 47"/>
            <p:cNvSpPr/>
            <p:nvPr/>
          </p:nvSpPr>
          <p:spPr>
            <a:xfrm>
              <a:off x="6248400" y="550545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453188" y="5783580"/>
              <a:ext cx="200026" cy="200026"/>
              <a:chOff x="6453188" y="5783580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453188" y="57835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519863" y="586136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755511" y="5652611"/>
              <a:ext cx="440575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今天晴，后天晴的概率 = 0.7×0.7 + 0.3×0.4 = 0.61：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只需知道明天的状态，不必知道更早的天气。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13170" cy="3675697"/>
            <a:chOff x="667512" y="1835468"/>
            <a:chExt cx="6313170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5308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矩阵分解：QR 与 SVD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032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把矩阵拆成结构简单的因子，回归、降维、推荐算法都建立在它们之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24668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Schmidt 正交化与 QR 分解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特征值分解与方阵还原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奇异值分解与低秩近似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16428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SVD 推荐算法实例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50632" cy="909257"/>
            <a:chOff x="520446" y="342900"/>
            <a:chExt cx="76506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41" y="407194"/>
              <a:ext cx="2731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矩阵分解：QR 与 SVD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506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QR 分解：A = QR，Q 的列标准正交，R 是上三角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085398" cy="1986915"/>
            <a:chOff x="533400" y="1524000"/>
            <a:chExt cx="5085398" cy="19869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22586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QR 分解（正交-三角分解）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4456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对矩阵 A，若有矩阵 Q 满足 QᵀQ = I，以及上三角矩阵 R，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0"/>
                <p:cNvSpPr txBox="1">
                  <a:spLocks noGrp="1"/>
                </p:cNvSpPr>
                <p:nvPr/>
              </p:nvSpPr>
              <p:spPr>
                <a:xfrm>
                  <a:off x="758190" y="2606992"/>
                  <a:ext cx="4673918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QR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51332" y="3112770"/>
              <a:ext cx="22350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则称为矩阵 A 的 QR 分解。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680460"/>
            <a:ext cx="5085398" cy="2577465"/>
            <a:chOff x="533400" y="3680460"/>
            <a:chExt cx="5085398" cy="2577465"/>
          </a:xfrm>
        </p:grpSpPr>
        <p:sp>
          <p:nvSpPr>
            <p:cNvPr id="16" name="Rectangle 16"/>
            <p:cNvSpPr/>
            <p:nvPr/>
          </p:nvSpPr>
          <p:spPr>
            <a:xfrm>
              <a:off x="533400" y="3680460"/>
              <a:ext cx="5085398" cy="2577465"/>
            </a:xfrm>
            <a:prstGeom prst="roundRect">
              <a:avLst>
                <a:gd name="adj" fmla="val 5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813810"/>
              <a:ext cx="47625" cy="231076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8190" y="386715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5609" y="390001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统计中的用处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332" y="4211002"/>
              <a:ext cx="433511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线性回归的最小二乘解满足正规方程 AᵀAβ = Aᵀy。代入 A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= QR，AᵀA = RᵀR，化为 </a:t>
              </a:r>
              <a:r>
                <a:rPr lang="el-GR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Rβ = Qᵀy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，从下往上回代即可，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不必求 (AᵀA)⁻¹，数值更稳定。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2475" y="5022056"/>
              <a:ext cx="25226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 的 lm() 就用 QR 分解求回归系数。</a:t>
              </a:r>
            </a:p>
          </p:txBody>
        </p:sp>
      </p:grpSp>
      <p:grpSp>
        <p:nvGrpSpPr>
          <p:cNvPr id="40" name="c2-steps-1"/>
          <p:cNvGrpSpPr/>
          <p:nvPr/>
        </p:nvGrpSpPr>
        <p:grpSpPr>
          <a:xfrm>
            <a:off x="5923598" y="1533525"/>
            <a:ext cx="5289422" cy="2476023"/>
            <a:chOff x="5923598" y="1533525"/>
            <a:chExt cx="5289422" cy="2476023"/>
          </a:xfrm>
        </p:grpSpPr>
        <p:sp>
          <p:nvSpPr>
            <p:cNvPr id="23" name="Rectangle 23"/>
            <p:cNvSpPr/>
            <p:nvPr/>
          </p:nvSpPr>
          <p:spPr>
            <a:xfrm>
              <a:off x="6056948" y="1676400"/>
              <a:ext cx="19050" cy="1748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923598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1722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923598" y="211645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17221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923598" y="269938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17221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923598" y="328231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17221" y="3356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35839" y="15649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36982" y="1833086"/>
              <a:ext cx="26496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非奇异，列向量 α₁, α₂, α₃ 线性无关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35839" y="2147888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36982" y="2416016"/>
              <a:ext cx="3034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β₁′ = α₁，β₁ = β₁′/‖β₁′‖₂，β₁ 是单位向量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35839" y="2730818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36982" y="2998946"/>
              <a:ext cx="44140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β₂′ = α₂ − (α₂, β₁)β₁，β₂ = β₂′/‖β₂′‖₂；可验证 (β₁, β₂) = 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35839" y="3313748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36982" y="3581876"/>
              <a:ext cx="487603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β₃′ = α₃ − (α₃, β₁)β₁ − (α₃, β₂)β₂，则 (β₃′, β₁) = (β₃′, β₂) = 0；β₃ =</a:t>
              </a:r>
              <a:br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β₃′/‖β₃′‖₂</a:t>
              </a:r>
            </a:p>
          </p:txBody>
        </p:sp>
      </p:grpSp>
      <p:grpSp>
        <p:nvGrpSpPr>
          <p:cNvPr id="46" name="c2-callout-2"/>
          <p:cNvGrpSpPr/>
          <p:nvPr/>
        </p:nvGrpSpPr>
        <p:grpSpPr>
          <a:xfrm>
            <a:off x="5923598" y="4172902"/>
            <a:ext cx="5735002" cy="729615"/>
            <a:chOff x="5923598" y="4172902"/>
            <a:chExt cx="5735002" cy="729615"/>
          </a:xfrm>
        </p:grpSpPr>
        <p:sp>
          <p:nvSpPr>
            <p:cNvPr id="41" name="Rectangle 41"/>
            <p:cNvSpPr/>
            <p:nvPr/>
          </p:nvSpPr>
          <p:spPr>
            <a:xfrm>
              <a:off x="5923598" y="4172902"/>
              <a:ext cx="5735002" cy="729615"/>
            </a:xfrm>
            <a:prstGeom prst="roundRect">
              <a:avLst>
                <a:gd name="adj" fmla="val 15666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128385" y="4437700"/>
              <a:ext cx="200023" cy="200023"/>
              <a:chOff x="6128385" y="4437700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128385" y="443770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261735" y="45043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431089" y="4318635"/>
              <a:ext cx="476288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每一步减去 αₖ 在已有正交方向上的投影，剩下的部分就与它们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都正交，再单位化。</a:t>
              </a:r>
            </a:p>
          </p:txBody>
        </p:sp>
      </p:grpSp>
      <p:grpSp>
        <p:nvGrpSpPr>
          <p:cNvPr id="52" name="c2-card-3"/>
          <p:cNvGrpSpPr/>
          <p:nvPr/>
        </p:nvGrpSpPr>
        <p:grpSpPr>
          <a:xfrm>
            <a:off x="5923598" y="5072062"/>
            <a:ext cx="5735002" cy="1185862"/>
            <a:chOff x="5923598" y="5072062"/>
            <a:chExt cx="5735002" cy="1185862"/>
          </a:xfrm>
        </p:grpSpPr>
        <p:sp>
          <p:nvSpPr>
            <p:cNvPr id="47" name="Rectangle 47"/>
            <p:cNvSpPr/>
            <p:nvPr/>
          </p:nvSpPr>
          <p:spPr>
            <a:xfrm>
              <a:off x="5923598" y="5072062"/>
              <a:ext cx="5735002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5933122" y="5205412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148388" y="5258752"/>
              <a:ext cx="1106805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21403" y="5291614"/>
              <a:ext cx="9607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验证第 2 列正交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141530" y="5602605"/>
              <a:ext cx="48314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(β₁, β₂′) = (β₁, α₂) − (α₂, β₁)(β₁, β₁) = (α₂, β₁) − (α₂,</a:t>
              </a:r>
              <a:br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β₁)·1 = 0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15248" cy="909257"/>
            <a:chOff x="520446" y="342900"/>
            <a:chExt cx="72152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41" y="407194"/>
              <a:ext cx="2731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矩阵分解：QR 与 SVD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152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把正交化的系数排成矩阵，恰好是上三角矩阵 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161" y="1547336"/>
            <a:ext cx="5316474" cy="558736"/>
            <a:chOff x="526161" y="1547336"/>
            <a:chExt cx="5316474" cy="558736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316474" cy="558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把第 k 步移项：αₖ = (αₖ, β₁)β₁ + … + (αₖ, βₖ₋₁)βₖ₋₁ + ‖βₖ′‖₂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βₖ，系数就是 R 的第 k 列。n = 3 时：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5"/>
              <p:cNvSpPr txBox="1">
                <a:spLocks noGrp="1"/>
              </p:cNvSpPr>
              <p:nvPr/>
            </p:nvSpPr>
            <p:spPr>
              <a:xfrm>
                <a:off x="533400" y="2230755"/>
                <a:ext cx="5842635" cy="6610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d>
                                      <m:dPr>
                                        <m:begChr m:val="‖"/>
                                        <m:sepChr m:val=""/>
                                        <m:endChr m:val="‖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e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β</m:t>
                                            </m:r>
                                          </m:e>
                                          <m:sub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′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α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β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α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β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e>
                                    <m:d>
                                      <m:dPr>
                                        <m:begChr m:val="‖"/>
                                        <m:sepChr m:val=""/>
                                        <m:endChr m:val="‖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e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β</m:t>
                                            </m:r>
                                          </m:e>
                                          <m:sub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′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α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,</m:t>
                                    </m:r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β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e>
                                    <m:d>
                                      <m:dPr>
                                        <m:begChr m:val="‖"/>
                                        <m:sepChr m:val=""/>
                                        <m:endChr m:val="‖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e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β</m:t>
                                            </m:r>
                                          </m:e>
                                          <m:sub>
                                            <m: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3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′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QR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6161" y="3095149"/>
            <a:ext cx="2881884" cy="278702"/>
            <a:chOff x="526161" y="3095149"/>
            <a:chExt cx="2881884" cy="278702"/>
          </a:xfrm>
        </p:grpSpPr>
        <p:sp>
          <p:nvSpPr>
            <p:cNvPr id="10" name="TextBox 10"/>
            <p:cNvSpPr txBox="1"/>
            <p:nvPr/>
          </p:nvSpPr>
          <p:spPr>
            <a:xfrm>
              <a:off x="526161" y="3095149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阶一般情形完全类似，第 n 步为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26"/>
              <p:cNvSpPr txBox="1">
                <a:spLocks noGrp="1"/>
              </p:cNvSpPr>
              <p:nvPr/>
            </p:nvSpPr>
            <p:spPr>
              <a:xfrm>
                <a:off x="533400" y="3497580"/>
                <a:ext cx="5842635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β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β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β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β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/</m:t>
                      </m:r>
                      <m:sSub>
                        <m:e>
                          <m:d>
                            <m:dPr>
                              <m:begChr m:val="‖"/>
                              <m:sepChr m:val=""/>
                              <m:endChr m:val="‖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Sup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β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19" name="c1-callout-5"/>
          <p:cNvGrpSpPr/>
          <p:nvPr/>
        </p:nvGrpSpPr>
        <p:grpSpPr>
          <a:xfrm>
            <a:off x="533400" y="4275772"/>
            <a:ext cx="5842635" cy="756285"/>
            <a:chOff x="533400" y="4275772"/>
            <a:chExt cx="5842635" cy="756285"/>
          </a:xfrm>
        </p:grpSpPr>
        <p:sp>
          <p:nvSpPr>
            <p:cNvPr id="13" name="Rectangle 13"/>
            <p:cNvSpPr/>
            <p:nvPr/>
          </p:nvSpPr>
          <p:spPr>
            <a:xfrm>
              <a:off x="533400" y="4275772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4553903"/>
              <a:ext cx="200026" cy="200026"/>
              <a:chOff x="738188" y="4553903"/>
              <a:chExt cx="200026" cy="2000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5539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8200" y="46205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27088" y="46539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511" y="4422934"/>
              <a:ext cx="482053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可以验证 (βᵢ, βⱼ) = 0（i ≠ j），Q = [β₁, …, βₙ] 是正交矩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阵。原课件把 Schmidt 拼作 Schimidt。</a:t>
              </a:r>
            </a:p>
          </p:txBody>
        </p:sp>
      </p:grpSp>
      <p:grpSp>
        <p:nvGrpSpPr>
          <p:cNvPr id="26" name="c1-callout-6"/>
          <p:cNvGrpSpPr/>
          <p:nvPr/>
        </p:nvGrpSpPr>
        <p:grpSpPr>
          <a:xfrm>
            <a:off x="533400" y="5212080"/>
            <a:ext cx="5842635" cy="1018222"/>
            <a:chOff x="533400" y="5212080"/>
            <a:chExt cx="5842635" cy="1018222"/>
          </a:xfrm>
        </p:grpSpPr>
        <p:sp>
          <p:nvSpPr>
            <p:cNvPr id="20" name="Rectangle 20"/>
            <p:cNvSpPr/>
            <p:nvPr/>
          </p:nvSpPr>
          <p:spPr>
            <a:xfrm>
              <a:off x="533400" y="5212080"/>
              <a:ext cx="5842635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620703"/>
              <a:ext cx="200026" cy="200025"/>
              <a:chOff x="738188" y="5620703"/>
              <a:chExt cx="200026" cy="2000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6207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7926" y="56651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12642" y="57762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511" y="5359241"/>
              <a:ext cx="4901692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把代码第 8 行改成 R[j, k] &lt;- sum(v * Q[, j]) 就是修正的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Schmidt 正交化，理论结果相同，浮点计算中正交性保持得更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好。</a:t>
              </a:r>
            </a:p>
          </p:txBody>
        </p:sp>
      </p:grpSp>
      <p:grpSp>
        <p:nvGrpSpPr>
          <p:cNvPr id="30" name="c2-code-1"/>
          <p:cNvGrpSpPr/>
          <p:nvPr/>
        </p:nvGrpSpPr>
        <p:grpSpPr>
          <a:xfrm>
            <a:off x="6680835" y="1524000"/>
            <a:ext cx="4977765" cy="3344228"/>
            <a:chOff x="6680835" y="1524000"/>
            <a:chExt cx="4977765" cy="3344228"/>
          </a:xfrm>
        </p:grpSpPr>
        <p:sp>
          <p:nvSpPr>
            <p:cNvPr id="27" name="Rectangle 27"/>
            <p:cNvSpPr/>
            <p:nvPr/>
          </p:nvSpPr>
          <p:spPr>
            <a:xfrm>
              <a:off x="6680835" y="1524000"/>
              <a:ext cx="4977765" cy="3344228"/>
            </a:xfrm>
            <a:prstGeom prst="roundRect">
              <a:avLst>
                <a:gd name="adj" fmla="val 284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9232" y="1675924"/>
              <a:ext cx="14964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R：经典 Schmidt 正交化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08851" y="1937385"/>
              <a:ext cx="3604451" cy="28590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gram_schmidt &lt;-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(A)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n &lt;- ncol(A)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Q &lt;- matrix(0, nrow(A), n)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 &lt;- matrix(0, n, n)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1:n)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 &lt;- A[, k]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seq_len(k - 1))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R[j, k] &lt;- sum(A[, k] * Q[, j])  </a:t>
              </a:r>
              <a:r>
                <a:rPr lang="el-GR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(αk, βj)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v &lt;- v - R[j, k] * Q[, j]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R[k, k] &lt;- sqrt(sum(v^2))   </a:t>
              </a:r>
              <a:r>
                <a:rPr lang="el-GR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‖βk′‖₂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Q[, k] &lt;- v / R[k, k]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list(Q = Q, R = R)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7" name="c2-callout-2"/>
          <p:cNvGrpSpPr/>
          <p:nvPr/>
        </p:nvGrpSpPr>
        <p:grpSpPr>
          <a:xfrm>
            <a:off x="6680835" y="5048250"/>
            <a:ext cx="4977765" cy="756285"/>
            <a:chOff x="6680835" y="5048250"/>
            <a:chExt cx="4977765" cy="756285"/>
          </a:xfrm>
        </p:grpSpPr>
        <p:sp>
          <p:nvSpPr>
            <p:cNvPr id="31" name="Rectangle 31"/>
            <p:cNvSpPr/>
            <p:nvPr/>
          </p:nvSpPr>
          <p:spPr>
            <a:xfrm>
              <a:off x="6680835" y="5048250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885623" y="5326380"/>
              <a:ext cx="200026" cy="200025"/>
              <a:chOff x="6885623" y="5326380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885623" y="53263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925361" y="53708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960077" y="54819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7187946" y="5196364"/>
              <a:ext cx="403606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内层循环算的就是 R 的第 k 列上半部分，外层每轮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得到 Q 的一列。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61541" cy="909257"/>
            <a:chOff x="520446" y="342900"/>
            <a:chExt cx="85615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41" y="407194"/>
              <a:ext cx="2731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矩阵分解：QR 与 SVD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615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例：用 Schmidt 正交化分解 3 阶矩阵（一）逐列正交化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29"/>
              <p:cNvSpPr txBox="1">
                <a:spLocks noGrp="1"/>
              </p:cNvSpPr>
              <p:nvPr/>
            </p:nvSpPr>
            <p:spPr>
              <a:xfrm>
                <a:off x="533400" y="1524000"/>
                <a:ext cx="324612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9" name="c1-text-2"/>
          <p:cNvGrpSpPr/>
          <p:nvPr/>
        </p:nvGrpSpPr>
        <p:grpSpPr>
          <a:xfrm>
            <a:off x="526161" y="2527459"/>
            <a:ext cx="2990088" cy="558736"/>
            <a:chOff x="526161" y="2527459"/>
            <a:chExt cx="2990088" cy="558736"/>
          </a:xfrm>
        </p:grpSpPr>
        <p:sp>
          <p:nvSpPr>
            <p:cNvPr id="8" name="TextBox 8"/>
            <p:cNvSpPr txBox="1"/>
            <p:nvPr/>
          </p:nvSpPr>
          <p:spPr>
            <a:xfrm>
              <a:off x="526161" y="2527459"/>
              <a:ext cx="2990088" cy="558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α₁ = (2, 1, 0)ᵀ，α₂ = (1, 2, 1)ᵀ，</a:t>
              </a:r>
              <a:br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α₃ = (0, 1, 4)ᵀ</a:t>
              </a:r>
            </a:p>
          </p:txBody>
        </p:sp>
      </p:grpSp>
      <p:grpSp>
        <p:nvGrpSpPr>
          <p:cNvPr id="15" name="c1-card-3"/>
          <p:cNvGrpSpPr/>
          <p:nvPr/>
        </p:nvGrpSpPr>
        <p:grpSpPr>
          <a:xfrm>
            <a:off x="533400" y="3210878"/>
            <a:ext cx="3246120" cy="2585085"/>
            <a:chOff x="533400" y="3210878"/>
            <a:chExt cx="3246120" cy="2585085"/>
          </a:xfrm>
        </p:grpSpPr>
        <p:sp>
          <p:nvSpPr>
            <p:cNvPr id="10" name="Rectangle 10"/>
            <p:cNvSpPr/>
            <p:nvPr/>
          </p:nvSpPr>
          <p:spPr>
            <a:xfrm>
              <a:off x="533400" y="3210878"/>
              <a:ext cx="3246120" cy="2585085"/>
            </a:xfrm>
            <a:prstGeom prst="roundRect">
              <a:avLst>
                <a:gd name="adj" fmla="val 51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3344228"/>
              <a:ext cx="47625" cy="23183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9620" y="340899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1060" y="34432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381" y="3769519"/>
              <a:ext cx="2656459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β₃ 写成 (−0.22450,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0.44900, 0.37417)ᵀ，它的长度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0.63，不是单位向量。由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β₃′ 单位化应得 (0.26726,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−0.53452, 0.80178)ᵀ。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4078986" y="1524000"/>
            <a:ext cx="7579614" cy="4313492"/>
            <a:chOff x="4078986" y="1524000"/>
            <a:chExt cx="7579614" cy="4313492"/>
          </a:xfrm>
        </p:grpSpPr>
        <p:sp>
          <p:nvSpPr>
            <p:cNvPr id="16" name="Rectangle 16"/>
            <p:cNvSpPr/>
            <p:nvPr/>
          </p:nvSpPr>
          <p:spPr>
            <a:xfrm>
              <a:off x="4084320" y="1524000"/>
              <a:ext cx="7574280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03242" y="16525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2183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0318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86809" y="2076450"/>
              <a:ext cx="9959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β₁′, ‖β₁′‖₂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98389" y="2076450"/>
              <a:ext cx="26938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β₁′ = α₁，‖β₁′‖₂ = √(2² + 1²) = √5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85529" y="2076450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2.2361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84320" y="2367915"/>
              <a:ext cx="75742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084320" y="2372678"/>
              <a:ext cx="757428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186809" y="250126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98389" y="2501265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β₁′/√5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85529" y="2501265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(0.8944, 0.4472, 0)ᵀ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084320" y="2792730"/>
              <a:ext cx="75742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186809" y="2926080"/>
              <a:ext cx="716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(α₂, β₁)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98389" y="2926080"/>
              <a:ext cx="21688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(1×2 + 2×1 + 1×0)/√5 = 4/√5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85529" y="2926080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1.7889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084320" y="3216592"/>
              <a:ext cx="75742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084320" y="3221355"/>
              <a:ext cx="757428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186809" y="334994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β₂′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98389" y="334994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α₂ − (4/5)(2, 1, 0)ᵀ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85529" y="3349942"/>
              <a:ext cx="1264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(−0.6, 1.2, 1)ᵀ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084320" y="3641408"/>
              <a:ext cx="75742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186809" y="3774757"/>
              <a:ext cx="902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‖β₂′‖₂, β₂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398389" y="3774757"/>
              <a:ext cx="27099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√(0.36 + 1.44 + 1) = √2.8 ≈ 1.6733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85529" y="3774757"/>
              <a:ext cx="22414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(−0.3586, 0.7171, 0.5976)ᵀ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084320" y="4066222"/>
              <a:ext cx="75742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084320" y="4070985"/>
              <a:ext cx="757428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186809" y="4198620"/>
              <a:ext cx="764286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(α₃, β₁),</a:t>
              </a:r>
              <a:br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(α₃, β₂)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398389" y="4305300"/>
              <a:ext cx="2047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1/√5；(1×1.2 + 4×1)/√2.8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85529" y="4305300"/>
              <a:ext cx="15145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0.4472；≈ 3.1076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084320" y="4703445"/>
              <a:ext cx="75742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186809" y="483679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β₃′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398389" y="4836795"/>
              <a:ext cx="1983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α₃ − 0.4472β₁ − 3.1076β₂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85529" y="4836795"/>
              <a:ext cx="1619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(5/7, −10/7, 15/7)ᵀ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084320" y="5128260"/>
              <a:ext cx="75742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4084320" y="5133022"/>
              <a:ext cx="757428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186809" y="5261610"/>
              <a:ext cx="902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‖β₃′‖₂, β₃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398389" y="5261610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√(50/7) ≈ 2.6726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85529" y="5261610"/>
              <a:ext cx="2352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(0.2673, −0.5345, 0.8018)ᵀ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084320" y="1524000"/>
              <a:ext cx="7574280" cy="40328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291138" y="1524000"/>
              <a:ext cx="9525" cy="4032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078278" y="1524000"/>
              <a:ext cx="9525" cy="4032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078986" y="5632133"/>
              <a:ext cx="37918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中间量保留 4 位小数；β₃′ ≈ (0.7143, −1.4286, 2.1429)ᵀ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39942" cy="909257"/>
            <a:chOff x="520446" y="342900"/>
            <a:chExt cx="62399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41" y="407194"/>
              <a:ext cx="2731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矩阵分解：QR 与 SVD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399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例（二）：写出 Q 和 R，并验证 QR = A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32"/>
              <p:cNvSpPr txBox="1">
                <a:spLocks noGrp="1"/>
              </p:cNvSpPr>
              <p:nvPr/>
            </p:nvSpPr>
            <p:spPr>
              <a:xfrm>
                <a:off x="533400" y="1524000"/>
                <a:ext cx="4977765" cy="695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0.8944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0.3586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0.2673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0.4472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0.7171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0.5345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0.5976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0.8018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33"/>
              <p:cNvSpPr txBox="1">
                <a:spLocks noGrp="1"/>
              </p:cNvSpPr>
              <p:nvPr/>
            </p:nvSpPr>
            <p:spPr>
              <a:xfrm>
                <a:off x="533400" y="2409825"/>
                <a:ext cx="4977765" cy="695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2.2361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1.7889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0.4472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1.6733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3.1076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2.6726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4" name="c1-card-3"/>
          <p:cNvGrpSpPr/>
          <p:nvPr/>
        </p:nvGrpSpPr>
        <p:grpSpPr>
          <a:xfrm>
            <a:off x="533400" y="3295650"/>
            <a:ext cx="4977765" cy="1316355"/>
            <a:chOff x="533400" y="3295650"/>
            <a:chExt cx="4977765" cy="1316355"/>
          </a:xfrm>
        </p:grpSpPr>
        <p:sp>
          <p:nvSpPr>
            <p:cNvPr id="9" name="Rectangle 9"/>
            <p:cNvSpPr/>
            <p:nvPr/>
          </p:nvSpPr>
          <p:spPr>
            <a:xfrm>
              <a:off x="533400" y="3295650"/>
              <a:ext cx="497776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342900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35052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35409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388239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R 的第 1 行第 2 列写作 1.7885，应为 4/√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≈ 1.78885。</a:t>
              </a:r>
            </a:p>
          </p:txBody>
        </p:sp>
      </p:grpSp>
      <p:grpSp>
        <p:nvGrpSpPr>
          <p:cNvPr id="18" name="c1-code-4"/>
          <p:cNvGrpSpPr/>
          <p:nvPr/>
        </p:nvGrpSpPr>
        <p:grpSpPr>
          <a:xfrm>
            <a:off x="533400" y="4802505"/>
            <a:ext cx="4977765" cy="1516380"/>
            <a:chOff x="533400" y="4802505"/>
            <a:chExt cx="4977765" cy="1516380"/>
          </a:xfrm>
        </p:grpSpPr>
        <p:sp>
          <p:nvSpPr>
            <p:cNvPr id="15" name="Rectangle 15"/>
            <p:cNvSpPr/>
            <p:nvPr/>
          </p:nvSpPr>
          <p:spPr>
            <a:xfrm>
              <a:off x="533400" y="4802505"/>
              <a:ext cx="4977765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4954429"/>
              <a:ext cx="21844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R：用前面的 gram_schmidt() 复核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035" y="5217319"/>
              <a:ext cx="4079494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 &lt;- matrix(c(2,1,0, 1,2,1, 0,1,4), 3, byrow =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res &lt;- gram_schmidt(A)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round(res$R, 4)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round(res$Q %*% res$R - A, 10)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全为 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round(crossprod(res$Q), 10)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单位矩阵</a:t>
              </a:r>
            </a:p>
          </p:txBody>
        </p:sp>
      </p:grpSp>
      <p:grpSp>
        <p:nvGrpSpPr>
          <p:cNvPr id="36" name="c2-steps-1"/>
          <p:cNvGrpSpPr/>
          <p:nvPr/>
        </p:nvGrpSpPr>
        <p:grpSpPr>
          <a:xfrm>
            <a:off x="5815965" y="1533525"/>
            <a:ext cx="5432425" cy="3233071"/>
            <a:chOff x="5815965" y="1533525"/>
            <a:chExt cx="5432425" cy="3233071"/>
          </a:xfrm>
        </p:grpSpPr>
        <p:sp>
          <p:nvSpPr>
            <p:cNvPr id="19" name="Rectangle 19"/>
            <p:cNvSpPr/>
            <p:nvPr/>
          </p:nvSpPr>
          <p:spPr>
            <a:xfrm>
              <a:off x="5949315" y="1676400"/>
              <a:ext cx="19050" cy="2422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815965" y="24193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09589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815965" y="30699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0958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815965" y="395573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09589" y="4029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27445" y="1567815"/>
              <a:ext cx="1462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 的列标准正交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28588" y="1861661"/>
              <a:ext cx="49629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 (β₁, β₃) = 0.8944×0.2673 − 0.4472×0.5345 + 0 ≈ 0，每列长度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1，QᵀQ = 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27445" y="2453640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28588" y="2746534"/>
              <a:ext cx="3846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2.2361β₁ = √5·(2, 1, 0)ᵀ/√5 = (2, 1, 0)ᵀ = α₁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27445" y="3104198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8588" y="3397091"/>
              <a:ext cx="49385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1.7889β₁ + 1.6733β₂ = (1.6, 0.8, 0) + (−0.6, 1.2, 1) = (1, 2,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1)ᵀ = α₂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27445" y="3990022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8588" y="4282916"/>
              <a:ext cx="50198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0.4472β₁ + 3.1076β₂ + 2.6726β₃ = (0.4, 0.2, 0) + (−1.1143,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2.2286, 1.8571) + (0.7143, −1.4286, 2.1429) = (0, 1, 4)ᵀ = α₃</a:t>
              </a:r>
            </a:p>
          </p:txBody>
        </p:sp>
      </p:grpSp>
      <p:grpSp>
        <p:nvGrpSpPr>
          <p:cNvPr id="43" name="c2-callout-2"/>
          <p:cNvGrpSpPr/>
          <p:nvPr/>
        </p:nvGrpSpPr>
        <p:grpSpPr>
          <a:xfrm>
            <a:off x="5815965" y="4945380"/>
            <a:ext cx="5842635" cy="1059180"/>
            <a:chOff x="5815965" y="4945380"/>
            <a:chExt cx="5842635" cy="1059180"/>
          </a:xfrm>
        </p:grpSpPr>
        <p:sp>
          <p:nvSpPr>
            <p:cNvPr id="37" name="Rectangle 37"/>
            <p:cNvSpPr/>
            <p:nvPr/>
          </p:nvSpPr>
          <p:spPr>
            <a:xfrm>
              <a:off x="5815965" y="4945380"/>
              <a:ext cx="5842635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008694" y="5371266"/>
              <a:ext cx="224134" cy="192560"/>
              <a:chOff x="6008694" y="5371266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120765" y="54416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008694" y="53712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120765" y="55194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322695" y="5093970"/>
              <a:ext cx="49110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R 的 qr() 等软件多用 Householder 变换求 QR，Q 的某列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和 R 的对应行可能同时变号（用 Python 复算时 R 的对角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元为 −2.2361、−1.6733、2.6726），乘积 QR 不变。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41" y="407194"/>
              <a:ext cx="2731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矩阵分解：QR 与 SVD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特征值分解：由特征值和特征向量还原方阵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413635"/>
            <a:chOff x="533400" y="1524000"/>
            <a:chExt cx="5410200" cy="2413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13635"/>
            </a:xfrm>
            <a:prstGeom prst="roundRect">
              <a:avLst>
                <a:gd name="adj" fmla="val 55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4693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方阵对角化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653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n 阶方阵 A 的特征向量 V₁, …, Vₙ 线性无关（可以构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成空间的一组基），对应特征值 λ₁, …, λₙ，则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36"/>
                <p:cNvSpPr txBox="1">
                  <a:spLocks noGrp="1"/>
                </p:cNvSpPr>
                <p:nvPr/>
              </p:nvSpPr>
              <p:spPr>
                <a:xfrm>
                  <a:off x="781050" y="2707005"/>
                  <a:ext cx="4953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Σ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Σ=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diag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3208020"/>
              <a:ext cx="4672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简证：QΣ = [λ₁V₁, …, λₙVₙ] = [AV₁, …, AVₙ] = AQ，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两边右乘 Q⁻¹ 即得。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128135"/>
            <a:ext cx="5410200" cy="1937385"/>
            <a:chOff x="533400" y="4128135"/>
            <a:chExt cx="5410200" cy="1937385"/>
          </a:xfrm>
        </p:grpSpPr>
        <p:sp>
          <p:nvSpPr>
            <p:cNvPr id="15" name="Rectangle 15"/>
            <p:cNvSpPr/>
            <p:nvPr/>
          </p:nvSpPr>
          <p:spPr>
            <a:xfrm>
              <a:off x="533400" y="412813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261485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3376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258" y="43734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4714875"/>
              <a:ext cx="46920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原课件说特征值分解“仅适用于方阵，且要求是实对称矩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阵”。A = QΣQ⁻¹ 只要求方阵有 n 个线性无关的特征向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量；实对称是 Q 可取正交矩阵、写成右边求和形式的条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248400" y="1524000"/>
            <a:ext cx="5410200" cy="2413635"/>
            <a:chOff x="6248400" y="1524000"/>
            <a:chExt cx="5410200" cy="2413635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2413635"/>
            </a:xfrm>
            <a:prstGeom prst="roundRect">
              <a:avLst>
                <a:gd name="adj" fmla="val 5525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57950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4656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实对称矩阵：方阵还原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50330" y="2110740"/>
              <a:ext cx="3176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 可取正交矩阵，Q⁻¹ = Qᵀ，于是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37"/>
                <p:cNvSpPr txBox="1">
                  <a:spLocks noGrp="1"/>
                </p:cNvSpPr>
                <p:nvPr/>
              </p:nvSpPr>
              <p:spPr>
                <a:xfrm>
                  <a:off x="6457950" y="2421255"/>
                  <a:ext cx="49911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sSubSup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sSub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sSubSup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+⋯+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sSub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sSubSup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b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6" name="TextBox 26"/>
            <p:cNvSpPr txBox="1"/>
            <p:nvPr/>
          </p:nvSpPr>
          <p:spPr>
            <a:xfrm>
              <a:off x="6450330" y="2922270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特征向量是矩阵的特征，特征值是各特征所占的权重。维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数很大时，按 |λᵢ| 从大到小只保留前 r 项（r ≤ n）来逼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近 A。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248400" y="4128135"/>
            <a:ext cx="5410200" cy="1937385"/>
            <a:chOff x="6248400" y="4128135"/>
            <a:chExt cx="5410200" cy="1937385"/>
          </a:xfrm>
        </p:grpSpPr>
        <p:sp>
          <p:nvSpPr>
            <p:cNvPr id="28" name="Rectangle 28"/>
            <p:cNvSpPr/>
            <p:nvPr/>
          </p:nvSpPr>
          <p:spPr>
            <a:xfrm>
              <a:off x="6248400" y="412813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4261485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96050" y="433768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91160" y="437340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88430" y="4714875"/>
              <a:ext cx="4501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(2 1; 1 2)：λ₁ = 3，v₁ = (1, 1)ᵀ/√2；λ₂ = 1，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v₂ = (1, −1)ᵀ/√2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8430" y="5335905"/>
              <a:ext cx="4568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3·½(1 1; 1 1) + 1·½(1 −1; −1 1)，只取第 1 项得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(1.5 1.5; 1.5 1.5)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82012" cy="909257"/>
            <a:chOff x="520446" y="342900"/>
            <a:chExt cx="79820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41" y="407194"/>
              <a:ext cx="2731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矩阵分解：QR 与 SVD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820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奇异值分解（SVD）：任意 m×n 矩阵都能写成 UΣVᵀ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949073" cy="308039"/>
            <a:chOff x="525399" y="1550194"/>
            <a:chExt cx="994907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94907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特征值分解只对方阵有效，而实际要分析的数据矩阵（如 10 位会员 × 8 部电影的评分表）通常不是方阵。</a:t>
              </a:r>
            </a:p>
          </p:txBody>
        </p:sp>
      </p:grpSp>
      <p:grpSp>
        <p:nvGrpSpPr>
          <p:cNvPr id="20" name="c1-card-1"/>
          <p:cNvGrpSpPr/>
          <p:nvPr/>
        </p:nvGrpSpPr>
        <p:grpSpPr>
          <a:xfrm>
            <a:off x="533400" y="1967865"/>
            <a:ext cx="5626418" cy="4191000"/>
            <a:chOff x="533400" y="1967865"/>
            <a:chExt cx="5626418" cy="419100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626418" cy="4191000"/>
            </a:xfrm>
            <a:prstGeom prst="roundRect">
              <a:avLst>
                <a:gd name="adj" fmla="val 31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392430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554605"/>
              <a:ext cx="4667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对任意矩阵 A ∈ ℝᵐˣⁿ，rank(A) = r，总可以分解为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40"/>
                <p:cNvSpPr txBox="1">
                  <a:spLocks noGrp="1"/>
                </p:cNvSpPr>
                <p:nvPr/>
              </p:nvSpPr>
              <p:spPr>
                <a:xfrm>
                  <a:off x="781050" y="2865120"/>
                  <a:ext cx="5169218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</m:sSub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baseJc m:val="center"/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</m:mcPr>
                                      </m:mc>
                                      <m:mc>
                                        <m:mcPr>
                                          <m:count m:val="1"/>
                                        </m:mcPr>
                                      </m:mc>
                                    </m:mcs>
                                  </m:mPr>
                                  <m:mr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</m:t>
                                      </m:r>
                                    </m:e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diag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Ellipse 15"/>
            <p:cNvSpPr/>
            <p:nvPr/>
          </p:nvSpPr>
          <p:spPr>
            <a:xfrm>
              <a:off x="786765" y="354330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48043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U（m 阶）、V（n 阶）为正交矩阵，列分别叫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左奇异向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右奇异向量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416433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4101465"/>
              <a:ext cx="4453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σ₁ ≥ σ₂ ≥ … ≥ σᵣ &gt; 0 为非零奇异值，从大到小依次排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41"/>
                <p:cNvSpPr txBox="1">
                  <a:spLocks noGrp="1"/>
                </p:cNvSpPr>
                <p:nvPr/>
              </p:nvSpPr>
              <p:spPr>
                <a:xfrm>
                  <a:off x="781050" y="4697730"/>
                  <a:ext cx="5169218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5" name="c2-table-1"/>
          <p:cNvGrpSpPr/>
          <p:nvPr/>
        </p:nvGrpSpPr>
        <p:grpSpPr>
          <a:xfrm>
            <a:off x="6464618" y="1967865"/>
            <a:ext cx="5193982" cy="2244090"/>
            <a:chOff x="6464618" y="1967865"/>
            <a:chExt cx="5193982" cy="2244090"/>
          </a:xfrm>
        </p:grpSpPr>
        <p:sp>
          <p:nvSpPr>
            <p:cNvPr id="21" name="Rectangle 21"/>
            <p:cNvSpPr/>
            <p:nvPr/>
          </p:nvSpPr>
          <p:spPr>
            <a:xfrm>
              <a:off x="6464618" y="1967865"/>
              <a:ext cx="5193982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5732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82864" y="21026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特征值分解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481900" y="2102644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SVD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72441" y="25512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适用矩阵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15441" y="255127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方阵（可对角化）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40456" y="2551271"/>
              <a:ext cx="11243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 m×n 矩阵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64618" y="286035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64618" y="2865120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72441" y="30008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15441" y="3000851"/>
              <a:ext cx="5864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QΣQ⁻¹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740456" y="3000851"/>
              <a:ext cx="4135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UΣVᵀ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64618" y="330898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72441" y="34494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两侧矩阵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15441" y="3449479"/>
              <a:ext cx="10656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 一般不正交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40456" y="3449479"/>
              <a:ext cx="957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U、V 都正交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37576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64618" y="376237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72441" y="38981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对角元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15441" y="389810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特征值，可正可负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740456" y="3898106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奇异值，全部 ≥ 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1967865"/>
              <a:ext cx="5193982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602855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627870" y="19678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2-callout-2"/>
          <p:cNvGrpSpPr/>
          <p:nvPr/>
        </p:nvGrpSpPr>
        <p:grpSpPr>
          <a:xfrm>
            <a:off x="6464618" y="4402455"/>
            <a:ext cx="5193982" cy="782955"/>
            <a:chOff x="6464618" y="4402455"/>
            <a:chExt cx="5193982" cy="782955"/>
          </a:xfrm>
        </p:grpSpPr>
        <p:sp>
          <p:nvSpPr>
            <p:cNvPr id="46" name="Rectangle 46"/>
            <p:cNvSpPr/>
            <p:nvPr/>
          </p:nvSpPr>
          <p:spPr>
            <a:xfrm>
              <a:off x="6464618" y="440245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669405" y="4693922"/>
              <a:ext cx="200023" cy="200023"/>
              <a:chOff x="6669405" y="4693922"/>
              <a:chExt cx="200023" cy="20002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669405" y="469392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802755" y="47605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971348" y="4551045"/>
              <a:ext cx="4196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SVD 可以看作特征值分解的推广：对称半正定矩阵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 SVD 就是它的特征值分解。</a:t>
              </a:r>
            </a:p>
          </p:txBody>
        </p:sp>
      </p:grpSp>
      <p:grpSp>
        <p:nvGrpSpPr>
          <p:cNvPr id="58" name="c2-callout-3"/>
          <p:cNvGrpSpPr/>
          <p:nvPr/>
        </p:nvGrpSpPr>
        <p:grpSpPr>
          <a:xfrm>
            <a:off x="6464618" y="5375910"/>
            <a:ext cx="5193982" cy="782955"/>
            <a:chOff x="6464618" y="5375910"/>
            <a:chExt cx="5193982" cy="782955"/>
          </a:xfrm>
        </p:grpSpPr>
        <p:sp>
          <p:nvSpPr>
            <p:cNvPr id="52" name="Rectangle 52"/>
            <p:cNvSpPr/>
            <p:nvPr/>
          </p:nvSpPr>
          <p:spPr>
            <a:xfrm>
              <a:off x="6464618" y="537591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669405" y="5667375"/>
              <a:ext cx="200026" cy="200025"/>
              <a:chOff x="6669405" y="5667375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669405" y="56673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09144" y="57118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743859" y="58229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971348" y="5524500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应用很广：推荐系统、主成分分析降维、最小二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乘、求广义逆。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2523" cy="909257"/>
            <a:chOff x="520446" y="342900"/>
            <a:chExt cx="65425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41" y="407194"/>
              <a:ext cx="2731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矩阵分解：QR 与 SVD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25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SVD 的推导：Avᵢ = σᵢuᵢ，uᵢᵀA = σᵢvᵢᵀ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5111115" cy="588645"/>
            <a:chOff x="525780" y="1548765"/>
            <a:chExt cx="5111115" cy="58864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111115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= (u₁, …, uₘ)，uᵢ 是 m×1 向量；V = (v₁, …, vₙ)，vᵢ 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n×1 向量。由 A = UΣ_AVᵀ 右乘 V：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44"/>
              <p:cNvSpPr txBox="1">
                <a:spLocks noGrp="1"/>
              </p:cNvSpPr>
              <p:nvPr/>
            </p:nvSpPr>
            <p:spPr>
              <a:xfrm>
                <a:off x="533400" y="2268855"/>
                <a:ext cx="5842635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AV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b>
                          </m:s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,…,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,…,</m:t>
                              </m:r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,…,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</m:d>
                        </m:e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 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,…,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5780" y="2979420"/>
            <a:ext cx="919734" cy="293370"/>
            <a:chOff x="525780" y="2979420"/>
            <a:chExt cx="919734" cy="293370"/>
          </a:xfrm>
        </p:grpSpPr>
        <p:sp>
          <p:nvSpPr>
            <p:cNvPr id="10" name="TextBox 10"/>
            <p:cNvSpPr txBox="1"/>
            <p:nvPr/>
          </p:nvSpPr>
          <p:spPr>
            <a:xfrm>
              <a:off x="525780" y="2979420"/>
              <a:ext cx="9197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左乘 Uᵀ：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45"/>
              <p:cNvSpPr txBox="1">
                <a:spLocks noGrp="1"/>
              </p:cNvSpPr>
              <p:nvPr/>
            </p:nvSpPr>
            <p:spPr>
              <a:xfrm>
                <a:off x="533400" y="3404235"/>
                <a:ext cx="5842635" cy="1495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b>
                          </m:sSub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baseJc m:val="center"/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</m:mcPr>
                                    </m:mc>
                                  </m:mcs>
                                </m:mPr>
                                <m:mr>
                                  <m:e>
                                    <m:sSubSup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</m:sup>
                                    </m:sSubSup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Sup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m</m:t>
                                        </m:r>
                                      </m:sub>
                                      <m:sup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</m:sup>
                                    </m:sSubSup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baseJc m:val="center"/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</m:mcPr>
                                    </m:mc>
                                  </m:mcs>
                                </m:mPr>
                                <m:mr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Sup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r</m:t>
                                        </m:r>
                                      </m:sub>
                                    </m:sSub>
                                    <m:sSubSup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r</m:t>
                                        </m:r>
                                      </m:sub>
                                      <m:sup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sSub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b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sSub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 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,…,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22" name="c1-steps-5"/>
          <p:cNvGrpSpPr/>
          <p:nvPr/>
        </p:nvGrpSpPr>
        <p:grpSpPr>
          <a:xfrm>
            <a:off x="533400" y="5099685"/>
            <a:ext cx="5651393" cy="1228058"/>
            <a:chOff x="533400" y="5099685"/>
            <a:chExt cx="5651393" cy="1228058"/>
          </a:xfrm>
        </p:grpSpPr>
        <p:sp>
          <p:nvSpPr>
            <p:cNvPr id="13" name="Rectangle 13"/>
            <p:cNvSpPr/>
            <p:nvPr/>
          </p:nvSpPr>
          <p:spPr>
            <a:xfrm>
              <a:off x="666750" y="5242560"/>
              <a:ext cx="19050" cy="6505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509968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51735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575024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58240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5133975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手算步骤 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5427821"/>
              <a:ext cx="52387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AᵀA 的非零特征值 λ₁ ≥ … ≥ λᵣ 和单位正交特征向量 vᵢ，σᵢ = √λᵢ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5784532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手算步骤 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6078379"/>
              <a:ext cx="4221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uᵢ = Avᵢ/σᵢ；需要完整的 U、V 时再扩充成标准正交基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680835" y="1524000"/>
            <a:ext cx="4977765" cy="1562100"/>
            <a:chOff x="6680835" y="1524000"/>
            <a:chExt cx="4977765" cy="1562100"/>
          </a:xfrm>
        </p:grpSpPr>
        <p:sp>
          <p:nvSpPr>
            <p:cNvPr id="23" name="Rectangle 23"/>
            <p:cNvSpPr/>
            <p:nvPr/>
          </p:nvSpPr>
          <p:spPr>
            <a:xfrm>
              <a:off x="6680835" y="1524000"/>
              <a:ext cx="4977765" cy="1562100"/>
            </a:xfrm>
            <a:prstGeom prst="roundRect">
              <a:avLst>
                <a:gd name="adj" fmla="val 8537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890385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68744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两式合起来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82765" y="2110740"/>
              <a:ext cx="38794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AᵀAvᵢ = σᵢAᵀuᵢ = σᵢ²vᵢ，AAᵀuᵢ = σᵢ²uᵢ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83908" y="2442686"/>
              <a:ext cx="42801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vᵢ 是 AᵀA 的特征向量，uᵢ 是 AAᵀ 的特征向量，σᵢ² 是两者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共同的非零特征值。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680835" y="3276600"/>
            <a:ext cx="4977765" cy="3039428"/>
            <a:chOff x="6680835" y="3276600"/>
            <a:chExt cx="4977765" cy="3039428"/>
          </a:xfrm>
        </p:grpSpPr>
        <p:sp>
          <p:nvSpPr>
            <p:cNvPr id="29" name="Rectangle 29"/>
            <p:cNvSpPr/>
            <p:nvPr/>
          </p:nvSpPr>
          <p:spPr>
            <a:xfrm>
              <a:off x="6680835" y="3276600"/>
              <a:ext cx="4977765" cy="3039428"/>
            </a:xfrm>
            <a:prstGeom prst="roundRect">
              <a:avLst>
                <a:gd name="adj" fmla="val 43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90360" y="3409950"/>
              <a:ext cx="47625" cy="27727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28485" y="34861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10794" y="35218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直观理解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20865" y="3863340"/>
              <a:ext cx="42633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AᵀA 可以看作矩阵 A 的“平方”，奇异值是“平方”阵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特征根的开方，所以奇异值可看作 A 的“伪特征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值”；左奇异向量可看作 A 的“行特征向量”，右奇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异向量可看作 A 的“列特征向量”。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982529" cy="909257"/>
            <a:chOff x="520446" y="342900"/>
            <a:chExt cx="39825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41" y="407194"/>
              <a:ext cx="2731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矩阵分解：QR 与 SVD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9825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例：手算 2×3 矩阵的 SVD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55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6257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13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5" name="c1-steps-2"/>
          <p:cNvGrpSpPr/>
          <p:nvPr/>
        </p:nvGrpSpPr>
        <p:grpSpPr>
          <a:xfrm>
            <a:off x="533400" y="2328862"/>
            <a:ext cx="5399232" cy="2268380"/>
            <a:chOff x="533400" y="2328862"/>
            <a:chExt cx="5399232" cy="2268380"/>
          </a:xfrm>
        </p:grpSpPr>
        <p:sp>
          <p:nvSpPr>
            <p:cNvPr id="8" name="Rectangle 8"/>
            <p:cNvSpPr/>
            <p:nvPr/>
          </p:nvSpPr>
          <p:spPr>
            <a:xfrm>
              <a:off x="666750" y="2471738"/>
              <a:ext cx="19050" cy="1748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533400" y="232886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7024" y="24026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91179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7024" y="29856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349472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7024" y="3568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407765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41514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5642" y="236124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785" y="2628424"/>
              <a:ext cx="37371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AᵀA 的特征值为 25、9、0，所以 r = 2，σ₁ = 5，σ₂ = 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5642" y="294417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右奇异向量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785" y="3211354"/>
              <a:ext cx="4587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= (1, 1, 0)ᵀ/√2，v₂ = (1, −1, 4)ᵀ/√18，v₃ = (2, −2, −1)ᵀ/3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642" y="352710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验证特征向量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785" y="3794284"/>
              <a:ext cx="3184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AᵀAv₂ = (9, −9, 36)ᵀ/√18 = 9v₂；AᵀAv₃ = 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642" y="411003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左奇异向量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785" y="4377214"/>
              <a:ext cx="4985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u₁ = Av₁/5 = (5, 5)ᵀ/(5√2) = (1, 1)ᵀ/√2；u₂ = Av₂/3 = (1, −1)ᵀ/√2</a:t>
              </a:r>
            </a:p>
          </p:txBody>
        </p:sp>
      </p:grpSp>
      <p:grpSp>
        <p:nvGrpSpPr>
          <p:cNvPr id="29" name="c1-code-3"/>
          <p:cNvGrpSpPr/>
          <p:nvPr/>
        </p:nvGrpSpPr>
        <p:grpSpPr>
          <a:xfrm>
            <a:off x="533400" y="4761548"/>
            <a:ext cx="5410200" cy="1209675"/>
            <a:chOff x="533400" y="4761548"/>
            <a:chExt cx="5410200" cy="1209675"/>
          </a:xfrm>
        </p:grpSpPr>
        <p:sp>
          <p:nvSpPr>
            <p:cNvPr id="26" name="Rectangle 26"/>
            <p:cNvSpPr/>
            <p:nvPr/>
          </p:nvSpPr>
          <p:spPr>
            <a:xfrm>
              <a:off x="533400" y="4761548"/>
              <a:ext cx="5410200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1797" y="4913471"/>
              <a:ext cx="486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R：复核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1797" y="5173504"/>
              <a:ext cx="3911727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 &lt;- matrix(c(3, 2, 2, 2, 3, -2), nrow = 2, byrow =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 &lt;- svd(A)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s$d        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5 3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s$u %*% diag(s$d) %*% t(s$v)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还原出 A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formula56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4457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</m:t>
                      </m:r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formula57"/>
              <p:cNvSpPr txBox="1">
                <a:spLocks noGrp="1"/>
              </p:cNvSpPr>
              <p:nvPr/>
            </p:nvSpPr>
            <p:spPr>
              <a:xfrm>
                <a:off x="6248400" y="2139315"/>
                <a:ext cx="5410200" cy="12687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18</m:t>
                                    </m:r>
                                  </m:e>
                                </m:rad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18</m:t>
                                    </m:r>
                                  </m:e>
                                </m:rad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18</m:t>
                                    </m:r>
                                  </m:e>
                                </m:rad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8" name="c2-card-3"/>
          <p:cNvGrpSpPr/>
          <p:nvPr/>
        </p:nvGrpSpPr>
        <p:grpSpPr>
          <a:xfrm>
            <a:off x="6248400" y="3578542"/>
            <a:ext cx="5410200" cy="1228725"/>
            <a:chOff x="6248400" y="3578542"/>
            <a:chExt cx="5410200" cy="1228725"/>
          </a:xfrm>
        </p:grpSpPr>
        <p:sp>
          <p:nvSpPr>
            <p:cNvPr id="32" name="Rectangle 32"/>
            <p:cNvSpPr/>
            <p:nvPr/>
          </p:nvSpPr>
          <p:spPr>
            <a:xfrm>
              <a:off x="6248400" y="3578542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3711892"/>
              <a:ext cx="47625" cy="9620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3190" y="3765232"/>
              <a:ext cx="73342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57407" y="3798094"/>
              <a:ext cx="5649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秩 1 近似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6332" y="4109085"/>
              <a:ext cx="33497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 = σ₁u₁v₁ᵀ = (2.5 2.5 0; 2.5 2.5 0)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6332" y="4409122"/>
              <a:ext cx="47445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− A₁ = (0.5 −0.5 2; −0.5 0.5 −2)，平方和为 9 = σ₂²</a:t>
              </a:r>
            </a:p>
          </p:txBody>
        </p:sp>
      </p:grpSp>
      <p:grpSp>
        <p:nvGrpSpPr>
          <p:cNvPr id="45" name="c2-callout-4"/>
          <p:cNvGrpSpPr/>
          <p:nvPr/>
        </p:nvGrpSpPr>
        <p:grpSpPr>
          <a:xfrm>
            <a:off x="6248400" y="4976812"/>
            <a:ext cx="5410200" cy="729615"/>
            <a:chOff x="6248400" y="4976812"/>
            <a:chExt cx="5410200" cy="729615"/>
          </a:xfrm>
        </p:grpSpPr>
        <p:sp>
          <p:nvSpPr>
            <p:cNvPr id="39" name="Rectangle 39"/>
            <p:cNvSpPr/>
            <p:nvPr/>
          </p:nvSpPr>
          <p:spPr>
            <a:xfrm>
              <a:off x="6248400" y="497681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453188" y="5241608"/>
              <a:ext cx="200026" cy="200025"/>
              <a:chOff x="6453188" y="5241608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453188" y="5241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492926" y="5286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27642" y="5397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755892" y="5123498"/>
              <a:ext cx="444569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 R 的 svd(A) 复核时，奇异向量可能整体变号，uᵢ 和 vᵢ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同时变号仍是正确分解。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19478" cy="909257"/>
            <a:chOff x="520446" y="342900"/>
            <a:chExt cx="66194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41" y="407194"/>
              <a:ext cx="2731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矩阵分解：QR 与 SVD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194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低秩近似：奇异值下降很快时，只留前 k 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62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sSub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</mc:AlternateContent>
      <p:grpSp>
        <p:nvGrpSpPr>
          <p:cNvPr id="9" name="c1-text-2"/>
          <p:cNvGrpSpPr/>
          <p:nvPr/>
        </p:nvGrpSpPr>
        <p:grpSpPr>
          <a:xfrm>
            <a:off x="525780" y="2158365"/>
            <a:ext cx="5377815" cy="883920"/>
            <a:chOff x="525780" y="2158365"/>
            <a:chExt cx="5377815" cy="883920"/>
          </a:xfrm>
        </p:grpSpPr>
        <p:sp>
          <p:nvSpPr>
            <p:cNvPr id="8" name="TextBox 8"/>
            <p:cNvSpPr txBox="1"/>
            <p:nvPr/>
          </p:nvSpPr>
          <p:spPr>
            <a:xfrm>
              <a:off x="525780" y="2158365"/>
              <a:ext cx="5377815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σ₁, σ₂, …, σᵣ 从大到小排列，且常常下降得非常快。奇异值代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表对应特征的重要程度，因此可以提取矩阵的前 k 个特征来近似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63"/>
              <p:cNvSpPr txBox="1">
                <a:spLocks noGrp="1"/>
              </p:cNvSpPr>
              <p:nvPr/>
            </p:nvSpPr>
            <p:spPr>
              <a:xfrm>
                <a:off x="533400" y="3173730"/>
                <a:ext cx="5626418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sSub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5" name="c1-table-4"/>
          <p:cNvGrpSpPr/>
          <p:nvPr/>
        </p:nvGrpSpPr>
        <p:grpSpPr>
          <a:xfrm>
            <a:off x="533400" y="3783330"/>
            <a:ext cx="5626418" cy="2022158"/>
            <a:chOff x="533400" y="3783330"/>
            <a:chExt cx="5626418" cy="2022158"/>
          </a:xfrm>
        </p:grpSpPr>
        <p:sp>
          <p:nvSpPr>
            <p:cNvPr id="11" name="Rectangle 11"/>
            <p:cNvSpPr/>
            <p:nvPr/>
          </p:nvSpPr>
          <p:spPr>
            <a:xfrm>
              <a:off x="533400" y="3783330"/>
              <a:ext cx="5626418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79512" y="391906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20883" y="391906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需要的数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4367689"/>
              <a:ext cx="8647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完整矩阵 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91980" y="4367689"/>
              <a:ext cx="2369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mn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46758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4680585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4929664"/>
              <a:ext cx="6252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近似 Aₖ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91980" y="4816316"/>
              <a:ext cx="29065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k(m + n + 1)：k 个奇异值和 k 对奇异向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53520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5491639"/>
              <a:ext cx="19411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m = 10，n = 8，k = 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91980" y="5491639"/>
              <a:ext cx="1382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 个数 → 38 个数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83330"/>
              <a:ext cx="5626418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779395" y="378333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2-card-1"/>
          <p:cNvGrpSpPr/>
          <p:nvPr/>
        </p:nvGrpSpPr>
        <p:grpSpPr>
          <a:xfrm>
            <a:off x="6464618" y="1524000"/>
            <a:ext cx="5193982" cy="1868805"/>
            <a:chOff x="6464618" y="1524000"/>
            <a:chExt cx="5193982" cy="1868805"/>
          </a:xfrm>
        </p:grpSpPr>
        <p:sp>
          <p:nvSpPr>
            <p:cNvPr id="26" name="Rectangle 26"/>
            <p:cNvSpPr/>
            <p:nvPr/>
          </p:nvSpPr>
          <p:spPr>
            <a:xfrm>
              <a:off x="6464618" y="1524000"/>
              <a:ext cx="5193982" cy="1868805"/>
            </a:xfrm>
            <a:prstGeom prst="roundRect">
              <a:avLst>
                <a:gd name="adj" fmla="val 71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4142" y="1657350"/>
              <a:ext cx="47625" cy="16021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712268" y="1733550"/>
              <a:ext cx="152495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65977" y="1769269"/>
              <a:ext cx="1416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Eckart–Young 定理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04648" y="2110740"/>
              <a:ext cx="4482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在所有秩不超过 k 的矩阵 B 中，Aₖ 使 ‖A − B‖_F（元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素平方和的平方根）最小，最小值为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ormula64"/>
                <p:cNvSpPr txBox="1">
                  <a:spLocks noGrp="1"/>
                </p:cNvSpPr>
                <p:nvPr/>
              </p:nvSpPr>
              <p:spPr>
                <a:xfrm>
                  <a:off x="6712268" y="2707005"/>
                  <a:ext cx="4736782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+⋯+</m:t>
                            </m:r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9" name="c2-card-2"/>
          <p:cNvGrpSpPr/>
          <p:nvPr/>
        </p:nvGrpSpPr>
        <p:grpSpPr>
          <a:xfrm>
            <a:off x="6464618" y="3583305"/>
            <a:ext cx="5193982" cy="2222182"/>
            <a:chOff x="6464618" y="3583305"/>
            <a:chExt cx="5193982" cy="2222182"/>
          </a:xfrm>
        </p:grpSpPr>
        <p:sp>
          <p:nvSpPr>
            <p:cNvPr id="33" name="Rectangle 33"/>
            <p:cNvSpPr/>
            <p:nvPr/>
          </p:nvSpPr>
          <p:spPr>
            <a:xfrm>
              <a:off x="6464618" y="3583305"/>
              <a:ext cx="5193982" cy="2222182"/>
            </a:xfrm>
            <a:prstGeom prst="roundRect">
              <a:avLst>
                <a:gd name="adj" fmla="val 6001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74168" y="379285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43675" y="382857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保留了多少信息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6548" y="417004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常用奇异值平方的累计占比衡量：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formula65"/>
                <p:cNvSpPr txBox="1">
                  <a:spLocks noGrp="1"/>
                </p:cNvSpPr>
                <p:nvPr/>
              </p:nvSpPr>
              <p:spPr>
                <a:xfrm>
                  <a:off x="6674168" y="4480560"/>
                  <a:ext cx="4774882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+⋯+</m:t>
                            </m:r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+⋯+</m:t>
                            </m:r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8" name="TextBox 38"/>
            <p:cNvSpPr txBox="1"/>
            <p:nvPr/>
          </p:nvSpPr>
          <p:spPr>
            <a:xfrm>
              <a:off x="6666548" y="5114925"/>
              <a:ext cx="42243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占比接近 1 时，Aₖ 已经保留了 A 的主要结构。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93630" cy="909257"/>
            <a:chOff x="520446" y="342900"/>
            <a:chExt cx="64936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41" y="407194"/>
              <a:ext cx="2731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矩阵分解：QR 与 SVD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936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SVD 应用：10 位会员给 8 部电影的评分表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7" name="c1-table-1"/>
          <p:cNvGrpSpPr/>
          <p:nvPr/>
        </p:nvGrpSpPr>
        <p:grpSpPr>
          <a:xfrm>
            <a:off x="528447" y="1524000"/>
            <a:ext cx="7795451" cy="4864131"/>
            <a:chOff x="528447" y="1524000"/>
            <a:chExt cx="7795451" cy="486413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7790498" cy="60007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8378" y="17454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偏好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67523" y="17454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24773" y="17454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宿醉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41332" y="1645444"/>
              <a:ext cx="4381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东成西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20478" y="1645444"/>
              <a:ext cx="4381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大话西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99622" y="1645444"/>
              <a:ext cx="4381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八星报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77815" y="1645444"/>
              <a:ext cx="4381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午夜凶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19546" y="17454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咒怨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36105" y="1645444"/>
              <a:ext cx="4381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林中小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02448" y="17454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寂静岭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8378" y="22455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喜剧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92136" y="22455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至尊宝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34085" y="22455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13230" y="22455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92375" y="22455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71520" y="22455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49712" y="22455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28857" y="22455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08002" y="22455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54278" y="2133600"/>
              <a:ext cx="76009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62758" y="224551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3.75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2519362"/>
              <a:ext cx="77904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2524125"/>
              <a:ext cx="779049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392136" y="26455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小小宝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34085" y="26455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13230" y="26455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992375" y="26455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71520" y="26455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49712" y="26455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28857" y="26455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08002" y="26455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87147" y="26455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2919412"/>
              <a:ext cx="77904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392136" y="30456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流氓兔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434085" y="30456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13230" y="30456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992375" y="30456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771520" y="30456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549712" y="30456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28857" y="30456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08002" y="30456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87147" y="30456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3319462"/>
              <a:ext cx="77904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3324225"/>
              <a:ext cx="779049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426060" y="3445669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霹*雳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434085" y="34456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213230" y="34456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992375" y="34456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771520" y="34456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549712" y="34456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28857" y="34456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08002" y="34456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87147" y="34456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3719512"/>
              <a:ext cx="77904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316749" y="38457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中原不败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434085" y="38457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213230" y="38457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992375" y="38457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771520" y="38457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549712" y="38457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328857" y="38457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108002" y="38457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887147" y="38457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3400" y="4119562"/>
              <a:ext cx="77904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33400" y="4124325"/>
              <a:ext cx="779049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88378" y="42457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恐怖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316749" y="42457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魂飞魄散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2434085" y="42457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3213230" y="42457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992375" y="42457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771520" y="42457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549712" y="42457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995988" y="4133850"/>
              <a:ext cx="76009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163005" y="424576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3.875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108002" y="42457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887147" y="42457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33400" y="4519612"/>
              <a:ext cx="77904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316749" y="46458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荒村少年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2434085" y="46458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3213230" y="46458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3992375" y="46458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4771520" y="46458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549712" y="46458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328857" y="46458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108002" y="46458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887147" y="46458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533400" y="4919662"/>
              <a:ext cx="77904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533400" y="4924425"/>
              <a:ext cx="779049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392136" y="50458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憨豆豆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2434085" y="50458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3213230" y="50458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3992375" y="50458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4771520" y="50458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5549712" y="50458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328857" y="50458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108002" y="50458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887147" y="50458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533400" y="5319712"/>
              <a:ext cx="77904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1392136" y="54459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怪大叔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2434085" y="54459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3213230" y="54459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3992375" y="54459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4771520" y="54459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5549712" y="54459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6328857" y="54459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7108002" y="54459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7887147" y="54459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533400" y="5719762"/>
              <a:ext cx="77904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533400" y="5724525"/>
              <a:ext cx="779049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1316749" y="58459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美味僵尸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2434085" y="58459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3213230" y="58459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3992375" y="58459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4771520" y="58459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5549712" y="58459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6328857" y="58459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7108002" y="58459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7887147" y="58459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533400" y="1524000"/>
              <a:ext cx="7790498" cy="4600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1151572" y="1524000"/>
              <a:ext cx="9525" cy="4600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2086928" y="1524000"/>
              <a:ext cx="9525" cy="4600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9" name="Rectangle 129"/>
            <p:cNvSpPr/>
            <p:nvPr/>
          </p:nvSpPr>
          <p:spPr>
            <a:xfrm>
              <a:off x="2866072" y="1524000"/>
              <a:ext cx="9525" cy="4600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0" name="Rectangle 130"/>
            <p:cNvSpPr/>
            <p:nvPr/>
          </p:nvSpPr>
          <p:spPr>
            <a:xfrm>
              <a:off x="3645218" y="1524000"/>
              <a:ext cx="9525" cy="4600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1" name="Rectangle 131"/>
            <p:cNvSpPr/>
            <p:nvPr/>
          </p:nvSpPr>
          <p:spPr>
            <a:xfrm>
              <a:off x="4424362" y="1524000"/>
              <a:ext cx="9525" cy="4600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5203508" y="1524000"/>
              <a:ext cx="9525" cy="4600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5981700" y="1524000"/>
              <a:ext cx="9525" cy="4600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4" name="Rectangle 134"/>
            <p:cNvSpPr/>
            <p:nvPr/>
          </p:nvSpPr>
          <p:spPr>
            <a:xfrm>
              <a:off x="6760845" y="1524000"/>
              <a:ext cx="9525" cy="4600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5" name="Rectangle 135"/>
            <p:cNvSpPr/>
            <p:nvPr/>
          </p:nvSpPr>
          <p:spPr>
            <a:xfrm>
              <a:off x="7539990" y="1524000"/>
              <a:ext cx="9525" cy="4600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528447" y="6197441"/>
              <a:ext cx="44908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评分矩阵 A 为 10×8；橙色两格是待预测的评分，原表临时填入 3.75、3.875</a:t>
              </a:r>
            </a:p>
          </p:txBody>
        </p:sp>
      </p:grpSp>
      <p:grpSp>
        <p:nvGrpSpPr>
          <p:cNvPr id="144" name="c2-card-1"/>
          <p:cNvGrpSpPr/>
          <p:nvPr/>
        </p:nvGrpSpPr>
        <p:grpSpPr>
          <a:xfrm>
            <a:off x="8628698" y="1524000"/>
            <a:ext cx="3029902" cy="1704022"/>
            <a:chOff x="8628698" y="1524000"/>
            <a:chExt cx="3029902" cy="1704022"/>
          </a:xfrm>
        </p:grpSpPr>
        <p:sp>
          <p:nvSpPr>
            <p:cNvPr id="138" name="Rectangle 138"/>
            <p:cNvSpPr/>
            <p:nvPr/>
          </p:nvSpPr>
          <p:spPr>
            <a:xfrm>
              <a:off x="8628698" y="1524000"/>
              <a:ext cx="3029902" cy="1704022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8638222" y="1657350"/>
              <a:ext cx="47625" cy="143732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0" name="Rectangle 140"/>
            <p:cNvSpPr/>
            <p:nvPr/>
          </p:nvSpPr>
          <p:spPr>
            <a:xfrm>
              <a:off x="8853488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8946159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任务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8846630" y="2054542"/>
              <a:ext cx="24140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至尊宝没看过《寂静岭》，魂飞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魄散没看过《咒怨》，预测他们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会打几分。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8847772" y="2865596"/>
              <a:ext cx="2318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 4 部是喜剧，后 4 部是恐怖片。</a:t>
              </a:r>
            </a:p>
          </p:txBody>
        </p:sp>
      </p:grpSp>
      <p:grpSp>
        <p:nvGrpSpPr>
          <p:cNvPr id="151" name="c2-card-2"/>
          <p:cNvGrpSpPr/>
          <p:nvPr/>
        </p:nvGrpSpPr>
        <p:grpSpPr>
          <a:xfrm>
            <a:off x="8628698" y="3398520"/>
            <a:ext cx="3029902" cy="2951798"/>
            <a:chOff x="8628698" y="3398520"/>
            <a:chExt cx="3029902" cy="2951798"/>
          </a:xfrm>
        </p:grpSpPr>
        <p:sp>
          <p:nvSpPr>
            <p:cNvPr id="145" name="Rectangle 145"/>
            <p:cNvSpPr/>
            <p:nvPr/>
          </p:nvSpPr>
          <p:spPr>
            <a:xfrm>
              <a:off x="8628698" y="3398520"/>
              <a:ext cx="3029902" cy="2951798"/>
            </a:xfrm>
            <a:prstGeom prst="roundRect">
              <a:avLst>
                <a:gd name="adj" fmla="val 45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6" name="Rectangle 146"/>
            <p:cNvSpPr/>
            <p:nvPr/>
          </p:nvSpPr>
          <p:spPr>
            <a:xfrm>
              <a:off x="8638222" y="3531870"/>
              <a:ext cx="47625" cy="268509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7" name="Rectangle 147"/>
            <p:cNvSpPr/>
            <p:nvPr/>
          </p:nvSpPr>
          <p:spPr>
            <a:xfrm>
              <a:off x="8853488" y="358521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8934958" y="361807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填充值说明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8846630" y="3929062"/>
              <a:ext cx="2508313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原课件没说明 3.75、3.875 怎么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来：它们等于该列其余 9 个评分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之和除以 8，按均值应为 3.33、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3.44。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8847772" y="4997291"/>
              <a:ext cx="238683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改填均值，打分为 2.55、4.77，结论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不变。</a:t>
              </a:r>
            </a:p>
          </p:txBody>
        </p:sp>
      </p:grpSp>
      <p:grpSp>
        <p:nvGrpSpPr>
          <p:cNvPr id="1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2" name="TextBox 15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48435" cy="909257"/>
            <a:chOff x="520446" y="342900"/>
            <a:chExt cx="77484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41" y="407194"/>
              <a:ext cx="2731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矩阵分解：QR 与 SVD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484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第一步：求 AᵀA 和它的特征值，奇异值下降得很快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9" name="c1-table-1"/>
          <p:cNvGrpSpPr/>
          <p:nvPr/>
        </p:nvGrpSpPr>
        <p:grpSpPr>
          <a:xfrm>
            <a:off x="528447" y="1524000"/>
            <a:ext cx="6172391" cy="3864006"/>
            <a:chOff x="528447" y="1524000"/>
            <a:chExt cx="6172391" cy="386400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167438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0465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宿醉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9045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东成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7530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6110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八星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4595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午夜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3175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咒怨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1660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林中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0144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寂静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9811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宿醉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31044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16844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01691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87491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13802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99602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84449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69297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88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31933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2324100"/>
              <a:ext cx="616743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9811" y="24455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东成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31044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16844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01691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87491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13802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99602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84449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69297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88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271938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9811" y="2845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31044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16844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129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801691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487491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172339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858139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542986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27834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311943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3124200"/>
              <a:ext cx="616743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9811" y="32456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431044" y="32456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116844" y="32456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801691" y="32456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487491" y="32456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213802" y="32456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99602" y="32456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584449" y="32456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79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69297" y="32456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88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351948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19811" y="3645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午夜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472507" y="36456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158307" y="36456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88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801691" y="36456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528954" y="36456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172339" y="36456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858139" y="36456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542986" y="36456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119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227834" y="36456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125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33400" y="391953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33400" y="3924300"/>
              <a:ext cx="616743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19811" y="40457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咒怨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472507" y="40457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2158307" y="40457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801691" y="40457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114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528954" y="40457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172339" y="40457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858139" y="40457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142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542986" y="40457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124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227834" y="40457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135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33400" y="431958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19811" y="44457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林中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472507" y="44457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84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2158307" y="44457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801691" y="44457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107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3528954" y="44457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79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4172339" y="44457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119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4858139" y="44457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124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542986" y="44457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227834" y="44457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122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533400" y="471963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533400" y="4724400"/>
              <a:ext cx="616743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19811" y="48458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寂静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472507" y="48458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88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2158307" y="48458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88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2801691" y="48458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112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3528954" y="48458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88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4172339" y="48458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125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4858139" y="48458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135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542986" y="48458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122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227834" y="48458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134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533400" y="1524000"/>
              <a:ext cx="6167438" cy="36004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1213485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1899285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2584132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3269932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3954780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4640580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5325428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6011228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528447" y="5197316"/>
              <a:ext cx="40878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AᵀA 为 8×8 对称矩阵，表中取整显示（如咒怨行咒怨列实为 142.02）</a:t>
              </a:r>
            </a:p>
          </p:txBody>
        </p:sp>
      </p:grpSp>
      <p:grpSp>
        <p:nvGrpSpPr>
          <p:cNvPr id="165" name="c2-table-1"/>
          <p:cNvGrpSpPr/>
          <p:nvPr/>
        </p:nvGrpSpPr>
        <p:grpSpPr>
          <a:xfrm>
            <a:off x="7000684" y="1524000"/>
            <a:ext cx="4657916" cy="4037362"/>
            <a:chOff x="7000684" y="1524000"/>
            <a:chExt cx="4657916" cy="4037362"/>
          </a:xfrm>
        </p:grpSpPr>
        <p:sp>
          <p:nvSpPr>
            <p:cNvPr id="110" name="Rectangle 110"/>
            <p:cNvSpPr/>
            <p:nvPr/>
          </p:nvSpPr>
          <p:spPr>
            <a:xfrm>
              <a:off x="7005638" y="1524000"/>
              <a:ext cx="4652962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7359081" y="1645444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8086929" y="164544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特征值 λᵢ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9405189" y="164544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奇异值 σᵢ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072554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累计占比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7339291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8175132" y="204549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879.71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9098280" y="1933575"/>
              <a:ext cx="129921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9534855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29.66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0804700" y="204549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84.9%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7005638" y="231933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7005638" y="2324100"/>
              <a:ext cx="465296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7339291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8175132" y="244554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130.80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9098280" y="2333625"/>
              <a:ext cx="129921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9534855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11.44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0804700" y="244554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97.5%</a:t>
              </a:r>
            </a:p>
          </p:txBody>
        </p:sp>
        <p:sp>
          <p:nvSpPr>
            <p:cNvPr id="127" name="Rectangle 127"/>
            <p:cNvSpPr/>
            <p:nvPr/>
          </p:nvSpPr>
          <p:spPr>
            <a:xfrm>
              <a:off x="7005638" y="271938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7339291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8216595" y="28455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12.17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9576318" y="28455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3.49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10804700" y="284559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98.7%</a:t>
              </a:r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7005638" y="311943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7005638" y="3124200"/>
              <a:ext cx="465296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7339291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8258058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6.45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9576318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2.54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10804700" y="324564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99.3%</a:t>
              </a:r>
            </a:p>
          </p:txBody>
        </p:sp>
        <p:sp>
          <p:nvSpPr>
            <p:cNvPr id="138" name="Rectangle 138"/>
            <p:cNvSpPr/>
            <p:nvPr/>
          </p:nvSpPr>
          <p:spPr>
            <a:xfrm>
              <a:off x="7005638" y="351948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7339291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8258058" y="36456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3.92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9576318" y="36456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1.98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10804700" y="364569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99.7%</a:t>
              </a:r>
            </a:p>
          </p:txBody>
        </p:sp>
        <p:sp>
          <p:nvSpPr>
            <p:cNvPr id="143" name="Rectangle 143"/>
            <p:cNvSpPr/>
            <p:nvPr/>
          </p:nvSpPr>
          <p:spPr>
            <a:xfrm>
              <a:off x="7005638" y="391953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4" name="Rectangle 144"/>
            <p:cNvSpPr/>
            <p:nvPr/>
          </p:nvSpPr>
          <p:spPr>
            <a:xfrm>
              <a:off x="7005638" y="3924300"/>
              <a:ext cx="465296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5" name="TextBox 145"/>
            <p:cNvSpPr txBox="1"/>
            <p:nvPr/>
          </p:nvSpPr>
          <p:spPr>
            <a:xfrm>
              <a:off x="7339291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8258058" y="40457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2.10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9576318" y="40457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1.45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10804700" y="404574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99.9%</a:t>
              </a:r>
            </a:p>
          </p:txBody>
        </p:sp>
        <p:sp>
          <p:nvSpPr>
            <p:cNvPr id="149" name="Rectangle 149"/>
            <p:cNvSpPr/>
            <p:nvPr/>
          </p:nvSpPr>
          <p:spPr>
            <a:xfrm>
              <a:off x="7005638" y="431958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0" name="TextBox 150"/>
            <p:cNvSpPr txBox="1"/>
            <p:nvPr/>
          </p:nvSpPr>
          <p:spPr>
            <a:xfrm>
              <a:off x="7339291" y="4445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8258058" y="44457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0.74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9576318" y="44457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0.86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10763237" y="4445794"/>
              <a:ext cx="539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99.98%</a:t>
              </a:r>
            </a:p>
          </p:txBody>
        </p:sp>
        <p:sp>
          <p:nvSpPr>
            <p:cNvPr id="154" name="Rectangle 154"/>
            <p:cNvSpPr/>
            <p:nvPr/>
          </p:nvSpPr>
          <p:spPr>
            <a:xfrm>
              <a:off x="7005638" y="471963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5" name="Rectangle 155"/>
            <p:cNvSpPr/>
            <p:nvPr/>
          </p:nvSpPr>
          <p:spPr>
            <a:xfrm>
              <a:off x="7005638" y="4724400"/>
              <a:ext cx="465296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6" name="TextBox 156"/>
            <p:cNvSpPr txBox="1"/>
            <p:nvPr/>
          </p:nvSpPr>
          <p:spPr>
            <a:xfrm>
              <a:off x="7339291" y="48458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8258058" y="48458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0.19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9576318" y="48458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0.44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10846163" y="4845844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160" name="Rectangle 160"/>
            <p:cNvSpPr/>
            <p:nvPr/>
          </p:nvSpPr>
          <p:spPr>
            <a:xfrm>
              <a:off x="7005638" y="1524000"/>
              <a:ext cx="4652962" cy="36004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61" name="Rectangle 161"/>
            <p:cNvSpPr/>
            <p:nvPr/>
          </p:nvSpPr>
          <p:spPr>
            <a:xfrm>
              <a:off x="7765732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2" name="Rectangle 162"/>
            <p:cNvSpPr/>
            <p:nvPr/>
          </p:nvSpPr>
          <p:spPr>
            <a:xfrm>
              <a:off x="9083992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3" name="Rectangle 163"/>
            <p:cNvSpPr/>
            <p:nvPr/>
          </p:nvSpPr>
          <p:spPr>
            <a:xfrm>
              <a:off x="10402252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7000684" y="5197316"/>
              <a:ext cx="4347337" cy="364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累计占比 = 前 i 个 σ² 之和 ÷ 全部 σ² 之和（1036.08）；前 2 个已占 97.5%，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本例提取前 2 个特征</a:t>
              </a:r>
            </a:p>
          </p:txBody>
        </p:sp>
      </p:grpSp>
      <p:grpSp>
        <p:nvGrpSpPr>
          <p:cNvPr id="17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66" name="Rectangle 16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70" name="Group 170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167" name="Freeform 167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8" name="Freeform 168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9" name="Freeform 169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71" name="TextBox 171"/>
            <p:cNvSpPr txBox="1"/>
            <p:nvPr/>
          </p:nvSpPr>
          <p:spPr>
            <a:xfrm>
              <a:off x="1040892" y="6028373"/>
              <a:ext cx="78102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更正：原课件列出的非零特征值只有 {879.7, 130.79, 12.17, 6.4, 3.9}，实际 8 个都不为 0。</a:t>
              </a:r>
            </a:p>
          </p:txBody>
        </p:sp>
      </p:grpSp>
      <p:grpSp>
        <p:nvGrpSpPr>
          <p:cNvPr id="1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3" name="TextBox 17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41" y="407194"/>
              <a:ext cx="2731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矩阵分解：QR 与 SVD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右奇异向量描述电影，左奇异向量描述会员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4" name="c1-table-1"/>
          <p:cNvGrpSpPr/>
          <p:nvPr/>
        </p:nvGrpSpPr>
        <p:grpSpPr>
          <a:xfrm>
            <a:off x="528447" y="1524000"/>
            <a:ext cx="5090351" cy="4037362"/>
            <a:chOff x="528447" y="1524000"/>
            <a:chExt cx="5090351" cy="40373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028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7801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片名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12171" y="1645444"/>
              <a:ext cx="8354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v₁（29.7）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11369" y="1645444"/>
              <a:ext cx="8354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v₂（11.4）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1623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得分均值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0288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喜剧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78013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宿醉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58311" y="20454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57508" y="20454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0.39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51931" y="20454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319338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324100"/>
              <a:ext cx="508539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27239" y="2445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东成西就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58311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57508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51931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2719388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427239" y="2845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大话西游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58311" y="28455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57508" y="28455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51931" y="28455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3.70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119438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124200"/>
              <a:ext cx="508539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427239" y="32456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八星报喜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58311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57508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51931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519488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0288" y="3645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恐怖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27239" y="36456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午夜凶铃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658311" y="36456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16045" y="36456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51931" y="36456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3919538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3924300"/>
              <a:ext cx="508539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578013" y="40457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咒怨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658311" y="40457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816045" y="40457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−0.37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51931" y="40457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3.49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319588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427239" y="44457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林中小屋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658311" y="44457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816045" y="44457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951931" y="44457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4719638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3400" y="4724400"/>
              <a:ext cx="508539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502626" y="48458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寂静岭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658311" y="48458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816045" y="48458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−0.37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951931" y="48458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3.38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1524000"/>
              <a:ext cx="5085398" cy="36004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234440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2225040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424238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4623435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28447" y="5197316"/>
              <a:ext cx="4838954" cy="364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v₁ 各分量几乎相等，可看作电影本身的精彩程度；v₂ 的正负号分开喜剧和恐怖片，可看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作影片类型</a:t>
              </a:r>
            </a:p>
          </p:txBody>
        </p:sp>
      </p:grpSp>
      <p:grpSp>
        <p:nvGrpSpPr>
          <p:cNvPr id="133" name="c2-table-1"/>
          <p:cNvGrpSpPr/>
          <p:nvPr/>
        </p:nvGrpSpPr>
        <p:grpSpPr>
          <a:xfrm>
            <a:off x="5918644" y="1524000"/>
            <a:ext cx="5739956" cy="4837462"/>
            <a:chOff x="5918644" y="1524000"/>
            <a:chExt cx="5739956" cy="4837462"/>
          </a:xfrm>
        </p:grpSpPr>
        <p:sp>
          <p:nvSpPr>
            <p:cNvPr id="65" name="Rectangle 65"/>
            <p:cNvSpPr/>
            <p:nvPr/>
          </p:nvSpPr>
          <p:spPr>
            <a:xfrm>
              <a:off x="5923598" y="1524000"/>
              <a:ext cx="5735002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18525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偏好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16347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会员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127171" y="1645444"/>
              <a:ext cx="8354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u₁（29.7）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455909" y="1645444"/>
              <a:ext cx="8354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u₂（11.4）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791266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打分均值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185256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喜剧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088086" y="20454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至尊宝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373311" y="20454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0.34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702048" y="20454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0.23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926963" y="20454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3.59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923598" y="231933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5923598" y="2324100"/>
              <a:ext cx="573500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088086" y="24455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小小宝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373311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0.32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702048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0.34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926963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3.38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5923598" y="271938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088086" y="28455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流氓兔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373311" y="28455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0.31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702048" y="28455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0.32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926963" y="28455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3.25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923598" y="311943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5923598" y="3124200"/>
              <a:ext cx="573500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122010" y="3245644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霹*雳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373311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0.32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702048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0.35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926963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3.38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5923598" y="351948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012699" y="36456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中原不败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373311" y="36456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0.31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702048" y="36456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0.31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926963" y="36456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3.25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5923598" y="391953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5923598" y="3924300"/>
              <a:ext cx="573500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6185256" y="40457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恐怖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012699" y="40457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魂飞魄散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373311" y="40457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0.32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9660585" y="40457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−0.33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0926963" y="40457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3.36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5923598" y="431958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7012699" y="44457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荒村少年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373311" y="44457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0.30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660585" y="44457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−0.27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0926963" y="44457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3.13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5923598" y="471963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5923598" y="4724400"/>
              <a:ext cx="573500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7088086" y="48458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憨豆豆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8373311" y="48458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0.31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9660585" y="48458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−0.31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926963" y="48458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3.25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5923598" y="511968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7088086" y="52458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怪大叔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8373311" y="52458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0.32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660585" y="52458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−0.34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0926963" y="52458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3.38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5923598" y="551973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5923598" y="5524500"/>
              <a:ext cx="573500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7012699" y="56459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美味僵尸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8373311" y="56459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0.30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9660585" y="56459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−0.34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0926963" y="56459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3.13</a:t>
              </a:r>
            </a:p>
          </p:txBody>
        </p:sp>
        <p:sp>
          <p:nvSpPr>
            <p:cNvPr id="127" name="Rectangle 127"/>
            <p:cNvSpPr/>
            <p:nvPr/>
          </p:nvSpPr>
          <p:spPr>
            <a:xfrm>
              <a:off x="5923598" y="1524000"/>
              <a:ext cx="5735002" cy="44005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6755130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9" name="Rectangle 129"/>
            <p:cNvSpPr/>
            <p:nvPr/>
          </p:nvSpPr>
          <p:spPr>
            <a:xfrm>
              <a:off x="7875270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0" name="Rectangle 130"/>
            <p:cNvSpPr/>
            <p:nvPr/>
          </p:nvSpPr>
          <p:spPr>
            <a:xfrm>
              <a:off x="9204008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1" name="Rectangle 131"/>
            <p:cNvSpPr/>
            <p:nvPr/>
          </p:nvSpPr>
          <p:spPr>
            <a:xfrm>
              <a:off x="10533698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5918644" y="5997416"/>
              <a:ext cx="5461254" cy="364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u₁ 可看作会员的打分习惯，u₂ 可看作会员对影片类型的偏好；奇异向量整体变号仍正确，这里取第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列为正</a:t>
              </a:r>
            </a:p>
          </p:txBody>
        </p:sp>
      </p:grpSp>
      <p:grpSp>
        <p:nvGrpSpPr>
          <p:cNvPr id="1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4" name="TextBox 13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32916" cy="909257"/>
            <a:chOff x="520446" y="342900"/>
            <a:chExt cx="59329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41" y="407194"/>
              <a:ext cx="2731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矩阵分解：QR 与 SVD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329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模型打分：用前 2 个特征预测未知评分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67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ˆ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i1</m:t>
                          </m:r>
                        </m:sub>
                      </m:sSub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i2</m:t>
                          </m:r>
                        </m:sub>
                      </m:sSub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16" name="c1-kv-2"/>
          <p:cNvGrpSpPr/>
          <p:nvPr/>
        </p:nvGrpSpPr>
        <p:grpSpPr>
          <a:xfrm>
            <a:off x="525780" y="2196465"/>
            <a:ext cx="5423345" cy="1455420"/>
            <a:chOff x="525780" y="2196465"/>
            <a:chExt cx="5423345" cy="1455420"/>
          </a:xfrm>
        </p:grpSpPr>
        <p:sp>
          <p:nvSpPr>
            <p:cNvPr id="8" name="TextBox 8"/>
            <p:cNvSpPr txBox="1"/>
            <p:nvPr/>
          </p:nvSpPr>
          <p:spPr>
            <a:xfrm>
              <a:off x="525780" y="2196465"/>
              <a:ext cx="6836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σ₁、σ₂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61135" y="21964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各部分得分的权重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" y="25165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5780" y="2636520"/>
              <a:ext cx="7149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uᵢ₁vⱼ₁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61135" y="2636520"/>
              <a:ext cx="44879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影片相对客观分数：影片整体水平 × 会员打分习惯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9565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5780" y="3076575"/>
              <a:ext cx="7149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uᵢ₂vⱼ₂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61135" y="3076575"/>
              <a:ext cx="4206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影片类型适应度得分：类型与偏好同号为正，异号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为负</a:t>
              </a:r>
            </a:p>
          </p:txBody>
        </p:sp>
      </p:grpSp>
      <p:grpSp>
        <p:nvGrpSpPr>
          <p:cNvPr id="23" name="c1-card-3"/>
          <p:cNvGrpSpPr/>
          <p:nvPr/>
        </p:nvGrpSpPr>
        <p:grpSpPr>
          <a:xfrm>
            <a:off x="533400" y="3783330"/>
            <a:ext cx="5410200" cy="2119312"/>
            <a:chOff x="533400" y="3783330"/>
            <a:chExt cx="5410200" cy="2119312"/>
          </a:xfrm>
        </p:grpSpPr>
        <p:sp>
          <p:nvSpPr>
            <p:cNvPr id="17" name="Rectangle 17"/>
            <p:cNvSpPr/>
            <p:nvPr/>
          </p:nvSpPr>
          <p:spPr>
            <a:xfrm>
              <a:off x="533400" y="3783330"/>
              <a:ext cx="5410200" cy="2119312"/>
            </a:xfrm>
            <a:prstGeom prst="roundRect">
              <a:avLst>
                <a:gd name="adj" fmla="val 62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916680"/>
              <a:ext cx="47625" cy="18526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3992880"/>
              <a:ext cx="15687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6067" y="4028599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至尊宝 → 《寂静岭》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4370070"/>
              <a:ext cx="4063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29.7×(0.34×0.36) + 11.4×(0.23×(−0.37))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3.64 − 0.97 = 2.67 ≈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2.7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4573" y="4987766"/>
              <a:ext cx="46865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至尊宝偏爱喜剧（u₂ &gt; 0），寂静岭是恐怖片（v₂ &lt; 0），第 2 项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把分数拉低。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612582"/>
            <a:chOff x="6248400" y="1524000"/>
            <a:chExt cx="5410200" cy="1612582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1612582"/>
            </a:xfrm>
            <a:prstGeom prst="roundRect">
              <a:avLst>
                <a:gd name="adj" fmla="val 82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57925" y="1657350"/>
              <a:ext cx="47625" cy="13458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96050" y="1733550"/>
              <a:ext cx="15687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81067" y="1769269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魂飞魄散 → 《咒怨》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8430" y="2110740"/>
              <a:ext cx="4377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29.7×(0.32×0.37) + 11.4×((−0.33)×(−0.37))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3.52 + 1.39 = 4.91 ≈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4.9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89573" y="2728436"/>
              <a:ext cx="42001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两个第 2 特征都为负，乘积为正，第 2 项把分数抬高。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327082"/>
            <a:ext cx="5410200" cy="1602105"/>
            <a:chOff x="6248400" y="3327082"/>
            <a:chExt cx="5410200" cy="1602105"/>
          </a:xfrm>
        </p:grpSpPr>
        <p:sp>
          <p:nvSpPr>
            <p:cNvPr id="31" name="Rectangle 31"/>
            <p:cNvSpPr/>
            <p:nvPr/>
          </p:nvSpPr>
          <p:spPr>
            <a:xfrm>
              <a:off x="6248400" y="3327082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3460432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6050" y="353663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86258" y="35723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8430" y="3913822"/>
              <a:ext cx="47682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原课件把至尊宝对《寂静岭》的打分写作 2.6。按两位小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数计算为 2.67，用未舍入的奇异值和奇异向量计算为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2.71，应约为 2.7。</a:t>
              </a:r>
            </a:p>
          </p:txBody>
        </p:sp>
      </p:grpSp>
      <p:grpSp>
        <p:nvGrpSpPr>
          <p:cNvPr id="43" name="c2-callout-3"/>
          <p:cNvGrpSpPr/>
          <p:nvPr/>
        </p:nvGrpSpPr>
        <p:grpSpPr>
          <a:xfrm>
            <a:off x="6248400" y="5119688"/>
            <a:ext cx="5410200" cy="782955"/>
            <a:chOff x="6248400" y="5119688"/>
            <a:chExt cx="5410200" cy="782955"/>
          </a:xfrm>
        </p:grpSpPr>
        <p:sp>
          <p:nvSpPr>
            <p:cNvPr id="37" name="Rectangle 37"/>
            <p:cNvSpPr/>
            <p:nvPr/>
          </p:nvSpPr>
          <p:spPr>
            <a:xfrm>
              <a:off x="6248400" y="5119688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453188" y="5411153"/>
              <a:ext cx="200026" cy="200025"/>
              <a:chOff x="6453188" y="5411153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453188" y="54111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492926" y="54556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27642" y="55667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755130" y="5268278"/>
              <a:ext cx="43300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两部分相加就是秩 2 近似矩阵 A₂ 的第 i 行第 j 列元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素，所以模型打分就是用 A₂ 补全评分表。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62759" cy="909257"/>
            <a:chOff x="520446" y="342900"/>
            <a:chExt cx="69627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0225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41" y="407194"/>
              <a:ext cx="2731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矩阵分解：QR 与 SVD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627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结果评价与代码：秩 2 近似和实际评分很接近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3" name="c1-table-1"/>
          <p:cNvGrpSpPr/>
          <p:nvPr/>
        </p:nvGrpSpPr>
        <p:grpSpPr>
          <a:xfrm>
            <a:off x="528447" y="1524000"/>
            <a:ext cx="6064758" cy="2263806"/>
            <a:chOff x="528447" y="1524000"/>
            <a:chExt cx="6064758" cy="226380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029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3902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宿醉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2576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东成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1155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大话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9829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八星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8407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午夜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7081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咒怨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5660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林中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4334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寂静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4908" y="20454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至尊宝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75143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48335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35075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2086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0760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93390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80130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5917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52657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23193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23241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486451" y="244554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秩 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23946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4.49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10686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96473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4.78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83213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4.43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69001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55741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2.81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41528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2.57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15990" y="2333625"/>
              <a:ext cx="567690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28268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27193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9521" y="2845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魂飞魄散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75143" y="2845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148335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735075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320862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907602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493390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80130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65917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52657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31194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31242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486451" y="324564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秩 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023946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610686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196473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783213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369001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4.54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843462" y="3133725"/>
              <a:ext cx="567690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955741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4.94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541528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4.55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128268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4.82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" y="1524000"/>
              <a:ext cx="605980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135540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1897380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2484120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306990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365664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4242435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4829175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41496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00170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28447" y="3597116"/>
              <a:ext cx="54761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秩 2 近似与原矩阵元素之差最大约 1.40，误差的 Frobenius 范数为 √(σ₃² + … + σ₈²) ≈ 5.06</a:t>
              </a:r>
            </a:p>
          </p:txBody>
        </p:sp>
      </p:grpSp>
      <p:grpSp>
        <p:nvGrpSpPr>
          <p:cNvPr id="90" name="c1-compare-2"/>
          <p:cNvGrpSpPr/>
          <p:nvPr/>
        </p:nvGrpSpPr>
        <p:grpSpPr>
          <a:xfrm>
            <a:off x="533400" y="3919538"/>
            <a:ext cx="6059804" cy="1738312"/>
            <a:chOff x="533400" y="3919538"/>
            <a:chExt cx="6059804" cy="1738312"/>
          </a:xfrm>
        </p:grpSpPr>
        <p:sp>
          <p:nvSpPr>
            <p:cNvPr id="74" name="Rectangle 74"/>
            <p:cNvSpPr/>
            <p:nvPr/>
          </p:nvSpPr>
          <p:spPr>
            <a:xfrm>
              <a:off x="533400" y="3919538"/>
              <a:ext cx="2858452" cy="1738312"/>
            </a:xfrm>
            <a:prstGeom prst="roundRect">
              <a:avLst>
                <a:gd name="adj" fmla="val 76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542925" y="4052888"/>
              <a:ext cx="47625" cy="14716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51332" y="412908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至尊宝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66762" y="450151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22782" y="44453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喜剧评分高、恐怖片评分低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766762" y="480250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22782" y="4746308"/>
              <a:ext cx="20711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推测不喜欢《寂静岭》，模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型打分约 2.7，与实际情况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相符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3734752" y="3919538"/>
              <a:ext cx="2858452" cy="1738312"/>
            </a:xfrm>
            <a:prstGeom prst="roundRect">
              <a:avLst>
                <a:gd name="adj" fmla="val 76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3744278" y="4052888"/>
              <a:ext cx="47625" cy="14716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3952684" y="41290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魂飞魄散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3968115" y="450151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4124134" y="44453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恐怖片评分高、喜剧评分低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3968115" y="480250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4124134" y="4746308"/>
              <a:ext cx="20711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推测很喜欢《咒怨》，模型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打分约 4.9，与实际情况相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3401378" y="462724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3471718" y="472344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94" name="c2-code-1"/>
          <p:cNvGrpSpPr/>
          <p:nvPr/>
        </p:nvGrpSpPr>
        <p:grpSpPr>
          <a:xfrm>
            <a:off x="6898005" y="1524000"/>
            <a:ext cx="4760595" cy="2264092"/>
            <a:chOff x="6898005" y="1524000"/>
            <a:chExt cx="4760595" cy="2264092"/>
          </a:xfrm>
        </p:grpSpPr>
        <p:sp>
          <p:nvSpPr>
            <p:cNvPr id="91" name="Rectangle 91"/>
            <p:cNvSpPr/>
            <p:nvPr/>
          </p:nvSpPr>
          <p:spPr>
            <a:xfrm>
              <a:off x="6898005" y="1524000"/>
              <a:ext cx="4760595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026402" y="1675924"/>
              <a:ext cx="10354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R：SVD 推荐打分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026402" y="1935956"/>
              <a:ext cx="3637915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 &lt;- matrix(c(4,4,5,5,2,3,2,3.75,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5,5,5,4,2,2,3,1,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…… 其余 8 行按表格依次填写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1,3,2,1,4,5,4,5),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nrow = 10, byrow =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  &lt;- svd(A)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s$d 奇异值，s$u、s$v 奇异向量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k  &lt;- 2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A2 &lt;- s$u[, 1:k] %*% diag(s$d[1:k]) %*% t(s$v[, 1:k])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round(A2[1, 8], 2)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至尊宝-寂静岭：2.71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round(A2[6, 6], 2)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魂飞魄散-咒怨：4.94</a:t>
              </a:r>
            </a:p>
          </p:txBody>
        </p:sp>
      </p:grpSp>
      <p:grpSp>
        <p:nvGrpSpPr>
          <p:cNvPr id="101" name="c2-callout-2"/>
          <p:cNvGrpSpPr/>
          <p:nvPr/>
        </p:nvGrpSpPr>
        <p:grpSpPr>
          <a:xfrm>
            <a:off x="6898005" y="3958590"/>
            <a:ext cx="4760595" cy="729615"/>
            <a:chOff x="6898005" y="3958590"/>
            <a:chExt cx="4760595" cy="729615"/>
          </a:xfrm>
        </p:grpSpPr>
        <p:sp>
          <p:nvSpPr>
            <p:cNvPr id="95" name="Rectangle 95"/>
            <p:cNvSpPr/>
            <p:nvPr/>
          </p:nvSpPr>
          <p:spPr>
            <a:xfrm>
              <a:off x="6898005" y="3958590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7102793" y="4223385"/>
              <a:ext cx="200026" cy="200026"/>
              <a:chOff x="7102793" y="4223385"/>
              <a:chExt cx="200026" cy="200026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7102793" y="42233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7202805" y="42900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7191693" y="432339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7405497" y="4104322"/>
              <a:ext cx="362273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svd() 给出的奇异向量符号可能与讲义相反，但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 不受影响。</a:t>
              </a:r>
            </a:p>
          </p:txBody>
        </p:sp>
      </p:grpSp>
      <p:grpSp>
        <p:nvGrpSpPr>
          <p:cNvPr id="10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2" name="TextBox 10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268326" cy="2997517"/>
            <a:chOff x="667512" y="1835468"/>
            <a:chExt cx="626832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广义逆、叉积阵与正交投影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584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矩阵不可逆、不是方阵时怎样“求逆”，以及最小二乘背后的几何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2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 广义逆的定义和性质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308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 叉积阵 AᵀA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2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 正交投影与最小二乘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广义逆、叉积阵与正交投影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广义逆：用四个条件定义加号逆和减号逆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193982" cy="2596515"/>
            <a:chOff x="533400" y="1524000"/>
            <a:chExt cx="5193982" cy="25965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596515"/>
            </a:xfrm>
            <a:prstGeom prst="roundRect">
              <a:avLst>
                <a:gd name="adj" fmla="val 51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2981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加号逆和减号逆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0801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A 为 (n, m) 矩阵，若 (m, n) 矩阵 G 满足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69"/>
                <p:cNvSpPr txBox="1">
                  <a:spLocks noGrp="1"/>
                </p:cNvSpPr>
                <p:nvPr/>
              </p:nvSpPr>
              <p:spPr>
                <a:xfrm>
                  <a:off x="781050" y="2440305"/>
                  <a:ext cx="4736782" cy="5448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nor m:val="on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i) 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AGA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 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nor m:val="on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ii) 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GAG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</m:e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nor m:val="on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iii) 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AG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AG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 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nor m:val="on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iv) 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GA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GA</m:t>
                            </m:r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105150"/>
              <a:ext cx="44443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则称 G 为 A 的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加号逆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 Moore-Penrose 广义逆，记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 A⁺。G 只满足条件 i) 时称为 A 的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减号逆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，记作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A⁻。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4311015"/>
            <a:ext cx="5193982" cy="1059180"/>
            <a:chOff x="533400" y="4311015"/>
            <a:chExt cx="5193982" cy="1059180"/>
          </a:xfrm>
        </p:grpSpPr>
        <p:sp>
          <p:nvSpPr>
            <p:cNvPr id="16" name="Rectangle 16"/>
            <p:cNvSpPr/>
            <p:nvPr/>
          </p:nvSpPr>
          <p:spPr>
            <a:xfrm>
              <a:off x="533400" y="4311015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4740595"/>
              <a:ext cx="200023" cy="200023"/>
              <a:chOff x="738188" y="4740595"/>
              <a:chExt cx="200023" cy="20002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7405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71538" y="48072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4459605"/>
              <a:ext cx="43014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可逆时，A⁻¹ 满足全部四个条件，A⁺ = A⁻ =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A⁻¹。A 不可逆时，减号逆一般不唯一，加号逆唯一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（下一页）。</a:t>
              </a:r>
            </a:p>
          </p:txBody>
        </p:sp>
      </p:grpSp>
      <p:grpSp>
        <p:nvGrpSpPr>
          <p:cNvPr id="52" name="c2-card-1"/>
          <p:cNvGrpSpPr/>
          <p:nvPr/>
        </p:nvGrpSpPr>
        <p:grpSpPr>
          <a:xfrm>
            <a:off x="6032182" y="1524000"/>
            <a:ext cx="5626418" cy="3349942"/>
            <a:chOff x="6032182" y="1524000"/>
            <a:chExt cx="5626418" cy="3349942"/>
          </a:xfrm>
        </p:grpSpPr>
        <p:sp>
          <p:nvSpPr>
            <p:cNvPr id="22" name="Rectangle 22"/>
            <p:cNvSpPr/>
            <p:nvPr/>
          </p:nvSpPr>
          <p:spPr>
            <a:xfrm>
              <a:off x="6032182" y="1524000"/>
              <a:ext cx="5626418" cy="3349942"/>
            </a:xfrm>
            <a:prstGeom prst="roundRect">
              <a:avLst>
                <a:gd name="adj" fmla="val 39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41708" y="1657350"/>
              <a:ext cx="47625" cy="30832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79832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399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37985" y="1768792"/>
              <a:ext cx="26602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(1 1; 1 1)，判断两个 G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79832" y="2105025"/>
              <a:ext cx="5169218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94449" y="22407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58629" y="2240756"/>
              <a:ext cx="14562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G₁ = ¼(1 1; 1 1)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01926" y="2240756"/>
              <a:ext cx="13511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G₂ = (1 0; 0 0)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87656" y="2689384"/>
              <a:ext cx="8640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i) AGA = 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94141" y="268938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84866" y="268938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79832" y="2997518"/>
              <a:ext cx="51692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79832" y="3002280"/>
              <a:ext cx="51692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87656" y="3138011"/>
              <a:ext cx="9141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ii) GAG = 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94141" y="313801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384866" y="313801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79832" y="3447098"/>
              <a:ext cx="51692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87656" y="3586639"/>
              <a:ext cx="9404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iii) AG 对称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4582" y="3586639"/>
              <a:ext cx="17243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AG₁ = ½(1 1; 1 1)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65376" y="3586639"/>
              <a:ext cx="16242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AG₂ = (1 0; 1 0)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79832" y="3895725"/>
              <a:ext cx="51692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79832" y="3900488"/>
              <a:ext cx="51692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87656" y="4035266"/>
              <a:ext cx="9343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iv) GA 对称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4582" y="4035266"/>
              <a:ext cx="17243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G₁A = ½(1 1; 1 1)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65376" y="4035266"/>
              <a:ext cx="16242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G₂A = (1 1; 0 0)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79832" y="2105025"/>
              <a:ext cx="5169218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462838" y="210502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500235" y="210502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73356" y="4465796"/>
              <a:ext cx="36347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结论：G₁ = A⁺；G₂ 是减号逆，但不是加号逆。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6032182" y="5064442"/>
            <a:ext cx="5626418" cy="782955"/>
            <a:chOff x="6032182" y="5064442"/>
            <a:chExt cx="5626418" cy="782955"/>
          </a:xfrm>
        </p:grpSpPr>
        <p:sp>
          <p:nvSpPr>
            <p:cNvPr id="53" name="Rectangle 53"/>
            <p:cNvSpPr/>
            <p:nvPr/>
          </p:nvSpPr>
          <p:spPr>
            <a:xfrm>
              <a:off x="6032182" y="5064442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236970" y="5355908"/>
              <a:ext cx="200026" cy="200025"/>
              <a:chOff x="6236970" y="5355908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236970" y="53559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276709" y="54003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311424" y="55114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538912" y="5213032"/>
              <a:ext cx="4425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手算 AG 和 GA 时先算乘积再看是否对称，条件 iii)、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iv) 最容易漏查。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9397" cy="909257"/>
            <a:chOff x="520446" y="342900"/>
            <a:chExt cx="65493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广义逆、叉积阵与正交投影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93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定理：(n, m) 矩阵 A 的加号逆存在且唯一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4544378" cy="2657475"/>
            <a:chOff x="533400" y="1524000"/>
            <a:chExt cx="4544378" cy="26574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2657475"/>
            </a:xfrm>
            <a:prstGeom prst="roundRect">
              <a:avLst>
                <a:gd name="adj" fmla="val 50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9077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059" y="17564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存在性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7240" y="214312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3831" y="2082641"/>
              <a:ext cx="39644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为零矩阵时，(m, n) 零矩阵就是 A 的加号逆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46030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400776"/>
              <a:ext cx="360324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≠ 0 时，A 有奇异值分解 A = VDUᵀ（V 为 n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阶、U 为 m 阶正交矩阵，D 为 (n, m) 矩阵）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04990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2989421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G = UD⁺Vᵀ，D⁺ 为 (m, n) 矩阵，对角元是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中非零奇异值的倒数，其余元素为 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3524" y="3575685"/>
              <a:ext cx="39212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DD⁺ 与 D⁺D 都是对角元为 0 或 1 的对角阵，逐条验证 G 满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足四个条件。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4362450"/>
            <a:ext cx="4544378" cy="1824038"/>
            <a:chOff x="533400" y="4362450"/>
            <a:chExt cx="4544378" cy="1824038"/>
          </a:xfrm>
        </p:grpSpPr>
        <p:sp>
          <p:nvSpPr>
            <p:cNvPr id="19" name="Rectangle 19"/>
            <p:cNvSpPr/>
            <p:nvPr/>
          </p:nvSpPr>
          <p:spPr>
            <a:xfrm>
              <a:off x="533400" y="4362450"/>
              <a:ext cx="4544378" cy="1824038"/>
            </a:xfrm>
            <a:prstGeom prst="roundRect">
              <a:avLst>
                <a:gd name="adj" fmla="val 73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495800"/>
              <a:ext cx="47625" cy="1557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9620" y="456057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1060" y="45948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381" y="4921091"/>
              <a:ext cx="3873754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D⁺“把 D 的非零主对角元换成倒数，其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他元素保持为零”。A 不是方阵时 D 是 (n, m) 矩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阵，D⁺ 还要转置成 (m, n) 矩阵，G 的维数才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对。</a:t>
              </a:r>
            </a:p>
          </p:txBody>
        </p:sp>
      </p:grpSp>
      <p:grpSp>
        <p:nvGrpSpPr>
          <p:cNvPr id="26" name="c2-text-1"/>
          <p:cNvGrpSpPr/>
          <p:nvPr/>
        </p:nvGrpSpPr>
        <p:grpSpPr>
          <a:xfrm>
            <a:off x="5375338" y="1547336"/>
            <a:ext cx="6081116" cy="278702"/>
            <a:chOff x="5375338" y="1547336"/>
            <a:chExt cx="6081116" cy="278702"/>
          </a:xfrm>
        </p:grpSpPr>
        <p:sp>
          <p:nvSpPr>
            <p:cNvPr id="25" name="TextBox 25"/>
            <p:cNvSpPr txBox="1"/>
            <p:nvPr/>
          </p:nvSpPr>
          <p:spPr>
            <a:xfrm>
              <a:off x="5375338" y="1547336"/>
              <a:ext cx="60811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唯一性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：设 A₁⁺、A₂⁺ 都是 A 的加号逆，每一步只用条件 i)–iv) 之一：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74"/>
              <p:cNvSpPr txBox="1">
                <a:spLocks noGrp="1"/>
              </p:cNvSpPr>
              <p:nvPr/>
            </p:nvSpPr>
            <p:spPr>
              <a:xfrm>
                <a:off x="5382578" y="1950720"/>
                <a:ext cx="6276022" cy="8343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  <m:sSubSup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Sup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</m:e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Sup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  <m:sSubSup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</m:sup>
                                  </m:sSubSup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Sup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  <m:sSubSup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</m:e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  <m:sSubSup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</m:e>
                      </m:eqAr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formula75"/>
              <p:cNvSpPr txBox="1">
                <a:spLocks noGrp="1"/>
              </p:cNvSpPr>
              <p:nvPr/>
            </p:nvSpPr>
            <p:spPr>
              <a:xfrm>
                <a:off x="5382578" y="2965132"/>
                <a:ext cx="6276022" cy="8343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Sup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</m:sup>
                                  </m:sSubSup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Sup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  <m:sSubSup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</m:sup>
                                  </m:sSubSup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Sup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</m:e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Sup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</m:sup>
                                  </m:sSubSup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Sup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Sup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</m:sup>
                                  </m:sSubSup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Sup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</m:sup>
                                  </m:sSubSup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p>
                          </m:sSup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</m:e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sSub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34" name="c2-callout-4"/>
          <p:cNvGrpSpPr/>
          <p:nvPr/>
        </p:nvGrpSpPr>
        <p:grpSpPr>
          <a:xfrm>
            <a:off x="5382578" y="3979545"/>
            <a:ext cx="6276022" cy="503872"/>
            <a:chOff x="5382578" y="3979545"/>
            <a:chExt cx="6276022" cy="503872"/>
          </a:xfrm>
        </p:grpSpPr>
        <p:sp>
          <p:nvSpPr>
            <p:cNvPr id="29" name="Rectangle 29"/>
            <p:cNvSpPr/>
            <p:nvPr/>
          </p:nvSpPr>
          <p:spPr>
            <a:xfrm>
              <a:off x="5382578" y="3979545"/>
              <a:ext cx="6276022" cy="503872"/>
            </a:xfrm>
            <a:prstGeom prst="roundRect">
              <a:avLst>
                <a:gd name="adj" fmla="val 22684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5587365" y="4130993"/>
              <a:ext cx="200026" cy="200026"/>
              <a:chOff x="5587365" y="4130993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5587365" y="41309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654040" y="420878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5889688" y="4131469"/>
              <a:ext cx="34589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两段连起来得 A₁⁺ = A₂⁺，加号逆唯一。</a:t>
              </a:r>
            </a:p>
          </p:txBody>
        </p:sp>
      </p:grpSp>
      <p:grpSp>
        <p:nvGrpSpPr>
          <p:cNvPr id="39" name="c2-card-5"/>
          <p:cNvGrpSpPr/>
          <p:nvPr/>
        </p:nvGrpSpPr>
        <p:grpSpPr>
          <a:xfrm>
            <a:off x="5382578" y="4663440"/>
            <a:ext cx="6276022" cy="1522095"/>
            <a:chOff x="5382578" y="4663440"/>
            <a:chExt cx="6276022" cy="1522095"/>
          </a:xfrm>
        </p:grpSpPr>
        <p:sp>
          <p:nvSpPr>
            <p:cNvPr id="35" name="Rectangle 35"/>
            <p:cNvSpPr/>
            <p:nvPr/>
          </p:nvSpPr>
          <p:spPr>
            <a:xfrm>
              <a:off x="5382578" y="4663440"/>
              <a:ext cx="6276022" cy="1522095"/>
            </a:xfrm>
            <a:prstGeom prst="roundRect">
              <a:avLst>
                <a:gd name="adj" fmla="val 8761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580698" y="486156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56136" y="48958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唯一性的用法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73458" y="5222081"/>
              <a:ext cx="555993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只要验证某个矩阵满足四个条件，它就是 A⁺。例如 A 列满秩时，G =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(AᵀA)⁻¹Aᵀ 满足 GA = I 和 AG = A(AᵀA)⁻¹Aᵀ 对称，四个条件都成立，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 A⁺ = (AᵀA)⁻¹Aᵀ。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广义逆、叉积阵与正交投影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加号逆的性质与两个常用特例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28066" y="1524000"/>
            <a:ext cx="5956554" cy="4100131"/>
            <a:chOff x="528066" y="1524000"/>
            <a:chExt cx="5956554" cy="410013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2003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57613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889" y="2076450"/>
              <a:ext cx="156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69327" y="2076450"/>
              <a:ext cx="771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(A⁺)⁺ = A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6791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72678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5889" y="2501265"/>
              <a:ext cx="207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ii)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69327" y="2501265"/>
              <a:ext cx="11472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(Aᵀ)⁺ = (A⁺)ᵀ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9273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5889" y="2926080"/>
              <a:ext cx="2581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iii)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69327" y="2926080"/>
              <a:ext cx="21749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(λA)⁺ = λ⁻¹A⁺，对任意 λ ≠ 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165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221355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5889" y="3349942"/>
              <a:ext cx="249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iv)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69327" y="3349942"/>
              <a:ext cx="35554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rank(A⁺) = rank(A) = rank(AA⁺) = rank(A⁺A)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64140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5889" y="377475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69327" y="3774757"/>
              <a:ext cx="14289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(AᵀA)⁺ = A⁺(A⁺)ᵀ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06622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070985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889" y="4198620"/>
              <a:ext cx="249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69327" y="4198620"/>
              <a:ext cx="2094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A⁺ = (AᵀA)⁺Aᵀ = Aᵀ(AAᵀ)⁺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49008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5889" y="4623435"/>
              <a:ext cx="3005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vii)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69327" y="4623435"/>
              <a:ext cx="2182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AA⁺ 和 A⁺A 都是对称幂等矩阵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91490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919662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5889" y="504825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viii)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69327" y="5048250"/>
              <a:ext cx="2353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A 是对称幂等矩阵，则 A⁺ = A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5951220" cy="38195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362075" y="1524000"/>
              <a:ext cx="9525" cy="381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8066" y="5418772"/>
              <a:ext cx="11058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为 (n, m) 矩阵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789420" y="1524000"/>
            <a:ext cx="4869180" cy="1297305"/>
            <a:chOff x="6789420" y="1524000"/>
            <a:chExt cx="4869180" cy="1297305"/>
          </a:xfrm>
        </p:grpSpPr>
        <p:sp>
          <p:nvSpPr>
            <p:cNvPr id="41" name="Rectangle 41"/>
            <p:cNvSpPr/>
            <p:nvPr/>
          </p:nvSpPr>
          <p:spPr>
            <a:xfrm>
              <a:off x="6789420" y="1524000"/>
              <a:ext cx="4869180" cy="1297305"/>
            </a:xfrm>
            <a:prstGeom prst="roundRect">
              <a:avLst>
                <a:gd name="adj" fmla="val 10279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987540" y="1722120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54977" y="175641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满秩时有显式公式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995160" y="214312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51751" y="2082641"/>
              <a:ext cx="43681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列满秩 rank(A) = m：AᵀA 可逆，A⁺ = (AᵀA)⁻¹Aᵀ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995160" y="246030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51751" y="2400776"/>
              <a:ext cx="432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行满秩 rank(A) = n：AAᵀ 可逆，A⁺ = Aᵀ(AAᵀ)⁻¹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789420" y="3001328"/>
            <a:ext cx="4869180" cy="1568768"/>
            <a:chOff x="6789420" y="3001328"/>
            <a:chExt cx="4869180" cy="1568768"/>
          </a:xfrm>
        </p:grpSpPr>
        <p:sp>
          <p:nvSpPr>
            <p:cNvPr id="49" name="Rectangle 49"/>
            <p:cNvSpPr/>
            <p:nvPr/>
          </p:nvSpPr>
          <p:spPr>
            <a:xfrm>
              <a:off x="6789420" y="3001328"/>
              <a:ext cx="4869180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798945" y="3134678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025640" y="3199448"/>
              <a:ext cx="142303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88676" y="3233738"/>
              <a:ext cx="12969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用性质 vi) 复核上例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18401" y="3559969"/>
              <a:ext cx="45541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(1 1; 1 1)，AᵀA = 2A，由 iii) 得 (AᵀA)⁺ = ½A⁺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18401" y="3878104"/>
              <a:ext cx="413524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A⁺ = G₁ = ¼(1 1; 1 1)，则 (AᵀA)⁺Aᵀ = ⅛(1 1; 1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1)(1 1; 1 1) = ¼(1 1; 1 1) = A⁺ ✓</a:t>
              </a:r>
            </a:p>
          </p:txBody>
        </p:sp>
      </p:grpSp>
      <p:grpSp>
        <p:nvGrpSpPr>
          <p:cNvPr id="59" name="c2-code-3"/>
          <p:cNvGrpSpPr/>
          <p:nvPr/>
        </p:nvGrpSpPr>
        <p:grpSpPr>
          <a:xfrm>
            <a:off x="6789420" y="4750118"/>
            <a:ext cx="4869180" cy="882968"/>
            <a:chOff x="6789420" y="4750118"/>
            <a:chExt cx="4869180" cy="882968"/>
          </a:xfrm>
        </p:grpSpPr>
        <p:sp>
          <p:nvSpPr>
            <p:cNvPr id="56" name="Rectangle 56"/>
            <p:cNvSpPr/>
            <p:nvPr/>
          </p:nvSpPr>
          <p:spPr>
            <a:xfrm>
              <a:off x="6789420" y="4750118"/>
              <a:ext cx="4869180" cy="882968"/>
            </a:xfrm>
            <a:prstGeom prst="roundRect">
              <a:avLst>
                <a:gd name="adj" fmla="val 107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17817" y="490204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软件中求加号逆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17436" y="5163502"/>
              <a:ext cx="3097721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library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(MASS)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ginv(matrix(1, 2, 2))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4 个元素都是 0.25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34181" cy="909257"/>
            <a:chOff x="520446" y="342900"/>
            <a:chExt cx="76341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广义逆、叉积阵与正交投影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341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叉积阵 AᵀA：正规方程和协方差阵估计都离不开它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410200" cy="2522220"/>
            <a:chOff x="533400" y="1524000"/>
            <a:chExt cx="5410200" cy="25222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22220"/>
            </a:xfrm>
            <a:prstGeom prst="roundRect">
              <a:avLst>
                <a:gd name="adj" fmla="val 52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5552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88296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8559" y="1756410"/>
              <a:ext cx="724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3.2 叉积阵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75742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A 为 (n, m) 矩阵，m 阶方阵 AᵀA 称为叉积阵。线性模型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的正规方程 AᵀAβ = Aᵀy、协方差阵的估计都用到它。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7240" y="273177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672239"/>
              <a:ext cx="19376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AᵀA 是对称半正定矩阵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304990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2989421"/>
              <a:ext cx="19458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rank(AᵀA) = rank(A)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7240" y="336804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3831" y="3307556"/>
              <a:ext cx="20314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0 当且仅当 AᵀA = 0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7240" y="3685223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3831" y="3625691"/>
              <a:ext cx="44431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 rank(A) = m（列满秩）时，AᵀA 是对称正定矩阵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4226242"/>
            <a:ext cx="5410200" cy="1647825"/>
            <a:chOff x="533400" y="4226242"/>
            <a:chExt cx="5410200" cy="1647825"/>
          </a:xfrm>
        </p:grpSpPr>
        <p:sp>
          <p:nvSpPr>
            <p:cNvPr id="21" name="Rectangle 21"/>
            <p:cNvSpPr/>
            <p:nvPr/>
          </p:nvSpPr>
          <p:spPr>
            <a:xfrm>
              <a:off x="533400" y="4226242"/>
              <a:ext cx="5410200" cy="1647825"/>
            </a:xfrm>
            <a:prstGeom prst="roundRect">
              <a:avLst>
                <a:gd name="adj" fmla="val 80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359592"/>
              <a:ext cx="47625" cy="13811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9620" y="442436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1060" y="44586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381" y="4784884"/>
              <a:ext cx="473938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原课件写“当 rank(A) = p 时 AᵀA 是对称正定矩阵”，并说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“AᵀA 与 X 之间有密切的联系”，p 和 X 都没有定义。按本页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记号，条件应为 rank(A) = m。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248400" y="1524000"/>
            <a:ext cx="5410200" cy="1664018"/>
            <a:chOff x="6248400" y="1524000"/>
            <a:chExt cx="5410200" cy="1664018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1664018"/>
            </a:xfrm>
            <a:prstGeom prst="roundRect">
              <a:avLst>
                <a:gd name="adj" fmla="val 80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1657350"/>
              <a:ext cx="47625" cy="139731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84620" y="1722120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72037" y="175641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 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77381" y="2082641"/>
              <a:ext cx="47213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G 是 AᵀA 的一个减号逆，则 Gᵀ 也是（注意对称阵的减号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逆不一定对称）：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78"/>
                <p:cNvSpPr txBox="1">
                  <a:spLocks noGrp="1"/>
                </p:cNvSpPr>
                <p:nvPr/>
              </p:nvSpPr>
              <p:spPr>
                <a:xfrm>
                  <a:off x="6484620" y="2648902"/>
                  <a:ext cx="4975860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  <m:sup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</m:sup>
                                    </m:s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</m:d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G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  <m:sup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</m:sup>
                                    </m:s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p>
                                </m:s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0" name="c2-card-2"/>
          <p:cNvGrpSpPr/>
          <p:nvPr/>
        </p:nvGrpSpPr>
        <p:grpSpPr>
          <a:xfrm>
            <a:off x="6248400" y="3368992"/>
            <a:ext cx="5410200" cy="1568768"/>
            <a:chOff x="6248400" y="3368992"/>
            <a:chExt cx="5410200" cy="1568768"/>
          </a:xfrm>
        </p:grpSpPr>
        <p:sp>
          <p:nvSpPr>
            <p:cNvPr id="34" name="Rectangle 34"/>
            <p:cNvSpPr/>
            <p:nvPr/>
          </p:nvSpPr>
          <p:spPr>
            <a:xfrm>
              <a:off x="6248400" y="3368992"/>
              <a:ext cx="5410200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3502342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84620" y="3567112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72037" y="3601402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 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77381" y="3927634"/>
              <a:ext cx="50538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AᵀA 的任一减号逆 (AᵀA)⁻，(AᵀA)⁻Aᵀ 是 A 的减号逆。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77381" y="4244816"/>
              <a:ext cx="458609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证：记 E = A(AᵀA)⁻AᵀA − A。由 AᵀA(AᵀA)⁻AᵀA = AᵀA 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AᵀE = 0；Eᵀ 的两项都以 Aᵀ 结尾，所以 EᵀE = 0，E = 0。</a:t>
              </a:r>
            </a:p>
          </p:txBody>
        </p:sp>
      </p:grpSp>
      <p:grpSp>
        <p:nvGrpSpPr>
          <p:cNvPr id="47" name="c2-callout-3"/>
          <p:cNvGrpSpPr/>
          <p:nvPr/>
        </p:nvGrpSpPr>
        <p:grpSpPr>
          <a:xfrm>
            <a:off x="6248400" y="5117782"/>
            <a:ext cx="5410200" cy="756285"/>
            <a:chOff x="6248400" y="5117782"/>
            <a:chExt cx="5410200" cy="756285"/>
          </a:xfrm>
        </p:grpSpPr>
        <p:sp>
          <p:nvSpPr>
            <p:cNvPr id="41" name="Rectangle 41"/>
            <p:cNvSpPr/>
            <p:nvPr/>
          </p:nvSpPr>
          <p:spPr>
            <a:xfrm>
              <a:off x="6248400" y="511778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453188" y="5395913"/>
              <a:ext cx="200026" cy="200025"/>
              <a:chOff x="6453188" y="5395913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453188" y="53959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492926" y="54403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27642" y="55514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755511" y="5264944"/>
              <a:ext cx="436067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AᵀA 的广义逆与 A 的广义逆密切相关，参见加号逆性质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v)、vi)。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广义逆、叉积阵与正交投影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正交投影：对称幂等阵把向量投到它的列空间上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951220" cy="1185862"/>
            <a:chOff x="533400" y="1524000"/>
            <a:chExt cx="5951220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660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内积与正交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517993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ℝⁿ 为 n 维欧式空间，内积 (x, y) = xᵀy = x₁y₁ + … + xₙyₙ。当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(x,</a:t>
              </a:r>
              <a:br/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y) = 0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时称 x 和 y 正交，记作 x ⊥ y。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2879408"/>
            <a:ext cx="5951220" cy="1743075"/>
            <a:chOff x="533400" y="2879408"/>
            <a:chExt cx="5951220" cy="1743075"/>
          </a:xfrm>
        </p:grpSpPr>
        <p:sp>
          <p:nvSpPr>
            <p:cNvPr id="13" name="Rectangle 13"/>
            <p:cNvSpPr/>
            <p:nvPr/>
          </p:nvSpPr>
          <p:spPr>
            <a:xfrm>
              <a:off x="533400" y="2879408"/>
              <a:ext cx="5951220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012758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8190" y="306609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1558" y="309895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列空间与正交补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332" y="3410902"/>
              <a:ext cx="48828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A ∈ ℝⁿˣᵐ。μ(A) = {Aβ ∈ ℝⁿ : β ∈ ℝᵐ} 为 A 的各列张成的线性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子空间（ℝⁿ 的子集，且对加法和数乘封闭）。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332" y="3968115"/>
              <a:ext cx="50114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μ(A)⊥ = {z ∈ ℝⁿ : Aᵀz = 0}，是 ℝⁿ 中所有与 A 的各列都正交的向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量组成的子空间。</a:t>
              </a:r>
            </a:p>
          </p:txBody>
        </p:sp>
      </p:grpSp>
      <p:grpSp>
        <p:nvGrpSpPr>
          <p:cNvPr id="25" name="c1-card-3"/>
          <p:cNvGrpSpPr/>
          <p:nvPr/>
        </p:nvGrpSpPr>
        <p:grpSpPr>
          <a:xfrm>
            <a:off x="533400" y="4792980"/>
            <a:ext cx="5951220" cy="1485900"/>
            <a:chOff x="533400" y="4792980"/>
            <a:chExt cx="5951220" cy="1485900"/>
          </a:xfrm>
        </p:grpSpPr>
        <p:sp>
          <p:nvSpPr>
            <p:cNvPr id="20" name="Rectangle 20"/>
            <p:cNvSpPr/>
            <p:nvPr/>
          </p:nvSpPr>
          <p:spPr>
            <a:xfrm>
              <a:off x="533400" y="4792980"/>
              <a:ext cx="5951220" cy="1485900"/>
            </a:xfrm>
            <a:prstGeom prst="roundRect">
              <a:avLst>
                <a:gd name="adj" fmla="val 8974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20090" y="497967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1560" y="501253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对称幂等阵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232" y="5323523"/>
              <a:ext cx="52772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 P 为 n 阶实对称矩阵，若 P = P²，则称 P 为对称幂等阵，此时 P 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ℝⁿ 向 μ(P) 的正交投影阵：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3232" y="5880735"/>
              <a:ext cx="53277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 = Py + (I − P)y，Py ∈ μ(P)，且 Pᵀ(I − P)y = (P − P²)y = 0。</a:t>
              </a:r>
            </a:p>
          </p:txBody>
        </p:sp>
      </p:grpSp>
      <p:grpSp>
        <p:nvGrpSpPr>
          <p:cNvPr id="28" name="c2-image-1"/>
          <p:cNvGrpSpPr/>
          <p:nvPr/>
        </p:nvGrpSpPr>
        <p:grpSpPr>
          <a:xfrm>
            <a:off x="6789420" y="1524000"/>
            <a:ext cx="4869180" cy="3502056"/>
            <a:chOff x="6789420" y="1524000"/>
            <a:chExt cx="4869180" cy="3502056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rcRect l="0" t="5920" r="0" b="5921"/>
            <a:stretch>
              <a:fillRect/>
            </a:stretch>
          </p:blipFill>
          <p:spPr>
            <a:xfrm>
              <a:off x="6789420" y="1524000"/>
              <a:ext cx="4869180" cy="3219450"/>
            </a:xfrm>
            <a:prstGeom prst="roundRect">
              <a:avLst>
                <a:gd name="adj" fmla="val 4142"/>
              </a:avLst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7635926" y="4835366"/>
              <a:ext cx="31761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竖直的光把斜杆投成地面上的影子，垂线与地面成直角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789420" y="5176838"/>
            <a:ext cx="4869180" cy="1185862"/>
            <a:chOff x="6789420" y="5176838"/>
            <a:chExt cx="4869180" cy="1185862"/>
          </a:xfrm>
        </p:grpSpPr>
        <p:sp>
          <p:nvSpPr>
            <p:cNvPr id="29" name="Rectangle 29"/>
            <p:cNvSpPr/>
            <p:nvPr/>
          </p:nvSpPr>
          <p:spPr>
            <a:xfrm>
              <a:off x="6789420" y="5176838"/>
              <a:ext cx="486918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98945" y="531018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014210" y="536352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06882" y="53963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07352" y="5708333"/>
              <a:ext cx="41370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原课件正交的定义写作“当 (x, y) 时称 x 和 y 正交”，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漏了“= 0”。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广义逆、叉积阵与正交投影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例：用投影阵求三个点的最小二乘直线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494668" cy="308039"/>
            <a:chOff x="525399" y="1550194"/>
            <a:chExt cx="1049466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49466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点 (0, 1)、(1, 2)、(2, 4)，拟合 y = β₀ + β₁x。设计矩阵 A 的第 1 列全为 1、第 2 列为 x，y = (1, 2, 4)ᵀ。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77390"/>
            <a:ext cx="5731698" cy="2529173"/>
            <a:chOff x="533400" y="1977390"/>
            <a:chExt cx="5731698" cy="2529173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2794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7850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92906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028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01168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叉积阵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304574"/>
              <a:ext cx="4547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(1 0; 1 1; 1 2)，AᵀA = (3 3; 3 5)，Aᵀy = (7, 10)ᵀ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66223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解正规方程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955131"/>
              <a:ext cx="52209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 的估计 = (AᵀA)⁻¹Aᵀy = ⅙(5 −3; −3 3)(7, 10)ᵀ = (5/6, 3/2)ᵀ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31279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投影阵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606641"/>
              <a:ext cx="40821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A(AᵀA)⁻¹Aᵀ = AA⁺ = ⅙(5 2 −1; 2 2 2; −1 2 5)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96335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拟合值与残差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257199"/>
              <a:ext cx="53190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ŷ = Py = (0.833, 2.333, 3.833)ᵀ，e = y − ŷ = (1/6, −1/3, 1/6)ᵀ</a:t>
              </a:r>
            </a:p>
          </p:txBody>
        </p:sp>
      </p:grpSp>
      <p:grpSp>
        <p:nvGrpSpPr>
          <p:cNvPr id="32" name="c1-callout-2"/>
          <p:cNvGrpSpPr/>
          <p:nvPr/>
        </p:nvGrpSpPr>
        <p:grpSpPr>
          <a:xfrm>
            <a:off x="533400" y="4684395"/>
            <a:ext cx="5951220" cy="782955"/>
            <a:chOff x="533400" y="4684395"/>
            <a:chExt cx="5951220" cy="782955"/>
          </a:xfrm>
        </p:grpSpPr>
        <p:sp>
          <p:nvSpPr>
            <p:cNvPr id="27" name="Rectangle 27"/>
            <p:cNvSpPr/>
            <p:nvPr/>
          </p:nvSpPr>
          <p:spPr>
            <a:xfrm>
              <a:off x="533400" y="4684395"/>
              <a:ext cx="5951220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4975860"/>
              <a:ext cx="200026" cy="200026"/>
              <a:chOff x="738188" y="4975860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49758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4863" y="505364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4832985"/>
              <a:ext cx="4844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验证：Aᵀe = (0, 0)ᵀ，残差与 A 的两列都正交；P² = P，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Pᵀ = P，tr P = 2 = rank A。</a:t>
              </a:r>
            </a:p>
          </p:txBody>
        </p:sp>
      </p:grpSp>
      <p:grpSp>
        <p:nvGrpSpPr>
          <p:cNvPr id="51" name="c2-graph-1"/>
          <p:cNvGrpSpPr/>
          <p:nvPr/>
        </p:nvGrpSpPr>
        <p:grpSpPr>
          <a:xfrm>
            <a:off x="6973252" y="2132171"/>
            <a:ext cx="4542653" cy="2598897"/>
            <a:chOff x="6973252" y="2132171"/>
            <a:chExt cx="4542653" cy="2598897"/>
          </a:xfrm>
        </p:grpSpPr>
        <p:sp>
          <p:nvSpPr>
            <p:cNvPr id="33" name="Freeform 33"/>
            <p:cNvSpPr/>
            <p:nvPr/>
          </p:nvSpPr>
          <p:spPr>
            <a:xfrm>
              <a:off x="6973252" y="4204335"/>
              <a:ext cx="2602230" cy="526733"/>
            </a:xfrm>
            <a:custGeom>
              <a:avLst/>
              <a:gdLst/>
              <a:ahLst/>
              <a:cxnLst/>
              <a:rect l="l" t="t" r="r" b="b"/>
              <a:pathLst>
                <a:path w="2602230" h="526733">
                  <a:moveTo>
                    <a:pt x="0" y="0"/>
                  </a:moveTo>
                  <a:lnTo>
                    <a:pt x="2602230" y="526733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651682" y="4039552"/>
              <a:ext cx="1823085" cy="685800"/>
            </a:xfrm>
            <a:custGeom>
              <a:avLst/>
              <a:gdLst/>
              <a:ahLst/>
              <a:cxnLst/>
              <a:rect l="l" t="t" r="r" b="b"/>
              <a:pathLst>
                <a:path w="1823085" h="685800">
                  <a:moveTo>
                    <a:pt x="0" y="685800"/>
                  </a:moveTo>
                  <a:lnTo>
                    <a:pt x="182308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872538" y="3489960"/>
              <a:ext cx="2602230" cy="526733"/>
            </a:xfrm>
            <a:custGeom>
              <a:avLst/>
              <a:gdLst/>
              <a:ahLst/>
              <a:cxnLst/>
              <a:rect l="l" t="t" r="r" b="b"/>
              <a:pathLst>
                <a:path w="2602230" h="526733">
                  <a:moveTo>
                    <a:pt x="2602230" y="52673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973252" y="3496628"/>
              <a:ext cx="1823085" cy="685800"/>
            </a:xfrm>
            <a:custGeom>
              <a:avLst/>
              <a:gdLst/>
              <a:ahLst/>
              <a:cxnLst/>
              <a:rect l="l" t="t" r="r" b="b"/>
              <a:pathLst>
                <a:path w="1823085" h="685800">
                  <a:moveTo>
                    <a:pt x="1823085" y="0"/>
                  </a:moveTo>
                  <a:lnTo>
                    <a:pt x="0" y="68580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809548" y="2401252"/>
              <a:ext cx="2363152" cy="1761172"/>
            </a:xfrm>
            <a:custGeom>
              <a:avLst/>
              <a:gdLst/>
              <a:ahLst/>
              <a:cxnLst/>
              <a:rect l="l" t="t" r="r" b="b"/>
              <a:pathLst>
                <a:path w="2363152" h="1761172">
                  <a:moveTo>
                    <a:pt x="0" y="1761172"/>
                  </a:moveTo>
                  <a:lnTo>
                    <a:pt x="236315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144125" y="2344102"/>
              <a:ext cx="105727" cy="95250"/>
            </a:xfrm>
            <a:custGeom>
              <a:avLst/>
              <a:gdLst/>
              <a:ahLst/>
              <a:cxnLst/>
              <a:rect l="l" t="t" r="r" b="b"/>
              <a:pathLst>
                <a:path w="105727" h="95250">
                  <a:moveTo>
                    <a:pt x="105727" y="0"/>
                  </a:moveTo>
                  <a:lnTo>
                    <a:pt x="57150" y="952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7820025" y="4089082"/>
              <a:ext cx="2323148" cy="104775"/>
            </a:xfrm>
            <a:custGeom>
              <a:avLst/>
              <a:gdLst/>
              <a:ahLst/>
              <a:cxnLst/>
              <a:rect l="l" t="t" r="r" b="b"/>
              <a:pathLst>
                <a:path w="2323148" h="104775">
                  <a:moveTo>
                    <a:pt x="0" y="104775"/>
                  </a:moveTo>
                  <a:lnTo>
                    <a:pt x="2323148" y="0"/>
                  </a:lnTo>
                </a:path>
              </a:pathLst>
            </a:custGeom>
            <a:noFill/>
            <a:ln w="17145">
              <a:solidFill>
                <a:srgbClr val="2E7D4F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0141268" y="4041458"/>
              <a:ext cx="97155" cy="95250"/>
            </a:xfrm>
            <a:custGeom>
              <a:avLst/>
              <a:gdLst/>
              <a:ahLst/>
              <a:cxnLst/>
              <a:rect l="l" t="t" r="r" b="b"/>
              <a:pathLst>
                <a:path w="97155" h="95250">
                  <a:moveTo>
                    <a:pt x="97155" y="42862"/>
                  </a:moveTo>
                  <a:lnTo>
                    <a:pt x="381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7D4F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10295572" y="2463165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156210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42" name="Freeform 42"/>
            <p:cNvSpPr/>
            <p:nvPr/>
          </p:nvSpPr>
          <p:spPr>
            <a:xfrm>
              <a:off x="10247948" y="23679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715250" y="4149090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0247948" y="4034790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0247948" y="2263140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440631" y="21321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79202" y="4303871"/>
              <a:ext cx="463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ŷ = Py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633529" y="3046571"/>
              <a:ext cx="8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e = (I − P)y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92304" y="4418171"/>
              <a:ext cx="352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μ(A)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48700" y="4303871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</p:grpSp>
      <p:grpSp>
        <p:nvGrpSpPr>
          <p:cNvPr id="58" name="c2-callout-2"/>
          <p:cNvGrpSpPr/>
          <p:nvPr/>
        </p:nvGrpSpPr>
        <p:grpSpPr>
          <a:xfrm>
            <a:off x="6789420" y="5015865"/>
            <a:ext cx="4869180" cy="782955"/>
            <a:chOff x="6789420" y="5015865"/>
            <a:chExt cx="4869180" cy="782955"/>
          </a:xfrm>
        </p:grpSpPr>
        <p:sp>
          <p:nvSpPr>
            <p:cNvPr id="52" name="Rectangle 52"/>
            <p:cNvSpPr/>
            <p:nvPr/>
          </p:nvSpPr>
          <p:spPr>
            <a:xfrm>
              <a:off x="6789420" y="5015865"/>
              <a:ext cx="486918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994208" y="5307330"/>
              <a:ext cx="200026" cy="200025"/>
              <a:chOff x="6994208" y="5307330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994208" y="53073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033946" y="53517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068662" y="54629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7296150" y="5164455"/>
              <a:ext cx="38919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EDA 中的“残差 = 原数据 − 拟合值”，在线性模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型里就是 y 减去它在列空间上的投影。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691253" cy="3351847"/>
            <a:chOff x="667512" y="1835468"/>
            <a:chExt cx="469125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统计图形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用图形检查分布形状、异常值和变量之间的关系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1148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1.4.1–1.4.2 直方图与核密度估计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7110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1.4.3–1.4.4 盒形图与茎叶图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96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1.4.5 正态 QQ 图和正态概率图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9225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1.4.6–1.4.7 散点图、曲线图与散点图矩阵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统计图形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直方图：分组计数，用矩形面积表示频率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630029" cy="1878615"/>
            <a:chOff x="533400" y="1533525"/>
            <a:chExt cx="4630029" cy="1878615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把数据范围分成 k 个等宽区间，组距为 h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512219"/>
              <a:ext cx="26493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数出落在第 j 个区间的数据个数 nⱼ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162776"/>
              <a:ext cx="42174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以区间为底画矩形；纵轴可以用频数 nⱼ，也可以用密度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81"/>
              <p:cNvSpPr txBox="1">
                <a:spLocks noGrp="1"/>
              </p:cNvSpPr>
              <p:nvPr/>
            </p:nvSpPr>
            <p:spPr>
              <a:xfrm>
                <a:off x="533400" y="3590925"/>
                <a:ext cx="5626418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</m:acc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nh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nor m:val="on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落在第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j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nor m:val="on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组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3" name="c1-text-3"/>
          <p:cNvGrpSpPr/>
          <p:nvPr/>
        </p:nvGrpSpPr>
        <p:grpSpPr>
          <a:xfrm>
            <a:off x="526923" y="4367689"/>
            <a:ext cx="5353050" cy="500824"/>
            <a:chOff x="526923" y="4367689"/>
            <a:chExt cx="5353050" cy="500824"/>
          </a:xfrm>
        </p:grpSpPr>
        <p:sp>
          <p:nvSpPr>
            <p:cNvPr id="22" name="TextBox 22"/>
            <p:cNvSpPr txBox="1"/>
            <p:nvPr/>
          </p:nvSpPr>
          <p:spPr>
            <a:xfrm>
              <a:off x="526923" y="4367689"/>
              <a:ext cx="535305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用密度作纵轴时所有矩形面积之和为 1，可以和密度曲线画在同一张图上比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较。</a:t>
              </a:r>
            </a:p>
          </p:txBody>
        </p:sp>
      </p:grpSp>
      <p:grpSp>
        <p:nvGrpSpPr>
          <p:cNvPr id="30" name="c1-callout-4"/>
          <p:cNvGrpSpPr/>
          <p:nvPr/>
        </p:nvGrpSpPr>
        <p:grpSpPr>
          <a:xfrm>
            <a:off x="533400" y="5008245"/>
            <a:ext cx="5626418" cy="1059180"/>
            <a:chOff x="533400" y="5008245"/>
            <a:chExt cx="5626418" cy="1059180"/>
          </a:xfrm>
        </p:grpSpPr>
        <p:sp>
          <p:nvSpPr>
            <p:cNvPr id="24" name="Rectangle 24"/>
            <p:cNvSpPr/>
            <p:nvPr/>
          </p:nvSpPr>
          <p:spPr>
            <a:xfrm>
              <a:off x="533400" y="5008245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26129" y="5434131"/>
              <a:ext cx="224134" cy="192560"/>
              <a:chOff x="726129" y="5434131"/>
              <a:chExt cx="224134" cy="19256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38200" y="550449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26129" y="543413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558228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5156835"/>
              <a:ext cx="46824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组距太大会抹平形状，太小会参差不齐。R 的 hist() 默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认按 Sturges 公式定大致组数 k ≈ log₂n + 1，再取整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齐的分点。</a:t>
              </a:r>
            </a:p>
          </p:txBody>
        </p:sp>
      </p:grpSp>
      <p:grpSp>
        <p:nvGrpSpPr>
          <p:cNvPr id="34" name="c2-code-1"/>
          <p:cNvGrpSpPr/>
          <p:nvPr/>
        </p:nvGrpSpPr>
        <p:grpSpPr>
          <a:xfrm>
            <a:off x="6464618" y="1524000"/>
            <a:ext cx="5193982" cy="1516380"/>
            <a:chOff x="6464618" y="1524000"/>
            <a:chExt cx="5193982" cy="1516380"/>
          </a:xfrm>
        </p:grpSpPr>
        <p:sp>
          <p:nvSpPr>
            <p:cNvPr id="31" name="Rectangle 31"/>
            <p:cNvSpPr/>
            <p:nvPr/>
          </p:nvSpPr>
          <p:spPr>
            <a:xfrm>
              <a:off x="6464618" y="1524000"/>
              <a:ext cx="5193982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93015" y="1675924"/>
              <a:ext cx="14096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R：画两种样本的直方图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92252" y="1937861"/>
              <a:ext cx="3574542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set.seed(1)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y &lt;- rnorm(200)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200 个标准正态随机数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hist(y, freq =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纵轴为密度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z &lt;- rcauchy(200)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柯西分布：重尾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hist(z, freq =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breaks = 40)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464618" y="3230880"/>
            <a:ext cx="5193982" cy="2836545"/>
            <a:chOff x="6464618" y="3230880"/>
            <a:chExt cx="5193982" cy="2836545"/>
          </a:xfrm>
        </p:grpSpPr>
        <p:sp>
          <p:nvSpPr>
            <p:cNvPr id="35" name="Rectangle 35"/>
            <p:cNvSpPr/>
            <p:nvPr/>
          </p:nvSpPr>
          <p:spPr>
            <a:xfrm>
              <a:off x="6464618" y="3230880"/>
              <a:ext cx="5193982" cy="2836545"/>
            </a:xfrm>
            <a:prstGeom prst="roundRect">
              <a:avLst>
                <a:gd name="adj" fmla="val 47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4142" y="3364230"/>
              <a:ext cx="47625" cy="25698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12268" y="3440430"/>
              <a:ext cx="23402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44871" y="3476149"/>
              <a:ext cx="2276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原课件的三张 “Histogram of y”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717983" y="388048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76098" y="3817620"/>
              <a:ext cx="34278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张近似钟形，横轴约 −2.5 到 2.5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717983" y="42157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76098" y="4152900"/>
              <a:ext cx="43872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张横轴从 −60 到 60，几乎所有数据挤进 0 附近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很窄的几个矩形，说明有少数离中心很远的值（重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尾）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717983" y="512254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76098" y="5059680"/>
              <a:ext cx="4263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张在第 2 张上叠加了红色的核密度曲线，横轴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上标出了数据点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统计图形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核密度估计：把每个数据点换成一个光滑的小山包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84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ˆ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</m:acc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nh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3" name="c1-kv-2"/>
          <p:cNvGrpSpPr/>
          <p:nvPr/>
        </p:nvGrpSpPr>
        <p:grpSpPr>
          <a:xfrm>
            <a:off x="525780" y="2539365"/>
            <a:ext cx="5634038" cy="1297305"/>
            <a:chOff x="525780" y="2539365"/>
            <a:chExt cx="5634038" cy="1297305"/>
          </a:xfrm>
        </p:grpSpPr>
        <p:sp>
          <p:nvSpPr>
            <p:cNvPr id="8" name="TextBox 8"/>
            <p:cNvSpPr txBox="1"/>
            <p:nvPr/>
          </p:nvSpPr>
          <p:spPr>
            <a:xfrm>
              <a:off x="525780" y="2539365"/>
              <a:ext cx="811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核函数 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45907" y="2539365"/>
              <a:ext cx="36728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非负、积分为 1，常用标准正态密度 φ(u) =</a:t>
              </a:r>
              <a:br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exp(−u²/2)/√(2π)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" y="31413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5780" y="3261360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带宽 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45907" y="3261360"/>
              <a:ext cx="43395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作用同直方图的组距：h 大曲线平滑，h 小曲线起伏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</a:t>
              </a:r>
            </a:p>
          </p:txBody>
        </p:sp>
      </p:grpSp>
      <p:grpSp>
        <p:nvGrpSpPr>
          <p:cNvPr id="15" name="c1-text-3"/>
          <p:cNvGrpSpPr/>
          <p:nvPr/>
        </p:nvGrpSpPr>
        <p:grpSpPr>
          <a:xfrm>
            <a:off x="525780" y="3992880"/>
            <a:ext cx="5715572" cy="293370"/>
            <a:chOff x="525780" y="3992880"/>
            <a:chExt cx="5715572" cy="293370"/>
          </a:xfrm>
        </p:grpSpPr>
        <p:sp>
          <p:nvSpPr>
            <p:cNvPr id="14" name="TextBox 14"/>
            <p:cNvSpPr txBox="1"/>
            <p:nvPr/>
          </p:nvSpPr>
          <p:spPr>
            <a:xfrm>
              <a:off x="525780" y="3992880"/>
              <a:ext cx="57155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的 density() 默认带宽（bw.nrd0，Silverman 经验公式）：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ormula85"/>
              <p:cNvSpPr txBox="1">
                <a:spLocks noGrp="1"/>
              </p:cNvSpPr>
              <p:nvPr/>
            </p:nvSpPr>
            <p:spPr>
              <a:xfrm>
                <a:off x="533400" y="4417695"/>
                <a:ext cx="5626418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0.9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IQR</m:t>
                                  </m:r>
                                </m:num>
                                <m:den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1.34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s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20" name="c1-code-5"/>
          <p:cNvGrpSpPr/>
          <p:nvPr/>
        </p:nvGrpSpPr>
        <p:grpSpPr>
          <a:xfrm>
            <a:off x="533400" y="5122545"/>
            <a:ext cx="5626418" cy="1110615"/>
            <a:chOff x="533400" y="5122545"/>
            <a:chExt cx="5626418" cy="1110615"/>
          </a:xfrm>
        </p:grpSpPr>
        <p:sp>
          <p:nvSpPr>
            <p:cNvPr id="17" name="Rectangle 17"/>
            <p:cNvSpPr/>
            <p:nvPr/>
          </p:nvSpPr>
          <p:spPr>
            <a:xfrm>
              <a:off x="533400" y="5122545"/>
              <a:ext cx="5626418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1797" y="5274469"/>
              <a:ext cx="16735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R：直方图上叠加核密度曲线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1035" y="5536406"/>
              <a:ext cx="2436622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hist(y, freq =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lines(density(y), col =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"red"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rug(y)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在横轴上画出每个数据点</a:t>
              </a:r>
            </a:p>
          </p:txBody>
        </p:sp>
      </p:grpSp>
      <p:grpSp>
        <p:nvGrpSpPr>
          <p:cNvPr id="25" name="c2-card-1"/>
          <p:cNvGrpSpPr/>
          <p:nvPr/>
        </p:nvGrpSpPr>
        <p:grpSpPr>
          <a:xfrm>
            <a:off x="6464618" y="1524000"/>
            <a:ext cx="5193982" cy="1602105"/>
            <a:chOff x="6464618" y="1524000"/>
            <a:chExt cx="5193982" cy="1602105"/>
          </a:xfrm>
        </p:grpSpPr>
        <p:sp>
          <p:nvSpPr>
            <p:cNvPr id="21" name="Rectangle 21"/>
            <p:cNvSpPr/>
            <p:nvPr/>
          </p:nvSpPr>
          <p:spPr>
            <a:xfrm>
              <a:off x="6464618" y="1524000"/>
              <a:ext cx="5193982" cy="1602105"/>
            </a:xfrm>
            <a:prstGeom prst="roundRect">
              <a:avLst>
                <a:gd name="adj" fmla="val 832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74168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56476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直观理解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6548" y="2110740"/>
              <a:ext cx="45205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在每个 xᵢ 处放一个以 xᵢ 为中心、面积为 1/n 的小山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包，把 n 个小山包加起来就是密度估计。和直方图相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比，曲线光滑，也不依赖分组的起点。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464618" y="3316605"/>
            <a:ext cx="5193982" cy="2916555"/>
            <a:chOff x="6464618" y="3316605"/>
            <a:chExt cx="5193982" cy="2916555"/>
          </a:xfrm>
        </p:grpSpPr>
        <p:sp>
          <p:nvSpPr>
            <p:cNvPr id="26" name="Rectangle 26"/>
            <p:cNvSpPr/>
            <p:nvPr/>
          </p:nvSpPr>
          <p:spPr>
            <a:xfrm>
              <a:off x="6464618" y="3316605"/>
              <a:ext cx="5193982" cy="2916555"/>
            </a:xfrm>
            <a:prstGeom prst="roundRect">
              <a:avLst>
                <a:gd name="adj" fmla="val 45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4142" y="3449955"/>
              <a:ext cx="47625" cy="26498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712268" y="352615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07378" y="356187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71373" y="3561398"/>
              <a:ext cx="23789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Bendixen 数据的默认带宽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04648" y="3922395"/>
              <a:ext cx="4311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≈ 20.47，IQR = 23，IQR/1.34 ≈ 17.16，取较小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04648" y="4543425"/>
              <a:ext cx="2912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11，n 的 −1/5 次方 ≈ 0.619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04648" y="4878705"/>
              <a:ext cx="29432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≈ 0.9 × 17.16 × 0.619 ≈ 9.56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统计图形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看图读分布：钟形、重尾，以及叠加的核密度曲线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2" name="h-normal"/>
          <p:cNvGrpSpPr/>
          <p:nvPr/>
        </p:nvGrpSpPr>
        <p:grpSpPr>
          <a:xfrm>
            <a:off x="533400" y="1524000"/>
            <a:ext cx="3581400" cy="3352800"/>
            <a:chOff x="533400" y="1524000"/>
            <a:chExt cx="3581400" cy="33528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81400" cy="3352800"/>
            </a:xfrm>
            <a:prstGeom prst="roundRect">
              <a:avLst>
                <a:gd name="adj" fmla="val 3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8754" y="1661160"/>
              <a:ext cx="12774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正态样本 n = 200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28700" y="2152650"/>
              <a:ext cx="2933700" cy="2381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1028700" y="45339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28700" y="3995738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028700" y="3458528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028700" y="2920365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28700" y="2383155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28700" y="45339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28700" y="2152650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28700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57301" y="46272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562100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90701" y="46272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2095500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24101" y="46272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2628900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590819" y="46272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3162300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124219" y="46272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3695700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657619" y="46272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981075" y="453390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81101" y="44748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981075" y="3995738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7827" y="3936682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981075" y="3458528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7827" y="3399473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981075" y="292036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7827" y="286131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981075" y="238315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7827" y="232410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80897" y="19711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密度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28700" y="4426268"/>
              <a:ext cx="266700" cy="107632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295400" y="4318635"/>
              <a:ext cx="266700" cy="215265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562100" y="4157662"/>
              <a:ext cx="266700" cy="376238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828800" y="3781425"/>
              <a:ext cx="266700" cy="752475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2095500" y="3135630"/>
              <a:ext cx="266700" cy="1398270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2362200" y="2651760"/>
              <a:ext cx="266700" cy="1882140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2628900" y="2328862"/>
              <a:ext cx="266700" cy="2205038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895600" y="2867025"/>
              <a:ext cx="266700" cy="1666875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3162300" y="3243262"/>
              <a:ext cx="266700" cy="1290638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3429000" y="3942398"/>
              <a:ext cx="266700" cy="591502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3695700" y="4265295"/>
              <a:ext cx="266700" cy="268605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028700" y="2504122"/>
              <a:ext cx="2933700" cy="1997393"/>
            </a:xfrm>
            <a:custGeom>
              <a:avLst/>
              <a:gdLst/>
              <a:ahLst/>
              <a:cxnLst/>
              <a:rect l="l" t="t" r="r" b="b"/>
              <a:pathLst>
                <a:path w="2933700" h="1997393">
                  <a:moveTo>
                    <a:pt x="0" y="1997393"/>
                  </a:moveTo>
                  <a:lnTo>
                    <a:pt x="12382" y="1992630"/>
                  </a:lnTo>
                  <a:lnTo>
                    <a:pt x="24765" y="1987868"/>
                  </a:lnTo>
                  <a:lnTo>
                    <a:pt x="37148" y="1983105"/>
                  </a:lnTo>
                  <a:lnTo>
                    <a:pt x="49530" y="1977390"/>
                  </a:lnTo>
                  <a:lnTo>
                    <a:pt x="60960" y="1971675"/>
                  </a:lnTo>
                  <a:lnTo>
                    <a:pt x="73343" y="1965008"/>
                  </a:lnTo>
                  <a:lnTo>
                    <a:pt x="85725" y="1958340"/>
                  </a:lnTo>
                  <a:lnTo>
                    <a:pt x="98107" y="1951673"/>
                  </a:lnTo>
                  <a:lnTo>
                    <a:pt x="110490" y="1944053"/>
                  </a:lnTo>
                  <a:lnTo>
                    <a:pt x="122873" y="1937385"/>
                  </a:lnTo>
                  <a:lnTo>
                    <a:pt x="135255" y="1928812"/>
                  </a:lnTo>
                  <a:lnTo>
                    <a:pt x="147638" y="1921193"/>
                  </a:lnTo>
                  <a:lnTo>
                    <a:pt x="160020" y="1913573"/>
                  </a:lnTo>
                  <a:lnTo>
                    <a:pt x="171450" y="1905000"/>
                  </a:lnTo>
                  <a:lnTo>
                    <a:pt x="183832" y="1897380"/>
                  </a:lnTo>
                  <a:lnTo>
                    <a:pt x="196215" y="1889760"/>
                  </a:lnTo>
                  <a:lnTo>
                    <a:pt x="208598" y="1882140"/>
                  </a:lnTo>
                  <a:lnTo>
                    <a:pt x="220980" y="1874520"/>
                  </a:lnTo>
                  <a:lnTo>
                    <a:pt x="233362" y="1866900"/>
                  </a:lnTo>
                  <a:lnTo>
                    <a:pt x="245745" y="1860232"/>
                  </a:lnTo>
                  <a:lnTo>
                    <a:pt x="258127" y="1853565"/>
                  </a:lnTo>
                  <a:lnTo>
                    <a:pt x="270510" y="1847850"/>
                  </a:lnTo>
                  <a:lnTo>
                    <a:pt x="281940" y="1842135"/>
                  </a:lnTo>
                  <a:lnTo>
                    <a:pt x="294323" y="1836420"/>
                  </a:lnTo>
                  <a:lnTo>
                    <a:pt x="306705" y="1831658"/>
                  </a:lnTo>
                  <a:lnTo>
                    <a:pt x="319088" y="1826895"/>
                  </a:lnTo>
                  <a:lnTo>
                    <a:pt x="331470" y="1823085"/>
                  </a:lnTo>
                  <a:lnTo>
                    <a:pt x="343852" y="1820228"/>
                  </a:lnTo>
                  <a:lnTo>
                    <a:pt x="356235" y="1816418"/>
                  </a:lnTo>
                  <a:lnTo>
                    <a:pt x="368617" y="1813560"/>
                  </a:lnTo>
                  <a:lnTo>
                    <a:pt x="380048" y="1811655"/>
                  </a:lnTo>
                  <a:lnTo>
                    <a:pt x="392430" y="1808798"/>
                  </a:lnTo>
                  <a:lnTo>
                    <a:pt x="404812" y="1806893"/>
                  </a:lnTo>
                  <a:lnTo>
                    <a:pt x="417195" y="1804035"/>
                  </a:lnTo>
                  <a:lnTo>
                    <a:pt x="429577" y="1802130"/>
                  </a:lnTo>
                  <a:lnTo>
                    <a:pt x="441960" y="1799273"/>
                  </a:lnTo>
                  <a:lnTo>
                    <a:pt x="454342" y="1796415"/>
                  </a:lnTo>
                  <a:lnTo>
                    <a:pt x="466725" y="1793558"/>
                  </a:lnTo>
                  <a:lnTo>
                    <a:pt x="479108" y="1789748"/>
                  </a:lnTo>
                  <a:lnTo>
                    <a:pt x="490538" y="1784985"/>
                  </a:lnTo>
                  <a:lnTo>
                    <a:pt x="502920" y="1780223"/>
                  </a:lnTo>
                  <a:lnTo>
                    <a:pt x="515302" y="1774508"/>
                  </a:lnTo>
                  <a:lnTo>
                    <a:pt x="527685" y="1767840"/>
                  </a:lnTo>
                  <a:lnTo>
                    <a:pt x="540067" y="1760220"/>
                  </a:lnTo>
                  <a:lnTo>
                    <a:pt x="552450" y="1751648"/>
                  </a:lnTo>
                  <a:lnTo>
                    <a:pt x="564833" y="1742123"/>
                  </a:lnTo>
                  <a:lnTo>
                    <a:pt x="577215" y="1732598"/>
                  </a:lnTo>
                  <a:lnTo>
                    <a:pt x="589598" y="1721168"/>
                  </a:lnTo>
                  <a:lnTo>
                    <a:pt x="601028" y="1708785"/>
                  </a:lnTo>
                  <a:lnTo>
                    <a:pt x="613410" y="1695450"/>
                  </a:lnTo>
                  <a:lnTo>
                    <a:pt x="625792" y="1682115"/>
                  </a:lnTo>
                  <a:lnTo>
                    <a:pt x="638175" y="1666875"/>
                  </a:lnTo>
                  <a:lnTo>
                    <a:pt x="650558" y="1651635"/>
                  </a:lnTo>
                  <a:lnTo>
                    <a:pt x="662940" y="1635443"/>
                  </a:lnTo>
                  <a:lnTo>
                    <a:pt x="675322" y="1618298"/>
                  </a:lnTo>
                  <a:lnTo>
                    <a:pt x="687705" y="1600200"/>
                  </a:lnTo>
                  <a:lnTo>
                    <a:pt x="700088" y="1582103"/>
                  </a:lnTo>
                  <a:lnTo>
                    <a:pt x="711517" y="1564005"/>
                  </a:lnTo>
                  <a:lnTo>
                    <a:pt x="723900" y="1544003"/>
                  </a:lnTo>
                  <a:lnTo>
                    <a:pt x="736283" y="1524953"/>
                  </a:lnTo>
                  <a:lnTo>
                    <a:pt x="748665" y="1504950"/>
                  </a:lnTo>
                  <a:lnTo>
                    <a:pt x="761048" y="1483995"/>
                  </a:lnTo>
                  <a:lnTo>
                    <a:pt x="773430" y="1463040"/>
                  </a:lnTo>
                  <a:lnTo>
                    <a:pt x="785812" y="1442085"/>
                  </a:lnTo>
                  <a:lnTo>
                    <a:pt x="798195" y="1420178"/>
                  </a:lnTo>
                  <a:lnTo>
                    <a:pt x="810578" y="1398270"/>
                  </a:lnTo>
                  <a:lnTo>
                    <a:pt x="822008" y="1376362"/>
                  </a:lnTo>
                  <a:lnTo>
                    <a:pt x="834390" y="1354455"/>
                  </a:lnTo>
                  <a:lnTo>
                    <a:pt x="846772" y="1330643"/>
                  </a:lnTo>
                  <a:lnTo>
                    <a:pt x="859155" y="1307782"/>
                  </a:lnTo>
                  <a:lnTo>
                    <a:pt x="871538" y="1283970"/>
                  </a:lnTo>
                  <a:lnTo>
                    <a:pt x="883920" y="1260158"/>
                  </a:lnTo>
                  <a:lnTo>
                    <a:pt x="896302" y="1236345"/>
                  </a:lnTo>
                  <a:lnTo>
                    <a:pt x="908685" y="1211580"/>
                  </a:lnTo>
                  <a:lnTo>
                    <a:pt x="921067" y="1185862"/>
                  </a:lnTo>
                  <a:lnTo>
                    <a:pt x="932498" y="1161098"/>
                  </a:lnTo>
                  <a:lnTo>
                    <a:pt x="944880" y="1135380"/>
                  </a:lnTo>
                  <a:lnTo>
                    <a:pt x="957262" y="1109662"/>
                  </a:lnTo>
                  <a:lnTo>
                    <a:pt x="969645" y="1082993"/>
                  </a:lnTo>
                  <a:lnTo>
                    <a:pt x="982028" y="1057275"/>
                  </a:lnTo>
                  <a:lnTo>
                    <a:pt x="994410" y="1030605"/>
                  </a:lnTo>
                  <a:lnTo>
                    <a:pt x="1006792" y="1003935"/>
                  </a:lnTo>
                  <a:lnTo>
                    <a:pt x="1019175" y="977265"/>
                  </a:lnTo>
                  <a:lnTo>
                    <a:pt x="1031558" y="950595"/>
                  </a:lnTo>
                  <a:lnTo>
                    <a:pt x="1042988" y="923925"/>
                  </a:lnTo>
                  <a:lnTo>
                    <a:pt x="1055370" y="897255"/>
                  </a:lnTo>
                  <a:lnTo>
                    <a:pt x="1067752" y="870585"/>
                  </a:lnTo>
                  <a:lnTo>
                    <a:pt x="1080135" y="843915"/>
                  </a:lnTo>
                  <a:lnTo>
                    <a:pt x="1092518" y="818198"/>
                  </a:lnTo>
                  <a:lnTo>
                    <a:pt x="1104900" y="792480"/>
                  </a:lnTo>
                  <a:lnTo>
                    <a:pt x="1117282" y="765810"/>
                  </a:lnTo>
                  <a:lnTo>
                    <a:pt x="1129665" y="740093"/>
                  </a:lnTo>
                  <a:lnTo>
                    <a:pt x="1141095" y="715328"/>
                  </a:lnTo>
                  <a:lnTo>
                    <a:pt x="1153478" y="689610"/>
                  </a:lnTo>
                  <a:lnTo>
                    <a:pt x="1165860" y="664845"/>
                  </a:lnTo>
                  <a:lnTo>
                    <a:pt x="1178242" y="640080"/>
                  </a:lnTo>
                  <a:lnTo>
                    <a:pt x="1190625" y="615315"/>
                  </a:lnTo>
                  <a:lnTo>
                    <a:pt x="1203008" y="591503"/>
                  </a:lnTo>
                  <a:lnTo>
                    <a:pt x="1215390" y="566738"/>
                  </a:lnTo>
                  <a:lnTo>
                    <a:pt x="1227772" y="542925"/>
                  </a:lnTo>
                  <a:lnTo>
                    <a:pt x="1240155" y="519112"/>
                  </a:lnTo>
                  <a:lnTo>
                    <a:pt x="1251585" y="495300"/>
                  </a:lnTo>
                  <a:lnTo>
                    <a:pt x="1263968" y="471488"/>
                  </a:lnTo>
                  <a:lnTo>
                    <a:pt x="1276350" y="447675"/>
                  </a:lnTo>
                  <a:lnTo>
                    <a:pt x="1288732" y="424815"/>
                  </a:lnTo>
                  <a:lnTo>
                    <a:pt x="1301115" y="401955"/>
                  </a:lnTo>
                  <a:lnTo>
                    <a:pt x="1313498" y="379095"/>
                  </a:lnTo>
                  <a:lnTo>
                    <a:pt x="1325880" y="356235"/>
                  </a:lnTo>
                  <a:lnTo>
                    <a:pt x="1338262" y="334328"/>
                  </a:lnTo>
                  <a:lnTo>
                    <a:pt x="1350645" y="312420"/>
                  </a:lnTo>
                  <a:lnTo>
                    <a:pt x="1362075" y="291465"/>
                  </a:lnTo>
                  <a:lnTo>
                    <a:pt x="1374458" y="270510"/>
                  </a:lnTo>
                  <a:lnTo>
                    <a:pt x="1386840" y="249555"/>
                  </a:lnTo>
                  <a:lnTo>
                    <a:pt x="1399222" y="230505"/>
                  </a:lnTo>
                  <a:lnTo>
                    <a:pt x="1411605" y="210503"/>
                  </a:lnTo>
                  <a:lnTo>
                    <a:pt x="1423988" y="191453"/>
                  </a:lnTo>
                  <a:lnTo>
                    <a:pt x="1436370" y="173355"/>
                  </a:lnTo>
                  <a:lnTo>
                    <a:pt x="1448753" y="156210"/>
                  </a:lnTo>
                  <a:lnTo>
                    <a:pt x="1461135" y="139065"/>
                  </a:lnTo>
                  <a:lnTo>
                    <a:pt x="1472565" y="123825"/>
                  </a:lnTo>
                  <a:lnTo>
                    <a:pt x="1484947" y="108585"/>
                  </a:lnTo>
                  <a:lnTo>
                    <a:pt x="1497330" y="94298"/>
                  </a:lnTo>
                  <a:lnTo>
                    <a:pt x="1509712" y="80010"/>
                  </a:lnTo>
                  <a:lnTo>
                    <a:pt x="1522095" y="67628"/>
                  </a:lnTo>
                  <a:lnTo>
                    <a:pt x="1534478" y="56198"/>
                  </a:lnTo>
                  <a:lnTo>
                    <a:pt x="1546860" y="45720"/>
                  </a:lnTo>
                  <a:lnTo>
                    <a:pt x="1559242" y="35243"/>
                  </a:lnTo>
                  <a:lnTo>
                    <a:pt x="1571625" y="26670"/>
                  </a:lnTo>
                  <a:lnTo>
                    <a:pt x="1583055" y="20003"/>
                  </a:lnTo>
                  <a:lnTo>
                    <a:pt x="1595438" y="13335"/>
                  </a:lnTo>
                  <a:lnTo>
                    <a:pt x="1607820" y="8573"/>
                  </a:lnTo>
                  <a:lnTo>
                    <a:pt x="1620203" y="3810"/>
                  </a:lnTo>
                  <a:lnTo>
                    <a:pt x="1632585" y="1905"/>
                  </a:lnTo>
                  <a:lnTo>
                    <a:pt x="1644968" y="0"/>
                  </a:lnTo>
                  <a:lnTo>
                    <a:pt x="1657350" y="0"/>
                  </a:lnTo>
                  <a:lnTo>
                    <a:pt x="1669732" y="1905"/>
                  </a:lnTo>
                  <a:lnTo>
                    <a:pt x="1682115" y="4762"/>
                  </a:lnTo>
                  <a:lnTo>
                    <a:pt x="1693545" y="8573"/>
                  </a:lnTo>
                  <a:lnTo>
                    <a:pt x="1705928" y="13335"/>
                  </a:lnTo>
                  <a:lnTo>
                    <a:pt x="1718310" y="20003"/>
                  </a:lnTo>
                  <a:lnTo>
                    <a:pt x="1730692" y="27623"/>
                  </a:lnTo>
                  <a:lnTo>
                    <a:pt x="1743075" y="36195"/>
                  </a:lnTo>
                  <a:lnTo>
                    <a:pt x="1755458" y="45720"/>
                  </a:lnTo>
                  <a:lnTo>
                    <a:pt x="1767840" y="57150"/>
                  </a:lnTo>
                  <a:lnTo>
                    <a:pt x="1780222" y="68580"/>
                  </a:lnTo>
                  <a:lnTo>
                    <a:pt x="1792605" y="80962"/>
                  </a:lnTo>
                  <a:lnTo>
                    <a:pt x="1804035" y="93345"/>
                  </a:lnTo>
                  <a:lnTo>
                    <a:pt x="1816418" y="107633"/>
                  </a:lnTo>
                  <a:lnTo>
                    <a:pt x="1828800" y="120968"/>
                  </a:lnTo>
                  <a:lnTo>
                    <a:pt x="1841182" y="136208"/>
                  </a:lnTo>
                  <a:lnTo>
                    <a:pt x="1853565" y="150495"/>
                  </a:lnTo>
                  <a:lnTo>
                    <a:pt x="1865947" y="165735"/>
                  </a:lnTo>
                  <a:lnTo>
                    <a:pt x="1878330" y="180975"/>
                  </a:lnTo>
                  <a:lnTo>
                    <a:pt x="1890712" y="196215"/>
                  </a:lnTo>
                  <a:lnTo>
                    <a:pt x="1902142" y="211455"/>
                  </a:lnTo>
                  <a:lnTo>
                    <a:pt x="1914525" y="226695"/>
                  </a:lnTo>
                  <a:lnTo>
                    <a:pt x="1926908" y="242888"/>
                  </a:lnTo>
                  <a:lnTo>
                    <a:pt x="1939290" y="258128"/>
                  </a:lnTo>
                  <a:lnTo>
                    <a:pt x="1951672" y="273368"/>
                  </a:lnTo>
                  <a:lnTo>
                    <a:pt x="1964055" y="288608"/>
                  </a:lnTo>
                  <a:lnTo>
                    <a:pt x="1976438" y="303848"/>
                  </a:lnTo>
                  <a:lnTo>
                    <a:pt x="1988820" y="320040"/>
                  </a:lnTo>
                  <a:lnTo>
                    <a:pt x="2001203" y="335280"/>
                  </a:lnTo>
                  <a:lnTo>
                    <a:pt x="2012632" y="351473"/>
                  </a:lnTo>
                  <a:lnTo>
                    <a:pt x="2025015" y="367665"/>
                  </a:lnTo>
                  <a:lnTo>
                    <a:pt x="2037397" y="384810"/>
                  </a:lnTo>
                  <a:lnTo>
                    <a:pt x="2049780" y="401003"/>
                  </a:lnTo>
                  <a:lnTo>
                    <a:pt x="2062162" y="419100"/>
                  </a:lnTo>
                  <a:lnTo>
                    <a:pt x="2074545" y="437198"/>
                  </a:lnTo>
                  <a:lnTo>
                    <a:pt x="2086928" y="455295"/>
                  </a:lnTo>
                  <a:lnTo>
                    <a:pt x="2099310" y="475298"/>
                  </a:lnTo>
                  <a:lnTo>
                    <a:pt x="2111692" y="495300"/>
                  </a:lnTo>
                  <a:lnTo>
                    <a:pt x="2123122" y="516255"/>
                  </a:lnTo>
                  <a:lnTo>
                    <a:pt x="2135505" y="538162"/>
                  </a:lnTo>
                  <a:lnTo>
                    <a:pt x="2147888" y="560070"/>
                  </a:lnTo>
                  <a:lnTo>
                    <a:pt x="2160270" y="583883"/>
                  </a:lnTo>
                  <a:lnTo>
                    <a:pt x="2172652" y="608648"/>
                  </a:lnTo>
                  <a:lnTo>
                    <a:pt x="2185035" y="634365"/>
                  </a:lnTo>
                  <a:lnTo>
                    <a:pt x="2197418" y="660083"/>
                  </a:lnTo>
                  <a:lnTo>
                    <a:pt x="2209800" y="687705"/>
                  </a:lnTo>
                  <a:lnTo>
                    <a:pt x="2222182" y="715328"/>
                  </a:lnTo>
                  <a:lnTo>
                    <a:pt x="2233612" y="743903"/>
                  </a:lnTo>
                  <a:lnTo>
                    <a:pt x="2245995" y="773430"/>
                  </a:lnTo>
                  <a:lnTo>
                    <a:pt x="2258378" y="802958"/>
                  </a:lnTo>
                  <a:lnTo>
                    <a:pt x="2270760" y="832485"/>
                  </a:lnTo>
                  <a:lnTo>
                    <a:pt x="2283142" y="862965"/>
                  </a:lnTo>
                  <a:lnTo>
                    <a:pt x="2295525" y="893445"/>
                  </a:lnTo>
                  <a:lnTo>
                    <a:pt x="2307908" y="923925"/>
                  </a:lnTo>
                  <a:lnTo>
                    <a:pt x="2320290" y="953453"/>
                  </a:lnTo>
                  <a:lnTo>
                    <a:pt x="2332672" y="983933"/>
                  </a:lnTo>
                  <a:lnTo>
                    <a:pt x="2344102" y="1013460"/>
                  </a:lnTo>
                  <a:lnTo>
                    <a:pt x="2356485" y="1042988"/>
                  </a:lnTo>
                  <a:lnTo>
                    <a:pt x="2368868" y="1071562"/>
                  </a:lnTo>
                  <a:lnTo>
                    <a:pt x="2381250" y="1099185"/>
                  </a:lnTo>
                  <a:lnTo>
                    <a:pt x="2393632" y="1125855"/>
                  </a:lnTo>
                  <a:lnTo>
                    <a:pt x="2406015" y="1152525"/>
                  </a:lnTo>
                  <a:lnTo>
                    <a:pt x="2418398" y="1178243"/>
                  </a:lnTo>
                  <a:lnTo>
                    <a:pt x="2430780" y="1203008"/>
                  </a:lnTo>
                  <a:lnTo>
                    <a:pt x="2443162" y="1226820"/>
                  </a:lnTo>
                  <a:lnTo>
                    <a:pt x="2454592" y="1249680"/>
                  </a:lnTo>
                  <a:lnTo>
                    <a:pt x="2466975" y="1271588"/>
                  </a:lnTo>
                  <a:lnTo>
                    <a:pt x="2479358" y="1292543"/>
                  </a:lnTo>
                  <a:lnTo>
                    <a:pt x="2491740" y="1313498"/>
                  </a:lnTo>
                  <a:lnTo>
                    <a:pt x="2504122" y="1333500"/>
                  </a:lnTo>
                  <a:lnTo>
                    <a:pt x="2516505" y="1352550"/>
                  </a:lnTo>
                  <a:lnTo>
                    <a:pt x="2528888" y="1371600"/>
                  </a:lnTo>
                  <a:lnTo>
                    <a:pt x="2541270" y="1389698"/>
                  </a:lnTo>
                  <a:lnTo>
                    <a:pt x="2553652" y="1407795"/>
                  </a:lnTo>
                  <a:lnTo>
                    <a:pt x="2565082" y="1424940"/>
                  </a:lnTo>
                  <a:lnTo>
                    <a:pt x="2577465" y="1443038"/>
                  </a:lnTo>
                  <a:lnTo>
                    <a:pt x="2589848" y="1460182"/>
                  </a:lnTo>
                  <a:lnTo>
                    <a:pt x="2602230" y="1477328"/>
                  </a:lnTo>
                  <a:lnTo>
                    <a:pt x="2614612" y="1495425"/>
                  </a:lnTo>
                  <a:lnTo>
                    <a:pt x="2626995" y="1512570"/>
                  </a:lnTo>
                  <a:lnTo>
                    <a:pt x="2639378" y="1530668"/>
                  </a:lnTo>
                  <a:lnTo>
                    <a:pt x="2651760" y="1548765"/>
                  </a:lnTo>
                  <a:lnTo>
                    <a:pt x="2663190" y="1566862"/>
                  </a:lnTo>
                  <a:lnTo>
                    <a:pt x="2675572" y="1584960"/>
                  </a:lnTo>
                  <a:lnTo>
                    <a:pt x="2687955" y="1603058"/>
                  </a:lnTo>
                  <a:lnTo>
                    <a:pt x="2700338" y="1622108"/>
                  </a:lnTo>
                  <a:lnTo>
                    <a:pt x="2712720" y="1641158"/>
                  </a:lnTo>
                  <a:lnTo>
                    <a:pt x="2725102" y="1660208"/>
                  </a:lnTo>
                  <a:lnTo>
                    <a:pt x="2737485" y="1679258"/>
                  </a:lnTo>
                  <a:lnTo>
                    <a:pt x="2749868" y="1698308"/>
                  </a:lnTo>
                  <a:lnTo>
                    <a:pt x="2762250" y="1718310"/>
                  </a:lnTo>
                  <a:lnTo>
                    <a:pt x="2773680" y="1736408"/>
                  </a:lnTo>
                  <a:lnTo>
                    <a:pt x="2786062" y="1755458"/>
                  </a:lnTo>
                  <a:lnTo>
                    <a:pt x="2798445" y="1773555"/>
                  </a:lnTo>
                  <a:lnTo>
                    <a:pt x="2810828" y="1791653"/>
                  </a:lnTo>
                  <a:lnTo>
                    <a:pt x="2823210" y="1809750"/>
                  </a:lnTo>
                  <a:lnTo>
                    <a:pt x="2835592" y="1826895"/>
                  </a:lnTo>
                  <a:lnTo>
                    <a:pt x="2847975" y="1843088"/>
                  </a:lnTo>
                  <a:lnTo>
                    <a:pt x="2860358" y="1859280"/>
                  </a:lnTo>
                  <a:lnTo>
                    <a:pt x="2872740" y="1874520"/>
                  </a:lnTo>
                  <a:lnTo>
                    <a:pt x="2884170" y="1888808"/>
                  </a:lnTo>
                  <a:lnTo>
                    <a:pt x="2896552" y="1902143"/>
                  </a:lnTo>
                  <a:lnTo>
                    <a:pt x="2908935" y="1914525"/>
                  </a:lnTo>
                  <a:lnTo>
                    <a:pt x="2921318" y="1926908"/>
                  </a:lnTo>
                  <a:lnTo>
                    <a:pt x="2933700" y="1937385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287178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313848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212883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246697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310324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312229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239839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360330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272605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326707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232981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227933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300990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261080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292798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246697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275177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217170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141541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1" name="Line 71"/>
            <p:cNvSpPr/>
            <p:nvPr/>
          </p:nvSpPr>
          <p:spPr>
            <a:xfrm>
              <a:off x="235458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2" name="Line 72"/>
            <p:cNvSpPr/>
            <p:nvPr/>
          </p:nvSpPr>
          <p:spPr>
            <a:xfrm>
              <a:off x="295179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3" name="Line 73"/>
            <p:cNvSpPr/>
            <p:nvPr/>
          </p:nvSpPr>
          <p:spPr>
            <a:xfrm>
              <a:off x="289274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4" name="Line 74"/>
            <p:cNvSpPr/>
            <p:nvPr/>
          </p:nvSpPr>
          <p:spPr>
            <a:xfrm>
              <a:off x="266509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5" name="Line 75"/>
            <p:cNvSpPr/>
            <p:nvPr/>
          </p:nvSpPr>
          <p:spPr>
            <a:xfrm>
              <a:off x="218503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6" name="Line 76"/>
            <p:cNvSpPr/>
            <p:nvPr/>
          </p:nvSpPr>
          <p:spPr>
            <a:xfrm>
              <a:off x="294989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7" name="Line 77"/>
            <p:cNvSpPr/>
            <p:nvPr/>
          </p:nvSpPr>
          <p:spPr>
            <a:xfrm>
              <a:off x="320992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246888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9" name="Line 79"/>
            <p:cNvSpPr/>
            <p:nvPr/>
          </p:nvSpPr>
          <p:spPr>
            <a:xfrm>
              <a:off x="232981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282321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81" name="Line 81"/>
            <p:cNvSpPr/>
            <p:nvPr/>
          </p:nvSpPr>
          <p:spPr>
            <a:xfrm>
              <a:off x="204787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82" name="Line 82"/>
            <p:cNvSpPr/>
            <p:nvPr/>
          </p:nvSpPr>
          <p:spPr>
            <a:xfrm>
              <a:off x="370141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83" name="Line 83"/>
            <p:cNvSpPr/>
            <p:nvPr/>
          </p:nvSpPr>
          <p:spPr>
            <a:xfrm>
              <a:off x="278796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84" name="Line 84"/>
            <p:cNvSpPr/>
            <p:nvPr/>
          </p:nvSpPr>
          <p:spPr>
            <a:xfrm>
              <a:off x="325755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85" name="Line 85"/>
            <p:cNvSpPr/>
            <p:nvPr/>
          </p:nvSpPr>
          <p:spPr>
            <a:xfrm>
              <a:off x="212693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86" name="Line 86"/>
            <p:cNvSpPr/>
            <p:nvPr/>
          </p:nvSpPr>
          <p:spPr>
            <a:xfrm>
              <a:off x="242220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87" name="Line 87"/>
            <p:cNvSpPr/>
            <p:nvPr/>
          </p:nvSpPr>
          <p:spPr>
            <a:xfrm>
              <a:off x="333660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88" name="Line 88"/>
            <p:cNvSpPr/>
            <p:nvPr/>
          </p:nvSpPr>
          <p:spPr>
            <a:xfrm>
              <a:off x="262794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89" name="Line 89"/>
            <p:cNvSpPr/>
            <p:nvPr/>
          </p:nvSpPr>
          <p:spPr>
            <a:xfrm>
              <a:off x="291750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90" name="Line 90"/>
            <p:cNvSpPr/>
            <p:nvPr/>
          </p:nvSpPr>
          <p:spPr>
            <a:xfrm>
              <a:off x="298418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91" name="Line 91"/>
            <p:cNvSpPr/>
            <p:nvPr/>
          </p:nvSpPr>
          <p:spPr>
            <a:xfrm>
              <a:off x="167830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92" name="Line 92"/>
            <p:cNvSpPr/>
            <p:nvPr/>
          </p:nvSpPr>
          <p:spPr>
            <a:xfrm>
              <a:off x="334041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93" name="Line 93"/>
            <p:cNvSpPr/>
            <p:nvPr/>
          </p:nvSpPr>
          <p:spPr>
            <a:xfrm>
              <a:off x="219265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94" name="Line 94"/>
            <p:cNvSpPr/>
            <p:nvPr/>
          </p:nvSpPr>
          <p:spPr>
            <a:xfrm>
              <a:off x="225171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95" name="Line 95"/>
            <p:cNvSpPr/>
            <p:nvPr/>
          </p:nvSpPr>
          <p:spPr>
            <a:xfrm>
              <a:off x="301085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96" name="Line 96"/>
            <p:cNvSpPr/>
            <p:nvPr/>
          </p:nvSpPr>
          <p:spPr>
            <a:xfrm>
              <a:off x="227171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97" name="Line 97"/>
            <p:cNvSpPr/>
            <p:nvPr/>
          </p:nvSpPr>
          <p:spPr>
            <a:xfrm>
              <a:off x="376523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98" name="Line 98"/>
            <p:cNvSpPr/>
            <p:nvPr/>
          </p:nvSpPr>
          <p:spPr>
            <a:xfrm>
              <a:off x="248221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99" name="Line 99"/>
            <p:cNvSpPr/>
            <p:nvPr/>
          </p:nvSpPr>
          <p:spPr>
            <a:xfrm>
              <a:off x="180879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00" name="Line 100"/>
            <p:cNvSpPr/>
            <p:nvPr/>
          </p:nvSpPr>
          <p:spPr>
            <a:xfrm>
              <a:off x="217932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01" name="Line 101"/>
            <p:cNvSpPr/>
            <p:nvPr/>
          </p:nvSpPr>
          <p:spPr>
            <a:xfrm>
              <a:off x="292227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02" name="Line 102"/>
            <p:cNvSpPr/>
            <p:nvPr/>
          </p:nvSpPr>
          <p:spPr>
            <a:xfrm>
              <a:off x="321659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03" name="Line 103"/>
            <p:cNvSpPr/>
            <p:nvPr/>
          </p:nvSpPr>
          <p:spPr>
            <a:xfrm>
              <a:off x="256698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04" name="Line 104"/>
            <p:cNvSpPr/>
            <p:nvPr/>
          </p:nvSpPr>
          <p:spPr>
            <a:xfrm>
              <a:off x="239172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05" name="Line 105"/>
            <p:cNvSpPr/>
            <p:nvPr/>
          </p:nvSpPr>
          <p:spPr>
            <a:xfrm>
              <a:off x="277463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06" name="Line 106"/>
            <p:cNvSpPr/>
            <p:nvPr/>
          </p:nvSpPr>
          <p:spPr>
            <a:xfrm>
              <a:off x="316230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07" name="Line 107"/>
            <p:cNvSpPr/>
            <p:nvPr/>
          </p:nvSpPr>
          <p:spPr>
            <a:xfrm>
              <a:off x="333851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08" name="Line 108"/>
            <p:cNvSpPr/>
            <p:nvPr/>
          </p:nvSpPr>
          <p:spPr>
            <a:xfrm>
              <a:off x="238410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09" name="Line 109"/>
            <p:cNvSpPr/>
            <p:nvPr/>
          </p:nvSpPr>
          <p:spPr>
            <a:xfrm>
              <a:off x="211740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10" name="Line 110"/>
            <p:cNvSpPr/>
            <p:nvPr/>
          </p:nvSpPr>
          <p:spPr>
            <a:xfrm>
              <a:off x="244602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11" name="Line 111"/>
            <p:cNvSpPr/>
            <p:nvPr/>
          </p:nvSpPr>
          <p:spPr>
            <a:xfrm>
              <a:off x="129063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12" name="Line 112"/>
            <p:cNvSpPr/>
            <p:nvPr/>
          </p:nvSpPr>
          <p:spPr>
            <a:xfrm>
              <a:off x="250221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13" name="Line 113"/>
            <p:cNvSpPr/>
            <p:nvPr/>
          </p:nvSpPr>
          <p:spPr>
            <a:xfrm>
              <a:off x="271653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14" name="Line 114"/>
            <p:cNvSpPr/>
            <p:nvPr/>
          </p:nvSpPr>
          <p:spPr>
            <a:xfrm>
              <a:off x="176212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15" name="Line 115"/>
            <p:cNvSpPr/>
            <p:nvPr/>
          </p:nvSpPr>
          <p:spPr>
            <a:xfrm>
              <a:off x="341566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16" name="Line 116"/>
            <p:cNvSpPr/>
            <p:nvPr/>
          </p:nvSpPr>
          <p:spPr>
            <a:xfrm>
              <a:off x="267462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17" name="Line 117"/>
            <p:cNvSpPr/>
            <p:nvPr/>
          </p:nvSpPr>
          <p:spPr>
            <a:xfrm>
              <a:off x="236410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18" name="Line 118"/>
            <p:cNvSpPr/>
            <p:nvPr/>
          </p:nvSpPr>
          <p:spPr>
            <a:xfrm>
              <a:off x="253746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19" name="Line 119"/>
            <p:cNvSpPr/>
            <p:nvPr/>
          </p:nvSpPr>
          <p:spPr>
            <a:xfrm>
              <a:off x="242697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20" name="Line 120"/>
            <p:cNvSpPr/>
            <p:nvPr/>
          </p:nvSpPr>
          <p:spPr>
            <a:xfrm>
              <a:off x="292989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21" name="Line 121"/>
            <p:cNvSpPr/>
            <p:nvPr/>
          </p:nvSpPr>
          <p:spPr>
            <a:xfrm>
              <a:off x="254698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22" name="Line 122"/>
            <p:cNvSpPr/>
            <p:nvPr/>
          </p:nvSpPr>
          <p:spPr>
            <a:xfrm>
              <a:off x="275748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23" name="Line 123"/>
            <p:cNvSpPr/>
            <p:nvPr/>
          </p:nvSpPr>
          <p:spPr>
            <a:xfrm>
              <a:off x="254698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24" name="Line 124"/>
            <p:cNvSpPr/>
            <p:nvPr/>
          </p:nvSpPr>
          <p:spPr>
            <a:xfrm>
              <a:off x="294417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25" name="Line 125"/>
            <p:cNvSpPr/>
            <p:nvPr/>
          </p:nvSpPr>
          <p:spPr>
            <a:xfrm>
              <a:off x="237363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26" name="Line 126"/>
            <p:cNvSpPr/>
            <p:nvPr/>
          </p:nvSpPr>
          <p:spPr>
            <a:xfrm>
              <a:off x="317087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27" name="Line 127"/>
            <p:cNvSpPr/>
            <p:nvPr/>
          </p:nvSpPr>
          <p:spPr>
            <a:xfrm>
              <a:off x="245935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28" name="Line 128"/>
            <p:cNvSpPr/>
            <p:nvPr/>
          </p:nvSpPr>
          <p:spPr>
            <a:xfrm>
              <a:off x="274701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29" name="Line 129"/>
            <p:cNvSpPr/>
            <p:nvPr/>
          </p:nvSpPr>
          <p:spPr>
            <a:xfrm>
              <a:off x="312896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30" name="Line 130"/>
            <p:cNvSpPr/>
            <p:nvPr/>
          </p:nvSpPr>
          <p:spPr>
            <a:xfrm>
              <a:off x="239839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31" name="Line 131"/>
            <p:cNvSpPr/>
            <p:nvPr/>
          </p:nvSpPr>
          <p:spPr>
            <a:xfrm>
              <a:off x="276606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32" name="Line 132"/>
            <p:cNvSpPr/>
            <p:nvPr/>
          </p:nvSpPr>
          <p:spPr>
            <a:xfrm>
              <a:off x="240411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33" name="Line 133"/>
            <p:cNvSpPr/>
            <p:nvPr/>
          </p:nvSpPr>
          <p:spPr>
            <a:xfrm>
              <a:off x="365855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34" name="Line 134"/>
            <p:cNvSpPr/>
            <p:nvPr/>
          </p:nvSpPr>
          <p:spPr>
            <a:xfrm>
              <a:off x="370617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35" name="Line 135"/>
            <p:cNvSpPr/>
            <p:nvPr/>
          </p:nvSpPr>
          <p:spPr>
            <a:xfrm>
              <a:off x="272319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36" name="Line 136"/>
            <p:cNvSpPr/>
            <p:nvPr/>
          </p:nvSpPr>
          <p:spPr>
            <a:xfrm>
              <a:off x="299466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37" name="Line 137"/>
            <p:cNvSpPr/>
            <p:nvPr/>
          </p:nvSpPr>
          <p:spPr>
            <a:xfrm>
              <a:off x="221646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38" name="Line 138"/>
            <p:cNvSpPr/>
            <p:nvPr/>
          </p:nvSpPr>
          <p:spPr>
            <a:xfrm>
              <a:off x="302895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39" name="Line 139"/>
            <p:cNvSpPr/>
            <p:nvPr/>
          </p:nvSpPr>
          <p:spPr>
            <a:xfrm>
              <a:off x="270891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40" name="Line 140"/>
            <p:cNvSpPr/>
            <p:nvPr/>
          </p:nvSpPr>
          <p:spPr>
            <a:xfrm>
              <a:off x="226504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41" name="Line 141"/>
            <p:cNvSpPr/>
            <p:nvPr/>
          </p:nvSpPr>
          <p:spPr>
            <a:xfrm>
              <a:off x="254031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42" name="Line 142"/>
            <p:cNvSpPr/>
            <p:nvPr/>
          </p:nvSpPr>
          <p:spPr>
            <a:xfrm>
              <a:off x="296989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43" name="Line 143"/>
            <p:cNvSpPr/>
            <p:nvPr/>
          </p:nvSpPr>
          <p:spPr>
            <a:xfrm>
              <a:off x="191166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44" name="Line 144"/>
            <p:cNvSpPr/>
            <p:nvPr/>
          </p:nvSpPr>
          <p:spPr>
            <a:xfrm>
              <a:off x="278225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45" name="Line 145"/>
            <p:cNvSpPr/>
            <p:nvPr/>
          </p:nvSpPr>
          <p:spPr>
            <a:xfrm>
              <a:off x="320706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46" name="Line 146"/>
            <p:cNvSpPr/>
            <p:nvPr/>
          </p:nvSpPr>
          <p:spPr>
            <a:xfrm>
              <a:off x="254222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47" name="Line 147"/>
            <p:cNvSpPr/>
            <p:nvPr/>
          </p:nvSpPr>
          <p:spPr>
            <a:xfrm>
              <a:off x="317754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48" name="Line 148"/>
            <p:cNvSpPr/>
            <p:nvPr/>
          </p:nvSpPr>
          <p:spPr>
            <a:xfrm>
              <a:off x="264318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49" name="Line 149"/>
            <p:cNvSpPr/>
            <p:nvPr/>
          </p:nvSpPr>
          <p:spPr>
            <a:xfrm>
              <a:off x="274320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50" name="Line 150"/>
            <p:cNvSpPr/>
            <p:nvPr/>
          </p:nvSpPr>
          <p:spPr>
            <a:xfrm>
              <a:off x="183832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51" name="Line 151"/>
            <p:cNvSpPr/>
            <p:nvPr/>
          </p:nvSpPr>
          <p:spPr>
            <a:xfrm>
              <a:off x="195357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52" name="Line 152"/>
            <p:cNvSpPr/>
            <p:nvPr/>
          </p:nvSpPr>
          <p:spPr>
            <a:xfrm>
              <a:off x="260318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53" name="Line 153"/>
            <p:cNvSpPr/>
            <p:nvPr/>
          </p:nvSpPr>
          <p:spPr>
            <a:xfrm>
              <a:off x="193548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54" name="Line 154"/>
            <p:cNvSpPr/>
            <p:nvPr/>
          </p:nvSpPr>
          <p:spPr>
            <a:xfrm>
              <a:off x="288988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55" name="Line 155"/>
            <p:cNvSpPr/>
            <p:nvPr/>
          </p:nvSpPr>
          <p:spPr>
            <a:xfrm>
              <a:off x="297180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56" name="Line 156"/>
            <p:cNvSpPr/>
            <p:nvPr/>
          </p:nvSpPr>
          <p:spPr>
            <a:xfrm>
              <a:off x="360997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57" name="Line 157"/>
            <p:cNvSpPr/>
            <p:nvPr/>
          </p:nvSpPr>
          <p:spPr>
            <a:xfrm>
              <a:off x="274701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58" name="Line 158"/>
            <p:cNvSpPr/>
            <p:nvPr/>
          </p:nvSpPr>
          <p:spPr>
            <a:xfrm>
              <a:off x="346900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59" name="Line 159"/>
            <p:cNvSpPr/>
            <p:nvPr/>
          </p:nvSpPr>
          <p:spPr>
            <a:xfrm>
              <a:off x="265842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60" name="Line 160"/>
            <p:cNvSpPr/>
            <p:nvPr/>
          </p:nvSpPr>
          <p:spPr>
            <a:xfrm>
              <a:off x="176498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61" name="Line 161"/>
            <p:cNvSpPr/>
            <p:nvPr/>
          </p:nvSpPr>
          <p:spPr>
            <a:xfrm>
              <a:off x="266414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62" name="Line 162"/>
            <p:cNvSpPr/>
            <p:nvPr/>
          </p:nvSpPr>
          <p:spPr>
            <a:xfrm>
              <a:off x="177831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63" name="Line 163"/>
            <p:cNvSpPr/>
            <p:nvPr/>
          </p:nvSpPr>
          <p:spPr>
            <a:xfrm>
              <a:off x="271081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64" name="Line 164"/>
            <p:cNvSpPr/>
            <p:nvPr/>
          </p:nvSpPr>
          <p:spPr>
            <a:xfrm>
              <a:off x="231267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65" name="Line 165"/>
            <p:cNvSpPr/>
            <p:nvPr/>
          </p:nvSpPr>
          <p:spPr>
            <a:xfrm>
              <a:off x="188118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66" name="Line 166"/>
            <p:cNvSpPr/>
            <p:nvPr/>
          </p:nvSpPr>
          <p:spPr>
            <a:xfrm>
              <a:off x="328612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67" name="Line 167"/>
            <p:cNvSpPr/>
            <p:nvPr/>
          </p:nvSpPr>
          <p:spPr>
            <a:xfrm>
              <a:off x="310896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68" name="Line 168"/>
            <p:cNvSpPr/>
            <p:nvPr/>
          </p:nvSpPr>
          <p:spPr>
            <a:xfrm>
              <a:off x="235077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69" name="Line 169"/>
            <p:cNvSpPr/>
            <p:nvPr/>
          </p:nvSpPr>
          <p:spPr>
            <a:xfrm>
              <a:off x="245935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70" name="Line 170"/>
            <p:cNvSpPr/>
            <p:nvPr/>
          </p:nvSpPr>
          <p:spPr>
            <a:xfrm>
              <a:off x="253936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71" name="Line 171"/>
            <p:cNvSpPr/>
            <p:nvPr/>
          </p:nvSpPr>
          <p:spPr>
            <a:xfrm>
              <a:off x="193357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72" name="Line 172"/>
            <p:cNvSpPr/>
            <p:nvPr/>
          </p:nvSpPr>
          <p:spPr>
            <a:xfrm>
              <a:off x="201072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73" name="Line 173"/>
            <p:cNvSpPr/>
            <p:nvPr/>
          </p:nvSpPr>
          <p:spPr>
            <a:xfrm>
              <a:off x="270986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74" name="Line 174"/>
            <p:cNvSpPr/>
            <p:nvPr/>
          </p:nvSpPr>
          <p:spPr>
            <a:xfrm>
              <a:off x="325469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75" name="Line 175"/>
            <p:cNvSpPr/>
            <p:nvPr/>
          </p:nvSpPr>
          <p:spPr>
            <a:xfrm>
              <a:off x="217360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76" name="Line 176"/>
            <p:cNvSpPr/>
            <p:nvPr/>
          </p:nvSpPr>
          <p:spPr>
            <a:xfrm>
              <a:off x="319373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77" name="Line 177"/>
            <p:cNvSpPr/>
            <p:nvPr/>
          </p:nvSpPr>
          <p:spPr>
            <a:xfrm>
              <a:off x="296322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78" name="Line 178"/>
            <p:cNvSpPr/>
            <p:nvPr/>
          </p:nvSpPr>
          <p:spPr>
            <a:xfrm>
              <a:off x="214217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79" name="Line 179"/>
            <p:cNvSpPr/>
            <p:nvPr/>
          </p:nvSpPr>
          <p:spPr>
            <a:xfrm>
              <a:off x="215931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80" name="Line 180"/>
            <p:cNvSpPr/>
            <p:nvPr/>
          </p:nvSpPr>
          <p:spPr>
            <a:xfrm>
              <a:off x="249078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81" name="Line 181"/>
            <p:cNvSpPr/>
            <p:nvPr/>
          </p:nvSpPr>
          <p:spPr>
            <a:xfrm>
              <a:off x="354234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82" name="Line 182"/>
            <p:cNvSpPr/>
            <p:nvPr/>
          </p:nvSpPr>
          <p:spPr>
            <a:xfrm>
              <a:off x="263842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83" name="Line 183"/>
            <p:cNvSpPr/>
            <p:nvPr/>
          </p:nvSpPr>
          <p:spPr>
            <a:xfrm>
              <a:off x="270510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84" name="Line 184"/>
            <p:cNvSpPr/>
            <p:nvPr/>
          </p:nvSpPr>
          <p:spPr>
            <a:xfrm>
              <a:off x="343376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85" name="Line 185"/>
            <p:cNvSpPr/>
            <p:nvPr/>
          </p:nvSpPr>
          <p:spPr>
            <a:xfrm>
              <a:off x="295179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86" name="Line 186"/>
            <p:cNvSpPr/>
            <p:nvPr/>
          </p:nvSpPr>
          <p:spPr>
            <a:xfrm>
              <a:off x="320135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87" name="Line 187"/>
            <p:cNvSpPr/>
            <p:nvPr/>
          </p:nvSpPr>
          <p:spPr>
            <a:xfrm>
              <a:off x="200596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88" name="Line 188"/>
            <p:cNvSpPr/>
            <p:nvPr/>
          </p:nvSpPr>
          <p:spPr>
            <a:xfrm>
              <a:off x="214788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89" name="Line 189"/>
            <p:cNvSpPr/>
            <p:nvPr/>
          </p:nvSpPr>
          <p:spPr>
            <a:xfrm>
              <a:off x="376523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90" name="Line 190"/>
            <p:cNvSpPr/>
            <p:nvPr/>
          </p:nvSpPr>
          <p:spPr>
            <a:xfrm>
              <a:off x="358330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91" name="Line 191"/>
            <p:cNvSpPr/>
            <p:nvPr/>
          </p:nvSpPr>
          <p:spPr>
            <a:xfrm>
              <a:off x="264985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92" name="Line 192"/>
            <p:cNvSpPr/>
            <p:nvPr/>
          </p:nvSpPr>
          <p:spPr>
            <a:xfrm>
              <a:off x="263461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93" name="Line 193"/>
            <p:cNvSpPr/>
            <p:nvPr/>
          </p:nvSpPr>
          <p:spPr>
            <a:xfrm>
              <a:off x="204025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94" name="Line 194"/>
            <p:cNvSpPr/>
            <p:nvPr/>
          </p:nvSpPr>
          <p:spPr>
            <a:xfrm>
              <a:off x="336804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95" name="Line 195"/>
            <p:cNvSpPr/>
            <p:nvPr/>
          </p:nvSpPr>
          <p:spPr>
            <a:xfrm>
              <a:off x="339756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96" name="Line 196"/>
            <p:cNvSpPr/>
            <p:nvPr/>
          </p:nvSpPr>
          <p:spPr>
            <a:xfrm>
              <a:off x="215360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97" name="Line 197"/>
            <p:cNvSpPr/>
            <p:nvPr/>
          </p:nvSpPr>
          <p:spPr>
            <a:xfrm>
              <a:off x="308705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98" name="Line 198"/>
            <p:cNvSpPr/>
            <p:nvPr/>
          </p:nvSpPr>
          <p:spPr>
            <a:xfrm>
              <a:off x="283559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199" name="Line 199"/>
            <p:cNvSpPr/>
            <p:nvPr/>
          </p:nvSpPr>
          <p:spPr>
            <a:xfrm>
              <a:off x="244602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00" name="Line 200"/>
            <p:cNvSpPr/>
            <p:nvPr/>
          </p:nvSpPr>
          <p:spPr>
            <a:xfrm>
              <a:off x="204311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01" name="Line 201"/>
            <p:cNvSpPr/>
            <p:nvPr/>
          </p:nvSpPr>
          <p:spPr>
            <a:xfrm>
              <a:off x="319373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02" name="Line 202"/>
            <p:cNvSpPr/>
            <p:nvPr/>
          </p:nvSpPr>
          <p:spPr>
            <a:xfrm>
              <a:off x="309372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03" name="Line 203"/>
            <p:cNvSpPr/>
            <p:nvPr/>
          </p:nvSpPr>
          <p:spPr>
            <a:xfrm>
              <a:off x="216027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04" name="Line 204"/>
            <p:cNvSpPr/>
            <p:nvPr/>
          </p:nvSpPr>
          <p:spPr>
            <a:xfrm>
              <a:off x="310515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05" name="Line 205"/>
            <p:cNvSpPr/>
            <p:nvPr/>
          </p:nvSpPr>
          <p:spPr>
            <a:xfrm>
              <a:off x="318039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06" name="Line 206"/>
            <p:cNvSpPr/>
            <p:nvPr/>
          </p:nvSpPr>
          <p:spPr>
            <a:xfrm>
              <a:off x="133921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07" name="Line 207"/>
            <p:cNvSpPr/>
            <p:nvPr/>
          </p:nvSpPr>
          <p:spPr>
            <a:xfrm>
              <a:off x="147447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08" name="Line 208"/>
            <p:cNvSpPr/>
            <p:nvPr/>
          </p:nvSpPr>
          <p:spPr>
            <a:xfrm>
              <a:off x="356901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09" name="Line 209"/>
            <p:cNvSpPr/>
            <p:nvPr/>
          </p:nvSpPr>
          <p:spPr>
            <a:xfrm>
              <a:off x="242316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10" name="Line 210"/>
            <p:cNvSpPr/>
            <p:nvPr/>
          </p:nvSpPr>
          <p:spPr>
            <a:xfrm>
              <a:off x="267081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11" name="Line 211"/>
            <p:cNvSpPr/>
            <p:nvPr/>
          </p:nvSpPr>
          <p:spPr>
            <a:xfrm>
              <a:off x="315563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12" name="Line 212"/>
            <p:cNvSpPr/>
            <p:nvPr/>
          </p:nvSpPr>
          <p:spPr>
            <a:xfrm>
              <a:off x="265461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13" name="Line 213"/>
            <p:cNvSpPr/>
            <p:nvPr/>
          </p:nvSpPr>
          <p:spPr>
            <a:xfrm>
              <a:off x="250793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14" name="Line 214"/>
            <p:cNvSpPr/>
            <p:nvPr/>
          </p:nvSpPr>
          <p:spPr>
            <a:xfrm>
              <a:off x="238220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15" name="Line 215"/>
            <p:cNvSpPr/>
            <p:nvPr/>
          </p:nvSpPr>
          <p:spPr>
            <a:xfrm>
              <a:off x="196977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16" name="Line 216"/>
            <p:cNvSpPr/>
            <p:nvPr/>
          </p:nvSpPr>
          <p:spPr>
            <a:xfrm>
              <a:off x="263461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17" name="Line 217"/>
            <p:cNvSpPr/>
            <p:nvPr/>
          </p:nvSpPr>
          <p:spPr>
            <a:xfrm>
              <a:off x="208788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18" name="Line 218"/>
            <p:cNvSpPr/>
            <p:nvPr/>
          </p:nvSpPr>
          <p:spPr>
            <a:xfrm>
              <a:off x="282987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19" name="Line 219"/>
            <p:cNvSpPr/>
            <p:nvPr/>
          </p:nvSpPr>
          <p:spPr>
            <a:xfrm>
              <a:off x="278892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20" name="Line 220"/>
            <p:cNvSpPr/>
            <p:nvPr/>
          </p:nvSpPr>
          <p:spPr>
            <a:xfrm>
              <a:off x="141827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21" name="Line 221"/>
            <p:cNvSpPr/>
            <p:nvPr/>
          </p:nvSpPr>
          <p:spPr>
            <a:xfrm>
              <a:off x="284988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22" name="Line 222"/>
            <p:cNvSpPr/>
            <p:nvPr/>
          </p:nvSpPr>
          <p:spPr>
            <a:xfrm>
              <a:off x="302228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23" name="Line 223"/>
            <p:cNvSpPr/>
            <p:nvPr/>
          </p:nvSpPr>
          <p:spPr>
            <a:xfrm>
              <a:off x="304419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24" name="Line 224"/>
            <p:cNvSpPr/>
            <p:nvPr/>
          </p:nvSpPr>
          <p:spPr>
            <a:xfrm>
              <a:off x="278606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25" name="Line 225"/>
            <p:cNvSpPr/>
            <p:nvPr/>
          </p:nvSpPr>
          <p:spPr>
            <a:xfrm>
              <a:off x="332136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26" name="Line 226"/>
            <p:cNvSpPr/>
            <p:nvPr/>
          </p:nvSpPr>
          <p:spPr>
            <a:xfrm>
              <a:off x="128111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27" name="Line 227"/>
            <p:cNvSpPr/>
            <p:nvPr/>
          </p:nvSpPr>
          <p:spPr>
            <a:xfrm>
              <a:off x="279177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28" name="Line 228"/>
            <p:cNvSpPr/>
            <p:nvPr/>
          </p:nvSpPr>
          <p:spPr>
            <a:xfrm>
              <a:off x="203644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29" name="Line 229"/>
            <p:cNvSpPr/>
            <p:nvPr/>
          </p:nvSpPr>
          <p:spPr>
            <a:xfrm>
              <a:off x="177069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30" name="Line 230"/>
            <p:cNvSpPr/>
            <p:nvPr/>
          </p:nvSpPr>
          <p:spPr>
            <a:xfrm>
              <a:off x="293465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31" name="Line 231"/>
            <p:cNvSpPr/>
            <p:nvPr/>
          </p:nvSpPr>
          <p:spPr>
            <a:xfrm>
              <a:off x="231648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32" name="Line 232"/>
            <p:cNvSpPr/>
            <p:nvPr/>
          </p:nvSpPr>
          <p:spPr>
            <a:xfrm>
              <a:off x="171450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33" name="Line 233"/>
            <p:cNvSpPr/>
            <p:nvPr/>
          </p:nvSpPr>
          <p:spPr>
            <a:xfrm>
              <a:off x="222408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34" name="Line 234"/>
            <p:cNvSpPr/>
            <p:nvPr/>
          </p:nvSpPr>
          <p:spPr>
            <a:xfrm>
              <a:off x="288417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35" name="Line 235"/>
            <p:cNvSpPr/>
            <p:nvPr/>
          </p:nvSpPr>
          <p:spPr>
            <a:xfrm>
              <a:off x="247078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36" name="Line 236"/>
            <p:cNvSpPr/>
            <p:nvPr/>
          </p:nvSpPr>
          <p:spPr>
            <a:xfrm>
              <a:off x="316325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37" name="Line 237"/>
            <p:cNvSpPr/>
            <p:nvPr/>
          </p:nvSpPr>
          <p:spPr>
            <a:xfrm>
              <a:off x="262318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38" name="Line 238"/>
            <p:cNvSpPr/>
            <p:nvPr/>
          </p:nvSpPr>
          <p:spPr>
            <a:xfrm>
              <a:off x="280130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39" name="Line 239"/>
            <p:cNvSpPr/>
            <p:nvPr/>
          </p:nvSpPr>
          <p:spPr>
            <a:xfrm>
              <a:off x="253746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40" name="Line 240"/>
            <p:cNvSpPr/>
            <p:nvPr/>
          </p:nvSpPr>
          <p:spPr>
            <a:xfrm>
              <a:off x="293751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41" name="Line 241"/>
            <p:cNvSpPr/>
            <p:nvPr/>
          </p:nvSpPr>
          <p:spPr>
            <a:xfrm>
              <a:off x="224409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42" name="Line 242"/>
            <p:cNvSpPr/>
            <p:nvPr/>
          </p:nvSpPr>
          <p:spPr>
            <a:xfrm>
              <a:off x="361188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43" name="Line 243"/>
            <p:cNvSpPr/>
            <p:nvPr/>
          </p:nvSpPr>
          <p:spPr>
            <a:xfrm>
              <a:off x="372332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44" name="Line 244"/>
            <p:cNvSpPr/>
            <p:nvPr/>
          </p:nvSpPr>
          <p:spPr>
            <a:xfrm>
              <a:off x="332994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45" name="Line 245"/>
            <p:cNvSpPr/>
            <p:nvPr/>
          </p:nvSpPr>
          <p:spPr>
            <a:xfrm>
              <a:off x="326136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46" name="Line 246"/>
            <p:cNvSpPr/>
            <p:nvPr/>
          </p:nvSpPr>
          <p:spPr>
            <a:xfrm>
              <a:off x="345662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47" name="Line 247"/>
            <p:cNvSpPr/>
            <p:nvPr/>
          </p:nvSpPr>
          <p:spPr>
            <a:xfrm>
              <a:off x="343662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48" name="Line 248"/>
            <p:cNvSpPr/>
            <p:nvPr/>
          </p:nvSpPr>
          <p:spPr>
            <a:xfrm>
              <a:off x="320516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49" name="Line 249"/>
            <p:cNvSpPr/>
            <p:nvPr/>
          </p:nvSpPr>
          <p:spPr>
            <a:xfrm>
              <a:off x="303371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50" name="Line 250"/>
            <p:cNvSpPr/>
            <p:nvPr/>
          </p:nvSpPr>
          <p:spPr>
            <a:xfrm>
              <a:off x="274986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51" name="Line 251"/>
            <p:cNvSpPr/>
            <p:nvPr/>
          </p:nvSpPr>
          <p:spPr>
            <a:xfrm>
              <a:off x="262985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</p:grpSp>
      <p:grpSp>
        <p:nvGrpSpPr>
          <p:cNvPr id="498" name="h-cauchy"/>
          <p:cNvGrpSpPr/>
          <p:nvPr/>
        </p:nvGrpSpPr>
        <p:grpSpPr>
          <a:xfrm>
            <a:off x="4305300" y="1524000"/>
            <a:ext cx="3581400" cy="3352800"/>
            <a:chOff x="4305300" y="1524000"/>
            <a:chExt cx="3581400" cy="3352800"/>
          </a:xfrm>
        </p:grpSpPr>
        <p:sp>
          <p:nvSpPr>
            <p:cNvPr id="253" name="Rectangle 253"/>
            <p:cNvSpPr/>
            <p:nvPr/>
          </p:nvSpPr>
          <p:spPr>
            <a:xfrm>
              <a:off x="4305300" y="1524000"/>
              <a:ext cx="3581400" cy="3352800"/>
            </a:xfrm>
            <a:prstGeom prst="roundRect">
              <a:avLst>
                <a:gd name="adj" fmla="val 3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4" name="TextBox 254"/>
            <p:cNvSpPr txBox="1"/>
            <p:nvPr/>
          </p:nvSpPr>
          <p:spPr>
            <a:xfrm>
              <a:off x="4470654" y="1661160"/>
              <a:ext cx="21958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重尾样本（柯西分布）n = 200</a:t>
              </a:r>
            </a:p>
          </p:txBody>
        </p:sp>
        <p:sp>
          <p:nvSpPr>
            <p:cNvPr id="255" name="Rectangle 255"/>
            <p:cNvSpPr/>
            <p:nvPr/>
          </p:nvSpPr>
          <p:spPr>
            <a:xfrm>
              <a:off x="4800600" y="2152650"/>
              <a:ext cx="2933700" cy="2381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6" name="Line 256"/>
            <p:cNvSpPr/>
            <p:nvPr/>
          </p:nvSpPr>
          <p:spPr>
            <a:xfrm>
              <a:off x="4800600" y="45339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257" name="Line 257"/>
            <p:cNvSpPr/>
            <p:nvPr/>
          </p:nvSpPr>
          <p:spPr>
            <a:xfrm>
              <a:off x="4800600" y="3941445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258" name="Line 258"/>
            <p:cNvSpPr/>
            <p:nvPr/>
          </p:nvSpPr>
          <p:spPr>
            <a:xfrm>
              <a:off x="4800600" y="3348038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259" name="Line 259"/>
            <p:cNvSpPr/>
            <p:nvPr/>
          </p:nvSpPr>
          <p:spPr>
            <a:xfrm>
              <a:off x="4800600" y="2755582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260" name="Line 260"/>
            <p:cNvSpPr/>
            <p:nvPr/>
          </p:nvSpPr>
          <p:spPr>
            <a:xfrm>
              <a:off x="4800600" y="2163128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261" name="Line 261"/>
            <p:cNvSpPr/>
            <p:nvPr/>
          </p:nvSpPr>
          <p:spPr>
            <a:xfrm>
              <a:off x="4800600" y="45339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262" name="Line 262"/>
            <p:cNvSpPr/>
            <p:nvPr/>
          </p:nvSpPr>
          <p:spPr>
            <a:xfrm>
              <a:off x="4800600" y="2152650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263" name="Line 263"/>
            <p:cNvSpPr/>
            <p:nvPr/>
          </p:nvSpPr>
          <p:spPr>
            <a:xfrm>
              <a:off x="4800600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64" name="TextBox 264"/>
            <p:cNvSpPr txBox="1"/>
            <p:nvPr/>
          </p:nvSpPr>
          <p:spPr>
            <a:xfrm>
              <a:off x="4695882" y="46272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−75</a:t>
              </a:r>
            </a:p>
          </p:txBody>
        </p:sp>
        <p:sp>
          <p:nvSpPr>
            <p:cNvPr id="265" name="Line 265"/>
            <p:cNvSpPr/>
            <p:nvPr/>
          </p:nvSpPr>
          <p:spPr>
            <a:xfrm>
              <a:off x="5289232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66" name="TextBox 266"/>
            <p:cNvSpPr txBox="1"/>
            <p:nvPr/>
          </p:nvSpPr>
          <p:spPr>
            <a:xfrm>
              <a:off x="5184515" y="46272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−50</a:t>
              </a:r>
            </a:p>
          </p:txBody>
        </p:sp>
        <p:sp>
          <p:nvSpPr>
            <p:cNvPr id="267" name="Line 267"/>
            <p:cNvSpPr/>
            <p:nvPr/>
          </p:nvSpPr>
          <p:spPr>
            <a:xfrm>
              <a:off x="5778818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68" name="TextBox 268"/>
            <p:cNvSpPr txBox="1"/>
            <p:nvPr/>
          </p:nvSpPr>
          <p:spPr>
            <a:xfrm>
              <a:off x="5674100" y="46272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−25</a:t>
              </a:r>
            </a:p>
          </p:txBody>
        </p:sp>
        <p:sp>
          <p:nvSpPr>
            <p:cNvPr id="269" name="Line 269"/>
            <p:cNvSpPr/>
            <p:nvPr/>
          </p:nvSpPr>
          <p:spPr>
            <a:xfrm>
              <a:off x="6267450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70" name="TextBox 270"/>
            <p:cNvSpPr txBox="1"/>
            <p:nvPr/>
          </p:nvSpPr>
          <p:spPr>
            <a:xfrm>
              <a:off x="6229369" y="46272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1" name="Line 271"/>
            <p:cNvSpPr/>
            <p:nvPr/>
          </p:nvSpPr>
          <p:spPr>
            <a:xfrm>
              <a:off x="6756082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72" name="TextBox 272"/>
            <p:cNvSpPr txBox="1"/>
            <p:nvPr/>
          </p:nvSpPr>
          <p:spPr>
            <a:xfrm>
              <a:off x="6684683" y="46272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273" name="Line 273"/>
            <p:cNvSpPr/>
            <p:nvPr/>
          </p:nvSpPr>
          <p:spPr>
            <a:xfrm>
              <a:off x="7245668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74" name="TextBox 274"/>
            <p:cNvSpPr txBox="1"/>
            <p:nvPr/>
          </p:nvSpPr>
          <p:spPr>
            <a:xfrm>
              <a:off x="7174268" y="46272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275" name="Line 275"/>
            <p:cNvSpPr/>
            <p:nvPr/>
          </p:nvSpPr>
          <p:spPr>
            <a:xfrm>
              <a:off x="7734300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76" name="TextBox 276"/>
            <p:cNvSpPr txBox="1"/>
            <p:nvPr/>
          </p:nvSpPr>
          <p:spPr>
            <a:xfrm>
              <a:off x="7662901" y="46272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277" name="Line 277"/>
            <p:cNvSpPr/>
            <p:nvPr/>
          </p:nvSpPr>
          <p:spPr>
            <a:xfrm>
              <a:off x="4752975" y="453390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78" name="TextBox 278"/>
            <p:cNvSpPr txBox="1"/>
            <p:nvPr/>
          </p:nvSpPr>
          <p:spPr>
            <a:xfrm>
              <a:off x="4653001" y="44748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9" name="Line 279"/>
            <p:cNvSpPr/>
            <p:nvPr/>
          </p:nvSpPr>
          <p:spPr>
            <a:xfrm>
              <a:off x="4752975" y="394144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80" name="TextBox 280"/>
            <p:cNvSpPr txBox="1"/>
            <p:nvPr/>
          </p:nvSpPr>
          <p:spPr>
            <a:xfrm>
              <a:off x="4453090" y="3882390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0.03</a:t>
              </a:r>
            </a:p>
          </p:txBody>
        </p:sp>
        <p:sp>
          <p:nvSpPr>
            <p:cNvPr id="281" name="Line 281"/>
            <p:cNvSpPr/>
            <p:nvPr/>
          </p:nvSpPr>
          <p:spPr>
            <a:xfrm>
              <a:off x="4752975" y="3348038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82" name="TextBox 282"/>
            <p:cNvSpPr txBox="1"/>
            <p:nvPr/>
          </p:nvSpPr>
          <p:spPr>
            <a:xfrm>
              <a:off x="4453090" y="3288982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283" name="Line 283"/>
            <p:cNvSpPr/>
            <p:nvPr/>
          </p:nvSpPr>
          <p:spPr>
            <a:xfrm>
              <a:off x="4752975" y="2755582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84" name="TextBox 284"/>
            <p:cNvSpPr txBox="1"/>
            <p:nvPr/>
          </p:nvSpPr>
          <p:spPr>
            <a:xfrm>
              <a:off x="4453090" y="2696528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0.07</a:t>
              </a:r>
            </a:p>
          </p:txBody>
        </p:sp>
        <p:sp>
          <p:nvSpPr>
            <p:cNvPr id="285" name="Line 285"/>
            <p:cNvSpPr/>
            <p:nvPr/>
          </p:nvSpPr>
          <p:spPr>
            <a:xfrm>
              <a:off x="4752975" y="2163128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86" name="TextBox 286"/>
            <p:cNvSpPr txBox="1"/>
            <p:nvPr/>
          </p:nvSpPr>
          <p:spPr>
            <a:xfrm>
              <a:off x="4519727" y="2104072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287" name="TextBox 287"/>
            <p:cNvSpPr txBox="1"/>
            <p:nvPr/>
          </p:nvSpPr>
          <p:spPr>
            <a:xfrm>
              <a:off x="4852797" y="19711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密度</a:t>
              </a:r>
            </a:p>
          </p:txBody>
        </p:sp>
        <p:sp>
          <p:nvSpPr>
            <p:cNvPr id="288" name="Rectangle 288"/>
            <p:cNvSpPr/>
            <p:nvPr/>
          </p:nvSpPr>
          <p:spPr>
            <a:xfrm>
              <a:off x="4800600" y="4510088"/>
              <a:ext cx="98108" cy="23812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289" name="Rectangle 289"/>
            <p:cNvSpPr/>
            <p:nvPr/>
          </p:nvSpPr>
          <p:spPr>
            <a:xfrm>
              <a:off x="5875972" y="4510088"/>
              <a:ext cx="98108" cy="23812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290" name="Rectangle 290"/>
            <p:cNvSpPr/>
            <p:nvPr/>
          </p:nvSpPr>
          <p:spPr>
            <a:xfrm>
              <a:off x="6072188" y="4368165"/>
              <a:ext cx="98108" cy="165735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291" name="Rectangle 291"/>
            <p:cNvSpPr/>
            <p:nvPr/>
          </p:nvSpPr>
          <p:spPr>
            <a:xfrm>
              <a:off x="6169342" y="2613660"/>
              <a:ext cx="98108" cy="1920240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292" name="Rectangle 292"/>
            <p:cNvSpPr/>
            <p:nvPr/>
          </p:nvSpPr>
          <p:spPr>
            <a:xfrm>
              <a:off x="6267450" y="2328862"/>
              <a:ext cx="98108" cy="2205038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293" name="Rectangle 293"/>
            <p:cNvSpPr/>
            <p:nvPr/>
          </p:nvSpPr>
          <p:spPr>
            <a:xfrm>
              <a:off x="6365558" y="4249102"/>
              <a:ext cx="98108" cy="284798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294" name="Rectangle 294"/>
            <p:cNvSpPr/>
            <p:nvPr/>
          </p:nvSpPr>
          <p:spPr>
            <a:xfrm>
              <a:off x="6462712" y="4486275"/>
              <a:ext cx="98108" cy="47625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295" name="Rectangle 295"/>
            <p:cNvSpPr/>
            <p:nvPr/>
          </p:nvSpPr>
          <p:spPr>
            <a:xfrm>
              <a:off x="6658928" y="4510088"/>
              <a:ext cx="98108" cy="23812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296" name="Rectangle 296"/>
            <p:cNvSpPr/>
            <p:nvPr/>
          </p:nvSpPr>
          <p:spPr>
            <a:xfrm>
              <a:off x="6756082" y="4510088"/>
              <a:ext cx="98108" cy="23812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297" name="Rectangle 297"/>
            <p:cNvSpPr/>
            <p:nvPr/>
          </p:nvSpPr>
          <p:spPr>
            <a:xfrm>
              <a:off x="7636192" y="4510088"/>
              <a:ext cx="98108" cy="23812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298" name="Line 298"/>
            <p:cNvSpPr/>
            <p:nvPr/>
          </p:nvSpPr>
          <p:spPr>
            <a:xfrm>
              <a:off x="626745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299" name="Line 299"/>
            <p:cNvSpPr/>
            <p:nvPr/>
          </p:nvSpPr>
          <p:spPr>
            <a:xfrm>
              <a:off x="627316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00" name="Line 300"/>
            <p:cNvSpPr/>
            <p:nvPr/>
          </p:nvSpPr>
          <p:spPr>
            <a:xfrm>
              <a:off x="627602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01" name="Line 301"/>
            <p:cNvSpPr/>
            <p:nvPr/>
          </p:nvSpPr>
          <p:spPr>
            <a:xfrm>
              <a:off x="626840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02" name="Line 302"/>
            <p:cNvSpPr/>
            <p:nvPr/>
          </p:nvSpPr>
          <p:spPr>
            <a:xfrm>
              <a:off x="628269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03" name="Line 303"/>
            <p:cNvSpPr/>
            <p:nvPr/>
          </p:nvSpPr>
          <p:spPr>
            <a:xfrm>
              <a:off x="629412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04" name="Line 304"/>
            <p:cNvSpPr/>
            <p:nvPr/>
          </p:nvSpPr>
          <p:spPr>
            <a:xfrm>
              <a:off x="626554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05" name="Line 305"/>
            <p:cNvSpPr/>
            <p:nvPr/>
          </p:nvSpPr>
          <p:spPr>
            <a:xfrm>
              <a:off x="626649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06" name="Line 306"/>
            <p:cNvSpPr/>
            <p:nvPr/>
          </p:nvSpPr>
          <p:spPr>
            <a:xfrm>
              <a:off x="632460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07" name="Line 307"/>
            <p:cNvSpPr/>
            <p:nvPr/>
          </p:nvSpPr>
          <p:spPr>
            <a:xfrm>
              <a:off x="629602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08" name="Line 308"/>
            <p:cNvSpPr/>
            <p:nvPr/>
          </p:nvSpPr>
          <p:spPr>
            <a:xfrm>
              <a:off x="642080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09" name="Line 309"/>
            <p:cNvSpPr/>
            <p:nvPr/>
          </p:nvSpPr>
          <p:spPr>
            <a:xfrm>
              <a:off x="617601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10" name="Line 310"/>
            <p:cNvSpPr/>
            <p:nvPr/>
          </p:nvSpPr>
          <p:spPr>
            <a:xfrm>
              <a:off x="625125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11" name="Line 311"/>
            <p:cNvSpPr/>
            <p:nvPr/>
          </p:nvSpPr>
          <p:spPr>
            <a:xfrm>
              <a:off x="635889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12" name="Line 312"/>
            <p:cNvSpPr/>
            <p:nvPr/>
          </p:nvSpPr>
          <p:spPr>
            <a:xfrm>
              <a:off x="625887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13" name="Line 313"/>
            <p:cNvSpPr/>
            <p:nvPr/>
          </p:nvSpPr>
          <p:spPr>
            <a:xfrm>
              <a:off x="633031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14" name="Line 314"/>
            <p:cNvSpPr/>
            <p:nvPr/>
          </p:nvSpPr>
          <p:spPr>
            <a:xfrm>
              <a:off x="629126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15" name="Line 315"/>
            <p:cNvSpPr/>
            <p:nvPr/>
          </p:nvSpPr>
          <p:spPr>
            <a:xfrm>
              <a:off x="624173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16" name="Line 316"/>
            <p:cNvSpPr/>
            <p:nvPr/>
          </p:nvSpPr>
          <p:spPr>
            <a:xfrm>
              <a:off x="626649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17" name="Line 317"/>
            <p:cNvSpPr/>
            <p:nvPr/>
          </p:nvSpPr>
          <p:spPr>
            <a:xfrm>
              <a:off x="636936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18" name="Line 318"/>
            <p:cNvSpPr/>
            <p:nvPr/>
          </p:nvSpPr>
          <p:spPr>
            <a:xfrm>
              <a:off x="630174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19" name="Line 319"/>
            <p:cNvSpPr/>
            <p:nvPr/>
          </p:nvSpPr>
          <p:spPr>
            <a:xfrm>
              <a:off x="595312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20" name="Line 320"/>
            <p:cNvSpPr/>
            <p:nvPr/>
          </p:nvSpPr>
          <p:spPr>
            <a:xfrm>
              <a:off x="625030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21" name="Line 321"/>
            <p:cNvSpPr/>
            <p:nvPr/>
          </p:nvSpPr>
          <p:spPr>
            <a:xfrm>
              <a:off x="640842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22" name="Line 322"/>
            <p:cNvSpPr/>
            <p:nvPr/>
          </p:nvSpPr>
          <p:spPr>
            <a:xfrm>
              <a:off x="626078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23" name="Line 323"/>
            <p:cNvSpPr/>
            <p:nvPr/>
          </p:nvSpPr>
          <p:spPr>
            <a:xfrm>
              <a:off x="625506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24" name="Line 324"/>
            <p:cNvSpPr/>
            <p:nvPr/>
          </p:nvSpPr>
          <p:spPr>
            <a:xfrm>
              <a:off x="627030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25" name="Line 325"/>
            <p:cNvSpPr/>
            <p:nvPr/>
          </p:nvSpPr>
          <p:spPr>
            <a:xfrm>
              <a:off x="626173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26" name="Line 326"/>
            <p:cNvSpPr/>
            <p:nvPr/>
          </p:nvSpPr>
          <p:spPr>
            <a:xfrm>
              <a:off x="626554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27" name="Line 327"/>
            <p:cNvSpPr/>
            <p:nvPr/>
          </p:nvSpPr>
          <p:spPr>
            <a:xfrm>
              <a:off x="622554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28" name="Line 328"/>
            <p:cNvSpPr/>
            <p:nvPr/>
          </p:nvSpPr>
          <p:spPr>
            <a:xfrm>
              <a:off x="625887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29" name="Line 329"/>
            <p:cNvSpPr/>
            <p:nvPr/>
          </p:nvSpPr>
          <p:spPr>
            <a:xfrm>
              <a:off x="626554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30" name="Line 330"/>
            <p:cNvSpPr/>
            <p:nvPr/>
          </p:nvSpPr>
          <p:spPr>
            <a:xfrm>
              <a:off x="632555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31" name="Line 331"/>
            <p:cNvSpPr/>
            <p:nvPr/>
          </p:nvSpPr>
          <p:spPr>
            <a:xfrm>
              <a:off x="628269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32" name="Line 332"/>
            <p:cNvSpPr/>
            <p:nvPr/>
          </p:nvSpPr>
          <p:spPr>
            <a:xfrm>
              <a:off x="629983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33" name="Line 333"/>
            <p:cNvSpPr/>
            <p:nvPr/>
          </p:nvSpPr>
          <p:spPr>
            <a:xfrm>
              <a:off x="626078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34" name="Line 334"/>
            <p:cNvSpPr/>
            <p:nvPr/>
          </p:nvSpPr>
          <p:spPr>
            <a:xfrm>
              <a:off x="636079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35" name="Line 335"/>
            <p:cNvSpPr/>
            <p:nvPr/>
          </p:nvSpPr>
          <p:spPr>
            <a:xfrm>
              <a:off x="630269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36" name="Line 336"/>
            <p:cNvSpPr/>
            <p:nvPr/>
          </p:nvSpPr>
          <p:spPr>
            <a:xfrm>
              <a:off x="628459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37" name="Line 337"/>
            <p:cNvSpPr/>
            <p:nvPr/>
          </p:nvSpPr>
          <p:spPr>
            <a:xfrm>
              <a:off x="626459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38" name="Line 338"/>
            <p:cNvSpPr/>
            <p:nvPr/>
          </p:nvSpPr>
          <p:spPr>
            <a:xfrm>
              <a:off x="629507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39" name="Line 339"/>
            <p:cNvSpPr/>
            <p:nvPr/>
          </p:nvSpPr>
          <p:spPr>
            <a:xfrm>
              <a:off x="621030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40" name="Line 340"/>
            <p:cNvSpPr/>
            <p:nvPr/>
          </p:nvSpPr>
          <p:spPr>
            <a:xfrm>
              <a:off x="627126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41" name="Line 341"/>
            <p:cNvSpPr/>
            <p:nvPr/>
          </p:nvSpPr>
          <p:spPr>
            <a:xfrm>
              <a:off x="626840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42" name="Line 342"/>
            <p:cNvSpPr/>
            <p:nvPr/>
          </p:nvSpPr>
          <p:spPr>
            <a:xfrm>
              <a:off x="630269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43" name="Line 343"/>
            <p:cNvSpPr/>
            <p:nvPr/>
          </p:nvSpPr>
          <p:spPr>
            <a:xfrm>
              <a:off x="626649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44" name="Line 344"/>
            <p:cNvSpPr/>
            <p:nvPr/>
          </p:nvSpPr>
          <p:spPr>
            <a:xfrm>
              <a:off x="626078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45" name="Line 345"/>
            <p:cNvSpPr/>
            <p:nvPr/>
          </p:nvSpPr>
          <p:spPr>
            <a:xfrm>
              <a:off x="626745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46" name="Line 346"/>
            <p:cNvSpPr/>
            <p:nvPr/>
          </p:nvSpPr>
          <p:spPr>
            <a:xfrm>
              <a:off x="619506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47" name="Line 347"/>
            <p:cNvSpPr/>
            <p:nvPr/>
          </p:nvSpPr>
          <p:spPr>
            <a:xfrm>
              <a:off x="628364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48" name="Line 348"/>
            <p:cNvSpPr/>
            <p:nvPr/>
          </p:nvSpPr>
          <p:spPr>
            <a:xfrm>
              <a:off x="627411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49" name="Line 349"/>
            <p:cNvSpPr/>
            <p:nvPr/>
          </p:nvSpPr>
          <p:spPr>
            <a:xfrm>
              <a:off x="626935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50" name="Line 350"/>
            <p:cNvSpPr/>
            <p:nvPr/>
          </p:nvSpPr>
          <p:spPr>
            <a:xfrm>
              <a:off x="629316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51" name="Line 351"/>
            <p:cNvSpPr/>
            <p:nvPr/>
          </p:nvSpPr>
          <p:spPr>
            <a:xfrm>
              <a:off x="627602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52" name="Line 352"/>
            <p:cNvSpPr/>
            <p:nvPr/>
          </p:nvSpPr>
          <p:spPr>
            <a:xfrm>
              <a:off x="628459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53" name="Line 353"/>
            <p:cNvSpPr/>
            <p:nvPr/>
          </p:nvSpPr>
          <p:spPr>
            <a:xfrm>
              <a:off x="629412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54" name="Line 354"/>
            <p:cNvSpPr/>
            <p:nvPr/>
          </p:nvSpPr>
          <p:spPr>
            <a:xfrm>
              <a:off x="652272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55" name="Line 355"/>
            <p:cNvSpPr/>
            <p:nvPr/>
          </p:nvSpPr>
          <p:spPr>
            <a:xfrm>
              <a:off x="626649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56" name="Line 356"/>
            <p:cNvSpPr/>
            <p:nvPr/>
          </p:nvSpPr>
          <p:spPr>
            <a:xfrm>
              <a:off x="626173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57" name="Line 357"/>
            <p:cNvSpPr/>
            <p:nvPr/>
          </p:nvSpPr>
          <p:spPr>
            <a:xfrm>
              <a:off x="636651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58" name="Line 358"/>
            <p:cNvSpPr/>
            <p:nvPr/>
          </p:nvSpPr>
          <p:spPr>
            <a:xfrm>
              <a:off x="626459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59" name="Line 359"/>
            <p:cNvSpPr/>
            <p:nvPr/>
          </p:nvSpPr>
          <p:spPr>
            <a:xfrm>
              <a:off x="626840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60" name="Line 360"/>
            <p:cNvSpPr/>
            <p:nvPr/>
          </p:nvSpPr>
          <p:spPr>
            <a:xfrm>
              <a:off x="620649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61" name="Line 361"/>
            <p:cNvSpPr/>
            <p:nvPr/>
          </p:nvSpPr>
          <p:spPr>
            <a:xfrm>
              <a:off x="621792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62" name="Line 362"/>
            <p:cNvSpPr/>
            <p:nvPr/>
          </p:nvSpPr>
          <p:spPr>
            <a:xfrm>
              <a:off x="622268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63" name="Line 363"/>
            <p:cNvSpPr/>
            <p:nvPr/>
          </p:nvSpPr>
          <p:spPr>
            <a:xfrm>
              <a:off x="624649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64" name="Line 364"/>
            <p:cNvSpPr/>
            <p:nvPr/>
          </p:nvSpPr>
          <p:spPr>
            <a:xfrm>
              <a:off x="626554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65" name="Line 365"/>
            <p:cNvSpPr/>
            <p:nvPr/>
          </p:nvSpPr>
          <p:spPr>
            <a:xfrm>
              <a:off x="628459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66" name="Line 366"/>
            <p:cNvSpPr/>
            <p:nvPr/>
          </p:nvSpPr>
          <p:spPr>
            <a:xfrm>
              <a:off x="627221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67" name="Line 367"/>
            <p:cNvSpPr/>
            <p:nvPr/>
          </p:nvSpPr>
          <p:spPr>
            <a:xfrm>
              <a:off x="627030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68" name="Line 368"/>
            <p:cNvSpPr/>
            <p:nvPr/>
          </p:nvSpPr>
          <p:spPr>
            <a:xfrm>
              <a:off x="622744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69" name="Line 369"/>
            <p:cNvSpPr/>
            <p:nvPr/>
          </p:nvSpPr>
          <p:spPr>
            <a:xfrm>
              <a:off x="626840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70" name="Line 370"/>
            <p:cNvSpPr/>
            <p:nvPr/>
          </p:nvSpPr>
          <p:spPr>
            <a:xfrm>
              <a:off x="627697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71" name="Line 371"/>
            <p:cNvSpPr/>
            <p:nvPr/>
          </p:nvSpPr>
          <p:spPr>
            <a:xfrm>
              <a:off x="610743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72" name="Line 372"/>
            <p:cNvSpPr/>
            <p:nvPr/>
          </p:nvSpPr>
          <p:spPr>
            <a:xfrm>
              <a:off x="768477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73" name="Line 373"/>
            <p:cNvSpPr/>
            <p:nvPr/>
          </p:nvSpPr>
          <p:spPr>
            <a:xfrm>
              <a:off x="630936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74" name="Line 374"/>
            <p:cNvSpPr/>
            <p:nvPr/>
          </p:nvSpPr>
          <p:spPr>
            <a:xfrm>
              <a:off x="489108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75" name="Line 375"/>
            <p:cNvSpPr/>
            <p:nvPr/>
          </p:nvSpPr>
          <p:spPr>
            <a:xfrm>
              <a:off x="629221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76" name="Line 376"/>
            <p:cNvSpPr/>
            <p:nvPr/>
          </p:nvSpPr>
          <p:spPr>
            <a:xfrm>
              <a:off x="630078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77" name="Line 377"/>
            <p:cNvSpPr/>
            <p:nvPr/>
          </p:nvSpPr>
          <p:spPr>
            <a:xfrm>
              <a:off x="621887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78" name="Line 378"/>
            <p:cNvSpPr/>
            <p:nvPr/>
          </p:nvSpPr>
          <p:spPr>
            <a:xfrm>
              <a:off x="620649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79" name="Line 379"/>
            <p:cNvSpPr/>
            <p:nvPr/>
          </p:nvSpPr>
          <p:spPr>
            <a:xfrm>
              <a:off x="624840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80" name="Line 380"/>
            <p:cNvSpPr/>
            <p:nvPr/>
          </p:nvSpPr>
          <p:spPr>
            <a:xfrm>
              <a:off x="627411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81" name="Line 381"/>
            <p:cNvSpPr/>
            <p:nvPr/>
          </p:nvSpPr>
          <p:spPr>
            <a:xfrm>
              <a:off x="622077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82" name="Line 382"/>
            <p:cNvSpPr/>
            <p:nvPr/>
          </p:nvSpPr>
          <p:spPr>
            <a:xfrm>
              <a:off x="626078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83" name="Line 383"/>
            <p:cNvSpPr/>
            <p:nvPr/>
          </p:nvSpPr>
          <p:spPr>
            <a:xfrm>
              <a:off x="623506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84" name="Line 384"/>
            <p:cNvSpPr/>
            <p:nvPr/>
          </p:nvSpPr>
          <p:spPr>
            <a:xfrm>
              <a:off x="634079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85" name="Line 385"/>
            <p:cNvSpPr/>
            <p:nvPr/>
          </p:nvSpPr>
          <p:spPr>
            <a:xfrm>
              <a:off x="628554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86" name="Line 386"/>
            <p:cNvSpPr/>
            <p:nvPr/>
          </p:nvSpPr>
          <p:spPr>
            <a:xfrm>
              <a:off x="621601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87" name="Line 387"/>
            <p:cNvSpPr/>
            <p:nvPr/>
          </p:nvSpPr>
          <p:spPr>
            <a:xfrm>
              <a:off x="609885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88" name="Line 388"/>
            <p:cNvSpPr/>
            <p:nvPr/>
          </p:nvSpPr>
          <p:spPr>
            <a:xfrm>
              <a:off x="628459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89" name="Line 389"/>
            <p:cNvSpPr/>
            <p:nvPr/>
          </p:nvSpPr>
          <p:spPr>
            <a:xfrm>
              <a:off x="622649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90" name="Line 390"/>
            <p:cNvSpPr/>
            <p:nvPr/>
          </p:nvSpPr>
          <p:spPr>
            <a:xfrm>
              <a:off x="613410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91" name="Line 391"/>
            <p:cNvSpPr/>
            <p:nvPr/>
          </p:nvSpPr>
          <p:spPr>
            <a:xfrm>
              <a:off x="630078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92" name="Line 392"/>
            <p:cNvSpPr/>
            <p:nvPr/>
          </p:nvSpPr>
          <p:spPr>
            <a:xfrm>
              <a:off x="625411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93" name="Line 393"/>
            <p:cNvSpPr/>
            <p:nvPr/>
          </p:nvSpPr>
          <p:spPr>
            <a:xfrm>
              <a:off x="623887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94" name="Line 394"/>
            <p:cNvSpPr/>
            <p:nvPr/>
          </p:nvSpPr>
          <p:spPr>
            <a:xfrm>
              <a:off x="613314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95" name="Line 395"/>
            <p:cNvSpPr/>
            <p:nvPr/>
          </p:nvSpPr>
          <p:spPr>
            <a:xfrm>
              <a:off x="628078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96" name="Line 396"/>
            <p:cNvSpPr/>
            <p:nvPr/>
          </p:nvSpPr>
          <p:spPr>
            <a:xfrm>
              <a:off x="628554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97" name="Line 397"/>
            <p:cNvSpPr/>
            <p:nvPr/>
          </p:nvSpPr>
          <p:spPr>
            <a:xfrm>
              <a:off x="626173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98" name="Line 398"/>
            <p:cNvSpPr/>
            <p:nvPr/>
          </p:nvSpPr>
          <p:spPr>
            <a:xfrm>
              <a:off x="623887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399" name="Line 399"/>
            <p:cNvSpPr/>
            <p:nvPr/>
          </p:nvSpPr>
          <p:spPr>
            <a:xfrm>
              <a:off x="627888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00" name="Line 400"/>
            <p:cNvSpPr/>
            <p:nvPr/>
          </p:nvSpPr>
          <p:spPr>
            <a:xfrm>
              <a:off x="629221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01" name="Line 401"/>
            <p:cNvSpPr/>
            <p:nvPr/>
          </p:nvSpPr>
          <p:spPr>
            <a:xfrm>
              <a:off x="628078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02" name="Line 402"/>
            <p:cNvSpPr/>
            <p:nvPr/>
          </p:nvSpPr>
          <p:spPr>
            <a:xfrm>
              <a:off x="625125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03" name="Line 403"/>
            <p:cNvSpPr/>
            <p:nvPr/>
          </p:nvSpPr>
          <p:spPr>
            <a:xfrm>
              <a:off x="626745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04" name="Line 404"/>
            <p:cNvSpPr/>
            <p:nvPr/>
          </p:nvSpPr>
          <p:spPr>
            <a:xfrm>
              <a:off x="628269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05" name="Line 405"/>
            <p:cNvSpPr/>
            <p:nvPr/>
          </p:nvSpPr>
          <p:spPr>
            <a:xfrm>
              <a:off x="638175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06" name="Line 406"/>
            <p:cNvSpPr/>
            <p:nvPr/>
          </p:nvSpPr>
          <p:spPr>
            <a:xfrm>
              <a:off x="614267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07" name="Line 407"/>
            <p:cNvSpPr/>
            <p:nvPr/>
          </p:nvSpPr>
          <p:spPr>
            <a:xfrm>
              <a:off x="627888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08" name="Line 408"/>
            <p:cNvSpPr/>
            <p:nvPr/>
          </p:nvSpPr>
          <p:spPr>
            <a:xfrm>
              <a:off x="627126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09" name="Line 409"/>
            <p:cNvSpPr/>
            <p:nvPr/>
          </p:nvSpPr>
          <p:spPr>
            <a:xfrm>
              <a:off x="620363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10" name="Line 410"/>
            <p:cNvSpPr/>
            <p:nvPr/>
          </p:nvSpPr>
          <p:spPr>
            <a:xfrm>
              <a:off x="626459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11" name="Line 411"/>
            <p:cNvSpPr/>
            <p:nvPr/>
          </p:nvSpPr>
          <p:spPr>
            <a:xfrm>
              <a:off x="629697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12" name="Line 412"/>
            <p:cNvSpPr/>
            <p:nvPr/>
          </p:nvSpPr>
          <p:spPr>
            <a:xfrm>
              <a:off x="628935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13" name="Line 413"/>
            <p:cNvSpPr/>
            <p:nvPr/>
          </p:nvSpPr>
          <p:spPr>
            <a:xfrm>
              <a:off x="626268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14" name="Line 414"/>
            <p:cNvSpPr/>
            <p:nvPr/>
          </p:nvSpPr>
          <p:spPr>
            <a:xfrm>
              <a:off x="628840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15" name="Line 415"/>
            <p:cNvSpPr/>
            <p:nvPr/>
          </p:nvSpPr>
          <p:spPr>
            <a:xfrm>
              <a:off x="623887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16" name="Line 416"/>
            <p:cNvSpPr/>
            <p:nvPr/>
          </p:nvSpPr>
          <p:spPr>
            <a:xfrm>
              <a:off x="607314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17" name="Line 417"/>
            <p:cNvSpPr/>
            <p:nvPr/>
          </p:nvSpPr>
          <p:spPr>
            <a:xfrm>
              <a:off x="626745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18" name="Line 418"/>
            <p:cNvSpPr/>
            <p:nvPr/>
          </p:nvSpPr>
          <p:spPr>
            <a:xfrm>
              <a:off x="625506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19" name="Line 419"/>
            <p:cNvSpPr/>
            <p:nvPr/>
          </p:nvSpPr>
          <p:spPr>
            <a:xfrm>
              <a:off x="624744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20" name="Line 420"/>
            <p:cNvSpPr/>
            <p:nvPr/>
          </p:nvSpPr>
          <p:spPr>
            <a:xfrm>
              <a:off x="626268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21" name="Line 421"/>
            <p:cNvSpPr/>
            <p:nvPr/>
          </p:nvSpPr>
          <p:spPr>
            <a:xfrm>
              <a:off x="626745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22" name="Line 422"/>
            <p:cNvSpPr/>
            <p:nvPr/>
          </p:nvSpPr>
          <p:spPr>
            <a:xfrm>
              <a:off x="627411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23" name="Line 423"/>
            <p:cNvSpPr/>
            <p:nvPr/>
          </p:nvSpPr>
          <p:spPr>
            <a:xfrm>
              <a:off x="638746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24" name="Line 424"/>
            <p:cNvSpPr/>
            <p:nvPr/>
          </p:nvSpPr>
          <p:spPr>
            <a:xfrm>
              <a:off x="682085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25" name="Line 425"/>
            <p:cNvSpPr/>
            <p:nvPr/>
          </p:nvSpPr>
          <p:spPr>
            <a:xfrm>
              <a:off x="629221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26" name="Line 426"/>
            <p:cNvSpPr/>
            <p:nvPr/>
          </p:nvSpPr>
          <p:spPr>
            <a:xfrm>
              <a:off x="640746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27" name="Line 427"/>
            <p:cNvSpPr/>
            <p:nvPr/>
          </p:nvSpPr>
          <p:spPr>
            <a:xfrm>
              <a:off x="625030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28" name="Line 428"/>
            <p:cNvSpPr/>
            <p:nvPr/>
          </p:nvSpPr>
          <p:spPr>
            <a:xfrm>
              <a:off x="626840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29" name="Line 429"/>
            <p:cNvSpPr/>
            <p:nvPr/>
          </p:nvSpPr>
          <p:spPr>
            <a:xfrm>
              <a:off x="631793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30" name="Line 430"/>
            <p:cNvSpPr/>
            <p:nvPr/>
          </p:nvSpPr>
          <p:spPr>
            <a:xfrm>
              <a:off x="622744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31" name="Line 431"/>
            <p:cNvSpPr/>
            <p:nvPr/>
          </p:nvSpPr>
          <p:spPr>
            <a:xfrm>
              <a:off x="625506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32" name="Line 432"/>
            <p:cNvSpPr/>
            <p:nvPr/>
          </p:nvSpPr>
          <p:spPr>
            <a:xfrm>
              <a:off x="644842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33" name="Line 433"/>
            <p:cNvSpPr/>
            <p:nvPr/>
          </p:nvSpPr>
          <p:spPr>
            <a:xfrm>
              <a:off x="626745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34" name="Line 434"/>
            <p:cNvSpPr/>
            <p:nvPr/>
          </p:nvSpPr>
          <p:spPr>
            <a:xfrm>
              <a:off x="629031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35" name="Line 435"/>
            <p:cNvSpPr/>
            <p:nvPr/>
          </p:nvSpPr>
          <p:spPr>
            <a:xfrm>
              <a:off x="625602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36" name="Line 436"/>
            <p:cNvSpPr/>
            <p:nvPr/>
          </p:nvSpPr>
          <p:spPr>
            <a:xfrm>
              <a:off x="626459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37" name="Line 437"/>
            <p:cNvSpPr/>
            <p:nvPr/>
          </p:nvSpPr>
          <p:spPr>
            <a:xfrm>
              <a:off x="618744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38" name="Line 438"/>
            <p:cNvSpPr/>
            <p:nvPr/>
          </p:nvSpPr>
          <p:spPr>
            <a:xfrm>
              <a:off x="626554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39" name="Line 439"/>
            <p:cNvSpPr/>
            <p:nvPr/>
          </p:nvSpPr>
          <p:spPr>
            <a:xfrm>
              <a:off x="629697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40" name="Line 440"/>
            <p:cNvSpPr/>
            <p:nvPr/>
          </p:nvSpPr>
          <p:spPr>
            <a:xfrm>
              <a:off x="633698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41" name="Line 441"/>
            <p:cNvSpPr/>
            <p:nvPr/>
          </p:nvSpPr>
          <p:spPr>
            <a:xfrm>
              <a:off x="626745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42" name="Line 442"/>
            <p:cNvSpPr/>
            <p:nvPr/>
          </p:nvSpPr>
          <p:spPr>
            <a:xfrm>
              <a:off x="629507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43" name="Line 443"/>
            <p:cNvSpPr/>
            <p:nvPr/>
          </p:nvSpPr>
          <p:spPr>
            <a:xfrm>
              <a:off x="624459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44" name="Line 444"/>
            <p:cNvSpPr/>
            <p:nvPr/>
          </p:nvSpPr>
          <p:spPr>
            <a:xfrm>
              <a:off x="628840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45" name="Line 445"/>
            <p:cNvSpPr/>
            <p:nvPr/>
          </p:nvSpPr>
          <p:spPr>
            <a:xfrm>
              <a:off x="638651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46" name="Line 446"/>
            <p:cNvSpPr/>
            <p:nvPr/>
          </p:nvSpPr>
          <p:spPr>
            <a:xfrm>
              <a:off x="625030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47" name="Line 447"/>
            <p:cNvSpPr/>
            <p:nvPr/>
          </p:nvSpPr>
          <p:spPr>
            <a:xfrm>
              <a:off x="619410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48" name="Line 448"/>
            <p:cNvSpPr/>
            <p:nvPr/>
          </p:nvSpPr>
          <p:spPr>
            <a:xfrm>
              <a:off x="632079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49" name="Line 449"/>
            <p:cNvSpPr/>
            <p:nvPr/>
          </p:nvSpPr>
          <p:spPr>
            <a:xfrm>
              <a:off x="626935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50" name="Line 450"/>
            <p:cNvSpPr/>
            <p:nvPr/>
          </p:nvSpPr>
          <p:spPr>
            <a:xfrm>
              <a:off x="625983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51" name="Line 451"/>
            <p:cNvSpPr/>
            <p:nvPr/>
          </p:nvSpPr>
          <p:spPr>
            <a:xfrm>
              <a:off x="641413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52" name="Line 452"/>
            <p:cNvSpPr/>
            <p:nvPr/>
          </p:nvSpPr>
          <p:spPr>
            <a:xfrm>
              <a:off x="627316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53" name="Line 453"/>
            <p:cNvSpPr/>
            <p:nvPr/>
          </p:nvSpPr>
          <p:spPr>
            <a:xfrm>
              <a:off x="626554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54" name="Line 454"/>
            <p:cNvSpPr/>
            <p:nvPr/>
          </p:nvSpPr>
          <p:spPr>
            <a:xfrm>
              <a:off x="630078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55" name="Line 455"/>
            <p:cNvSpPr/>
            <p:nvPr/>
          </p:nvSpPr>
          <p:spPr>
            <a:xfrm>
              <a:off x="622839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56" name="Line 456"/>
            <p:cNvSpPr/>
            <p:nvPr/>
          </p:nvSpPr>
          <p:spPr>
            <a:xfrm>
              <a:off x="639984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57" name="Line 457"/>
            <p:cNvSpPr/>
            <p:nvPr/>
          </p:nvSpPr>
          <p:spPr>
            <a:xfrm>
              <a:off x="624840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58" name="Line 458"/>
            <p:cNvSpPr/>
            <p:nvPr/>
          </p:nvSpPr>
          <p:spPr>
            <a:xfrm>
              <a:off x="624173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59" name="Line 459"/>
            <p:cNvSpPr/>
            <p:nvPr/>
          </p:nvSpPr>
          <p:spPr>
            <a:xfrm>
              <a:off x="617220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60" name="Line 460"/>
            <p:cNvSpPr/>
            <p:nvPr/>
          </p:nvSpPr>
          <p:spPr>
            <a:xfrm>
              <a:off x="620553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61" name="Line 461"/>
            <p:cNvSpPr/>
            <p:nvPr/>
          </p:nvSpPr>
          <p:spPr>
            <a:xfrm>
              <a:off x="626745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62" name="Line 462"/>
            <p:cNvSpPr/>
            <p:nvPr/>
          </p:nvSpPr>
          <p:spPr>
            <a:xfrm>
              <a:off x="627221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63" name="Line 463"/>
            <p:cNvSpPr/>
            <p:nvPr/>
          </p:nvSpPr>
          <p:spPr>
            <a:xfrm>
              <a:off x="629221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64" name="Line 464"/>
            <p:cNvSpPr/>
            <p:nvPr/>
          </p:nvSpPr>
          <p:spPr>
            <a:xfrm>
              <a:off x="620363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65" name="Line 465"/>
            <p:cNvSpPr/>
            <p:nvPr/>
          </p:nvSpPr>
          <p:spPr>
            <a:xfrm>
              <a:off x="628935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66" name="Line 466"/>
            <p:cNvSpPr/>
            <p:nvPr/>
          </p:nvSpPr>
          <p:spPr>
            <a:xfrm>
              <a:off x="623982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67" name="Line 467"/>
            <p:cNvSpPr/>
            <p:nvPr/>
          </p:nvSpPr>
          <p:spPr>
            <a:xfrm>
              <a:off x="628173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68" name="Line 468"/>
            <p:cNvSpPr/>
            <p:nvPr/>
          </p:nvSpPr>
          <p:spPr>
            <a:xfrm>
              <a:off x="627697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69" name="Line 469"/>
            <p:cNvSpPr/>
            <p:nvPr/>
          </p:nvSpPr>
          <p:spPr>
            <a:xfrm>
              <a:off x="607314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70" name="Line 470"/>
            <p:cNvSpPr/>
            <p:nvPr/>
          </p:nvSpPr>
          <p:spPr>
            <a:xfrm>
              <a:off x="627602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71" name="Line 471"/>
            <p:cNvSpPr/>
            <p:nvPr/>
          </p:nvSpPr>
          <p:spPr>
            <a:xfrm>
              <a:off x="626840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72" name="Line 472"/>
            <p:cNvSpPr/>
            <p:nvPr/>
          </p:nvSpPr>
          <p:spPr>
            <a:xfrm>
              <a:off x="624744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73" name="Line 473"/>
            <p:cNvSpPr/>
            <p:nvPr/>
          </p:nvSpPr>
          <p:spPr>
            <a:xfrm>
              <a:off x="630078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74" name="Line 474"/>
            <p:cNvSpPr/>
            <p:nvPr/>
          </p:nvSpPr>
          <p:spPr>
            <a:xfrm>
              <a:off x="623982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75" name="Line 475"/>
            <p:cNvSpPr/>
            <p:nvPr/>
          </p:nvSpPr>
          <p:spPr>
            <a:xfrm>
              <a:off x="628173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76" name="Line 476"/>
            <p:cNvSpPr/>
            <p:nvPr/>
          </p:nvSpPr>
          <p:spPr>
            <a:xfrm>
              <a:off x="641318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77" name="Line 477"/>
            <p:cNvSpPr/>
            <p:nvPr/>
          </p:nvSpPr>
          <p:spPr>
            <a:xfrm>
              <a:off x="621887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78" name="Line 478"/>
            <p:cNvSpPr/>
            <p:nvPr/>
          </p:nvSpPr>
          <p:spPr>
            <a:xfrm>
              <a:off x="627316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79" name="Line 479"/>
            <p:cNvSpPr/>
            <p:nvPr/>
          </p:nvSpPr>
          <p:spPr>
            <a:xfrm>
              <a:off x="647509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80" name="Line 480"/>
            <p:cNvSpPr/>
            <p:nvPr/>
          </p:nvSpPr>
          <p:spPr>
            <a:xfrm>
              <a:off x="618267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81" name="Line 481"/>
            <p:cNvSpPr/>
            <p:nvPr/>
          </p:nvSpPr>
          <p:spPr>
            <a:xfrm>
              <a:off x="629412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82" name="Line 482"/>
            <p:cNvSpPr/>
            <p:nvPr/>
          </p:nvSpPr>
          <p:spPr>
            <a:xfrm>
              <a:off x="629126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83" name="Line 483"/>
            <p:cNvSpPr/>
            <p:nvPr/>
          </p:nvSpPr>
          <p:spPr>
            <a:xfrm>
              <a:off x="626935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84" name="Line 484"/>
            <p:cNvSpPr/>
            <p:nvPr/>
          </p:nvSpPr>
          <p:spPr>
            <a:xfrm>
              <a:off x="627792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85" name="Line 485"/>
            <p:cNvSpPr/>
            <p:nvPr/>
          </p:nvSpPr>
          <p:spPr>
            <a:xfrm>
              <a:off x="627316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86" name="Line 486"/>
            <p:cNvSpPr/>
            <p:nvPr/>
          </p:nvSpPr>
          <p:spPr>
            <a:xfrm>
              <a:off x="626173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87" name="Line 487"/>
            <p:cNvSpPr/>
            <p:nvPr/>
          </p:nvSpPr>
          <p:spPr>
            <a:xfrm>
              <a:off x="667512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88" name="Line 488"/>
            <p:cNvSpPr/>
            <p:nvPr/>
          </p:nvSpPr>
          <p:spPr>
            <a:xfrm>
              <a:off x="627030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89" name="Line 489"/>
            <p:cNvSpPr/>
            <p:nvPr/>
          </p:nvSpPr>
          <p:spPr>
            <a:xfrm>
              <a:off x="626554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90" name="Line 490"/>
            <p:cNvSpPr/>
            <p:nvPr/>
          </p:nvSpPr>
          <p:spPr>
            <a:xfrm>
              <a:off x="628745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91" name="Line 491"/>
            <p:cNvSpPr/>
            <p:nvPr/>
          </p:nvSpPr>
          <p:spPr>
            <a:xfrm>
              <a:off x="622268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92" name="Line 492"/>
            <p:cNvSpPr/>
            <p:nvPr/>
          </p:nvSpPr>
          <p:spPr>
            <a:xfrm>
              <a:off x="619125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93" name="Line 493"/>
            <p:cNvSpPr/>
            <p:nvPr/>
          </p:nvSpPr>
          <p:spPr>
            <a:xfrm>
              <a:off x="629031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94" name="Line 494"/>
            <p:cNvSpPr/>
            <p:nvPr/>
          </p:nvSpPr>
          <p:spPr>
            <a:xfrm>
              <a:off x="628459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95" name="Line 495"/>
            <p:cNvSpPr/>
            <p:nvPr/>
          </p:nvSpPr>
          <p:spPr>
            <a:xfrm>
              <a:off x="618648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96" name="Line 496"/>
            <p:cNvSpPr/>
            <p:nvPr/>
          </p:nvSpPr>
          <p:spPr>
            <a:xfrm>
              <a:off x="627126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497" name="Line 497"/>
            <p:cNvSpPr/>
            <p:nvPr/>
          </p:nvSpPr>
          <p:spPr>
            <a:xfrm>
              <a:off x="631031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</p:grpSp>
      <p:grpSp>
        <p:nvGrpSpPr>
          <p:cNvPr id="730" name="h-zoom"/>
          <p:cNvGrpSpPr/>
          <p:nvPr/>
        </p:nvGrpSpPr>
        <p:grpSpPr>
          <a:xfrm>
            <a:off x="8077200" y="1524000"/>
            <a:ext cx="3581400" cy="3352800"/>
            <a:chOff x="8077200" y="1524000"/>
            <a:chExt cx="3581400" cy="3352800"/>
          </a:xfrm>
        </p:grpSpPr>
        <p:sp>
          <p:nvSpPr>
            <p:cNvPr id="499" name="Rectangle 499"/>
            <p:cNvSpPr/>
            <p:nvPr/>
          </p:nvSpPr>
          <p:spPr>
            <a:xfrm>
              <a:off x="8077200" y="1524000"/>
              <a:ext cx="3581400" cy="3352800"/>
            </a:xfrm>
            <a:prstGeom prst="roundRect">
              <a:avLst>
                <a:gd name="adj" fmla="val 3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0" name="TextBox 500"/>
            <p:cNvSpPr txBox="1"/>
            <p:nvPr/>
          </p:nvSpPr>
          <p:spPr>
            <a:xfrm>
              <a:off x="8242554" y="1661160"/>
              <a:ext cx="2127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同一重尾样本，只看 [−6, 6]</a:t>
              </a:r>
            </a:p>
          </p:txBody>
        </p:sp>
        <p:sp>
          <p:nvSpPr>
            <p:cNvPr id="501" name="Rectangle 501"/>
            <p:cNvSpPr/>
            <p:nvPr/>
          </p:nvSpPr>
          <p:spPr>
            <a:xfrm>
              <a:off x="8572500" y="2152650"/>
              <a:ext cx="2933700" cy="2381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2" name="Line 502"/>
            <p:cNvSpPr/>
            <p:nvPr/>
          </p:nvSpPr>
          <p:spPr>
            <a:xfrm>
              <a:off x="8572500" y="45339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503" name="Line 503"/>
            <p:cNvSpPr/>
            <p:nvPr/>
          </p:nvSpPr>
          <p:spPr>
            <a:xfrm>
              <a:off x="8572500" y="3885248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504" name="Line 504"/>
            <p:cNvSpPr/>
            <p:nvPr/>
          </p:nvSpPr>
          <p:spPr>
            <a:xfrm>
              <a:off x="8572500" y="3236595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505" name="Line 505"/>
            <p:cNvSpPr/>
            <p:nvPr/>
          </p:nvSpPr>
          <p:spPr>
            <a:xfrm>
              <a:off x="8572500" y="2588895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506" name="Line 506"/>
            <p:cNvSpPr/>
            <p:nvPr/>
          </p:nvSpPr>
          <p:spPr>
            <a:xfrm>
              <a:off x="8572500" y="45339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507" name="Line 507"/>
            <p:cNvSpPr/>
            <p:nvPr/>
          </p:nvSpPr>
          <p:spPr>
            <a:xfrm>
              <a:off x="8572500" y="2152650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508" name="Line 508"/>
            <p:cNvSpPr/>
            <p:nvPr/>
          </p:nvSpPr>
          <p:spPr>
            <a:xfrm>
              <a:off x="8572500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509" name="TextBox 509"/>
            <p:cNvSpPr txBox="1"/>
            <p:nvPr/>
          </p:nvSpPr>
          <p:spPr>
            <a:xfrm>
              <a:off x="8501101" y="46272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−6</a:t>
              </a:r>
            </a:p>
          </p:txBody>
        </p:sp>
        <p:sp>
          <p:nvSpPr>
            <p:cNvPr id="510" name="Line 510"/>
            <p:cNvSpPr/>
            <p:nvPr/>
          </p:nvSpPr>
          <p:spPr>
            <a:xfrm>
              <a:off x="9061132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511" name="TextBox 511"/>
            <p:cNvSpPr txBox="1"/>
            <p:nvPr/>
          </p:nvSpPr>
          <p:spPr>
            <a:xfrm>
              <a:off x="8989733" y="46272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−4</a:t>
              </a:r>
            </a:p>
          </p:txBody>
        </p:sp>
        <p:sp>
          <p:nvSpPr>
            <p:cNvPr id="512" name="Line 512"/>
            <p:cNvSpPr/>
            <p:nvPr/>
          </p:nvSpPr>
          <p:spPr>
            <a:xfrm>
              <a:off x="9550718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513" name="TextBox 513"/>
            <p:cNvSpPr txBox="1"/>
            <p:nvPr/>
          </p:nvSpPr>
          <p:spPr>
            <a:xfrm>
              <a:off x="9479318" y="46272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514" name="Line 514"/>
            <p:cNvSpPr/>
            <p:nvPr/>
          </p:nvSpPr>
          <p:spPr>
            <a:xfrm>
              <a:off x="10039350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515" name="TextBox 515"/>
            <p:cNvSpPr txBox="1"/>
            <p:nvPr/>
          </p:nvSpPr>
          <p:spPr>
            <a:xfrm>
              <a:off x="10001269" y="46272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6" name="Line 516"/>
            <p:cNvSpPr/>
            <p:nvPr/>
          </p:nvSpPr>
          <p:spPr>
            <a:xfrm>
              <a:off x="10527982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517" name="TextBox 517"/>
            <p:cNvSpPr txBox="1"/>
            <p:nvPr/>
          </p:nvSpPr>
          <p:spPr>
            <a:xfrm>
              <a:off x="10489902" y="46272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8" name="Line 518"/>
            <p:cNvSpPr/>
            <p:nvPr/>
          </p:nvSpPr>
          <p:spPr>
            <a:xfrm>
              <a:off x="11017568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519" name="TextBox 519"/>
            <p:cNvSpPr txBox="1"/>
            <p:nvPr/>
          </p:nvSpPr>
          <p:spPr>
            <a:xfrm>
              <a:off x="10979487" y="46272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0" name="Line 520"/>
            <p:cNvSpPr/>
            <p:nvPr/>
          </p:nvSpPr>
          <p:spPr>
            <a:xfrm>
              <a:off x="11506200" y="45339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521" name="TextBox 521"/>
            <p:cNvSpPr txBox="1"/>
            <p:nvPr/>
          </p:nvSpPr>
          <p:spPr>
            <a:xfrm>
              <a:off x="11468119" y="46272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22" name="Line 522"/>
            <p:cNvSpPr/>
            <p:nvPr/>
          </p:nvSpPr>
          <p:spPr>
            <a:xfrm>
              <a:off x="8524875" y="453390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523" name="TextBox 523"/>
            <p:cNvSpPr txBox="1"/>
            <p:nvPr/>
          </p:nvSpPr>
          <p:spPr>
            <a:xfrm>
              <a:off x="8424901" y="44748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4" name="Line 524"/>
            <p:cNvSpPr/>
            <p:nvPr/>
          </p:nvSpPr>
          <p:spPr>
            <a:xfrm>
              <a:off x="8524875" y="3885248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525" name="TextBox 525"/>
            <p:cNvSpPr txBox="1"/>
            <p:nvPr/>
          </p:nvSpPr>
          <p:spPr>
            <a:xfrm>
              <a:off x="8291627" y="3826192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526" name="Line 526"/>
            <p:cNvSpPr/>
            <p:nvPr/>
          </p:nvSpPr>
          <p:spPr>
            <a:xfrm>
              <a:off x="8524875" y="323659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527" name="TextBox 527"/>
            <p:cNvSpPr txBox="1"/>
            <p:nvPr/>
          </p:nvSpPr>
          <p:spPr>
            <a:xfrm>
              <a:off x="8291627" y="317754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528" name="Line 528"/>
            <p:cNvSpPr/>
            <p:nvPr/>
          </p:nvSpPr>
          <p:spPr>
            <a:xfrm>
              <a:off x="8524875" y="258889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529" name="TextBox 529"/>
            <p:cNvSpPr txBox="1"/>
            <p:nvPr/>
          </p:nvSpPr>
          <p:spPr>
            <a:xfrm>
              <a:off x="8291627" y="252984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530" name="TextBox 530"/>
            <p:cNvSpPr txBox="1"/>
            <p:nvPr/>
          </p:nvSpPr>
          <p:spPr>
            <a:xfrm>
              <a:off x="8624697" y="19711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密度</a:t>
              </a:r>
            </a:p>
          </p:txBody>
        </p:sp>
        <p:sp>
          <p:nvSpPr>
            <p:cNvPr id="531" name="Rectangle 531"/>
            <p:cNvSpPr/>
            <p:nvPr/>
          </p:nvSpPr>
          <p:spPr>
            <a:xfrm>
              <a:off x="8817292" y="4404360"/>
              <a:ext cx="121920" cy="129540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32" name="Rectangle 532"/>
            <p:cNvSpPr/>
            <p:nvPr/>
          </p:nvSpPr>
          <p:spPr>
            <a:xfrm>
              <a:off x="8939212" y="4339590"/>
              <a:ext cx="121920" cy="194310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33" name="Rectangle 533"/>
            <p:cNvSpPr/>
            <p:nvPr/>
          </p:nvSpPr>
          <p:spPr>
            <a:xfrm>
              <a:off x="9061132" y="4339590"/>
              <a:ext cx="121920" cy="194310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34" name="Rectangle 534"/>
            <p:cNvSpPr/>
            <p:nvPr/>
          </p:nvSpPr>
          <p:spPr>
            <a:xfrm>
              <a:off x="9184005" y="4210050"/>
              <a:ext cx="121920" cy="323850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35" name="Rectangle 535"/>
            <p:cNvSpPr/>
            <p:nvPr/>
          </p:nvSpPr>
          <p:spPr>
            <a:xfrm>
              <a:off x="9305925" y="4339590"/>
              <a:ext cx="121920" cy="194310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36" name="Rectangle 536"/>
            <p:cNvSpPr/>
            <p:nvPr/>
          </p:nvSpPr>
          <p:spPr>
            <a:xfrm>
              <a:off x="9427845" y="3885248"/>
              <a:ext cx="121920" cy="648652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37" name="Rectangle 537"/>
            <p:cNvSpPr/>
            <p:nvPr/>
          </p:nvSpPr>
          <p:spPr>
            <a:xfrm>
              <a:off x="9550718" y="4469130"/>
              <a:ext cx="121920" cy="64770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38" name="Rectangle 538"/>
            <p:cNvSpPr/>
            <p:nvPr/>
          </p:nvSpPr>
          <p:spPr>
            <a:xfrm>
              <a:off x="9672638" y="3820478"/>
              <a:ext cx="121920" cy="713422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39" name="Rectangle 539"/>
            <p:cNvSpPr/>
            <p:nvPr/>
          </p:nvSpPr>
          <p:spPr>
            <a:xfrm>
              <a:off x="9794558" y="3755708"/>
              <a:ext cx="121920" cy="778192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40" name="Rectangle 540"/>
            <p:cNvSpPr/>
            <p:nvPr/>
          </p:nvSpPr>
          <p:spPr>
            <a:xfrm>
              <a:off x="9917430" y="2523172"/>
              <a:ext cx="121920" cy="2010728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41" name="Rectangle 541"/>
            <p:cNvSpPr/>
            <p:nvPr/>
          </p:nvSpPr>
          <p:spPr>
            <a:xfrm>
              <a:off x="10039350" y="2328862"/>
              <a:ext cx="121920" cy="2205038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42" name="Rectangle 542"/>
            <p:cNvSpPr/>
            <p:nvPr/>
          </p:nvSpPr>
          <p:spPr>
            <a:xfrm>
              <a:off x="10161270" y="3367088"/>
              <a:ext cx="121920" cy="1166812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43" name="Rectangle 543"/>
            <p:cNvSpPr/>
            <p:nvPr/>
          </p:nvSpPr>
          <p:spPr>
            <a:xfrm>
              <a:off x="10284142" y="3236595"/>
              <a:ext cx="121920" cy="1297305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44" name="Rectangle 544"/>
            <p:cNvSpPr/>
            <p:nvPr/>
          </p:nvSpPr>
          <p:spPr>
            <a:xfrm>
              <a:off x="10406062" y="3885248"/>
              <a:ext cx="121920" cy="648652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45" name="Rectangle 545"/>
            <p:cNvSpPr/>
            <p:nvPr/>
          </p:nvSpPr>
          <p:spPr>
            <a:xfrm>
              <a:off x="10527982" y="4404360"/>
              <a:ext cx="121920" cy="129540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46" name="Rectangle 546"/>
            <p:cNvSpPr/>
            <p:nvPr/>
          </p:nvSpPr>
          <p:spPr>
            <a:xfrm>
              <a:off x="10650855" y="4274820"/>
              <a:ext cx="121920" cy="259080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47" name="Rectangle 547"/>
            <p:cNvSpPr/>
            <p:nvPr/>
          </p:nvSpPr>
          <p:spPr>
            <a:xfrm>
              <a:off x="10772775" y="4469130"/>
              <a:ext cx="121920" cy="64770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48" name="Rectangle 548"/>
            <p:cNvSpPr/>
            <p:nvPr/>
          </p:nvSpPr>
          <p:spPr>
            <a:xfrm>
              <a:off x="10894695" y="4404360"/>
              <a:ext cx="121920" cy="129540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49" name="Rectangle 549"/>
            <p:cNvSpPr/>
            <p:nvPr/>
          </p:nvSpPr>
          <p:spPr>
            <a:xfrm>
              <a:off x="11139488" y="4404360"/>
              <a:ext cx="121920" cy="129540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50" name="Rectangle 550"/>
            <p:cNvSpPr/>
            <p:nvPr/>
          </p:nvSpPr>
          <p:spPr>
            <a:xfrm>
              <a:off x="11261408" y="4404360"/>
              <a:ext cx="121920" cy="129540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51" name="Rectangle 551"/>
            <p:cNvSpPr/>
            <p:nvPr/>
          </p:nvSpPr>
          <p:spPr>
            <a:xfrm>
              <a:off x="11384280" y="4469130"/>
              <a:ext cx="121920" cy="64770"/>
            </a:xfrm>
            <a:prstGeom prst="rect">
              <a:avLst/>
            </a:prstGeom>
            <a:solidFill>
              <a:srgbClr val="E5F2EA"/>
            </a:solidFill>
            <a:ln w="10478">
              <a:solidFill>
                <a:srgbClr val="2E7D4F"/>
              </a:solidFill>
            </a:ln>
          </p:spPr>
        </p:sp>
        <p:sp>
          <p:nvSpPr>
            <p:cNvPr id="552" name="Freeform 552"/>
            <p:cNvSpPr/>
            <p:nvPr/>
          </p:nvSpPr>
          <p:spPr>
            <a:xfrm>
              <a:off x="8572500" y="2701290"/>
              <a:ext cx="2933700" cy="1809750"/>
            </a:xfrm>
            <a:custGeom>
              <a:avLst/>
              <a:gdLst/>
              <a:ahLst/>
              <a:cxnLst/>
              <a:rect l="l" t="t" r="r" b="b"/>
              <a:pathLst>
                <a:path w="2933700" h="1809750">
                  <a:moveTo>
                    <a:pt x="0" y="1798320"/>
                  </a:moveTo>
                  <a:lnTo>
                    <a:pt x="12382" y="1801177"/>
                  </a:lnTo>
                  <a:lnTo>
                    <a:pt x="24765" y="1804035"/>
                  </a:lnTo>
                  <a:lnTo>
                    <a:pt x="37147" y="1805940"/>
                  </a:lnTo>
                  <a:lnTo>
                    <a:pt x="49530" y="1807845"/>
                  </a:lnTo>
                  <a:lnTo>
                    <a:pt x="60960" y="1808797"/>
                  </a:lnTo>
                  <a:lnTo>
                    <a:pt x="73343" y="1809750"/>
                  </a:lnTo>
                  <a:lnTo>
                    <a:pt x="85725" y="1809750"/>
                  </a:lnTo>
                  <a:lnTo>
                    <a:pt x="98107" y="1808797"/>
                  </a:lnTo>
                  <a:lnTo>
                    <a:pt x="110490" y="1807845"/>
                  </a:lnTo>
                  <a:lnTo>
                    <a:pt x="122872" y="1805940"/>
                  </a:lnTo>
                  <a:lnTo>
                    <a:pt x="135255" y="1803082"/>
                  </a:lnTo>
                  <a:lnTo>
                    <a:pt x="147638" y="1800225"/>
                  </a:lnTo>
                  <a:lnTo>
                    <a:pt x="160020" y="1797368"/>
                  </a:lnTo>
                  <a:lnTo>
                    <a:pt x="171450" y="1792605"/>
                  </a:lnTo>
                  <a:lnTo>
                    <a:pt x="183832" y="1788795"/>
                  </a:lnTo>
                  <a:lnTo>
                    <a:pt x="196215" y="1783080"/>
                  </a:lnTo>
                  <a:lnTo>
                    <a:pt x="208597" y="1778318"/>
                  </a:lnTo>
                  <a:lnTo>
                    <a:pt x="220980" y="1772602"/>
                  </a:lnTo>
                  <a:lnTo>
                    <a:pt x="233362" y="1765935"/>
                  </a:lnTo>
                  <a:lnTo>
                    <a:pt x="245745" y="1759268"/>
                  </a:lnTo>
                  <a:lnTo>
                    <a:pt x="258128" y="1752600"/>
                  </a:lnTo>
                  <a:lnTo>
                    <a:pt x="270510" y="1745932"/>
                  </a:lnTo>
                  <a:lnTo>
                    <a:pt x="281940" y="1739265"/>
                  </a:lnTo>
                  <a:lnTo>
                    <a:pt x="294322" y="1732597"/>
                  </a:lnTo>
                  <a:lnTo>
                    <a:pt x="306705" y="1724977"/>
                  </a:lnTo>
                  <a:lnTo>
                    <a:pt x="319088" y="1718310"/>
                  </a:lnTo>
                  <a:lnTo>
                    <a:pt x="331470" y="1711642"/>
                  </a:lnTo>
                  <a:lnTo>
                    <a:pt x="343853" y="1704022"/>
                  </a:lnTo>
                  <a:lnTo>
                    <a:pt x="356235" y="1697355"/>
                  </a:lnTo>
                  <a:lnTo>
                    <a:pt x="368618" y="1690688"/>
                  </a:lnTo>
                  <a:lnTo>
                    <a:pt x="380047" y="1684020"/>
                  </a:lnTo>
                  <a:lnTo>
                    <a:pt x="392430" y="1678305"/>
                  </a:lnTo>
                  <a:lnTo>
                    <a:pt x="404812" y="1671638"/>
                  </a:lnTo>
                  <a:lnTo>
                    <a:pt x="417195" y="1665922"/>
                  </a:lnTo>
                  <a:lnTo>
                    <a:pt x="429578" y="1660207"/>
                  </a:lnTo>
                  <a:lnTo>
                    <a:pt x="441960" y="1654492"/>
                  </a:lnTo>
                  <a:lnTo>
                    <a:pt x="454343" y="1649730"/>
                  </a:lnTo>
                  <a:lnTo>
                    <a:pt x="466725" y="1644968"/>
                  </a:lnTo>
                  <a:lnTo>
                    <a:pt x="479107" y="1640205"/>
                  </a:lnTo>
                  <a:lnTo>
                    <a:pt x="490538" y="1635442"/>
                  </a:lnTo>
                  <a:lnTo>
                    <a:pt x="502920" y="1631632"/>
                  </a:lnTo>
                  <a:lnTo>
                    <a:pt x="515303" y="1626870"/>
                  </a:lnTo>
                  <a:lnTo>
                    <a:pt x="527685" y="1623060"/>
                  </a:lnTo>
                  <a:lnTo>
                    <a:pt x="540068" y="1619250"/>
                  </a:lnTo>
                  <a:lnTo>
                    <a:pt x="552450" y="1614488"/>
                  </a:lnTo>
                  <a:lnTo>
                    <a:pt x="564832" y="1610677"/>
                  </a:lnTo>
                  <a:lnTo>
                    <a:pt x="577215" y="1606868"/>
                  </a:lnTo>
                  <a:lnTo>
                    <a:pt x="589597" y="1602105"/>
                  </a:lnTo>
                  <a:lnTo>
                    <a:pt x="601028" y="1597342"/>
                  </a:lnTo>
                  <a:lnTo>
                    <a:pt x="613410" y="1593532"/>
                  </a:lnTo>
                  <a:lnTo>
                    <a:pt x="625793" y="1588770"/>
                  </a:lnTo>
                  <a:lnTo>
                    <a:pt x="638175" y="1584007"/>
                  </a:lnTo>
                  <a:lnTo>
                    <a:pt x="650557" y="1578292"/>
                  </a:lnTo>
                  <a:lnTo>
                    <a:pt x="662940" y="1573530"/>
                  </a:lnTo>
                  <a:lnTo>
                    <a:pt x="675322" y="1567815"/>
                  </a:lnTo>
                  <a:lnTo>
                    <a:pt x="687705" y="1562100"/>
                  </a:lnTo>
                  <a:lnTo>
                    <a:pt x="700088" y="1556385"/>
                  </a:lnTo>
                  <a:lnTo>
                    <a:pt x="711518" y="1549718"/>
                  </a:lnTo>
                  <a:lnTo>
                    <a:pt x="723900" y="1544002"/>
                  </a:lnTo>
                  <a:lnTo>
                    <a:pt x="736282" y="1537335"/>
                  </a:lnTo>
                  <a:lnTo>
                    <a:pt x="748665" y="1530668"/>
                  </a:lnTo>
                  <a:lnTo>
                    <a:pt x="761047" y="1523047"/>
                  </a:lnTo>
                  <a:lnTo>
                    <a:pt x="773430" y="1516380"/>
                  </a:lnTo>
                  <a:lnTo>
                    <a:pt x="785812" y="1508760"/>
                  </a:lnTo>
                  <a:lnTo>
                    <a:pt x="798195" y="1502092"/>
                  </a:lnTo>
                  <a:lnTo>
                    <a:pt x="810578" y="1494472"/>
                  </a:lnTo>
                  <a:lnTo>
                    <a:pt x="822007" y="1487805"/>
                  </a:lnTo>
                  <a:lnTo>
                    <a:pt x="834390" y="1481138"/>
                  </a:lnTo>
                  <a:lnTo>
                    <a:pt x="846772" y="1474470"/>
                  </a:lnTo>
                  <a:lnTo>
                    <a:pt x="859155" y="1467802"/>
                  </a:lnTo>
                  <a:lnTo>
                    <a:pt x="871538" y="1462088"/>
                  </a:lnTo>
                  <a:lnTo>
                    <a:pt x="883920" y="1456372"/>
                  </a:lnTo>
                  <a:lnTo>
                    <a:pt x="896303" y="1451610"/>
                  </a:lnTo>
                  <a:lnTo>
                    <a:pt x="908685" y="1446847"/>
                  </a:lnTo>
                  <a:lnTo>
                    <a:pt x="921068" y="1442085"/>
                  </a:lnTo>
                  <a:lnTo>
                    <a:pt x="932497" y="1437322"/>
                  </a:lnTo>
                  <a:lnTo>
                    <a:pt x="944880" y="1433512"/>
                  </a:lnTo>
                  <a:lnTo>
                    <a:pt x="957262" y="1428750"/>
                  </a:lnTo>
                  <a:lnTo>
                    <a:pt x="969645" y="1423988"/>
                  </a:lnTo>
                  <a:lnTo>
                    <a:pt x="982028" y="1419225"/>
                  </a:lnTo>
                  <a:lnTo>
                    <a:pt x="994410" y="1413510"/>
                  </a:lnTo>
                  <a:lnTo>
                    <a:pt x="1006793" y="1406842"/>
                  </a:lnTo>
                  <a:lnTo>
                    <a:pt x="1019175" y="1399222"/>
                  </a:lnTo>
                  <a:lnTo>
                    <a:pt x="1031557" y="1390650"/>
                  </a:lnTo>
                  <a:lnTo>
                    <a:pt x="1042988" y="1380172"/>
                  </a:lnTo>
                  <a:lnTo>
                    <a:pt x="1055370" y="1368742"/>
                  </a:lnTo>
                  <a:lnTo>
                    <a:pt x="1067753" y="1355407"/>
                  </a:lnTo>
                  <a:lnTo>
                    <a:pt x="1080135" y="1340168"/>
                  </a:lnTo>
                  <a:lnTo>
                    <a:pt x="1092518" y="1323022"/>
                  </a:lnTo>
                  <a:lnTo>
                    <a:pt x="1104900" y="1304925"/>
                  </a:lnTo>
                  <a:lnTo>
                    <a:pt x="1117282" y="1283970"/>
                  </a:lnTo>
                  <a:lnTo>
                    <a:pt x="1129665" y="1262062"/>
                  </a:lnTo>
                  <a:lnTo>
                    <a:pt x="1141095" y="1237297"/>
                  </a:lnTo>
                  <a:lnTo>
                    <a:pt x="1153478" y="1211580"/>
                  </a:lnTo>
                  <a:lnTo>
                    <a:pt x="1165860" y="1183005"/>
                  </a:lnTo>
                  <a:lnTo>
                    <a:pt x="1178243" y="1151572"/>
                  </a:lnTo>
                  <a:lnTo>
                    <a:pt x="1190625" y="1118235"/>
                  </a:lnTo>
                  <a:lnTo>
                    <a:pt x="1203007" y="1082992"/>
                  </a:lnTo>
                  <a:lnTo>
                    <a:pt x="1215390" y="1043940"/>
                  </a:lnTo>
                  <a:lnTo>
                    <a:pt x="1227773" y="1002030"/>
                  </a:lnTo>
                  <a:lnTo>
                    <a:pt x="1240155" y="957262"/>
                  </a:lnTo>
                  <a:lnTo>
                    <a:pt x="1251585" y="909638"/>
                  </a:lnTo>
                  <a:lnTo>
                    <a:pt x="1263968" y="858202"/>
                  </a:lnTo>
                  <a:lnTo>
                    <a:pt x="1276350" y="803910"/>
                  </a:lnTo>
                  <a:lnTo>
                    <a:pt x="1288732" y="746760"/>
                  </a:lnTo>
                  <a:lnTo>
                    <a:pt x="1301115" y="686752"/>
                  </a:lnTo>
                  <a:lnTo>
                    <a:pt x="1313498" y="624840"/>
                  </a:lnTo>
                  <a:lnTo>
                    <a:pt x="1325880" y="561975"/>
                  </a:lnTo>
                  <a:lnTo>
                    <a:pt x="1338262" y="497205"/>
                  </a:lnTo>
                  <a:lnTo>
                    <a:pt x="1350645" y="433388"/>
                  </a:lnTo>
                  <a:lnTo>
                    <a:pt x="1362075" y="370522"/>
                  </a:lnTo>
                  <a:lnTo>
                    <a:pt x="1374457" y="308610"/>
                  </a:lnTo>
                  <a:lnTo>
                    <a:pt x="1386840" y="250507"/>
                  </a:lnTo>
                  <a:lnTo>
                    <a:pt x="1399223" y="196215"/>
                  </a:lnTo>
                  <a:lnTo>
                    <a:pt x="1411605" y="147638"/>
                  </a:lnTo>
                  <a:lnTo>
                    <a:pt x="1423988" y="104775"/>
                  </a:lnTo>
                  <a:lnTo>
                    <a:pt x="1436370" y="68580"/>
                  </a:lnTo>
                  <a:lnTo>
                    <a:pt x="1448752" y="39052"/>
                  </a:lnTo>
                  <a:lnTo>
                    <a:pt x="1461135" y="18097"/>
                  </a:lnTo>
                  <a:lnTo>
                    <a:pt x="1472565" y="4762"/>
                  </a:lnTo>
                  <a:lnTo>
                    <a:pt x="1484948" y="0"/>
                  </a:lnTo>
                  <a:lnTo>
                    <a:pt x="1497330" y="2857"/>
                  </a:lnTo>
                  <a:lnTo>
                    <a:pt x="1509712" y="12382"/>
                  </a:lnTo>
                  <a:lnTo>
                    <a:pt x="1522095" y="28575"/>
                  </a:lnTo>
                  <a:lnTo>
                    <a:pt x="1534477" y="50482"/>
                  </a:lnTo>
                  <a:lnTo>
                    <a:pt x="1546860" y="78105"/>
                  </a:lnTo>
                  <a:lnTo>
                    <a:pt x="1559243" y="109538"/>
                  </a:lnTo>
                  <a:lnTo>
                    <a:pt x="1571625" y="143827"/>
                  </a:lnTo>
                  <a:lnTo>
                    <a:pt x="1583055" y="180975"/>
                  </a:lnTo>
                  <a:lnTo>
                    <a:pt x="1595438" y="219075"/>
                  </a:lnTo>
                  <a:lnTo>
                    <a:pt x="1607820" y="258127"/>
                  </a:lnTo>
                  <a:lnTo>
                    <a:pt x="1620202" y="296227"/>
                  </a:lnTo>
                  <a:lnTo>
                    <a:pt x="1632585" y="335280"/>
                  </a:lnTo>
                  <a:lnTo>
                    <a:pt x="1644968" y="372427"/>
                  </a:lnTo>
                  <a:lnTo>
                    <a:pt x="1657350" y="408622"/>
                  </a:lnTo>
                  <a:lnTo>
                    <a:pt x="1669732" y="443865"/>
                  </a:lnTo>
                  <a:lnTo>
                    <a:pt x="1682115" y="478155"/>
                  </a:lnTo>
                  <a:lnTo>
                    <a:pt x="1693545" y="511492"/>
                  </a:lnTo>
                  <a:lnTo>
                    <a:pt x="1705927" y="543877"/>
                  </a:lnTo>
                  <a:lnTo>
                    <a:pt x="1718310" y="576262"/>
                  </a:lnTo>
                  <a:lnTo>
                    <a:pt x="1730693" y="608647"/>
                  </a:lnTo>
                  <a:lnTo>
                    <a:pt x="1743075" y="641985"/>
                  </a:lnTo>
                  <a:lnTo>
                    <a:pt x="1755457" y="675322"/>
                  </a:lnTo>
                  <a:lnTo>
                    <a:pt x="1767840" y="709612"/>
                  </a:lnTo>
                  <a:lnTo>
                    <a:pt x="1780223" y="744855"/>
                  </a:lnTo>
                  <a:lnTo>
                    <a:pt x="1792605" y="781050"/>
                  </a:lnTo>
                  <a:lnTo>
                    <a:pt x="1804035" y="820102"/>
                  </a:lnTo>
                  <a:lnTo>
                    <a:pt x="1816418" y="859155"/>
                  </a:lnTo>
                  <a:lnTo>
                    <a:pt x="1828800" y="900112"/>
                  </a:lnTo>
                  <a:lnTo>
                    <a:pt x="1841182" y="942975"/>
                  </a:lnTo>
                  <a:lnTo>
                    <a:pt x="1853565" y="985838"/>
                  </a:lnTo>
                  <a:lnTo>
                    <a:pt x="1865948" y="1030605"/>
                  </a:lnTo>
                  <a:lnTo>
                    <a:pt x="1878330" y="1074420"/>
                  </a:lnTo>
                  <a:lnTo>
                    <a:pt x="1890712" y="1119188"/>
                  </a:lnTo>
                  <a:lnTo>
                    <a:pt x="1902143" y="1163955"/>
                  </a:lnTo>
                  <a:lnTo>
                    <a:pt x="1914525" y="1207770"/>
                  </a:lnTo>
                  <a:lnTo>
                    <a:pt x="1926907" y="1250632"/>
                  </a:lnTo>
                  <a:lnTo>
                    <a:pt x="1939290" y="1291590"/>
                  </a:lnTo>
                  <a:lnTo>
                    <a:pt x="1951673" y="1331595"/>
                  </a:lnTo>
                  <a:lnTo>
                    <a:pt x="1964055" y="1368742"/>
                  </a:lnTo>
                  <a:lnTo>
                    <a:pt x="1976438" y="1403985"/>
                  </a:lnTo>
                  <a:lnTo>
                    <a:pt x="1988820" y="1437322"/>
                  </a:lnTo>
                  <a:lnTo>
                    <a:pt x="2001202" y="1467802"/>
                  </a:lnTo>
                  <a:lnTo>
                    <a:pt x="2012632" y="1495425"/>
                  </a:lnTo>
                  <a:lnTo>
                    <a:pt x="2025015" y="1520190"/>
                  </a:lnTo>
                  <a:lnTo>
                    <a:pt x="2037398" y="1543050"/>
                  </a:lnTo>
                  <a:lnTo>
                    <a:pt x="2049780" y="1563052"/>
                  </a:lnTo>
                  <a:lnTo>
                    <a:pt x="2062162" y="1580197"/>
                  </a:lnTo>
                  <a:lnTo>
                    <a:pt x="2074545" y="1595438"/>
                  </a:lnTo>
                  <a:lnTo>
                    <a:pt x="2086927" y="1608772"/>
                  </a:lnTo>
                  <a:lnTo>
                    <a:pt x="2099310" y="1620202"/>
                  </a:lnTo>
                  <a:lnTo>
                    <a:pt x="2111693" y="1629727"/>
                  </a:lnTo>
                  <a:lnTo>
                    <a:pt x="2123123" y="1637347"/>
                  </a:lnTo>
                  <a:lnTo>
                    <a:pt x="2135505" y="1644968"/>
                  </a:lnTo>
                  <a:lnTo>
                    <a:pt x="2147888" y="1651635"/>
                  </a:lnTo>
                  <a:lnTo>
                    <a:pt x="2160270" y="1656397"/>
                  </a:lnTo>
                  <a:lnTo>
                    <a:pt x="2172652" y="1662112"/>
                  </a:lnTo>
                  <a:lnTo>
                    <a:pt x="2185035" y="1666875"/>
                  </a:lnTo>
                  <a:lnTo>
                    <a:pt x="2197418" y="1670685"/>
                  </a:lnTo>
                  <a:lnTo>
                    <a:pt x="2209800" y="1675447"/>
                  </a:lnTo>
                  <a:lnTo>
                    <a:pt x="2222182" y="1679257"/>
                  </a:lnTo>
                  <a:lnTo>
                    <a:pt x="2233612" y="1684020"/>
                  </a:lnTo>
                  <a:lnTo>
                    <a:pt x="2245995" y="1688782"/>
                  </a:lnTo>
                  <a:lnTo>
                    <a:pt x="2258377" y="1692592"/>
                  </a:lnTo>
                  <a:lnTo>
                    <a:pt x="2270760" y="1697355"/>
                  </a:lnTo>
                  <a:lnTo>
                    <a:pt x="2283143" y="1702118"/>
                  </a:lnTo>
                  <a:lnTo>
                    <a:pt x="2295525" y="1706880"/>
                  </a:lnTo>
                  <a:lnTo>
                    <a:pt x="2307907" y="1711642"/>
                  </a:lnTo>
                  <a:lnTo>
                    <a:pt x="2320290" y="1717357"/>
                  </a:lnTo>
                  <a:lnTo>
                    <a:pt x="2332673" y="1722120"/>
                  </a:lnTo>
                  <a:lnTo>
                    <a:pt x="2344102" y="1726882"/>
                  </a:lnTo>
                  <a:lnTo>
                    <a:pt x="2356485" y="1731645"/>
                  </a:lnTo>
                  <a:lnTo>
                    <a:pt x="2368868" y="1735455"/>
                  </a:lnTo>
                  <a:lnTo>
                    <a:pt x="2381250" y="1740218"/>
                  </a:lnTo>
                  <a:lnTo>
                    <a:pt x="2393632" y="1744027"/>
                  </a:lnTo>
                  <a:lnTo>
                    <a:pt x="2406015" y="1747838"/>
                  </a:lnTo>
                  <a:lnTo>
                    <a:pt x="2418398" y="1750695"/>
                  </a:lnTo>
                  <a:lnTo>
                    <a:pt x="2430780" y="1753552"/>
                  </a:lnTo>
                  <a:lnTo>
                    <a:pt x="2443162" y="1755457"/>
                  </a:lnTo>
                  <a:lnTo>
                    <a:pt x="2454593" y="1757362"/>
                  </a:lnTo>
                  <a:lnTo>
                    <a:pt x="2466975" y="1758315"/>
                  </a:lnTo>
                  <a:lnTo>
                    <a:pt x="2479357" y="1759268"/>
                  </a:lnTo>
                  <a:lnTo>
                    <a:pt x="2491740" y="1758315"/>
                  </a:lnTo>
                  <a:lnTo>
                    <a:pt x="2504123" y="1758315"/>
                  </a:lnTo>
                  <a:lnTo>
                    <a:pt x="2516505" y="1756410"/>
                  </a:lnTo>
                  <a:lnTo>
                    <a:pt x="2528888" y="1754505"/>
                  </a:lnTo>
                  <a:lnTo>
                    <a:pt x="2541270" y="1752600"/>
                  </a:lnTo>
                  <a:lnTo>
                    <a:pt x="2553652" y="1749742"/>
                  </a:lnTo>
                  <a:lnTo>
                    <a:pt x="2565082" y="1746885"/>
                  </a:lnTo>
                  <a:lnTo>
                    <a:pt x="2577465" y="1744027"/>
                  </a:lnTo>
                  <a:lnTo>
                    <a:pt x="2589848" y="1741170"/>
                  </a:lnTo>
                  <a:lnTo>
                    <a:pt x="2602230" y="1738312"/>
                  </a:lnTo>
                  <a:lnTo>
                    <a:pt x="2614612" y="1735455"/>
                  </a:lnTo>
                  <a:lnTo>
                    <a:pt x="2626995" y="1732597"/>
                  </a:lnTo>
                  <a:lnTo>
                    <a:pt x="2639377" y="1730692"/>
                  </a:lnTo>
                  <a:lnTo>
                    <a:pt x="2651760" y="1728788"/>
                  </a:lnTo>
                  <a:lnTo>
                    <a:pt x="2663190" y="1727835"/>
                  </a:lnTo>
                  <a:lnTo>
                    <a:pt x="2675573" y="1726882"/>
                  </a:lnTo>
                  <a:lnTo>
                    <a:pt x="2687955" y="1725930"/>
                  </a:lnTo>
                  <a:lnTo>
                    <a:pt x="2700338" y="1725930"/>
                  </a:lnTo>
                  <a:lnTo>
                    <a:pt x="2712720" y="1725930"/>
                  </a:lnTo>
                  <a:lnTo>
                    <a:pt x="2725102" y="1725930"/>
                  </a:lnTo>
                  <a:lnTo>
                    <a:pt x="2737485" y="1726882"/>
                  </a:lnTo>
                  <a:lnTo>
                    <a:pt x="2749868" y="1727835"/>
                  </a:lnTo>
                  <a:lnTo>
                    <a:pt x="2762250" y="1728788"/>
                  </a:lnTo>
                  <a:lnTo>
                    <a:pt x="2773680" y="1729740"/>
                  </a:lnTo>
                  <a:lnTo>
                    <a:pt x="2786062" y="1730692"/>
                  </a:lnTo>
                  <a:lnTo>
                    <a:pt x="2798445" y="1730692"/>
                  </a:lnTo>
                  <a:lnTo>
                    <a:pt x="2810827" y="1731645"/>
                  </a:lnTo>
                  <a:lnTo>
                    <a:pt x="2823210" y="1731645"/>
                  </a:lnTo>
                  <a:lnTo>
                    <a:pt x="2835593" y="1732597"/>
                  </a:lnTo>
                  <a:lnTo>
                    <a:pt x="2847975" y="1732597"/>
                  </a:lnTo>
                  <a:lnTo>
                    <a:pt x="2860357" y="1732597"/>
                  </a:lnTo>
                  <a:lnTo>
                    <a:pt x="2872740" y="1732597"/>
                  </a:lnTo>
                  <a:lnTo>
                    <a:pt x="2884170" y="1731645"/>
                  </a:lnTo>
                  <a:lnTo>
                    <a:pt x="2896552" y="1731645"/>
                  </a:lnTo>
                  <a:lnTo>
                    <a:pt x="2908935" y="1731645"/>
                  </a:lnTo>
                  <a:lnTo>
                    <a:pt x="2921318" y="1731645"/>
                  </a:lnTo>
                  <a:lnTo>
                    <a:pt x="2933700" y="1731645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553" name="Line 553"/>
            <p:cNvSpPr/>
            <p:nvPr/>
          </p:nvSpPr>
          <p:spPr>
            <a:xfrm>
              <a:off x="1004030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54" name="Line 554"/>
            <p:cNvSpPr/>
            <p:nvPr/>
          </p:nvSpPr>
          <p:spPr>
            <a:xfrm>
              <a:off x="1011459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55" name="Line 555"/>
            <p:cNvSpPr/>
            <p:nvPr/>
          </p:nvSpPr>
          <p:spPr>
            <a:xfrm>
              <a:off x="1015174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56" name="Line 556"/>
            <p:cNvSpPr/>
            <p:nvPr/>
          </p:nvSpPr>
          <p:spPr>
            <a:xfrm>
              <a:off x="1005078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57" name="Line 557"/>
            <p:cNvSpPr/>
            <p:nvPr/>
          </p:nvSpPr>
          <p:spPr>
            <a:xfrm>
              <a:off x="1023366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58" name="Line 558"/>
            <p:cNvSpPr/>
            <p:nvPr/>
          </p:nvSpPr>
          <p:spPr>
            <a:xfrm>
              <a:off x="1037463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59" name="Line 559"/>
            <p:cNvSpPr/>
            <p:nvPr/>
          </p:nvSpPr>
          <p:spPr>
            <a:xfrm>
              <a:off x="1001172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60" name="Line 560"/>
            <p:cNvSpPr/>
            <p:nvPr/>
          </p:nvSpPr>
          <p:spPr>
            <a:xfrm>
              <a:off x="1002887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61" name="Line 561"/>
            <p:cNvSpPr/>
            <p:nvPr/>
          </p:nvSpPr>
          <p:spPr>
            <a:xfrm>
              <a:off x="1075753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62" name="Line 562"/>
            <p:cNvSpPr/>
            <p:nvPr/>
          </p:nvSpPr>
          <p:spPr>
            <a:xfrm>
              <a:off x="1039939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63" name="Line 563"/>
            <p:cNvSpPr/>
            <p:nvPr/>
          </p:nvSpPr>
          <p:spPr>
            <a:xfrm>
              <a:off x="889730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64" name="Line 564"/>
            <p:cNvSpPr/>
            <p:nvPr/>
          </p:nvSpPr>
          <p:spPr>
            <a:xfrm>
              <a:off x="983456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65" name="Line 565"/>
            <p:cNvSpPr/>
            <p:nvPr/>
          </p:nvSpPr>
          <p:spPr>
            <a:xfrm>
              <a:off x="1118139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66" name="Line 566"/>
            <p:cNvSpPr/>
            <p:nvPr/>
          </p:nvSpPr>
          <p:spPr>
            <a:xfrm>
              <a:off x="993457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67" name="Line 567"/>
            <p:cNvSpPr/>
            <p:nvPr/>
          </p:nvSpPr>
          <p:spPr>
            <a:xfrm>
              <a:off x="1082230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68" name="Line 568"/>
            <p:cNvSpPr/>
            <p:nvPr/>
          </p:nvSpPr>
          <p:spPr>
            <a:xfrm>
              <a:off x="1033557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69" name="Line 569"/>
            <p:cNvSpPr/>
            <p:nvPr/>
          </p:nvSpPr>
          <p:spPr>
            <a:xfrm>
              <a:off x="971835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70" name="Line 570"/>
            <p:cNvSpPr/>
            <p:nvPr/>
          </p:nvSpPr>
          <p:spPr>
            <a:xfrm>
              <a:off x="1003077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71" name="Line 571"/>
            <p:cNvSpPr/>
            <p:nvPr/>
          </p:nvSpPr>
          <p:spPr>
            <a:xfrm>
              <a:off x="1131665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72" name="Line 572"/>
            <p:cNvSpPr/>
            <p:nvPr/>
          </p:nvSpPr>
          <p:spPr>
            <a:xfrm>
              <a:off x="1046321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73" name="Line 573"/>
            <p:cNvSpPr/>
            <p:nvPr/>
          </p:nvSpPr>
          <p:spPr>
            <a:xfrm>
              <a:off x="982503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74" name="Line 574"/>
            <p:cNvSpPr/>
            <p:nvPr/>
          </p:nvSpPr>
          <p:spPr>
            <a:xfrm>
              <a:off x="996124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75" name="Line 575"/>
            <p:cNvSpPr/>
            <p:nvPr/>
          </p:nvSpPr>
          <p:spPr>
            <a:xfrm>
              <a:off x="988409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76" name="Line 576"/>
            <p:cNvSpPr/>
            <p:nvPr/>
          </p:nvSpPr>
          <p:spPr>
            <a:xfrm>
              <a:off x="1007078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77" name="Line 577"/>
            <p:cNvSpPr/>
            <p:nvPr/>
          </p:nvSpPr>
          <p:spPr>
            <a:xfrm>
              <a:off x="997172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78" name="Line 578"/>
            <p:cNvSpPr/>
            <p:nvPr/>
          </p:nvSpPr>
          <p:spPr>
            <a:xfrm>
              <a:off x="1001458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79" name="Line 579"/>
            <p:cNvSpPr/>
            <p:nvPr/>
          </p:nvSpPr>
          <p:spPr>
            <a:xfrm>
              <a:off x="951928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80" name="Line 580"/>
            <p:cNvSpPr/>
            <p:nvPr/>
          </p:nvSpPr>
          <p:spPr>
            <a:xfrm>
              <a:off x="993171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81" name="Line 581"/>
            <p:cNvSpPr/>
            <p:nvPr/>
          </p:nvSpPr>
          <p:spPr>
            <a:xfrm>
              <a:off x="1001268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82" name="Line 582"/>
            <p:cNvSpPr/>
            <p:nvPr/>
          </p:nvSpPr>
          <p:spPr>
            <a:xfrm>
              <a:off x="1076134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83" name="Line 583"/>
            <p:cNvSpPr/>
            <p:nvPr/>
          </p:nvSpPr>
          <p:spPr>
            <a:xfrm>
              <a:off x="1023080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84" name="Line 584"/>
            <p:cNvSpPr/>
            <p:nvPr/>
          </p:nvSpPr>
          <p:spPr>
            <a:xfrm>
              <a:off x="1044606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85" name="Line 585"/>
            <p:cNvSpPr/>
            <p:nvPr/>
          </p:nvSpPr>
          <p:spPr>
            <a:xfrm>
              <a:off x="996029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86" name="Line 586"/>
            <p:cNvSpPr/>
            <p:nvPr/>
          </p:nvSpPr>
          <p:spPr>
            <a:xfrm>
              <a:off x="1120330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87" name="Line 587"/>
            <p:cNvSpPr/>
            <p:nvPr/>
          </p:nvSpPr>
          <p:spPr>
            <a:xfrm>
              <a:off x="1048512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88" name="Line 588"/>
            <p:cNvSpPr/>
            <p:nvPr/>
          </p:nvSpPr>
          <p:spPr>
            <a:xfrm>
              <a:off x="1025652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89" name="Line 589"/>
            <p:cNvSpPr/>
            <p:nvPr/>
          </p:nvSpPr>
          <p:spPr>
            <a:xfrm>
              <a:off x="999934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90" name="Line 590"/>
            <p:cNvSpPr/>
            <p:nvPr/>
          </p:nvSpPr>
          <p:spPr>
            <a:xfrm>
              <a:off x="1038415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91" name="Line 591"/>
            <p:cNvSpPr/>
            <p:nvPr/>
          </p:nvSpPr>
          <p:spPr>
            <a:xfrm>
              <a:off x="932592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92" name="Line 592"/>
            <p:cNvSpPr/>
            <p:nvPr/>
          </p:nvSpPr>
          <p:spPr>
            <a:xfrm>
              <a:off x="1008221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93" name="Line 593"/>
            <p:cNvSpPr/>
            <p:nvPr/>
          </p:nvSpPr>
          <p:spPr>
            <a:xfrm>
              <a:off x="1004601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94" name="Line 594"/>
            <p:cNvSpPr/>
            <p:nvPr/>
          </p:nvSpPr>
          <p:spPr>
            <a:xfrm>
              <a:off x="1047559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95" name="Line 595"/>
            <p:cNvSpPr/>
            <p:nvPr/>
          </p:nvSpPr>
          <p:spPr>
            <a:xfrm>
              <a:off x="1003077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96" name="Line 596"/>
            <p:cNvSpPr/>
            <p:nvPr/>
          </p:nvSpPr>
          <p:spPr>
            <a:xfrm>
              <a:off x="996029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97" name="Line 597"/>
            <p:cNvSpPr/>
            <p:nvPr/>
          </p:nvSpPr>
          <p:spPr>
            <a:xfrm>
              <a:off x="1003744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98" name="Line 598"/>
            <p:cNvSpPr/>
            <p:nvPr/>
          </p:nvSpPr>
          <p:spPr>
            <a:xfrm>
              <a:off x="912876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599" name="Line 599"/>
            <p:cNvSpPr/>
            <p:nvPr/>
          </p:nvSpPr>
          <p:spPr>
            <a:xfrm>
              <a:off x="1024223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00" name="Line 600"/>
            <p:cNvSpPr/>
            <p:nvPr/>
          </p:nvSpPr>
          <p:spPr>
            <a:xfrm>
              <a:off x="1012221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01" name="Line 601"/>
            <p:cNvSpPr/>
            <p:nvPr/>
          </p:nvSpPr>
          <p:spPr>
            <a:xfrm>
              <a:off x="1005744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02" name="Line 602"/>
            <p:cNvSpPr/>
            <p:nvPr/>
          </p:nvSpPr>
          <p:spPr>
            <a:xfrm>
              <a:off x="1036510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03" name="Line 603"/>
            <p:cNvSpPr/>
            <p:nvPr/>
          </p:nvSpPr>
          <p:spPr>
            <a:xfrm>
              <a:off x="1014126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04" name="Line 604"/>
            <p:cNvSpPr/>
            <p:nvPr/>
          </p:nvSpPr>
          <p:spPr>
            <a:xfrm>
              <a:off x="1024890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05" name="Line 605"/>
            <p:cNvSpPr/>
            <p:nvPr/>
          </p:nvSpPr>
          <p:spPr>
            <a:xfrm>
              <a:off x="1036986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06" name="Line 606"/>
            <p:cNvSpPr/>
            <p:nvPr/>
          </p:nvSpPr>
          <p:spPr>
            <a:xfrm>
              <a:off x="1003077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07" name="Line 607"/>
            <p:cNvSpPr/>
            <p:nvPr/>
          </p:nvSpPr>
          <p:spPr>
            <a:xfrm>
              <a:off x="996505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08" name="Line 608"/>
            <p:cNvSpPr/>
            <p:nvPr/>
          </p:nvSpPr>
          <p:spPr>
            <a:xfrm>
              <a:off x="1127188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09" name="Line 609"/>
            <p:cNvSpPr/>
            <p:nvPr/>
          </p:nvSpPr>
          <p:spPr>
            <a:xfrm>
              <a:off x="1000220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10" name="Line 610"/>
            <p:cNvSpPr/>
            <p:nvPr/>
          </p:nvSpPr>
          <p:spPr>
            <a:xfrm>
              <a:off x="1005363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11" name="Line 611"/>
            <p:cNvSpPr/>
            <p:nvPr/>
          </p:nvSpPr>
          <p:spPr>
            <a:xfrm>
              <a:off x="927735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12" name="Line 612"/>
            <p:cNvSpPr/>
            <p:nvPr/>
          </p:nvSpPr>
          <p:spPr>
            <a:xfrm>
              <a:off x="942498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13" name="Line 613"/>
            <p:cNvSpPr/>
            <p:nvPr/>
          </p:nvSpPr>
          <p:spPr>
            <a:xfrm>
              <a:off x="947547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14" name="Line 614"/>
            <p:cNvSpPr/>
            <p:nvPr/>
          </p:nvSpPr>
          <p:spPr>
            <a:xfrm>
              <a:off x="977360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15" name="Line 615"/>
            <p:cNvSpPr/>
            <p:nvPr/>
          </p:nvSpPr>
          <p:spPr>
            <a:xfrm>
              <a:off x="1001839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16" name="Line 616"/>
            <p:cNvSpPr/>
            <p:nvPr/>
          </p:nvSpPr>
          <p:spPr>
            <a:xfrm>
              <a:off x="1025080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17" name="Line 617"/>
            <p:cNvSpPr/>
            <p:nvPr/>
          </p:nvSpPr>
          <p:spPr>
            <a:xfrm>
              <a:off x="1009840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18" name="Line 618"/>
            <p:cNvSpPr/>
            <p:nvPr/>
          </p:nvSpPr>
          <p:spPr>
            <a:xfrm>
              <a:off x="1007935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19" name="Line 619"/>
            <p:cNvSpPr/>
            <p:nvPr/>
          </p:nvSpPr>
          <p:spPr>
            <a:xfrm>
              <a:off x="954500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20" name="Line 620"/>
            <p:cNvSpPr/>
            <p:nvPr/>
          </p:nvSpPr>
          <p:spPr>
            <a:xfrm>
              <a:off x="1005554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21" name="Line 621"/>
            <p:cNvSpPr/>
            <p:nvPr/>
          </p:nvSpPr>
          <p:spPr>
            <a:xfrm>
              <a:off x="1015936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22" name="Line 622"/>
            <p:cNvSpPr/>
            <p:nvPr/>
          </p:nvSpPr>
          <p:spPr>
            <a:xfrm>
              <a:off x="1055941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23" name="Line 623"/>
            <p:cNvSpPr/>
            <p:nvPr/>
          </p:nvSpPr>
          <p:spPr>
            <a:xfrm>
              <a:off x="1034510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24" name="Line 624"/>
            <p:cNvSpPr/>
            <p:nvPr/>
          </p:nvSpPr>
          <p:spPr>
            <a:xfrm>
              <a:off x="1045749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25" name="Line 625"/>
            <p:cNvSpPr/>
            <p:nvPr/>
          </p:nvSpPr>
          <p:spPr>
            <a:xfrm>
              <a:off x="943737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26" name="Line 626"/>
            <p:cNvSpPr/>
            <p:nvPr/>
          </p:nvSpPr>
          <p:spPr>
            <a:xfrm>
              <a:off x="927544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27" name="Line 627"/>
            <p:cNvSpPr/>
            <p:nvPr/>
          </p:nvSpPr>
          <p:spPr>
            <a:xfrm>
              <a:off x="980313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28" name="Line 628"/>
            <p:cNvSpPr/>
            <p:nvPr/>
          </p:nvSpPr>
          <p:spPr>
            <a:xfrm>
              <a:off x="1012031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29" name="Line 629"/>
            <p:cNvSpPr/>
            <p:nvPr/>
          </p:nvSpPr>
          <p:spPr>
            <a:xfrm>
              <a:off x="945356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30" name="Line 630"/>
            <p:cNvSpPr/>
            <p:nvPr/>
          </p:nvSpPr>
          <p:spPr>
            <a:xfrm>
              <a:off x="995934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31" name="Line 631"/>
            <p:cNvSpPr/>
            <p:nvPr/>
          </p:nvSpPr>
          <p:spPr>
            <a:xfrm>
              <a:off x="963453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32" name="Line 632"/>
            <p:cNvSpPr/>
            <p:nvPr/>
          </p:nvSpPr>
          <p:spPr>
            <a:xfrm>
              <a:off x="1096232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33" name="Line 633"/>
            <p:cNvSpPr/>
            <p:nvPr/>
          </p:nvSpPr>
          <p:spPr>
            <a:xfrm>
              <a:off x="1026223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34" name="Line 634"/>
            <p:cNvSpPr/>
            <p:nvPr/>
          </p:nvSpPr>
          <p:spPr>
            <a:xfrm>
              <a:off x="939546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35" name="Line 635"/>
            <p:cNvSpPr/>
            <p:nvPr/>
          </p:nvSpPr>
          <p:spPr>
            <a:xfrm>
              <a:off x="1025175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36" name="Line 636"/>
            <p:cNvSpPr/>
            <p:nvPr/>
          </p:nvSpPr>
          <p:spPr>
            <a:xfrm>
              <a:off x="952881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37" name="Line 637"/>
            <p:cNvSpPr/>
            <p:nvPr/>
          </p:nvSpPr>
          <p:spPr>
            <a:xfrm>
              <a:off x="1046226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38" name="Line 638"/>
            <p:cNvSpPr/>
            <p:nvPr/>
          </p:nvSpPr>
          <p:spPr>
            <a:xfrm>
              <a:off x="987361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39" name="Line 639"/>
            <p:cNvSpPr/>
            <p:nvPr/>
          </p:nvSpPr>
          <p:spPr>
            <a:xfrm>
              <a:off x="968311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40" name="Line 640"/>
            <p:cNvSpPr/>
            <p:nvPr/>
          </p:nvSpPr>
          <p:spPr>
            <a:xfrm>
              <a:off x="1020889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41" name="Line 641"/>
            <p:cNvSpPr/>
            <p:nvPr/>
          </p:nvSpPr>
          <p:spPr>
            <a:xfrm>
              <a:off x="1026033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42" name="Line 642"/>
            <p:cNvSpPr/>
            <p:nvPr/>
          </p:nvSpPr>
          <p:spPr>
            <a:xfrm>
              <a:off x="996600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43" name="Line 643"/>
            <p:cNvSpPr/>
            <p:nvPr/>
          </p:nvSpPr>
          <p:spPr>
            <a:xfrm>
              <a:off x="968597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44" name="Line 644"/>
            <p:cNvSpPr/>
            <p:nvPr/>
          </p:nvSpPr>
          <p:spPr>
            <a:xfrm>
              <a:off x="1017746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45" name="Line 645"/>
            <p:cNvSpPr/>
            <p:nvPr/>
          </p:nvSpPr>
          <p:spPr>
            <a:xfrm>
              <a:off x="1034891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46" name="Line 646"/>
            <p:cNvSpPr/>
            <p:nvPr/>
          </p:nvSpPr>
          <p:spPr>
            <a:xfrm>
              <a:off x="1020508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47" name="Line 647"/>
            <p:cNvSpPr/>
            <p:nvPr/>
          </p:nvSpPr>
          <p:spPr>
            <a:xfrm>
              <a:off x="984218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48" name="Line 648"/>
            <p:cNvSpPr/>
            <p:nvPr/>
          </p:nvSpPr>
          <p:spPr>
            <a:xfrm>
              <a:off x="1003554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49" name="Line 649"/>
            <p:cNvSpPr/>
            <p:nvPr/>
          </p:nvSpPr>
          <p:spPr>
            <a:xfrm>
              <a:off x="1022985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50" name="Line 650"/>
            <p:cNvSpPr/>
            <p:nvPr/>
          </p:nvSpPr>
          <p:spPr>
            <a:xfrm>
              <a:off x="1146714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51" name="Line 651"/>
            <p:cNvSpPr/>
            <p:nvPr/>
          </p:nvSpPr>
          <p:spPr>
            <a:xfrm>
              <a:off x="1017841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52" name="Line 652"/>
            <p:cNvSpPr/>
            <p:nvPr/>
          </p:nvSpPr>
          <p:spPr>
            <a:xfrm>
              <a:off x="1008126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53" name="Line 653"/>
            <p:cNvSpPr/>
            <p:nvPr/>
          </p:nvSpPr>
          <p:spPr>
            <a:xfrm>
              <a:off x="924496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54" name="Line 654"/>
            <p:cNvSpPr/>
            <p:nvPr/>
          </p:nvSpPr>
          <p:spPr>
            <a:xfrm>
              <a:off x="1000220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55" name="Line 655"/>
            <p:cNvSpPr/>
            <p:nvPr/>
          </p:nvSpPr>
          <p:spPr>
            <a:xfrm>
              <a:off x="1040701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56" name="Line 656"/>
            <p:cNvSpPr/>
            <p:nvPr/>
          </p:nvSpPr>
          <p:spPr>
            <a:xfrm>
              <a:off x="1031462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57" name="Line 657"/>
            <p:cNvSpPr/>
            <p:nvPr/>
          </p:nvSpPr>
          <p:spPr>
            <a:xfrm>
              <a:off x="997839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58" name="Line 658"/>
            <p:cNvSpPr/>
            <p:nvPr/>
          </p:nvSpPr>
          <p:spPr>
            <a:xfrm>
              <a:off x="1029557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59" name="Line 659"/>
            <p:cNvSpPr/>
            <p:nvPr/>
          </p:nvSpPr>
          <p:spPr>
            <a:xfrm>
              <a:off x="968406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60" name="Line 660"/>
            <p:cNvSpPr/>
            <p:nvPr/>
          </p:nvSpPr>
          <p:spPr>
            <a:xfrm>
              <a:off x="1004125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61" name="Line 661"/>
            <p:cNvSpPr/>
            <p:nvPr/>
          </p:nvSpPr>
          <p:spPr>
            <a:xfrm>
              <a:off x="988790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62" name="Line 662"/>
            <p:cNvSpPr/>
            <p:nvPr/>
          </p:nvSpPr>
          <p:spPr>
            <a:xfrm>
              <a:off x="979074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63" name="Line 663"/>
            <p:cNvSpPr/>
            <p:nvPr/>
          </p:nvSpPr>
          <p:spPr>
            <a:xfrm>
              <a:off x="997743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64" name="Line 664"/>
            <p:cNvSpPr/>
            <p:nvPr/>
          </p:nvSpPr>
          <p:spPr>
            <a:xfrm>
              <a:off x="1004220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65" name="Line 665"/>
            <p:cNvSpPr/>
            <p:nvPr/>
          </p:nvSpPr>
          <p:spPr>
            <a:xfrm>
              <a:off x="1012507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66" name="Line 666"/>
            <p:cNvSpPr/>
            <p:nvPr/>
          </p:nvSpPr>
          <p:spPr>
            <a:xfrm>
              <a:off x="1034415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67" name="Line 667"/>
            <p:cNvSpPr/>
            <p:nvPr/>
          </p:nvSpPr>
          <p:spPr>
            <a:xfrm>
              <a:off x="982027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68" name="Line 668"/>
            <p:cNvSpPr/>
            <p:nvPr/>
          </p:nvSpPr>
          <p:spPr>
            <a:xfrm>
              <a:off x="1005078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69" name="Line 669"/>
            <p:cNvSpPr/>
            <p:nvPr/>
          </p:nvSpPr>
          <p:spPr>
            <a:xfrm>
              <a:off x="1066514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70" name="Line 670"/>
            <p:cNvSpPr/>
            <p:nvPr/>
          </p:nvSpPr>
          <p:spPr>
            <a:xfrm>
              <a:off x="954024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71" name="Line 671"/>
            <p:cNvSpPr/>
            <p:nvPr/>
          </p:nvSpPr>
          <p:spPr>
            <a:xfrm>
              <a:off x="988599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72" name="Line 672"/>
            <p:cNvSpPr/>
            <p:nvPr/>
          </p:nvSpPr>
          <p:spPr>
            <a:xfrm>
              <a:off x="1004030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73" name="Line 673"/>
            <p:cNvSpPr/>
            <p:nvPr/>
          </p:nvSpPr>
          <p:spPr>
            <a:xfrm>
              <a:off x="1032795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74" name="Line 674"/>
            <p:cNvSpPr/>
            <p:nvPr/>
          </p:nvSpPr>
          <p:spPr>
            <a:xfrm>
              <a:off x="989266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75" name="Line 675"/>
            <p:cNvSpPr/>
            <p:nvPr/>
          </p:nvSpPr>
          <p:spPr>
            <a:xfrm>
              <a:off x="1000410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76" name="Line 676"/>
            <p:cNvSpPr/>
            <p:nvPr/>
          </p:nvSpPr>
          <p:spPr>
            <a:xfrm>
              <a:off x="904113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77" name="Line 677"/>
            <p:cNvSpPr/>
            <p:nvPr/>
          </p:nvSpPr>
          <p:spPr>
            <a:xfrm>
              <a:off x="1002030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78" name="Line 678"/>
            <p:cNvSpPr/>
            <p:nvPr/>
          </p:nvSpPr>
          <p:spPr>
            <a:xfrm>
              <a:off x="1040892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79" name="Line 679"/>
            <p:cNvSpPr/>
            <p:nvPr/>
          </p:nvSpPr>
          <p:spPr>
            <a:xfrm>
              <a:off x="1090803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80" name="Line 680"/>
            <p:cNvSpPr/>
            <p:nvPr/>
          </p:nvSpPr>
          <p:spPr>
            <a:xfrm>
              <a:off x="1003839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81" name="Line 681"/>
            <p:cNvSpPr/>
            <p:nvPr/>
          </p:nvSpPr>
          <p:spPr>
            <a:xfrm>
              <a:off x="1038796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82" name="Line 682"/>
            <p:cNvSpPr/>
            <p:nvPr/>
          </p:nvSpPr>
          <p:spPr>
            <a:xfrm>
              <a:off x="975645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83" name="Line 683"/>
            <p:cNvSpPr/>
            <p:nvPr/>
          </p:nvSpPr>
          <p:spPr>
            <a:xfrm>
              <a:off x="1029652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84" name="Line 684"/>
            <p:cNvSpPr/>
            <p:nvPr/>
          </p:nvSpPr>
          <p:spPr>
            <a:xfrm>
              <a:off x="983075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85" name="Line 685"/>
            <p:cNvSpPr/>
            <p:nvPr/>
          </p:nvSpPr>
          <p:spPr>
            <a:xfrm>
              <a:off x="912304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86" name="Line 686"/>
            <p:cNvSpPr/>
            <p:nvPr/>
          </p:nvSpPr>
          <p:spPr>
            <a:xfrm>
              <a:off x="1070419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87" name="Line 687"/>
            <p:cNvSpPr/>
            <p:nvPr/>
          </p:nvSpPr>
          <p:spPr>
            <a:xfrm>
              <a:off x="1006411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88" name="Line 688"/>
            <p:cNvSpPr/>
            <p:nvPr/>
          </p:nvSpPr>
          <p:spPr>
            <a:xfrm>
              <a:off x="994219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89" name="Line 689"/>
            <p:cNvSpPr/>
            <p:nvPr/>
          </p:nvSpPr>
          <p:spPr>
            <a:xfrm>
              <a:off x="1011555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90" name="Line 690"/>
            <p:cNvSpPr/>
            <p:nvPr/>
          </p:nvSpPr>
          <p:spPr>
            <a:xfrm>
              <a:off x="1002030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91" name="Line 691"/>
            <p:cNvSpPr/>
            <p:nvPr/>
          </p:nvSpPr>
          <p:spPr>
            <a:xfrm>
              <a:off x="1046130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92" name="Line 692"/>
            <p:cNvSpPr/>
            <p:nvPr/>
          </p:nvSpPr>
          <p:spPr>
            <a:xfrm>
              <a:off x="954595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93" name="Line 693"/>
            <p:cNvSpPr/>
            <p:nvPr/>
          </p:nvSpPr>
          <p:spPr>
            <a:xfrm>
              <a:off x="980313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94" name="Line 694"/>
            <p:cNvSpPr/>
            <p:nvPr/>
          </p:nvSpPr>
          <p:spPr>
            <a:xfrm>
              <a:off x="971264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95" name="Line 695"/>
            <p:cNvSpPr/>
            <p:nvPr/>
          </p:nvSpPr>
          <p:spPr>
            <a:xfrm>
              <a:off x="885063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96" name="Line 696"/>
            <p:cNvSpPr/>
            <p:nvPr/>
          </p:nvSpPr>
          <p:spPr>
            <a:xfrm>
              <a:off x="927068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97" name="Line 697"/>
            <p:cNvSpPr/>
            <p:nvPr/>
          </p:nvSpPr>
          <p:spPr>
            <a:xfrm>
              <a:off x="1004030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98" name="Line 698"/>
            <p:cNvSpPr/>
            <p:nvPr/>
          </p:nvSpPr>
          <p:spPr>
            <a:xfrm>
              <a:off x="1009554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699" name="Line 699"/>
            <p:cNvSpPr/>
            <p:nvPr/>
          </p:nvSpPr>
          <p:spPr>
            <a:xfrm>
              <a:off x="1035081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00" name="Line 700"/>
            <p:cNvSpPr/>
            <p:nvPr/>
          </p:nvSpPr>
          <p:spPr>
            <a:xfrm>
              <a:off x="923829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01" name="Line 701"/>
            <p:cNvSpPr/>
            <p:nvPr/>
          </p:nvSpPr>
          <p:spPr>
            <a:xfrm>
              <a:off x="1031462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02" name="Line 702"/>
            <p:cNvSpPr/>
            <p:nvPr/>
          </p:nvSpPr>
          <p:spPr>
            <a:xfrm>
              <a:off x="969359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03" name="Line 703"/>
            <p:cNvSpPr/>
            <p:nvPr/>
          </p:nvSpPr>
          <p:spPr>
            <a:xfrm>
              <a:off x="1021270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04" name="Line 704"/>
            <p:cNvSpPr/>
            <p:nvPr/>
          </p:nvSpPr>
          <p:spPr>
            <a:xfrm>
              <a:off x="1015365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05" name="Line 705"/>
            <p:cNvSpPr/>
            <p:nvPr/>
          </p:nvSpPr>
          <p:spPr>
            <a:xfrm>
              <a:off x="1014603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06" name="Line 706"/>
            <p:cNvSpPr/>
            <p:nvPr/>
          </p:nvSpPr>
          <p:spPr>
            <a:xfrm>
              <a:off x="1004601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07" name="Line 707"/>
            <p:cNvSpPr/>
            <p:nvPr/>
          </p:nvSpPr>
          <p:spPr>
            <a:xfrm>
              <a:off x="979074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08" name="Line 708"/>
            <p:cNvSpPr/>
            <p:nvPr/>
          </p:nvSpPr>
          <p:spPr>
            <a:xfrm>
              <a:off x="1045368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09" name="Line 709"/>
            <p:cNvSpPr/>
            <p:nvPr/>
          </p:nvSpPr>
          <p:spPr>
            <a:xfrm>
              <a:off x="969168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10" name="Line 710"/>
            <p:cNvSpPr/>
            <p:nvPr/>
          </p:nvSpPr>
          <p:spPr>
            <a:xfrm>
              <a:off x="1021556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11" name="Line 711"/>
            <p:cNvSpPr/>
            <p:nvPr/>
          </p:nvSpPr>
          <p:spPr>
            <a:xfrm>
              <a:off x="943832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12" name="Line 712"/>
            <p:cNvSpPr/>
            <p:nvPr/>
          </p:nvSpPr>
          <p:spPr>
            <a:xfrm>
              <a:off x="1010507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13" name="Line 713"/>
            <p:cNvSpPr/>
            <p:nvPr/>
          </p:nvSpPr>
          <p:spPr>
            <a:xfrm>
              <a:off x="897636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14" name="Line 714"/>
            <p:cNvSpPr/>
            <p:nvPr/>
          </p:nvSpPr>
          <p:spPr>
            <a:xfrm>
              <a:off x="1037748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15" name="Line 715"/>
            <p:cNvSpPr/>
            <p:nvPr/>
          </p:nvSpPr>
          <p:spPr>
            <a:xfrm>
              <a:off x="1033557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16" name="Line 716"/>
            <p:cNvSpPr/>
            <p:nvPr/>
          </p:nvSpPr>
          <p:spPr>
            <a:xfrm>
              <a:off x="1006125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17" name="Line 717"/>
            <p:cNvSpPr/>
            <p:nvPr/>
          </p:nvSpPr>
          <p:spPr>
            <a:xfrm>
              <a:off x="1017270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18" name="Line 718"/>
            <p:cNvSpPr/>
            <p:nvPr/>
          </p:nvSpPr>
          <p:spPr>
            <a:xfrm>
              <a:off x="1010793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19" name="Line 719"/>
            <p:cNvSpPr/>
            <p:nvPr/>
          </p:nvSpPr>
          <p:spPr>
            <a:xfrm>
              <a:off x="997172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20" name="Line 720"/>
            <p:cNvSpPr/>
            <p:nvPr/>
          </p:nvSpPr>
          <p:spPr>
            <a:xfrm>
              <a:off x="1007649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21" name="Line 721"/>
            <p:cNvSpPr/>
            <p:nvPr/>
          </p:nvSpPr>
          <p:spPr>
            <a:xfrm>
              <a:off x="1001458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22" name="Line 722"/>
            <p:cNvSpPr/>
            <p:nvPr/>
          </p:nvSpPr>
          <p:spPr>
            <a:xfrm>
              <a:off x="1029557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23" name="Line 723"/>
            <p:cNvSpPr/>
            <p:nvPr/>
          </p:nvSpPr>
          <p:spPr>
            <a:xfrm>
              <a:off x="9480232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24" name="Line 724"/>
            <p:cNvSpPr/>
            <p:nvPr/>
          </p:nvSpPr>
          <p:spPr>
            <a:xfrm>
              <a:off x="9086850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25" name="Line 725"/>
            <p:cNvSpPr/>
            <p:nvPr/>
          </p:nvSpPr>
          <p:spPr>
            <a:xfrm>
              <a:off x="1031938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26" name="Line 726"/>
            <p:cNvSpPr/>
            <p:nvPr/>
          </p:nvSpPr>
          <p:spPr>
            <a:xfrm>
              <a:off x="1025937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27" name="Line 727"/>
            <p:cNvSpPr/>
            <p:nvPr/>
          </p:nvSpPr>
          <p:spPr>
            <a:xfrm>
              <a:off x="9023985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28" name="Line 728"/>
            <p:cNvSpPr/>
            <p:nvPr/>
          </p:nvSpPr>
          <p:spPr>
            <a:xfrm>
              <a:off x="1009173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  <p:sp>
          <p:nvSpPr>
            <p:cNvPr id="729" name="Line 729"/>
            <p:cNvSpPr/>
            <p:nvPr/>
          </p:nvSpPr>
          <p:spPr>
            <a:xfrm>
              <a:off x="10579418" y="4467225"/>
              <a:ext cx="9525" cy="66675"/>
            </a:xfrm>
            <a:custGeom>
              <a:avLst/>
              <a:gdLst/>
              <a:ahLst/>
              <a:cxnLst/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/>
            <a:ln w="7620">
              <a:solidFill>
                <a:srgbClr val="23613D"/>
              </a:solidFill>
            </a:ln>
          </p:spPr>
        </p:sp>
      </p:grpSp>
      <p:grpSp>
        <p:nvGrpSpPr>
          <p:cNvPr id="738" name="c-normal"/>
          <p:cNvGrpSpPr/>
          <p:nvPr/>
        </p:nvGrpSpPr>
        <p:grpSpPr>
          <a:xfrm>
            <a:off x="533400" y="5029200"/>
            <a:ext cx="3581400" cy="1333500"/>
            <a:chOff x="533400" y="5029200"/>
            <a:chExt cx="3581400" cy="1333500"/>
          </a:xfrm>
        </p:grpSpPr>
        <p:sp>
          <p:nvSpPr>
            <p:cNvPr id="731" name="Rectangle 731"/>
            <p:cNvSpPr/>
            <p:nvPr/>
          </p:nvSpPr>
          <p:spPr>
            <a:xfrm>
              <a:off x="533400" y="5029200"/>
              <a:ext cx="3581400" cy="1333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32" name="Rectangle 732"/>
            <p:cNvSpPr/>
            <p:nvPr/>
          </p:nvSpPr>
          <p:spPr>
            <a:xfrm>
              <a:off x="542925" y="5162550"/>
              <a:ext cx="47625" cy="106680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33" name="Rectangle 733"/>
            <p:cNvSpPr/>
            <p:nvPr/>
          </p:nvSpPr>
          <p:spPr>
            <a:xfrm>
              <a:off x="742950" y="5153025"/>
              <a:ext cx="152781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734" name="TextBox 734"/>
            <p:cNvSpPr txBox="1"/>
            <p:nvPr/>
          </p:nvSpPr>
          <p:spPr>
            <a:xfrm>
              <a:off x="822655" y="52125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钟形，左右大致对称</a:t>
              </a:r>
            </a:p>
          </p:txBody>
        </p:sp>
        <p:sp>
          <p:nvSpPr>
            <p:cNvPr id="735" name="TextBox 735"/>
            <p:cNvSpPr txBox="1"/>
            <p:nvPr/>
          </p:nvSpPr>
          <p:spPr>
            <a:xfrm>
              <a:off x="737235" y="553640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橙色曲线是核密度估计（默认带宽），</a:t>
              </a:r>
            </a:p>
          </p:txBody>
        </p:sp>
        <p:sp>
          <p:nvSpPr>
            <p:cNvPr id="736" name="TextBox 736"/>
            <p:cNvSpPr txBox="1"/>
            <p:nvPr/>
          </p:nvSpPr>
          <p:spPr>
            <a:xfrm>
              <a:off x="737235" y="5745956"/>
              <a:ext cx="25218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横轴上的短线是每个数据点（rug）。</a:t>
              </a:r>
            </a:p>
          </p:txBody>
        </p:sp>
        <p:sp>
          <p:nvSpPr>
            <p:cNvPr id="737" name="TextBox 737"/>
            <p:cNvSpPr txBox="1"/>
            <p:nvPr/>
          </p:nvSpPr>
          <p:spPr>
            <a:xfrm>
              <a:off x="737235" y="595550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曲线与矩形的轮廓基本一致。</a:t>
              </a:r>
            </a:p>
          </p:txBody>
        </p:sp>
      </p:grpSp>
      <p:grpSp>
        <p:nvGrpSpPr>
          <p:cNvPr id="746" name="c-cauchy"/>
          <p:cNvGrpSpPr/>
          <p:nvPr/>
        </p:nvGrpSpPr>
        <p:grpSpPr>
          <a:xfrm>
            <a:off x="4305300" y="5029200"/>
            <a:ext cx="3581400" cy="1333500"/>
            <a:chOff x="4305300" y="5029200"/>
            <a:chExt cx="3581400" cy="1333500"/>
          </a:xfrm>
        </p:grpSpPr>
        <p:sp>
          <p:nvSpPr>
            <p:cNvPr id="739" name="Rectangle 739"/>
            <p:cNvSpPr/>
            <p:nvPr/>
          </p:nvSpPr>
          <p:spPr>
            <a:xfrm>
              <a:off x="4305300" y="5029200"/>
              <a:ext cx="3581400" cy="1333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0" name="Rectangle 740"/>
            <p:cNvSpPr/>
            <p:nvPr/>
          </p:nvSpPr>
          <p:spPr>
            <a:xfrm>
              <a:off x="4314825" y="5162550"/>
              <a:ext cx="47625" cy="10668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41" name="Rectangle 741"/>
            <p:cNvSpPr/>
            <p:nvPr/>
          </p:nvSpPr>
          <p:spPr>
            <a:xfrm>
              <a:off x="4514850" y="5153025"/>
              <a:ext cx="181260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42" name="TextBox 742"/>
            <p:cNvSpPr txBox="1"/>
            <p:nvPr/>
          </p:nvSpPr>
          <p:spPr>
            <a:xfrm>
              <a:off x="4585703" y="52125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看不出形状：重尾的信号</a:t>
              </a:r>
            </a:p>
          </p:txBody>
        </p:sp>
        <p:sp>
          <p:nvSpPr>
            <p:cNvPr id="743" name="TextBox 743"/>
            <p:cNvSpPr txBox="1"/>
            <p:nvPr/>
          </p:nvSpPr>
          <p:spPr>
            <a:xfrm>
              <a:off x="4509135" y="5536406"/>
              <a:ext cx="23710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横轴被少数极端值撑到 −75 至 75，</a:t>
              </a:r>
            </a:p>
          </p:txBody>
        </p:sp>
        <p:sp>
          <p:nvSpPr>
            <p:cNvPr id="744" name="TextBox 744"/>
            <p:cNvSpPr txBox="1"/>
            <p:nvPr/>
          </p:nvSpPr>
          <p:spPr>
            <a:xfrm>
              <a:off x="4509135" y="574595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绝大多数数据挤进中间一两个矩形，</a:t>
              </a:r>
            </a:p>
          </p:txBody>
        </p:sp>
        <p:sp>
          <p:nvSpPr>
            <p:cNvPr id="745" name="TextBox 745"/>
            <p:cNvSpPr txBox="1"/>
            <p:nvPr/>
          </p:nvSpPr>
          <p:spPr>
            <a:xfrm>
              <a:off x="4509135" y="5955506"/>
              <a:ext cx="2446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与原课件第 2 张直方图的情形相同。</a:t>
              </a:r>
            </a:p>
          </p:txBody>
        </p:sp>
      </p:grpSp>
      <p:grpSp>
        <p:nvGrpSpPr>
          <p:cNvPr id="754" name="c-zoom"/>
          <p:cNvGrpSpPr/>
          <p:nvPr/>
        </p:nvGrpSpPr>
        <p:grpSpPr>
          <a:xfrm>
            <a:off x="8077200" y="5029200"/>
            <a:ext cx="3581400" cy="1333500"/>
            <a:chOff x="8077200" y="5029200"/>
            <a:chExt cx="3581400" cy="1333500"/>
          </a:xfrm>
        </p:grpSpPr>
        <p:sp>
          <p:nvSpPr>
            <p:cNvPr id="747" name="Rectangle 747"/>
            <p:cNvSpPr/>
            <p:nvPr/>
          </p:nvSpPr>
          <p:spPr>
            <a:xfrm>
              <a:off x="8077200" y="5029200"/>
              <a:ext cx="3581400" cy="1333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8" name="Rectangle 748"/>
            <p:cNvSpPr/>
            <p:nvPr/>
          </p:nvSpPr>
          <p:spPr>
            <a:xfrm>
              <a:off x="8086725" y="5162550"/>
              <a:ext cx="47625" cy="10668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49" name="Rectangle 749"/>
            <p:cNvSpPr/>
            <p:nvPr/>
          </p:nvSpPr>
          <p:spPr>
            <a:xfrm>
              <a:off x="8286750" y="5153025"/>
              <a:ext cx="152781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50" name="TextBox 750"/>
            <p:cNvSpPr txBox="1"/>
            <p:nvPr/>
          </p:nvSpPr>
          <p:spPr>
            <a:xfrm>
              <a:off x="8366455" y="52125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缩小范围、加密分组</a:t>
              </a:r>
            </a:p>
          </p:txBody>
        </p:sp>
        <p:sp>
          <p:nvSpPr>
            <p:cNvPr id="751" name="TextBox 751"/>
            <p:cNvSpPr txBox="1"/>
            <p:nvPr/>
          </p:nvSpPr>
          <p:spPr>
            <a:xfrm>
              <a:off x="8281035" y="553640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中心的尖峰和两侧拖长的尾部显现出来；</a:t>
              </a:r>
            </a:p>
          </p:txBody>
        </p:sp>
        <p:sp>
          <p:nvSpPr>
            <p:cNvPr id="752" name="TextBox 752"/>
            <p:cNvSpPr txBox="1"/>
            <p:nvPr/>
          </p:nvSpPr>
          <p:spPr>
            <a:xfrm>
              <a:off x="8281035" y="5745956"/>
              <a:ext cx="251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[−6, 6] 之外还有 23 个点没有画出，</a:t>
              </a:r>
            </a:p>
          </p:txBody>
        </p:sp>
        <p:sp>
          <p:nvSpPr>
            <p:cNvPr id="753" name="TextBox 753"/>
            <p:cNvSpPr txBox="1"/>
            <p:nvPr/>
          </p:nvSpPr>
          <p:spPr>
            <a:xfrm>
              <a:off x="8281035" y="5955506"/>
              <a:ext cx="1798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所以矩形面积之和小于 1。</a:t>
              </a:r>
            </a:p>
          </p:txBody>
        </p:sp>
      </p:grpSp>
      <p:grpSp>
        <p:nvGrpSpPr>
          <p:cNvPr id="7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5" name="TextBox 75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756" name="TextBox 7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统计图形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盒形图：用五数总括画箱子，超出内限的点单独标出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9" name="box-anatomy"/>
          <p:cNvGrpSpPr/>
          <p:nvPr/>
        </p:nvGrpSpPr>
        <p:grpSpPr>
          <a:xfrm>
            <a:off x="533400" y="1524000"/>
            <a:ext cx="7048500" cy="3028950"/>
            <a:chOff x="533400" y="1524000"/>
            <a:chExt cx="7048500" cy="30289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7048500" cy="3028950"/>
            </a:xfrm>
            <a:prstGeom prst="roundRect">
              <a:avLst>
                <a:gd name="adj" fmla="val 440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7804" y="1680210"/>
              <a:ext cx="2710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Bendixen 数据的盒形图（水平放置）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14400" y="4076700"/>
              <a:ext cx="6381750" cy="9525"/>
            </a:xfrm>
            <a:custGeom>
              <a:avLst/>
              <a:gdLst/>
              <a:ahLst/>
              <a:cxnLst/>
              <a:rect l="l" t="t" r="r" b="b"/>
              <a:pathLst>
                <a:path w="6381750" h="9525">
                  <a:moveTo>
                    <a:pt x="0" y="0"/>
                  </a:moveTo>
                  <a:lnTo>
                    <a:pt x="638175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14400" y="40767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6319" y="41700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494472" y="40767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23073" y="41700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074545" y="40767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003146" y="41700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654618" y="40767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83218" y="41700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234690" y="40767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63291" y="41700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814762" y="40767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43363" y="41700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395788" y="40767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24388" y="41700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975860" y="40767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904461" y="41700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5555932" y="40767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84533" y="41700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136005" y="40767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64606" y="41700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716078" y="40767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11360" y="41700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7296150" y="40767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91432" y="41700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93035" y="4333399"/>
              <a:ext cx="8080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生存百分率 %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1726882" y="2190750"/>
              <a:ext cx="9525" cy="1885950"/>
            </a:xfrm>
            <a:custGeom>
              <a:avLst/>
              <a:gdLst/>
              <a:ahLst/>
              <a:cxnLst/>
              <a:rect l="l" t="t" r="r" b="b"/>
              <a:pathLst>
                <a:path w="9525" h="1885950">
                  <a:moveTo>
                    <a:pt x="0" y="0"/>
                  </a:moveTo>
                  <a:lnTo>
                    <a:pt x="0" y="1885950"/>
                  </a:lnTo>
                </a:path>
              </a:pathLst>
            </a:custGeom>
            <a:noFill/>
            <a:ln w="15240">
              <a:solidFill>
                <a:srgbClr val="B42318"/>
              </a:solidFill>
              <a:custDash>
                <a:ds d="375000" sp="250000"/>
              </a:custDash>
            </a:ln>
          </p:spPr>
        </p:sp>
        <p:sp>
          <p:nvSpPr>
            <p:cNvPr id="36" name="Line 36"/>
            <p:cNvSpPr/>
            <p:nvPr/>
          </p:nvSpPr>
          <p:spPr>
            <a:xfrm>
              <a:off x="7063740" y="2190750"/>
              <a:ext cx="9525" cy="1885950"/>
            </a:xfrm>
            <a:custGeom>
              <a:avLst/>
              <a:gdLst/>
              <a:ahLst/>
              <a:cxnLst/>
              <a:rect l="l" t="t" r="r" b="b"/>
              <a:pathLst>
                <a:path w="9525" h="1885950">
                  <a:moveTo>
                    <a:pt x="0" y="0"/>
                  </a:moveTo>
                  <a:lnTo>
                    <a:pt x="0" y="1885950"/>
                  </a:lnTo>
                </a:path>
              </a:pathLst>
            </a:custGeom>
            <a:noFill/>
            <a:ln w="15240">
              <a:solidFill>
                <a:srgbClr val="B42318"/>
              </a:solidFill>
              <a:custDash>
                <a:ds d="375000" sp="250000"/>
              </a:custDash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779080" y="2047399"/>
              <a:ext cx="5996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下内限 14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35732" y="2047399"/>
              <a:ext cx="6758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上内限 106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3003232" y="3162300"/>
              <a:ext cx="724852" cy="9525"/>
            </a:xfrm>
            <a:custGeom>
              <a:avLst/>
              <a:gdLst/>
              <a:ahLst/>
              <a:cxnLst/>
              <a:rect l="l" t="t" r="r" b="b"/>
              <a:pathLst>
                <a:path w="724852" h="9525">
                  <a:moveTo>
                    <a:pt x="0" y="0"/>
                  </a:moveTo>
                  <a:lnTo>
                    <a:pt x="724852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5062538" y="3162300"/>
              <a:ext cx="1653540" cy="9525"/>
            </a:xfrm>
            <a:custGeom>
              <a:avLst/>
              <a:gdLst/>
              <a:ahLst/>
              <a:cxnLst/>
              <a:rect l="l" t="t" r="r" b="b"/>
              <a:pathLst>
                <a:path w="1653540" h="9525">
                  <a:moveTo>
                    <a:pt x="0" y="0"/>
                  </a:moveTo>
                  <a:lnTo>
                    <a:pt x="165354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3003232" y="30289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6716078" y="30289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3728085" y="2886075"/>
              <a:ext cx="1334452" cy="552450"/>
            </a:xfrm>
            <a:prstGeom prst="rect">
              <a:avLst/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4279582" y="2886075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32385">
              <a:solidFill>
                <a:srgbClr val="23613D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2968942" y="3928110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3027045" y="3928110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3490912" y="3928110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3896677" y="3928110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4129088" y="3928110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4245292" y="3928110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4709160" y="3928110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4825365" y="3928110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5231130" y="3928110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6101715" y="3928110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6681788" y="3928110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3003232" y="2657475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9525">
              <a:solidFill>
                <a:srgbClr val="5B6475"/>
              </a:solidFill>
              <a:custDash>
                <a:ds d="300000" sp="300000"/>
              </a:custDash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681979" y="2486978"/>
              <a:ext cx="6425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最小值 36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4279582" y="2657475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9525">
              <a:solidFill>
                <a:srgbClr val="5B6475"/>
              </a:solidFill>
              <a:custDash>
                <a:ds d="300000" sp="300000"/>
              </a:custDash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039019" y="2486978"/>
              <a:ext cx="4811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58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6716078" y="2657475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9525">
              <a:solidFill>
                <a:srgbClr val="5B6475"/>
              </a:solidFill>
              <a:custDash>
                <a:ds d="300000" sp="300000"/>
              </a:custDash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54424" y="2486978"/>
              <a:ext cx="724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最大值 100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005551" y="3534728"/>
              <a:ext cx="6516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 = 48.5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133404" y="3534728"/>
              <a:ext cx="6898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Fu = 71.5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3728085" y="3590925"/>
              <a:ext cx="1334453" cy="9525"/>
            </a:xfrm>
            <a:custGeom>
              <a:avLst/>
              <a:gdLst/>
              <a:ahLst/>
              <a:cxnLst/>
              <a:rect l="l" t="t" r="r" b="b"/>
              <a:pathLst>
                <a:path w="1334453" h="9525">
                  <a:moveTo>
                    <a:pt x="0" y="0"/>
                  </a:moveTo>
                  <a:lnTo>
                    <a:pt x="1334453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3728085" y="3533775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5062538" y="3533775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810501" y="3687128"/>
              <a:ext cx="11705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dF = Fu − Fl = 23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228302" y="29617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须线</a:t>
              </a:r>
            </a:p>
          </p:txBody>
        </p:sp>
      </p:grpSp>
      <p:grpSp>
        <p:nvGrpSpPr>
          <p:cNvPr id="99" name="box-skew"/>
          <p:cNvGrpSpPr/>
          <p:nvPr/>
        </p:nvGrpSpPr>
        <p:grpSpPr>
          <a:xfrm>
            <a:off x="7772400" y="1524000"/>
            <a:ext cx="3886200" cy="3028950"/>
            <a:chOff x="7772400" y="1524000"/>
            <a:chExt cx="3886200" cy="3028950"/>
          </a:xfrm>
        </p:grpSpPr>
        <p:sp>
          <p:nvSpPr>
            <p:cNvPr id="70" name="Rectangle 70"/>
            <p:cNvSpPr/>
            <p:nvPr/>
          </p:nvSpPr>
          <p:spPr>
            <a:xfrm>
              <a:off x="7772400" y="1524000"/>
              <a:ext cx="3886200" cy="3028950"/>
            </a:xfrm>
            <a:prstGeom prst="roundRect">
              <a:avLst>
                <a:gd name="adj" fmla="val 440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956804" y="1680210"/>
              <a:ext cx="21958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右偏样本（对数正态）n = 100</a:t>
              </a:r>
            </a:p>
          </p:txBody>
        </p:sp>
        <p:sp>
          <p:nvSpPr>
            <p:cNvPr id="72" name="Line 72"/>
            <p:cNvSpPr/>
            <p:nvPr/>
          </p:nvSpPr>
          <p:spPr>
            <a:xfrm>
              <a:off x="8343900" y="432435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196301" y="42652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8343900" y="3609022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196301" y="354996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8343900" y="2893695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196301" y="283464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8" name="Line 78"/>
            <p:cNvSpPr/>
            <p:nvPr/>
          </p:nvSpPr>
          <p:spPr>
            <a:xfrm>
              <a:off x="8343900" y="217932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196301" y="21202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0" name="Line 80"/>
            <p:cNvSpPr/>
            <p:nvPr/>
          </p:nvSpPr>
          <p:spPr>
            <a:xfrm>
              <a:off x="8343900" y="2000250"/>
              <a:ext cx="9525" cy="2324100"/>
            </a:xfrm>
            <a:custGeom>
              <a:avLst/>
              <a:gdLst/>
              <a:ahLst/>
              <a:cxnLst/>
              <a:rect l="l" t="t" r="r" b="b"/>
              <a:pathLst>
                <a:path w="9525" h="2324100">
                  <a:moveTo>
                    <a:pt x="0" y="0"/>
                  </a:moveTo>
                  <a:lnTo>
                    <a:pt x="0" y="232410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81" name="Line 81"/>
            <p:cNvSpPr/>
            <p:nvPr/>
          </p:nvSpPr>
          <p:spPr>
            <a:xfrm>
              <a:off x="9010650" y="3214688"/>
              <a:ext cx="9525" cy="511492"/>
            </a:xfrm>
            <a:custGeom>
              <a:avLst/>
              <a:gdLst/>
              <a:ahLst/>
              <a:cxnLst/>
              <a:rect l="l" t="t" r="r" b="b"/>
              <a:pathLst>
                <a:path w="9525" h="511492">
                  <a:moveTo>
                    <a:pt x="0" y="0"/>
                  </a:moveTo>
                  <a:lnTo>
                    <a:pt x="0" y="511492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82" name="Line 82"/>
            <p:cNvSpPr/>
            <p:nvPr/>
          </p:nvSpPr>
          <p:spPr>
            <a:xfrm>
              <a:off x="9010650" y="4111942"/>
              <a:ext cx="9525" cy="155258"/>
            </a:xfrm>
            <a:custGeom>
              <a:avLst/>
              <a:gdLst/>
              <a:ahLst/>
              <a:cxnLst/>
              <a:rect l="l" t="t" r="r" b="b"/>
              <a:pathLst>
                <a:path w="9525" h="155258">
                  <a:moveTo>
                    <a:pt x="0" y="0"/>
                  </a:moveTo>
                  <a:lnTo>
                    <a:pt x="0" y="155258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83" name="Line 83"/>
            <p:cNvSpPr/>
            <p:nvPr/>
          </p:nvSpPr>
          <p:spPr>
            <a:xfrm>
              <a:off x="8877300" y="3214688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84" name="Line 84"/>
            <p:cNvSpPr/>
            <p:nvPr/>
          </p:nvSpPr>
          <p:spPr>
            <a:xfrm>
              <a:off x="8877300" y="42672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8705850" y="3726180"/>
              <a:ext cx="609600" cy="386715"/>
            </a:xfrm>
            <a:prstGeom prst="rect">
              <a:avLst/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86" name="Line 86"/>
            <p:cNvSpPr/>
            <p:nvPr/>
          </p:nvSpPr>
          <p:spPr>
            <a:xfrm>
              <a:off x="8705850" y="3977640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32385">
              <a:solidFill>
                <a:srgbClr val="23613D"/>
              </a:solidFill>
            </a:ln>
          </p:spPr>
        </p:sp>
        <p:sp>
          <p:nvSpPr>
            <p:cNvPr id="87" name="Line 87"/>
            <p:cNvSpPr/>
            <p:nvPr/>
          </p:nvSpPr>
          <p:spPr>
            <a:xfrm>
              <a:off x="8534400" y="3146108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3335">
              <a:solidFill>
                <a:srgbClr val="B42318"/>
              </a:solidFill>
              <a:custDash>
                <a:ds d="428571" sp="285714"/>
              </a:custDash>
            </a:ln>
          </p:spPr>
        </p:sp>
        <p:sp>
          <p:nvSpPr>
            <p:cNvPr id="88" name="Ellipse 88"/>
            <p:cNvSpPr/>
            <p:nvPr/>
          </p:nvSpPr>
          <p:spPr>
            <a:xfrm>
              <a:off x="8970645" y="2939415"/>
              <a:ext cx="80010" cy="8001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B42318"/>
              </a:solidFill>
            </a:ln>
          </p:spPr>
        </p:sp>
        <p:sp>
          <p:nvSpPr>
            <p:cNvPr id="89" name="Ellipse 89"/>
            <p:cNvSpPr/>
            <p:nvPr/>
          </p:nvSpPr>
          <p:spPr>
            <a:xfrm>
              <a:off x="8970645" y="2905125"/>
              <a:ext cx="80010" cy="8001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B42318"/>
              </a:solidFill>
            </a:ln>
          </p:spPr>
        </p:sp>
        <p:sp>
          <p:nvSpPr>
            <p:cNvPr id="90" name="Ellipse 90"/>
            <p:cNvSpPr/>
            <p:nvPr/>
          </p:nvSpPr>
          <p:spPr>
            <a:xfrm>
              <a:off x="8970645" y="2903220"/>
              <a:ext cx="80010" cy="8001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B42318"/>
              </a:solidFill>
            </a:ln>
          </p:spPr>
        </p:sp>
        <p:sp>
          <p:nvSpPr>
            <p:cNvPr id="91" name="Ellipse 91"/>
            <p:cNvSpPr/>
            <p:nvPr/>
          </p:nvSpPr>
          <p:spPr>
            <a:xfrm>
              <a:off x="8970645" y="2612708"/>
              <a:ext cx="80010" cy="8001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B42318"/>
              </a:solidFill>
            </a:ln>
          </p:spPr>
        </p:sp>
        <p:sp>
          <p:nvSpPr>
            <p:cNvPr id="92" name="Ellipse 92"/>
            <p:cNvSpPr/>
            <p:nvPr/>
          </p:nvSpPr>
          <p:spPr>
            <a:xfrm>
              <a:off x="8970645" y="2161222"/>
              <a:ext cx="80010" cy="8001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B42318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9691116" y="2135505"/>
              <a:ext cx="1126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 个点超出上内限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691116" y="233553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单独画出</a:t>
              </a:r>
            </a:p>
          </p:txBody>
        </p:sp>
        <p:sp>
          <p:nvSpPr>
            <p:cNvPr id="95" name="Line 95"/>
            <p:cNvSpPr/>
            <p:nvPr/>
          </p:nvSpPr>
          <p:spPr>
            <a:xfrm>
              <a:off x="9105900" y="2201228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400" y="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9691497" y="3088481"/>
              <a:ext cx="7355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上内限 3.29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691497" y="3920014"/>
              <a:ext cx="7519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中位数 0.97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691497" y="420957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下方没有超出内限的点</a:t>
              </a:r>
            </a:p>
          </p:txBody>
        </p:sp>
      </p:grpSp>
      <p:grpSp>
        <p:nvGrpSpPr>
          <p:cNvPr id="108" name="c-rule"/>
          <p:cNvGrpSpPr/>
          <p:nvPr/>
        </p:nvGrpSpPr>
        <p:grpSpPr>
          <a:xfrm>
            <a:off x="533400" y="4705350"/>
            <a:ext cx="4095750" cy="1657350"/>
            <a:chOff x="533400" y="4705350"/>
            <a:chExt cx="4095750" cy="1657350"/>
          </a:xfrm>
        </p:grpSpPr>
        <p:sp>
          <p:nvSpPr>
            <p:cNvPr id="100" name="Rectangle 100"/>
            <p:cNvSpPr/>
            <p:nvPr/>
          </p:nvSpPr>
          <p:spPr>
            <a:xfrm>
              <a:off x="533400" y="4705350"/>
              <a:ext cx="4095750" cy="1657350"/>
            </a:xfrm>
            <a:prstGeom prst="roundRect">
              <a:avLst>
                <a:gd name="adj" fmla="val 80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542925" y="4838700"/>
              <a:ext cx="47625" cy="13906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742950" y="4829175"/>
              <a:ext cx="16992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814994" y="4888706"/>
              <a:ext cx="15551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画法（Tukey 盒形图）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37235" y="5212556"/>
              <a:ext cx="29424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箱子从 Fl 画到 Fu，箱内粗线是中位数 M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37235" y="5441156"/>
              <a:ext cx="2430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内限：Fl − 1.5dF 和 Fu + 1.5dF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37235" y="5669756"/>
              <a:ext cx="2484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 须线延伸到内限以内最远的数据点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37235" y="5898356"/>
              <a:ext cx="2936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 内限以外的点单独画出，是可能的异常值</a:t>
              </a:r>
            </a:p>
          </p:txBody>
        </p:sp>
      </p:grpSp>
      <p:grpSp>
        <p:nvGrpSpPr>
          <p:cNvPr id="117" name="c-example"/>
          <p:cNvGrpSpPr/>
          <p:nvPr/>
        </p:nvGrpSpPr>
        <p:grpSpPr>
          <a:xfrm>
            <a:off x="4819650" y="4705350"/>
            <a:ext cx="3429000" cy="1657350"/>
            <a:chOff x="4819650" y="4705350"/>
            <a:chExt cx="3429000" cy="1657350"/>
          </a:xfrm>
        </p:grpSpPr>
        <p:sp>
          <p:nvSpPr>
            <p:cNvPr id="109" name="Rectangle 109"/>
            <p:cNvSpPr/>
            <p:nvPr/>
          </p:nvSpPr>
          <p:spPr>
            <a:xfrm>
              <a:off x="4819650" y="4705350"/>
              <a:ext cx="3429000" cy="1657350"/>
            </a:xfrm>
            <a:prstGeom prst="roundRect">
              <a:avLst>
                <a:gd name="adj" fmla="val 80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4829175" y="4838700"/>
              <a:ext cx="47625" cy="13906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5029200" y="4829175"/>
              <a:ext cx="5324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5138458" y="48887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本例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5023485" y="5212556"/>
              <a:ext cx="26661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 = 71.5 − 48.5 = 23，1.5dF = 34.5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5023485" y="5441156"/>
              <a:ext cx="3049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内限：48.5 − 34.5 = 14，71.5 + 34.5 = 106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5023485" y="5669756"/>
              <a:ext cx="23710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 和 100 都在内限以内：须线画到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5023485" y="5898356"/>
              <a:ext cx="15719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 和 100，没有异常值</a:t>
              </a:r>
            </a:p>
          </p:txBody>
        </p:sp>
      </p:grpSp>
      <p:grpSp>
        <p:nvGrpSpPr>
          <p:cNvPr id="126" name="c-r"/>
          <p:cNvGrpSpPr/>
          <p:nvPr/>
        </p:nvGrpSpPr>
        <p:grpSpPr>
          <a:xfrm>
            <a:off x="8439150" y="4705350"/>
            <a:ext cx="3219450" cy="1657350"/>
            <a:chOff x="8439150" y="4705350"/>
            <a:chExt cx="3219450" cy="1657350"/>
          </a:xfrm>
        </p:grpSpPr>
        <p:sp>
          <p:nvSpPr>
            <p:cNvPr id="118" name="Rectangle 118"/>
            <p:cNvSpPr/>
            <p:nvPr/>
          </p:nvSpPr>
          <p:spPr>
            <a:xfrm>
              <a:off x="8439150" y="4705350"/>
              <a:ext cx="3219450" cy="1657350"/>
            </a:xfrm>
            <a:prstGeom prst="roundRect">
              <a:avLst>
                <a:gd name="adj" fmla="val 80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8448675" y="4838700"/>
              <a:ext cx="47625" cy="13906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8648700" y="4829175"/>
              <a:ext cx="329565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8761767" y="488870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8643366" y="5220652"/>
              <a:ext cx="2074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boxplot(x, horizontal = TRUE)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8643366" y="5449252"/>
              <a:ext cx="21167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boxplot.stats(x)$out # 异常值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8643366" y="5677852"/>
              <a:ext cx="27599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ggplot2 的 geom_boxplot() 用 quantile()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8643366" y="590645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求四分位数，数据少时箱子略有不同</a:t>
              </a:r>
            </a:p>
          </p:txBody>
        </p:sp>
      </p:grpSp>
      <p:grpSp>
        <p:nvGrpSpPr>
          <p:cNvPr id="12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7" name="TextBox 12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统计图形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茎叶图：既能看出分布形状，又保留每个原始数值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328160" cy="2655570"/>
            <a:chOff x="533400" y="1524000"/>
            <a:chExt cx="4328160" cy="26555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2655570"/>
            </a:xfrm>
            <a:prstGeom prst="roundRect">
              <a:avLst>
                <a:gd name="adj" fmla="val 35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4625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Bendixen 数据的茎叶图（3 | 6 表示 36）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59130" y="1943100"/>
              <a:ext cx="1062990" cy="2186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3 | 6 7</a:t>
              </a:r>
              <a:br/>
              <a:r>
                <a:rPr lang="zh-CN" sz="15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4 | 5</a:t>
              </a:r>
              <a:br/>
              <a:r>
                <a:rPr lang="zh-CN" sz="15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5 | 2 6 8</a:t>
              </a:r>
              <a:br/>
              <a:r>
                <a:rPr lang="zh-CN" sz="15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6 | 6 8</a:t>
              </a:r>
              <a:br/>
              <a:r>
                <a:rPr lang="zh-CN" sz="15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7 | 5</a:t>
              </a:r>
              <a:br/>
              <a:r>
                <a:rPr lang="zh-CN" sz="15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8 |</a:t>
              </a:r>
              <a:br/>
              <a:r>
                <a:rPr lang="zh-CN" sz="15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9 | 0</a:t>
              </a:r>
              <a:br/>
              <a:r>
                <a:rPr lang="zh-CN" sz="15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10 | 0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4370070"/>
            <a:ext cx="4328160" cy="782955"/>
            <a:chOff x="533400" y="4370070"/>
            <a:chExt cx="4328160" cy="782955"/>
          </a:xfrm>
        </p:grpSpPr>
        <p:sp>
          <p:nvSpPr>
            <p:cNvPr id="11" name="Rectangle 11"/>
            <p:cNvSpPr/>
            <p:nvPr/>
          </p:nvSpPr>
          <p:spPr>
            <a:xfrm>
              <a:off x="533400" y="4370070"/>
              <a:ext cx="4328160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4661535"/>
              <a:ext cx="200026" cy="200026"/>
              <a:chOff x="738188" y="4661535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6615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04863" y="473932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130" y="4518660"/>
              <a:ext cx="3472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数据集中在 50～70，90 和 100 偏大，右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边尾巴稍长，与偏度 g₁ ≈ 0.47 一致。</a:t>
              </a:r>
            </a:p>
          </p:txBody>
        </p:sp>
      </p:grpSp>
      <p:grpSp>
        <p:nvGrpSpPr>
          <p:cNvPr id="30" name="c2-steps-1"/>
          <p:cNvGrpSpPr/>
          <p:nvPr/>
        </p:nvGrpSpPr>
        <p:grpSpPr>
          <a:xfrm>
            <a:off x="5166360" y="1533525"/>
            <a:ext cx="6430706" cy="1878615"/>
            <a:chOff x="5166360" y="1533525"/>
            <a:chExt cx="6430706" cy="1878615"/>
          </a:xfrm>
        </p:grpSpPr>
        <p:sp>
          <p:nvSpPr>
            <p:cNvPr id="17" name="Rectangle 17"/>
            <p:cNvSpPr/>
            <p:nvPr/>
          </p:nvSpPr>
          <p:spPr>
            <a:xfrm>
              <a:off x="529971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16636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998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166360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5998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166360" y="283464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5998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7784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定茎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78983" y="1861661"/>
              <a:ext cx="60180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取十位数作茎，从小到大竖着写一列；中间没有数据的茎（本例的 8）也要写上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77840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添叶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78983" y="2512219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每个数的个位数作叶，写在所属茎的右边，叶从小到大排列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77840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78983" y="3162776"/>
              <a:ext cx="44327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把图逆时针转 90°，叶的长短就是一张组距为 10 的直方图</a:t>
              </a:r>
            </a:p>
          </p:txBody>
        </p:sp>
      </p:grpSp>
      <p:grpSp>
        <p:nvGrpSpPr>
          <p:cNvPr id="47" name="c2-compare-2"/>
          <p:cNvGrpSpPr/>
          <p:nvPr/>
        </p:nvGrpSpPr>
        <p:grpSpPr>
          <a:xfrm>
            <a:off x="5166360" y="3590925"/>
            <a:ext cx="6492240" cy="1653540"/>
            <a:chOff x="5166360" y="3590925"/>
            <a:chExt cx="6492240" cy="1653540"/>
          </a:xfrm>
        </p:grpSpPr>
        <p:sp>
          <p:nvSpPr>
            <p:cNvPr id="31" name="Rectangle 31"/>
            <p:cNvSpPr/>
            <p:nvPr/>
          </p:nvSpPr>
          <p:spPr>
            <a:xfrm>
              <a:off x="5166360" y="3590925"/>
              <a:ext cx="3074670" cy="1653540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175885" y="3724275"/>
              <a:ext cx="47625" cy="138684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06390" y="382524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茎叶图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419725" y="42424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577840" y="4179570"/>
              <a:ext cx="2301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保留原始数据，能读出中位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数、四分数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419725" y="48634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577840" y="480060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适合几十个以内的数据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83930" y="3590925"/>
              <a:ext cx="3074670" cy="1653540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593455" y="3724275"/>
              <a:ext cx="47625" cy="13868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823960" y="382524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直方图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8837295" y="42424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995410" y="417957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只保留每组个数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8837295" y="457771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995410" y="45148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数据很多时更清楚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250555" y="425577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20895" y="435197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4" name="c2-callout-3"/>
          <p:cNvGrpSpPr/>
          <p:nvPr/>
        </p:nvGrpSpPr>
        <p:grpSpPr>
          <a:xfrm>
            <a:off x="5166360" y="5434965"/>
            <a:ext cx="6492240" cy="782955"/>
            <a:chOff x="5166360" y="5434965"/>
            <a:chExt cx="6492240" cy="782955"/>
          </a:xfrm>
        </p:grpSpPr>
        <p:sp>
          <p:nvSpPr>
            <p:cNvPr id="48" name="Rectangle 48"/>
            <p:cNvSpPr/>
            <p:nvPr/>
          </p:nvSpPr>
          <p:spPr>
            <a:xfrm>
              <a:off x="5166360" y="5434965"/>
              <a:ext cx="649224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5371148" y="5726430"/>
              <a:ext cx="200026" cy="200025"/>
              <a:chOff x="5371148" y="5726430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5371148" y="57264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5410886" y="57708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5445602" y="58820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5673090" y="5583555"/>
              <a:ext cx="54159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 中用 stem(x) 画茎叶图；R 会自动选择茎的单位，输出的分法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可能与手画的不同。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48027" cy="909257"/>
            <a:chOff x="520446" y="342900"/>
            <a:chExt cx="73480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统计图形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480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 QQ 图：样本分位数对标准正态分位数描点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413731" cy="2764440"/>
            <a:chOff x="533400" y="1533525"/>
            <a:chExt cx="5413731" cy="2764440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204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18394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x₍₁₎ ≤ x₍₂₎ ≤ … ≤ x₍ₙ₎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46459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pᵢ = (i − 0.5)/n（R 的 ppoints()；n ≤ 10 时用 (i − 3/8)/(n +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1/4)）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10419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理论分位数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397091"/>
              <a:ext cx="29617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zᵢ = Φ⁻¹(pᵢ)，Φ 为标准正态分布函数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7547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048601"/>
              <a:ext cx="5001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画点 (zᵢ, x₍ᵢ₎)，再画参考直线：R 的 qqline() 过两个四分位点</a:t>
              </a:r>
            </a:p>
          </p:txBody>
        </p:sp>
      </p:grpSp>
      <p:grpSp>
        <p:nvGrpSpPr>
          <p:cNvPr id="28" name="c1-code-2"/>
          <p:cNvGrpSpPr/>
          <p:nvPr/>
        </p:nvGrpSpPr>
        <p:grpSpPr>
          <a:xfrm>
            <a:off x="533400" y="4475798"/>
            <a:ext cx="5626418" cy="907732"/>
            <a:chOff x="533400" y="4475798"/>
            <a:chExt cx="5626418" cy="907732"/>
          </a:xfrm>
        </p:grpSpPr>
        <p:sp>
          <p:nvSpPr>
            <p:cNvPr id="25" name="Rectangle 25"/>
            <p:cNvSpPr/>
            <p:nvPr/>
          </p:nvSpPr>
          <p:spPr>
            <a:xfrm>
              <a:off x="533400" y="4475798"/>
              <a:ext cx="5626418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797" y="4627721"/>
              <a:ext cx="9254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R：正态 QQ 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1035" y="4890611"/>
              <a:ext cx="2813558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qqnorm(x)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画点 (zi, x(i))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qqline(x)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过两个四分位点的参考直线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464618" y="1524000"/>
            <a:ext cx="5193982" cy="1316355"/>
            <a:chOff x="6464618" y="1524000"/>
            <a:chExt cx="5193982" cy="1316355"/>
          </a:xfrm>
        </p:grpSpPr>
        <p:sp>
          <p:nvSpPr>
            <p:cNvPr id="29" name="Rectangle 29"/>
            <p:cNvSpPr/>
            <p:nvPr/>
          </p:nvSpPr>
          <p:spPr>
            <a:xfrm>
              <a:off x="6464618" y="1524000"/>
              <a:ext cx="5193982" cy="1316355"/>
            </a:xfrm>
            <a:prstGeom prst="roundRect">
              <a:avLst>
                <a:gd name="adj" fmla="val 1013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74168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6476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66548" y="2110740"/>
              <a:ext cx="4349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数据来自 N(μ, σ²) 时 x₍ᵢ₎ ≈ μ + σzᵢ，点落在一条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直线附近，截距约为 μ，斜率约为 σ。</a:t>
              </a:r>
            </a:p>
          </p:txBody>
        </p:sp>
      </p:grpSp>
      <p:grpSp>
        <p:nvGrpSpPr>
          <p:cNvPr id="52" name="c2-table-2"/>
          <p:cNvGrpSpPr/>
          <p:nvPr/>
        </p:nvGrpSpPr>
        <p:grpSpPr>
          <a:xfrm>
            <a:off x="6464618" y="3030855"/>
            <a:ext cx="5193982" cy="2244091"/>
            <a:chOff x="6464618" y="3030855"/>
            <a:chExt cx="5193982" cy="2244091"/>
          </a:xfrm>
        </p:grpSpPr>
        <p:sp>
          <p:nvSpPr>
            <p:cNvPr id="34" name="Rectangle 34"/>
            <p:cNvSpPr/>
            <p:nvPr/>
          </p:nvSpPr>
          <p:spPr>
            <a:xfrm>
              <a:off x="6464618" y="3030855"/>
              <a:ext cx="5193982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42263" y="31665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点的形状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38778" y="31665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说明数据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72441" y="36152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近似直线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28988" y="36152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近似正态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392334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64618" y="3928110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72441" y="406384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两端都在直线上方（下凸）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28988" y="40638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右偏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43729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72441" y="451246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两端都在直线下方（上凸）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28988" y="451246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左偏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482155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64618" y="4826318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72441" y="4961096"/>
              <a:ext cx="22432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左端在下、右端在上（S 形）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28988" y="496109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重尾，极端值多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3030855"/>
              <a:ext cx="5193982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9316402" y="303085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3" name="Rectangle 5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130" y="5991225"/>
              <a:ext cx="100347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正态概率图与 QQ 图本质相同，只是坐标轴按正态分位数的位置标上累积概率 pᵢ，刻度不等距；判断方法相同。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87265" cy="909257"/>
            <a:chOff x="520446" y="342900"/>
            <a:chExt cx="51872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统计图形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872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例：Bendixen 数据的正态 QQ 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graph-1"/>
          <p:cNvGrpSpPr/>
          <p:nvPr/>
        </p:nvGrpSpPr>
        <p:grpSpPr>
          <a:xfrm>
            <a:off x="593914" y="1660684"/>
            <a:ext cx="4848849" cy="4642675"/>
            <a:chOff x="593914" y="1660684"/>
            <a:chExt cx="4848849" cy="4642675"/>
          </a:xfrm>
        </p:grpSpPr>
        <p:sp>
          <p:nvSpPr>
            <p:cNvPr id="7" name="Freeform 7"/>
            <p:cNvSpPr/>
            <p:nvPr/>
          </p:nvSpPr>
          <p:spPr>
            <a:xfrm>
              <a:off x="969645" y="5975985"/>
              <a:ext cx="4353878" cy="9525"/>
            </a:xfrm>
            <a:custGeom>
              <a:avLst/>
              <a:gdLst/>
              <a:ahLst/>
              <a:cxnLst/>
              <a:rect l="l" t="t" r="r" b="b"/>
              <a:pathLst>
                <a:path w="4353878" h="9525">
                  <a:moveTo>
                    <a:pt x="0" y="0"/>
                  </a:moveTo>
                  <a:lnTo>
                    <a:pt x="435387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931545" y="2002155"/>
              <a:ext cx="9525" cy="3882390"/>
            </a:xfrm>
            <a:custGeom>
              <a:avLst/>
              <a:gdLst/>
              <a:ahLst/>
              <a:cxnLst/>
              <a:rect l="l" t="t" r="r" b="b"/>
              <a:pathLst>
                <a:path w="9525" h="3882390">
                  <a:moveTo>
                    <a:pt x="0" y="388239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228725" y="2749868"/>
              <a:ext cx="3945255" cy="3194685"/>
            </a:xfrm>
            <a:custGeom>
              <a:avLst/>
              <a:gdLst/>
              <a:ahLst/>
              <a:cxnLst/>
              <a:rect l="l" t="t" r="r" b="b"/>
              <a:pathLst>
                <a:path w="3945255" h="3194685">
                  <a:moveTo>
                    <a:pt x="0" y="3194685"/>
                  </a:moveTo>
                  <a:lnTo>
                    <a:pt x="3945255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217295" y="5623560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849755" y="5574982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2223135" y="5163502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2516505" y="4810125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2780348" y="4607242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3024188" y="4505325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268028" y="4098608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3531870" y="3997642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825240" y="3644265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4198620" y="2879408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4831080" y="2371725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4032" y="611266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24642" y="611266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30579" y="611266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01189" y="611266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70847" y="611266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4959" y="53620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4959" y="4345781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4959" y="3330416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3914" y="231409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73301" y="1660684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x₍ᵢ₎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80481" y="558022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zᵢ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10548" y="1902619"/>
              <a:ext cx="1417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90、100 高出直线约 11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32211" y="5386864"/>
              <a:ext cx="11708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参考直线（qqline）</a:t>
              </a:r>
            </a:p>
          </p:txBody>
        </p:sp>
      </p:grpSp>
      <p:grpSp>
        <p:nvGrpSpPr>
          <p:cNvPr id="106" name="c2-table-1"/>
          <p:cNvGrpSpPr/>
          <p:nvPr/>
        </p:nvGrpSpPr>
        <p:grpSpPr>
          <a:xfrm>
            <a:off x="5815965" y="1524000"/>
            <a:ext cx="5842635" cy="2800350"/>
            <a:chOff x="5815965" y="1524000"/>
            <a:chExt cx="5842635" cy="2800350"/>
          </a:xfrm>
        </p:grpSpPr>
        <p:sp>
          <p:nvSpPr>
            <p:cNvPr id="35" name="Rectangle 35"/>
            <p:cNvSpPr/>
            <p:nvPr/>
          </p:nvSpPr>
          <p:spPr>
            <a:xfrm>
              <a:off x="5815965" y="1524000"/>
              <a:ext cx="584263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28438" y="1645444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84783" y="16454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x₍ᵢ₎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43380" y="16454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96820" y="16454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zᵢ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90713" y="1645444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88968" y="16454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x₍ᵢ₎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346613" y="16454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pᵢ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159095" y="16454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zᵢ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08649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76002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23138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35115" y="204549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−1.691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972997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80187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226370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0.591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038853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0.230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815965" y="23193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815965" y="23241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08649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76002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23138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35115" y="244554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−1.097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972997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580187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26370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0.682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038853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0.473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815965" y="27193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008649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576002" y="28455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223138" y="28455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0.227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35115" y="284559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−0.748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972997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580187" y="28455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226370" y="28455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0.773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038853" y="28455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0.748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815965" y="31194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815965" y="31242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008649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576002" y="32456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223138" y="32456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0.318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035115" y="324564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−0.473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931534" y="32456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312592" y="3133725"/>
              <a:ext cx="71151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580187" y="32456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226370" y="32456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0.864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038853" y="32456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1.097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5815965" y="35194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008649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576002" y="36456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223138" y="36456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0.409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035115" y="364569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−0.230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931534" y="36456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9312592" y="3533775"/>
              <a:ext cx="71151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9538724" y="36456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226370" y="36456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0.955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038853" y="36456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1.691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5815965" y="39195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5815965" y="39243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008649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576002" y="40457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223138" y="40457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242430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5815965" y="1524000"/>
              <a:ext cx="5842635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6295072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7024688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7838122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873252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9298305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10028872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10841355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3" name="c2-card-2"/>
          <p:cNvGrpSpPr/>
          <p:nvPr/>
        </p:nvGrpSpPr>
        <p:grpSpPr>
          <a:xfrm>
            <a:off x="5815965" y="4493895"/>
            <a:ext cx="5842635" cy="1743075"/>
            <a:chOff x="5815965" y="4493895"/>
            <a:chExt cx="5842635" cy="1743075"/>
          </a:xfrm>
        </p:grpSpPr>
        <p:sp>
          <p:nvSpPr>
            <p:cNvPr id="107" name="Rectangle 107"/>
            <p:cNvSpPr/>
            <p:nvPr/>
          </p:nvSpPr>
          <p:spPr>
            <a:xfrm>
              <a:off x="5815965" y="4493895"/>
              <a:ext cx="5842635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5825490" y="4627245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6040755" y="468058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6132474" y="47134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6033897" y="5025390"/>
              <a:ext cx="51057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pᵢ = (i − 0.5)/11，zᵢ = Φ⁻¹(pᵢ)；参考直线过 (±0.674, 48.5 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71.5)，即 x ≈ 60 + 17.05z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6033897" y="5582602"/>
              <a:ext cx="49771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10：直线上为 78.7，实际 90，高出 11.3。右端两点都明显偏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高，提示右尾偏长（g₁ ≈ 0.47），但 n = 11 太小，只能算迹象。</a:t>
              </a:r>
            </a:p>
          </p:txBody>
        </p:sp>
      </p:grpSp>
      <p:grpSp>
        <p:nvGrpSpPr>
          <p:cNvPr id="11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4" name="TextBox 11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28466" cy="909257"/>
            <a:chOff x="520446" y="342900"/>
            <a:chExt cx="73284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统计图形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284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三种样本的正态 QQ 图：直线、下凸曲线、S 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0" name="qq-normal"/>
          <p:cNvGrpSpPr/>
          <p:nvPr/>
        </p:nvGrpSpPr>
        <p:grpSpPr>
          <a:xfrm>
            <a:off x="533400" y="1524000"/>
            <a:ext cx="3581400" cy="3333750"/>
            <a:chOff x="533400" y="1524000"/>
            <a:chExt cx="3581400" cy="33337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81400" cy="3333750"/>
            </a:xfrm>
            <a:prstGeom prst="roundRect">
              <a:avLst>
                <a:gd name="adj" fmla="val 4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8754" y="1661160"/>
              <a:ext cx="20871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正态样本 N(0, 1)，n = 100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28700" y="2133600"/>
              <a:ext cx="2933700" cy="2247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1028700" y="4074795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28700" y="3673792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028700" y="3271838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028700" y="2870835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28700" y="2469832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28700" y="43815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28700" y="2133600"/>
              <a:ext cx="9525" cy="2247900"/>
            </a:xfrm>
            <a:custGeom>
              <a:avLst/>
              <a:gdLst/>
              <a:ahLst/>
              <a:cxnLst/>
              <a:rect l="l" t="t" r="r" b="b"/>
              <a:pathLst>
                <a:path w="9525" h="2247900">
                  <a:moveTo>
                    <a:pt x="0" y="0"/>
                  </a:moveTo>
                  <a:lnTo>
                    <a:pt x="0" y="224790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447800" y="43815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76401" y="44748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971675" y="43815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00276" y="44748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2495550" y="43815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457469" y="44748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019425" y="43815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981344" y="44748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3543300" y="43815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505219" y="44748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981075" y="407479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4464" y="401574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981075" y="3673792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4464" y="3614738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981075" y="3271838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81101" y="321278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981075" y="287083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81101" y="281178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981075" y="2469832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81101" y="241077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36501" y="4638199"/>
              <a:ext cx="111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标准正态分位数 zᵢ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0897" y="19521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样本分位数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1065848" y="2138362"/>
              <a:ext cx="2888932" cy="2240280"/>
            </a:xfrm>
            <a:custGeom>
              <a:avLst/>
              <a:gdLst/>
              <a:ahLst/>
              <a:cxnLst/>
              <a:rect l="l" t="t" r="r" b="b"/>
              <a:pathLst>
                <a:path w="2888932" h="2240280">
                  <a:moveTo>
                    <a:pt x="0" y="2240280"/>
                  </a:moveTo>
                  <a:lnTo>
                    <a:pt x="2888932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118235" y="423386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330642" y="417195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441132" y="414337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518285" y="407193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580198" y="397287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630680" y="394144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674495" y="390239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713548" y="389572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748790" y="385095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781175" y="379095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1811655" y="378142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1839278" y="378047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1864995" y="374618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1889760" y="374046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1913572" y="372618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1936432" y="370617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1957388" y="369951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1978342" y="362902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1998345" y="361854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2017395" y="360616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2036445" y="359092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2054542" y="358997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2072640" y="358044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2089785" y="357187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2105978" y="354330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2123122" y="350710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2139315" y="349948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2154555" y="349377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2170748" y="349377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2185988" y="346614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2200275" y="345281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2215515" y="344138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2229802" y="343947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2245042" y="343566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2259330" y="341280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2272665" y="338613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2286952" y="338518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2301240" y="338328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2314575" y="337661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2328862" y="336804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2342198" y="336518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2355532" y="334137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2368868" y="334041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2382202" y="333375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2395538" y="332041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2408872" y="330708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2422208" y="330708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2435542" y="329184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2447925" y="328993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2461260" y="327755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2474595" y="326612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2487930" y="326136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2500312" y="325469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2513648" y="324421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94" name="Ellipse 94"/>
            <p:cNvSpPr/>
            <p:nvPr/>
          </p:nvSpPr>
          <p:spPr>
            <a:xfrm>
              <a:off x="2526982" y="323183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2540318" y="322421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96" name="Ellipse 96"/>
            <p:cNvSpPr/>
            <p:nvPr/>
          </p:nvSpPr>
          <p:spPr>
            <a:xfrm>
              <a:off x="2553652" y="322230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2566988" y="321564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2580323" y="321468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2593658" y="318039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2606993" y="316992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2621280" y="315658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02" name="Ellipse 102"/>
            <p:cNvSpPr/>
            <p:nvPr/>
          </p:nvSpPr>
          <p:spPr>
            <a:xfrm>
              <a:off x="2634615" y="314134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03" name="Ellipse 103"/>
            <p:cNvSpPr/>
            <p:nvPr/>
          </p:nvSpPr>
          <p:spPr>
            <a:xfrm>
              <a:off x="2648902" y="312801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04" name="Ellipse 104"/>
            <p:cNvSpPr/>
            <p:nvPr/>
          </p:nvSpPr>
          <p:spPr>
            <a:xfrm>
              <a:off x="2663190" y="310038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05" name="Ellipse 105"/>
            <p:cNvSpPr/>
            <p:nvPr/>
          </p:nvSpPr>
          <p:spPr>
            <a:xfrm>
              <a:off x="2676525" y="309943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06" name="Ellipse 106"/>
            <p:cNvSpPr/>
            <p:nvPr/>
          </p:nvSpPr>
          <p:spPr>
            <a:xfrm>
              <a:off x="2690812" y="309657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07" name="Ellipse 107"/>
            <p:cNvSpPr/>
            <p:nvPr/>
          </p:nvSpPr>
          <p:spPr>
            <a:xfrm>
              <a:off x="2706052" y="307181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08" name="Ellipse 108"/>
            <p:cNvSpPr/>
            <p:nvPr/>
          </p:nvSpPr>
          <p:spPr>
            <a:xfrm>
              <a:off x="2720340" y="303657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09" name="Ellipse 109"/>
            <p:cNvSpPr/>
            <p:nvPr/>
          </p:nvSpPr>
          <p:spPr>
            <a:xfrm>
              <a:off x="2735580" y="303085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10" name="Ellipse 110"/>
            <p:cNvSpPr/>
            <p:nvPr/>
          </p:nvSpPr>
          <p:spPr>
            <a:xfrm>
              <a:off x="2749868" y="302228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11" name="Ellipse 111"/>
            <p:cNvSpPr/>
            <p:nvPr/>
          </p:nvSpPr>
          <p:spPr>
            <a:xfrm>
              <a:off x="2765108" y="299942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12" name="Ellipse 112"/>
            <p:cNvSpPr/>
            <p:nvPr/>
          </p:nvSpPr>
          <p:spPr>
            <a:xfrm>
              <a:off x="2781300" y="299370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13" name="Ellipse 113"/>
            <p:cNvSpPr/>
            <p:nvPr/>
          </p:nvSpPr>
          <p:spPr>
            <a:xfrm>
              <a:off x="2796540" y="298608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14" name="Ellipse 114"/>
            <p:cNvSpPr/>
            <p:nvPr/>
          </p:nvSpPr>
          <p:spPr>
            <a:xfrm>
              <a:off x="2812732" y="297846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15" name="Ellipse 115"/>
            <p:cNvSpPr/>
            <p:nvPr/>
          </p:nvSpPr>
          <p:spPr>
            <a:xfrm>
              <a:off x="2829878" y="293655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16" name="Ellipse 116"/>
            <p:cNvSpPr/>
            <p:nvPr/>
          </p:nvSpPr>
          <p:spPr>
            <a:xfrm>
              <a:off x="2846070" y="292893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17" name="Ellipse 117"/>
            <p:cNvSpPr/>
            <p:nvPr/>
          </p:nvSpPr>
          <p:spPr>
            <a:xfrm>
              <a:off x="2863215" y="289941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18" name="Ellipse 118"/>
            <p:cNvSpPr/>
            <p:nvPr/>
          </p:nvSpPr>
          <p:spPr>
            <a:xfrm>
              <a:off x="2881312" y="289464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19" name="Ellipse 119"/>
            <p:cNvSpPr/>
            <p:nvPr/>
          </p:nvSpPr>
          <p:spPr>
            <a:xfrm>
              <a:off x="2899410" y="288607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20" name="Ellipse 120"/>
            <p:cNvSpPr/>
            <p:nvPr/>
          </p:nvSpPr>
          <p:spPr>
            <a:xfrm>
              <a:off x="2918460" y="286035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21" name="Ellipse 121"/>
            <p:cNvSpPr/>
            <p:nvPr/>
          </p:nvSpPr>
          <p:spPr>
            <a:xfrm>
              <a:off x="2937510" y="284797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22" name="Ellipse 122"/>
            <p:cNvSpPr/>
            <p:nvPr/>
          </p:nvSpPr>
          <p:spPr>
            <a:xfrm>
              <a:off x="2957512" y="280511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23" name="Ellipse 123"/>
            <p:cNvSpPr/>
            <p:nvPr/>
          </p:nvSpPr>
          <p:spPr>
            <a:xfrm>
              <a:off x="2978468" y="276796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24" name="Ellipse 124"/>
            <p:cNvSpPr/>
            <p:nvPr/>
          </p:nvSpPr>
          <p:spPr>
            <a:xfrm>
              <a:off x="2999423" y="273843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25" name="Ellipse 125"/>
            <p:cNvSpPr/>
            <p:nvPr/>
          </p:nvSpPr>
          <p:spPr>
            <a:xfrm>
              <a:off x="3022282" y="269462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26" name="Ellipse 126"/>
            <p:cNvSpPr/>
            <p:nvPr/>
          </p:nvSpPr>
          <p:spPr>
            <a:xfrm>
              <a:off x="3046095" y="268605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27" name="Ellipse 127"/>
            <p:cNvSpPr/>
            <p:nvPr/>
          </p:nvSpPr>
          <p:spPr>
            <a:xfrm>
              <a:off x="3070860" y="266700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28" name="Ellipse 128"/>
            <p:cNvSpPr/>
            <p:nvPr/>
          </p:nvSpPr>
          <p:spPr>
            <a:xfrm>
              <a:off x="3096578" y="266033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29" name="Ellipse 129"/>
            <p:cNvSpPr/>
            <p:nvPr/>
          </p:nvSpPr>
          <p:spPr>
            <a:xfrm>
              <a:off x="3124200" y="264033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30" name="Ellipse 130"/>
            <p:cNvSpPr/>
            <p:nvPr/>
          </p:nvSpPr>
          <p:spPr>
            <a:xfrm>
              <a:off x="3154680" y="262223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31" name="Ellipse 131"/>
            <p:cNvSpPr/>
            <p:nvPr/>
          </p:nvSpPr>
          <p:spPr>
            <a:xfrm>
              <a:off x="3187065" y="262223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32" name="Ellipse 132"/>
            <p:cNvSpPr/>
            <p:nvPr/>
          </p:nvSpPr>
          <p:spPr>
            <a:xfrm>
              <a:off x="3222308" y="262032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33" name="Ellipse 133"/>
            <p:cNvSpPr/>
            <p:nvPr/>
          </p:nvSpPr>
          <p:spPr>
            <a:xfrm>
              <a:off x="3261360" y="261366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34" name="Ellipse 134"/>
            <p:cNvSpPr/>
            <p:nvPr/>
          </p:nvSpPr>
          <p:spPr>
            <a:xfrm>
              <a:off x="3305175" y="253746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35" name="Ellipse 135"/>
            <p:cNvSpPr/>
            <p:nvPr/>
          </p:nvSpPr>
          <p:spPr>
            <a:xfrm>
              <a:off x="3355658" y="251555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36" name="Ellipse 136"/>
            <p:cNvSpPr/>
            <p:nvPr/>
          </p:nvSpPr>
          <p:spPr>
            <a:xfrm>
              <a:off x="3417570" y="246697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37" name="Ellipse 137"/>
            <p:cNvSpPr/>
            <p:nvPr/>
          </p:nvSpPr>
          <p:spPr>
            <a:xfrm>
              <a:off x="3494723" y="239268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38" name="Ellipse 138"/>
            <p:cNvSpPr/>
            <p:nvPr/>
          </p:nvSpPr>
          <p:spPr>
            <a:xfrm>
              <a:off x="3605212" y="228409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39" name="Ellipse 139"/>
            <p:cNvSpPr/>
            <p:nvPr/>
          </p:nvSpPr>
          <p:spPr>
            <a:xfrm>
              <a:off x="3817620" y="222599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</p:grpSp>
      <p:grpSp>
        <p:nvGrpSpPr>
          <p:cNvPr id="271" name="qq-lognormal"/>
          <p:cNvGrpSpPr/>
          <p:nvPr/>
        </p:nvGrpSpPr>
        <p:grpSpPr>
          <a:xfrm>
            <a:off x="4305300" y="1524000"/>
            <a:ext cx="3581400" cy="3333750"/>
            <a:chOff x="4305300" y="1524000"/>
            <a:chExt cx="3581400" cy="3333750"/>
          </a:xfrm>
        </p:grpSpPr>
        <p:sp>
          <p:nvSpPr>
            <p:cNvPr id="141" name="Rectangle 141"/>
            <p:cNvSpPr/>
            <p:nvPr/>
          </p:nvSpPr>
          <p:spPr>
            <a:xfrm>
              <a:off x="4305300" y="1524000"/>
              <a:ext cx="3581400" cy="3333750"/>
            </a:xfrm>
            <a:prstGeom prst="roundRect">
              <a:avLst>
                <a:gd name="adj" fmla="val 4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4470654" y="1661160"/>
              <a:ext cx="17112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对数正态样本，n = 100</a:t>
              </a:r>
            </a:p>
          </p:txBody>
        </p:sp>
        <p:sp>
          <p:nvSpPr>
            <p:cNvPr id="143" name="Rectangle 143"/>
            <p:cNvSpPr/>
            <p:nvPr/>
          </p:nvSpPr>
          <p:spPr>
            <a:xfrm>
              <a:off x="4800600" y="2133600"/>
              <a:ext cx="2933700" cy="2247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4" name="Line 144"/>
            <p:cNvSpPr/>
            <p:nvPr/>
          </p:nvSpPr>
          <p:spPr>
            <a:xfrm>
              <a:off x="4800600" y="3873818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145" name="Line 145"/>
            <p:cNvSpPr/>
            <p:nvPr/>
          </p:nvSpPr>
          <p:spPr>
            <a:xfrm>
              <a:off x="4800600" y="3308985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146" name="Line 146"/>
            <p:cNvSpPr/>
            <p:nvPr/>
          </p:nvSpPr>
          <p:spPr>
            <a:xfrm>
              <a:off x="4800600" y="2744152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147" name="Line 147"/>
            <p:cNvSpPr/>
            <p:nvPr/>
          </p:nvSpPr>
          <p:spPr>
            <a:xfrm>
              <a:off x="4800600" y="217932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148" name="Line 148"/>
            <p:cNvSpPr/>
            <p:nvPr/>
          </p:nvSpPr>
          <p:spPr>
            <a:xfrm>
              <a:off x="4800600" y="43815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49" name="Line 149"/>
            <p:cNvSpPr/>
            <p:nvPr/>
          </p:nvSpPr>
          <p:spPr>
            <a:xfrm>
              <a:off x="4800600" y="2133600"/>
              <a:ext cx="9525" cy="2247900"/>
            </a:xfrm>
            <a:custGeom>
              <a:avLst/>
              <a:gdLst/>
              <a:ahLst/>
              <a:cxnLst/>
              <a:rect l="l" t="t" r="r" b="b"/>
              <a:pathLst>
                <a:path w="9525" h="2247900">
                  <a:moveTo>
                    <a:pt x="0" y="0"/>
                  </a:moveTo>
                  <a:lnTo>
                    <a:pt x="0" y="224790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150" name="Line 150"/>
            <p:cNvSpPr/>
            <p:nvPr/>
          </p:nvSpPr>
          <p:spPr>
            <a:xfrm>
              <a:off x="5219700" y="43815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51" name="TextBox 151"/>
            <p:cNvSpPr txBox="1"/>
            <p:nvPr/>
          </p:nvSpPr>
          <p:spPr>
            <a:xfrm>
              <a:off x="5148301" y="44748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52" name="Line 152"/>
            <p:cNvSpPr/>
            <p:nvPr/>
          </p:nvSpPr>
          <p:spPr>
            <a:xfrm>
              <a:off x="5743575" y="43815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53" name="TextBox 153"/>
            <p:cNvSpPr txBox="1"/>
            <p:nvPr/>
          </p:nvSpPr>
          <p:spPr>
            <a:xfrm>
              <a:off x="5672176" y="44748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54" name="Line 154"/>
            <p:cNvSpPr/>
            <p:nvPr/>
          </p:nvSpPr>
          <p:spPr>
            <a:xfrm>
              <a:off x="6267450" y="43815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55" name="TextBox 155"/>
            <p:cNvSpPr txBox="1"/>
            <p:nvPr/>
          </p:nvSpPr>
          <p:spPr>
            <a:xfrm>
              <a:off x="6229369" y="44748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6" name="Line 156"/>
            <p:cNvSpPr/>
            <p:nvPr/>
          </p:nvSpPr>
          <p:spPr>
            <a:xfrm>
              <a:off x="6791325" y="43815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57" name="TextBox 157"/>
            <p:cNvSpPr txBox="1"/>
            <p:nvPr/>
          </p:nvSpPr>
          <p:spPr>
            <a:xfrm>
              <a:off x="6753244" y="44748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8" name="Line 158"/>
            <p:cNvSpPr/>
            <p:nvPr/>
          </p:nvSpPr>
          <p:spPr>
            <a:xfrm>
              <a:off x="7315200" y="43815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59" name="TextBox 159"/>
            <p:cNvSpPr txBox="1"/>
            <p:nvPr/>
          </p:nvSpPr>
          <p:spPr>
            <a:xfrm>
              <a:off x="7277119" y="44748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0" name="Line 160"/>
            <p:cNvSpPr/>
            <p:nvPr/>
          </p:nvSpPr>
          <p:spPr>
            <a:xfrm>
              <a:off x="4752975" y="3873818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4653001" y="3814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2" name="Line 162"/>
            <p:cNvSpPr/>
            <p:nvPr/>
          </p:nvSpPr>
          <p:spPr>
            <a:xfrm>
              <a:off x="4752975" y="330898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63" name="TextBox 163"/>
            <p:cNvSpPr txBox="1"/>
            <p:nvPr/>
          </p:nvSpPr>
          <p:spPr>
            <a:xfrm>
              <a:off x="4653001" y="324993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4" name="Line 164"/>
            <p:cNvSpPr/>
            <p:nvPr/>
          </p:nvSpPr>
          <p:spPr>
            <a:xfrm>
              <a:off x="4752975" y="2744152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65" name="TextBox 165"/>
            <p:cNvSpPr txBox="1"/>
            <p:nvPr/>
          </p:nvSpPr>
          <p:spPr>
            <a:xfrm>
              <a:off x="4653001" y="268509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6" name="Line 166"/>
            <p:cNvSpPr/>
            <p:nvPr/>
          </p:nvSpPr>
          <p:spPr>
            <a:xfrm>
              <a:off x="4752975" y="217932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4653001" y="21202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5708401" y="4638199"/>
              <a:ext cx="111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标准正态分位数 zᵢ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4852797" y="19521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样本分位数</a:t>
              </a:r>
            </a:p>
          </p:txBody>
        </p:sp>
        <p:sp>
          <p:nvSpPr>
            <p:cNvPr id="170" name="Line 170"/>
            <p:cNvSpPr/>
            <p:nvPr/>
          </p:nvSpPr>
          <p:spPr>
            <a:xfrm>
              <a:off x="5389245" y="2830830"/>
              <a:ext cx="2345055" cy="1549718"/>
            </a:xfrm>
            <a:custGeom>
              <a:avLst/>
              <a:gdLst/>
              <a:ahLst/>
              <a:cxnLst/>
              <a:rect l="l" t="t" r="r" b="b"/>
              <a:pathLst>
                <a:path w="2345055" h="1549718">
                  <a:moveTo>
                    <a:pt x="0" y="1549718"/>
                  </a:moveTo>
                  <a:lnTo>
                    <a:pt x="2345055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71" name="Ellipse 171"/>
            <p:cNvSpPr/>
            <p:nvPr/>
          </p:nvSpPr>
          <p:spPr>
            <a:xfrm>
              <a:off x="4890135" y="423386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72" name="Ellipse 172"/>
            <p:cNvSpPr/>
            <p:nvPr/>
          </p:nvSpPr>
          <p:spPr>
            <a:xfrm>
              <a:off x="5102542" y="423100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73" name="Ellipse 173"/>
            <p:cNvSpPr/>
            <p:nvPr/>
          </p:nvSpPr>
          <p:spPr>
            <a:xfrm>
              <a:off x="5213033" y="422814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74" name="Ellipse 174"/>
            <p:cNvSpPr/>
            <p:nvPr/>
          </p:nvSpPr>
          <p:spPr>
            <a:xfrm>
              <a:off x="5290185" y="421386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75" name="Ellipse 175"/>
            <p:cNvSpPr/>
            <p:nvPr/>
          </p:nvSpPr>
          <p:spPr>
            <a:xfrm>
              <a:off x="5352098" y="419385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76" name="Ellipse 176"/>
            <p:cNvSpPr/>
            <p:nvPr/>
          </p:nvSpPr>
          <p:spPr>
            <a:xfrm>
              <a:off x="5402580" y="418814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77" name="Ellipse 177"/>
            <p:cNvSpPr/>
            <p:nvPr/>
          </p:nvSpPr>
          <p:spPr>
            <a:xfrm>
              <a:off x="5446395" y="418623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78" name="Ellipse 178"/>
            <p:cNvSpPr/>
            <p:nvPr/>
          </p:nvSpPr>
          <p:spPr>
            <a:xfrm>
              <a:off x="5485448" y="418242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79" name="Ellipse 179"/>
            <p:cNvSpPr/>
            <p:nvPr/>
          </p:nvSpPr>
          <p:spPr>
            <a:xfrm>
              <a:off x="5520690" y="417195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80" name="Ellipse 180"/>
            <p:cNvSpPr/>
            <p:nvPr/>
          </p:nvSpPr>
          <p:spPr>
            <a:xfrm>
              <a:off x="5553075" y="415956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81" name="Ellipse 181"/>
            <p:cNvSpPr/>
            <p:nvPr/>
          </p:nvSpPr>
          <p:spPr>
            <a:xfrm>
              <a:off x="5583555" y="415480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82" name="Ellipse 182"/>
            <p:cNvSpPr/>
            <p:nvPr/>
          </p:nvSpPr>
          <p:spPr>
            <a:xfrm>
              <a:off x="5611178" y="413670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83" name="Ellipse 183"/>
            <p:cNvSpPr/>
            <p:nvPr/>
          </p:nvSpPr>
          <p:spPr>
            <a:xfrm>
              <a:off x="5636895" y="413194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84" name="Ellipse 184"/>
            <p:cNvSpPr/>
            <p:nvPr/>
          </p:nvSpPr>
          <p:spPr>
            <a:xfrm>
              <a:off x="5661660" y="411765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85" name="Ellipse 185"/>
            <p:cNvSpPr/>
            <p:nvPr/>
          </p:nvSpPr>
          <p:spPr>
            <a:xfrm>
              <a:off x="5685472" y="408336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86" name="Ellipse 186"/>
            <p:cNvSpPr/>
            <p:nvPr/>
          </p:nvSpPr>
          <p:spPr>
            <a:xfrm>
              <a:off x="5708333" y="408336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87" name="Ellipse 187"/>
            <p:cNvSpPr/>
            <p:nvPr/>
          </p:nvSpPr>
          <p:spPr>
            <a:xfrm>
              <a:off x="5729288" y="407860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88" name="Ellipse 188"/>
            <p:cNvSpPr/>
            <p:nvPr/>
          </p:nvSpPr>
          <p:spPr>
            <a:xfrm>
              <a:off x="5750242" y="405479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89" name="Ellipse 189"/>
            <p:cNvSpPr/>
            <p:nvPr/>
          </p:nvSpPr>
          <p:spPr>
            <a:xfrm>
              <a:off x="5770245" y="404717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90" name="Ellipse 190"/>
            <p:cNvSpPr/>
            <p:nvPr/>
          </p:nvSpPr>
          <p:spPr>
            <a:xfrm>
              <a:off x="5789295" y="404622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91" name="Ellipse 191"/>
            <p:cNvSpPr/>
            <p:nvPr/>
          </p:nvSpPr>
          <p:spPr>
            <a:xfrm>
              <a:off x="5808345" y="402336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92" name="Ellipse 192"/>
            <p:cNvSpPr/>
            <p:nvPr/>
          </p:nvSpPr>
          <p:spPr>
            <a:xfrm>
              <a:off x="5826442" y="402240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93" name="Ellipse 193"/>
            <p:cNvSpPr/>
            <p:nvPr/>
          </p:nvSpPr>
          <p:spPr>
            <a:xfrm>
              <a:off x="5844540" y="401764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94" name="Ellipse 194"/>
            <p:cNvSpPr/>
            <p:nvPr/>
          </p:nvSpPr>
          <p:spPr>
            <a:xfrm>
              <a:off x="5861685" y="401574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95" name="Ellipse 195"/>
            <p:cNvSpPr/>
            <p:nvPr/>
          </p:nvSpPr>
          <p:spPr>
            <a:xfrm>
              <a:off x="5877878" y="401097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96" name="Ellipse 196"/>
            <p:cNvSpPr/>
            <p:nvPr/>
          </p:nvSpPr>
          <p:spPr>
            <a:xfrm>
              <a:off x="5895022" y="400335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97" name="Ellipse 197"/>
            <p:cNvSpPr/>
            <p:nvPr/>
          </p:nvSpPr>
          <p:spPr>
            <a:xfrm>
              <a:off x="5911215" y="400335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98" name="Ellipse 198"/>
            <p:cNvSpPr/>
            <p:nvPr/>
          </p:nvSpPr>
          <p:spPr>
            <a:xfrm>
              <a:off x="5926455" y="400050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99" name="Ellipse 199"/>
            <p:cNvSpPr/>
            <p:nvPr/>
          </p:nvSpPr>
          <p:spPr>
            <a:xfrm>
              <a:off x="5942648" y="399192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00" name="Ellipse 200"/>
            <p:cNvSpPr/>
            <p:nvPr/>
          </p:nvSpPr>
          <p:spPr>
            <a:xfrm>
              <a:off x="5957888" y="397668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01" name="Ellipse 201"/>
            <p:cNvSpPr/>
            <p:nvPr/>
          </p:nvSpPr>
          <p:spPr>
            <a:xfrm>
              <a:off x="5972175" y="396430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02" name="Ellipse 202"/>
            <p:cNvSpPr/>
            <p:nvPr/>
          </p:nvSpPr>
          <p:spPr>
            <a:xfrm>
              <a:off x="5987415" y="396144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03" name="Ellipse 203"/>
            <p:cNvSpPr/>
            <p:nvPr/>
          </p:nvSpPr>
          <p:spPr>
            <a:xfrm>
              <a:off x="6001702" y="395192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04" name="Ellipse 204"/>
            <p:cNvSpPr/>
            <p:nvPr/>
          </p:nvSpPr>
          <p:spPr>
            <a:xfrm>
              <a:off x="6016942" y="395192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05" name="Ellipse 205"/>
            <p:cNvSpPr/>
            <p:nvPr/>
          </p:nvSpPr>
          <p:spPr>
            <a:xfrm>
              <a:off x="6031230" y="394335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06" name="Ellipse 206"/>
            <p:cNvSpPr/>
            <p:nvPr/>
          </p:nvSpPr>
          <p:spPr>
            <a:xfrm>
              <a:off x="6044565" y="393477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07" name="Ellipse 207"/>
            <p:cNvSpPr/>
            <p:nvPr/>
          </p:nvSpPr>
          <p:spPr>
            <a:xfrm>
              <a:off x="6058852" y="393192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08" name="Ellipse 208"/>
            <p:cNvSpPr/>
            <p:nvPr/>
          </p:nvSpPr>
          <p:spPr>
            <a:xfrm>
              <a:off x="6073140" y="392430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09" name="Ellipse 209"/>
            <p:cNvSpPr/>
            <p:nvPr/>
          </p:nvSpPr>
          <p:spPr>
            <a:xfrm>
              <a:off x="6086475" y="391953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10" name="Ellipse 210"/>
            <p:cNvSpPr/>
            <p:nvPr/>
          </p:nvSpPr>
          <p:spPr>
            <a:xfrm>
              <a:off x="6100762" y="390620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11" name="Ellipse 211"/>
            <p:cNvSpPr/>
            <p:nvPr/>
          </p:nvSpPr>
          <p:spPr>
            <a:xfrm>
              <a:off x="6114098" y="389286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12" name="Ellipse 212"/>
            <p:cNvSpPr/>
            <p:nvPr/>
          </p:nvSpPr>
          <p:spPr>
            <a:xfrm>
              <a:off x="6127433" y="388810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13" name="Ellipse 213"/>
            <p:cNvSpPr/>
            <p:nvPr/>
          </p:nvSpPr>
          <p:spPr>
            <a:xfrm>
              <a:off x="6140768" y="388334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14" name="Ellipse 214"/>
            <p:cNvSpPr/>
            <p:nvPr/>
          </p:nvSpPr>
          <p:spPr>
            <a:xfrm>
              <a:off x="6154102" y="388143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15" name="Ellipse 215"/>
            <p:cNvSpPr/>
            <p:nvPr/>
          </p:nvSpPr>
          <p:spPr>
            <a:xfrm>
              <a:off x="6167438" y="386524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16" name="Ellipse 216"/>
            <p:cNvSpPr/>
            <p:nvPr/>
          </p:nvSpPr>
          <p:spPr>
            <a:xfrm>
              <a:off x="6180772" y="386238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17" name="Ellipse 217"/>
            <p:cNvSpPr/>
            <p:nvPr/>
          </p:nvSpPr>
          <p:spPr>
            <a:xfrm>
              <a:off x="6194108" y="385381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18" name="Ellipse 218"/>
            <p:cNvSpPr/>
            <p:nvPr/>
          </p:nvSpPr>
          <p:spPr>
            <a:xfrm>
              <a:off x="6207442" y="384810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19" name="Ellipse 219"/>
            <p:cNvSpPr/>
            <p:nvPr/>
          </p:nvSpPr>
          <p:spPr>
            <a:xfrm>
              <a:off x="6219825" y="384524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20" name="Ellipse 220"/>
            <p:cNvSpPr/>
            <p:nvPr/>
          </p:nvSpPr>
          <p:spPr>
            <a:xfrm>
              <a:off x="6233160" y="381952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21" name="Ellipse 221"/>
            <p:cNvSpPr/>
            <p:nvPr/>
          </p:nvSpPr>
          <p:spPr>
            <a:xfrm>
              <a:off x="6246495" y="381381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22" name="Ellipse 222"/>
            <p:cNvSpPr/>
            <p:nvPr/>
          </p:nvSpPr>
          <p:spPr>
            <a:xfrm>
              <a:off x="6259830" y="379380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23" name="Ellipse 223"/>
            <p:cNvSpPr/>
            <p:nvPr/>
          </p:nvSpPr>
          <p:spPr>
            <a:xfrm>
              <a:off x="6272212" y="377952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24" name="Ellipse 224"/>
            <p:cNvSpPr/>
            <p:nvPr/>
          </p:nvSpPr>
          <p:spPr>
            <a:xfrm>
              <a:off x="6285548" y="377761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25" name="Ellipse 225"/>
            <p:cNvSpPr/>
            <p:nvPr/>
          </p:nvSpPr>
          <p:spPr>
            <a:xfrm>
              <a:off x="6298883" y="376237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26" name="Ellipse 226"/>
            <p:cNvSpPr/>
            <p:nvPr/>
          </p:nvSpPr>
          <p:spPr>
            <a:xfrm>
              <a:off x="6312218" y="376047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27" name="Ellipse 227"/>
            <p:cNvSpPr/>
            <p:nvPr/>
          </p:nvSpPr>
          <p:spPr>
            <a:xfrm>
              <a:off x="6325552" y="374523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28" name="Ellipse 228"/>
            <p:cNvSpPr/>
            <p:nvPr/>
          </p:nvSpPr>
          <p:spPr>
            <a:xfrm>
              <a:off x="6338888" y="370427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29" name="Ellipse 229"/>
            <p:cNvSpPr/>
            <p:nvPr/>
          </p:nvSpPr>
          <p:spPr>
            <a:xfrm>
              <a:off x="6352222" y="368903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30" name="Ellipse 230"/>
            <p:cNvSpPr/>
            <p:nvPr/>
          </p:nvSpPr>
          <p:spPr>
            <a:xfrm>
              <a:off x="6365558" y="367569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31" name="Ellipse 231"/>
            <p:cNvSpPr/>
            <p:nvPr/>
          </p:nvSpPr>
          <p:spPr>
            <a:xfrm>
              <a:off x="6378892" y="366903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32" name="Ellipse 232"/>
            <p:cNvSpPr/>
            <p:nvPr/>
          </p:nvSpPr>
          <p:spPr>
            <a:xfrm>
              <a:off x="6393180" y="366045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33" name="Ellipse 233"/>
            <p:cNvSpPr/>
            <p:nvPr/>
          </p:nvSpPr>
          <p:spPr>
            <a:xfrm>
              <a:off x="6406515" y="364998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34" name="Ellipse 234"/>
            <p:cNvSpPr/>
            <p:nvPr/>
          </p:nvSpPr>
          <p:spPr>
            <a:xfrm>
              <a:off x="6420802" y="362426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35" name="Ellipse 235"/>
            <p:cNvSpPr/>
            <p:nvPr/>
          </p:nvSpPr>
          <p:spPr>
            <a:xfrm>
              <a:off x="6435090" y="360521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36" name="Ellipse 236"/>
            <p:cNvSpPr/>
            <p:nvPr/>
          </p:nvSpPr>
          <p:spPr>
            <a:xfrm>
              <a:off x="6448425" y="360426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37" name="Ellipse 237"/>
            <p:cNvSpPr/>
            <p:nvPr/>
          </p:nvSpPr>
          <p:spPr>
            <a:xfrm>
              <a:off x="6462712" y="360330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38" name="Ellipse 238"/>
            <p:cNvSpPr/>
            <p:nvPr/>
          </p:nvSpPr>
          <p:spPr>
            <a:xfrm>
              <a:off x="6477952" y="359949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39" name="Ellipse 239"/>
            <p:cNvSpPr/>
            <p:nvPr/>
          </p:nvSpPr>
          <p:spPr>
            <a:xfrm>
              <a:off x="6492240" y="359473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40" name="Ellipse 240"/>
            <p:cNvSpPr/>
            <p:nvPr/>
          </p:nvSpPr>
          <p:spPr>
            <a:xfrm>
              <a:off x="6507480" y="359473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41" name="Ellipse 241"/>
            <p:cNvSpPr/>
            <p:nvPr/>
          </p:nvSpPr>
          <p:spPr>
            <a:xfrm>
              <a:off x="6521768" y="359473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42" name="Ellipse 242"/>
            <p:cNvSpPr/>
            <p:nvPr/>
          </p:nvSpPr>
          <p:spPr>
            <a:xfrm>
              <a:off x="6537008" y="357282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43" name="Ellipse 243"/>
            <p:cNvSpPr/>
            <p:nvPr/>
          </p:nvSpPr>
          <p:spPr>
            <a:xfrm>
              <a:off x="6553200" y="356901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44" name="Ellipse 244"/>
            <p:cNvSpPr/>
            <p:nvPr/>
          </p:nvSpPr>
          <p:spPr>
            <a:xfrm>
              <a:off x="6568440" y="356616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45" name="Ellipse 245"/>
            <p:cNvSpPr/>
            <p:nvPr/>
          </p:nvSpPr>
          <p:spPr>
            <a:xfrm>
              <a:off x="6584633" y="353853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46" name="Ellipse 246"/>
            <p:cNvSpPr/>
            <p:nvPr/>
          </p:nvSpPr>
          <p:spPr>
            <a:xfrm>
              <a:off x="6601778" y="353758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47" name="Ellipse 247"/>
            <p:cNvSpPr/>
            <p:nvPr/>
          </p:nvSpPr>
          <p:spPr>
            <a:xfrm>
              <a:off x="6617970" y="352996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48" name="Ellipse 248"/>
            <p:cNvSpPr/>
            <p:nvPr/>
          </p:nvSpPr>
          <p:spPr>
            <a:xfrm>
              <a:off x="6635115" y="352520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49" name="Ellipse 249"/>
            <p:cNvSpPr/>
            <p:nvPr/>
          </p:nvSpPr>
          <p:spPr>
            <a:xfrm>
              <a:off x="6653212" y="351663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50" name="Ellipse 250"/>
            <p:cNvSpPr/>
            <p:nvPr/>
          </p:nvSpPr>
          <p:spPr>
            <a:xfrm>
              <a:off x="6671310" y="350710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51" name="Ellipse 251"/>
            <p:cNvSpPr/>
            <p:nvPr/>
          </p:nvSpPr>
          <p:spPr>
            <a:xfrm>
              <a:off x="6690360" y="349281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52" name="Ellipse 252"/>
            <p:cNvSpPr/>
            <p:nvPr/>
          </p:nvSpPr>
          <p:spPr>
            <a:xfrm>
              <a:off x="6709410" y="348519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53" name="Ellipse 253"/>
            <p:cNvSpPr/>
            <p:nvPr/>
          </p:nvSpPr>
          <p:spPr>
            <a:xfrm>
              <a:off x="6729412" y="344900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54" name="Ellipse 254"/>
            <p:cNvSpPr/>
            <p:nvPr/>
          </p:nvSpPr>
          <p:spPr>
            <a:xfrm>
              <a:off x="6750368" y="341280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55" name="Ellipse 255"/>
            <p:cNvSpPr/>
            <p:nvPr/>
          </p:nvSpPr>
          <p:spPr>
            <a:xfrm>
              <a:off x="6771322" y="340995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56" name="Ellipse 256"/>
            <p:cNvSpPr/>
            <p:nvPr/>
          </p:nvSpPr>
          <p:spPr>
            <a:xfrm>
              <a:off x="6794183" y="339471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57" name="Ellipse 257"/>
            <p:cNvSpPr/>
            <p:nvPr/>
          </p:nvSpPr>
          <p:spPr>
            <a:xfrm>
              <a:off x="6817995" y="338804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58" name="Ellipse 258"/>
            <p:cNvSpPr/>
            <p:nvPr/>
          </p:nvSpPr>
          <p:spPr>
            <a:xfrm>
              <a:off x="6842760" y="338232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59" name="Ellipse 259"/>
            <p:cNvSpPr/>
            <p:nvPr/>
          </p:nvSpPr>
          <p:spPr>
            <a:xfrm>
              <a:off x="6868478" y="335280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60" name="Ellipse 260"/>
            <p:cNvSpPr/>
            <p:nvPr/>
          </p:nvSpPr>
          <p:spPr>
            <a:xfrm>
              <a:off x="6896100" y="333184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61" name="Ellipse 261"/>
            <p:cNvSpPr/>
            <p:nvPr/>
          </p:nvSpPr>
          <p:spPr>
            <a:xfrm>
              <a:off x="6926580" y="332041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62" name="Ellipse 262"/>
            <p:cNvSpPr/>
            <p:nvPr/>
          </p:nvSpPr>
          <p:spPr>
            <a:xfrm>
              <a:off x="6958965" y="327469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63" name="Ellipse 263"/>
            <p:cNvSpPr/>
            <p:nvPr/>
          </p:nvSpPr>
          <p:spPr>
            <a:xfrm>
              <a:off x="6994208" y="326898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64" name="Ellipse 264"/>
            <p:cNvSpPr/>
            <p:nvPr/>
          </p:nvSpPr>
          <p:spPr>
            <a:xfrm>
              <a:off x="7033260" y="322992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65" name="Ellipse 265"/>
            <p:cNvSpPr/>
            <p:nvPr/>
          </p:nvSpPr>
          <p:spPr>
            <a:xfrm>
              <a:off x="7077075" y="322897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66" name="Ellipse 266"/>
            <p:cNvSpPr/>
            <p:nvPr/>
          </p:nvSpPr>
          <p:spPr>
            <a:xfrm>
              <a:off x="7127558" y="291941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67" name="Ellipse 267"/>
            <p:cNvSpPr/>
            <p:nvPr/>
          </p:nvSpPr>
          <p:spPr>
            <a:xfrm>
              <a:off x="7189470" y="291655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68" name="Ellipse 268"/>
            <p:cNvSpPr/>
            <p:nvPr/>
          </p:nvSpPr>
          <p:spPr>
            <a:xfrm>
              <a:off x="7266622" y="277177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69" name="Ellipse 269"/>
            <p:cNvSpPr/>
            <p:nvPr/>
          </p:nvSpPr>
          <p:spPr>
            <a:xfrm>
              <a:off x="7377112" y="272796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70" name="Ellipse 270"/>
            <p:cNvSpPr/>
            <p:nvPr/>
          </p:nvSpPr>
          <p:spPr>
            <a:xfrm>
              <a:off x="7589520" y="222599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</p:grpSp>
      <p:grpSp>
        <p:nvGrpSpPr>
          <p:cNvPr id="402" name="qq-t"/>
          <p:cNvGrpSpPr/>
          <p:nvPr/>
        </p:nvGrpSpPr>
        <p:grpSpPr>
          <a:xfrm>
            <a:off x="8077200" y="1524000"/>
            <a:ext cx="3581400" cy="3333750"/>
            <a:chOff x="8077200" y="1524000"/>
            <a:chExt cx="3581400" cy="3333750"/>
          </a:xfrm>
        </p:grpSpPr>
        <p:sp>
          <p:nvSpPr>
            <p:cNvPr id="272" name="Rectangle 272"/>
            <p:cNvSpPr/>
            <p:nvPr/>
          </p:nvSpPr>
          <p:spPr>
            <a:xfrm>
              <a:off x="8077200" y="1524000"/>
              <a:ext cx="3581400" cy="3333750"/>
            </a:xfrm>
            <a:prstGeom prst="roundRect">
              <a:avLst>
                <a:gd name="adj" fmla="val 4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3" name="TextBox 273"/>
            <p:cNvSpPr txBox="1"/>
            <p:nvPr/>
          </p:nvSpPr>
          <p:spPr>
            <a:xfrm>
              <a:off x="8242554" y="1661160"/>
              <a:ext cx="2484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t 分布样本（自由度 3），n = 100</a:t>
              </a:r>
            </a:p>
          </p:txBody>
        </p:sp>
        <p:sp>
          <p:nvSpPr>
            <p:cNvPr id="274" name="Rectangle 274"/>
            <p:cNvSpPr/>
            <p:nvPr/>
          </p:nvSpPr>
          <p:spPr>
            <a:xfrm>
              <a:off x="8572500" y="2133600"/>
              <a:ext cx="2933700" cy="2247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5" name="Line 275"/>
            <p:cNvSpPr/>
            <p:nvPr/>
          </p:nvSpPr>
          <p:spPr>
            <a:xfrm>
              <a:off x="8572500" y="4140518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276" name="Line 276"/>
            <p:cNvSpPr/>
            <p:nvPr/>
          </p:nvSpPr>
          <p:spPr>
            <a:xfrm>
              <a:off x="8572500" y="359664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277" name="Line 277"/>
            <p:cNvSpPr/>
            <p:nvPr/>
          </p:nvSpPr>
          <p:spPr>
            <a:xfrm>
              <a:off x="8572500" y="3053715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278" name="Line 278"/>
            <p:cNvSpPr/>
            <p:nvPr/>
          </p:nvSpPr>
          <p:spPr>
            <a:xfrm>
              <a:off x="8572500" y="251079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9525">
              <a:solidFill>
                <a:srgbClr val="E3E8EF"/>
              </a:solidFill>
            </a:ln>
          </p:spPr>
        </p:sp>
        <p:sp>
          <p:nvSpPr>
            <p:cNvPr id="279" name="Line 279"/>
            <p:cNvSpPr/>
            <p:nvPr/>
          </p:nvSpPr>
          <p:spPr>
            <a:xfrm>
              <a:off x="8572500" y="43815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280" name="Line 280"/>
            <p:cNvSpPr/>
            <p:nvPr/>
          </p:nvSpPr>
          <p:spPr>
            <a:xfrm>
              <a:off x="8572500" y="2133600"/>
              <a:ext cx="9525" cy="2247900"/>
            </a:xfrm>
            <a:custGeom>
              <a:avLst/>
              <a:gdLst/>
              <a:ahLst/>
              <a:cxnLst/>
              <a:rect l="l" t="t" r="r" b="b"/>
              <a:pathLst>
                <a:path w="9525" h="2247900">
                  <a:moveTo>
                    <a:pt x="0" y="0"/>
                  </a:moveTo>
                  <a:lnTo>
                    <a:pt x="0" y="224790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281" name="Line 281"/>
            <p:cNvSpPr/>
            <p:nvPr/>
          </p:nvSpPr>
          <p:spPr>
            <a:xfrm>
              <a:off x="8991600" y="43815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82" name="TextBox 282"/>
            <p:cNvSpPr txBox="1"/>
            <p:nvPr/>
          </p:nvSpPr>
          <p:spPr>
            <a:xfrm>
              <a:off x="8920201" y="44748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283" name="Line 283"/>
            <p:cNvSpPr/>
            <p:nvPr/>
          </p:nvSpPr>
          <p:spPr>
            <a:xfrm>
              <a:off x="9515475" y="43815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84" name="TextBox 284"/>
            <p:cNvSpPr txBox="1"/>
            <p:nvPr/>
          </p:nvSpPr>
          <p:spPr>
            <a:xfrm>
              <a:off x="9444076" y="44748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285" name="Line 285"/>
            <p:cNvSpPr/>
            <p:nvPr/>
          </p:nvSpPr>
          <p:spPr>
            <a:xfrm>
              <a:off x="10039350" y="43815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86" name="TextBox 286"/>
            <p:cNvSpPr txBox="1"/>
            <p:nvPr/>
          </p:nvSpPr>
          <p:spPr>
            <a:xfrm>
              <a:off x="10001269" y="44748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7" name="Line 287"/>
            <p:cNvSpPr/>
            <p:nvPr/>
          </p:nvSpPr>
          <p:spPr>
            <a:xfrm>
              <a:off x="10563225" y="43815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88" name="TextBox 288"/>
            <p:cNvSpPr txBox="1"/>
            <p:nvPr/>
          </p:nvSpPr>
          <p:spPr>
            <a:xfrm>
              <a:off x="10525144" y="44748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9" name="Line 289"/>
            <p:cNvSpPr/>
            <p:nvPr/>
          </p:nvSpPr>
          <p:spPr>
            <a:xfrm>
              <a:off x="11087100" y="4381500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90" name="TextBox 290"/>
            <p:cNvSpPr txBox="1"/>
            <p:nvPr/>
          </p:nvSpPr>
          <p:spPr>
            <a:xfrm>
              <a:off x="11049019" y="44748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1" name="Line 291"/>
            <p:cNvSpPr/>
            <p:nvPr/>
          </p:nvSpPr>
          <p:spPr>
            <a:xfrm>
              <a:off x="8524875" y="4140518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92" name="TextBox 292"/>
            <p:cNvSpPr txBox="1"/>
            <p:nvPr/>
          </p:nvSpPr>
          <p:spPr>
            <a:xfrm>
              <a:off x="8358264" y="408146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293" name="Line 293"/>
            <p:cNvSpPr/>
            <p:nvPr/>
          </p:nvSpPr>
          <p:spPr>
            <a:xfrm>
              <a:off x="8524875" y="359664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94" name="TextBox 294"/>
            <p:cNvSpPr txBox="1"/>
            <p:nvPr/>
          </p:nvSpPr>
          <p:spPr>
            <a:xfrm>
              <a:off x="8424901" y="353758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5" name="Line 295"/>
            <p:cNvSpPr/>
            <p:nvPr/>
          </p:nvSpPr>
          <p:spPr>
            <a:xfrm>
              <a:off x="8524875" y="305371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96" name="TextBox 296"/>
            <p:cNvSpPr txBox="1"/>
            <p:nvPr/>
          </p:nvSpPr>
          <p:spPr>
            <a:xfrm>
              <a:off x="8424901" y="299466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97" name="Line 297"/>
            <p:cNvSpPr/>
            <p:nvPr/>
          </p:nvSpPr>
          <p:spPr>
            <a:xfrm>
              <a:off x="8524875" y="251079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98" name="TextBox 298"/>
            <p:cNvSpPr txBox="1"/>
            <p:nvPr/>
          </p:nvSpPr>
          <p:spPr>
            <a:xfrm>
              <a:off x="8358264" y="245173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99" name="TextBox 299"/>
            <p:cNvSpPr txBox="1"/>
            <p:nvPr/>
          </p:nvSpPr>
          <p:spPr>
            <a:xfrm>
              <a:off x="9480301" y="4638199"/>
              <a:ext cx="111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标准正态分位数 zᵢ</a:t>
              </a:r>
            </a:p>
          </p:txBody>
        </p:sp>
        <p:sp>
          <p:nvSpPr>
            <p:cNvPr id="300" name="TextBox 300"/>
            <p:cNvSpPr txBox="1"/>
            <p:nvPr/>
          </p:nvSpPr>
          <p:spPr>
            <a:xfrm>
              <a:off x="8624697" y="19521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样本分位数</a:t>
              </a:r>
            </a:p>
          </p:txBody>
        </p:sp>
        <p:sp>
          <p:nvSpPr>
            <p:cNvPr id="301" name="Line 301"/>
            <p:cNvSpPr/>
            <p:nvPr/>
          </p:nvSpPr>
          <p:spPr>
            <a:xfrm>
              <a:off x="8572500" y="3322320"/>
              <a:ext cx="2933700" cy="551497"/>
            </a:xfrm>
            <a:custGeom>
              <a:avLst/>
              <a:gdLst/>
              <a:ahLst/>
              <a:cxnLst/>
              <a:rect l="l" t="t" r="r" b="b"/>
              <a:pathLst>
                <a:path w="2933700" h="551497">
                  <a:moveTo>
                    <a:pt x="0" y="551497"/>
                  </a:moveTo>
                  <a:lnTo>
                    <a:pt x="2933700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302" name="Ellipse 302"/>
            <p:cNvSpPr/>
            <p:nvPr/>
          </p:nvSpPr>
          <p:spPr>
            <a:xfrm>
              <a:off x="8662035" y="423386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03" name="Ellipse 303"/>
            <p:cNvSpPr/>
            <p:nvPr/>
          </p:nvSpPr>
          <p:spPr>
            <a:xfrm>
              <a:off x="8874442" y="417671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04" name="Ellipse 304"/>
            <p:cNvSpPr/>
            <p:nvPr/>
          </p:nvSpPr>
          <p:spPr>
            <a:xfrm>
              <a:off x="8984932" y="412718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05" name="Ellipse 305"/>
            <p:cNvSpPr/>
            <p:nvPr/>
          </p:nvSpPr>
          <p:spPr>
            <a:xfrm>
              <a:off x="9062085" y="390906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06" name="Ellipse 306"/>
            <p:cNvSpPr/>
            <p:nvPr/>
          </p:nvSpPr>
          <p:spPr>
            <a:xfrm>
              <a:off x="9123998" y="381285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07" name="Ellipse 307"/>
            <p:cNvSpPr/>
            <p:nvPr/>
          </p:nvSpPr>
          <p:spPr>
            <a:xfrm>
              <a:off x="9174480" y="380238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08" name="Ellipse 308"/>
            <p:cNvSpPr/>
            <p:nvPr/>
          </p:nvSpPr>
          <p:spPr>
            <a:xfrm>
              <a:off x="9218295" y="377952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09" name="Ellipse 309"/>
            <p:cNvSpPr/>
            <p:nvPr/>
          </p:nvSpPr>
          <p:spPr>
            <a:xfrm>
              <a:off x="9257348" y="376809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10" name="Ellipse 310"/>
            <p:cNvSpPr/>
            <p:nvPr/>
          </p:nvSpPr>
          <p:spPr>
            <a:xfrm>
              <a:off x="9292590" y="375761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11" name="Ellipse 311"/>
            <p:cNvSpPr/>
            <p:nvPr/>
          </p:nvSpPr>
          <p:spPr>
            <a:xfrm>
              <a:off x="9324975" y="375094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12" name="Ellipse 312"/>
            <p:cNvSpPr/>
            <p:nvPr/>
          </p:nvSpPr>
          <p:spPr>
            <a:xfrm>
              <a:off x="9355455" y="374332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13" name="Ellipse 313"/>
            <p:cNvSpPr/>
            <p:nvPr/>
          </p:nvSpPr>
          <p:spPr>
            <a:xfrm>
              <a:off x="9383078" y="374332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14" name="Ellipse 314"/>
            <p:cNvSpPr/>
            <p:nvPr/>
          </p:nvSpPr>
          <p:spPr>
            <a:xfrm>
              <a:off x="9408795" y="372618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15" name="Ellipse 315"/>
            <p:cNvSpPr/>
            <p:nvPr/>
          </p:nvSpPr>
          <p:spPr>
            <a:xfrm>
              <a:off x="9433560" y="370427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16" name="Ellipse 316"/>
            <p:cNvSpPr/>
            <p:nvPr/>
          </p:nvSpPr>
          <p:spPr>
            <a:xfrm>
              <a:off x="9457372" y="369760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17" name="Ellipse 317"/>
            <p:cNvSpPr/>
            <p:nvPr/>
          </p:nvSpPr>
          <p:spPr>
            <a:xfrm>
              <a:off x="9480232" y="369379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18" name="Ellipse 318"/>
            <p:cNvSpPr/>
            <p:nvPr/>
          </p:nvSpPr>
          <p:spPr>
            <a:xfrm>
              <a:off x="9501188" y="368998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19" name="Ellipse 319"/>
            <p:cNvSpPr/>
            <p:nvPr/>
          </p:nvSpPr>
          <p:spPr>
            <a:xfrm>
              <a:off x="9522142" y="368808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20" name="Ellipse 320"/>
            <p:cNvSpPr/>
            <p:nvPr/>
          </p:nvSpPr>
          <p:spPr>
            <a:xfrm>
              <a:off x="9542145" y="367950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21" name="Ellipse 321"/>
            <p:cNvSpPr/>
            <p:nvPr/>
          </p:nvSpPr>
          <p:spPr>
            <a:xfrm>
              <a:off x="9561195" y="366617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22" name="Ellipse 322"/>
            <p:cNvSpPr/>
            <p:nvPr/>
          </p:nvSpPr>
          <p:spPr>
            <a:xfrm>
              <a:off x="9580245" y="365855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23" name="Ellipse 323"/>
            <p:cNvSpPr/>
            <p:nvPr/>
          </p:nvSpPr>
          <p:spPr>
            <a:xfrm>
              <a:off x="9598342" y="365093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24" name="Ellipse 324"/>
            <p:cNvSpPr/>
            <p:nvPr/>
          </p:nvSpPr>
          <p:spPr>
            <a:xfrm>
              <a:off x="9616440" y="364902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25" name="Ellipse 325"/>
            <p:cNvSpPr/>
            <p:nvPr/>
          </p:nvSpPr>
          <p:spPr>
            <a:xfrm>
              <a:off x="9633585" y="364045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26" name="Ellipse 326"/>
            <p:cNvSpPr/>
            <p:nvPr/>
          </p:nvSpPr>
          <p:spPr>
            <a:xfrm>
              <a:off x="9649778" y="363855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27" name="Ellipse 327"/>
            <p:cNvSpPr/>
            <p:nvPr/>
          </p:nvSpPr>
          <p:spPr>
            <a:xfrm>
              <a:off x="9666922" y="363569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28" name="Ellipse 328"/>
            <p:cNvSpPr/>
            <p:nvPr/>
          </p:nvSpPr>
          <p:spPr>
            <a:xfrm>
              <a:off x="9683115" y="363569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29" name="Ellipse 329"/>
            <p:cNvSpPr/>
            <p:nvPr/>
          </p:nvSpPr>
          <p:spPr>
            <a:xfrm>
              <a:off x="9698355" y="363188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30" name="Ellipse 330"/>
            <p:cNvSpPr/>
            <p:nvPr/>
          </p:nvSpPr>
          <p:spPr>
            <a:xfrm>
              <a:off x="9714548" y="362807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31" name="Ellipse 331"/>
            <p:cNvSpPr/>
            <p:nvPr/>
          </p:nvSpPr>
          <p:spPr>
            <a:xfrm>
              <a:off x="9729788" y="362521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32" name="Ellipse 332"/>
            <p:cNvSpPr/>
            <p:nvPr/>
          </p:nvSpPr>
          <p:spPr>
            <a:xfrm>
              <a:off x="9744075" y="362426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33" name="Ellipse 333"/>
            <p:cNvSpPr/>
            <p:nvPr/>
          </p:nvSpPr>
          <p:spPr>
            <a:xfrm>
              <a:off x="9759315" y="362426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34" name="Ellipse 334"/>
            <p:cNvSpPr/>
            <p:nvPr/>
          </p:nvSpPr>
          <p:spPr>
            <a:xfrm>
              <a:off x="9773602" y="362140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35" name="Ellipse 335"/>
            <p:cNvSpPr/>
            <p:nvPr/>
          </p:nvSpPr>
          <p:spPr>
            <a:xfrm>
              <a:off x="9788842" y="361854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36" name="Ellipse 336"/>
            <p:cNvSpPr/>
            <p:nvPr/>
          </p:nvSpPr>
          <p:spPr>
            <a:xfrm>
              <a:off x="9803130" y="361854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37" name="Ellipse 337"/>
            <p:cNvSpPr/>
            <p:nvPr/>
          </p:nvSpPr>
          <p:spPr>
            <a:xfrm>
              <a:off x="9816465" y="361759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38" name="Ellipse 338"/>
            <p:cNvSpPr/>
            <p:nvPr/>
          </p:nvSpPr>
          <p:spPr>
            <a:xfrm>
              <a:off x="9830752" y="361283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39" name="Ellipse 339"/>
            <p:cNvSpPr/>
            <p:nvPr/>
          </p:nvSpPr>
          <p:spPr>
            <a:xfrm>
              <a:off x="9845040" y="360807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40" name="Ellipse 340"/>
            <p:cNvSpPr/>
            <p:nvPr/>
          </p:nvSpPr>
          <p:spPr>
            <a:xfrm>
              <a:off x="9858375" y="360426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41" name="Ellipse 341"/>
            <p:cNvSpPr/>
            <p:nvPr/>
          </p:nvSpPr>
          <p:spPr>
            <a:xfrm>
              <a:off x="9872662" y="359568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42" name="Ellipse 342"/>
            <p:cNvSpPr/>
            <p:nvPr/>
          </p:nvSpPr>
          <p:spPr>
            <a:xfrm>
              <a:off x="9885997" y="359187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43" name="Ellipse 343"/>
            <p:cNvSpPr/>
            <p:nvPr/>
          </p:nvSpPr>
          <p:spPr>
            <a:xfrm>
              <a:off x="9899332" y="358330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44" name="Ellipse 344"/>
            <p:cNvSpPr/>
            <p:nvPr/>
          </p:nvSpPr>
          <p:spPr>
            <a:xfrm>
              <a:off x="9912667" y="358235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45" name="Ellipse 345"/>
            <p:cNvSpPr/>
            <p:nvPr/>
          </p:nvSpPr>
          <p:spPr>
            <a:xfrm>
              <a:off x="9926002" y="358140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46" name="Ellipse 346"/>
            <p:cNvSpPr/>
            <p:nvPr/>
          </p:nvSpPr>
          <p:spPr>
            <a:xfrm>
              <a:off x="9939338" y="357949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47" name="Ellipse 347"/>
            <p:cNvSpPr/>
            <p:nvPr/>
          </p:nvSpPr>
          <p:spPr>
            <a:xfrm>
              <a:off x="9952672" y="357854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48" name="Ellipse 348"/>
            <p:cNvSpPr/>
            <p:nvPr/>
          </p:nvSpPr>
          <p:spPr>
            <a:xfrm>
              <a:off x="9966008" y="357568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49" name="Ellipse 349"/>
            <p:cNvSpPr/>
            <p:nvPr/>
          </p:nvSpPr>
          <p:spPr>
            <a:xfrm>
              <a:off x="9979342" y="357187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50" name="Ellipse 350"/>
            <p:cNvSpPr/>
            <p:nvPr/>
          </p:nvSpPr>
          <p:spPr>
            <a:xfrm>
              <a:off x="9991725" y="356901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51" name="Ellipse 351"/>
            <p:cNvSpPr/>
            <p:nvPr/>
          </p:nvSpPr>
          <p:spPr>
            <a:xfrm>
              <a:off x="10005060" y="356616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52" name="Ellipse 352"/>
            <p:cNvSpPr/>
            <p:nvPr/>
          </p:nvSpPr>
          <p:spPr>
            <a:xfrm>
              <a:off x="10018395" y="356616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53" name="Ellipse 353"/>
            <p:cNvSpPr/>
            <p:nvPr/>
          </p:nvSpPr>
          <p:spPr>
            <a:xfrm>
              <a:off x="10031730" y="356235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54" name="Ellipse 354"/>
            <p:cNvSpPr/>
            <p:nvPr/>
          </p:nvSpPr>
          <p:spPr>
            <a:xfrm>
              <a:off x="10044112" y="356139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55" name="Ellipse 355"/>
            <p:cNvSpPr/>
            <p:nvPr/>
          </p:nvSpPr>
          <p:spPr>
            <a:xfrm>
              <a:off x="10057447" y="356044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56" name="Ellipse 356"/>
            <p:cNvSpPr/>
            <p:nvPr/>
          </p:nvSpPr>
          <p:spPr>
            <a:xfrm>
              <a:off x="10070782" y="355949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57" name="Ellipse 357"/>
            <p:cNvSpPr/>
            <p:nvPr/>
          </p:nvSpPr>
          <p:spPr>
            <a:xfrm>
              <a:off x="10084117" y="355949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58" name="Ellipse 358"/>
            <p:cNvSpPr/>
            <p:nvPr/>
          </p:nvSpPr>
          <p:spPr>
            <a:xfrm>
              <a:off x="10097452" y="355854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59" name="Ellipse 359"/>
            <p:cNvSpPr/>
            <p:nvPr/>
          </p:nvSpPr>
          <p:spPr>
            <a:xfrm>
              <a:off x="10110788" y="354996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60" name="Ellipse 360"/>
            <p:cNvSpPr/>
            <p:nvPr/>
          </p:nvSpPr>
          <p:spPr>
            <a:xfrm>
              <a:off x="10124122" y="354520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61" name="Ellipse 361"/>
            <p:cNvSpPr/>
            <p:nvPr/>
          </p:nvSpPr>
          <p:spPr>
            <a:xfrm>
              <a:off x="10137458" y="354139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62" name="Ellipse 362"/>
            <p:cNvSpPr/>
            <p:nvPr/>
          </p:nvSpPr>
          <p:spPr>
            <a:xfrm>
              <a:off x="10150792" y="353758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63" name="Ellipse 363"/>
            <p:cNvSpPr/>
            <p:nvPr/>
          </p:nvSpPr>
          <p:spPr>
            <a:xfrm>
              <a:off x="10165080" y="353568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64" name="Ellipse 364"/>
            <p:cNvSpPr/>
            <p:nvPr/>
          </p:nvSpPr>
          <p:spPr>
            <a:xfrm>
              <a:off x="10178415" y="352901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65" name="Ellipse 365"/>
            <p:cNvSpPr/>
            <p:nvPr/>
          </p:nvSpPr>
          <p:spPr>
            <a:xfrm>
              <a:off x="10192702" y="352806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66" name="Ellipse 366"/>
            <p:cNvSpPr/>
            <p:nvPr/>
          </p:nvSpPr>
          <p:spPr>
            <a:xfrm>
              <a:off x="10206990" y="352710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67" name="Ellipse 367"/>
            <p:cNvSpPr/>
            <p:nvPr/>
          </p:nvSpPr>
          <p:spPr>
            <a:xfrm>
              <a:off x="10220325" y="352139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68" name="Ellipse 368"/>
            <p:cNvSpPr/>
            <p:nvPr/>
          </p:nvSpPr>
          <p:spPr>
            <a:xfrm>
              <a:off x="10234612" y="351663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69" name="Ellipse 369"/>
            <p:cNvSpPr/>
            <p:nvPr/>
          </p:nvSpPr>
          <p:spPr>
            <a:xfrm>
              <a:off x="10249852" y="351663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70" name="Ellipse 370"/>
            <p:cNvSpPr/>
            <p:nvPr/>
          </p:nvSpPr>
          <p:spPr>
            <a:xfrm>
              <a:off x="10264140" y="351567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71" name="Ellipse 371"/>
            <p:cNvSpPr/>
            <p:nvPr/>
          </p:nvSpPr>
          <p:spPr>
            <a:xfrm>
              <a:off x="10279380" y="351282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72" name="Ellipse 372"/>
            <p:cNvSpPr/>
            <p:nvPr/>
          </p:nvSpPr>
          <p:spPr>
            <a:xfrm>
              <a:off x="10293667" y="351282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73" name="Ellipse 373"/>
            <p:cNvSpPr/>
            <p:nvPr/>
          </p:nvSpPr>
          <p:spPr>
            <a:xfrm>
              <a:off x="10308908" y="350996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74" name="Ellipse 374"/>
            <p:cNvSpPr/>
            <p:nvPr/>
          </p:nvSpPr>
          <p:spPr>
            <a:xfrm>
              <a:off x="10325100" y="350901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75" name="Ellipse 375"/>
            <p:cNvSpPr/>
            <p:nvPr/>
          </p:nvSpPr>
          <p:spPr>
            <a:xfrm>
              <a:off x="10340340" y="350520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76" name="Ellipse 376"/>
            <p:cNvSpPr/>
            <p:nvPr/>
          </p:nvSpPr>
          <p:spPr>
            <a:xfrm>
              <a:off x="10356532" y="350424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77" name="Ellipse 377"/>
            <p:cNvSpPr/>
            <p:nvPr/>
          </p:nvSpPr>
          <p:spPr>
            <a:xfrm>
              <a:off x="10373678" y="350139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78" name="Ellipse 378"/>
            <p:cNvSpPr/>
            <p:nvPr/>
          </p:nvSpPr>
          <p:spPr>
            <a:xfrm>
              <a:off x="10389870" y="349186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79" name="Ellipse 379"/>
            <p:cNvSpPr/>
            <p:nvPr/>
          </p:nvSpPr>
          <p:spPr>
            <a:xfrm>
              <a:off x="10407015" y="348710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80" name="Ellipse 380"/>
            <p:cNvSpPr/>
            <p:nvPr/>
          </p:nvSpPr>
          <p:spPr>
            <a:xfrm>
              <a:off x="10425112" y="348519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81" name="Ellipse 381"/>
            <p:cNvSpPr/>
            <p:nvPr/>
          </p:nvSpPr>
          <p:spPr>
            <a:xfrm>
              <a:off x="10443210" y="3483293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82" name="Ellipse 382"/>
            <p:cNvSpPr/>
            <p:nvPr/>
          </p:nvSpPr>
          <p:spPr>
            <a:xfrm>
              <a:off x="10462260" y="347662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83" name="Ellipse 383"/>
            <p:cNvSpPr/>
            <p:nvPr/>
          </p:nvSpPr>
          <p:spPr>
            <a:xfrm>
              <a:off x="10481310" y="347186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84" name="Ellipse 384"/>
            <p:cNvSpPr/>
            <p:nvPr/>
          </p:nvSpPr>
          <p:spPr>
            <a:xfrm>
              <a:off x="10501312" y="346519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85" name="Ellipse 385"/>
            <p:cNvSpPr/>
            <p:nvPr/>
          </p:nvSpPr>
          <p:spPr>
            <a:xfrm>
              <a:off x="10522267" y="346519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86" name="Ellipse 386"/>
            <p:cNvSpPr/>
            <p:nvPr/>
          </p:nvSpPr>
          <p:spPr>
            <a:xfrm>
              <a:off x="10543222" y="346138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87" name="Ellipse 387"/>
            <p:cNvSpPr/>
            <p:nvPr/>
          </p:nvSpPr>
          <p:spPr>
            <a:xfrm>
              <a:off x="10566082" y="345757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88" name="Ellipse 388"/>
            <p:cNvSpPr/>
            <p:nvPr/>
          </p:nvSpPr>
          <p:spPr>
            <a:xfrm>
              <a:off x="10589895" y="344709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89" name="Ellipse 389"/>
            <p:cNvSpPr/>
            <p:nvPr/>
          </p:nvSpPr>
          <p:spPr>
            <a:xfrm>
              <a:off x="10614660" y="344614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90" name="Ellipse 390"/>
            <p:cNvSpPr/>
            <p:nvPr/>
          </p:nvSpPr>
          <p:spPr>
            <a:xfrm>
              <a:off x="10640378" y="343281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91" name="Ellipse 391"/>
            <p:cNvSpPr/>
            <p:nvPr/>
          </p:nvSpPr>
          <p:spPr>
            <a:xfrm>
              <a:off x="10668000" y="343185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92" name="Ellipse 392"/>
            <p:cNvSpPr/>
            <p:nvPr/>
          </p:nvSpPr>
          <p:spPr>
            <a:xfrm>
              <a:off x="10698480" y="340423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93" name="Ellipse 393"/>
            <p:cNvSpPr/>
            <p:nvPr/>
          </p:nvSpPr>
          <p:spPr>
            <a:xfrm>
              <a:off x="10730865" y="339185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94" name="Ellipse 394"/>
            <p:cNvSpPr/>
            <p:nvPr/>
          </p:nvSpPr>
          <p:spPr>
            <a:xfrm>
              <a:off x="10766108" y="338709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95" name="Ellipse 395"/>
            <p:cNvSpPr/>
            <p:nvPr/>
          </p:nvSpPr>
          <p:spPr>
            <a:xfrm>
              <a:off x="10805160" y="335089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96" name="Ellipse 396"/>
            <p:cNvSpPr/>
            <p:nvPr/>
          </p:nvSpPr>
          <p:spPr>
            <a:xfrm>
              <a:off x="10848975" y="3336608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97" name="Ellipse 397"/>
            <p:cNvSpPr/>
            <p:nvPr/>
          </p:nvSpPr>
          <p:spPr>
            <a:xfrm>
              <a:off x="10899458" y="331279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98" name="Ellipse 398"/>
            <p:cNvSpPr/>
            <p:nvPr/>
          </p:nvSpPr>
          <p:spPr>
            <a:xfrm>
              <a:off x="10961370" y="328612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99" name="Ellipse 399"/>
            <p:cNvSpPr/>
            <p:nvPr/>
          </p:nvSpPr>
          <p:spPr>
            <a:xfrm>
              <a:off x="11038522" y="3181350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00" name="Ellipse 400"/>
            <p:cNvSpPr/>
            <p:nvPr/>
          </p:nvSpPr>
          <p:spPr>
            <a:xfrm>
              <a:off x="11149012" y="2935605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01" name="Ellipse 401"/>
            <p:cNvSpPr/>
            <p:nvPr/>
          </p:nvSpPr>
          <p:spPr>
            <a:xfrm>
              <a:off x="11361420" y="2225992"/>
              <a:ext cx="55245" cy="55245"/>
            </a:xfrm>
            <a:prstGeom prst="ellipse">
              <a:avLst/>
            </a:prstGeom>
            <a:solidFill>
              <a:srgbClr val="23613D"/>
            </a:solidFill>
            <a:ln>
              <a:noFill/>
            </a:ln>
          </p:spPr>
        </p:sp>
      </p:grpSp>
      <p:grpSp>
        <p:nvGrpSpPr>
          <p:cNvPr id="410" name="c-qq1"/>
          <p:cNvGrpSpPr/>
          <p:nvPr/>
        </p:nvGrpSpPr>
        <p:grpSpPr>
          <a:xfrm>
            <a:off x="533400" y="5010150"/>
            <a:ext cx="3581400" cy="1352550"/>
            <a:chOff x="533400" y="5010150"/>
            <a:chExt cx="3581400" cy="1352550"/>
          </a:xfrm>
        </p:grpSpPr>
        <p:sp>
          <p:nvSpPr>
            <p:cNvPr id="403" name="Rectangle 403"/>
            <p:cNvSpPr/>
            <p:nvPr/>
          </p:nvSpPr>
          <p:spPr>
            <a:xfrm>
              <a:off x="533400" y="5010150"/>
              <a:ext cx="3581400" cy="1352550"/>
            </a:xfrm>
            <a:prstGeom prst="roundRect">
              <a:avLst>
                <a:gd name="adj" fmla="val 98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4" name="Rectangle 404"/>
            <p:cNvSpPr/>
            <p:nvPr/>
          </p:nvSpPr>
          <p:spPr>
            <a:xfrm>
              <a:off x="542925" y="5143500"/>
              <a:ext cx="47625" cy="10858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5" name="Rectangle 405"/>
            <p:cNvSpPr/>
            <p:nvPr/>
          </p:nvSpPr>
          <p:spPr>
            <a:xfrm>
              <a:off x="742950" y="5133975"/>
              <a:ext cx="110109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406" name="TextBox 406"/>
            <p:cNvSpPr txBox="1"/>
            <p:nvPr/>
          </p:nvSpPr>
          <p:spPr>
            <a:xfrm>
              <a:off x="835457" y="51935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近似一条直线</a:t>
              </a:r>
            </a:p>
          </p:txBody>
        </p:sp>
        <p:sp>
          <p:nvSpPr>
            <p:cNvPr id="407" name="TextBox 407"/>
            <p:cNvSpPr txBox="1"/>
            <p:nvPr/>
          </p:nvSpPr>
          <p:spPr>
            <a:xfrm>
              <a:off x="737235" y="551735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点基本落在参考直线上，两端只有少许</a:t>
              </a:r>
            </a:p>
          </p:txBody>
        </p:sp>
        <p:sp>
          <p:nvSpPr>
            <p:cNvPr id="408" name="TextBox 408"/>
            <p:cNvSpPr txBox="1"/>
            <p:nvPr/>
          </p:nvSpPr>
          <p:spPr>
            <a:xfrm>
              <a:off x="737235" y="572690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随机偏离，可以认为数据近似正态。</a:t>
              </a:r>
            </a:p>
          </p:txBody>
        </p:sp>
        <p:sp>
          <p:nvSpPr>
            <p:cNvPr id="409" name="TextBox 409"/>
            <p:cNvSpPr txBox="1"/>
            <p:nvPr/>
          </p:nvSpPr>
          <p:spPr>
            <a:xfrm>
              <a:off x="737235" y="5936456"/>
              <a:ext cx="2544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参考直线过两个四分位点（qqline）。</a:t>
              </a:r>
            </a:p>
          </p:txBody>
        </p:sp>
      </p:grpSp>
      <p:grpSp>
        <p:nvGrpSpPr>
          <p:cNvPr id="418" name="c-qq2"/>
          <p:cNvGrpSpPr/>
          <p:nvPr/>
        </p:nvGrpSpPr>
        <p:grpSpPr>
          <a:xfrm>
            <a:off x="4305300" y="5010150"/>
            <a:ext cx="3581400" cy="1352550"/>
            <a:chOff x="4305300" y="5010150"/>
            <a:chExt cx="3581400" cy="1352550"/>
          </a:xfrm>
        </p:grpSpPr>
        <p:sp>
          <p:nvSpPr>
            <p:cNvPr id="411" name="Rectangle 411"/>
            <p:cNvSpPr/>
            <p:nvPr/>
          </p:nvSpPr>
          <p:spPr>
            <a:xfrm>
              <a:off x="4305300" y="5010150"/>
              <a:ext cx="3581400" cy="1352550"/>
            </a:xfrm>
            <a:prstGeom prst="roundRect">
              <a:avLst>
                <a:gd name="adj" fmla="val 98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2" name="Rectangle 412"/>
            <p:cNvSpPr/>
            <p:nvPr/>
          </p:nvSpPr>
          <p:spPr>
            <a:xfrm>
              <a:off x="4314825" y="5143500"/>
              <a:ext cx="47625" cy="10858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13" name="Rectangle 413"/>
            <p:cNvSpPr/>
            <p:nvPr/>
          </p:nvSpPr>
          <p:spPr>
            <a:xfrm>
              <a:off x="4514850" y="5133975"/>
              <a:ext cx="124301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4" name="TextBox 414"/>
            <p:cNvSpPr txBox="1"/>
            <p:nvPr/>
          </p:nvSpPr>
          <p:spPr>
            <a:xfrm>
              <a:off x="4603407" y="51935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下凸曲线：右偏</a:t>
              </a:r>
            </a:p>
          </p:txBody>
        </p:sp>
        <p:sp>
          <p:nvSpPr>
            <p:cNvPr id="415" name="TextBox 415"/>
            <p:cNvSpPr txBox="1"/>
            <p:nvPr/>
          </p:nvSpPr>
          <p:spPr>
            <a:xfrm>
              <a:off x="4509135" y="551735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左端点压在直线上方且很平（数据不会</a:t>
              </a:r>
            </a:p>
          </p:txBody>
        </p:sp>
        <p:sp>
          <p:nvSpPr>
            <p:cNvPr id="416" name="TextBox 416"/>
            <p:cNvSpPr txBox="1"/>
            <p:nvPr/>
          </p:nvSpPr>
          <p:spPr>
            <a:xfrm>
              <a:off x="4509135" y="5726906"/>
              <a:ext cx="2702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小于 0），右端点迅速上翘到直线上方：</a:t>
              </a:r>
            </a:p>
          </p:txBody>
        </p:sp>
        <p:sp>
          <p:nvSpPr>
            <p:cNvPr id="417" name="TextBox 417"/>
            <p:cNvSpPr txBox="1"/>
            <p:nvPr/>
          </p:nvSpPr>
          <p:spPr>
            <a:xfrm>
              <a:off x="4509135" y="593645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右边尾巴长。取对数后就会变直。</a:t>
              </a:r>
            </a:p>
          </p:txBody>
        </p:sp>
      </p:grpSp>
      <p:grpSp>
        <p:nvGrpSpPr>
          <p:cNvPr id="426" name="c-qq3"/>
          <p:cNvGrpSpPr/>
          <p:nvPr/>
        </p:nvGrpSpPr>
        <p:grpSpPr>
          <a:xfrm>
            <a:off x="8077200" y="5010150"/>
            <a:ext cx="3581400" cy="1352550"/>
            <a:chOff x="8077200" y="5010150"/>
            <a:chExt cx="3581400" cy="1352550"/>
          </a:xfrm>
        </p:grpSpPr>
        <p:sp>
          <p:nvSpPr>
            <p:cNvPr id="419" name="Rectangle 419"/>
            <p:cNvSpPr/>
            <p:nvPr/>
          </p:nvSpPr>
          <p:spPr>
            <a:xfrm>
              <a:off x="8077200" y="5010150"/>
              <a:ext cx="3581400" cy="1352550"/>
            </a:xfrm>
            <a:prstGeom prst="roundRect">
              <a:avLst>
                <a:gd name="adj" fmla="val 98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0" name="Rectangle 420"/>
            <p:cNvSpPr/>
            <p:nvPr/>
          </p:nvSpPr>
          <p:spPr>
            <a:xfrm>
              <a:off x="8086725" y="5143500"/>
              <a:ext cx="47625" cy="10858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21" name="Rectangle 421"/>
            <p:cNvSpPr/>
            <p:nvPr/>
          </p:nvSpPr>
          <p:spPr>
            <a:xfrm>
              <a:off x="8286750" y="5133975"/>
              <a:ext cx="94392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2" name="TextBox 422"/>
            <p:cNvSpPr txBox="1"/>
            <p:nvPr/>
          </p:nvSpPr>
          <p:spPr>
            <a:xfrm>
              <a:off x="8379882" y="5193506"/>
              <a:ext cx="756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S 形：重尾</a:t>
              </a:r>
            </a:p>
          </p:txBody>
        </p:sp>
        <p:sp>
          <p:nvSpPr>
            <p:cNvPr id="423" name="TextBox 423"/>
            <p:cNvSpPr txBox="1"/>
            <p:nvPr/>
          </p:nvSpPr>
          <p:spPr>
            <a:xfrm>
              <a:off x="8281035" y="551735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中间贴着直线，左端点在直线下方、</a:t>
              </a:r>
            </a:p>
          </p:txBody>
        </p:sp>
        <p:sp>
          <p:nvSpPr>
            <p:cNvPr id="424" name="TextBox 424"/>
            <p:cNvSpPr txBox="1"/>
            <p:nvPr/>
          </p:nvSpPr>
          <p:spPr>
            <a:xfrm>
              <a:off x="8281035" y="572690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右端点在直线上方：两端比正态分布</a:t>
              </a:r>
            </a:p>
          </p:txBody>
        </p:sp>
        <p:sp>
          <p:nvSpPr>
            <p:cNvPr id="425" name="TextBox 425"/>
            <p:cNvSpPr txBox="1"/>
            <p:nvPr/>
          </p:nvSpPr>
          <p:spPr>
            <a:xfrm>
              <a:off x="8281035" y="59364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伸得更远，极端值更多。</a:t>
              </a:r>
            </a:p>
          </p:txBody>
        </p:sp>
      </p:grpSp>
      <p:grpSp>
        <p:nvGrpSpPr>
          <p:cNvPr id="42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7" name="TextBox 42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428" name="TextBox 42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统计图形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散点图、曲线图与散点图矩阵：看变量之间的关系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4977765" cy="2702242"/>
            <a:chOff x="533400" y="1524000"/>
            <a:chExt cx="4977765" cy="27022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229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85009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画法与用途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03427" y="1659731"/>
              <a:ext cx="520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 函数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33505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散点图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36598" y="2108359"/>
              <a:ext cx="212623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(xᵢ, yᵢ) 描点，看是否相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关、线性还是非线性、有无离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群点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24540" y="233505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plot(x, y)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86988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874645"/>
              <a:ext cx="497776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312372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曲线图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36598" y="3010376"/>
              <a:ext cx="215061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x 排序后连线，适合随时间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或参数连续变化的量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24540" y="3010376"/>
              <a:ext cx="8745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plot(x, y,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type = "l")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4615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79904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散点图矩阵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36598" y="3685699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多个变量两两作散点图，排成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矩阵，一次看完所有变量对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24540" y="3799046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pairs(df)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4977765" cy="27022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624012" y="1524000"/>
              <a:ext cx="9525" cy="27022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211955" y="1524000"/>
              <a:ext cx="9525" cy="27022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0" name="c1-code-2"/>
          <p:cNvGrpSpPr/>
          <p:nvPr/>
        </p:nvGrpSpPr>
        <p:grpSpPr>
          <a:xfrm>
            <a:off x="533400" y="4416742"/>
            <a:ext cx="4977765" cy="1110615"/>
            <a:chOff x="533400" y="4416742"/>
            <a:chExt cx="4977765" cy="1110615"/>
          </a:xfrm>
        </p:grpSpPr>
        <p:sp>
          <p:nvSpPr>
            <p:cNvPr id="27" name="Rectangle 27"/>
            <p:cNvSpPr/>
            <p:nvPr/>
          </p:nvSpPr>
          <p:spPr>
            <a:xfrm>
              <a:off x="533400" y="4416742"/>
              <a:ext cx="4977765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1797" y="4568666"/>
              <a:ext cx="16735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R：鸢尾花数据的散点图矩阵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1035" y="4830604"/>
              <a:ext cx="2827782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pairs(iris[1:4], col = iris$Species)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或 GGally::ggpairs(iris[1:4])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cor(iris[1:4])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相关系数矩阵</a:t>
              </a:r>
            </a:p>
          </p:txBody>
        </p:sp>
      </p:grpSp>
      <p:grpSp>
        <p:nvGrpSpPr>
          <p:cNvPr id="69" name="c2-table-1"/>
          <p:cNvGrpSpPr/>
          <p:nvPr/>
        </p:nvGrpSpPr>
        <p:grpSpPr>
          <a:xfrm>
            <a:off x="5810250" y="1524000"/>
            <a:ext cx="5848350" cy="2739866"/>
            <a:chOff x="5810250" y="1524000"/>
            <a:chExt cx="5848350" cy="2739866"/>
          </a:xfrm>
        </p:grpSpPr>
        <p:sp>
          <p:nvSpPr>
            <p:cNvPr id="31" name="Rectangle 31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8319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萼长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5379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萼宽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02438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瓣长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99498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瓣宽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23788" y="2108359"/>
              <a:ext cx="15731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萼长 Sepal.Length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0812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89174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−0.12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07158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0.87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77756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15965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23788" y="2556986"/>
              <a:ext cx="14645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萼宽 Sepal.Width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18577" y="255698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−0.12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78719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59772" y="255698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−0.43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930369" y="255698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−0.37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15965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23788" y="3005614"/>
              <a:ext cx="15731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瓣长 Petal.Length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65963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0.87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89174" y="300561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−0.43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14931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697528" y="2880360"/>
              <a:ext cx="95154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977756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0.96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815965" y="33147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815965" y="331946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923788" y="3454241"/>
              <a:ext cx="14645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瓣宽 Petal.Width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65963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989174" y="345424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−0.37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726930" y="3328988"/>
              <a:ext cx="95154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007158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0.96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119914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815965" y="1524000"/>
              <a:ext cx="584263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77240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74204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71264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1068324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810250" y="3843814"/>
              <a:ext cx="55943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三种鸢尾花共 150 个样品，花萼、花瓣长宽的相关系数（原课件散点图矩阵上三角标出的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数值）</a:t>
              </a:r>
            </a:p>
          </p:txBody>
        </p:sp>
      </p:grpSp>
      <p:grpSp>
        <p:nvGrpSpPr>
          <p:cNvPr id="75" name="c2-callout-2"/>
          <p:cNvGrpSpPr/>
          <p:nvPr/>
        </p:nvGrpSpPr>
        <p:grpSpPr>
          <a:xfrm>
            <a:off x="5815965" y="4410075"/>
            <a:ext cx="5842635" cy="533400"/>
            <a:chOff x="5815965" y="4410075"/>
            <a:chExt cx="5842635" cy="533400"/>
          </a:xfrm>
        </p:grpSpPr>
        <p:sp>
          <p:nvSpPr>
            <p:cNvPr id="70" name="Rectangle 70"/>
            <p:cNvSpPr/>
            <p:nvPr/>
          </p:nvSpPr>
          <p:spPr>
            <a:xfrm>
              <a:off x="5815965" y="4410075"/>
              <a:ext cx="5842635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6020753" y="4576763"/>
              <a:ext cx="200026" cy="200026"/>
              <a:chOff x="6020753" y="4576763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6020753" y="45767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087428" y="46545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6322695" y="4572000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花瓣长与花瓣宽 r = 0.96，散点几乎排成一条直线。</a:t>
              </a:r>
            </a:p>
          </p:txBody>
        </p:sp>
      </p:grpSp>
      <p:grpSp>
        <p:nvGrpSpPr>
          <p:cNvPr id="82" name="c2-callout-3"/>
          <p:cNvGrpSpPr/>
          <p:nvPr/>
        </p:nvGrpSpPr>
        <p:grpSpPr>
          <a:xfrm>
            <a:off x="5815965" y="5133975"/>
            <a:ext cx="5842635" cy="782955"/>
            <a:chOff x="5815965" y="5133975"/>
            <a:chExt cx="5842635" cy="782955"/>
          </a:xfrm>
        </p:grpSpPr>
        <p:sp>
          <p:nvSpPr>
            <p:cNvPr id="76" name="Rectangle 76"/>
            <p:cNvSpPr/>
            <p:nvPr/>
          </p:nvSpPr>
          <p:spPr>
            <a:xfrm>
              <a:off x="5815965" y="513397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6008694" y="5421748"/>
              <a:ext cx="224134" cy="192560"/>
              <a:chOff x="6008694" y="5421748"/>
              <a:chExt cx="224134" cy="19256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6120765" y="54921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008694" y="54217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6120765" y="5569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6322695" y="5282565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原图中不少散点按品种分成几团。只看一个相关系数会漏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掉这种分组结构，所以要画散点图矩阵。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统计图形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自测题（一）：数据分析与矩阵分解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1743075"/>
            <a:chOff x="533400" y="1524000"/>
            <a:chExt cx="3505200" cy="17430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29403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 12, 15, 17, 20, 26, 31, 45 的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五数总括是什么？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612708"/>
              <a:ext cx="29455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d(M) = 4，M = 20；d(F) = 2.5，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 = 16，Fu = 28.5；极端值 12、45。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436620"/>
            <a:ext cx="3505200" cy="2257425"/>
            <a:chOff x="533400" y="3436620"/>
            <a:chExt cx="3505200" cy="2257425"/>
          </a:xfrm>
        </p:grpSpPr>
        <p:sp>
          <p:nvSpPr>
            <p:cNvPr id="13" name="Rectangle 13"/>
            <p:cNvSpPr/>
            <p:nvPr/>
          </p:nvSpPr>
          <p:spPr>
            <a:xfrm>
              <a:off x="533400" y="3436620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62331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65617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3968115"/>
              <a:ext cx="2797635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Schmidt 正交化分解 A = (1 1; 1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0)（列 α₁ = (1,1)ᵀ，α₂ =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(1,0)ᵀ）。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4782502"/>
              <a:ext cx="287693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β₁ = (1,1)ᵀ/√2；(α₂,β₁) = 1/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√2，β₂′ = (½, −½)ᵀ，β₂ = (1,−1)ᵀ/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√2；R = (√2 1/√2; 0 1/√2)。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000250"/>
            <a:chOff x="4343400" y="1524000"/>
            <a:chExt cx="35052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3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1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3232" y="2054542"/>
              <a:ext cx="286064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 1, 2, 3, 4, 100 中的 100 是异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常值吗？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3232" y="2612708"/>
              <a:ext cx="300551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 = 2，Fu = 4，dF = 2，上内限 4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+ 3 = 7。100 &gt; 7，是异常值，上须线只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画到 4。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693795"/>
            <a:ext cx="3505200" cy="2000250"/>
            <a:chOff x="4343400" y="3693795"/>
            <a:chExt cx="3505200" cy="2000250"/>
          </a:xfrm>
        </p:grpSpPr>
        <p:sp>
          <p:nvSpPr>
            <p:cNvPr id="25" name="Rectangle 25"/>
            <p:cNvSpPr/>
            <p:nvPr/>
          </p:nvSpPr>
          <p:spPr>
            <a:xfrm>
              <a:off x="4343400" y="3693795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0090" y="388048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9547" y="391334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3232" y="4225290"/>
              <a:ext cx="28996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奇异值为 10、4、1，秩 1 近似的误差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‖A − A₁‖_F 和信息占比是多少？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3232" y="4782502"/>
              <a:ext cx="28340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 √(4² + 1²) = √17 ≈ 4.12；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占比 100/117 ≈ 85.5%。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4170045"/>
            <a:chOff x="8153400" y="1524000"/>
            <a:chExt cx="3505200" cy="417004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4170045"/>
            </a:xfrm>
            <a:prstGeom prst="roundRect">
              <a:avLst>
                <a:gd name="adj" fmla="val 380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4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2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3232" y="2054542"/>
              <a:ext cx="2791635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组均值 50、标准差 5；B 组均值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500、标准差 20。哪组相对波动大？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3232" y="2612708"/>
              <a:ext cx="29197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CV_A = 0.10，CV_B = 0.04，A 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相对波动大。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 · 统计图形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自测题（二）：广义逆、投影与统计图形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223135"/>
            <a:chOff x="533400" y="1524000"/>
            <a:chExt cx="3505200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2767013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(1, 1)ᵀ，G = (½, ½)，G 是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A⁺ 吗？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26727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是。GA = 1，AG = ½(1 1; 1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1)，四个条件都满足；也等于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(AᵀA)⁻¹Aᵀ。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37635"/>
            <a:ext cx="3505200" cy="2223135"/>
            <a:chOff x="533400" y="3937635"/>
            <a:chExt cx="3505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93763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524375"/>
              <a:ext cx="2911793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对数正态样本的 QQ 图为什么是下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凸曲线？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5145405"/>
              <a:ext cx="2872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x₍ᵢ₎ ≈ exp(μ + σzᵢ) 是 zᵢ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的凸函数，两端都在参考线上方，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说明数据右偏。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223135"/>
            <a:chOff x="4343400" y="1524000"/>
            <a:chExt cx="3505200" cy="222313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5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4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45330" y="2110740"/>
              <a:ext cx="293131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是对称幂等阵，I − P 是不是？它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投影到哪里？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45330" y="2731770"/>
              <a:ext cx="29108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是。(I − P)² = I − 2P + P² = I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P，且对称；它投到 μ(P) 的正交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补上，得到残差。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937635"/>
            <a:ext cx="3505200" cy="2223135"/>
            <a:chOff x="4343400" y="3937635"/>
            <a:chExt cx="3505200" cy="2223135"/>
          </a:xfrm>
        </p:grpSpPr>
        <p:sp>
          <p:nvSpPr>
            <p:cNvPr id="25" name="Rectangle 25"/>
            <p:cNvSpPr/>
            <p:nvPr/>
          </p:nvSpPr>
          <p:spPr>
            <a:xfrm>
              <a:off x="4343400" y="393763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5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4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45330" y="4524375"/>
              <a:ext cx="291226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核密度估计的带宽 h 取得过大或过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小会怎样？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45330" y="5145405"/>
              <a:ext cx="2872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过大时曲线太平滑，会抹掉双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峰等结构；过小时起伏多，出现许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多假的小峰。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4636770"/>
            <a:chOff x="8153400" y="1524000"/>
            <a:chExt cx="3505200" cy="4636770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4636770"/>
            </a:xfrm>
            <a:prstGeom prst="roundRect">
              <a:avLst>
                <a:gd name="adj" fmla="val 380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6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5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5330" y="2110740"/>
              <a:ext cx="2912269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 QQ 图中左端点在参考线下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方、右端点在上方，呈 S 形，说明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5330" y="3017520"/>
              <a:ext cx="2872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两端比正态分布伸得更远，数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据是重尾的（如 t 分布、柯西分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布）。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基础知识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bullets-1"/>
          <p:cNvGrpSpPr/>
          <p:nvPr/>
        </p:nvGrpSpPr>
        <p:grpSpPr>
          <a:xfrm>
            <a:off x="533400" y="1535430"/>
            <a:ext cx="5659755" cy="3804285"/>
            <a:chOff x="533400" y="1535430"/>
            <a:chExt cx="5659755" cy="3804285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1548765"/>
              <a:ext cx="5075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EDA 少做假定，强调耐抗性、残差、重新表述和图形启示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8023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19225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1893570"/>
              <a:ext cx="5073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五数总括：中位数、两个四分数、两个极端值；深度 d(M) =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(n+1)/2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51079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5530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524125"/>
              <a:ext cx="534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统计量分位置、分散程度、分布形状、相关四类；样本方差除以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− 1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14134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31836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3154680"/>
              <a:ext cx="4582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Schmidt 正交化逐列减投影再单位化，得到 A = QR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48615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35284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3499485"/>
              <a:ext cx="5358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SVD：A = UΣVᵀ，σᵢ² 是 AᵀA 的特征值；前 k 项给出最优秩 k 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411670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5249" y="41589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4390" y="4130040"/>
              <a:ext cx="5282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加号逆由四个条件唯一确定；P 对称幂等时是向 μ(P) 的正交投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影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474726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5249" y="47895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4390" y="4760595"/>
              <a:ext cx="5311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直方图、核密度、盒形图看分布，QQ 图看是否正态，散点图矩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阵看变量关系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789420" y="1524000"/>
            <a:ext cx="4869180" cy="3756660"/>
            <a:chOff x="6789420" y="1524000"/>
            <a:chExt cx="4869180" cy="3756660"/>
          </a:xfrm>
        </p:grpSpPr>
        <p:sp>
          <p:nvSpPr>
            <p:cNvPr id="29" name="Rectangle 29"/>
            <p:cNvSpPr/>
            <p:nvPr/>
          </p:nvSpPr>
          <p:spPr>
            <a:xfrm>
              <a:off x="6789420" y="1524000"/>
              <a:ext cx="4869180" cy="3756660"/>
            </a:xfrm>
            <a:prstGeom prst="roundRect">
              <a:avLst>
                <a:gd name="adj" fmla="val 35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98945" y="1657350"/>
              <a:ext cx="47625" cy="34899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037070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93776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042785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200900" y="2110740"/>
              <a:ext cx="3939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拼写：Resistnace → Resistance，Schimidt →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Schmidt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042785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00900" y="2731770"/>
              <a:ext cx="41525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QR 例题：β₃ 算错，R 中 1.7885 应为 1.7889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042785" y="312991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00900" y="3067050"/>
              <a:ext cx="4034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特征值分解的适用条件；AᵀA 实有 8 个非零特征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042785" y="375094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00900" y="3688080"/>
              <a:ext cx="3437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至尊宝对《寂静岭》的打分应约为 2.7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042785" y="408622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00900" y="4023360"/>
              <a:ext cx="41722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D⁺ 的维数；叉积阵正定条件应为 rank(A) = m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042785" y="44215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00900" y="4358640"/>
              <a:ext cx="17316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正交定义漏写“= 0”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6" name="Rectangle 4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5991225"/>
              <a:ext cx="88529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复习时动手算一遍：五数总括、3 阶矩阵的 QR、2×3 矩阵的 SVD、三个点的投影阵，再用 R 核对。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第1章 基础知识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tatc_ch1">
  <a:themeElements>
    <a:clrScheme name="statc_ch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tc_ch1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tc_ch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2026-09-17T10:20:27Z</dcterms:created>
  <dcterms:modified xsi:type="dcterms:W3CDTF">2026-09-17T10:20:27Z</dcterms:modified>
  <cp:category/>
  <cp:contentStatus/>
</cp:coreProperties>
</file>