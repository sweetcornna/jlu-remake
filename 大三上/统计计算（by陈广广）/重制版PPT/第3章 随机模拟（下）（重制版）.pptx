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atc_ch3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atc_ch3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c6c7bb58bebf40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443bd361ff2af2a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bf7d84d0bb01fcf.png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95928" cy="3437763"/>
            <a:chOff x="666750" y="1619250"/>
            <a:chExt cx="399592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统计计算 · 第3章（下）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随机模拟（下）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979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排队系统模拟、Bootstrap 与 MCMC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随机过程与马氏链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排队论与离散事件模拟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64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Bootstrap 标准误与区间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799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MH 抽样与 Gibbs 抽样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894345" cy="205359"/>
            <a:chOff x="680466" y="6192202"/>
            <a:chExt cx="489434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自学复习版｜据吉林大学《统计计算》第3章课件（3.6–3.8）整理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735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165" y="407194"/>
              <a:ext cx="150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924585"/>
            <a:chOff x="521970" y="1515428"/>
            <a:chExt cx="6287453" cy="392458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949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3.6.1 随机过程与马尔可夫链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随机过程的分类与数字特征、泊松过程、转移矩阵、极限分布与平稳分布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60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3.6.1 随机服务系统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582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排队系统的结构、Kendall 记号与衡量指标，M/M/1 稳态分布，容量规划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060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3.6.2 离散事件模拟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事件模拟算法估计平均滞留时间，医院预检处排队模拟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150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 Bootstrap 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5483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标准误、均方误差与偏差的估计，分位数法与 bootstrap-t 置信区间，参数</a:t>
              </a:r>
              <a:br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bootstrap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1138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 MCMC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433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细致平稳条件、Metropolis-Hastings 抽样、Gibbs 抽样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66198"/>
            <a:chOff x="7114222" y="1524000"/>
            <a:chExt cx="4544378" cy="3866198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66198"/>
            </a:xfrm>
            <a:prstGeom prst="roundRect">
              <a:avLst>
                <a:gd name="adj" fmla="val 3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9949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由转移矩阵解出平稳分布，并说明马氏链在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什么条件下收敛到它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 M/M/1 的稳态分布，求平均队长和平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均滞留时间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写出单服务台排队的事件模拟算法，并用理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论值检验模拟结果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用非参数和参数 bootstrap 估计标准误、偏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差，求两种 bootstrap 置信区间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M-H 与 Gibbs 抽样的步骤，并用细致平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稳条件说明它们为什么有效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4930" cy="3675697"/>
            <a:chOff x="667512" y="1835468"/>
            <a:chExt cx="643493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49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3.6.1 随机过程与马尔可夫链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6612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描述“随时间演化的随机现象”的数学语言，排队论和 MCMC 都建立在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它上面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随机过程的定义、分类与数字特征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独立增量过程与泊松过程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马尔可夫链的转移矩阵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极限分布与平稳分布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随机过程：以时间为参数的一族随机变量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869180" cy="2360295"/>
            <a:chOff x="533400" y="1524000"/>
            <a:chExt cx="4869180" cy="2360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360295"/>
            </a:xfrm>
            <a:prstGeom prst="roundRect">
              <a:avLst>
                <a:gd name="adj" fmla="val 5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935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2909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随机过程（Stochastic Process）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1628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T 是参数集，对每个 t ∈ T，X(t) 是一个随机变量，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称随机变量族 {X(t), t ∈ T} 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随机过程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2902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称为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时间参数集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，参数通常是时间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X(t) 称为“系统在时刻 t 的状态”，也记作 Xₜ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28612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229927"/>
              <a:ext cx="39999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Xₜ 所有可能的取值构成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状态空间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S；马尔可夫链部分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S 为有限集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053840"/>
            <a:ext cx="4869180" cy="2044065"/>
            <a:chOff x="533400" y="4053840"/>
            <a:chExt cx="4869180" cy="2044065"/>
          </a:xfrm>
        </p:grpSpPr>
        <p:sp>
          <p:nvSpPr>
            <p:cNvPr id="20" name="Rectangle 20"/>
            <p:cNvSpPr/>
            <p:nvPr/>
          </p:nvSpPr>
          <p:spPr>
            <a:xfrm>
              <a:off x="533400" y="4053840"/>
              <a:ext cx="4869180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187190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424053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459" y="427339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与随机变量的关系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332" y="4585335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随机变量是随机现象的数量表现，取值随偶然因素而改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变；随机过程是依赖于参数（通常是时间）的一组随机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变量的全体。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475" y="5396389"/>
              <a:ext cx="41932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例：某商店从时刻 t₀ 到 t₁ 这段时间内接待的顾客人数，是依赖于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 t 的一组随机变量，即随机过程。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5702427" y="1524000"/>
            <a:ext cx="5956173" cy="3463956"/>
            <a:chOff x="5702427" y="1524000"/>
            <a:chExt cx="5956173" cy="3463956"/>
          </a:xfrm>
        </p:grpSpPr>
        <p:sp>
          <p:nvSpPr>
            <p:cNvPr id="27" name="Rectangle 27"/>
            <p:cNvSpPr/>
            <p:nvPr/>
          </p:nvSpPr>
          <p:spPr>
            <a:xfrm>
              <a:off x="5707380" y="1524000"/>
              <a:ext cx="59512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566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1836" y="1645444"/>
              <a:ext cx="870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X(t) 的含义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19237" y="164544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参数集 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14460" y="1645444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状态空间 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04535" y="22455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随机游动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6090" y="2045494"/>
              <a:ext cx="2408174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质点在 t = 0 从原点出发，每个时间单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位以概率 p 右移一格、以概率 q = 1 −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左移一格；X(t) 为时刻 t 的位置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13582" y="224551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…}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25138" y="22455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全体整数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0738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07380" y="2724150"/>
              <a:ext cx="5951220" cy="8001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04535" y="30456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排队问题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16090" y="2845594"/>
              <a:ext cx="242951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顾客到银行办理个人业务，窗口有人时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后来者排队；X(t) 为 t 时刻等待服务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的人数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13582" y="304561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≥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25138" y="3045619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{0, 1, 2, …}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07380" y="35194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04535" y="3645694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股指（按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16090" y="3645694"/>
              <a:ext cx="23797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X(n) 为第 n 天上证综合指数的开盘指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13582" y="374570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…}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25138" y="37457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正实数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41195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07380" y="4124325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04535" y="4245769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股指（实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16090" y="4345781"/>
              <a:ext cx="25324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X(t) 为一天中 t 时刻的上证综合指数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13582" y="434578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≥ 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25138" y="43457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正实数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07380" y="1524000"/>
              <a:ext cx="595122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1417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51166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523220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02427" y="4797266"/>
              <a:ext cx="4889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随机游动得到的 {X(t), t = 1, 2, …} 是随机变量序列，按天记录的股指是随机序列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5707380" y="5119688"/>
            <a:ext cx="5951220" cy="978218"/>
            <a:chOff x="5707380" y="5119688"/>
            <a:chExt cx="5951220" cy="978218"/>
          </a:xfrm>
        </p:grpSpPr>
        <p:sp>
          <p:nvSpPr>
            <p:cNvPr id="59" name="Rectangle 59"/>
            <p:cNvSpPr/>
            <p:nvPr/>
          </p:nvSpPr>
          <p:spPr>
            <a:xfrm>
              <a:off x="5707380" y="5119688"/>
              <a:ext cx="595122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5912168" y="5509260"/>
              <a:ext cx="200026" cy="200026"/>
              <a:chOff x="5912168" y="5509260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5912168" y="55092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012180" y="55759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001068" y="56092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214872" y="5266373"/>
              <a:ext cx="49857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随机过程理论产生于 20 世纪初，是应物理学、生物学、管理科学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等方面的需要逐步发展起来的，在自动控制、公用事业、管理科学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等方面有广泛应用。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按时间和状态是离散还是连续，随机过程分为四类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able-1"/>
          <p:cNvGrpSpPr/>
          <p:nvPr/>
        </p:nvGrpSpPr>
        <p:grpSpPr>
          <a:xfrm>
            <a:off x="533400" y="1524000"/>
            <a:ext cx="5410200" cy="1600200"/>
            <a:chOff x="533400" y="1524000"/>
            <a:chExt cx="5410200" cy="16002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793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9021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状态离散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5429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状态连续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时间离散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24965" y="1933575"/>
              <a:ext cx="2145030" cy="5810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12595" y="2045494"/>
              <a:ext cx="18676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（1）随机游动 X(t)、每天到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店的顾客数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76675" y="2145506"/>
              <a:ext cx="18389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（2）每天的开盘指数 X(n)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519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52412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745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时间连续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624965" y="2533650"/>
              <a:ext cx="2145030" cy="5810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712595" y="2645569"/>
              <a:ext cx="17965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（3）银行等待人数、泊松过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 N(t)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76675" y="2645569"/>
              <a:ext cx="18676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（4）实时股指 X(t)、布朗运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52400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61067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7475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3293745"/>
            <a:ext cx="5410200" cy="2043112"/>
            <a:chOff x="533400" y="3293745"/>
            <a:chExt cx="5410200" cy="2043112"/>
          </a:xfrm>
        </p:grpSpPr>
        <p:sp>
          <p:nvSpPr>
            <p:cNvPr id="25" name="Rectangle 25"/>
            <p:cNvSpPr/>
            <p:nvPr/>
          </p:nvSpPr>
          <p:spPr>
            <a:xfrm>
              <a:off x="533400" y="3293745"/>
              <a:ext cx="541020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427095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8190" y="34804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0862" y="35132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38814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3825240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时间离散：T 是可列集，如 {0, 1, 2, …}，这时 {Xₜ} 也叫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机序列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6762" y="443865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2782" y="4382452"/>
              <a:ext cx="2539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状态离散：S 是有限集或可列集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6762" y="473868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2782" y="4682490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3.6.1 的马尔可夫链是时间离散、状态离散；M/M/1 排队人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数是时间连续、状态离散（表中高亮的两格）</a:t>
              </a:r>
            </a:p>
          </p:txBody>
        </p:sp>
      </p:grpSp>
      <p:grpSp>
        <p:nvGrpSpPr>
          <p:cNvPr id="42" name="c1-callout-3"/>
          <p:cNvGrpSpPr/>
          <p:nvPr/>
        </p:nvGrpSpPr>
        <p:grpSpPr>
          <a:xfrm>
            <a:off x="533400" y="5507355"/>
            <a:ext cx="5410200" cy="729615"/>
            <a:chOff x="533400" y="5507355"/>
            <a:chExt cx="5410200" cy="729615"/>
          </a:xfrm>
        </p:grpSpPr>
        <p:sp>
          <p:nvSpPr>
            <p:cNvPr id="36" name="Rectangle 36"/>
            <p:cNvSpPr/>
            <p:nvPr/>
          </p:nvSpPr>
          <p:spPr>
            <a:xfrm>
              <a:off x="533400" y="550735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772150"/>
              <a:ext cx="200026" cy="200025"/>
              <a:chOff x="738188" y="5772150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7721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8166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9277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5653088"/>
              <a:ext cx="42571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固定 t，X(t) 是一个随机变量；固定一次试验结果，t ↦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X(t) 是一条样本路径（右图）。</a:t>
              </a:r>
            </a:p>
          </p:txBody>
        </p:sp>
      </p:grpSp>
      <p:grpSp>
        <p:nvGrpSpPr>
          <p:cNvPr id="44" name="c2-text-1"/>
          <p:cNvGrpSpPr/>
          <p:nvPr/>
        </p:nvGrpSpPr>
        <p:grpSpPr>
          <a:xfrm>
            <a:off x="6242685" y="1542574"/>
            <a:ext cx="3391038" cy="220028"/>
            <a:chOff x="6242685" y="1542574"/>
            <a:chExt cx="3391038" cy="220028"/>
          </a:xfrm>
        </p:grpSpPr>
        <p:sp>
          <p:nvSpPr>
            <p:cNvPr id="43" name="TextBox 43"/>
            <p:cNvSpPr txBox="1"/>
            <p:nvPr/>
          </p:nvSpPr>
          <p:spPr>
            <a:xfrm>
              <a:off x="6242685" y="1542574"/>
              <a:ext cx="3391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随机游动的一条样本路径（右移 8 次、左移 4 次）</a:t>
              </a:r>
            </a:p>
          </p:txBody>
        </p:sp>
      </p:grpSp>
      <p:grpSp>
        <p:nvGrpSpPr>
          <p:cNvPr id="84" name="c2-graph-2"/>
          <p:cNvGrpSpPr/>
          <p:nvPr/>
        </p:nvGrpSpPr>
        <p:grpSpPr>
          <a:xfrm>
            <a:off x="6423384" y="2006441"/>
            <a:ext cx="5127583" cy="4307395"/>
            <a:chOff x="6423384" y="2006441"/>
            <a:chExt cx="5127583" cy="4307395"/>
          </a:xfrm>
        </p:grpSpPr>
        <p:sp>
          <p:nvSpPr>
            <p:cNvPr id="45" name="Freeform 45"/>
            <p:cNvSpPr/>
            <p:nvPr/>
          </p:nvSpPr>
          <p:spPr>
            <a:xfrm>
              <a:off x="6637972" y="5825490"/>
              <a:ext cx="4806315" cy="9525"/>
            </a:xfrm>
            <a:custGeom>
              <a:avLst/>
              <a:gdLst/>
              <a:ahLst/>
              <a:cxnLst/>
              <a:rect l="l" t="t" r="r" b="b"/>
              <a:pathLst>
                <a:path w="4806315" h="9525">
                  <a:moveTo>
                    <a:pt x="0" y="0"/>
                  </a:moveTo>
                  <a:lnTo>
                    <a:pt x="48063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1444288" y="57778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627495" y="2172652"/>
              <a:ext cx="9525" cy="3642360"/>
            </a:xfrm>
            <a:custGeom>
              <a:avLst/>
              <a:gdLst/>
              <a:ahLst/>
              <a:cxnLst/>
              <a:rect l="l" t="t" r="r" b="b"/>
              <a:pathLst>
                <a:path w="9525" h="3642360">
                  <a:moveTo>
                    <a:pt x="0" y="36423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579870" y="20774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925628" y="4577715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571500"/>
                  </a:moveTo>
                  <a:lnTo>
                    <a:pt x="322897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304722" y="4577715"/>
              <a:ext cx="321945" cy="571500"/>
            </a:xfrm>
            <a:custGeom>
              <a:avLst/>
              <a:gdLst/>
              <a:ahLst/>
              <a:cxnLst/>
              <a:rect l="l" t="t" r="r" b="b"/>
              <a:pathLst>
                <a:path w="321945" h="571500">
                  <a:moveTo>
                    <a:pt x="0" y="0"/>
                  </a:moveTo>
                  <a:lnTo>
                    <a:pt x="321945" y="57150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682865" y="4577715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571500"/>
                  </a:moveTo>
                  <a:lnTo>
                    <a:pt x="322897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061960" y="3907155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571500"/>
                  </a:moveTo>
                  <a:lnTo>
                    <a:pt x="322897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440102" y="3907155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0"/>
                  </a:moveTo>
                  <a:lnTo>
                    <a:pt x="322897" y="57150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819198" y="3907155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571500"/>
                  </a:moveTo>
                  <a:lnTo>
                    <a:pt x="322897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198292" y="3235642"/>
              <a:ext cx="321945" cy="571500"/>
            </a:xfrm>
            <a:custGeom>
              <a:avLst/>
              <a:gdLst/>
              <a:ahLst/>
              <a:cxnLst/>
              <a:rect l="l" t="t" r="r" b="b"/>
              <a:pathLst>
                <a:path w="321945" h="571500">
                  <a:moveTo>
                    <a:pt x="0" y="571500"/>
                  </a:moveTo>
                  <a:lnTo>
                    <a:pt x="321945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576435" y="3235642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0"/>
                  </a:moveTo>
                  <a:lnTo>
                    <a:pt x="322897" y="57150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955530" y="3907155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0"/>
                  </a:moveTo>
                  <a:lnTo>
                    <a:pt x="322897" y="57150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10333672" y="3907155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571500"/>
                  </a:moveTo>
                  <a:lnTo>
                    <a:pt x="322897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2768" y="3235642"/>
              <a:ext cx="322897" cy="571500"/>
            </a:xfrm>
            <a:custGeom>
              <a:avLst/>
              <a:gdLst/>
              <a:ahLst/>
              <a:cxnLst/>
              <a:rect l="l" t="t" r="r" b="b"/>
              <a:pathLst>
                <a:path w="322897" h="571500">
                  <a:moveTo>
                    <a:pt x="0" y="571500"/>
                  </a:moveTo>
                  <a:lnTo>
                    <a:pt x="322897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1091862" y="2564130"/>
              <a:ext cx="321945" cy="571500"/>
            </a:xfrm>
            <a:custGeom>
              <a:avLst/>
              <a:gdLst/>
              <a:ahLst/>
              <a:cxnLst/>
              <a:rect l="l" t="t" r="r" b="b"/>
              <a:pathLst>
                <a:path w="321945" h="571500">
                  <a:moveTo>
                    <a:pt x="0" y="571500"/>
                  </a:moveTo>
                  <a:lnTo>
                    <a:pt x="321945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6626542" y="582453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1549062" y="582453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6626542" y="20659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6850380" y="515207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228522" y="448056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607618" y="515207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7985760" y="448056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364855" y="380904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743950" y="448056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9122092" y="380904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9501188" y="313848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879330" y="380904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0258425" y="448056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0637520" y="380904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11015662" y="313848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1394758" y="246697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898288" y="2006441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X(t)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399335" y="61231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23384" y="509444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23384" y="375142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23384" y="24093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744633" y="6123146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= 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711711" y="6123146"/>
              <a:ext cx="379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= 12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分布函数族完整描述随机过程，数字特征描述它的平均与波动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91715"/>
            <a:chOff x="533400" y="1524000"/>
            <a:chExt cx="541020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058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一维分布函数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对每个固定的 t ∈ T，X(t) 的分布函数一般与 t 有关，记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5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97586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2381" y="3123724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称它为一维分布函数，{F_X(x, t), t ∈ T} 称为一维分布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函数族。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95738"/>
            <a:ext cx="5410200" cy="2319338"/>
            <a:chOff x="533400" y="3995738"/>
            <a:chExt cx="5410200" cy="2319338"/>
          </a:xfrm>
        </p:grpSpPr>
        <p:sp>
          <p:nvSpPr>
            <p:cNvPr id="15" name="Rectangle 15"/>
            <p:cNvSpPr/>
            <p:nvPr/>
          </p:nvSpPr>
          <p:spPr>
            <a:xfrm>
              <a:off x="533400" y="3995738"/>
              <a:ext cx="5410200" cy="2319338"/>
            </a:xfrm>
            <a:prstGeom prst="roundRect">
              <a:avLst>
                <a:gd name="adj" fmla="val 5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29088"/>
              <a:ext cx="47625" cy="205263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4193858"/>
              <a:ext cx="99536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036" y="4228148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n 维分布函数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554379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n（n = 2, 3, …）个不同时刻 t₁, t₂, …, tₙ ∈ T，n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维随机变量 (X(t₁), …, X(tₙ)) 的分布函数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6"/>
                <p:cNvSpPr txBox="1">
                  <a:spLocks noGrp="1"/>
                </p:cNvSpPr>
                <p:nvPr/>
              </p:nvSpPr>
              <p:spPr>
                <a:xfrm>
                  <a:off x="769620" y="5120640"/>
                  <a:ext cx="497586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62381" y="5557361"/>
              <a:ext cx="45951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对固定的 n，{F_X(x₁, …, xₙ; t₁, …, tₙ), tᵢ ∈ T} 称为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维分布函数族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248400" y="1524000"/>
            <a:ext cx="5410200" cy="1910715"/>
            <a:chOff x="6248400" y="1524000"/>
            <a:chExt cx="5410200" cy="191071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14529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数字特征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6105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7084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0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均值函数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41514" y="2076450"/>
              <a:ext cx="12016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μ(t) = E[X(t)]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21811" y="20764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各时刻的平均水平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0889" y="25012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均方值函数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41514" y="2501265"/>
              <a:ext cx="1398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Ψ²(t) = E[X²(t)]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21811" y="25012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二阶原点矩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0889" y="3032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方差函数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41514" y="2926080"/>
              <a:ext cx="14904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σ²(t) = Var[X(t)] =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E[X(t) − μ(t)]²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21811" y="292608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二阶中心矩，偏离均值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的程度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434262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814560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2"/>
          <p:cNvGrpSpPr/>
          <p:nvPr/>
        </p:nvGrpSpPr>
        <p:grpSpPr>
          <a:xfrm>
            <a:off x="6248400" y="3615690"/>
            <a:ext cx="5410200" cy="1250632"/>
            <a:chOff x="6248400" y="3615690"/>
            <a:chExt cx="5410200" cy="1250632"/>
          </a:xfrm>
        </p:grpSpPr>
        <p:sp>
          <p:nvSpPr>
            <p:cNvPr id="43" name="Rectangle 43"/>
            <p:cNvSpPr/>
            <p:nvPr/>
          </p:nvSpPr>
          <p:spPr>
            <a:xfrm>
              <a:off x="6248400" y="361569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374904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84620" y="381381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4058" y="38481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二阶矩过程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7381" y="4174331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如果对每一个 t ∈ T，随机过程 X(t) 的二阶矩 E[X²(t)]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都存在，则称它为二阶矩过程。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248400" y="5046345"/>
            <a:ext cx="5410200" cy="1268730"/>
            <a:chOff x="6248400" y="5046345"/>
            <a:chExt cx="5410200" cy="1268730"/>
          </a:xfrm>
        </p:grpSpPr>
        <p:sp>
          <p:nvSpPr>
            <p:cNvPr id="49" name="Rectangle 49"/>
            <p:cNvSpPr/>
            <p:nvPr/>
          </p:nvSpPr>
          <p:spPr>
            <a:xfrm>
              <a:off x="6248400" y="5046345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5179695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84620" y="524446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0061" y="52787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34581" y="52801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随机游动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7381" y="5623084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步位移 ξₖ = ±1 独立，X(t) = ξ₁ + … + ξₜ。由 Eξₖ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− q、Var ξₖ = 4pq 得 μ(t) = t(p − q)，σ²(t) = 4tpq。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独立增量与平稳增量：不相交时段互不影响，增量只看时长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193608"/>
            <a:chOff x="533400" y="1524000"/>
            <a:chExt cx="5626418" cy="21936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93608"/>
            </a:xfrm>
            <a:prstGeom prst="roundRect">
              <a:avLst>
                <a:gd name="adj" fmla="val 6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2690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独立增量过程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00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给定二阶矩过程 {X(t), t ≥ 0}，称 X(t) − X(s)（0 ≤ s &lt; t）为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随机过程在区间 (s, t] 上的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612708"/>
              <a:ext cx="479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如果对任意正整数 n 和任意 0 ≤ t₀ ≤ t₁ ≤ … ≤ tₙ，n 个增量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0"/>
                <p:cNvSpPr txBox="1">
                  <a:spLocks noGrp="1"/>
                </p:cNvSpPr>
                <p:nvPr/>
              </p:nvSpPr>
              <p:spPr>
                <a:xfrm>
                  <a:off x="758190" y="2889885"/>
                  <a:ext cx="5214938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…,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320415"/>
              <a:ext cx="3979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相互独立，则称 X(t)（t ≥ 0）为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独立增量过程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88105"/>
            <a:ext cx="5626418" cy="2043112"/>
            <a:chOff x="533400" y="3888105"/>
            <a:chExt cx="5626418" cy="2043112"/>
          </a:xfrm>
        </p:grpSpPr>
        <p:sp>
          <p:nvSpPr>
            <p:cNvPr id="16" name="Rectangle 16"/>
            <p:cNvSpPr/>
            <p:nvPr/>
          </p:nvSpPr>
          <p:spPr>
            <a:xfrm>
              <a:off x="533400" y="3888105"/>
              <a:ext cx="5626418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021455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407479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558" y="410765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平稳增量与齐次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4418648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若对任意实数 h 和 0 ≤ s + h &lt; t + h，X(t + h) − X(s + h)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X(t) − X(s) 具有相同的分布，称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增量具有平稳性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503205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975860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 X(t) − X(s) 的分布只依赖于时间差 t − s（0 ≤ s &lt; t），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不依赖于 t 和 s 本身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558927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5533073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增量具有平稳性的独立增量过程称为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齐次的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或时齐的</a:t>
              </a:r>
            </a:p>
          </p:txBody>
        </p:sp>
      </p:grpSp>
      <p:grpSp>
        <p:nvGrpSpPr>
          <p:cNvPr id="67" name="c2-graph-1"/>
          <p:cNvGrpSpPr/>
          <p:nvPr/>
        </p:nvGrpSpPr>
        <p:grpSpPr>
          <a:xfrm>
            <a:off x="6671310" y="1566386"/>
            <a:ext cx="4832033" cy="3512058"/>
            <a:chOff x="6671310" y="1566386"/>
            <a:chExt cx="4832033" cy="3512058"/>
          </a:xfrm>
        </p:grpSpPr>
        <p:sp>
          <p:nvSpPr>
            <p:cNvPr id="26" name="Freeform 26"/>
            <p:cNvSpPr/>
            <p:nvPr/>
          </p:nvSpPr>
          <p:spPr>
            <a:xfrm>
              <a:off x="6682740" y="2630805"/>
              <a:ext cx="4713922" cy="9525"/>
            </a:xfrm>
            <a:custGeom>
              <a:avLst/>
              <a:gdLst/>
              <a:ahLst/>
              <a:cxnLst/>
              <a:rect l="l" t="t" r="r" b="b"/>
              <a:pathLst>
                <a:path w="4713922" h="9525">
                  <a:moveTo>
                    <a:pt x="0" y="0"/>
                  </a:moveTo>
                  <a:lnTo>
                    <a:pt x="47139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1396662" y="25831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682740" y="4476750"/>
              <a:ext cx="4713922" cy="9525"/>
            </a:xfrm>
            <a:custGeom>
              <a:avLst/>
              <a:gdLst/>
              <a:ahLst/>
              <a:cxnLst/>
              <a:rect l="l" t="t" r="r" b="b"/>
              <a:pathLst>
                <a:path w="4713922" h="9525">
                  <a:moveTo>
                    <a:pt x="0" y="0"/>
                  </a:moveTo>
                  <a:lnTo>
                    <a:pt x="47139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396662" y="4429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983730" y="1966912"/>
              <a:ext cx="1246822" cy="521017"/>
            </a:xfrm>
            <a:custGeom>
              <a:avLst/>
              <a:gdLst/>
              <a:ahLst/>
              <a:cxnLst/>
              <a:rect l="l" t="t" r="r" b="b"/>
              <a:pathLst>
                <a:path w="1246822" h="521017">
                  <a:moveTo>
                    <a:pt x="0" y="521017"/>
                  </a:moveTo>
                  <a:lnTo>
                    <a:pt x="0" y="0"/>
                  </a:lnTo>
                  <a:lnTo>
                    <a:pt x="1246822" y="0"/>
                  </a:lnTo>
                  <a:lnTo>
                    <a:pt x="1246822" y="521017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182928" y="2487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936105" y="2487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230552" y="1966912"/>
              <a:ext cx="935355" cy="521017"/>
            </a:xfrm>
            <a:custGeom>
              <a:avLst/>
              <a:gdLst/>
              <a:ahLst/>
              <a:cxnLst/>
              <a:rect l="l" t="t" r="r" b="b"/>
              <a:pathLst>
                <a:path w="935355" h="521017">
                  <a:moveTo>
                    <a:pt x="0" y="521017"/>
                  </a:moveTo>
                  <a:lnTo>
                    <a:pt x="0" y="0"/>
                  </a:lnTo>
                  <a:lnTo>
                    <a:pt x="935355" y="0"/>
                  </a:lnTo>
                  <a:lnTo>
                    <a:pt x="935355" y="52101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118282" y="2487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182928" y="2487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165908" y="1966912"/>
              <a:ext cx="1765935" cy="521017"/>
            </a:xfrm>
            <a:custGeom>
              <a:avLst/>
              <a:gdLst/>
              <a:ahLst/>
              <a:cxnLst/>
              <a:rect l="l" t="t" r="r" b="b"/>
              <a:pathLst>
                <a:path w="1765935" h="521017">
                  <a:moveTo>
                    <a:pt x="0" y="521017"/>
                  </a:moveTo>
                  <a:lnTo>
                    <a:pt x="0" y="0"/>
                  </a:lnTo>
                  <a:lnTo>
                    <a:pt x="1765935" y="0"/>
                  </a:lnTo>
                  <a:lnTo>
                    <a:pt x="1765935" y="521017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884218" y="2487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18282" y="2487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088505" y="3811905"/>
              <a:ext cx="1453515" cy="521970"/>
            </a:xfrm>
            <a:custGeom>
              <a:avLst/>
              <a:gdLst/>
              <a:ahLst/>
              <a:cxnLst/>
              <a:rect l="l" t="t" r="r" b="b"/>
              <a:pathLst>
                <a:path w="1453515" h="521970">
                  <a:moveTo>
                    <a:pt x="0" y="521970"/>
                  </a:moveTo>
                  <a:lnTo>
                    <a:pt x="0" y="0"/>
                  </a:lnTo>
                  <a:lnTo>
                    <a:pt x="1453515" y="0"/>
                  </a:lnTo>
                  <a:lnTo>
                    <a:pt x="1453515" y="52197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94395" y="4333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040880" y="4333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581198" y="3811905"/>
              <a:ext cx="1454467" cy="521970"/>
            </a:xfrm>
            <a:custGeom>
              <a:avLst/>
              <a:gdLst/>
              <a:ahLst/>
              <a:cxnLst/>
              <a:rect l="l" t="t" r="r" b="b"/>
              <a:pathLst>
                <a:path w="1454467" h="521970">
                  <a:moveTo>
                    <a:pt x="0" y="521970"/>
                  </a:moveTo>
                  <a:lnTo>
                    <a:pt x="0" y="0"/>
                  </a:lnTo>
                  <a:lnTo>
                    <a:pt x="1454467" y="0"/>
                  </a:lnTo>
                  <a:lnTo>
                    <a:pt x="1454467" y="52197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988040" y="4333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533572" y="4333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671310" y="26298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501438" y="26298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945630" y="25927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192452" y="25927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127808" y="25927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0893742" y="25927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671310" y="44757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1501438" y="44757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050405" y="443865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503920" y="443865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9543098" y="443865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0997565" y="443865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06217" y="304276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53039" y="304276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88394" y="304276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54329" y="304276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29422" y="156638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三段增量相互独立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47272" y="488775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00787" y="488775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27826" y="4887754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+ h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82293" y="4887754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+ 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65566" y="341137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长度相同的两段增量同分布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6464618" y="5384482"/>
            <a:ext cx="5193982" cy="978218"/>
            <a:chOff x="6464618" y="5384482"/>
            <a:chExt cx="5193982" cy="978218"/>
          </a:xfrm>
        </p:grpSpPr>
        <p:sp>
          <p:nvSpPr>
            <p:cNvPr id="68" name="Rectangle 68"/>
            <p:cNvSpPr/>
            <p:nvPr/>
          </p:nvSpPr>
          <p:spPr>
            <a:xfrm>
              <a:off x="6464618" y="5384482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669405" y="5774055"/>
              <a:ext cx="200026" cy="200025"/>
              <a:chOff x="6669405" y="5774055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669405" y="57740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09144" y="58185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743859" y="59296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972110" y="5531168"/>
              <a:ext cx="42999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随机游动在不相交的时间段内走的步互相独立，所以有独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立增量；X(t) − X(s) 是 t − s 个独立同分布步长之和，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分布只由 t − s 决定，所以增量平稳。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9421" cy="909257"/>
            <a:chOff x="520446" y="342900"/>
            <a:chExt cx="87694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94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泊松过程：独立增量，长为 t 的区间内事件数服从 P(λt)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700212"/>
            <a:chOff x="533400" y="1524000"/>
            <a:chExt cx="5626418" cy="17002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计数过程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0004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{N(t), t ≥ 0} 称为计数过程（点过程），如果 N(t) 表示 0 到 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时刻事件 A 发生的次数，且：（1）N(t) ≥ 0 且取整数值；（2）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&lt; t 时 N(s) ≤ N(t)，N(t) − N(s) 表示 (s, t] 内事件 A 发生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的次数。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393758"/>
            <a:ext cx="5626418" cy="2787015"/>
            <a:chOff x="533400" y="3393758"/>
            <a:chExt cx="5626418" cy="2787015"/>
          </a:xfrm>
        </p:grpSpPr>
        <p:sp>
          <p:nvSpPr>
            <p:cNvPr id="13" name="Rectangle 13"/>
            <p:cNvSpPr/>
            <p:nvPr/>
          </p:nvSpPr>
          <p:spPr>
            <a:xfrm>
              <a:off x="533400" y="3393758"/>
              <a:ext cx="5626418" cy="2787015"/>
            </a:xfrm>
            <a:prstGeom prst="roundRect">
              <a:avLst>
                <a:gd name="adj" fmla="val 47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527108"/>
              <a:ext cx="47625" cy="25203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58044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759" y="36133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泊松过程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925252"/>
              <a:ext cx="48314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计数过程 {N(t), t ≥ 0} 称为参数为 λ（λ &gt; 0）的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泊松过程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447008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45084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4482465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N(0) = 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58190" y="4770120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3868" y="4808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8987" y="478250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过程有独立增量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8190" y="507015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3868" y="51094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987" y="5082540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对任意的 s, t ≥ 0，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4"/>
                <p:cNvSpPr txBox="1">
                  <a:spLocks noGrp="1"/>
                </p:cNvSpPr>
                <p:nvPr/>
              </p:nvSpPr>
              <p:spPr>
                <a:xfrm>
                  <a:off x="758190" y="5360670"/>
                  <a:ext cx="521493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λt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λt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4" name="c2-card-1"/>
          <p:cNvGrpSpPr/>
          <p:nvPr/>
        </p:nvGrpSpPr>
        <p:grpSpPr>
          <a:xfrm>
            <a:off x="6464618" y="1524000"/>
            <a:ext cx="5193982" cy="1443038"/>
            <a:chOff x="6464618" y="1524000"/>
            <a:chExt cx="5193982" cy="1443038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9408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613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82549" y="2054542"/>
              <a:ext cx="44628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某网站的请求按 λ = 2 次/秒的泊松过程到达。求：（1）任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 2 秒内恰好到达 3 次的概率；（2）0.5 秒内至少到达 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次的概率。</a:t>
              </a:r>
            </a:p>
          </p:txBody>
        </p:sp>
      </p:grpSp>
      <p:grpSp>
        <p:nvGrpSpPr>
          <p:cNvPr id="48" name="c2-steps-2"/>
          <p:cNvGrpSpPr/>
          <p:nvPr/>
        </p:nvGrpSpPr>
        <p:grpSpPr>
          <a:xfrm>
            <a:off x="6464618" y="3146108"/>
            <a:ext cx="4912486" cy="1893094"/>
            <a:chOff x="6464618" y="3146108"/>
            <a:chExt cx="4912486" cy="1893094"/>
          </a:xfrm>
        </p:grpSpPr>
        <p:sp>
          <p:nvSpPr>
            <p:cNvPr id="35" name="Rectangle 35"/>
            <p:cNvSpPr/>
            <p:nvPr/>
          </p:nvSpPr>
          <p:spPr>
            <a:xfrm>
              <a:off x="6597968" y="3288982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464618" y="31461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8241" y="3219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64618" y="39366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8241" y="40105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64618" y="45196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45934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6860" y="3178492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（1）确定分布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78002" y="3445669"/>
              <a:ext cx="44991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任意长 2 秒的区间内到达次数服从参数 λt = 4 的泊松分布，与区间起点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6860" y="3968115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（1）代公式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8002" y="4236244"/>
              <a:ext cx="2530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e⁻⁴·4³/3! = 64/(6e⁴) ≈ 0.1954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6860" y="4551045"/>
              <a:ext cx="1390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（2）用对立事件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8002" y="4819174"/>
              <a:ext cx="3698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λt = 2 × 0.5 = 1，P = 1 − P{0 次} = 1 − e⁻¹ ≈ 0.6321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464618" y="5202555"/>
            <a:ext cx="5193982" cy="978218"/>
            <a:chOff x="6464618" y="5202555"/>
            <a:chExt cx="5193982" cy="978218"/>
          </a:xfrm>
        </p:grpSpPr>
        <p:sp>
          <p:nvSpPr>
            <p:cNvPr id="49" name="Rectangle 49"/>
            <p:cNvSpPr/>
            <p:nvPr/>
          </p:nvSpPr>
          <p:spPr>
            <a:xfrm>
              <a:off x="6464618" y="5202555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591177"/>
              <a:ext cx="200023" cy="200023"/>
              <a:chOff x="6669405" y="559117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5911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802755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2110" y="5348288"/>
              <a:ext cx="422281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 3 说明增量分布只依赖区间长度，泊松过程是齐次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的；相邻两次事件的间隔独立服从 Exp(λ)，均值 1/λ，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M/M/1 的到达就是这种方式。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马尔可夫链：已知现在的状态，将来与过去无关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723198"/>
            <a:chOff x="533400" y="1524000"/>
            <a:chExt cx="5626418" cy="27231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23198"/>
            </a:xfrm>
            <a:prstGeom prst="roundRect">
              <a:avLst>
                <a:gd name="adj" fmla="val 4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5649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3078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马尔可夫链（Markov Chain, MC）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{Xₜ, t = 0, 1, 2, …} 取值于有限集 S。如果对任意 t 和任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意状态 k₀, …, kₜ₋₁, i, j ∈ S，有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1"/>
                <p:cNvSpPr txBox="1">
                  <a:spLocks noGrp="1"/>
                </p:cNvSpPr>
                <p:nvPr/>
              </p:nvSpPr>
              <p:spPr>
                <a:xfrm>
                  <a:off x="769620" y="2666048"/>
                  <a:ext cx="519207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2"/>
                <p:cNvSpPr txBox="1">
                  <a:spLocks noGrp="1"/>
                </p:cNvSpPr>
                <p:nvPr/>
              </p:nvSpPr>
              <p:spPr>
                <a:xfrm>
                  <a:off x="769620" y="3098482"/>
                  <a:ext cx="519207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19.1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62381" y="3555206"/>
              <a:ext cx="42434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{Xₜ} 为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马尔可夫链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，pᵢⱼ 为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转移概率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，矩阵 P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(pᵢⱼ)ₘₓₘ 为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转移概率矩阵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427220"/>
            <a:ext cx="5626418" cy="1801178"/>
            <a:chOff x="533400" y="4427220"/>
            <a:chExt cx="5626418" cy="1801178"/>
          </a:xfrm>
        </p:grpSpPr>
        <p:sp>
          <p:nvSpPr>
            <p:cNvPr id="17" name="Rectangle 17"/>
            <p:cNvSpPr/>
            <p:nvPr/>
          </p:nvSpPr>
          <p:spPr>
            <a:xfrm>
              <a:off x="533400" y="4427220"/>
              <a:ext cx="5626418" cy="1801178"/>
            </a:xfrm>
            <a:prstGeom prst="roundRect">
              <a:avLst>
                <a:gd name="adj" fmla="val 7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560570"/>
              <a:ext cx="47625" cy="153447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9620" y="462534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9058" y="465963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齐次马氏链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381" y="4985861"/>
              <a:ext cx="491070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当转移概率 Pᵢⱼ(m, m + n) 只与 i、j 及时间间隔 n 有关时，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记为 Pᵢⱼ(n)，即 Pᵢⱼ(m, m + n) = Pᵢⱼ(n)。称此转移概率具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有平稳性，称此链是齐次的或时齐的。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524" y="5842635"/>
              <a:ext cx="40023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(19.1) 中 pᵢⱼ 不依赖于 t，本章的马氏链都是齐次的。</a:t>
              </a:r>
            </a:p>
          </p:txBody>
        </p:sp>
      </p:grpSp>
      <p:grpSp>
        <p:nvGrpSpPr>
          <p:cNvPr id="25" name="c2-text-1"/>
          <p:cNvGrpSpPr/>
          <p:nvPr/>
        </p:nvGrpSpPr>
        <p:grpSpPr>
          <a:xfrm>
            <a:off x="6458522" y="1544002"/>
            <a:ext cx="4220009" cy="234696"/>
            <a:chOff x="6458522" y="1544002"/>
            <a:chExt cx="4220009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458522" y="1544002"/>
              <a:ext cx="4220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例：三状态马氏链的转移图与转移矩阵（3.8 节还会用到）</a:t>
              </a:r>
            </a:p>
          </p:txBody>
        </p:sp>
      </p:grpSp>
      <p:grpSp>
        <p:nvGrpSpPr>
          <p:cNvPr id="65" name="c2-graph-2"/>
          <p:cNvGrpSpPr/>
          <p:nvPr/>
        </p:nvGrpSpPr>
        <p:grpSpPr>
          <a:xfrm>
            <a:off x="6690393" y="2288858"/>
            <a:ext cx="4743384" cy="1752600"/>
            <a:chOff x="6690393" y="2288858"/>
            <a:chExt cx="4743384" cy="1752600"/>
          </a:xfrm>
        </p:grpSpPr>
        <p:sp>
          <p:nvSpPr>
            <p:cNvPr id="26" name="Freeform 26"/>
            <p:cNvSpPr/>
            <p:nvPr/>
          </p:nvSpPr>
          <p:spPr>
            <a:xfrm>
              <a:off x="7839075" y="2368868"/>
              <a:ext cx="2352675" cy="202883"/>
            </a:xfrm>
            <a:custGeom>
              <a:avLst/>
              <a:gdLst/>
              <a:ahLst/>
              <a:cxnLst/>
              <a:rect l="l" t="t" r="r" b="b"/>
              <a:pathLst>
                <a:path w="2352675" h="202883">
                  <a:moveTo>
                    <a:pt x="0" y="202883"/>
                  </a:moveTo>
                  <a:cubicBezTo>
                    <a:pt x="815340" y="7303"/>
                    <a:pt x="1599565" y="0"/>
                    <a:pt x="2352675" y="1809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180320" y="2504122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67628"/>
                  </a:moveTo>
                  <a:lnTo>
                    <a:pt x="0" y="9239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931468" y="2683192"/>
              <a:ext cx="2352675" cy="202883"/>
            </a:xfrm>
            <a:custGeom>
              <a:avLst/>
              <a:gdLst/>
              <a:ahLst/>
              <a:cxnLst/>
              <a:rect l="l" t="t" r="r" b="b"/>
              <a:pathLst>
                <a:path w="2352675" h="202883">
                  <a:moveTo>
                    <a:pt x="2352675" y="0"/>
                  </a:moveTo>
                  <a:cubicBezTo>
                    <a:pt x="1537970" y="195580"/>
                    <a:pt x="753745" y="202883"/>
                    <a:pt x="0" y="2190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839075" y="2659380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0" y="23812"/>
                  </a:moveTo>
                  <a:lnTo>
                    <a:pt x="103822" y="0"/>
                  </a:lnTo>
                  <a:lnTo>
                    <a:pt x="80962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753350" y="2815590"/>
              <a:ext cx="996315" cy="767715"/>
            </a:xfrm>
            <a:custGeom>
              <a:avLst/>
              <a:gdLst/>
              <a:ahLst/>
              <a:cxnLst/>
              <a:rect l="l" t="t" r="r" b="b"/>
              <a:pathLst>
                <a:path w="996315" h="767715">
                  <a:moveTo>
                    <a:pt x="0" y="0"/>
                  </a:moveTo>
                  <a:cubicBezTo>
                    <a:pt x="287020" y="368935"/>
                    <a:pt x="619125" y="624840"/>
                    <a:pt x="996315" y="76771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733472" y="3539490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105728" y="78105"/>
                  </a:moveTo>
                  <a:lnTo>
                    <a:pt x="0" y="88582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919085" y="2746058"/>
              <a:ext cx="996315" cy="768667"/>
            </a:xfrm>
            <a:custGeom>
              <a:avLst/>
              <a:gdLst/>
              <a:ahLst/>
              <a:cxnLst/>
              <a:rect l="l" t="t" r="r" b="b"/>
              <a:pathLst>
                <a:path w="996315" h="768667">
                  <a:moveTo>
                    <a:pt x="996315" y="768667"/>
                  </a:moveTo>
                  <a:cubicBezTo>
                    <a:pt x="709295" y="399732"/>
                    <a:pt x="377190" y="143510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829550" y="2701290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11430"/>
                  </a:moveTo>
                  <a:lnTo>
                    <a:pt x="106680" y="0"/>
                  </a:lnTo>
                  <a:lnTo>
                    <a:pt x="7239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266872" y="2712720"/>
              <a:ext cx="1026795" cy="726758"/>
            </a:xfrm>
            <a:custGeom>
              <a:avLst/>
              <a:gdLst/>
              <a:ahLst/>
              <a:cxnLst/>
              <a:rect l="l" t="t" r="r" b="b"/>
              <a:pathLst>
                <a:path w="1026795" h="726758">
                  <a:moveTo>
                    <a:pt x="1026795" y="0"/>
                  </a:moveTo>
                  <a:cubicBezTo>
                    <a:pt x="589915" y="165735"/>
                    <a:pt x="247650" y="407987"/>
                    <a:pt x="0" y="72675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207818" y="3409950"/>
              <a:ext cx="96202" cy="104775"/>
            </a:xfrm>
            <a:custGeom>
              <a:avLst/>
              <a:gdLst/>
              <a:ahLst/>
              <a:cxnLst/>
              <a:rect l="l" t="t" r="r" b="b"/>
              <a:pathLst>
                <a:path w="96202" h="104775">
                  <a:moveTo>
                    <a:pt x="0" y="104775"/>
                  </a:moveTo>
                  <a:lnTo>
                    <a:pt x="20955" y="0"/>
                  </a:lnTo>
                  <a:lnTo>
                    <a:pt x="96202" y="581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284018" y="2890838"/>
              <a:ext cx="1026795" cy="726758"/>
            </a:xfrm>
            <a:custGeom>
              <a:avLst/>
              <a:gdLst/>
              <a:ahLst/>
              <a:cxnLst/>
              <a:rect l="l" t="t" r="r" b="b"/>
              <a:pathLst>
                <a:path w="1026795" h="726758">
                  <a:moveTo>
                    <a:pt x="0" y="726758"/>
                  </a:moveTo>
                  <a:cubicBezTo>
                    <a:pt x="436880" y="561022"/>
                    <a:pt x="779145" y="318770"/>
                    <a:pt x="1026795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273665" y="2815590"/>
              <a:ext cx="96203" cy="104775"/>
            </a:xfrm>
            <a:custGeom>
              <a:avLst/>
              <a:gdLst/>
              <a:ahLst/>
              <a:cxnLst/>
              <a:rect l="l" t="t" r="r" b="b"/>
              <a:pathLst>
                <a:path w="96203" h="104775">
                  <a:moveTo>
                    <a:pt x="96203" y="0"/>
                  </a:moveTo>
                  <a:lnTo>
                    <a:pt x="75248" y="104775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898958" y="2288858"/>
              <a:ext cx="480060" cy="678180"/>
            </a:xfrm>
            <a:custGeom>
              <a:avLst/>
              <a:gdLst/>
              <a:ahLst/>
              <a:cxnLst/>
              <a:rect l="l" t="t" r="r" b="b"/>
              <a:pathLst>
                <a:path w="480060" h="678180">
                  <a:moveTo>
                    <a:pt x="480060" y="236220"/>
                  </a:moveTo>
                  <a:cubicBezTo>
                    <a:pt x="0" y="0"/>
                    <a:pt x="0" y="678180"/>
                    <a:pt x="480060" y="4419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282815" y="2729865"/>
              <a:ext cx="96203" cy="77152"/>
            </a:xfrm>
            <a:custGeom>
              <a:avLst/>
              <a:gdLst/>
              <a:ahLst/>
              <a:cxnLst/>
              <a:rect l="l" t="t" r="r" b="b"/>
              <a:pathLst>
                <a:path w="96203" h="77152">
                  <a:moveTo>
                    <a:pt x="96203" y="952"/>
                  </a:moveTo>
                  <a:lnTo>
                    <a:pt x="38100" y="77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744200" y="2288858"/>
              <a:ext cx="480060" cy="678180"/>
            </a:xfrm>
            <a:custGeom>
              <a:avLst/>
              <a:gdLst/>
              <a:ahLst/>
              <a:cxnLst/>
              <a:rect l="l" t="t" r="r" b="b"/>
              <a:pathLst>
                <a:path w="480060" h="678180">
                  <a:moveTo>
                    <a:pt x="0" y="236220"/>
                  </a:moveTo>
                  <a:cubicBezTo>
                    <a:pt x="480060" y="0"/>
                    <a:pt x="480060" y="678180"/>
                    <a:pt x="0" y="4419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744200" y="2729865"/>
              <a:ext cx="96202" cy="77152"/>
            </a:xfrm>
            <a:custGeom>
              <a:avLst/>
              <a:gdLst/>
              <a:ahLst/>
              <a:cxnLst/>
              <a:rect l="l" t="t" r="r" b="b"/>
              <a:pathLst>
                <a:path w="96202" h="77152">
                  <a:moveTo>
                    <a:pt x="0" y="952"/>
                  </a:moveTo>
                  <a:lnTo>
                    <a:pt x="96202" y="0"/>
                  </a:lnTo>
                  <a:lnTo>
                    <a:pt x="58102" y="771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290685" y="3363278"/>
              <a:ext cx="480060" cy="678180"/>
            </a:xfrm>
            <a:custGeom>
              <a:avLst/>
              <a:gdLst/>
              <a:ahLst/>
              <a:cxnLst/>
              <a:rect l="l" t="t" r="r" b="b"/>
              <a:pathLst>
                <a:path w="480060" h="678180">
                  <a:moveTo>
                    <a:pt x="0" y="236220"/>
                  </a:moveTo>
                  <a:cubicBezTo>
                    <a:pt x="480060" y="0"/>
                    <a:pt x="480060" y="678180"/>
                    <a:pt x="0" y="4419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290685" y="3804285"/>
              <a:ext cx="95250" cy="77153"/>
            </a:xfrm>
            <a:custGeom>
              <a:avLst/>
              <a:gdLst/>
              <a:ahLst/>
              <a:cxnLst/>
              <a:rect l="l" t="t" r="r" b="b"/>
              <a:pathLst>
                <a:path w="95250" h="77153">
                  <a:moveTo>
                    <a:pt x="0" y="953"/>
                  </a:moveTo>
                  <a:lnTo>
                    <a:pt x="95250" y="0"/>
                  </a:lnTo>
                  <a:lnTo>
                    <a:pt x="57150" y="771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379018" y="2399348"/>
              <a:ext cx="457200" cy="4572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287000" y="2399348"/>
              <a:ext cx="457200" cy="4572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833485" y="3473768"/>
              <a:ext cx="457200" cy="4572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61468" y="25622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69451" y="25622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15936" y="36366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08732" y="2346960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935895" y="237601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0.28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08732" y="275177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35895" y="278082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087678" y="321373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13888" y="324373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76272" y="295846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02483" y="298846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542145" y="295846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68355" y="298846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0.18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730740" y="321373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56950" y="324373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90393" y="258651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181398" y="258651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26930" y="366093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formula23"/>
              <p:cNvSpPr txBox="1">
                <a:spLocks noGrp="1"/>
              </p:cNvSpPr>
              <p:nvPr/>
            </p:nvSpPr>
            <p:spPr>
              <a:xfrm>
                <a:off x="6464618" y="4330065"/>
                <a:ext cx="5193982" cy="661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0.65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0.28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0.15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0.67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0.18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0.12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0.36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73" name="c2-callout-4"/>
          <p:cNvGrpSpPr/>
          <p:nvPr/>
        </p:nvGrpSpPr>
        <p:grpSpPr>
          <a:xfrm>
            <a:off x="6464618" y="5171122"/>
            <a:ext cx="5193982" cy="1058228"/>
            <a:chOff x="6464618" y="5171122"/>
            <a:chExt cx="5193982" cy="1058228"/>
          </a:xfrm>
        </p:grpSpPr>
        <p:sp>
          <p:nvSpPr>
            <p:cNvPr id="67" name="Rectangle 67"/>
            <p:cNvSpPr/>
            <p:nvPr/>
          </p:nvSpPr>
          <p:spPr>
            <a:xfrm>
              <a:off x="6464618" y="5171122"/>
              <a:ext cx="5193982" cy="1058228"/>
            </a:xfrm>
            <a:prstGeom prst="roundRect">
              <a:avLst>
                <a:gd name="adj" fmla="val 1080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69405" y="5599748"/>
              <a:ext cx="200026" cy="200026"/>
              <a:chOff x="6669405" y="559974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69405" y="55997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69418" y="56664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58305" y="56997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971729" y="5468779"/>
              <a:ext cx="432460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行是“当前在状态 i 时，下一步去各状态的概率”，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每行元素之和为 1。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7749" cy="909257"/>
            <a:chOff x="520446" y="342900"/>
            <a:chExt cx="8227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7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步转移、不可约、非周期、常返：刻画链的长期行为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3613785"/>
            <a:chOff x="533400" y="1524000"/>
            <a:chExt cx="6059805" cy="36137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0103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988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6389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直观含义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60540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步转移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44574" y="2076450"/>
              <a:ext cx="2785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P(Xₜ₊ₖ = j | Xₜ = i) = pᵢⱼ⁽ᵏ⁾，不依赖于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95444" y="2076450"/>
              <a:ext cx="1680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i 出发走 k 步到 j 的概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12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86038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8213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44574" y="2714625"/>
              <a:ext cx="26106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i, j ∈ S，i ≠ j，都存在 k ≥ 1 使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pᵢⱼ⁽ᵏ⁾ &gt;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5444" y="271462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任意两个状态都能互相到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9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5661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非周期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44574" y="3352800"/>
              <a:ext cx="280111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k ≥ 0 使 pᵢᵢ⁽ᵏ⁾ &gt; 0 且 pᵢᵢ⁽ᵏ⁺¹⁾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0，称 i 非周期；所有状态都非周期的链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称为非周期的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95444" y="3459480"/>
              <a:ext cx="1673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能返回 i 的各步数的最大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公约数为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700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7479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42033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44574" y="4203382"/>
              <a:ext cx="2992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从状态 i 出发总能再返回 i（recurrent）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95444" y="4203382"/>
              <a:ext cx="1102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以概率 1 回到 i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948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473487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44574" y="4628198"/>
              <a:ext cx="27249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常返，且从 i 出发首次返回 i 的时间的期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望有限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95444" y="473487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平均有限步回来一次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3613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437322" y="1524000"/>
              <a:ext cx="9525" cy="3613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88192" y="1524000"/>
              <a:ext cx="9525" cy="3613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5317808"/>
            <a:ext cx="6059805" cy="756285"/>
            <a:chOff x="533400" y="5317808"/>
            <a:chExt cx="6059805" cy="756285"/>
          </a:xfrm>
        </p:grpSpPr>
        <p:sp>
          <p:nvSpPr>
            <p:cNvPr id="36" name="Rectangle 36"/>
            <p:cNvSpPr/>
            <p:nvPr/>
          </p:nvSpPr>
          <p:spPr>
            <a:xfrm>
              <a:off x="533400" y="5317808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592246"/>
              <a:ext cx="224134" cy="192560"/>
              <a:chOff x="726129" y="5592246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6626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5922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7404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464969"/>
              <a:ext cx="507301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反例：两状态链每步必然换状态，返回步数只能是 2, 4, 6, …，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周期为 2，Pⁿ 在两个矩阵间来回摆动，不收敛。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898005" y="1524000"/>
            <a:ext cx="4760595" cy="1644968"/>
            <a:chOff x="6898005" y="1524000"/>
            <a:chExt cx="4760595" cy="1644968"/>
          </a:xfrm>
        </p:grpSpPr>
        <p:sp>
          <p:nvSpPr>
            <p:cNvPr id="43" name="Rectangle 43"/>
            <p:cNvSpPr/>
            <p:nvPr/>
          </p:nvSpPr>
          <p:spPr>
            <a:xfrm>
              <a:off x="6898005" y="1524000"/>
              <a:ext cx="4760595" cy="1644968"/>
            </a:xfrm>
            <a:prstGeom prst="roundRect">
              <a:avLst>
                <a:gd name="adj" fmla="val 8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1657350"/>
              <a:ext cx="47625" cy="137826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34225" y="172212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8973" y="1756410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C-K 方程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89951" y="1756886"/>
              <a:ext cx="25714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步转移矩阵等于 P 的 k 次方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26"/>
                <p:cNvSpPr txBox="1">
                  <a:spLocks noGrp="1"/>
                </p:cNvSpPr>
                <p:nvPr/>
              </p:nvSpPr>
              <p:spPr>
                <a:xfrm>
                  <a:off x="7134225" y="2077402"/>
                  <a:ext cx="4326255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il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9" name="TextBox 49"/>
            <p:cNvSpPr txBox="1"/>
            <p:nvPr/>
          </p:nvSpPr>
          <p:spPr>
            <a:xfrm>
              <a:off x="7128129" y="2784157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先走 k − 1 步到某个中间状态 l，再走 1 步到 j，对 l 求和。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898005" y="3349942"/>
            <a:ext cx="4760595" cy="2724150"/>
            <a:chOff x="6898005" y="3349942"/>
            <a:chExt cx="4760595" cy="2724150"/>
          </a:xfrm>
        </p:grpSpPr>
        <p:sp>
          <p:nvSpPr>
            <p:cNvPr id="51" name="Rectangle 51"/>
            <p:cNvSpPr/>
            <p:nvPr/>
          </p:nvSpPr>
          <p:spPr>
            <a:xfrm>
              <a:off x="6898005" y="3349942"/>
              <a:ext cx="4760595" cy="2724150"/>
            </a:xfrm>
            <a:prstGeom prst="roundRect">
              <a:avLst>
                <a:gd name="adj" fmla="val 4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3483292"/>
              <a:ext cx="47625" cy="24574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34225" y="354806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29666" y="35823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84186" y="358282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用上页的矩阵算两步转移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26986" y="3926681"/>
              <a:ext cx="39098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从状态 1 出发两步后仍在 1：p₁₁⁽²⁾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0.65×0.65 + 0.28×0.15 + 0.07×0.12 = 0.4729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41845" y="457581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98436" y="4515326"/>
              <a:ext cx="39278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的元素全部大于 0，任意两状态一步可达，链不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可约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41845" y="516445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98436" y="5104924"/>
              <a:ext cx="37926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p₁₁ &gt; 0 且 p₁₁⁽²⁾ &gt; 0，取 k = 1 知状态 1 非周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期，其余状态同理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70304" cy="909257"/>
            <a:chOff x="520446" y="342900"/>
            <a:chExt cx="59703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33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25" y="407194"/>
              <a:ext cx="367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随机过程与马尔可夫链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703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极限分布与平稳分布：解方程组 πP = 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01215"/>
            <a:chOff x="533400" y="1524000"/>
            <a:chExt cx="5410200" cy="2101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01215"/>
            </a:xfrm>
            <a:prstGeom prst="roundRect">
              <a:avLst>
                <a:gd name="adj" fmla="val 63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345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极限分布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对只有有限个状态的非周期不可约马氏链，有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3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998720" cy="5314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970848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πⱼ 为正常数，Σπⱼ = 1，称 {πⱼ} 为 {Xₜ} 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极限分布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与出发状态 i 无关。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94760"/>
            <a:ext cx="5410200" cy="2346960"/>
            <a:chOff x="533400" y="3794760"/>
            <a:chExt cx="5410200" cy="2346960"/>
          </a:xfrm>
        </p:grpSpPr>
        <p:sp>
          <p:nvSpPr>
            <p:cNvPr id="15" name="Rectangle 15"/>
            <p:cNvSpPr/>
            <p:nvPr/>
          </p:nvSpPr>
          <p:spPr>
            <a:xfrm>
              <a:off x="533400" y="3794760"/>
              <a:ext cx="5410200" cy="234696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28110"/>
              <a:ext cx="47625" cy="208026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9814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759" y="40143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平稳分布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432625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满足方程组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4"/>
                <p:cNvSpPr txBox="1">
                  <a:spLocks noGrp="1"/>
                </p:cNvSpPr>
                <p:nvPr/>
              </p:nvSpPr>
              <p:spPr>
                <a:xfrm>
                  <a:off x="758190" y="4604385"/>
                  <a:ext cx="499872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19.2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1332" y="5275898"/>
              <a:ext cx="4913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的分布 {πⱼ} 称为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平稳分布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或不变分布，矩阵形式为 πP = π。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475" y="5572601"/>
              <a:ext cx="46555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有限、非周期、不可约的马氏链，极限分布就是平稳分布，而且唯一；3.8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节的 MCMC 依靠这一点。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4617720"/>
            <a:chOff x="6248400" y="1524000"/>
            <a:chExt cx="5410200" cy="461772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4617720"/>
            </a:xfrm>
            <a:prstGeom prst="roundRect">
              <a:avLst>
                <a:gd name="adj" fmla="val 28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43510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3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8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14960" y="1745932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求第 9 页三状态链的平稳分布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06540" y="2202180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473190" y="20593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6814" y="2133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73190" y="284892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814" y="2922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3190" y="343185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6814" y="3505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5432" y="209073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列方程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86575" y="2357914"/>
              <a:ext cx="44066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π₁ = 0.65π₁ + 0.15π₂ + 0.12π₃，π₂ = 0.28π₁ + 0.67π₂ + 0.36π₃，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π₁ + π₂ + π₃ =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5432" y="28803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6575" y="3148489"/>
              <a:ext cx="3841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0.35π₁ = 0.15π₂ + 0.12π₃，0.33π₂ = 0.28π₁ + 0.36π₃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5432" y="34632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6575" y="3731419"/>
              <a:ext cx="4602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π₂ = (76/35)π₃，π₁ = (312/245)π₃；代入归一化得 π₃ = 245/1089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6332" y="4050982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结果：π ≈ (0.2865, 0.4885, 0.2250)。P²⁰ 的每一行也都约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等于它（第 48 页用 R 演示）。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7475" y="4604861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第三个平衡方程可由前两个和归一化条件推出，不必再列。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923347"/>
            <a:chOff x="667512" y="1835468"/>
            <a:chExt cx="5801868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15559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3.6.1 随机服务系统（排队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顾客怎样到达、怎样排队、怎样被服务，系统平均要排多久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3646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排队系统的分类、三要素与 Kendall 记号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121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衡量指标与 Little 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164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稳态分布的推导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用排队论设定阈值和规划容量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排队论研究服务系统中排队等待现象的概率规律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760220"/>
            <a:chOff x="533400" y="1524000"/>
            <a:chExt cx="4977765" cy="17602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80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随机服务系统理论（Random Service System Theory）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371725"/>
              <a:ext cx="43685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排队论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（Queuing Theory）。通过研究各种服务系统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在排队等待现象中的概率规律性，解决服务系统最优设计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与最优控制问题的一种理论。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3453765"/>
            <a:ext cx="4977765" cy="2400300"/>
            <a:chOff x="533400" y="3453765"/>
            <a:chExt cx="4977765" cy="2400300"/>
          </a:xfrm>
        </p:grpSpPr>
        <p:sp>
          <p:nvSpPr>
            <p:cNvPr id="14" name="Rectangle 14"/>
            <p:cNvSpPr/>
            <p:nvPr/>
          </p:nvSpPr>
          <p:spPr>
            <a:xfrm>
              <a:off x="533400" y="3453765"/>
              <a:ext cx="497776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4128" y="3575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18106" y="3575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09771" y="3575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贡献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555" y="4175284"/>
              <a:ext cx="993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1909–1920 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24990" y="3975259"/>
              <a:ext cx="114935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K. Erlang（丹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麦数学家、电气工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程师）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18510" y="4075271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用概率论方法研究电话通话问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题，排队论由此起源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6491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653915"/>
              <a:ext cx="497776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4775359"/>
              <a:ext cx="90114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世纪 30 年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24990" y="4875371"/>
              <a:ext cx="685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W. Feller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18510" y="487537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引进生灭过程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2492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5375434"/>
              <a:ext cx="90114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世纪 50 年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24990" y="5475446"/>
              <a:ext cx="956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G. Kendall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18510" y="5375434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用嵌入马尔可夫链方法研究排队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497776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723072" y="345376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216592" y="345376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table-1"/>
          <p:cNvGrpSpPr/>
          <p:nvPr/>
        </p:nvGrpSpPr>
        <p:grpSpPr>
          <a:xfrm>
            <a:off x="5811012" y="1524000"/>
            <a:ext cx="5847588" cy="3864006"/>
            <a:chOff x="5811012" y="1524000"/>
            <a:chExt cx="5847588" cy="3864006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198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顾客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5576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要求的服务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7516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13120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借书的学生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99082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52635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图书管理员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3120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打电话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99082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52635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3120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提货者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9082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52635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仓库管理员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13120" y="32456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待降落的飞行器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99082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降落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5263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指挥塔台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13120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99082" y="3645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存款、取款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52635" y="3645694"/>
              <a:ext cx="1560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储蓄窗口、ATM 取款机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15965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13120" y="40457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河水进入水库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99082" y="40457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放水、调整水位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52635" y="40457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水库管理员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43195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13120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购票旅客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99082" y="4445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652635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售票窗口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815965" y="47196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15965" y="47244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13120" y="48458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十字路口的汽车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99082" y="4845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通过路口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52635" y="48458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红绿灯或交警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1524000"/>
              <a:ext cx="5842635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79716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55071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811012" y="519731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排队系统的例子</a:t>
              </a:r>
            </a:p>
          </p:txBody>
        </p:sp>
      </p:grpSp>
      <p:grpSp>
        <p:nvGrpSpPr>
          <p:cNvPr id="84" name="c2-callout-2"/>
          <p:cNvGrpSpPr/>
          <p:nvPr/>
        </p:nvGrpSpPr>
        <p:grpSpPr>
          <a:xfrm>
            <a:off x="5815965" y="5519738"/>
            <a:ext cx="5842635" cy="729615"/>
            <a:chOff x="5815965" y="5519738"/>
            <a:chExt cx="5842635" cy="729615"/>
          </a:xfrm>
        </p:grpSpPr>
        <p:sp>
          <p:nvSpPr>
            <p:cNvPr id="78" name="Rectangle 78"/>
            <p:cNvSpPr/>
            <p:nvPr/>
          </p:nvSpPr>
          <p:spPr>
            <a:xfrm>
              <a:off x="5815965" y="551973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020753" y="5784533"/>
              <a:ext cx="200026" cy="200025"/>
              <a:chOff x="6020753" y="5784533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020753" y="57845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060491" y="58289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095207" y="59401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323457" y="5666423"/>
              <a:ext cx="48314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“顾客”不一定是人：待降落的飞机、流入水库的河水、发给服务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器的网络请求，都按同一套模型分析。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按服务台数量和排队方式，排队系统分为四类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graph-1"/>
          <p:cNvGrpSpPr/>
          <p:nvPr/>
        </p:nvGrpSpPr>
        <p:grpSpPr>
          <a:xfrm>
            <a:off x="636270" y="1595914"/>
            <a:ext cx="5035118" cy="944403"/>
            <a:chOff x="636270" y="1595914"/>
            <a:chExt cx="5035118" cy="944403"/>
          </a:xfrm>
        </p:grpSpPr>
        <p:sp>
          <p:nvSpPr>
            <p:cNvPr id="7" name="Freeform 7"/>
            <p:cNvSpPr/>
            <p:nvPr/>
          </p:nvSpPr>
          <p:spPr>
            <a:xfrm>
              <a:off x="1361122" y="2410778"/>
              <a:ext cx="701992" cy="9525"/>
            </a:xfrm>
            <a:custGeom>
              <a:avLst/>
              <a:gdLst/>
              <a:ahLst/>
              <a:cxnLst/>
              <a:rect l="l" t="t" r="r" b="b"/>
              <a:pathLst>
                <a:path w="701992" h="9525">
                  <a:moveTo>
                    <a:pt x="0" y="0"/>
                  </a:moveTo>
                  <a:lnTo>
                    <a:pt x="7019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63115" y="23631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20378" y="2410778"/>
              <a:ext cx="633412" cy="9525"/>
            </a:xfrm>
            <a:custGeom>
              <a:avLst/>
              <a:gdLst/>
              <a:ahLst/>
              <a:cxnLst/>
              <a:rect l="l" t="t" r="r" b="b"/>
              <a:pathLst>
                <a:path w="633412" h="9525">
                  <a:moveTo>
                    <a:pt x="0" y="0"/>
                  </a:moveTo>
                  <a:lnTo>
                    <a:pt x="6334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53790" y="23631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351020" y="2410778"/>
              <a:ext cx="669608" cy="9525"/>
            </a:xfrm>
            <a:custGeom>
              <a:avLst/>
              <a:gdLst/>
              <a:ahLst/>
              <a:cxnLst/>
              <a:rect l="l" t="t" r="r" b="b"/>
              <a:pathLst>
                <a:path w="669608" h="9525">
                  <a:moveTo>
                    <a:pt x="0" y="0"/>
                  </a:moveTo>
                  <a:lnTo>
                    <a:pt x="6696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20628" y="23631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158365" y="2280285"/>
              <a:ext cx="862012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749040" y="2280285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5612" y="23493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顾客到达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16954" y="234934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 ○○○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47186" y="234934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33772" y="23493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顾客离去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6270" y="1595914"/>
              <a:ext cx="13046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（1）单服务台单队</a:t>
              </a:r>
            </a:p>
          </p:txBody>
        </p:sp>
      </p:grpSp>
      <p:grpSp>
        <p:nvGrpSpPr>
          <p:cNvPr id="46" name="c1-graph-2"/>
          <p:cNvGrpSpPr/>
          <p:nvPr/>
        </p:nvGrpSpPr>
        <p:grpSpPr>
          <a:xfrm>
            <a:off x="636270" y="3346609"/>
            <a:ext cx="5089410" cy="1655921"/>
            <a:chOff x="636270" y="3346609"/>
            <a:chExt cx="5089410" cy="1655921"/>
          </a:xfrm>
        </p:grpSpPr>
        <p:sp>
          <p:nvSpPr>
            <p:cNvPr id="21" name="Freeform 21"/>
            <p:cNvSpPr/>
            <p:nvPr/>
          </p:nvSpPr>
          <p:spPr>
            <a:xfrm>
              <a:off x="1361122" y="4359592"/>
              <a:ext cx="593407" cy="9525"/>
            </a:xfrm>
            <a:custGeom>
              <a:avLst/>
              <a:gdLst/>
              <a:ahLst/>
              <a:cxnLst/>
              <a:rect l="l" t="t" r="r" b="b"/>
              <a:pathLst>
                <a:path w="593407" h="9525">
                  <a:moveTo>
                    <a:pt x="0" y="0"/>
                  </a:moveTo>
                  <a:lnTo>
                    <a:pt x="5934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954530" y="4311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879408" y="3974782"/>
              <a:ext cx="779145" cy="255270"/>
            </a:xfrm>
            <a:custGeom>
              <a:avLst/>
              <a:gdLst/>
              <a:ahLst/>
              <a:cxnLst/>
              <a:rect l="l" t="t" r="r" b="b"/>
              <a:pathLst>
                <a:path w="779145" h="255270">
                  <a:moveTo>
                    <a:pt x="0" y="255270"/>
                  </a:moveTo>
                  <a:lnTo>
                    <a:pt x="7791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643312" y="393001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5240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911792" y="4359592"/>
              <a:ext cx="741998" cy="9525"/>
            </a:xfrm>
            <a:custGeom>
              <a:avLst/>
              <a:gdLst/>
              <a:ahLst/>
              <a:cxnLst/>
              <a:rect l="l" t="t" r="r" b="b"/>
              <a:pathLst>
                <a:path w="741998" h="9525">
                  <a:moveTo>
                    <a:pt x="0" y="0"/>
                  </a:moveTo>
                  <a:lnTo>
                    <a:pt x="7419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653790" y="4311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879408" y="4490085"/>
              <a:ext cx="779145" cy="254318"/>
            </a:xfrm>
            <a:custGeom>
              <a:avLst/>
              <a:gdLst/>
              <a:ahLst/>
              <a:cxnLst/>
              <a:rect l="l" t="t" r="r" b="b"/>
              <a:pathLst>
                <a:path w="779145" h="254318">
                  <a:moveTo>
                    <a:pt x="0" y="0"/>
                  </a:moveTo>
                  <a:lnTo>
                    <a:pt x="779145" y="2543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643312" y="4698682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75247"/>
                  </a:moveTo>
                  <a:lnTo>
                    <a:pt x="0" y="91440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351020" y="3956685"/>
              <a:ext cx="743902" cy="271462"/>
            </a:xfrm>
            <a:custGeom>
              <a:avLst/>
              <a:gdLst/>
              <a:ahLst/>
              <a:cxnLst/>
              <a:rect l="l" t="t" r="r" b="b"/>
              <a:pathLst>
                <a:path w="743902" h="271462">
                  <a:moveTo>
                    <a:pt x="0" y="0"/>
                  </a:moveTo>
                  <a:lnTo>
                    <a:pt x="743902" y="2714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078730" y="418338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7153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351020" y="4359592"/>
              <a:ext cx="722948" cy="9525"/>
            </a:xfrm>
            <a:custGeom>
              <a:avLst/>
              <a:gdLst/>
              <a:ahLst/>
              <a:cxnLst/>
              <a:rect l="l" t="t" r="r" b="b"/>
              <a:pathLst>
                <a:path w="722948" h="9525">
                  <a:moveTo>
                    <a:pt x="0" y="0"/>
                  </a:moveTo>
                  <a:lnTo>
                    <a:pt x="7229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073968" y="4311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351020" y="4491038"/>
              <a:ext cx="743902" cy="271462"/>
            </a:xfrm>
            <a:custGeom>
              <a:avLst/>
              <a:gdLst/>
              <a:ahLst/>
              <a:cxnLst/>
              <a:rect l="l" t="t" r="r" b="b"/>
              <a:pathLst>
                <a:path w="743902" h="271462">
                  <a:moveTo>
                    <a:pt x="0" y="271462"/>
                  </a:moveTo>
                  <a:lnTo>
                    <a:pt x="7439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078730" y="444627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2383"/>
                  </a:moveTo>
                  <a:lnTo>
                    <a:pt x="33338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49780" y="4230052"/>
              <a:ext cx="862012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749040" y="3717608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749040" y="4230052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749040" y="4742498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5612" y="42991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顾客到达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09321" y="4299109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 ○○○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47186" y="37866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47186" y="42991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47186" y="48115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88064" y="42991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顾客离去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6270" y="3346609"/>
              <a:ext cx="13046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（2）多服务台单队</a:t>
              </a:r>
            </a:p>
          </p:txBody>
        </p:sp>
      </p:grpSp>
      <p:grpSp>
        <p:nvGrpSpPr>
          <p:cNvPr id="80" name="c2-graph-1"/>
          <p:cNvGrpSpPr/>
          <p:nvPr/>
        </p:nvGrpSpPr>
        <p:grpSpPr>
          <a:xfrm>
            <a:off x="6351270" y="1554004"/>
            <a:ext cx="5089410" cy="1656873"/>
            <a:chOff x="6351270" y="1554004"/>
            <a:chExt cx="5089410" cy="1656873"/>
          </a:xfrm>
        </p:grpSpPr>
        <p:sp>
          <p:nvSpPr>
            <p:cNvPr id="47" name="Freeform 47"/>
            <p:cNvSpPr/>
            <p:nvPr/>
          </p:nvSpPr>
          <p:spPr>
            <a:xfrm>
              <a:off x="7076122" y="2212658"/>
              <a:ext cx="763905" cy="258127"/>
            </a:xfrm>
            <a:custGeom>
              <a:avLst/>
              <a:gdLst/>
              <a:ahLst/>
              <a:cxnLst/>
              <a:rect l="l" t="t" r="r" b="b"/>
              <a:pathLst>
                <a:path w="763905" h="258127">
                  <a:moveTo>
                    <a:pt x="0" y="258127"/>
                  </a:moveTo>
                  <a:lnTo>
                    <a:pt x="7639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824788" y="216693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5240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076122" y="2567940"/>
              <a:ext cx="759143" cy="9525"/>
            </a:xfrm>
            <a:custGeom>
              <a:avLst/>
              <a:gdLst/>
              <a:ahLst/>
              <a:cxnLst/>
              <a:rect l="l" t="t" r="r" b="b"/>
              <a:pathLst>
                <a:path w="759143" h="9525">
                  <a:moveTo>
                    <a:pt x="0" y="0"/>
                  </a:moveTo>
                  <a:lnTo>
                    <a:pt x="7591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835265" y="25203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076122" y="2665095"/>
              <a:ext cx="763905" cy="258127"/>
            </a:xfrm>
            <a:custGeom>
              <a:avLst/>
              <a:gdLst/>
              <a:ahLst/>
              <a:cxnLst/>
              <a:rect l="l" t="t" r="r" b="b"/>
              <a:pathLst>
                <a:path w="763905" h="258127">
                  <a:moveTo>
                    <a:pt x="0" y="0"/>
                  </a:moveTo>
                  <a:lnTo>
                    <a:pt x="763905" y="2581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824788" y="287845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5248"/>
                  </a:moveTo>
                  <a:lnTo>
                    <a:pt x="0" y="90488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678228" y="2055495"/>
              <a:ext cx="690562" cy="9525"/>
            </a:xfrm>
            <a:custGeom>
              <a:avLst/>
              <a:gdLst/>
              <a:ahLst/>
              <a:cxnLst/>
              <a:rect l="l" t="t" r="r" b="b"/>
              <a:pathLst>
                <a:path w="690562" h="9525">
                  <a:moveTo>
                    <a:pt x="0" y="0"/>
                  </a:moveTo>
                  <a:lnTo>
                    <a:pt x="6905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368790" y="20078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678228" y="2567940"/>
              <a:ext cx="690562" cy="9525"/>
            </a:xfrm>
            <a:custGeom>
              <a:avLst/>
              <a:gdLst/>
              <a:ahLst/>
              <a:cxnLst/>
              <a:rect l="l" t="t" r="r" b="b"/>
              <a:pathLst>
                <a:path w="690562" h="9525">
                  <a:moveTo>
                    <a:pt x="0" y="0"/>
                  </a:moveTo>
                  <a:lnTo>
                    <a:pt x="6905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368790" y="25203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678228" y="3080385"/>
              <a:ext cx="690562" cy="9525"/>
            </a:xfrm>
            <a:custGeom>
              <a:avLst/>
              <a:gdLst/>
              <a:ahLst/>
              <a:cxnLst/>
              <a:rect l="l" t="t" r="r" b="b"/>
              <a:pathLst>
                <a:path w="690562" h="9525">
                  <a:moveTo>
                    <a:pt x="0" y="0"/>
                  </a:moveTo>
                  <a:lnTo>
                    <a:pt x="6905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368790" y="30327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10066020" y="2165032"/>
              <a:ext cx="743903" cy="271462"/>
            </a:xfrm>
            <a:custGeom>
              <a:avLst/>
              <a:gdLst/>
              <a:ahLst/>
              <a:cxnLst/>
              <a:rect l="l" t="t" r="r" b="b"/>
              <a:pathLst>
                <a:path w="743903" h="271462">
                  <a:moveTo>
                    <a:pt x="0" y="0"/>
                  </a:moveTo>
                  <a:lnTo>
                    <a:pt x="743903" y="2714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793730" y="239172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7152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066020" y="2567940"/>
              <a:ext cx="722948" cy="9525"/>
            </a:xfrm>
            <a:custGeom>
              <a:avLst/>
              <a:gdLst/>
              <a:ahLst/>
              <a:cxnLst/>
              <a:rect l="l" t="t" r="r" b="b"/>
              <a:pathLst>
                <a:path w="722948" h="9525">
                  <a:moveTo>
                    <a:pt x="0" y="0"/>
                  </a:moveTo>
                  <a:lnTo>
                    <a:pt x="7229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0788968" y="25203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066020" y="2699385"/>
              <a:ext cx="743903" cy="271462"/>
            </a:xfrm>
            <a:custGeom>
              <a:avLst/>
              <a:gdLst/>
              <a:ahLst/>
              <a:cxnLst/>
              <a:rect l="l" t="t" r="r" b="b"/>
              <a:pathLst>
                <a:path w="743903" h="271462">
                  <a:moveTo>
                    <a:pt x="0" y="271462"/>
                  </a:moveTo>
                  <a:lnTo>
                    <a:pt x="7439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793730" y="265461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2383"/>
                  </a:moveTo>
                  <a:lnTo>
                    <a:pt x="33338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930515" y="1925002"/>
              <a:ext cx="746760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930515" y="2438400"/>
              <a:ext cx="746760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930515" y="2950845"/>
              <a:ext cx="746760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464040" y="1925002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464040" y="2438400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9464040" y="2950845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20612" y="25074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顾客到达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70048" y="1995011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 ○○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70048" y="2507456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 ○○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70048" y="3019901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 ○○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62186" y="199501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62186" y="250745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62186" y="30199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903064" y="25074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顾客离去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51270" y="1554004"/>
              <a:ext cx="13046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（3）多队多服务台</a:t>
              </a:r>
            </a:p>
          </p:txBody>
        </p:sp>
      </p:grpSp>
      <p:grpSp>
        <p:nvGrpSpPr>
          <p:cNvPr id="102" name="c2-graph-2"/>
          <p:cNvGrpSpPr/>
          <p:nvPr/>
        </p:nvGrpSpPr>
        <p:grpSpPr>
          <a:xfrm>
            <a:off x="6351270" y="3674269"/>
            <a:ext cx="5173700" cy="944403"/>
            <a:chOff x="6351270" y="3674269"/>
            <a:chExt cx="5173700" cy="944403"/>
          </a:xfrm>
        </p:grpSpPr>
        <p:sp>
          <p:nvSpPr>
            <p:cNvPr id="81" name="Freeform 81"/>
            <p:cNvSpPr/>
            <p:nvPr/>
          </p:nvSpPr>
          <p:spPr>
            <a:xfrm>
              <a:off x="6681788" y="4489132"/>
              <a:ext cx="368618" cy="9525"/>
            </a:xfrm>
            <a:custGeom>
              <a:avLst/>
              <a:gdLst/>
              <a:ahLst/>
              <a:cxnLst/>
              <a:rect l="l" t="t" r="r" b="b"/>
              <a:pathLst>
                <a:path w="368618" h="9525">
                  <a:moveTo>
                    <a:pt x="0" y="0"/>
                  </a:moveTo>
                  <a:lnTo>
                    <a:pt x="3686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7050405" y="44415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7622858" y="4489132"/>
              <a:ext cx="393383" cy="9525"/>
            </a:xfrm>
            <a:custGeom>
              <a:avLst/>
              <a:gdLst/>
              <a:ahLst/>
              <a:cxnLst/>
              <a:rect l="l" t="t" r="r" b="b"/>
              <a:pathLst>
                <a:path w="393383" h="9525">
                  <a:moveTo>
                    <a:pt x="0" y="0"/>
                  </a:moveTo>
                  <a:lnTo>
                    <a:pt x="3933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016240" y="44415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8713470" y="4489132"/>
              <a:ext cx="393383" cy="9525"/>
            </a:xfrm>
            <a:custGeom>
              <a:avLst/>
              <a:gdLst/>
              <a:ahLst/>
              <a:cxnLst/>
              <a:rect l="l" t="t" r="r" b="b"/>
              <a:pathLst>
                <a:path w="393383" h="9525">
                  <a:moveTo>
                    <a:pt x="0" y="0"/>
                  </a:moveTo>
                  <a:lnTo>
                    <a:pt x="3933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9106852" y="44415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9679305" y="4489132"/>
              <a:ext cx="392430" cy="9525"/>
            </a:xfrm>
            <a:custGeom>
              <a:avLst/>
              <a:gdLst/>
              <a:ahLst/>
              <a:cxnLst/>
              <a:rect l="l" t="t" r="r" b="b"/>
              <a:pathLst>
                <a:path w="392430" h="9525">
                  <a:moveTo>
                    <a:pt x="0" y="0"/>
                  </a:moveTo>
                  <a:lnTo>
                    <a:pt x="3924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10071735" y="44415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10768965" y="4489132"/>
              <a:ext cx="360998" cy="9525"/>
            </a:xfrm>
            <a:custGeom>
              <a:avLst/>
              <a:gdLst/>
              <a:ahLst/>
              <a:cxnLst/>
              <a:rect l="l" t="t" r="r" b="b"/>
              <a:pathLst>
                <a:path w="360998" h="9525">
                  <a:moveTo>
                    <a:pt x="0" y="0"/>
                  </a:moveTo>
                  <a:lnTo>
                    <a:pt x="3609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11129962" y="44415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145655" y="4358640"/>
              <a:ext cx="477202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8111490" y="4358640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9202102" y="4358640"/>
              <a:ext cx="477202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166985" y="4358640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382029" y="44276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247852" y="44276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209636" y="44276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303347" y="44276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265131" y="44276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服务台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251209" y="44276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离去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351270" y="3674269"/>
              <a:ext cx="1606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（4）多服务台串联服务</a:t>
              </a:r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03" name="Rectangle 103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0511" y="5753576"/>
              <a:ext cx="1005039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（2）中哪个服务台先空闲就由它接待队首顾客；（3）中顾客到达时先选一队，之后在本队等待；（4）中顾客要依次经过每个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服务台，如体检的各个科室。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6468" cy="909257"/>
            <a:chOff x="520446" y="342900"/>
            <a:chExt cx="8456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6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排队模型三要素，用 Kendall 记号 X/Y/Z/A/B/C 表示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761048" y="1749742"/>
            <a:ext cx="2791778" cy="3734752"/>
            <a:chOff x="761048" y="1749742"/>
            <a:chExt cx="2791778" cy="3734752"/>
          </a:xfrm>
        </p:grpSpPr>
        <p:sp>
          <p:nvSpPr>
            <p:cNvPr id="7" name="Freeform 7"/>
            <p:cNvSpPr/>
            <p:nvPr/>
          </p:nvSpPr>
          <p:spPr>
            <a:xfrm>
              <a:off x="2156460" y="2135505"/>
              <a:ext cx="9525" cy="346710"/>
            </a:xfrm>
            <a:custGeom>
              <a:avLst/>
              <a:gdLst/>
              <a:ahLst/>
              <a:cxnLst/>
              <a:rect l="l" t="t" r="r" b="b"/>
              <a:pathLst>
                <a:path w="9525" h="346710">
                  <a:moveTo>
                    <a:pt x="0" y="0"/>
                  </a:move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04072" y="24822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156460" y="2972752"/>
              <a:ext cx="9525" cy="250507"/>
            </a:xfrm>
            <a:custGeom>
              <a:avLst/>
              <a:gdLst/>
              <a:ahLst/>
              <a:cxnLst/>
              <a:rect l="l" t="t" r="r" b="b"/>
              <a:pathLst>
                <a:path w="9525" h="250507">
                  <a:moveTo>
                    <a:pt x="0" y="0"/>
                  </a:moveTo>
                  <a:lnTo>
                    <a:pt x="0" y="250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04072" y="32232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56460" y="3906202"/>
              <a:ext cx="9525" cy="154305"/>
            </a:xfrm>
            <a:custGeom>
              <a:avLst/>
              <a:gdLst/>
              <a:ahLst/>
              <a:cxnLst/>
              <a:rect l="l" t="t" r="r" b="b"/>
              <a:pathLst>
                <a:path w="9525" h="154305">
                  <a:moveTo>
                    <a:pt x="0" y="0"/>
                  </a:moveTo>
                  <a:lnTo>
                    <a:pt x="0" y="1543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04072" y="40605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156460" y="4743450"/>
              <a:ext cx="9525" cy="250507"/>
            </a:xfrm>
            <a:custGeom>
              <a:avLst/>
              <a:gdLst/>
              <a:ahLst/>
              <a:cxnLst/>
              <a:rect l="l" t="t" r="r" b="b"/>
              <a:pathLst>
                <a:path w="9525" h="250507">
                  <a:moveTo>
                    <a:pt x="0" y="0"/>
                  </a:moveTo>
                  <a:lnTo>
                    <a:pt x="0" y="250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04072" y="4993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1048" y="1749742"/>
              <a:ext cx="2791778" cy="385762"/>
            </a:xfrm>
            <a:prstGeom prst="roundRect">
              <a:avLst>
                <a:gd name="adj" fmla="val 4987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1048" y="2586990"/>
              <a:ext cx="2791778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1048" y="3328035"/>
              <a:ext cx="279177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1048" y="4165282"/>
              <a:ext cx="2791778" cy="578168"/>
            </a:xfrm>
            <a:prstGeom prst="roundRect">
              <a:avLst>
                <a:gd name="adj" fmla="val 16474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1048" y="5098732"/>
              <a:ext cx="2791778" cy="385762"/>
            </a:xfrm>
            <a:prstGeom prst="roundRect">
              <a:avLst>
                <a:gd name="adj" fmla="val 4987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24583" y="18645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顾客源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270176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输入过程：顾客按怎样的规律到达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2825" y="3441859"/>
              <a:ext cx="22872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排队规则：顾客按怎样的规则排队等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待服务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825" y="4279106"/>
              <a:ext cx="22872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服务机构：服务台的设置与数量、服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务方式、服务时间分布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99971" y="5213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离去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4084320" y="1524000"/>
            <a:ext cx="7574280" cy="2800350"/>
            <a:chOff x="4084320" y="1524000"/>
            <a:chExt cx="7574280" cy="2800350"/>
          </a:xfrm>
        </p:grpSpPr>
        <p:sp>
          <p:nvSpPr>
            <p:cNvPr id="26" name="Rectangle 26"/>
            <p:cNvSpPr/>
            <p:nvPr/>
          </p:nvSpPr>
          <p:spPr>
            <a:xfrm>
              <a:off x="4084320" y="1524000"/>
              <a:ext cx="757428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440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623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0017" y="16454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常见取值与默认值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81475" y="20454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14912" y="204549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顾客相继到达的间隔时间的分布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17167" y="2045494"/>
              <a:ext cx="3512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负指数、D 确定时间、Eₖ k 阶埃尔朗、G 一般分布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84320" y="231933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84320" y="2324100"/>
              <a:ext cx="75742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181475" y="24455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14912" y="24455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服务时间的分布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17167" y="2445544"/>
              <a:ext cx="599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取值同 X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84320" y="271938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81475" y="28455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14912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服务台个数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17167" y="2845594"/>
              <a:ext cx="72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…, 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084320" y="311943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84320" y="3124200"/>
              <a:ext cx="75742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181475" y="32456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14912" y="32456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系统容量限制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17167" y="32456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默认为 ∞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84320" y="351948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181475" y="36456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14912" y="3645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顾客源数目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17167" y="364569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默认为 ∞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84320" y="391953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084320" y="3924300"/>
              <a:ext cx="75742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181475" y="40457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14912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服务规则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17167" y="4045744"/>
              <a:ext cx="1615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默认为先到先服务 FCFS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084320" y="1524000"/>
              <a:ext cx="757428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491299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1525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kv-2"/>
          <p:cNvGrpSpPr/>
          <p:nvPr/>
        </p:nvGrpSpPr>
        <p:grpSpPr>
          <a:xfrm>
            <a:off x="4077462" y="4516755"/>
            <a:ext cx="7717516" cy="1048893"/>
            <a:chOff x="4077462" y="4516755"/>
            <a:chExt cx="7717516" cy="1048893"/>
          </a:xfrm>
        </p:grpSpPr>
        <p:sp>
          <p:nvSpPr>
            <p:cNvPr id="60" name="TextBox 60"/>
            <p:cNvSpPr txBox="1"/>
            <p:nvPr/>
          </p:nvSpPr>
          <p:spPr>
            <a:xfrm>
              <a:off x="4077462" y="4516755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M/M/1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084254" y="4516755"/>
              <a:ext cx="6710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泊松到达（间隔服从指数分布）、服务时间服从指数分布、1 个服务台，其余取默认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084320" y="4802505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7462" y="4909185"/>
              <a:ext cx="637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M/M/s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084254" y="4909185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同上，但有 s 个并行服务台（本部分的容量规划）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084320" y="5194935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077462" y="5301615"/>
              <a:ext cx="830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M/D/1/K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84254" y="5301615"/>
              <a:ext cx="5114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泊松到达、服务时间固定、1 个服务台、系统最多容纳 K 位顾客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8373"/>
              <a:ext cx="8727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取自 Markov：指数分布无记忆，到达间隔和服务时间都服从指数分布时，系统内人数是一个马尔可夫链。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衡量排队系统的指标：队长、等待时间、服务强度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33400" y="1524000"/>
            <a:ext cx="5842635" cy="3820477"/>
            <a:chOff x="533400" y="1524000"/>
            <a:chExt cx="5842635" cy="382047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8697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5267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3105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服务队长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1764" y="2076450"/>
              <a:ext cx="194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3844" y="20764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正在接受服务的顾客数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1764" y="2501265"/>
              <a:ext cx="194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Lq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3844" y="250126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在队列中等待的顾客数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总队长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828800" y="2807018"/>
              <a:ext cx="138303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21764" y="2926080"/>
              <a:ext cx="855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Ls + Lq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23844" y="29260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系统中的顾客总数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服务时间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21764" y="3349942"/>
              <a:ext cx="228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23844" y="334994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顾客在服务中消耗的时间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414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37747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等待时间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21764" y="3774757"/>
              <a:ext cx="228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Wq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23844" y="3774757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顾客在队列中等待的时间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0662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07098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41986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总时间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28800" y="4080510"/>
              <a:ext cx="138303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21764" y="4198620"/>
              <a:ext cx="955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Ws + Wq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23844" y="419862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顾客在系统中的总逗留时间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4900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889" y="46234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忙期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21764" y="4623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23844" y="462343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服务机构两次空闲的时间间隔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9149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919662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889" y="5048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服务强度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21764" y="50482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λ/(sμ)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23844" y="504825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到达率与 s 个服务台总服务率之比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5842635" cy="38195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814512" y="1524000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216592" y="1524000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6680835" y="1524000"/>
            <a:ext cx="4977765" cy="1522095"/>
            <a:chOff x="6680835" y="1524000"/>
            <a:chExt cx="4977765" cy="1522095"/>
          </a:xfrm>
        </p:grpSpPr>
        <p:sp>
          <p:nvSpPr>
            <p:cNvPr id="52" name="Rectangle 52"/>
            <p:cNvSpPr/>
            <p:nvPr/>
          </p:nvSpPr>
          <p:spPr>
            <a:xfrm>
              <a:off x="6680835" y="1524000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1705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849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稳态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09816" y="2082641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系统运行充分长时间后，初始状态的影响基本消失，系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统状态的概率分布不再随时间变化。本部分的公式都是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稳态下的平均值。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680835" y="3227070"/>
            <a:ext cx="4977765" cy="2029778"/>
            <a:chOff x="6680835" y="3227070"/>
            <a:chExt cx="4977765" cy="2029778"/>
          </a:xfrm>
        </p:grpSpPr>
        <p:sp>
          <p:nvSpPr>
            <p:cNvPr id="58" name="Rectangle 58"/>
            <p:cNvSpPr/>
            <p:nvPr/>
          </p:nvSpPr>
          <p:spPr>
            <a:xfrm>
              <a:off x="6680835" y="3227070"/>
              <a:ext cx="4977765" cy="2029778"/>
            </a:xfrm>
            <a:prstGeom prst="roundRect">
              <a:avLst>
                <a:gd name="adj" fmla="val 65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90360" y="3360420"/>
              <a:ext cx="47625" cy="17630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17055" y="34251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08495" y="34594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00366" y="3459956"/>
              <a:ext cx="10248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Little 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formula37"/>
                <p:cNvSpPr txBox="1">
                  <a:spLocks noGrp="1"/>
                </p:cNvSpPr>
                <p:nvPr/>
              </p:nvSpPr>
              <p:spPr>
                <a:xfrm>
                  <a:off x="6917055" y="3779520"/>
                  <a:ext cx="45434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λW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4" name="TextBox 64"/>
            <p:cNvSpPr txBox="1"/>
            <p:nvPr/>
          </p:nvSpPr>
          <p:spPr>
            <a:xfrm>
              <a:off x="6909816" y="4293394"/>
              <a:ext cx="421640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平均队长 = 到达率 × 平均逗留时间，对一般的排队系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统都成立。例 15.1 用它由平均顾客数求平均滞留时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680835" y="5436870"/>
            <a:ext cx="4977765" cy="756285"/>
            <a:chOff x="6680835" y="5436870"/>
            <a:chExt cx="4977765" cy="756285"/>
          </a:xfrm>
        </p:grpSpPr>
        <p:sp>
          <p:nvSpPr>
            <p:cNvPr id="66" name="Rectangle 66"/>
            <p:cNvSpPr/>
            <p:nvPr/>
          </p:nvSpPr>
          <p:spPr>
            <a:xfrm>
              <a:off x="6680835" y="543687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873564" y="5711308"/>
              <a:ext cx="224134" cy="192560"/>
              <a:chOff x="6873564" y="5711308"/>
              <a:chExt cx="224134" cy="1925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985635" y="57816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873564" y="57113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985635" y="58594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187946" y="5584031"/>
              <a:ext cx="390080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ρ ≥ 1 时顾客来得比服务得快，队长会无限增长，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系统没有稳态。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65394" cy="909257"/>
            <a:chOff x="520446" y="342900"/>
            <a:chExt cx="98653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653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的假设：很短的时间 Δt 内至多到达一人、至多离开一人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28447" y="1524000"/>
            <a:ext cx="5198935" cy="3063906"/>
            <a:chOff x="528447" y="1524000"/>
            <a:chExt cx="5198935" cy="30639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9115" y="1645444"/>
              <a:ext cx="2315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事件（时间间隔 [t, t + Δt] 内）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8792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有且仅有一位顾客到达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970972" y="1933575"/>
              <a:ext cx="174688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58602" y="2045494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λΔt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0555" y="24455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没有顾客到达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58602" y="2445544"/>
              <a:ext cx="526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λΔt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8455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多于一位顾客到达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5860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24564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有且仅有一位顾客服务完成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970972" y="3133725"/>
              <a:ext cx="174688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58602" y="3245644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μΔt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36456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没有顾客服务完成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58602" y="3645694"/>
              <a:ext cx="526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μΔt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19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9243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40457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多于一位顾客服务完成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5860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19398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95668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447" y="4397216"/>
              <a:ext cx="4700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 为到达速率，μ 为服务速率；严格写法是各概率再加比 Δt 高阶的无穷小 o(Δt)</a:t>
              </a:r>
            </a:p>
          </p:txBody>
        </p:sp>
      </p:grpSp>
      <p:grpSp>
        <p:nvGrpSpPr>
          <p:cNvPr id="44" name="c1-card-2"/>
          <p:cNvGrpSpPr/>
          <p:nvPr/>
        </p:nvGrpSpPr>
        <p:grpSpPr>
          <a:xfrm>
            <a:off x="533400" y="4719638"/>
            <a:ext cx="5193982" cy="1485900"/>
            <a:chOff x="533400" y="4719638"/>
            <a:chExt cx="5193982" cy="1485900"/>
          </a:xfrm>
        </p:grpSpPr>
        <p:sp>
          <p:nvSpPr>
            <p:cNvPr id="36" name="Rectangle 36"/>
            <p:cNvSpPr/>
            <p:nvPr/>
          </p:nvSpPr>
          <p:spPr>
            <a:xfrm>
              <a:off x="533400" y="4719638"/>
              <a:ext cx="5193982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852988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8190" y="49063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0862" y="49391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6762" y="53073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2782" y="5251133"/>
              <a:ext cx="330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Pₖ(t)：时刻 t 系统内有 k 位顾客的概率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66762" y="5607367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2782" y="5551170"/>
              <a:ext cx="42313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pᵢ,ⱼ(Δt)：在长为 Δt 的时间内，系统内人数由 i 变为 j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</a:t>
              </a:r>
            </a:p>
          </p:txBody>
        </p:sp>
      </p:grpSp>
      <p:grpSp>
        <p:nvGrpSpPr>
          <p:cNvPr id="46" name="c2-text-1"/>
          <p:cNvGrpSpPr/>
          <p:nvPr/>
        </p:nvGrpSpPr>
        <p:grpSpPr>
          <a:xfrm>
            <a:off x="6026467" y="1542574"/>
            <a:ext cx="1493173" cy="220028"/>
            <a:chOff x="6026467" y="1542574"/>
            <a:chExt cx="1493173" cy="220028"/>
          </a:xfrm>
        </p:grpSpPr>
        <p:sp>
          <p:nvSpPr>
            <p:cNvPr id="45" name="TextBox 45"/>
            <p:cNvSpPr txBox="1"/>
            <p:nvPr/>
          </p:nvSpPr>
          <p:spPr>
            <a:xfrm>
              <a:off x="6026467" y="1542574"/>
              <a:ext cx="1493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的状态转移图</a:t>
              </a:r>
            </a:p>
          </p:txBody>
        </p:sp>
      </p:grpSp>
      <p:grpSp>
        <p:nvGrpSpPr>
          <p:cNvPr id="95" name="c2-graph-2"/>
          <p:cNvGrpSpPr/>
          <p:nvPr/>
        </p:nvGrpSpPr>
        <p:grpSpPr>
          <a:xfrm>
            <a:off x="6178868" y="2322195"/>
            <a:ext cx="5410384" cy="591026"/>
            <a:chOff x="6178868" y="2322195"/>
            <a:chExt cx="5410384" cy="591026"/>
          </a:xfrm>
        </p:grpSpPr>
        <p:sp>
          <p:nvSpPr>
            <p:cNvPr id="47" name="Freeform 47"/>
            <p:cNvSpPr/>
            <p:nvPr/>
          </p:nvSpPr>
          <p:spPr>
            <a:xfrm>
              <a:off x="6540818" y="2370138"/>
              <a:ext cx="476250" cy="127317"/>
            </a:xfrm>
            <a:custGeom>
              <a:avLst/>
              <a:gdLst/>
              <a:ahLst/>
              <a:cxnLst/>
              <a:rect l="l" t="t" r="r" b="b"/>
              <a:pathLst>
                <a:path w="476250" h="127317">
                  <a:moveTo>
                    <a:pt x="0" y="127317"/>
                  </a:moveTo>
                  <a:cubicBezTo>
                    <a:pt x="186055" y="16192"/>
                    <a:pt x="344805" y="0"/>
                    <a:pt x="476250" y="787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992302" y="240792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89535"/>
                  </a:moveTo>
                  <a:lnTo>
                    <a:pt x="0" y="819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622732" y="2703195"/>
              <a:ext cx="475298" cy="128270"/>
            </a:xfrm>
            <a:custGeom>
              <a:avLst/>
              <a:gdLst/>
              <a:ahLst/>
              <a:cxnLst/>
              <a:rect l="l" t="t" r="r" b="b"/>
              <a:pathLst>
                <a:path w="475298" h="128270">
                  <a:moveTo>
                    <a:pt x="475298" y="0"/>
                  </a:moveTo>
                  <a:cubicBezTo>
                    <a:pt x="289878" y="111760"/>
                    <a:pt x="131445" y="128270"/>
                    <a:pt x="0" y="495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540818" y="270319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0" y="0"/>
                  </a:moveTo>
                  <a:lnTo>
                    <a:pt x="106680" y="8572"/>
                  </a:lnTo>
                  <a:lnTo>
                    <a:pt x="57150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440930" y="2397760"/>
              <a:ext cx="519112" cy="110173"/>
            </a:xfrm>
            <a:custGeom>
              <a:avLst/>
              <a:gdLst/>
              <a:ahLst/>
              <a:cxnLst/>
              <a:rect l="l" t="t" r="r" b="b"/>
              <a:pathLst>
                <a:path w="519112" h="110173">
                  <a:moveTo>
                    <a:pt x="0" y="99695"/>
                  </a:moveTo>
                  <a:cubicBezTo>
                    <a:pt x="167005" y="0"/>
                    <a:pt x="340042" y="3493"/>
                    <a:pt x="519112" y="11017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7935278" y="246792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89535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522845" y="2644140"/>
              <a:ext cx="519112" cy="175895"/>
            </a:xfrm>
            <a:custGeom>
              <a:avLst/>
              <a:gdLst/>
              <a:ahLst/>
              <a:cxnLst/>
              <a:rect l="l" t="t" r="r" b="b"/>
              <a:pathLst>
                <a:path w="519112" h="175895">
                  <a:moveTo>
                    <a:pt x="519112" y="0"/>
                  </a:moveTo>
                  <a:cubicBezTo>
                    <a:pt x="285433" y="139700"/>
                    <a:pt x="112395" y="175895"/>
                    <a:pt x="0" y="1085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4" name="Freeform 54"/>
            <p:cNvSpPr/>
            <p:nvPr/>
          </p:nvSpPr>
          <p:spPr>
            <a:xfrm>
              <a:off x="7440930" y="270319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0" y="0"/>
                  </a:moveTo>
                  <a:lnTo>
                    <a:pt x="106680" y="8572"/>
                  </a:lnTo>
                  <a:lnTo>
                    <a:pt x="57150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185785" y="2378392"/>
              <a:ext cx="502920" cy="179070"/>
            </a:xfrm>
            <a:custGeom>
              <a:avLst/>
              <a:gdLst/>
              <a:ahLst/>
              <a:cxnLst/>
              <a:rect l="l" t="t" r="r" b="b"/>
              <a:pathLst>
                <a:path w="502920" h="179070">
                  <a:moveTo>
                    <a:pt x="0" y="179070"/>
                  </a:moveTo>
                  <a:cubicBezTo>
                    <a:pt x="233680" y="39370"/>
                    <a:pt x="401320" y="0"/>
                    <a:pt x="502920" y="609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6" name="Freeform 56"/>
            <p:cNvSpPr/>
            <p:nvPr/>
          </p:nvSpPr>
          <p:spPr>
            <a:xfrm>
              <a:off x="8663940" y="239839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89535"/>
                  </a:moveTo>
                  <a:lnTo>
                    <a:pt x="0" y="80962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267700" y="2692718"/>
              <a:ext cx="501968" cy="114300"/>
            </a:xfrm>
            <a:custGeom>
              <a:avLst/>
              <a:gdLst/>
              <a:ahLst/>
              <a:cxnLst/>
              <a:rect l="l" t="t" r="r" b="b"/>
              <a:pathLst>
                <a:path w="501968" h="114300">
                  <a:moveTo>
                    <a:pt x="501968" y="20955"/>
                  </a:moveTo>
                  <a:cubicBezTo>
                    <a:pt x="346393" y="114300"/>
                    <a:pt x="179070" y="107315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8" name="Freeform 58"/>
            <p:cNvSpPr/>
            <p:nvPr/>
          </p:nvSpPr>
          <p:spPr>
            <a:xfrm>
              <a:off x="8185785" y="2644140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0"/>
                  </a:moveTo>
                  <a:lnTo>
                    <a:pt x="106680" y="8572"/>
                  </a:lnTo>
                  <a:lnTo>
                    <a:pt x="5715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9145905" y="2355532"/>
              <a:ext cx="499110" cy="132397"/>
            </a:xfrm>
            <a:custGeom>
              <a:avLst/>
              <a:gdLst/>
              <a:ahLst/>
              <a:cxnLst/>
              <a:rect l="l" t="t" r="r" b="b"/>
              <a:pathLst>
                <a:path w="499110" h="132397">
                  <a:moveTo>
                    <a:pt x="0" y="132397"/>
                  </a:moveTo>
                  <a:cubicBezTo>
                    <a:pt x="193675" y="16192"/>
                    <a:pt x="360045" y="0"/>
                    <a:pt x="499110" y="8382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620250" y="2398395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89535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9227820" y="2713672"/>
              <a:ext cx="499110" cy="132398"/>
            </a:xfrm>
            <a:custGeom>
              <a:avLst/>
              <a:gdLst/>
              <a:ahLst/>
              <a:cxnLst/>
              <a:rect l="l" t="t" r="r" b="b"/>
              <a:pathLst>
                <a:path w="499110" h="132398">
                  <a:moveTo>
                    <a:pt x="499110" y="0"/>
                  </a:moveTo>
                  <a:cubicBezTo>
                    <a:pt x="305435" y="116205"/>
                    <a:pt x="139065" y="132398"/>
                    <a:pt x="0" y="4857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145905" y="271367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0"/>
                  </a:moveTo>
                  <a:lnTo>
                    <a:pt x="105727" y="7620"/>
                  </a:lnTo>
                  <a:lnTo>
                    <a:pt x="5715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102215" y="2355532"/>
              <a:ext cx="499110" cy="132397"/>
            </a:xfrm>
            <a:custGeom>
              <a:avLst/>
              <a:gdLst/>
              <a:ahLst/>
              <a:cxnLst/>
              <a:rect l="l" t="t" r="r" b="b"/>
              <a:pathLst>
                <a:path w="499110" h="132397">
                  <a:moveTo>
                    <a:pt x="0" y="132397"/>
                  </a:moveTo>
                  <a:cubicBezTo>
                    <a:pt x="193675" y="16192"/>
                    <a:pt x="360045" y="0"/>
                    <a:pt x="499110" y="8382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576560" y="2398395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89535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10184130" y="2713672"/>
              <a:ext cx="499110" cy="132398"/>
            </a:xfrm>
            <a:custGeom>
              <a:avLst/>
              <a:gdLst/>
              <a:ahLst/>
              <a:cxnLst/>
              <a:rect l="l" t="t" r="r" b="b"/>
              <a:pathLst>
                <a:path w="499110" h="132398">
                  <a:moveTo>
                    <a:pt x="499110" y="0"/>
                  </a:moveTo>
                  <a:cubicBezTo>
                    <a:pt x="305435" y="116205"/>
                    <a:pt x="139065" y="132398"/>
                    <a:pt x="0" y="4857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0102215" y="271367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0"/>
                  </a:moveTo>
                  <a:lnTo>
                    <a:pt x="105728" y="7620"/>
                  </a:lnTo>
                  <a:lnTo>
                    <a:pt x="5715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11058525" y="2428240"/>
              <a:ext cx="333375" cy="79693"/>
            </a:xfrm>
            <a:custGeom>
              <a:avLst/>
              <a:gdLst/>
              <a:ahLst/>
              <a:cxnLst/>
              <a:rect l="l" t="t" r="r" b="b"/>
              <a:pathLst>
                <a:path w="333375" h="79693">
                  <a:moveTo>
                    <a:pt x="0" y="59690"/>
                  </a:moveTo>
                  <a:cubicBezTo>
                    <a:pt x="99695" y="0"/>
                    <a:pt x="210820" y="6668"/>
                    <a:pt x="333375" y="7969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68" name="Freeform 68"/>
            <p:cNvSpPr/>
            <p:nvPr/>
          </p:nvSpPr>
          <p:spPr>
            <a:xfrm>
              <a:off x="11367135" y="246792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89535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11140440" y="2644140"/>
              <a:ext cx="333375" cy="145415"/>
            </a:xfrm>
            <a:custGeom>
              <a:avLst/>
              <a:gdLst/>
              <a:ahLst/>
              <a:cxnLst/>
              <a:rect l="l" t="t" r="r" b="b"/>
              <a:pathLst>
                <a:path w="333375" h="145415">
                  <a:moveTo>
                    <a:pt x="333375" y="0"/>
                  </a:moveTo>
                  <a:cubicBezTo>
                    <a:pt x="156210" y="106045"/>
                    <a:pt x="45085" y="145415"/>
                    <a:pt x="0" y="1181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70" name="Freeform 70"/>
            <p:cNvSpPr/>
            <p:nvPr/>
          </p:nvSpPr>
          <p:spPr>
            <a:xfrm>
              <a:off x="11058525" y="2713672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0"/>
                  </a:moveTo>
                  <a:lnTo>
                    <a:pt x="106680" y="7620"/>
                  </a:lnTo>
                  <a:lnTo>
                    <a:pt x="5715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6178868" y="2409825"/>
              <a:ext cx="381000" cy="3810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078980" y="2409825"/>
              <a:ext cx="381000" cy="3810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748712" y="2390775"/>
              <a:ext cx="419100" cy="4191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705022" y="2390775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10661332" y="2390775"/>
              <a:ext cx="419100" cy="4191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26320" y="25398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26433" y="25398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070348" y="25398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39027" y="253984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k−1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71525" y="25398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751647" y="253984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k+1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3158" y="25398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753225" y="23355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784781" y="23645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753225" y="27089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84781" y="27379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369742" y="23221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40129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369742" y="27222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401298" y="27512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326052" y="23221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35760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326052" y="27222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357608" y="27512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</p:grpSp>
      <p:grpSp>
        <p:nvGrpSpPr>
          <p:cNvPr id="97" name="c2-text-3"/>
          <p:cNvGrpSpPr/>
          <p:nvPr/>
        </p:nvGrpSpPr>
        <p:grpSpPr>
          <a:xfrm>
            <a:off x="6026467" y="3501866"/>
            <a:ext cx="5395214" cy="661988"/>
            <a:chOff x="6026467" y="3501866"/>
            <a:chExt cx="5395214" cy="661988"/>
          </a:xfrm>
        </p:grpSpPr>
        <p:sp>
          <p:nvSpPr>
            <p:cNvPr id="96" name="TextBox 96"/>
            <p:cNvSpPr txBox="1"/>
            <p:nvPr/>
          </p:nvSpPr>
          <p:spPr>
            <a:xfrm>
              <a:off x="6026467" y="3501866"/>
              <a:ext cx="5395214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圆圈里的数字是系统内人数。上方弧线表示到达一人（速率 λ），下方弧线表示服务完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成一人（速率 μ）。人数每次只加 1 或减 1，这种连续时间马氏链称为生灭过程；一般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的生灭过程中速率可随 k 变化，记为 λₖ、μₖ。</a:t>
              </a:r>
            </a:p>
          </p:txBody>
        </p:sp>
      </p:grpSp>
      <p:grpSp>
        <p:nvGrpSpPr>
          <p:cNvPr id="106" name="c2-card-4"/>
          <p:cNvGrpSpPr/>
          <p:nvPr/>
        </p:nvGrpSpPr>
        <p:grpSpPr>
          <a:xfrm>
            <a:off x="6032182" y="4290060"/>
            <a:ext cx="5626418" cy="1915478"/>
            <a:chOff x="6032182" y="4290060"/>
            <a:chExt cx="5626418" cy="1915478"/>
          </a:xfrm>
        </p:grpSpPr>
        <p:sp>
          <p:nvSpPr>
            <p:cNvPr id="98" name="Rectangle 98"/>
            <p:cNvSpPr/>
            <p:nvPr/>
          </p:nvSpPr>
          <p:spPr>
            <a:xfrm>
              <a:off x="6032182" y="4290060"/>
              <a:ext cx="5626418" cy="1915478"/>
            </a:xfrm>
            <a:prstGeom prst="roundRect">
              <a:avLst>
                <a:gd name="adj" fmla="val 69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041708" y="4423410"/>
              <a:ext cx="47625" cy="16487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256972" y="447675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323190" y="450961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为什么可以这样假设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6265545" y="487775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421564" y="4821555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到达是参数 λ 的泊松过程：Δt 内到达 1 次的概率 λΔt·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e^{−λΔt} = λΔt + o(Δt)，到达 2 次及以上的概率是 o(Δt)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6265545" y="543496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421564" y="5378768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服务时间服从指数分布：Δt 内完成服务的概率 1 − e^{−μΔt} =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μΔt + o(Δt)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3061" cy="909257"/>
            <a:chOff x="520446" y="342900"/>
            <a:chExt cx="65830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30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推导①：t + Δt 时刻有 k 人，只有四种来路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8066" y="1524000"/>
            <a:ext cx="5631752" cy="2615184"/>
            <a:chOff x="528066" y="1524000"/>
            <a:chExt cx="5631752" cy="261518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63817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322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3510" y="1652588"/>
              <a:ext cx="116586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时刻人数 → t +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Δt 时刻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09900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5223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5748" y="17592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转移概率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7580" y="2289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8607" y="228981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→ 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90672" y="22898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65994" y="22898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36402" y="2289810"/>
              <a:ext cx="1477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λΔt)(1 − μΔt)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5812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58603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580" y="271462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71295" y="2714625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+ 1 → 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90672" y="27146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65994" y="27146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6305" y="2714625"/>
              <a:ext cx="1197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λΔt)(μΔt)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06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7580" y="313944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71295" y="313944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− 1 → 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90672" y="31394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65994" y="31394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6305" y="3139440"/>
              <a:ext cx="1197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(λΔt)(1 − μΔt)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299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3471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7580" y="356330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08607" y="3563302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→ 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90672" y="356330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65994" y="356330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16208" y="3563302"/>
              <a:ext cx="917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(λΔt)(μΔt)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626418" cy="2335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47762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835592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510915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86238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066" y="3933825"/>
              <a:ext cx="3438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在泊松过程假设下顾客到达与离开的四种情况（k ≥ 1）</a:t>
              </a:r>
            </a:p>
          </p:txBody>
        </p:sp>
      </p:grpSp>
      <p:grpSp>
        <p:nvGrpSpPr>
          <p:cNvPr id="50" name="c1-card-2"/>
          <p:cNvGrpSpPr/>
          <p:nvPr/>
        </p:nvGrpSpPr>
        <p:grpSpPr>
          <a:xfrm>
            <a:off x="533400" y="4278630"/>
            <a:ext cx="5626418" cy="1854518"/>
            <a:chOff x="533400" y="4278630"/>
            <a:chExt cx="5626418" cy="1854518"/>
          </a:xfrm>
        </p:grpSpPr>
        <p:sp>
          <p:nvSpPr>
            <p:cNvPr id="45" name="Rectangle 45"/>
            <p:cNvSpPr/>
            <p:nvPr/>
          </p:nvSpPr>
          <p:spPr>
            <a:xfrm>
              <a:off x="533400" y="4278630"/>
              <a:ext cx="5626418" cy="1854518"/>
            </a:xfrm>
            <a:prstGeom prst="roundRect">
              <a:avLst>
                <a:gd name="adj" fmla="val 7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411980"/>
              <a:ext cx="47625" cy="15878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9620" y="44767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1060" y="45110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381" y="4837271"/>
              <a:ext cx="496481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原课件写“Pₖ(t) 表示在时间间隔 t 内系统有 k 位顾客的概率”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“可由 k 和 k − 1 的概率表示”，表头写成 [t, t + 1)。Pₖ(t)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是时刻 t 的概率；来路有 k − 1、k、k + 1 三个状态；时间段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[t, t + Δt)。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464618" y="1524000"/>
            <a:ext cx="5193982" cy="1172528"/>
            <a:chOff x="6464618" y="1524000"/>
            <a:chExt cx="5193982" cy="1172528"/>
          </a:xfrm>
        </p:grpSpPr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1172528"/>
            </a:xfrm>
            <a:prstGeom prst="roundRect">
              <a:avLst>
                <a:gd name="adj" fmla="val 1137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62738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2176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全概率公式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44"/>
                <p:cNvSpPr txBox="1">
                  <a:spLocks noGrp="1"/>
                </p:cNvSpPr>
                <p:nvPr/>
              </p:nvSpPr>
              <p:spPr>
                <a:xfrm>
                  <a:off x="6662738" y="2059305"/>
                  <a:ext cx="4797742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+Δ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0" name="c2-card-2"/>
          <p:cNvGrpSpPr/>
          <p:nvPr/>
        </p:nvGrpSpPr>
        <p:grpSpPr>
          <a:xfrm>
            <a:off x="6464618" y="2876550"/>
            <a:ext cx="5193982" cy="1377315"/>
            <a:chOff x="6464618" y="2876550"/>
            <a:chExt cx="5193982" cy="1377315"/>
          </a:xfrm>
        </p:grpSpPr>
        <p:sp>
          <p:nvSpPr>
            <p:cNvPr id="56" name="Rectangle 56"/>
            <p:cNvSpPr/>
            <p:nvPr/>
          </p:nvSpPr>
          <p:spPr>
            <a:xfrm>
              <a:off x="6464618" y="2876550"/>
              <a:ext cx="5193982" cy="1377315"/>
            </a:xfrm>
            <a:prstGeom prst="roundRect">
              <a:avLst>
                <a:gd name="adj" fmla="val 96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62738" y="3074670"/>
              <a:ext cx="13716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52180" y="3108960"/>
              <a:ext cx="1192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代入假设（k ≥ 1）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formula45"/>
                <p:cNvSpPr txBox="1">
                  <a:spLocks noGrp="1"/>
                </p:cNvSpPr>
                <p:nvPr/>
              </p:nvSpPr>
              <p:spPr>
                <a:xfrm>
                  <a:off x="6662738" y="3411855"/>
                  <a:ext cx="4797742" cy="6257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+Δ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5" name="c2-card-3"/>
          <p:cNvGrpSpPr/>
          <p:nvPr/>
        </p:nvGrpSpPr>
        <p:grpSpPr>
          <a:xfrm>
            <a:off x="6464618" y="4433888"/>
            <a:ext cx="5193982" cy="1075372"/>
            <a:chOff x="6464618" y="4433888"/>
            <a:chExt cx="5193982" cy="1075372"/>
          </a:xfrm>
        </p:grpSpPr>
        <p:sp>
          <p:nvSpPr>
            <p:cNvPr id="61" name="Rectangle 61"/>
            <p:cNvSpPr/>
            <p:nvPr/>
          </p:nvSpPr>
          <p:spPr>
            <a:xfrm>
              <a:off x="6464618" y="4433888"/>
              <a:ext cx="5193982" cy="1075372"/>
            </a:xfrm>
            <a:prstGeom prst="roundRect">
              <a:avLst>
                <a:gd name="adj" fmla="val 1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62738" y="4632008"/>
              <a:ext cx="22583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01316" y="4666298"/>
              <a:ext cx="2182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k = 0（系统为空，不会有人离开）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formula46"/>
                <p:cNvSpPr txBox="1">
                  <a:spLocks noGrp="1"/>
                </p:cNvSpPr>
                <p:nvPr/>
              </p:nvSpPr>
              <p:spPr>
                <a:xfrm>
                  <a:off x="6662738" y="4969192"/>
                  <a:ext cx="4797742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+Δ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7" name="c2-text-4"/>
          <p:cNvGrpSpPr/>
          <p:nvPr/>
        </p:nvGrpSpPr>
        <p:grpSpPr>
          <a:xfrm>
            <a:off x="6458522" y="5709285"/>
            <a:ext cx="4828032" cy="470916"/>
            <a:chOff x="6458522" y="5709285"/>
            <a:chExt cx="4828032" cy="470916"/>
          </a:xfrm>
        </p:grpSpPr>
        <p:sp>
          <p:nvSpPr>
            <p:cNvPr id="66" name="TextBox 66"/>
            <p:cNvSpPr txBox="1"/>
            <p:nvPr/>
          </p:nvSpPr>
          <p:spPr>
            <a:xfrm>
              <a:off x="6458522" y="5709285"/>
              <a:ext cx="48280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D 的概率是 (Δt)² 量级，除以 Δt 再令 Δt → 0 后消失，所以代入时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略去。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3225" cy="909257"/>
            <a:chOff x="520446" y="342900"/>
            <a:chExt cx="72832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32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推导②：令 Δt → 0 得微分方程，稳态时导数为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steps-1"/>
          <p:cNvGrpSpPr/>
          <p:nvPr/>
        </p:nvGrpSpPr>
        <p:grpSpPr>
          <a:xfrm>
            <a:off x="533400" y="1533525"/>
            <a:ext cx="5115433" cy="1462373"/>
            <a:chOff x="533400" y="1533525"/>
            <a:chExt cx="5115433" cy="14623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1567815"/>
              <a:ext cx="1330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移项、除以 Δt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1861661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把上页两式右边展开，Pₖ(t) 移到左边，两边除以 Δt，略去含 Δt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2453640"/>
              <a:ext cx="893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Δt →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274653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左边变成导数，得到下面的微分方程组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52"/>
              <p:cNvSpPr txBox="1">
                <a:spLocks noGrp="1"/>
              </p:cNvSpPr>
              <p:nvPr/>
            </p:nvSpPr>
            <p:spPr>
              <a:xfrm>
                <a:off x="533400" y="3174682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</m:d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53"/>
              <p:cNvSpPr txBox="1">
                <a:spLocks noGrp="1"/>
              </p:cNvSpPr>
              <p:nvPr/>
            </p:nvSpPr>
            <p:spPr>
              <a:xfrm>
                <a:off x="533400" y="3828098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steps-4"/>
          <p:cNvGrpSpPr/>
          <p:nvPr/>
        </p:nvGrpSpPr>
        <p:grpSpPr>
          <a:xfrm>
            <a:off x="533400" y="4491038"/>
            <a:ext cx="4765929" cy="811816"/>
            <a:chOff x="533400" y="4491038"/>
            <a:chExt cx="4765929" cy="811816"/>
          </a:xfrm>
        </p:grpSpPr>
        <p:sp>
          <p:nvSpPr>
            <p:cNvPr id="19" name="Ellipse 19"/>
            <p:cNvSpPr/>
            <p:nvPr/>
          </p:nvSpPr>
          <p:spPr>
            <a:xfrm>
              <a:off x="533400" y="44910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5648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5253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819174"/>
              <a:ext cx="4353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系统处于稳定状态（steady state）时 dPₖ(t)/dt = 0（k 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0），概率不再随 t 变化，记为 Pₖ</a:t>
              </a:r>
            </a:p>
          </p:txBody>
        </p:sp>
      </p:grpSp>
      <p:grpSp>
        <p:nvGrpSpPr>
          <p:cNvPr id="25" name="c1-text-5"/>
          <p:cNvGrpSpPr/>
          <p:nvPr/>
        </p:nvGrpSpPr>
        <p:grpSpPr>
          <a:xfrm>
            <a:off x="526923" y="5502116"/>
            <a:ext cx="4426393" cy="249364"/>
            <a:chOff x="526923" y="5502116"/>
            <a:chExt cx="4426393" cy="249364"/>
          </a:xfrm>
        </p:grpSpPr>
        <p:sp>
          <p:nvSpPr>
            <p:cNvPr id="24" name="TextBox 24"/>
            <p:cNvSpPr txBox="1"/>
            <p:nvPr/>
          </p:nvSpPr>
          <p:spPr>
            <a:xfrm>
              <a:off x="526923" y="5502116"/>
              <a:ext cx="4426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dP₀(t)/dt 一式中多写了一个等号，这里已改正。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2440305"/>
            <a:chOff x="6248400" y="1524000"/>
            <a:chExt cx="5410200" cy="244030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440305"/>
            </a:xfrm>
            <a:prstGeom prst="roundRect">
              <a:avLst>
                <a:gd name="adj" fmla="val 546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57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0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稳态方程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54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</m:d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55"/>
                <p:cNvSpPr txBox="1">
                  <a:spLocks noGrp="1"/>
                </p:cNvSpPr>
                <p:nvPr/>
              </p:nvSpPr>
              <p:spPr>
                <a:xfrm>
                  <a:off x="6457950" y="2543175"/>
                  <a:ext cx="499110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50330" y="3025140"/>
              <a:ext cx="4986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λP₀ = μP₁ 代入 k = 1 的方程得 λP₁ = μP₂，依次类推：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56"/>
                <p:cNvSpPr txBox="1">
                  <a:spLocks noGrp="1"/>
                </p:cNvSpPr>
                <p:nvPr/>
              </p:nvSpPr>
              <p:spPr>
                <a:xfrm>
                  <a:off x="6457950" y="3335655"/>
                  <a:ext cx="49911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0" name="c2-graph-2"/>
          <p:cNvGrpSpPr/>
          <p:nvPr/>
        </p:nvGrpSpPr>
        <p:grpSpPr>
          <a:xfrm>
            <a:off x="7534275" y="4182904"/>
            <a:ext cx="2838450" cy="1167288"/>
            <a:chOff x="7534275" y="4182904"/>
            <a:chExt cx="2838450" cy="1167288"/>
          </a:xfrm>
        </p:grpSpPr>
        <p:sp>
          <p:nvSpPr>
            <p:cNvPr id="34" name="Freeform 34"/>
            <p:cNvSpPr/>
            <p:nvPr/>
          </p:nvSpPr>
          <p:spPr>
            <a:xfrm>
              <a:off x="7967662" y="4276408"/>
              <a:ext cx="1889760" cy="410845"/>
            </a:xfrm>
            <a:custGeom>
              <a:avLst/>
              <a:gdLst/>
              <a:ahLst/>
              <a:cxnLst/>
              <a:rect l="l" t="t" r="r" b="b"/>
              <a:pathLst>
                <a:path w="1889760" h="410845">
                  <a:moveTo>
                    <a:pt x="0" y="410845"/>
                  </a:moveTo>
                  <a:cubicBezTo>
                    <a:pt x="657225" y="16510"/>
                    <a:pt x="1287145" y="0"/>
                    <a:pt x="1889760" y="36131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33610" y="459771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0962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049578" y="4932045"/>
              <a:ext cx="1889760" cy="410845"/>
            </a:xfrm>
            <a:custGeom>
              <a:avLst/>
              <a:gdLst/>
              <a:ahLst/>
              <a:cxnLst/>
              <a:rect l="l" t="t" r="r" b="b"/>
              <a:pathLst>
                <a:path w="1889760" h="410845">
                  <a:moveTo>
                    <a:pt x="1889760" y="0"/>
                  </a:moveTo>
                  <a:cubicBezTo>
                    <a:pt x="1232535" y="394335"/>
                    <a:pt x="602615" y="410845"/>
                    <a:pt x="0" y="495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967662" y="493204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0"/>
                  </a:moveTo>
                  <a:lnTo>
                    <a:pt x="105728" y="8573"/>
                  </a:lnTo>
                  <a:lnTo>
                    <a:pt x="5715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953500" y="4236720"/>
              <a:ext cx="9525" cy="1074420"/>
            </a:xfrm>
            <a:custGeom>
              <a:avLst/>
              <a:gdLst/>
              <a:ahLst/>
              <a:cxnLst/>
              <a:rect l="l" t="t" r="r" b="b"/>
              <a:pathLst>
                <a:path w="9525" h="1074420">
                  <a:moveTo>
                    <a:pt x="0" y="0"/>
                  </a:moveTo>
                  <a:lnTo>
                    <a:pt x="0" y="107442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9" name="Ellipse 39"/>
            <p:cNvSpPr/>
            <p:nvPr/>
          </p:nvSpPr>
          <p:spPr>
            <a:xfrm>
              <a:off x="7534275" y="4580572"/>
              <a:ext cx="457200" cy="457200"/>
            </a:xfrm>
            <a:prstGeom prst="ellipse">
              <a:avLst/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915525" y="4580572"/>
              <a:ext cx="457200" cy="4572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952548" y="42252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952548" y="53206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6552" y="473916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k−1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94874" y="4739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883968" y="4305300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15419" y="43376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883968" y="5142548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5419" y="51739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29446" y="41829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248400" y="5535930"/>
            <a:ext cx="5410200" cy="782955"/>
            <a:chOff x="6248400" y="5535930"/>
            <a:chExt cx="5410200" cy="782955"/>
          </a:xfrm>
        </p:grpSpPr>
        <p:sp>
          <p:nvSpPr>
            <p:cNvPr id="51" name="Rectangle 51"/>
            <p:cNvSpPr/>
            <p:nvPr/>
          </p:nvSpPr>
          <p:spPr>
            <a:xfrm>
              <a:off x="6248400" y="553593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827395"/>
              <a:ext cx="200026" cy="200025"/>
              <a:chOff x="6453188" y="582739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8273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492926" y="58718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7642" y="59829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5684520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稳态时，单位时间内向右跨过边界的概率流 λPₖ₋₁ 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于向左跨回的 μPₖ。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20477" cy="909257"/>
            <a:chOff x="520446" y="342900"/>
            <a:chExt cx="85204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204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推导③：Pₖ = ρᵏ(1 − ρ)，稳态时系统人数服从几何分布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436745" cy="2112930"/>
            <a:chOff x="533400" y="1533525"/>
            <a:chExt cx="4436745" cy="21129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898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λPₖ₋₁ = μPₖ 得 Pₖ = (λ/μ)Pₖ₋₁，反复代入得 Pₖ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(λ/μ)ᵏP₀ = ρᵏP₀，其中 ρ = λ/μ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024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所有概率之和为 1：ΣPₖ = P₀Σρᵏ = 1（k 从 0 到 ∞）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530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P₀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40068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&lt; 1 时几何级数 Σρᵏ = 1/(1 − ρ)，所以 P₀ = 1 − ρ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25240"/>
            <a:ext cx="5193982" cy="1356360"/>
            <a:chOff x="533400" y="3825240"/>
            <a:chExt cx="5193982" cy="1356360"/>
          </a:xfrm>
        </p:grpSpPr>
        <p:sp>
          <p:nvSpPr>
            <p:cNvPr id="21" name="Rectangle 21"/>
            <p:cNvSpPr/>
            <p:nvPr/>
          </p:nvSpPr>
          <p:spPr>
            <a:xfrm>
              <a:off x="533400" y="3825240"/>
              <a:ext cx="5193982" cy="1356360"/>
            </a:xfrm>
            <a:prstGeom prst="roundRect">
              <a:avLst>
                <a:gd name="adj" fmla="val 983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2950" y="4034790"/>
              <a:ext cx="1293495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3886" y="4070509"/>
              <a:ext cx="1191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M/M/1 稳态分布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58"/>
                <p:cNvSpPr txBox="1">
                  <a:spLocks noGrp="1"/>
                </p:cNvSpPr>
                <p:nvPr/>
              </p:nvSpPr>
              <p:spPr>
                <a:xfrm>
                  <a:off x="742950" y="4387215"/>
                  <a:ext cx="47748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1-callout-3"/>
          <p:cNvGrpSpPr/>
          <p:nvPr/>
        </p:nvGrpSpPr>
        <p:grpSpPr>
          <a:xfrm>
            <a:off x="533400" y="5372100"/>
            <a:ext cx="5193982" cy="782955"/>
            <a:chOff x="533400" y="5372100"/>
            <a:chExt cx="5193982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537210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26129" y="5659873"/>
              <a:ext cx="224134" cy="192560"/>
              <a:chOff x="726129" y="5659873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38200" y="57302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6129" y="56598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8080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520690"/>
              <a:ext cx="4244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ρ ≥ 1 时 Σρᵏ 发散，找不到满足归一化的 P₀，说明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系统人数无限增长，不存在稳态分布。</a:t>
              </a:r>
            </a:p>
          </p:txBody>
        </p:sp>
      </p:grpSp>
      <p:grpSp>
        <p:nvGrpSpPr>
          <p:cNvPr id="34" name="c2-text-1"/>
          <p:cNvGrpSpPr/>
          <p:nvPr/>
        </p:nvGrpSpPr>
        <p:grpSpPr>
          <a:xfrm>
            <a:off x="6025706" y="1545431"/>
            <a:ext cx="1974866" cy="249364"/>
            <a:chOff x="6025706" y="1545431"/>
            <a:chExt cx="1974866" cy="249364"/>
          </a:xfrm>
        </p:grpSpPr>
        <p:sp>
          <p:nvSpPr>
            <p:cNvPr id="33" name="TextBox 33"/>
            <p:cNvSpPr txBox="1"/>
            <p:nvPr/>
          </p:nvSpPr>
          <p:spPr>
            <a:xfrm>
              <a:off x="6025706" y="1545431"/>
              <a:ext cx="1974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0.8 时的稳态分布 Pₖ</a:t>
              </a:r>
            </a:p>
          </p:txBody>
        </p:sp>
      </p:grpSp>
      <p:grpSp>
        <p:nvGrpSpPr>
          <p:cNvPr id="87" name="c2-graph-2"/>
          <p:cNvGrpSpPr/>
          <p:nvPr/>
        </p:nvGrpSpPr>
        <p:grpSpPr>
          <a:xfrm>
            <a:off x="6199822" y="2017871"/>
            <a:ext cx="5347336" cy="1961198"/>
            <a:chOff x="6199822" y="2017871"/>
            <a:chExt cx="5347336" cy="1961198"/>
          </a:xfrm>
        </p:grpSpPr>
        <p:sp>
          <p:nvSpPr>
            <p:cNvPr id="35" name="Freeform 35"/>
            <p:cNvSpPr/>
            <p:nvPr/>
          </p:nvSpPr>
          <p:spPr>
            <a:xfrm>
              <a:off x="6211252" y="3654742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537960" y="2313622"/>
              <a:ext cx="9525" cy="1330643"/>
            </a:xfrm>
            <a:custGeom>
              <a:avLst/>
              <a:gdLst/>
              <a:ahLst/>
              <a:cxnLst/>
              <a:rect l="l" t="t" r="r" b="b"/>
              <a:pathLst>
                <a:path w="9525" h="1330643">
                  <a:moveTo>
                    <a:pt x="0" y="1330643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11352" y="2584132"/>
              <a:ext cx="9525" cy="1060132"/>
            </a:xfrm>
            <a:custGeom>
              <a:avLst/>
              <a:gdLst/>
              <a:ahLst/>
              <a:cxnLst/>
              <a:rect l="l" t="t" r="r" b="b"/>
              <a:pathLst>
                <a:path w="9525" h="1060132">
                  <a:moveTo>
                    <a:pt x="0" y="1060132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483792" y="2801302"/>
              <a:ext cx="9525" cy="842962"/>
            </a:xfrm>
            <a:custGeom>
              <a:avLst/>
              <a:gdLst/>
              <a:ahLst/>
              <a:cxnLst/>
              <a:rect l="l" t="t" r="r" b="b"/>
              <a:pathLst>
                <a:path w="9525" h="842962">
                  <a:moveTo>
                    <a:pt x="0" y="842962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956232" y="2973705"/>
              <a:ext cx="9525" cy="670560"/>
            </a:xfrm>
            <a:custGeom>
              <a:avLst/>
              <a:gdLst/>
              <a:ahLst/>
              <a:cxnLst/>
              <a:rect l="l" t="t" r="r" b="b"/>
              <a:pathLst>
                <a:path w="9525" h="670560">
                  <a:moveTo>
                    <a:pt x="0" y="670560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28672" y="3112770"/>
              <a:ext cx="9525" cy="531495"/>
            </a:xfrm>
            <a:custGeom>
              <a:avLst/>
              <a:gdLst/>
              <a:ahLst/>
              <a:cxnLst/>
              <a:rect l="l" t="t" r="r" b="b"/>
              <a:pathLst>
                <a:path w="9525" h="531495">
                  <a:moveTo>
                    <a:pt x="0" y="531495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901112" y="3223260"/>
              <a:ext cx="9525" cy="421005"/>
            </a:xfrm>
            <a:custGeom>
              <a:avLst/>
              <a:gdLst/>
              <a:ahLst/>
              <a:cxnLst/>
              <a:rect l="l" t="t" r="r" b="b"/>
              <a:pathLst>
                <a:path w="9525" h="421005">
                  <a:moveTo>
                    <a:pt x="0" y="421005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374505" y="331089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333375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846945" y="3383280"/>
              <a:ext cx="9525" cy="260985"/>
            </a:xfrm>
            <a:custGeom>
              <a:avLst/>
              <a:gdLst/>
              <a:ahLst/>
              <a:cxnLst/>
              <a:rect l="l" t="t" r="r" b="b"/>
              <a:pathLst>
                <a:path w="9525" h="260985">
                  <a:moveTo>
                    <a:pt x="0" y="260985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19385" y="3438525"/>
              <a:ext cx="9525" cy="205740"/>
            </a:xfrm>
            <a:custGeom>
              <a:avLst/>
              <a:gdLst/>
              <a:ahLst/>
              <a:cxnLst/>
              <a:rect l="l" t="t" r="r" b="b"/>
              <a:pathLst>
                <a:path w="9525" h="205740">
                  <a:moveTo>
                    <a:pt x="0" y="205740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791825" y="3483292"/>
              <a:ext cx="9525" cy="160973"/>
            </a:xfrm>
            <a:custGeom>
              <a:avLst/>
              <a:gdLst/>
              <a:ahLst/>
              <a:cxnLst/>
              <a:rect l="l" t="t" r="r" b="b"/>
              <a:pathLst>
                <a:path w="9525" h="160973">
                  <a:moveTo>
                    <a:pt x="0" y="160973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1264265" y="352044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228600">
              <a:solidFill>
                <a:srgbClr val="2E7D4F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199822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545253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537008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537008" y="23021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010400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010400" y="25727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482840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482840" y="27898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955280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955280" y="29622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8427720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8427720" y="31013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8900160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900160" y="32118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9373552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373552" y="32994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845992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845992" y="33718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0318433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0318433" y="34270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790872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0790872" y="34718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1263312" y="3653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1263312" y="35090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66393" y="201787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39786" y="228457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270763" y="2509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0.128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43203" y="26731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0.102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90782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64175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36615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09055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81495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53935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27327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799767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272207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744647" y="3759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75624" y="375904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633231" y="226361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系统内人数 k</a:t>
              </a:r>
            </a:p>
          </p:txBody>
        </p:sp>
      </p:grpSp>
      <p:grpSp>
        <p:nvGrpSpPr>
          <p:cNvPr id="99" name="c2-card-3"/>
          <p:cNvGrpSpPr/>
          <p:nvPr/>
        </p:nvGrpSpPr>
        <p:grpSpPr>
          <a:xfrm>
            <a:off x="6032182" y="4172902"/>
            <a:ext cx="5626418" cy="1982152"/>
            <a:chOff x="6032182" y="4172902"/>
            <a:chExt cx="5626418" cy="1982152"/>
          </a:xfrm>
        </p:grpSpPr>
        <p:sp>
          <p:nvSpPr>
            <p:cNvPr id="88" name="Rectangle 88"/>
            <p:cNvSpPr/>
            <p:nvPr/>
          </p:nvSpPr>
          <p:spPr>
            <a:xfrm>
              <a:off x="6032182" y="4172902"/>
              <a:ext cx="5626418" cy="1982152"/>
            </a:xfrm>
            <a:prstGeom prst="roundRect">
              <a:avLst>
                <a:gd name="adj" fmla="val 6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041708" y="4306252"/>
              <a:ext cx="47625" cy="17154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279832" y="438245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73990" y="441817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737985" y="4417695"/>
              <a:ext cx="2976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0.8 人/分钟，μ = 1 人/分钟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285548" y="484155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443662" y="4778692"/>
              <a:ext cx="4037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0.8，P₀ = 0.2：柜员有 20% 的时间空闲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6285548" y="517683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443662" y="5113972"/>
              <a:ext cx="474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 = 0.8 × 0.2 = 0.16，P₂ = 0.8² × 0.2 = 0.128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6285548" y="551211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443662" y="5449252"/>
              <a:ext cx="4875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至少有 3 人的概率：Σ_{k≥3} ρᵏ(1 − ρ) = ρ³ = 0.512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73898" cy="909257"/>
            <a:chOff x="520446" y="342900"/>
            <a:chExt cx="92738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738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15.1 银行单柜员：平均顾客数、平均队长与平均滞留时间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869180" cy="2043112"/>
            <a:chOff x="533400" y="1524000"/>
            <a:chExt cx="4869180" cy="2043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6103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636" y="1743551"/>
              <a:ext cx="4881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15.1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银行仅有一个柜员，且不休息；柜员忙时新到顾客排队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38884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顾客到来间隔独立服从 Exp(λ)，服务时间服从均值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1/μ 的指数分布，u = λ/μ &lt; 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37084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Xₜ 为 t 时刻银行内的顾客数（含正在服务和排队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的），是连续时间马氏链中的生灭过程</a:t>
              </a:r>
            </a:p>
          </p:txBody>
        </p:sp>
      </p:grpSp>
      <p:grpSp>
        <p:nvGrpSpPr>
          <p:cNvPr id="43" name="c1-table-2"/>
          <p:cNvGrpSpPr/>
          <p:nvPr/>
        </p:nvGrpSpPr>
        <p:grpSpPr>
          <a:xfrm>
            <a:off x="528447" y="3737610"/>
            <a:ext cx="4874133" cy="2263806"/>
            <a:chOff x="528447" y="3737610"/>
            <a:chExt cx="4874133" cy="2263806"/>
          </a:xfrm>
        </p:grpSpPr>
        <p:sp>
          <p:nvSpPr>
            <p:cNvPr id="18" name="Rectangle 18"/>
            <p:cNvSpPr/>
            <p:nvPr/>
          </p:nvSpPr>
          <p:spPr>
            <a:xfrm>
              <a:off x="533400" y="3737610"/>
              <a:ext cx="486918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53211" y="38590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57233" y="38590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55738" y="3859054"/>
              <a:ext cx="1032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 = 0.8, μ =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0555" y="4259104"/>
              <a:ext cx="99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平均顾客数 EN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72534" y="425910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u/(1 − u)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6831" y="425910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3294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53771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4659154"/>
              <a:ext cx="118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平均队列长度 EQ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31071" y="46591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u²/(1 − u)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43905" y="465915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329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5059204"/>
              <a:ext cx="1150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平均滞留时间 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72534" y="505920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1/(μ − λ)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51444" y="505920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分钟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33304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33781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4592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平均等待时间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02903" y="5459254"/>
              <a:ext cx="621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 − 1/μ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51444" y="545925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分钟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737610"/>
              <a:ext cx="486918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81238" y="373761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936682" y="373761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5810726"/>
              <a:ext cx="2951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最后一行是补充：滞留时间 = 等待时间 + 服务时间</a:t>
              </a:r>
            </a:p>
          </p:txBody>
        </p:sp>
      </p:grpSp>
      <p:grpSp>
        <p:nvGrpSpPr>
          <p:cNvPr id="61" name="c2-steps-1"/>
          <p:cNvGrpSpPr/>
          <p:nvPr/>
        </p:nvGrpSpPr>
        <p:grpSpPr>
          <a:xfrm>
            <a:off x="5707380" y="1533525"/>
            <a:ext cx="5531231" cy="2475072"/>
            <a:chOff x="5707380" y="1533525"/>
            <a:chExt cx="5531231" cy="2475072"/>
          </a:xfrm>
        </p:grpSpPr>
        <p:sp>
          <p:nvSpPr>
            <p:cNvPr id="44" name="Rectangle 44"/>
            <p:cNvSpPr/>
            <p:nvPr/>
          </p:nvSpPr>
          <p:spPr>
            <a:xfrm>
              <a:off x="5840730" y="1676400"/>
              <a:ext cx="19050" cy="19554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707380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100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707380" y="2699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0100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707380" y="34890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1004" y="3562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1962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稳态分布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20765" y="1833086"/>
              <a:ext cx="4751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P(Xₜ = i) = uⁱ(1 − u)，i = 0, 1, 2, …；随机变量 N 服从这个平稳分布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19622" y="214788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平均顾客数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20765" y="2416016"/>
              <a:ext cx="3693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 = Σ i·uⁱ(1 − u) = (1 − u)·u/(1 − u)² = u/(1 − u)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1962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平均队列长度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0765" y="2998946"/>
              <a:ext cx="51178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正在服务人数 Yₜ = 1（Xₜ &gt; 0）或 0（Xₜ = 0），EYₜ = P(Xₜ &gt; 0) = u，EQ = EN −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EYₜ = u²/(1 − u)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19622" y="35213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平均滞留时间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20765" y="3788569"/>
              <a:ext cx="42146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Little 公式 EN = λ·ER，得 ER = u/(λ(1 − u)) = 1/(μ − λ)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5707380" y="4172902"/>
            <a:ext cx="5951220" cy="1790700"/>
            <a:chOff x="5707380" y="4172902"/>
            <a:chExt cx="5951220" cy="1790700"/>
          </a:xfrm>
        </p:grpSpPr>
        <p:sp>
          <p:nvSpPr>
            <p:cNvPr id="62" name="Rectangle 62"/>
            <p:cNvSpPr/>
            <p:nvPr/>
          </p:nvSpPr>
          <p:spPr>
            <a:xfrm>
              <a:off x="5707380" y="4172902"/>
              <a:ext cx="5951220" cy="1790700"/>
            </a:xfrm>
            <a:prstGeom prst="roundRect">
              <a:avLst>
                <a:gd name="adj" fmla="val 638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5912168" y="4968242"/>
              <a:ext cx="200023" cy="200023"/>
              <a:chOff x="5912168" y="4968242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5912168" y="49682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45518" y="50349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214872" y="4849178"/>
              <a:ext cx="49857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顾客滞留时间 R 服从均值为 1/(μ − λ) 的指数分布。例 15.2 用事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件模拟估计 ER，与这个理论值比较。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16144" cy="909257"/>
            <a:chOff x="520446" y="342900"/>
            <a:chExt cx="83161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161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应用①：利用率超过 80% 以后，平均响应时间急剧上升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5245821" cy="234696"/>
            <a:chOff x="527304" y="1544002"/>
            <a:chExt cx="5245821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5245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平均响应时间（以平均服务时间 1/μ 为单位）随利用率 ρ 的变化</a:t>
              </a:r>
            </a:p>
          </p:txBody>
        </p:sp>
      </p:grpSp>
      <p:grpSp>
        <p:nvGrpSpPr>
          <p:cNvPr id="38" name="c1-graph-2"/>
          <p:cNvGrpSpPr/>
          <p:nvPr/>
        </p:nvGrpSpPr>
        <p:grpSpPr>
          <a:xfrm>
            <a:off x="720833" y="2044065"/>
            <a:ext cx="5106991" cy="4143946"/>
            <a:chOff x="720833" y="2044065"/>
            <a:chExt cx="5106991" cy="4143946"/>
          </a:xfrm>
        </p:grpSpPr>
        <p:sp>
          <p:nvSpPr>
            <p:cNvPr id="9" name="Freeform 9"/>
            <p:cNvSpPr/>
            <p:nvPr/>
          </p:nvSpPr>
          <p:spPr>
            <a:xfrm>
              <a:off x="1084898" y="5828348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675948" y="57807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4420" y="2150745"/>
              <a:ext cx="9525" cy="3667125"/>
            </a:xfrm>
            <a:custGeom>
              <a:avLst/>
              <a:gdLst/>
              <a:ahLst/>
              <a:cxnLst/>
              <a:rect l="l" t="t" r="r" b="b"/>
              <a:pathLst>
                <a:path w="9525" h="3667125">
                  <a:moveTo>
                    <a:pt x="0" y="36671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26795" y="20554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84898" y="2278380"/>
              <a:ext cx="4306252" cy="3371850"/>
            </a:xfrm>
            <a:custGeom>
              <a:avLst/>
              <a:gdLst/>
              <a:ahLst/>
              <a:cxnLst/>
              <a:rect l="l" t="t" r="r" b="b"/>
              <a:pathLst>
                <a:path w="4306252" h="3371850">
                  <a:moveTo>
                    <a:pt x="0" y="3371850"/>
                  </a:moveTo>
                  <a:lnTo>
                    <a:pt x="443865" y="3354705"/>
                  </a:lnTo>
                  <a:lnTo>
                    <a:pt x="898207" y="3328035"/>
                  </a:lnTo>
                  <a:lnTo>
                    <a:pt x="1352550" y="3296602"/>
                  </a:lnTo>
                  <a:lnTo>
                    <a:pt x="1806893" y="3251835"/>
                  </a:lnTo>
                  <a:lnTo>
                    <a:pt x="2262187" y="3193732"/>
                  </a:lnTo>
                  <a:lnTo>
                    <a:pt x="2716530" y="3105150"/>
                  </a:lnTo>
                  <a:lnTo>
                    <a:pt x="3170872" y="2958465"/>
                  </a:lnTo>
                  <a:lnTo>
                    <a:pt x="3397568" y="2838450"/>
                  </a:lnTo>
                  <a:lnTo>
                    <a:pt x="3625215" y="2660332"/>
                  </a:lnTo>
                  <a:lnTo>
                    <a:pt x="3852862" y="2361248"/>
                  </a:lnTo>
                  <a:lnTo>
                    <a:pt x="3988118" y="2067878"/>
                  </a:lnTo>
                  <a:lnTo>
                    <a:pt x="4079558" y="1769745"/>
                  </a:lnTo>
                  <a:lnTo>
                    <a:pt x="4171950" y="1324928"/>
                  </a:lnTo>
                  <a:lnTo>
                    <a:pt x="4263390" y="581025"/>
                  </a:lnTo>
                  <a:lnTo>
                    <a:pt x="4306252" y="0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10112" y="4995862"/>
              <a:ext cx="9525" cy="822007"/>
            </a:xfrm>
            <a:custGeom>
              <a:avLst/>
              <a:gdLst/>
              <a:ahLst/>
              <a:cxnLst/>
              <a:rect l="l" t="t" r="r" b="b"/>
              <a:pathLst>
                <a:path w="9525" h="822007">
                  <a:moveTo>
                    <a:pt x="0" y="82200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084898" y="4938712"/>
              <a:ext cx="3568065" cy="9525"/>
            </a:xfrm>
            <a:custGeom>
              <a:avLst/>
              <a:gdLst/>
              <a:ahLst/>
              <a:cxnLst/>
              <a:rect l="l" t="t" r="r" b="b"/>
              <a:pathLst>
                <a:path w="3568065" h="9525">
                  <a:moveTo>
                    <a:pt x="356806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5164455" y="4105275"/>
              <a:ext cx="9525" cy="1712595"/>
            </a:xfrm>
            <a:custGeom>
              <a:avLst/>
              <a:gdLst/>
              <a:ahLst/>
              <a:cxnLst/>
              <a:rect l="l" t="t" r="r" b="b"/>
              <a:pathLst>
                <a:path w="9525" h="1712595">
                  <a:moveTo>
                    <a:pt x="0" y="17125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084898" y="4048125"/>
              <a:ext cx="4022408" cy="9525"/>
            </a:xfrm>
            <a:custGeom>
              <a:avLst/>
              <a:gdLst/>
              <a:ahLst/>
              <a:cxnLst/>
              <a:rect l="l" t="t" r="r" b="b"/>
              <a:pathLst>
                <a:path w="4022408" h="9525">
                  <a:moveTo>
                    <a:pt x="402240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Ellipse 18"/>
            <p:cNvSpPr/>
            <p:nvPr/>
          </p:nvSpPr>
          <p:spPr>
            <a:xfrm>
              <a:off x="1073468" y="58273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780722" y="58273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73468" y="20440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73468" y="564927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391150" y="22669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709160" y="58273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662488" y="489108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73468" y="49377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163502" y="58273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116830" y="400050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73468" y="40471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0214" y="5982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5136" y="59826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8164" y="59826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1084" y="59826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35526" y="5982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9704" y="4825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833" y="39347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0833" y="215455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88460" y="2154555"/>
              <a:ext cx="67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1/(1 − ρ)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568768"/>
            <a:chOff x="6248400" y="1524000"/>
            <a:chExt cx="5410200" cy="1568768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84620" y="1722120"/>
              <a:ext cx="24765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16052" y="175641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排队论在互联网容量保障中的两个用途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84620" y="207073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4296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5514" y="2082641"/>
              <a:ext cx="3527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设定合理的 CPU 利用率预警阈值（本页）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84620" y="2387918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2965" y="24282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75514" y="2400776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容量规划：流量 λ、单机每秒处理 μ 个请求、最多 20%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的请求排队时，需要几台服务器（后两页）</a:t>
              </a:r>
            </a:p>
          </p:txBody>
        </p:sp>
      </p:grpSp>
      <p:grpSp>
        <p:nvGrpSpPr>
          <p:cNvPr id="51" name="c2-text-2"/>
          <p:cNvGrpSpPr/>
          <p:nvPr/>
        </p:nvGrpSpPr>
        <p:grpSpPr>
          <a:xfrm>
            <a:off x="6242304" y="3292792"/>
            <a:ext cx="5253533" cy="234696"/>
            <a:chOff x="6242304" y="3292792"/>
            <a:chExt cx="5253533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6242304" y="3292792"/>
              <a:ext cx="5253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把单台服务器看成 M/M/1，平均响应时间就是例 15.1 的平均滞留时间：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61"/>
              <p:cNvSpPr txBox="1">
                <a:spLocks noGrp="1"/>
              </p:cNvSpPr>
              <p:nvPr/>
            </p:nvSpPr>
            <p:spPr>
              <a:xfrm>
                <a:off x="6248400" y="3660458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ρ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74" name="c2-table-4"/>
          <p:cNvGrpSpPr/>
          <p:nvPr/>
        </p:nvGrpSpPr>
        <p:grpSpPr>
          <a:xfrm>
            <a:off x="6248400" y="4380548"/>
            <a:ext cx="5410200" cy="848678"/>
            <a:chOff x="6248400" y="4380548"/>
            <a:chExt cx="5410200" cy="848678"/>
          </a:xfrm>
        </p:grpSpPr>
        <p:sp>
          <p:nvSpPr>
            <p:cNvPr id="53" name="Rectangle 53"/>
            <p:cNvSpPr/>
            <p:nvPr/>
          </p:nvSpPr>
          <p:spPr>
            <a:xfrm>
              <a:off x="6248400" y="4380548"/>
              <a:ext cx="541020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08924" y="450913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利用率 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79707" y="450913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2192" y="450913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43724" y="450913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6209" y="450913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05863" y="450913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32893" y="4933950"/>
              <a:ext cx="59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E[T]·μ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75219" y="49339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18855" y="49339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83992" y="4814888"/>
              <a:ext cx="81343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39237" y="49339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915525" y="4814888"/>
              <a:ext cx="813435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227297" y="49339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03597" y="49339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4380548"/>
              <a:ext cx="5410200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404735" y="438054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237220" y="438054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069705" y="438054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901238" y="438054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733722" y="4380548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llout-5"/>
          <p:cNvGrpSpPr/>
          <p:nvPr/>
        </p:nvGrpSpPr>
        <p:grpSpPr>
          <a:xfrm>
            <a:off x="6248400" y="5410200"/>
            <a:ext cx="5410200" cy="756285"/>
            <a:chOff x="6248400" y="5410200"/>
            <a:chExt cx="5410200" cy="756285"/>
          </a:xfrm>
        </p:grpSpPr>
        <p:sp>
          <p:nvSpPr>
            <p:cNvPr id="75" name="Rectangle 75"/>
            <p:cNvSpPr/>
            <p:nvPr/>
          </p:nvSpPr>
          <p:spPr>
            <a:xfrm>
              <a:off x="6248400" y="541020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453188" y="5688330"/>
              <a:ext cx="200026" cy="200025"/>
              <a:chOff x="6453188" y="5688330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453188" y="56883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492926" y="57327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527642" y="58439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755511" y="5557361"/>
              <a:ext cx="450494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ρ 从 0.8 升到 0.9，平均响应时间翻倍；越接近 1，流量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稍有波动延迟就猛增，所以预警阈值不能设得太高。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23515" cy="909257"/>
            <a:chOff x="520446" y="342900"/>
            <a:chExt cx="87235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235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应用②：M/M/s 的三个基本公式，排队时间要乘排队概率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2919412"/>
            <a:chOff x="533400" y="1524000"/>
            <a:chExt cx="6276022" cy="2919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4156" y="1659731"/>
              <a:ext cx="1005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M/M/s 公式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637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866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系统利用率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7126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λ/(sμ)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30218" y="2108359"/>
              <a:ext cx="24025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为到达率（流量），μ 为单台服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务率，sμ 为总处理能力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资源需求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7126" y="2783681"/>
              <a:ext cx="601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λ/μ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30218" y="278368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平均同时在忙的服务器台数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排队概率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7126" y="3232309"/>
              <a:ext cx="207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Pq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0218" y="3232309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到达时 s 台全忙的概率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平均排队时间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47126" y="3680936"/>
              <a:ext cx="9801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Pq/(sμ − λ)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30218" y="3680936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需排队者平均排 1/(sμ − λ)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305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平均响应时间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7126" y="4130516"/>
              <a:ext cx="1465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Pq/(sμ − λ) + 1/μ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30218" y="41305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排队时间加服务时间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34540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17632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4633912"/>
            <a:ext cx="6276022" cy="1684020"/>
            <a:chOff x="533400" y="4633912"/>
            <a:chExt cx="6276022" cy="1684020"/>
          </a:xfrm>
        </p:grpSpPr>
        <p:sp>
          <p:nvSpPr>
            <p:cNvPr id="36" name="Rectangle 36"/>
            <p:cNvSpPr/>
            <p:nvPr/>
          </p:nvSpPr>
          <p:spPr>
            <a:xfrm>
              <a:off x="533400" y="4633912"/>
              <a:ext cx="6276022" cy="1684020"/>
            </a:xfrm>
            <a:prstGeom prst="roundRect">
              <a:avLst>
                <a:gd name="adj" fmla="val 79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767262"/>
              <a:ext cx="47625" cy="141732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1050" y="4843462"/>
              <a:ext cx="197453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2146" y="4879181"/>
              <a:ext cx="189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排队概率（Erlang C 公式）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63"/>
                <p:cNvSpPr txBox="1">
                  <a:spLocks noGrp="1"/>
                </p:cNvSpPr>
                <p:nvPr/>
              </p:nvSpPr>
              <p:spPr>
                <a:xfrm>
                  <a:off x="781050" y="5195888"/>
                  <a:ext cx="5818822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ρ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774573" y="5909786"/>
              <a:ext cx="2967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表中记作 Pq；s = 1 时化简为 Pq = ρ。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7114222" y="1524000"/>
            <a:ext cx="4544378" cy="2173605"/>
            <a:chOff x="7114222" y="1524000"/>
            <a:chExt cx="4544378" cy="2173605"/>
          </a:xfrm>
        </p:grpSpPr>
        <p:sp>
          <p:nvSpPr>
            <p:cNvPr id="43" name="Rectangle 43"/>
            <p:cNvSpPr/>
            <p:nvPr/>
          </p:nvSpPr>
          <p:spPr>
            <a:xfrm>
              <a:off x="7114222" y="1524000"/>
              <a:ext cx="4544378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23748" y="1657350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4252" y="2110740"/>
              <a:ext cx="387286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E[T] = 1/(sμ − λ) 写成 M/M/s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平均等待时间公式。1/(sμ − λ) 只是“需要排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队的请求”的平均排队时间；乘排队概率 Pq 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是全部请求的平均排队时间，再加 1/μ 才是平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均响应时间。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7114222" y="3888105"/>
            <a:ext cx="4544378" cy="2429828"/>
            <a:chOff x="7114222" y="3888105"/>
            <a:chExt cx="4544378" cy="2429828"/>
          </a:xfrm>
        </p:grpSpPr>
        <p:sp>
          <p:nvSpPr>
            <p:cNvPr id="49" name="Rectangle 49"/>
            <p:cNvSpPr/>
            <p:nvPr/>
          </p:nvSpPr>
          <p:spPr>
            <a:xfrm>
              <a:off x="7114222" y="3888105"/>
              <a:ext cx="4544378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23748" y="4021455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61872" y="40976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52081" y="41333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61948" y="4132898"/>
              <a:ext cx="2136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 时退化为 M/M/1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54252" y="4493895"/>
              <a:ext cx="3482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Pq = ρ，平均响应时间 ρ/(μ − λ) + 1/μ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1/(μ − λ)，与例 15.1 的 ER 一致。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55396" y="5111591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&gt; 1 时 1/(sμ − λ) 比全部请求的平均排队时间大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（Pq &lt; 1），又没有计入服务时间。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1519" cy="909257"/>
            <a:chOff x="520446" y="342900"/>
            <a:chExt cx="64715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661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823" y="407194"/>
              <a:ext cx="3826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3.6.1 随机服务系统（排队论）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15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平方根配置规则：服务器数取 k ≈ R + c√R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801302"/>
            <a:chOff x="533400" y="1524000"/>
            <a:chExt cx="5410200" cy="28013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01302"/>
            </a:xfrm>
            <a:prstGeom prst="roundRect">
              <a:avLst>
                <a:gd name="adj" fmla="val 47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3460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3652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平方根配置规则（square-root staffing）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M/M/s 模型，R = λ/μ。令 k 为确保“请求排队概率小于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α”所需的最少服务器数，则 R 较大时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7"/>
                <p:cNvSpPr txBox="1">
                  <a:spLocks noGrp="1"/>
                </p:cNvSpPr>
                <p:nvPr/>
              </p:nvSpPr>
              <p:spPr>
                <a:xfrm>
                  <a:off x="758190" y="2606992"/>
                  <a:ext cx="499872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d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201352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Φ(c)、φ(c) 分别是标准正态分布的累积分布函数和概率密度函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3755231"/>
              <a:ext cx="47835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出处：哈肖尔-巴尔特《计算机系统的性能建模与设计：排队论实战》，机械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工业出版社，2020：187–189。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28447" y="4494848"/>
            <a:ext cx="5415153" cy="1063656"/>
            <a:chOff x="528447" y="4494848"/>
            <a:chExt cx="5415153" cy="1063656"/>
          </a:xfrm>
        </p:grpSpPr>
        <p:sp>
          <p:nvSpPr>
            <p:cNvPr id="17" name="Rectangle 17"/>
            <p:cNvSpPr/>
            <p:nvPr/>
          </p:nvSpPr>
          <p:spPr>
            <a:xfrm>
              <a:off x="533400" y="4494848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9916" y="4616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39162" y="46162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20262" y="46162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59452" y="46162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57684" y="46162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916" y="5016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62455" y="501634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43555" y="501634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756660" y="4904422"/>
              <a:ext cx="10791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24208" y="501634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22441" y="501634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494848"/>
              <a:ext cx="541020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81125" y="4494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61272" y="4494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742372" y="4494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840605" y="4494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447" y="5367814"/>
              <a:ext cx="28240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用二分法解方程复核（Python），与原课件一致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248400" y="1524000"/>
            <a:ext cx="5410200" cy="3508058"/>
            <a:chOff x="6248400" y="1524000"/>
            <a:chExt cx="5410200" cy="3508058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3508058"/>
            </a:xfrm>
            <a:prstGeom prst="roundRect">
              <a:avLst>
                <a:gd name="adj" fmla="val 38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32413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3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8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6332" y="2054542"/>
              <a:ext cx="4934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1000 请求/秒，μ = 10 请求/秒，要求排队概率小于 20%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06540" y="2502218"/>
              <a:ext cx="19050" cy="19554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473190" y="23593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6814" y="2433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73190" y="29422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6814" y="3016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73190" y="352520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6814" y="35990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73190" y="43148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6814" y="4388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85432" y="23907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86575" y="2658904"/>
              <a:ext cx="956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λ/μ = 100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85432" y="2973705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查表求 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86575" y="3241834"/>
              <a:ext cx="4300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0.2，c ≈ 1.06，k ≈ 100 + 1.06 × √100 ≈ 110.6，取 111 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85432" y="3556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精确核对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6575" y="3824764"/>
              <a:ext cx="42715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Erlang C 公式：111 台时排队概率 0.1998，110 台时 0.2370，111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台正是最少台数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85432" y="43472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排队时间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86575" y="4614386"/>
              <a:ext cx="3795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平均排队时间 = 0.1998/(111 × 10 − 1000) ≈ 0.0018 秒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248400" y="5201602"/>
            <a:ext cx="5410200" cy="978218"/>
            <a:chOff x="6248400" y="5201602"/>
            <a:chExt cx="5410200" cy="978218"/>
          </a:xfrm>
        </p:grpSpPr>
        <p:sp>
          <p:nvSpPr>
            <p:cNvPr id="59" name="Rectangle 59"/>
            <p:cNvSpPr/>
            <p:nvPr/>
          </p:nvSpPr>
          <p:spPr>
            <a:xfrm>
              <a:off x="6248400" y="5201602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590225"/>
              <a:ext cx="200023" cy="200023"/>
              <a:chOff x="6453188" y="559022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5902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86538" y="56568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892" y="5347335"/>
              <a:ext cx="425710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冗余台数按 √R 增长：R = 400 时冗余约 21 台，只是 R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 时的 2 倍。R 较小时近似偏少，如 R = 40 时公式给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46.7，精确值为 48 台。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49640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3.6.2 离散事件模拟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按时间顺序处理到达、开始服务、离开等事件，让计算机替我们排一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次队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离散事件模拟的三类算法与建模步骤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15.2 用事件模拟估计平均滞留时间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医院预检处排队模拟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476" y="407194"/>
              <a:ext cx="3072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3.6.2 离散事件模拟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离散事件模拟：按时间顺序记录并处理系统中发生的事件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68730"/>
            <a:chOff x="533400" y="1524000"/>
            <a:chExt cx="5626418" cy="12687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45836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离散事件模拟（Discrete Event Simulation, DES）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在模拟随机服务系统时，按时间顺序记录发生的事件，如顾客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到来、顾客接受服务、顾客结束服务等。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2972752"/>
            <a:ext cx="5626418" cy="2124075"/>
            <a:chOff x="533400" y="2972752"/>
            <a:chExt cx="5626418" cy="2124075"/>
          </a:xfrm>
        </p:grpSpPr>
        <p:sp>
          <p:nvSpPr>
            <p:cNvPr id="14" name="Rectangle 14"/>
            <p:cNvSpPr/>
            <p:nvPr/>
          </p:nvSpPr>
          <p:spPr>
            <a:xfrm>
              <a:off x="533400" y="2972752"/>
              <a:ext cx="5626418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3341" y="31013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算法类别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4530" y="310134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时钟怎样推进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889" y="35261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活动模拟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74139" y="352615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时间切成固定的小步长，每步检查各活动是否开始或结束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8176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822382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831908"/>
              <a:ext cx="1219200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40566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事件模拟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4139" y="3950018"/>
              <a:ext cx="3822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时钟跳到最早的下一个事件，处理完再找下一个（本节采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548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46948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过程模拟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74139" y="458819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写出每个顾客从到达到离开的完整过程，由调度程序交替推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972752"/>
              <a:ext cx="5626418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766888" y="2972752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2-text-1"/>
          <p:cNvGrpSpPr/>
          <p:nvPr/>
        </p:nvGrpSpPr>
        <p:grpSpPr>
          <a:xfrm>
            <a:off x="6458522" y="1544002"/>
            <a:ext cx="3404616" cy="234696"/>
            <a:chOff x="6458522" y="1544002"/>
            <a:chExt cx="3404616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458522" y="1544002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用随机服务系统进行建模和模拟研究的一般步骤</a:t>
              </a:r>
            </a:p>
          </p:txBody>
        </p:sp>
      </p:grpSp>
      <p:grpSp>
        <p:nvGrpSpPr>
          <p:cNvPr id="58" name="c2-flow-2"/>
          <p:cNvGrpSpPr/>
          <p:nvPr/>
        </p:nvGrpSpPr>
        <p:grpSpPr>
          <a:xfrm>
            <a:off x="6646545" y="2028825"/>
            <a:ext cx="4830127" cy="2351723"/>
            <a:chOff x="6646545" y="2028825"/>
            <a:chExt cx="4830127" cy="2351723"/>
          </a:xfrm>
        </p:grpSpPr>
        <p:sp>
          <p:nvSpPr>
            <p:cNvPr id="32" name="Freeform 32"/>
            <p:cNvSpPr/>
            <p:nvPr/>
          </p:nvSpPr>
          <p:spPr>
            <a:xfrm>
              <a:off x="7762875" y="2441258"/>
              <a:ext cx="9525" cy="129540"/>
            </a:xfrm>
            <a:custGeom>
              <a:avLst/>
              <a:gdLst/>
              <a:ahLst/>
              <a:cxnLst/>
              <a:rect l="l" t="t" r="r" b="b"/>
              <a:pathLst>
                <a:path w="9525" h="129540">
                  <a:moveTo>
                    <a:pt x="0" y="0"/>
                  </a:moveTo>
                  <a:lnTo>
                    <a:pt x="0" y="129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710488" y="25707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762875" y="3088005"/>
              <a:ext cx="9525" cy="129540"/>
            </a:xfrm>
            <a:custGeom>
              <a:avLst/>
              <a:gdLst/>
              <a:ahLst/>
              <a:cxnLst/>
              <a:rect l="l" t="t" r="r" b="b"/>
              <a:pathLst>
                <a:path w="9525" h="129540">
                  <a:moveTo>
                    <a:pt x="0" y="0"/>
                  </a:moveTo>
                  <a:lnTo>
                    <a:pt x="0" y="129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710488" y="3217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762875" y="3734752"/>
              <a:ext cx="9525" cy="129540"/>
            </a:xfrm>
            <a:custGeom>
              <a:avLst/>
              <a:gdLst/>
              <a:ahLst/>
              <a:cxnLst/>
              <a:rect l="l" t="t" r="r" b="b"/>
              <a:pathLst>
                <a:path w="9525" h="129540">
                  <a:moveTo>
                    <a:pt x="0" y="0"/>
                  </a:moveTo>
                  <a:lnTo>
                    <a:pt x="0" y="129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710488" y="38642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80158" y="4174808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138285" y="41224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360342" y="3839528"/>
              <a:ext cx="9525" cy="129540"/>
            </a:xfrm>
            <a:custGeom>
              <a:avLst/>
              <a:gdLst/>
              <a:ahLst/>
              <a:cxnLst/>
              <a:rect l="l" t="t" r="r" b="b"/>
              <a:pathLst>
                <a:path w="9525" h="129540">
                  <a:moveTo>
                    <a:pt x="0" y="1295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307955" y="37347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60342" y="3192780"/>
              <a:ext cx="9525" cy="129540"/>
            </a:xfrm>
            <a:custGeom>
              <a:avLst/>
              <a:gdLst/>
              <a:ahLst/>
              <a:cxnLst/>
              <a:rect l="l" t="t" r="r" b="b"/>
              <a:pathLst>
                <a:path w="9525" h="129540">
                  <a:moveTo>
                    <a:pt x="0" y="1295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307955" y="30880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46545" y="2028825"/>
              <a:ext cx="2233612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46545" y="2675572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6545" y="3322320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46545" y="3969068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43060" y="3969068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43060" y="3322320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43060" y="2675572"/>
              <a:ext cx="2233612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33691" y="21507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提出问题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33691" y="27974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91375" y="344424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数据收集与处理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72147" y="40909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建立模拟程序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46527" y="409098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模拟模型的正确性确认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31158" y="34442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模拟试验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69614" y="279749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模拟结果分析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464618" y="4678680"/>
            <a:ext cx="5193982" cy="756285"/>
            <a:chOff x="6464618" y="4678680"/>
            <a:chExt cx="5193982" cy="756285"/>
          </a:xfrm>
        </p:grpSpPr>
        <p:sp>
          <p:nvSpPr>
            <p:cNvPr id="59" name="Rectangle 59"/>
            <p:cNvSpPr/>
            <p:nvPr/>
          </p:nvSpPr>
          <p:spPr>
            <a:xfrm>
              <a:off x="6464618" y="467868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4956810"/>
              <a:ext cx="200026" cy="200025"/>
              <a:chOff x="6669405" y="495681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49568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09144" y="50012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43859" y="51123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1729" y="4825841"/>
              <a:ext cx="430657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正确性确认常用有理论解的特例来做：例 15.2 先模拟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M/M/1，把估计值与 1/(μ − λ) 比较。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6" name="Rectangle 6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5753576"/>
              <a:ext cx="99331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事件模拟必须维护的变量：当前时刻 t；计数变量（到 t 为止到来的人数、已离开人数）；系统状态（是否有顾客正在接受服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务、排队人数、队列中顾客的序号）。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73898" cy="909257"/>
            <a:chOff x="520446" y="342900"/>
            <a:chExt cx="92738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476" y="407194"/>
              <a:ext cx="3072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3.6.2 离散事件模拟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738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15.2 事件模拟：每一轮先确定下一个事件，再按类型处理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flow-1"/>
          <p:cNvGrpSpPr/>
          <p:nvPr/>
        </p:nvGrpSpPr>
        <p:grpSpPr>
          <a:xfrm>
            <a:off x="536258" y="1802130"/>
            <a:ext cx="6054089" cy="4282440"/>
            <a:chOff x="536258" y="1802130"/>
            <a:chExt cx="6054089" cy="4282440"/>
          </a:xfrm>
        </p:grpSpPr>
        <p:sp>
          <p:nvSpPr>
            <p:cNvPr id="7" name="Freeform 7"/>
            <p:cNvSpPr/>
            <p:nvPr/>
          </p:nvSpPr>
          <p:spPr>
            <a:xfrm>
              <a:off x="3563302" y="221361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10915" y="2665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47875" y="3181350"/>
              <a:ext cx="1515428" cy="362903"/>
            </a:xfrm>
            <a:custGeom>
              <a:avLst/>
              <a:gdLst/>
              <a:ahLst/>
              <a:cxnLst/>
              <a:rect l="l" t="t" r="r" b="b"/>
              <a:pathLst>
                <a:path w="1515428" h="362903">
                  <a:moveTo>
                    <a:pt x="1515428" y="0"/>
                  </a:moveTo>
                  <a:lnTo>
                    <a:pt x="1515428" y="234315"/>
                  </a:lnTo>
                  <a:lnTo>
                    <a:pt x="0" y="234315"/>
                  </a:lnTo>
                  <a:lnTo>
                    <a:pt x="0" y="3629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95488" y="35442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50895" y="3943350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69982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47875" y="4237672"/>
              <a:ext cx="9525" cy="274320"/>
            </a:xfrm>
            <a:custGeom>
              <a:avLst/>
              <a:gdLst/>
              <a:ahLst/>
              <a:cxnLst/>
              <a:rect l="l" t="t" r="r" b="b"/>
              <a:pathLst>
                <a:path w="9525"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95488" y="45119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047875" y="5205412"/>
              <a:ext cx="9525" cy="362903"/>
            </a:xfrm>
            <a:custGeom>
              <a:avLst/>
              <a:gdLst/>
              <a:ahLst/>
              <a:cxnLst/>
              <a:rect l="l" t="t" r="r" b="b"/>
              <a:pathLst>
                <a:path w="9525" h="362903">
                  <a:moveTo>
                    <a:pt x="0" y="0"/>
                  </a:moveTo>
                  <a:lnTo>
                    <a:pt x="0" y="3629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95488" y="5568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50895" y="4911090"/>
              <a:ext cx="1726882" cy="657225"/>
            </a:xfrm>
            <a:custGeom>
              <a:avLst/>
              <a:gdLst/>
              <a:ahLst/>
              <a:cxnLst/>
              <a:rect l="l" t="t" r="r" b="b"/>
              <a:pathLst>
                <a:path w="1726882" h="657225">
                  <a:moveTo>
                    <a:pt x="0" y="0"/>
                  </a:moveTo>
                  <a:lnTo>
                    <a:pt x="209550" y="0"/>
                  </a:lnTo>
                  <a:lnTo>
                    <a:pt x="1726882" y="0"/>
                  </a:lnTo>
                  <a:lnTo>
                    <a:pt x="1726882" y="552450"/>
                  </a:lnTo>
                  <a:lnTo>
                    <a:pt x="1726882" y="6572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25390" y="5568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36258" y="2975610"/>
              <a:ext cx="316230" cy="2903220"/>
            </a:xfrm>
            <a:custGeom>
              <a:avLst/>
              <a:gdLst/>
              <a:ahLst/>
              <a:cxnLst/>
              <a:rect l="l" t="t" r="r" b="b"/>
              <a:pathLst>
                <a:path w="316230" h="2903220">
                  <a:moveTo>
                    <a:pt x="209550" y="2903220"/>
                  </a:moveTo>
                  <a:lnTo>
                    <a:pt x="0" y="2903220"/>
                  </a:lnTo>
                  <a:lnTo>
                    <a:pt x="118110" y="2903220"/>
                  </a:lnTo>
                  <a:lnTo>
                    <a:pt x="118110" y="0"/>
                  </a:lnTo>
                  <a:lnTo>
                    <a:pt x="211455" y="0"/>
                  </a:lnTo>
                  <a:lnTo>
                    <a:pt x="31623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52488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273165" y="2975610"/>
              <a:ext cx="317182" cy="2903220"/>
            </a:xfrm>
            <a:custGeom>
              <a:avLst/>
              <a:gdLst/>
              <a:ahLst/>
              <a:cxnLst/>
              <a:rect l="l" t="t" r="r" b="b"/>
              <a:pathLst>
                <a:path w="317182" h="2903220">
                  <a:moveTo>
                    <a:pt x="107632" y="2903220"/>
                  </a:moveTo>
                  <a:lnTo>
                    <a:pt x="317182" y="2903220"/>
                  </a:lnTo>
                  <a:lnTo>
                    <a:pt x="198120" y="2903220"/>
                  </a:lnTo>
                  <a:lnTo>
                    <a:pt x="198120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168390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7262" y="1802130"/>
              <a:ext cx="5211128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57262" y="2769870"/>
              <a:ext cx="521112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45808" y="3649028"/>
              <a:ext cx="2605088" cy="588645"/>
            </a:xfrm>
            <a:custGeom>
              <a:avLst/>
              <a:gdLst/>
              <a:ahLst/>
              <a:cxnLst/>
              <a:rect l="l" t="t" r="r" b="b"/>
              <a:pathLst>
                <a:path w="2605088" h="588645">
                  <a:moveTo>
                    <a:pt x="1302068" y="0"/>
                  </a:moveTo>
                  <a:lnTo>
                    <a:pt x="2605088" y="294322"/>
                  </a:lnTo>
                  <a:lnTo>
                    <a:pt x="1302068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74758" y="3737610"/>
              <a:ext cx="2605088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45808" y="4616768"/>
              <a:ext cx="2605088" cy="588645"/>
            </a:xfrm>
            <a:custGeom>
              <a:avLst/>
              <a:gdLst/>
              <a:ahLst/>
              <a:cxnLst/>
              <a:rect l="l" t="t" r="r" b="b"/>
              <a:pathLst>
                <a:path w="2605088" h="588645">
                  <a:moveTo>
                    <a:pt x="1302068" y="0"/>
                  </a:moveTo>
                  <a:lnTo>
                    <a:pt x="2605088" y="294323"/>
                  </a:lnTo>
                  <a:lnTo>
                    <a:pt x="1302068" y="588645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5808" y="5673090"/>
              <a:ext cx="2605088" cy="411480"/>
            </a:xfrm>
            <a:prstGeom prst="roundRect">
              <a:avLst>
                <a:gd name="adj" fmla="val 23148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74758" y="5673090"/>
              <a:ext cx="2605088" cy="411480"/>
            </a:xfrm>
            <a:prstGeom prst="roundRect">
              <a:avLst>
                <a:gd name="adj" fmla="val 23148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15695" y="1924050"/>
              <a:ext cx="4495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初始化：t = B = L = 0，i = j = n = 0；抽 X ~ Exp(λ)，A ← 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8893" y="2891790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0 或 A &lt; E 时 t ← A，否则 t ← 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3527" y="3859530"/>
              <a:ext cx="688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&gt; T₁ 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73166" y="3859530"/>
              <a:ext cx="16092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停止，计算 ER 的估计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49209" y="4827270"/>
              <a:ext cx="59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A 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57147" y="5795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处理到达事件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25506" y="5795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处理服务结束事件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452812" y="373761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92386" y="37618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076450" y="434149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00072" y="43667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076450" y="535400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00072" y="537829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209098" y="470535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248671" y="472963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898005" y="1524000"/>
            <a:ext cx="4760595" cy="1250632"/>
            <a:chOff x="6898005" y="1524000"/>
            <a:chExt cx="4760595" cy="1250632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34225" y="1722120"/>
              <a:ext cx="69342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18450" y="1756410"/>
              <a:ext cx="523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15.2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26986" y="2082641"/>
              <a:ext cx="41262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用事件模拟的方法模拟例 15.1 的单柜员银行，估计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平均滞留时间 ER。</a:t>
              </a:r>
            </a:p>
          </p:txBody>
        </p:sp>
      </p:grpSp>
      <p:grpSp>
        <p:nvGrpSpPr>
          <p:cNvPr id="69" name="c2-kv-2"/>
          <p:cNvGrpSpPr/>
          <p:nvPr/>
        </p:nvGrpSpPr>
        <p:grpSpPr>
          <a:xfrm>
            <a:off x="6890766" y="2978944"/>
            <a:ext cx="4767834" cy="2627567"/>
            <a:chOff x="6890766" y="2978944"/>
            <a:chExt cx="4767834" cy="2627567"/>
          </a:xfrm>
        </p:grpSpPr>
        <p:sp>
          <p:nvSpPr>
            <p:cNvPr id="52" name="TextBox 52"/>
            <p:cNvSpPr txBox="1"/>
            <p:nvPr/>
          </p:nvSpPr>
          <p:spPr>
            <a:xfrm>
              <a:off x="6890766" y="297894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24254" y="29789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当前时钟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32823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90766" y="3395186"/>
              <a:ext cx="42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B, 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24254" y="3395186"/>
              <a:ext cx="32068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柜员忙标志（1 忙、0 闲）、排队人数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98005" y="36985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90766" y="3811429"/>
              <a:ext cx="42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A, 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24254" y="381142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下一位到达时刻、本次服务结束时刻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98005" y="41148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90766" y="4227671"/>
              <a:ext cx="5865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i, j, 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24254" y="422767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已到达、已开始服务、已离开人数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898005" y="45310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90766" y="4643914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aᵢ, sⱼ, eₙ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24254" y="4643914"/>
              <a:ext cx="325158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位到达、第 j 位开始服务、第 n 位离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开的时刻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898005" y="52149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90766" y="5327809"/>
              <a:ext cx="661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T₀, T₁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24254" y="532780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预热期长度、模拟时长</a:t>
              </a:r>
            </a:p>
          </p:txBody>
        </p:sp>
      </p:grpSp>
      <p:grpSp>
        <p:nvGrpSpPr>
          <p:cNvPr id="71" name="c2-text-3"/>
          <p:cNvGrpSpPr/>
          <p:nvPr/>
        </p:nvGrpSpPr>
        <p:grpSpPr>
          <a:xfrm>
            <a:off x="6891909" y="5750242"/>
            <a:ext cx="4530852" cy="470916"/>
            <a:chOff x="6891909" y="5750242"/>
            <a:chExt cx="4530852" cy="470916"/>
          </a:xfrm>
        </p:grpSpPr>
        <p:sp>
          <p:nvSpPr>
            <p:cNvPr id="70" name="TextBox 70"/>
            <p:cNvSpPr txBox="1"/>
            <p:nvPr/>
          </p:nvSpPr>
          <p:spPr>
            <a:xfrm>
              <a:off x="6891909" y="5750242"/>
              <a:ext cx="453085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柜员空闲时没有“服务结束”事件可等，只要 B = 0，下一个事件一定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是到达。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5091" cy="909257"/>
            <a:chOff x="520446" y="342900"/>
            <a:chExt cx="7175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476" y="407194"/>
              <a:ext cx="3072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3.6.2 离散事件模拟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5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15.2 两类事件的处理规则，以及 ER 的估计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1785938"/>
            <a:chOff x="533400" y="1524000"/>
            <a:chExt cx="5626418" cy="1785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2506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044" y="1743551"/>
              <a:ext cx="1121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到达事件（t = A）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58190" y="204311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3868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987" y="2054542"/>
              <a:ext cx="4125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← L + 1；i ← i + 1，记第 i 位顾客到达时刻 aᵢ ← 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8190" y="2343150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868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2355532"/>
              <a:ext cx="3514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Exp(λ) 抽取 X，下一到达时刻 A ← t + X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" y="264318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3868" y="2681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8987" y="2655570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B = 0（不用排队，直接服务）：B ← 1，L ← L − 1；j ← j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+ 1，sⱼ ← t；从 Exp(μ) 抽取 Y，E ← t + Y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480435"/>
            <a:ext cx="5626418" cy="2667000"/>
            <a:chOff x="533400" y="3480435"/>
            <a:chExt cx="5626418" cy="2667000"/>
          </a:xfrm>
        </p:grpSpPr>
        <p:sp>
          <p:nvSpPr>
            <p:cNvPr id="21" name="Rectangle 21"/>
            <p:cNvSpPr/>
            <p:nvPr/>
          </p:nvSpPr>
          <p:spPr>
            <a:xfrm>
              <a:off x="533400" y="3480435"/>
              <a:ext cx="5626418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613785"/>
              <a:ext cx="47625" cy="24003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3667125"/>
              <a:ext cx="1499235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4894" y="3699986"/>
              <a:ext cx="1385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服务结束事件（t = E）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58190" y="3998595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3868" y="40369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8987" y="4010977"/>
              <a:ext cx="42985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← 0；n ← n + 1，记第 n 位顾客结束服务时刻 eₙ ← t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8190" y="429863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868" y="43379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4311015"/>
              <a:ext cx="43599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L &gt; 0（排队顾客开始服务）：L ← L − 1，B ← 1；j ← j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1，sⱼ ← t；从 Exp(μ) 抽取 Y，E ← t + Y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1654492"/>
            <a:chOff x="6464618" y="1524000"/>
            <a:chExt cx="5193982" cy="1654492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1654492"/>
            </a:xfrm>
            <a:prstGeom prst="roundRect">
              <a:avLst>
                <a:gd name="adj" fmla="val 806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51308" y="1710690"/>
              <a:ext cx="64103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32964" y="1743551"/>
              <a:ext cx="4786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 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44449" y="2054542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 I = {i : T₀ ≤ sᵢ，且 eᵢ ≤ T₁}，求 {eᵢ − aᵢ, i ∈ I} 的平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均值作为 ER 的估计。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45592" y="2608421"/>
              <a:ext cx="45204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先到先服务时，第 i 位到达的顾客也是第 i 位开始服务、第 i 位离开的，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 aᵢ、sᵢ、eᵢ 用同一个下标对应。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3348038"/>
            <a:ext cx="5193982" cy="1185862"/>
            <a:chOff x="6464618" y="3348038"/>
            <a:chExt cx="5193982" cy="1185862"/>
          </a:xfrm>
        </p:grpSpPr>
        <p:sp>
          <p:nvSpPr>
            <p:cNvPr id="38" name="Rectangle 38"/>
            <p:cNvSpPr/>
            <p:nvPr/>
          </p:nvSpPr>
          <p:spPr>
            <a:xfrm>
              <a:off x="6464618" y="3348038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348138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89408" y="3534728"/>
              <a:ext cx="138779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48661" y="3567589"/>
              <a:ext cx="12702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为什么要有预热期 T₀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82549" y="38795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模拟从空系统开始，前期顾客的等待偏短，不代表稳态；丢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 T₀ 之前开始服务的顾客，可以减小这部分偏差。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464618" y="4703445"/>
            <a:ext cx="5193982" cy="1443038"/>
            <a:chOff x="6464618" y="4703445"/>
            <a:chExt cx="5193982" cy="1443038"/>
          </a:xfrm>
        </p:grpSpPr>
        <p:sp>
          <p:nvSpPr>
            <p:cNvPr id="44" name="Rectangle 44"/>
            <p:cNvSpPr/>
            <p:nvPr/>
          </p:nvSpPr>
          <p:spPr>
            <a:xfrm>
              <a:off x="6464618" y="4703445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483679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9408" y="48901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2079" y="49229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2549" y="5234940"/>
              <a:ext cx="46000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原课件取 I = {i : T₀ ≤ sᵢ ≤ T₁}。模拟停止时正在服务的顾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客还没有离开时刻 eᵢ，eᵢ − aᵢ 无法计算，应只取 T₁ 之前已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经离开的顾客。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12067" cy="909257"/>
            <a:chOff x="520446" y="342900"/>
            <a:chExt cx="87120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476" y="407194"/>
              <a:ext cx="3072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3.6.2 离散事件模拟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120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15.2 的 R 实现：估计值在理论值 1/(μ − λ) = 5 附近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167438" cy="4687252"/>
            <a:chOff x="533400" y="1524000"/>
            <a:chExt cx="6167438" cy="46872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687252"/>
            </a:xfrm>
            <a:prstGeom prst="roundRect">
              <a:avLst>
                <a:gd name="adj" fmla="val 203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291586" cy="4179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mm1_des &lt;-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(lambda, mu, T0, T1)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 &lt;- 0; B &lt;- 0; L &lt;- 0; i &lt;- 0; j &lt;- 0; n &lt;- 0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 &lt;- s &lt;- e &lt;- numeric(0)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 &lt;- rexp(1, lambda); E &lt;-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Inf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repeat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&lt;-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 == 0 || A &lt; E) A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&gt; T1)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A) {    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到达事件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 &lt;- L + 1; i &lt;- i + 1; a[i] &lt;- t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 &lt;- t + rexp(1, lambda)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 == 0)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 &lt;- 1; L &lt;- L - 1; j &lt;- j + 1; s[j] &lt;- t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 &lt;- t + rexp(1, mu)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服务结束事件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 &lt;- 0; n &lt;- n + 1; e[n] &lt;- t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 &gt; 0)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 &lt;- L - 1; B &lt;- 1; j &lt;- j + 1; s[j] &lt;- t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 &lt;- t + rexp(1, mu)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 &lt;- which(s[1:n] &gt;= T0)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已离开且在预热期后开始服务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mean(e[I] - a[I])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set.seed(1)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mm1_des(0.8, 1, T0 = 1000, T1 = 101000)</a:t>
              </a:r>
            </a:p>
          </p:txBody>
        </p:sp>
      </p:grpSp>
      <p:grpSp>
        <p:nvGrpSpPr>
          <p:cNvPr id="27" name="c2-table-1"/>
          <p:cNvGrpSpPr/>
          <p:nvPr/>
        </p:nvGrpSpPr>
        <p:grpSpPr>
          <a:xfrm>
            <a:off x="7000684" y="1524000"/>
            <a:ext cx="4657916" cy="1463706"/>
            <a:chOff x="7000684" y="1524000"/>
            <a:chExt cx="4657916" cy="1463706"/>
          </a:xfrm>
        </p:grpSpPr>
        <p:sp>
          <p:nvSpPr>
            <p:cNvPr id="11" name="Rectangle 11"/>
            <p:cNvSpPr/>
            <p:nvPr/>
          </p:nvSpPr>
          <p:spPr>
            <a:xfrm>
              <a:off x="7005638" y="1524000"/>
              <a:ext cx="465296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32183" y="1645444"/>
              <a:ext cx="571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T₁ − T₀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0508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计入顾客数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34748" y="1645444"/>
              <a:ext cx="133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次重复的 ER 估计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81759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18170" y="2045494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8000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0962" y="2045494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4.87, 5.50, 4.84, 5.60, 4.82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05638" y="23193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05638" y="23241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81759" y="24455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76707" y="2445544"/>
              <a:ext cx="622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80000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10962" y="2445544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4.95, 4.97, 5.16, 5.22, 4.88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05638" y="1524000"/>
              <a:ext cx="4652962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24812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41142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00684" y="2797016"/>
              <a:ext cx="33395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 = 0.8，μ = 1，T₀ = 1000；用 Python 按同一算法模拟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7005638" y="3119438"/>
            <a:ext cx="4652962" cy="978218"/>
            <a:chOff x="7005638" y="3119438"/>
            <a:chExt cx="4652962" cy="978218"/>
          </a:xfrm>
        </p:grpSpPr>
        <p:sp>
          <p:nvSpPr>
            <p:cNvPr id="28" name="Rectangle 28"/>
            <p:cNvSpPr/>
            <p:nvPr/>
          </p:nvSpPr>
          <p:spPr>
            <a:xfrm>
              <a:off x="7005638" y="3119438"/>
              <a:ext cx="4652962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10425" y="3509012"/>
              <a:ext cx="200023" cy="200023"/>
              <a:chOff x="7210425" y="3509012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210425" y="35090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43775" y="35756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513130" y="3266122"/>
              <a:ext cx="37856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理论值 ER = 1/(μ − λ) = 5。模拟时长增加 10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倍，估计值的波动明显变小，程序通过了正确性确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7005638" y="4267200"/>
            <a:ext cx="4652962" cy="978218"/>
            <a:chOff x="7005638" y="4267200"/>
            <a:chExt cx="4652962" cy="978218"/>
          </a:xfrm>
        </p:grpSpPr>
        <p:sp>
          <p:nvSpPr>
            <p:cNvPr id="34" name="Rectangle 34"/>
            <p:cNvSpPr/>
            <p:nvPr/>
          </p:nvSpPr>
          <p:spPr>
            <a:xfrm>
              <a:off x="7005638" y="4267200"/>
              <a:ext cx="4652962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198367" y="4653081"/>
              <a:ext cx="224134" cy="192560"/>
              <a:chOff x="7198367" y="4653081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10438" y="47234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98367" y="46530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310438" y="48012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513130" y="4413885"/>
              <a:ext cx="37856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相邻顾客的滞留时间正相关，不是独立样本，不能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直接用 s/√n 当标准误；可以像左表那样独立重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复几次模拟，看估计值的波动。</a:t>
              </a:r>
            </a:p>
          </p:txBody>
        </p:sp>
      </p:grpSp>
      <p:grpSp>
        <p:nvGrpSpPr>
          <p:cNvPr id="47" name="c2-callout-4"/>
          <p:cNvGrpSpPr/>
          <p:nvPr/>
        </p:nvGrpSpPr>
        <p:grpSpPr>
          <a:xfrm>
            <a:off x="7005638" y="5415915"/>
            <a:ext cx="4652962" cy="795338"/>
            <a:chOff x="7005638" y="5415915"/>
            <a:chExt cx="4652962" cy="795338"/>
          </a:xfrm>
        </p:grpSpPr>
        <p:sp>
          <p:nvSpPr>
            <p:cNvPr id="41" name="Rectangle 41"/>
            <p:cNvSpPr/>
            <p:nvPr/>
          </p:nvSpPr>
          <p:spPr>
            <a:xfrm>
              <a:off x="7005638" y="5415915"/>
              <a:ext cx="4652962" cy="795338"/>
            </a:xfrm>
            <a:prstGeom prst="roundRect">
              <a:avLst>
                <a:gd name="adj" fmla="val 1437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10425" y="5713095"/>
              <a:ext cx="200026" cy="200025"/>
              <a:chOff x="7210425" y="571309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210425" y="57130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50164" y="57575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84879" y="58686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513130" y="5594985"/>
              <a:ext cx="36484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 的 rexp(n, rate) 第二个参数是速率 λ，均值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 1/λ。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86224" cy="909257"/>
            <a:chOff x="520446" y="342900"/>
            <a:chExt cx="76862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476" y="407194"/>
              <a:ext cx="3072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3.6.2 离散事件模拟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862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医院预检处：自助挂号机前排队，逐个顾客递推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700212"/>
            <a:chOff x="533400" y="1524000"/>
            <a:chExt cx="4544378" cy="17002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9570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医院预检处帮患者或访客甄别病类、正确挂号。大厅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改用计算机自助挂号触摸屏后，有人不会操作或操作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不熟练，引起耽误和排队。信息管理工程师要评估挂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号效率及可能引起的耽误程度。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93758"/>
            <a:ext cx="4544378" cy="2889885"/>
            <a:chOff x="533400" y="3393758"/>
            <a:chExt cx="4544378" cy="28898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93758"/>
              <a:ext cx="4544378" cy="2889885"/>
            </a:xfrm>
            <a:prstGeom prst="roundRect">
              <a:avLst>
                <a:gd name="adj" fmla="val 46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527108"/>
              <a:ext cx="47625" cy="26231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5804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36133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98145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925252"/>
              <a:ext cx="37684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到达率 λ = 65 人/小时，服务率 μ = 60 人/小时，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 10 小时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453866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4482465"/>
              <a:ext cx="3947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一台挂号机、先到先服务、队长不限，即 M/M/1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4779169"/>
              <a:ext cx="3501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 &gt; μ，ρ ≈ 1.08，系统没有稳态，队伍会越排越长。</a:t>
              </a:r>
            </a:p>
          </p:txBody>
        </p:sp>
      </p:grpSp>
      <p:grpSp>
        <p:nvGrpSpPr>
          <p:cNvPr id="83" name="c2-table-1"/>
          <p:cNvGrpSpPr/>
          <p:nvPr/>
        </p:nvGrpSpPr>
        <p:grpSpPr>
          <a:xfrm>
            <a:off x="5377624" y="1524000"/>
            <a:ext cx="6280976" cy="2663856"/>
            <a:chOff x="5377624" y="1524000"/>
            <a:chExt cx="6280976" cy="2663856"/>
          </a:xfrm>
        </p:grpSpPr>
        <p:sp>
          <p:nvSpPr>
            <p:cNvPr id="23" name="Rectangle 23"/>
            <p:cNvSpPr/>
            <p:nvPr/>
          </p:nvSpPr>
          <p:spPr>
            <a:xfrm>
              <a:off x="5382578" y="1524000"/>
              <a:ext cx="627602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1183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顾客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7448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到达时刻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3078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服务时间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8708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开始服务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4242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9872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离开时刻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37317" y="16454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到达时系统内人数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1907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51646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0794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64241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0251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7588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9895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82578" y="23241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1907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51646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07944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64241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31542" y="2333625"/>
              <a:ext cx="83724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19586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75884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9895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1907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51646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794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64241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31542" y="2733675"/>
              <a:ext cx="83724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819586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7588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9895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82578" y="31242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19076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51646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07944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64241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0251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75884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9895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82578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19076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51646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07944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64241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531542" y="3533775"/>
              <a:ext cx="83724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819586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675884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89895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82578" y="1524000"/>
              <a:ext cx="627602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94931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80561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66095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51725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37260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22889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377624" y="3997166"/>
              <a:ext cx="42381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时间单位为分钟的手算小例子；原程序 guests 数组的 5 行依次存这几列</a:t>
              </a:r>
            </a:p>
          </p:txBody>
        </p:sp>
      </p:grpSp>
      <p:grpSp>
        <p:nvGrpSpPr>
          <p:cNvPr id="93" name="c2-steps-2"/>
          <p:cNvGrpSpPr/>
          <p:nvPr/>
        </p:nvGrpSpPr>
        <p:grpSpPr>
          <a:xfrm>
            <a:off x="5382578" y="4329112"/>
            <a:ext cx="5744590" cy="1310164"/>
            <a:chOff x="5382578" y="4329112"/>
            <a:chExt cx="5744590" cy="1310164"/>
          </a:xfrm>
        </p:grpSpPr>
        <p:sp>
          <p:nvSpPr>
            <p:cNvPr id="84" name="Rectangle 84"/>
            <p:cNvSpPr/>
            <p:nvPr/>
          </p:nvSpPr>
          <p:spPr>
            <a:xfrm>
              <a:off x="5515928" y="4471988"/>
              <a:ext cx="19050" cy="5829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382578" y="43291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476201" y="4402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5382578" y="49120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476201" y="49858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794820" y="43614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系统空（上一位已离开）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795962" y="4628674"/>
              <a:ext cx="3411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到达即开始服务，等待时间为 0，如第 1、4 位顾客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794820" y="494442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上一位还没离开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795962" y="5211604"/>
              <a:ext cx="53312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开始服务时刻 = 上一位的离开时刻，等待 = 该时刻 − 自己的到达时刻，如第 2、3、5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位；离开时刻 = 开始服务 + 服务时间</a:t>
              </a:r>
            </a:p>
          </p:txBody>
        </p:sp>
      </p:grpSp>
      <p:grpSp>
        <p:nvGrpSpPr>
          <p:cNvPr id="99" name="c2-callout-3"/>
          <p:cNvGrpSpPr/>
          <p:nvPr/>
        </p:nvGrpSpPr>
        <p:grpSpPr>
          <a:xfrm>
            <a:off x="5382578" y="5802630"/>
            <a:ext cx="6276022" cy="481012"/>
            <a:chOff x="5382578" y="5802630"/>
            <a:chExt cx="6276022" cy="481012"/>
          </a:xfrm>
        </p:grpSpPr>
        <p:sp>
          <p:nvSpPr>
            <p:cNvPr id="94" name="Rectangle 94"/>
            <p:cNvSpPr/>
            <p:nvPr/>
          </p:nvSpPr>
          <p:spPr>
            <a:xfrm>
              <a:off x="5382578" y="5802630"/>
              <a:ext cx="6276022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5587365" y="5942650"/>
              <a:ext cx="200023" cy="200023"/>
              <a:chOff x="5587365" y="5942650"/>
              <a:chExt cx="200023" cy="200023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5587365" y="59426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5720715" y="6009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5890070" y="5948362"/>
              <a:ext cx="5093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合起来就是：开始服务 = max(到达时刻, 上一位的离开时刻)。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91919" cy="909257"/>
            <a:chOff x="520446" y="342900"/>
            <a:chExt cx="85919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468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476" y="407194"/>
              <a:ext cx="3072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3.6.2 离散事件模拟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919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医院预检处的 R 实现：λ &gt; μ 时等待时间随时间持续增长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830830"/>
            <a:chOff x="533400" y="1524000"/>
            <a:chExt cx="6059805" cy="28308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830830"/>
            </a:xfrm>
            <a:prstGeom prst="roundRect">
              <a:avLst>
                <a:gd name="adj" fmla="val 33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373501" cy="2327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T_total &lt;- 10; lambda &lt;- 65; mu &lt;- 60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小时，人/小时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arr &lt;- cumsum(rexp(round(T_total * lambda * 2), lambda))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 &lt;- arr[arr &lt;= T_total]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模拟时间内到达的顾客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   &lt;- length(arr)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ser &lt;- rexp(m, mu)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服务时间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start &lt;- dep &lt;- num &lt;- numeric(m)</a:t>
              </a:r>
              <a:br/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1:m)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prev     &lt;-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== 1) 0 </a:t>
              </a:r>
              <a:r>
                <a:rPr lang="en-US" sz="8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dep[k - 1]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start[k] &lt;- max(arr[k], prev)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dep[k]   &lt;- start[k] + ser[k]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num[k]   &lt;- sum(dep[seq_len(k - 1)] &gt; arr[k])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wait &lt;- start - arr; stay &lt;- wait + ser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plot(1:m, stay, type =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停留时间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lines(1:m, wait, col =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"red"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等待时间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524375"/>
            <a:ext cx="6059805" cy="1738312"/>
            <a:chOff x="533400" y="4524375"/>
            <a:chExt cx="6059805" cy="1738312"/>
          </a:xfrm>
        </p:grpSpPr>
        <p:sp>
          <p:nvSpPr>
            <p:cNvPr id="11" name="Rectangle 11"/>
            <p:cNvSpPr/>
            <p:nvPr/>
          </p:nvSpPr>
          <p:spPr>
            <a:xfrm>
              <a:off x="533400" y="4524375"/>
              <a:ext cx="6059805" cy="1738312"/>
            </a:xfrm>
            <a:prstGeom prst="roundRect">
              <a:avLst>
                <a:gd name="adj" fmla="val 767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20090" y="471106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1560" y="474392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递推的核心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3232" y="5054918"/>
              <a:ext cx="53200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k 位顾客的开始服务时刻 = max(自己的到达时刻, 上一位的离开时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刻)，离开 = 开始 + 服务时间，等待 = 开始 − 到达。单服务台 FCFS 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靠这条递推，不必写事件表。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893052" y="1524000"/>
            <a:ext cx="4765548" cy="1463706"/>
            <a:chOff x="6893052" y="1524000"/>
            <a:chExt cx="4765548" cy="1463706"/>
          </a:xfrm>
        </p:grpSpPr>
        <p:sp>
          <p:nvSpPr>
            <p:cNvPr id="16" name="Rectangle 16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15100" y="164544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到达率 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47597" y="164544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小时内人数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2251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平均等待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16226" y="1645444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 20 人平均等待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9924" y="2045494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65（原题）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12960" y="20454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648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84818" y="2045494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 小时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118408" y="1933575"/>
              <a:ext cx="153066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39260" y="2045494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1.06 小时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19924" y="2445544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55（对照）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2960" y="24455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547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84818" y="2445544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 小时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39260" y="2445544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 小时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98005" y="1524000"/>
              <a:ext cx="476059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925752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146858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104120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93052" y="2797016"/>
              <a:ext cx="2698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 = 60，各重复模拟 200 次取平均（Python）</a:t>
              </a:r>
            </a:p>
          </p:txBody>
        </p:sp>
      </p:grpSp>
      <p:grpSp>
        <p:nvGrpSpPr>
          <p:cNvPr id="39" name="c2-text-2"/>
          <p:cNvGrpSpPr/>
          <p:nvPr/>
        </p:nvGrpSpPr>
        <p:grpSpPr>
          <a:xfrm>
            <a:off x="6892290" y="3138011"/>
            <a:ext cx="4378198" cy="441008"/>
            <a:chOff x="6892290" y="3138011"/>
            <a:chExt cx="4378198" cy="441008"/>
          </a:xfrm>
        </p:grpSpPr>
        <p:sp>
          <p:nvSpPr>
            <p:cNvPr id="38" name="TextBox 38"/>
            <p:cNvSpPr txBox="1"/>
            <p:nvPr/>
          </p:nvSpPr>
          <p:spPr>
            <a:xfrm>
              <a:off x="6892290" y="3138011"/>
              <a:ext cx="4378198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55 时 ρ ≈ 0.92，稳态平均等待时间 ρ/(μ − λ) ≈ 0.18 小时，模拟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小时后已接近这个值；λ = 65 时越晚到的人等得越久。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6898005" y="3705225"/>
            <a:ext cx="4760595" cy="2557462"/>
            <a:chOff x="6898005" y="3705225"/>
            <a:chExt cx="4760595" cy="2557462"/>
          </a:xfrm>
        </p:grpSpPr>
        <p:sp>
          <p:nvSpPr>
            <p:cNvPr id="40" name="Rectangle 40"/>
            <p:cNvSpPr/>
            <p:nvPr/>
          </p:nvSpPr>
          <p:spPr>
            <a:xfrm>
              <a:off x="6898005" y="3705225"/>
              <a:ext cx="4760595" cy="2557462"/>
            </a:xfrm>
            <a:prstGeom prst="roundRect">
              <a:avLst>
                <a:gd name="adj" fmla="val 52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3838575"/>
              <a:ext cx="47625" cy="22907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2795" y="389191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3313" y="392477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更正与说明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31367" y="42929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87387" y="4236720"/>
              <a:ext cx="39827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 MATLAB 程序中 1en_sim、1en_mem 把字母 l 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写成数字 1，变量名不合法，而后文又用 len_mem；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这里改写成 R，逻辑不变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31367" y="51073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87387" y="5051108"/>
              <a:ext cx="35541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MATLAB 的 exprnd(均值) 以均值为参数，R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rexp(n, 速率) 以速率为参数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31367" y="5664517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87387" y="560832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原程序用“系统内还有人没离开”判断是否排队，与左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侧的 max 写法等价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969127" cy="2997517"/>
            <a:chOff x="667512" y="1835468"/>
            <a:chExt cx="596912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69270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 Bootstrap 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把样本当作总体反复重抽样，估计统计量的抽样分布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509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3.7.1 Bootstrap 方法引入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729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3.7.2 非参数 bootstrap：标准误、均方误差与偏差、置信区间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3.7.3 参数 bootstrap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统计量的分布是推断的关键，却常常求不出来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020" y="1547336"/>
            <a:ext cx="5112565" cy="1475042"/>
            <a:chOff x="541020" y="1547336"/>
            <a:chExt cx="5112565" cy="1475042"/>
          </a:xfrm>
        </p:grpSpPr>
        <p:sp>
          <p:nvSpPr>
            <p:cNvPr id="7" name="Ellipse 7"/>
            <p:cNvSpPr/>
            <p:nvPr/>
          </p:nvSpPr>
          <p:spPr>
            <a:xfrm>
              <a:off x="541020" y="160782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611" y="1547336"/>
              <a:ext cx="49559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统计量的分布是关键：标准误、置信区间、p 值都由它得到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020" y="19345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611" y="187404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统计量的分布很难求：样本中位数、相关系数的精确分布没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有简单形式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020" y="253269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611" y="247221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参数估计的标准误不一定总有简单公式：线性模型估计有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（例 17.2），很多最大似然估计问题没有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147060"/>
            <a:ext cx="5193982" cy="1522095"/>
            <a:chOff x="533400" y="3147060"/>
            <a:chExt cx="5193982" cy="1522095"/>
          </a:xfrm>
        </p:grpSpPr>
        <p:sp>
          <p:nvSpPr>
            <p:cNvPr id="14" name="Rectangle 14"/>
            <p:cNvSpPr/>
            <p:nvPr/>
          </p:nvSpPr>
          <p:spPr>
            <a:xfrm>
              <a:off x="533400" y="3147060"/>
              <a:ext cx="519398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8041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334518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058" y="33794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重抽样的想法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370570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对观测值重复抽样，每次用重抽样数据生成一个经验分布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函数；对每个重抽样数据集计算统计量的一个新取值，收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集这些值，就得到所关注统计量的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抽样分布的一个估计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849178"/>
            <a:ext cx="5193982" cy="1018222"/>
            <a:chOff x="533400" y="4849178"/>
            <a:chExt cx="5193982" cy="1018222"/>
          </a:xfrm>
        </p:grpSpPr>
        <p:sp>
          <p:nvSpPr>
            <p:cNvPr id="20" name="Rectangle 20"/>
            <p:cNvSpPr/>
            <p:nvPr/>
          </p:nvSpPr>
          <p:spPr>
            <a:xfrm>
              <a:off x="533400" y="4849178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255061"/>
              <a:ext cx="224134" cy="192560"/>
              <a:chOff x="726129" y="5255061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3254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2550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4032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4996339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Bootstrap 用在独立同分布的数据上。用于回归残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差、时间序列等不独立的数据时，要先处理数据，如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对残差或数据块重抽样。</a:t>
              </a:r>
            </a:p>
          </p:txBody>
        </p:sp>
      </p:grpSp>
      <p:grpSp>
        <p:nvGrpSpPr>
          <p:cNvPr id="28" name="c2-text-1"/>
          <p:cNvGrpSpPr/>
          <p:nvPr/>
        </p:nvGrpSpPr>
        <p:grpSpPr>
          <a:xfrm>
            <a:off x="6026086" y="1544002"/>
            <a:ext cx="1627632" cy="234696"/>
            <a:chOff x="6026086" y="1544002"/>
            <a:chExt cx="162763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26086" y="154400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重抽样方法思想示意图</a:t>
              </a:r>
            </a:p>
          </p:txBody>
        </p:sp>
      </p:grpSp>
      <p:grpSp>
        <p:nvGrpSpPr>
          <p:cNvPr id="79" name="c2-flow-2"/>
          <p:cNvGrpSpPr/>
          <p:nvPr/>
        </p:nvGrpSpPr>
        <p:grpSpPr>
          <a:xfrm>
            <a:off x="6165532" y="2030730"/>
            <a:ext cx="5359718" cy="3109913"/>
            <a:chOff x="6165532" y="2030730"/>
            <a:chExt cx="5359718" cy="3109913"/>
          </a:xfrm>
        </p:grpSpPr>
        <p:sp>
          <p:nvSpPr>
            <p:cNvPr id="29" name="Freeform 29"/>
            <p:cNvSpPr/>
            <p:nvPr/>
          </p:nvSpPr>
          <p:spPr>
            <a:xfrm>
              <a:off x="7774305" y="223647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936230" y="21840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649778" y="223647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811702" y="21840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844915" y="244221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792528" y="2480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969442" y="3188970"/>
              <a:ext cx="1875472" cy="71438"/>
            </a:xfrm>
            <a:custGeom>
              <a:avLst/>
              <a:gdLst/>
              <a:ahLst/>
              <a:cxnLst/>
              <a:rect l="l" t="t" r="r" b="b"/>
              <a:pathLst>
                <a:path w="1875472" h="71438">
                  <a:moveTo>
                    <a:pt x="1875472" y="0"/>
                  </a:moveTo>
                  <a:lnTo>
                    <a:pt x="1875472" y="71438"/>
                  </a:lnTo>
                  <a:lnTo>
                    <a:pt x="0" y="71438"/>
                  </a:lnTo>
                  <a:lnTo>
                    <a:pt x="0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17055" y="32270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844915" y="318897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792528" y="32270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844915" y="3188970"/>
              <a:ext cx="1875472" cy="71438"/>
            </a:xfrm>
            <a:custGeom>
              <a:avLst/>
              <a:gdLst/>
              <a:ahLst/>
              <a:cxnLst/>
              <a:rect l="l" t="t" r="r" b="b"/>
              <a:pathLst>
                <a:path w="1875472" h="71438">
                  <a:moveTo>
                    <a:pt x="0" y="0"/>
                  </a:moveTo>
                  <a:lnTo>
                    <a:pt x="0" y="71438"/>
                  </a:lnTo>
                  <a:lnTo>
                    <a:pt x="1875472" y="71438"/>
                  </a:lnTo>
                  <a:lnTo>
                    <a:pt x="1875472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668000" y="32270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969442" y="3743325"/>
              <a:ext cx="9525" cy="134303"/>
            </a:xfrm>
            <a:custGeom>
              <a:avLst/>
              <a:gdLst/>
              <a:ahLst/>
              <a:cxnLst/>
              <a:rect l="l" t="t" r="r" b="b"/>
              <a:pathLst>
                <a:path w="9525" h="134303">
                  <a:moveTo>
                    <a:pt x="0" y="0"/>
                  </a:moveTo>
                  <a:lnTo>
                    <a:pt x="0" y="1343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917055" y="3877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44915" y="3743325"/>
              <a:ext cx="9525" cy="134303"/>
            </a:xfrm>
            <a:custGeom>
              <a:avLst/>
              <a:gdLst/>
              <a:ahLst/>
              <a:cxnLst/>
              <a:rect l="l" t="t" r="r" b="b"/>
              <a:pathLst>
                <a:path w="9525" h="134303">
                  <a:moveTo>
                    <a:pt x="0" y="0"/>
                  </a:moveTo>
                  <a:lnTo>
                    <a:pt x="0" y="1343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792528" y="3877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720388" y="3743325"/>
              <a:ext cx="9525" cy="134303"/>
            </a:xfrm>
            <a:custGeom>
              <a:avLst/>
              <a:gdLst/>
              <a:ahLst/>
              <a:cxnLst/>
              <a:rect l="l" t="t" r="r" b="b"/>
              <a:pathLst>
                <a:path w="9525" h="134303">
                  <a:moveTo>
                    <a:pt x="0" y="0"/>
                  </a:moveTo>
                  <a:lnTo>
                    <a:pt x="0" y="1343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668000" y="3877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969442" y="4393882"/>
              <a:ext cx="1875472" cy="71438"/>
            </a:xfrm>
            <a:custGeom>
              <a:avLst/>
              <a:gdLst/>
              <a:ahLst/>
              <a:cxnLst/>
              <a:rect l="l" t="t" r="r" b="b"/>
              <a:pathLst>
                <a:path w="1875472" h="71438">
                  <a:moveTo>
                    <a:pt x="0" y="0"/>
                  </a:moveTo>
                  <a:lnTo>
                    <a:pt x="0" y="71438"/>
                  </a:lnTo>
                  <a:lnTo>
                    <a:pt x="1875472" y="71438"/>
                  </a:lnTo>
                  <a:lnTo>
                    <a:pt x="1875472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792528" y="44319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844915" y="4393882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792528" y="44319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844915" y="4393882"/>
              <a:ext cx="1875472" cy="71438"/>
            </a:xfrm>
            <a:custGeom>
              <a:avLst/>
              <a:gdLst/>
              <a:ahLst/>
              <a:cxnLst/>
              <a:rect l="l" t="t" r="r" b="b"/>
              <a:pathLst>
                <a:path w="1875472" h="71438">
                  <a:moveTo>
                    <a:pt x="1875472" y="0"/>
                  </a:moveTo>
                  <a:lnTo>
                    <a:pt x="1875472" y="71438"/>
                  </a:lnTo>
                  <a:lnTo>
                    <a:pt x="0" y="71438"/>
                  </a:lnTo>
                  <a:lnTo>
                    <a:pt x="0" y="38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792528" y="44319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165532" y="2030730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41005" y="2030730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916478" y="2030730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41005" y="2585085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165532" y="3331845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41005" y="3331845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916478" y="3331845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165532" y="3982402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041005" y="3982402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916478" y="3982402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25565" y="4536758"/>
              <a:ext cx="4838700" cy="6038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06172" y="2152650"/>
              <a:ext cx="1126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F（未知）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93608" y="2152650"/>
              <a:ext cx="1102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x₁, …, xₙ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70045" y="21526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 g(x)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74939" y="2700338"/>
              <a:ext cx="11399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经验分布 Fₙ：每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xᵢ 概率 1/n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75590" y="345376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Y⁽¹⁾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78520" y="3453765"/>
              <a:ext cx="532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Y⁽²⁾ …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26535" y="345376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Y⁽ᴮ⁾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43573" y="4104322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g(Y⁽¹⁾)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48446" y="4104322"/>
              <a:ext cx="792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g(Y⁽²⁾) …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394518" y="4104322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g(Y⁽ᴮ⁾)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05994" y="4652010"/>
              <a:ext cx="4077843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用这 B 个值的标准差、均值、分位数估计 SE、偏差、置信区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735252" y="203073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70774" y="20550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抽样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873490" y="3174682"/>
              <a:ext cx="86106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897112" y="3199924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有放回抽 n 个</a:t>
              </a:r>
            </a:p>
          </p:txBody>
        </p:sp>
      </p:grpSp>
      <p:grpSp>
        <p:nvGrpSpPr>
          <p:cNvPr id="86" name="c2-callout-3"/>
          <p:cNvGrpSpPr/>
          <p:nvPr/>
        </p:nvGrpSpPr>
        <p:grpSpPr>
          <a:xfrm>
            <a:off x="6032182" y="5344478"/>
            <a:ext cx="5626418" cy="1018222"/>
            <a:chOff x="6032182" y="5344478"/>
            <a:chExt cx="5626418" cy="1018222"/>
          </a:xfrm>
        </p:grpSpPr>
        <p:sp>
          <p:nvSpPr>
            <p:cNvPr id="80" name="Rectangle 80"/>
            <p:cNvSpPr/>
            <p:nvPr/>
          </p:nvSpPr>
          <p:spPr>
            <a:xfrm>
              <a:off x="6032182" y="5344478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236970" y="5753100"/>
              <a:ext cx="200026" cy="200025"/>
              <a:chOff x="6236970" y="5753100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236970" y="57531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276709" y="57975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311424" y="59086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539294" y="5491639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非参数 bootstrap 从 Fₙ 抽样，参数 bootstrap 从估计出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参数的分布族中抽样；它们可用于对总体知之甚少的情况，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是近代统计中处理数据的重要实用方法。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56448" cy="909257"/>
            <a:chOff x="520446" y="342900"/>
            <a:chExt cx="103564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564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一般框架：统计量的分布特征 ψ 依赖未知的 F，用估计的分布代替 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3352800"/>
            <a:chOff x="533400" y="1524000"/>
            <a:chExt cx="5193982" cy="3352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352800"/>
            </a:xfrm>
            <a:prstGeom prst="roundRect">
              <a:avLst>
                <a:gd name="adj" fmla="val 3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861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服从未知分布 F(x)，X = (x₁, …, xₙ) 是 X 的一个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42399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是 F 的一个参数，可以看成 F 的泛函 φ(F)，用统计量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g(X) 估计它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2261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3169920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ψ = ψ(g, F, n) 是统计量 g(X) 的抽样分布的某种数字特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征，例如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71"/>
                <p:cNvSpPr txBox="1">
                  <a:spLocks noGrp="1"/>
                </p:cNvSpPr>
                <p:nvPr/>
              </p:nvSpPr>
              <p:spPr>
                <a:xfrm>
                  <a:off x="758190" y="3705225"/>
                  <a:ext cx="4782502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ψ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ra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r>
                          <m:rPr>
                            <m:nor m:val="on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或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ψ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acc>
                          <m:accPr>
                            <m:chr m:val="ˆ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ϕ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51332" y="4222432"/>
              <a:ext cx="44456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前者是样本均值的标准误，后者是估计量的偏差。ψ 依赖未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知的 F，无法直接计算，可以用随机模拟的方法估计。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5047298"/>
            <a:ext cx="5193982" cy="1240155"/>
            <a:chOff x="533400" y="5047298"/>
            <a:chExt cx="5193982" cy="1240155"/>
          </a:xfrm>
        </p:grpSpPr>
        <p:sp>
          <p:nvSpPr>
            <p:cNvPr id="19" name="Rectangle 19"/>
            <p:cNvSpPr/>
            <p:nvPr/>
          </p:nvSpPr>
          <p:spPr>
            <a:xfrm>
              <a:off x="533400" y="5047298"/>
              <a:ext cx="5193982" cy="1240155"/>
            </a:xfrm>
            <a:prstGeom prst="roundRect">
              <a:avLst>
                <a:gd name="adj" fmla="val 9217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567365"/>
              <a:ext cx="200023" cy="200023"/>
              <a:chOff x="738188" y="5567365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5673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5634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324475"/>
              <a:ext cx="43256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两层近似：用估计的分布代替 F，误差取决于样本量 n；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B 次模拟代替精确计算，误差取决于 B，加大 B 就能减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6032182" y="1533525"/>
            <a:ext cx="5360543" cy="2890361"/>
            <a:chOff x="6032182" y="1533525"/>
            <a:chExt cx="5360543" cy="2890361"/>
          </a:xfrm>
        </p:grpSpPr>
        <p:sp>
          <p:nvSpPr>
            <p:cNvPr id="25" name="Rectangle 25"/>
            <p:cNvSpPr/>
            <p:nvPr/>
          </p:nvSpPr>
          <p:spPr>
            <a:xfrm>
              <a:off x="6165532" y="1676400"/>
              <a:ext cx="19050" cy="21631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32182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25806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32182" y="290607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5806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32182" y="369665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5806" y="3770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4424" y="156495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估计总体分布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5567" y="1833086"/>
              <a:ext cx="3719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从样本 X 估计总体分布 F（非参数时就用经验分布 Fₙ）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4424" y="2147888"/>
              <a:ext cx="1617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 bootstrap 样本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5567" y="2416016"/>
              <a:ext cx="47835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从估计的分布中抽取 B 个独立样本 Y⁽ᵇ⁾，b = 1, …, B，样本量都是 n，称为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 样本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4424" y="293846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逐个计算估计值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5567" y="3205639"/>
              <a:ext cx="49400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从每个 bootstrap 样本得到估计值 g(Y⁽ᵇ⁾)；这 B 个值是 g(Y) 在估计分布下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的独立同分布样本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4424" y="3728085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 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5567" y="3996214"/>
              <a:ext cx="49471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用标准的估计方法由这 B 个值估计 ψ(g, 估计分布, n)，作为 g(X) 抽样分布的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数字特征 ψ(g, F, n) 的估计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032182" y="4587240"/>
            <a:ext cx="5626418" cy="1700212"/>
            <a:chOff x="6032182" y="4587240"/>
            <a:chExt cx="5626418" cy="1700212"/>
          </a:xfrm>
        </p:grpSpPr>
        <p:sp>
          <p:nvSpPr>
            <p:cNvPr id="43" name="Rectangle 43"/>
            <p:cNvSpPr/>
            <p:nvPr/>
          </p:nvSpPr>
          <p:spPr>
            <a:xfrm>
              <a:off x="6032182" y="4587240"/>
              <a:ext cx="5626418" cy="1700212"/>
            </a:xfrm>
            <a:prstGeom prst="roundRect">
              <a:avLst>
                <a:gd name="adj" fmla="val 784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18872" y="477393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8189" y="480679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为什么这样做可行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12014" y="5117783"/>
              <a:ext cx="490861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样本量 n 够大时经验分布 Fₙ 很接近 F，所以在 Fₙ 下算出的 ψ 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接近真正的 ψ；而在 Fₙ 下抽样不过是对原始样本重抽样，计算机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可以重复很多次，于是难算的抽样分布特征变成了能模拟出来的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41120" cy="909257"/>
            <a:chOff x="520446" y="342900"/>
            <a:chExt cx="91411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411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 SE：样本均值和线性模型有公式，一般的估计量没有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085398" cy="2138362"/>
            <a:chOff x="533400" y="1524000"/>
            <a:chExt cx="5085398" cy="21383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138362"/>
            </a:xfrm>
            <a:prstGeom prst="roundRect">
              <a:avLst>
                <a:gd name="adj" fmla="val 62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7166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标准误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~ F(x, φ)，φ ∈ Θ 是总体的一个参数，其估计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量记为 φ 加帽。称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80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651058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SE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</m:acc>
                              </m:e>
                            </m:d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2381" y="3241834"/>
              <a:ext cx="37325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为该估计量的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标准误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（standard error）。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842385"/>
            <a:ext cx="5085398" cy="2405062"/>
            <a:chOff x="533400" y="3842385"/>
            <a:chExt cx="5085398" cy="2405062"/>
          </a:xfrm>
        </p:grpSpPr>
        <p:sp>
          <p:nvSpPr>
            <p:cNvPr id="15" name="Rectangle 15"/>
            <p:cNvSpPr/>
            <p:nvPr/>
          </p:nvSpPr>
          <p:spPr>
            <a:xfrm>
              <a:off x="533400" y="3842385"/>
              <a:ext cx="5085398" cy="2405062"/>
            </a:xfrm>
            <a:prstGeom prst="roundRect">
              <a:avLst>
                <a:gd name="adj" fmla="val 5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75735"/>
              <a:ext cx="47625" cy="21383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4040505"/>
              <a:ext cx="69342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4797" y="4074795"/>
              <a:ext cx="523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17.1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0101" y="407622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样本均值的标准误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4419124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Xᵢ（i = 1, …, n）是来自总体 X ~ F(x) 的样本，用样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本平均值估计 φ = EX：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81"/>
                <p:cNvSpPr txBox="1">
                  <a:spLocks noGrp="1"/>
                </p:cNvSpPr>
                <p:nvPr/>
              </p:nvSpPr>
              <p:spPr>
                <a:xfrm>
                  <a:off x="769620" y="4985385"/>
                  <a:ext cx="465105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62381" y="5555456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 为样本方差。由中心极限定理和强大数律，n 较大时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的近似 95% 置信区间为样本均值 ± 2 SE。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5923598" y="1524000"/>
            <a:ext cx="5735002" cy="3445192"/>
            <a:chOff x="5923598" y="1524000"/>
            <a:chExt cx="5735002" cy="3445192"/>
          </a:xfrm>
        </p:grpSpPr>
        <p:sp>
          <p:nvSpPr>
            <p:cNvPr id="24" name="Rectangle 24"/>
            <p:cNvSpPr/>
            <p:nvPr/>
          </p:nvSpPr>
          <p:spPr>
            <a:xfrm>
              <a:off x="5923598" y="1524000"/>
              <a:ext cx="5735002" cy="3445192"/>
            </a:xfrm>
            <a:prstGeom prst="roundRect">
              <a:avLst>
                <a:gd name="adj" fmla="val 38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33122" y="1657350"/>
              <a:ext cx="47625" cy="31784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159818" y="1722120"/>
              <a:ext cx="69342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44995" y="1756410"/>
              <a:ext cx="523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17.2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0298" y="1756886"/>
              <a:ext cx="2031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线性模型参数估计的 SE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52579" y="2100739"/>
              <a:ext cx="500087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 Y = Xβ + ε，ε ~ N(0, σ²Iₙ)，σ² 未知；β 是未知系数向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量，X 是已知的 n × p 数值矩阵，n &gt; p。X 列满秩时，β 的最小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二乘估计及其协方差阵为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82"/>
                <p:cNvSpPr txBox="1">
                  <a:spLocks noGrp="1"/>
                </p:cNvSpPr>
                <p:nvPr/>
              </p:nvSpPr>
              <p:spPr>
                <a:xfrm>
                  <a:off x="6159818" y="2937510"/>
                  <a:ext cx="530066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152579" y="3413284"/>
              <a:ext cx="28054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个系数 βⱼ 的标准误可估计为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83"/>
                <p:cNvSpPr txBox="1">
                  <a:spLocks noGrp="1"/>
                </p:cNvSpPr>
                <p:nvPr/>
              </p:nvSpPr>
              <p:spPr>
                <a:xfrm>
                  <a:off x="6159818" y="3707130"/>
                  <a:ext cx="530066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β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</m:acc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jj</m:t>
                                    </m:r>
                                  </m:e>
                                </m:d>
                              </m:sup>
                            </m:sSup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152579" y="4277201"/>
              <a:ext cx="49738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σ 的估计由残差平方和得到，a⁽ʲʲ⁾ 为 (XᵀX)⁻¹ 的 (j, j)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元素。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5923598" y="5150168"/>
            <a:ext cx="5735002" cy="1097280"/>
            <a:chOff x="5923598" y="5150168"/>
            <a:chExt cx="5735002" cy="1097280"/>
          </a:xfrm>
        </p:grpSpPr>
        <p:sp>
          <p:nvSpPr>
            <p:cNvPr id="35" name="Rectangle 35"/>
            <p:cNvSpPr/>
            <p:nvPr/>
          </p:nvSpPr>
          <p:spPr>
            <a:xfrm>
              <a:off x="5923598" y="5150168"/>
              <a:ext cx="5735002" cy="1097280"/>
            </a:xfrm>
            <a:prstGeom prst="roundRect">
              <a:avLst>
                <a:gd name="adj" fmla="val 104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128385" y="5598795"/>
              <a:ext cx="200026" cy="200026"/>
              <a:chOff x="6128385" y="5598795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128385" y="5598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228398" y="5665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217285" y="5698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430708" y="546782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样本中位数、相关系数、复杂的最大似然估计没有这样的公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式，这时用 bootstrap 估计 SE。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5531" cy="909257"/>
            <a:chOff x="520446" y="342900"/>
            <a:chExt cx="82255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55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在经验分布 Fₙ 中抽样，就是对原始样本有放回地抽样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06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~ F(x, φ)，φ 是感兴趣的参数，g(X) 是 φ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估计量，分布 F 未知；x₁, …, xₙ 是来自 F 的样本。求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该估计量标准误 SE 的 bootstrap 估计。</a:t>
              </a:r>
            </a:p>
          </p:txBody>
        </p:sp>
      </p:grpSp>
      <p:grpSp>
        <p:nvGrpSpPr>
          <p:cNvPr id="28" name="c1-bullets-2"/>
          <p:cNvGrpSpPr/>
          <p:nvPr/>
        </p:nvGrpSpPr>
        <p:grpSpPr>
          <a:xfrm>
            <a:off x="533400" y="3328035"/>
            <a:ext cx="5031105" cy="2543175"/>
            <a:chOff x="533400" y="3328035"/>
            <a:chExt cx="5031105" cy="2543175"/>
          </a:xfrm>
        </p:grpSpPr>
        <p:sp>
          <p:nvSpPr>
            <p:cNvPr id="13" name="Ellipse 13"/>
            <p:cNvSpPr/>
            <p:nvPr/>
          </p:nvSpPr>
          <p:spPr>
            <a:xfrm>
              <a:off x="533400" y="33280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33703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3341370"/>
              <a:ext cx="4526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Fₙ 是相应的经验分布函数，n 很大时 Fₙ 接近 F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7284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7151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686175"/>
              <a:ext cx="2537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Fₙ 代替 F，在 Fₙ 中抽样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1764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40599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4030980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Fₙ 中抽样，就是在原始样本 x₁, …, xₙ 中每次随机取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一个个体作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有放回抽样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64820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6904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661535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如此抽取 B 个独立样本 Y⁽ᵇ⁾，每个样本量为 n，称为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 样本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527875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53210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529209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由每个 bootstrap 样本得到估计值 g(Y⁽ᵇ⁾)，它们是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g(Y) 在 Fₙ 下的独立同分布样本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248400" y="1524000"/>
            <a:ext cx="5410200" cy="3614262"/>
            <a:chOff x="6248400" y="1524000"/>
            <a:chExt cx="5410200" cy="3614262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9342" r="0" b="9343"/>
            <a:stretch>
              <a:fillRect/>
            </a:stretch>
          </p:blipFill>
          <p:spPr>
            <a:xfrm>
              <a:off x="6248400" y="1524000"/>
              <a:ext cx="5410200" cy="3299460"/>
            </a:xfrm>
            <a:prstGeom prst="roundRect">
              <a:avLst>
                <a:gd name="adj" fmla="val 4041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535395" y="4918234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抽一颗记下颜色再放回：同一颗可能被抽中多次，也可能一次都没被抽中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248400" y="5303520"/>
            <a:ext cx="5410200" cy="1059180"/>
            <a:chOff x="6248400" y="5303520"/>
            <a:chExt cx="5410200" cy="1059180"/>
          </a:xfrm>
        </p:grpSpPr>
        <p:sp>
          <p:nvSpPr>
            <p:cNvPr id="32" name="Rectangle 32"/>
            <p:cNvSpPr/>
            <p:nvPr/>
          </p:nvSpPr>
          <p:spPr>
            <a:xfrm>
              <a:off x="6248400" y="530352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5733098"/>
              <a:ext cx="200026" cy="200025"/>
              <a:chOff x="6453188" y="573309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3188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92926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27642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130" y="5452110"/>
              <a:ext cx="4444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 bootstrap 样本平均只含原始样本中约 63% 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不同个体，因为某个个体一次都没被抽中的概率 (1 −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1/n)ⁿ ≈ e⁻¹ ≈ 0.37。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4133" cy="909257"/>
            <a:chOff x="520446" y="342900"/>
            <a:chExt cx="96341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41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SE 的 bootstrap 估计：重抽 B 次，取估计值的样本标准差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154295" cy="2099787"/>
            <a:chOff x="533400" y="1533525"/>
            <a:chExt cx="5154295" cy="2099787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80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31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1137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1° 重抽样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自原始数据样本 x = (x₁, …, xₙ) 按放回抽样的方法，抽得容量为 n 的样本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(Y₁, …, Yₙ)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355532"/>
              <a:ext cx="1057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2° 重复 B 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622709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相继地、独立地求出 B 个（B ≥ 1000）容量为 n 的 bootstrap 样本 Y⁽ⁱ⁾，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1, …, B，对每个样本算出估计值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145155"/>
              <a:ext cx="1371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3° 求样本标准差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413284"/>
              <a:ext cx="4525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个估计值的样本标准差（分母 B − 1）就是 SE 的 bootstrap 估计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88"/>
              <p:cNvSpPr txBox="1">
                <a:spLocks noGrp="1"/>
              </p:cNvSpPr>
              <p:nvPr/>
            </p:nvSpPr>
            <p:spPr>
              <a:xfrm>
                <a:off x="533400" y="3796665"/>
                <a:ext cx="5410200" cy="600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SE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acc>
                                            <m:accPr>
                                              <m:chr m:val="ˆ"/>
                                              <m:ctrlP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ϕ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ϕ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̅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p>
                            <m:e>
                              <m:acc>
                                <m:accPr>
                                  <m:chr m:val="ˆ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ϕ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0" name="c1-card-3"/>
          <p:cNvGrpSpPr/>
          <p:nvPr/>
        </p:nvGrpSpPr>
        <p:grpSpPr>
          <a:xfrm>
            <a:off x="533400" y="4567238"/>
            <a:ext cx="5410200" cy="1743075"/>
            <a:chOff x="533400" y="4567238"/>
            <a:chExt cx="5410200" cy="1743075"/>
          </a:xfrm>
        </p:grpSpPr>
        <p:sp>
          <p:nvSpPr>
            <p:cNvPr id="22" name="Rectangle 22"/>
            <p:cNvSpPr/>
            <p:nvPr/>
          </p:nvSpPr>
          <p:spPr>
            <a:xfrm>
              <a:off x="533400" y="456723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700588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75392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4408" y="478678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两个容易忽略的细节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515397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5097780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bootstrap 样本都要抽满 n 个，样本量抽少了会把 SE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估大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571119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5654992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加大 B 只能减小模拟误差；原始样本仍然只有 n 个数，SE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精度最终由 n 决定</a:t>
              </a:r>
            </a:p>
          </p:txBody>
        </p:sp>
      </p:grpSp>
      <p:grpSp>
        <p:nvGrpSpPr>
          <p:cNvPr id="34" name="c2-code-1"/>
          <p:cNvGrpSpPr/>
          <p:nvPr/>
        </p:nvGrpSpPr>
        <p:grpSpPr>
          <a:xfrm>
            <a:off x="6248400" y="1524000"/>
            <a:ext cx="5410200" cy="2088832"/>
            <a:chOff x="6248400" y="1524000"/>
            <a:chExt cx="5410200" cy="2088832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1675924"/>
              <a:ext cx="20465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R：通用的 bootstrap 标准误函数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797" y="1935956"/>
              <a:ext cx="3637915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boot_se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(x, stat, B = 1000)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 &lt;- length(x)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theta_star &lt;- replicate(B,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stat(sample(x, n, replace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sd(theta_star)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分母为 B - 1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c(18.2, 9.5, 12.0, 21.1, 10.2)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set.seed(1)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boot_se(x, median, B = 10000)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3.7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3782378"/>
            <a:ext cx="5410200" cy="729615"/>
            <a:chOff x="6248400" y="3782378"/>
            <a:chExt cx="5410200" cy="729615"/>
          </a:xfrm>
        </p:grpSpPr>
        <p:sp>
          <p:nvSpPr>
            <p:cNvPr id="35" name="Rectangle 35"/>
            <p:cNvSpPr/>
            <p:nvPr/>
          </p:nvSpPr>
          <p:spPr>
            <a:xfrm>
              <a:off x="6248400" y="378237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4047173"/>
              <a:ext cx="200026" cy="200026"/>
              <a:chOff x="6453188" y="4047173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453188" y="4047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53200" y="4113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42088" y="41471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892" y="3929062"/>
              <a:ext cx="39742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sample(x, n, replace = TRUE) 就是在 Fₙ 中抽样；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replicate 重复 B 次并收集结果。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248400" y="4681538"/>
            <a:ext cx="5410200" cy="1627822"/>
            <a:chOff x="6248400" y="4681538"/>
            <a:chExt cx="5410200" cy="1627822"/>
          </a:xfrm>
        </p:grpSpPr>
        <p:sp>
          <p:nvSpPr>
            <p:cNvPr id="42" name="Rectangle 42"/>
            <p:cNvSpPr/>
            <p:nvPr/>
          </p:nvSpPr>
          <p:spPr>
            <a:xfrm>
              <a:off x="6248400" y="4681538"/>
              <a:ext cx="5410200" cy="1627822"/>
            </a:xfrm>
            <a:prstGeom prst="roundRect">
              <a:avLst>
                <a:gd name="adj" fmla="val 70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53188" y="5395913"/>
              <a:ext cx="200026" cy="200025"/>
              <a:chOff x="6453188" y="5395913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453188" y="5395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92926" y="5440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27642" y="5551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892" y="5277802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只估计 SE 时，B 取几百通常就够；求置信区间要用到分布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尾部的分位数，B 应取 1000 以上。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03754" cy="909257"/>
            <a:chOff x="520446" y="342900"/>
            <a:chExt cx="99037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037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基金回报率的中位数：10 个 bootstrap 样本得 SE ≈ 3.46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869180" cy="1700212"/>
            <a:chOff x="533400" y="1524000"/>
            <a:chExt cx="4869180" cy="17002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286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16280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某基金的年回报率服从未知的连续分布 F，其中位数 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未知。数据（%）：18.2，9.5，12.0，21.1，10.2。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以样本中位数估计 θ，求它的标准误的 bootstrap 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403282"/>
            <a:ext cx="4507103" cy="2890361"/>
            <a:chOff x="533400" y="3403282"/>
            <a:chExt cx="4507103" cy="2890361"/>
          </a:xfrm>
        </p:grpSpPr>
        <p:sp>
          <p:nvSpPr>
            <p:cNvPr id="13" name="Rectangle 13"/>
            <p:cNvSpPr/>
            <p:nvPr/>
          </p:nvSpPr>
          <p:spPr>
            <a:xfrm>
              <a:off x="666750" y="3546158"/>
              <a:ext cx="19050" cy="21631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4032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771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862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691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429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5664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6402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4356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原始中位数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702844"/>
              <a:ext cx="3878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排序后 9.5, 10.2, 12.0, 18.2, 21.1，中间一个数 12.0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01859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重抽样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85774"/>
              <a:ext cx="3091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5 个数据中有放回取样，取 B = 10，得右表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60152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算标准差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868704"/>
              <a:ext cx="4093718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个中位数里 12.0 出现 4 次、10.2 与 18.2 各 3 次，平均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13.32；平方和 4 × 1.32² + 3 × 3.12² + 3 × 4.88² = 107.616，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 = √(107.616/9) ≈ 3.4579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5598795"/>
              <a:ext cx="1365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10 只是演示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865971"/>
              <a:ext cx="39372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穷举全部 5⁵ = 3125 种有放回样本，精确 bootstrap 标准误为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3.695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5707380" y="1524000"/>
            <a:ext cx="5951220" cy="4400550"/>
            <a:chOff x="5707380" y="1524000"/>
            <a:chExt cx="5951220" cy="4400550"/>
          </a:xfrm>
        </p:grpSpPr>
        <p:sp>
          <p:nvSpPr>
            <p:cNvPr id="31" name="Rectangle 31"/>
            <p:cNvSpPr/>
            <p:nvPr/>
          </p:nvSpPr>
          <p:spPr>
            <a:xfrm>
              <a:off x="5707380" y="1524000"/>
              <a:ext cx="59512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271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32811" y="1645444"/>
              <a:ext cx="1144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bootstrap 样本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7235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中位数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3437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5045" y="204549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9.5, 18.2, 12.0, 10.2, 18.2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32666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0738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07380" y="23241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3437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55045" y="244554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21.1, 18.2, 12.0, 9.5, 10.2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32666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3437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13582" y="2845594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21.1, 10.2, 10.2, 12.0, 10.2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32666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07380" y="31242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437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55045" y="324564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18.2, 12.0, 9.5, 18.2, 10.2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32666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707380" y="35194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3437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13582" y="3645694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21.1, 12.0, 18.2, 12.0, 18.2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32666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07380" y="39195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07380" y="39243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4379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55045" y="404574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10.2, 10.2, 9.5, 21.1, 10.2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32666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707380" y="43195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34379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55045" y="444579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9.5, 21.1, 12.0, 10.2, 12.0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32666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707380" y="47196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707380" y="47244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34379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13582" y="4845844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10.2, 18.2, 10.2, 21.1, 21.1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32666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707380" y="51196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34379" y="5245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13582" y="5245894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10.2, 10.2, 18.2, 18.2, 18.2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832666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707380" y="55197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707380" y="55245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90843" y="56459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13582" y="5645944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18.2, 10.2, 18.2, 10.2, 10.2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832666" y="56459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707380" y="1524000"/>
              <a:ext cx="5951220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65511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34415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0774" cy="909257"/>
            <a:chOff x="520446" y="342900"/>
            <a:chExt cx="7900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0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17.5 身高与体重的相关系数：按学生成对重抽样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card-1"/>
          <p:cNvGrpSpPr/>
          <p:nvPr/>
        </p:nvGrpSpPr>
        <p:grpSpPr>
          <a:xfrm>
            <a:off x="533400" y="1524000"/>
            <a:ext cx="5842635" cy="2469832"/>
            <a:chOff x="533400" y="1524000"/>
            <a:chExt cx="5842635" cy="2469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469832"/>
            </a:xfrm>
            <a:prstGeom prst="roundRect">
              <a:avLst>
                <a:gd name="adj" fmla="val 53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31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6103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636" y="1743551"/>
              <a:ext cx="4881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17.5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(H, W) 为某地小学五年级学生的身高与体重，求相关系数 φ 的估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计量的标准误。n = 10 个学生的数据 (hᵢ, wᵢ)：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58190" y="2589848"/>
              <a:ext cx="543115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1613" y="271129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4264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03374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01531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99689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98799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96956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6066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94224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92381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47955" y="27112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8288" y="31113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3411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22521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20679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18836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17946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16104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5214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13371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1529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10639" y="31113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58190" y="3385185"/>
              <a:ext cx="54311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8190" y="3389948"/>
              <a:ext cx="543115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2456" y="3511391"/>
              <a:ext cx="21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64874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63984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62142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60299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59409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57567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56677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54834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52992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52102" y="35113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58190" y="2589848"/>
              <a:ext cx="543115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200150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698308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196465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695575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193732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691890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191000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689158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188268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686425" y="25898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1-steps-2"/>
          <p:cNvGrpSpPr/>
          <p:nvPr/>
        </p:nvGrpSpPr>
        <p:grpSpPr>
          <a:xfrm>
            <a:off x="533400" y="4172902"/>
            <a:ext cx="4686468" cy="1685450"/>
            <a:chOff x="533400" y="4172902"/>
            <a:chExt cx="4686468" cy="1685450"/>
          </a:xfrm>
        </p:grpSpPr>
        <p:sp>
          <p:nvSpPr>
            <p:cNvPr id="60" name="Rectangle 60"/>
            <p:cNvSpPr/>
            <p:nvPr/>
          </p:nvSpPr>
          <p:spPr>
            <a:xfrm>
              <a:off x="666750" y="431577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533400" y="417290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7024" y="4246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33400" y="47558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7024" y="48296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33400" y="53387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7024" y="5412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5642" y="42052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成对抽样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6785" y="4472464"/>
              <a:ext cx="4273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{(h₁, w₁), …, (hₙ, wₙ)} 中有放回抽 n = 10 次，重复 B 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5642" y="4788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算相关系数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6785" y="5055394"/>
              <a:ext cx="2808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对每组 bootstrap 样本计算样本相关系数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5642" y="53711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求标准差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6785" y="5638324"/>
              <a:ext cx="2830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个相关系数的样本标准差即为 SE 的估计</a:t>
              </a:r>
            </a:p>
          </p:txBody>
        </p:sp>
      </p:grpSp>
      <p:grpSp>
        <p:nvGrpSpPr>
          <p:cNvPr id="77" name="c2-code-1"/>
          <p:cNvGrpSpPr/>
          <p:nvPr/>
        </p:nvGrpSpPr>
        <p:grpSpPr>
          <a:xfrm>
            <a:off x="6680835" y="1524000"/>
            <a:ext cx="4977765" cy="1912620"/>
            <a:chOff x="6680835" y="1524000"/>
            <a:chExt cx="4977765" cy="1912620"/>
          </a:xfrm>
        </p:grpSpPr>
        <p:sp>
          <p:nvSpPr>
            <p:cNvPr id="74" name="Rectangle 74"/>
            <p:cNvSpPr/>
            <p:nvPr/>
          </p:nvSpPr>
          <p:spPr>
            <a:xfrm>
              <a:off x="6680835" y="1524000"/>
              <a:ext cx="497776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09232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09232" y="1935956"/>
              <a:ext cx="3227197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 &lt;- c(144,166,163,143,152,169,130,159,160,175)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 &lt;- c(38, 44, 41, 35, 38, 51, 23, 51, 46, 51)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cor(h, w)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0.9045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r_star &lt;- replicate(10000,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 &lt;- sample(10, replace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抽学生编号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cor(h[k], w[k])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sd(r_star, na.rm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0.105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6680835" y="3607118"/>
            <a:ext cx="4977765" cy="1600200"/>
            <a:chOff x="6680835" y="3607118"/>
            <a:chExt cx="4977765" cy="1600200"/>
          </a:xfrm>
        </p:grpSpPr>
        <p:sp>
          <p:nvSpPr>
            <p:cNvPr id="78" name="Rectangle 78"/>
            <p:cNvSpPr/>
            <p:nvPr/>
          </p:nvSpPr>
          <p:spPr>
            <a:xfrm>
              <a:off x="6680835" y="3607118"/>
              <a:ext cx="497776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156492" y="3728561"/>
              <a:ext cx="2235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量（B = 10000，Python 复算）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605808" y="37285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777990" y="412861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样本相关系数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964103" y="412861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0.9045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680835" y="44024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680835" y="4407218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77990" y="4528661"/>
              <a:ext cx="157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 的 bootstrap 估计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964103" y="4528661"/>
              <a:ext cx="622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0.105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680835" y="48025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77990" y="4928711"/>
              <a:ext cx="22541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 值在 0.8 以上的比例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964103" y="492871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86%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680835" y="3607118"/>
              <a:ext cx="497776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9862185" y="360711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c2-callout-3"/>
          <p:cNvGrpSpPr/>
          <p:nvPr/>
        </p:nvGrpSpPr>
        <p:grpSpPr>
          <a:xfrm>
            <a:off x="6680835" y="5376862"/>
            <a:ext cx="4977765" cy="729615"/>
            <a:chOff x="6680835" y="5376862"/>
            <a:chExt cx="4977765" cy="729615"/>
          </a:xfrm>
        </p:grpSpPr>
        <p:sp>
          <p:nvSpPr>
            <p:cNvPr id="93" name="Rectangle 93"/>
            <p:cNvSpPr/>
            <p:nvPr/>
          </p:nvSpPr>
          <p:spPr>
            <a:xfrm>
              <a:off x="6680835" y="537686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6873564" y="5637966"/>
              <a:ext cx="224134" cy="192560"/>
              <a:chOff x="6873564" y="5637966"/>
              <a:chExt cx="224134" cy="19256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6985635" y="5708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873564" y="5637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985635" y="5786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7188327" y="5522595"/>
              <a:ext cx="405136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身高、体重必须按学生成对抽取，两列各抽各的会拆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散配对关系；相关系数的 bootstrap 分布明显左偏。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84938" cy="909257"/>
            <a:chOff x="520446" y="342900"/>
            <a:chExt cx="98849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849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均方误差与偏差的 bootstrap 估计：θ 用原始样本的估计值代替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355408"/>
            <a:chOff x="533400" y="1524000"/>
            <a:chExt cx="4977765" cy="1355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55408"/>
            </a:xfrm>
            <a:prstGeom prst="roundRect">
              <a:avLst>
                <a:gd name="adj" fmla="val 98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8870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估计量的均方误差和偏差分别为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98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56628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MSE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048952"/>
            <a:ext cx="4977765" cy="3063240"/>
            <a:chOff x="533400" y="3048952"/>
            <a:chExt cx="4977765" cy="3063240"/>
          </a:xfrm>
        </p:grpSpPr>
        <p:sp>
          <p:nvSpPr>
            <p:cNvPr id="14" name="Rectangle 14"/>
            <p:cNvSpPr/>
            <p:nvPr/>
          </p:nvSpPr>
          <p:spPr>
            <a:xfrm>
              <a:off x="533400" y="3048952"/>
              <a:ext cx="4977765" cy="3063240"/>
            </a:xfrm>
            <a:prstGeom prst="roundRect">
              <a:avLst>
                <a:gd name="adj" fmla="val 435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090" y="3235642"/>
              <a:ext cx="1144905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2036" y="3268504"/>
              <a:ext cx="10010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bootstrap 估计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3580448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 未知，用原始样本的估计值代替；期望用 B 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bootstrap 估计值的平均代替：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99"/>
                <p:cNvSpPr txBox="1">
                  <a:spLocks noGrp="1"/>
                </p:cNvSpPr>
                <p:nvPr/>
              </p:nvSpPr>
              <p:spPr>
                <a:xfrm>
                  <a:off x="720090" y="4114800"/>
                  <a:ext cx="4604385" cy="600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MS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ˆ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00"/>
                <p:cNvSpPr txBox="1">
                  <a:spLocks noGrp="1"/>
                </p:cNvSpPr>
                <p:nvPr/>
              </p:nvSpPr>
              <p:spPr>
                <a:xfrm>
                  <a:off x="720090" y="4798695"/>
                  <a:ext cx="460438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acc>
                          <m:accPr>
                            <m:chr m:val="ˆ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2-card-1"/>
          <p:cNvGrpSpPr/>
          <p:nvPr/>
        </p:nvGrpSpPr>
        <p:grpSpPr>
          <a:xfrm>
            <a:off x="5815965" y="1524000"/>
            <a:ext cx="5842635" cy="1459230"/>
            <a:chOff x="5815965" y="1524000"/>
            <a:chExt cx="5842635" cy="1459230"/>
          </a:xfrm>
        </p:grpSpPr>
        <p:sp>
          <p:nvSpPr>
            <p:cNvPr id="21" name="Rectangle 21"/>
            <p:cNvSpPr/>
            <p:nvPr/>
          </p:nvSpPr>
          <p:spPr>
            <a:xfrm>
              <a:off x="5815965" y="1524000"/>
              <a:ext cx="584263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25490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0755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32898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3014" y="17459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均方误差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3897" y="2071688"/>
              <a:ext cx="520007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设金属元素铂的升华热是具有分布函数 F 的连续型随机变量，F 的中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位数 θ 是未知参数。现测得以下数据（kcal/mol），以样本中位数作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θ 的估计，求中位数估计的均方误差的 bootstrap 估计。</a:t>
              </a:r>
            </a:p>
          </p:txBody>
        </p:sp>
      </p:grpSp>
      <p:grpSp>
        <p:nvGrpSpPr>
          <p:cNvPr id="81" name="c2-cells-2"/>
          <p:cNvGrpSpPr/>
          <p:nvPr/>
        </p:nvGrpSpPr>
        <p:grpSpPr>
          <a:xfrm>
            <a:off x="5815965" y="3153728"/>
            <a:ext cx="5199698" cy="1407795"/>
            <a:chOff x="5815965" y="3153728"/>
            <a:chExt cx="5199698" cy="1407795"/>
          </a:xfrm>
        </p:grpSpPr>
        <p:sp>
          <p:nvSpPr>
            <p:cNvPr id="28" name="Rectangle 28"/>
            <p:cNvSpPr/>
            <p:nvPr/>
          </p:nvSpPr>
          <p:spPr>
            <a:xfrm>
              <a:off x="5815965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24888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136.3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93180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02103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136.6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971348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80271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48562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57486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126730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35653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703945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12868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282112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1036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859328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68251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143.3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437495" y="3153728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46418" y="328231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147.8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24888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148.8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93180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02103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971348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80271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48562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57486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134.9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126730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35653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149.5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703945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12868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141.2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282112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91036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859328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968251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134.8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437495" y="3672840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546418" y="380142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24888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393180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02103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133.7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971348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80271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548562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57486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134.9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126730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235653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134.8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703945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12868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134.5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282112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91036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859328" y="4192905"/>
              <a:ext cx="57816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968251" y="432149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135.2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437495" y="4192905"/>
              <a:ext cx="578168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E7D4F"/>
              </a:solidFill>
            </a:ln>
          </p:spPr>
        </p:sp>
      </p:grpSp>
      <p:grpSp>
        <p:nvGrpSpPr>
          <p:cNvPr id="86" name="c2-steps-3"/>
          <p:cNvGrpSpPr/>
          <p:nvPr/>
        </p:nvGrpSpPr>
        <p:grpSpPr>
          <a:xfrm>
            <a:off x="5815965" y="4741545"/>
            <a:ext cx="5161407" cy="726281"/>
            <a:chOff x="5815965" y="4741545"/>
            <a:chExt cx="5161407" cy="726281"/>
          </a:xfrm>
        </p:grpSpPr>
        <p:sp>
          <p:nvSpPr>
            <p:cNvPr id="82" name="Ellipse 82"/>
            <p:cNvSpPr/>
            <p:nvPr/>
          </p:nvSpPr>
          <p:spPr>
            <a:xfrm>
              <a:off x="5815965" y="47415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909589" y="48153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28207" y="477297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排序求中位数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29350" y="5040154"/>
              <a:ext cx="47480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26，排序后第 13、14 个数为 135.0 和 135.2，样本中位数 = (135.0 +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135.2)/2 = 135.1，以它作为 θ 的估计</a:t>
              </a:r>
            </a:p>
          </p:txBody>
        </p:sp>
      </p:grpSp>
      <p:grpSp>
        <p:nvGrpSpPr>
          <p:cNvPr id="93" name="c2-callout-4"/>
          <p:cNvGrpSpPr/>
          <p:nvPr/>
        </p:nvGrpSpPr>
        <p:grpSpPr>
          <a:xfrm>
            <a:off x="5815965" y="5631180"/>
            <a:ext cx="5842635" cy="481012"/>
            <a:chOff x="5815965" y="5631180"/>
            <a:chExt cx="5842635" cy="481012"/>
          </a:xfrm>
        </p:grpSpPr>
        <p:sp>
          <p:nvSpPr>
            <p:cNvPr id="87" name="Rectangle 87"/>
            <p:cNvSpPr/>
            <p:nvPr/>
          </p:nvSpPr>
          <p:spPr>
            <a:xfrm>
              <a:off x="5815965" y="5631180"/>
              <a:ext cx="5842635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6020753" y="5772150"/>
              <a:ext cx="200026" cy="200026"/>
              <a:chOff x="6020753" y="5772150"/>
              <a:chExt cx="200026" cy="20002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6020753" y="57721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120765" y="5838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6109653" y="58721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6323457" y="5777865"/>
              <a:ext cx="4811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更正：原课件写作“(135.0+135.2)=135.1”，漏了除以 2。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40375" cy="909257"/>
            <a:chOff x="520446" y="342900"/>
            <a:chExt cx="91403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40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2、例 3：均方误差（B = 5 演示）与偏差（B = 10000）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8447" y="1524000"/>
            <a:ext cx="5415153" cy="2663856"/>
            <a:chOff x="528447" y="1524000"/>
            <a:chExt cx="5415153" cy="26638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3849" y="1645444"/>
              <a:ext cx="1144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bootstrap 样本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7710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中位数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5476" y="1645444"/>
              <a:ext cx="994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135.1 之差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665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9595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5242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1665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9595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3535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665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9595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10961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1665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9595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134.9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10961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1665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95955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135.2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52424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59270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1574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3997166"/>
              <a:ext cx="49439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每个样本从 26 个数据中有放回抽 26 个；原课件列出了全部数值，中位数已逐一核对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107"/>
              <p:cNvSpPr txBox="1">
                <a:spLocks noGrp="1"/>
              </p:cNvSpPr>
              <p:nvPr/>
            </p:nvSpPr>
            <p:spPr>
              <a:xfrm>
                <a:off x="533400" y="4319588"/>
                <a:ext cx="5410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MS</m:t>
                      </m:r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135.1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0.04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0.014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4" name="c1-callout-3"/>
          <p:cNvGrpSpPr/>
          <p:nvPr/>
        </p:nvGrpSpPr>
        <p:grpSpPr>
          <a:xfrm>
            <a:off x="533400" y="5023485"/>
            <a:ext cx="5410200" cy="1023938"/>
            <a:chOff x="533400" y="5023485"/>
            <a:chExt cx="5410200" cy="1023938"/>
          </a:xfrm>
        </p:grpSpPr>
        <p:sp>
          <p:nvSpPr>
            <p:cNvPr id="38" name="Rectangle 38"/>
            <p:cNvSpPr/>
            <p:nvPr/>
          </p:nvSpPr>
          <p:spPr>
            <a:xfrm>
              <a:off x="533400" y="5023485"/>
              <a:ext cx="5410200" cy="1023938"/>
            </a:xfrm>
            <a:prstGeom prst="roundRect">
              <a:avLst>
                <a:gd name="adj" fmla="val 111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434965"/>
              <a:ext cx="200026" cy="200026"/>
              <a:chOff x="738188" y="5434965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4349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5016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5349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5316855"/>
              <a:ext cx="35713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5 只用来演示算法。按 B = 10000 重算 3 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（Python），均方误差约为 0.065 ~ 0.071。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248400" y="1524000"/>
            <a:ext cx="5410200" cy="1819275"/>
            <a:chOff x="6248400" y="1524000"/>
            <a:chExt cx="5410200" cy="1819275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1657350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3190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286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25449" y="17459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6332" y="2071688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在例 2 中求中位数 θ 的偏差的 bootstrap 估计：以原始样本中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位数 135.1 作为 θ 的估计，取 ψ 为偏差 E(估计量 − θ)。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108"/>
                <p:cNvSpPr txBox="1">
                  <a:spLocks noGrp="1"/>
                </p:cNvSpPr>
                <p:nvPr/>
              </p:nvSpPr>
              <p:spPr>
                <a:xfrm>
                  <a:off x="6473190" y="2606992"/>
                  <a:ext cx="499872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135.1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135.14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135.1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0.04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6" name="c2-code-2"/>
          <p:cNvGrpSpPr/>
          <p:nvPr/>
        </p:nvGrpSpPr>
        <p:grpSpPr>
          <a:xfrm>
            <a:off x="6248400" y="3513772"/>
            <a:ext cx="5410200" cy="1384935"/>
            <a:chOff x="6248400" y="3513772"/>
            <a:chExt cx="5410200" cy="1384935"/>
          </a:xfrm>
        </p:grpSpPr>
        <p:sp>
          <p:nvSpPr>
            <p:cNvPr id="53" name="Rectangle 53"/>
            <p:cNvSpPr/>
            <p:nvPr/>
          </p:nvSpPr>
          <p:spPr>
            <a:xfrm>
              <a:off x="6248400" y="3513772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76797" y="36656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76797" y="3925729"/>
              <a:ext cx="3519678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d 为上一页例 2 的 26 个铂含量数据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m_star &lt;- replicate(10000,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B 个 bootstrap 中位数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median(sample(d, replace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mean((m_star - median(d))^2)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均方误差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mean(m_star) - median(d)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偏差，约 0.04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248400" y="5069205"/>
            <a:ext cx="5410200" cy="978218"/>
            <a:chOff x="6248400" y="5069205"/>
            <a:chExt cx="5410200" cy="978218"/>
          </a:xfrm>
        </p:grpSpPr>
        <p:sp>
          <p:nvSpPr>
            <p:cNvPr id="57" name="Rectangle 57"/>
            <p:cNvSpPr/>
            <p:nvPr/>
          </p:nvSpPr>
          <p:spPr>
            <a:xfrm>
              <a:off x="6248400" y="506920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457825"/>
              <a:ext cx="200026" cy="200026"/>
              <a:chOff x="6453188" y="545782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4578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5524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42088" y="55578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892" y="5214938"/>
              <a:ext cx="428282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更正：原课件写“将上述 1000 个数取平均”，公式中却是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 个，应为 B = 10000。Python 复算 3 次，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 中位数的平均值都在 135.143 ~ 135.145。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32062" cy="909257"/>
            <a:chOff x="520446" y="342900"/>
            <a:chExt cx="103320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320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分位数法：bootstrap 估计值的 α/2 与 1 − α/2 分位数作区间端点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4733925"/>
            <a:chOff x="533400" y="1524000"/>
            <a:chExt cx="5410200" cy="4733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733925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6722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857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从样本中抽出 B 个容量为 n 的 bootstrap 样本，求出 θ 的 B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bootstrap 估计，自小到大排序。用 θ* 的分布近似估计量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的分布，求出近似分位数，使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8"/>
                <p:cNvSpPr txBox="1">
                  <a:spLocks noGrp="1"/>
                </p:cNvSpPr>
                <p:nvPr/>
              </p:nvSpPr>
              <p:spPr>
                <a:xfrm>
                  <a:off x="758190" y="2847022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29660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于是近似地有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19"/>
                <p:cNvSpPr txBox="1">
                  <a:spLocks noGrp="1"/>
                </p:cNvSpPr>
                <p:nvPr/>
              </p:nvSpPr>
              <p:spPr>
                <a:xfrm>
                  <a:off x="758190" y="3573780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51332" y="4023360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k₁ = [B × α/2]，k₂ = [B × (1 − α/2)]，以排序后第 k₁、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 个值作为两个分位数的估计：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20"/>
                <p:cNvSpPr txBox="1">
                  <a:spLocks noGrp="1"/>
                </p:cNvSpPr>
                <p:nvPr/>
              </p:nvSpPr>
              <p:spPr>
                <a:xfrm>
                  <a:off x="758190" y="4558665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51332" y="5007292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这一区间称为 θ 的置信水平为 1 − α 的 bootstrap 置信区间，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这种方法称为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分位数法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3190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6286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6332" y="2054542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在例 2 中，以样本中位数作为总体中位数 θ 的估计，求 θ 的置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信水平为 0.95 的 bootstrap 置信区间。</a:t>
              </a:r>
            </a:p>
          </p:txBody>
        </p:sp>
      </p:grpSp>
      <p:grpSp>
        <p:nvGrpSpPr>
          <p:cNvPr id="42" name="c2-steps-2"/>
          <p:cNvGrpSpPr/>
          <p:nvPr/>
        </p:nvGrpSpPr>
        <p:grpSpPr>
          <a:xfrm>
            <a:off x="6248400" y="2888932"/>
            <a:ext cx="5419573" cy="2476024"/>
            <a:chOff x="6248400" y="2888932"/>
            <a:chExt cx="5419573" cy="2476024"/>
          </a:xfrm>
        </p:grpSpPr>
        <p:sp>
          <p:nvSpPr>
            <p:cNvPr id="25" name="Rectangle 25"/>
            <p:cNvSpPr/>
            <p:nvPr/>
          </p:nvSpPr>
          <p:spPr>
            <a:xfrm>
              <a:off x="6381750" y="3031808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248400" y="28889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29627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34718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40547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41286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46377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4711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0642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785" y="3188494"/>
              <a:ext cx="3027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26，B = 10000，1 − α = 0.95，α = 0.05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642" y="350424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算中位数并排序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785" y="3771424"/>
              <a:ext cx="5006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bootstrap 样本算出中位数 M*，排序得 M*₍₁₎ ≤ … ≤ M*₍₁₀₀₀₀₎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642" y="408717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785" y="4354354"/>
              <a:ext cx="4692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 = [10000 × 0.05/2] = 250，k₂ = [10000 × (1 − 0.05/2)] = 9750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642" y="467010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得区间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785" y="4937284"/>
              <a:ext cx="47266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(M*₍₂₅₀₎, M*₍₉₇₅₀₎) = (134.8, 135.8)；R 中就是把上页的 m_star 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序后取第 250、9750 个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248400" y="5528310"/>
            <a:ext cx="5410200" cy="729615"/>
            <a:chOff x="6248400" y="5528310"/>
            <a:chExt cx="5410200" cy="729615"/>
          </a:xfrm>
        </p:grpSpPr>
        <p:sp>
          <p:nvSpPr>
            <p:cNvPr id="43" name="Rectangle 43"/>
            <p:cNvSpPr/>
            <p:nvPr/>
          </p:nvSpPr>
          <p:spPr>
            <a:xfrm>
              <a:off x="6248400" y="552831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793105"/>
              <a:ext cx="200026" cy="200026"/>
              <a:chOff x="6453188" y="579310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7931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8597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8931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892" y="5674042"/>
              <a:ext cx="43856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 复算 3 次都得 (134.8, 135.8)：中位数只能取数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据值或两个数据值的平均，分位数很稳定。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91295" cy="909257"/>
            <a:chOff x="520446" y="342900"/>
            <a:chExt cx="80912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912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bootstrap-t 法：用 bootstrap 模拟枢轴量的分布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289810"/>
            <a:chOff x="533400" y="1524000"/>
            <a:chExt cx="5193982" cy="2289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89810"/>
            </a:xfrm>
            <a:prstGeom prst="roundRect">
              <a:avLst>
                <a:gd name="adj" fmla="val 58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31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枢轴量法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以求期望 φ 的置信区间为例，样本 X = (x₁, …, xₙ) 来自总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 F，均值和方差都未知。考虑统计量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36"/>
                <p:cNvSpPr txBox="1">
                  <a:spLocks noGrp="1"/>
                </p:cNvSpPr>
                <p:nvPr/>
              </p:nvSpPr>
              <p:spPr>
                <a:xfrm>
                  <a:off x="758190" y="2589848"/>
                  <a:ext cx="478250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15944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F 是正态分布，g(X) ~ t(n − 1)，分布与参数无关，是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枢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轴量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，由它就能求出 φ 的置信区间。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983355"/>
            <a:ext cx="5193982" cy="2289810"/>
            <a:chOff x="533400" y="3983355"/>
            <a:chExt cx="5193982" cy="2289810"/>
          </a:xfrm>
        </p:grpSpPr>
        <p:sp>
          <p:nvSpPr>
            <p:cNvPr id="15" name="Rectangle 15"/>
            <p:cNvSpPr/>
            <p:nvPr/>
          </p:nvSpPr>
          <p:spPr>
            <a:xfrm>
              <a:off x="533400" y="3983355"/>
              <a:ext cx="5193982" cy="2289810"/>
            </a:xfrm>
            <a:prstGeom prst="roundRect">
              <a:avLst>
                <a:gd name="adj" fmla="val 582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17004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3458" y="420290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总体分布未知时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514850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以原始样本均值作为 φ 的估计，构造对应的 bootstrap 枢轴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37"/>
                <p:cNvSpPr txBox="1">
                  <a:spLocks noGrp="1"/>
                </p:cNvSpPr>
                <p:nvPr/>
              </p:nvSpPr>
              <p:spPr>
                <a:xfrm>
                  <a:off x="720090" y="5050155"/>
                  <a:ext cx="482060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13232" y="5618798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分子是 bootstrap 样本均值减原始样本均值，S* 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 样本标准差。用 W* 的分布近似 g(X) 的分布。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032182" y="1524000"/>
            <a:ext cx="5626418" cy="3074670"/>
            <a:chOff x="6032182" y="1524000"/>
            <a:chExt cx="5626418" cy="3074670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3074670"/>
            </a:xfrm>
            <a:prstGeom prst="roundRect">
              <a:avLst>
                <a:gd name="adj" fmla="val 433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18872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1059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014" y="2054542"/>
              <a:ext cx="3104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求出 W* 的近似分位数，于是近似地有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38"/>
                <p:cNvSpPr txBox="1">
                  <a:spLocks noGrp="1"/>
                </p:cNvSpPr>
                <p:nvPr/>
              </p:nvSpPr>
              <p:spPr>
                <a:xfrm>
                  <a:off x="6218872" y="2332672"/>
                  <a:ext cx="525303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ϕ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39"/>
                <p:cNvSpPr txBox="1">
                  <a:spLocks noGrp="1"/>
                </p:cNvSpPr>
                <p:nvPr/>
              </p:nvSpPr>
              <p:spPr>
                <a:xfrm>
                  <a:off x="6218872" y="2853690"/>
                  <a:ext cx="525303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212014" y="3397568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B 个 w* 自小到大排序，取 k₁ = [B × α/2]，k₂ = [B × (1 −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α/2)]，得 φ 的置信水平为 1 − α 的 bootstrap 置信区间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40"/>
                <p:cNvSpPr txBox="1">
                  <a:spLocks noGrp="1"/>
                </p:cNvSpPr>
                <p:nvPr/>
              </p:nvSpPr>
              <p:spPr>
                <a:xfrm>
                  <a:off x="6218872" y="3931920"/>
                  <a:ext cx="525303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 </m:t>
                            </m:r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callout-2"/>
          <p:cNvGrpSpPr/>
          <p:nvPr/>
        </p:nvGrpSpPr>
        <p:grpSpPr>
          <a:xfrm>
            <a:off x="6032182" y="4768215"/>
            <a:ext cx="5626418" cy="1504950"/>
            <a:chOff x="6032182" y="4768215"/>
            <a:chExt cx="5626418" cy="1504950"/>
          </a:xfrm>
        </p:grpSpPr>
        <p:sp>
          <p:nvSpPr>
            <p:cNvPr id="31" name="Rectangle 31"/>
            <p:cNvSpPr/>
            <p:nvPr/>
          </p:nvSpPr>
          <p:spPr>
            <a:xfrm>
              <a:off x="6032182" y="4768215"/>
              <a:ext cx="5626418" cy="1504950"/>
            </a:xfrm>
            <a:prstGeom prst="roundRect">
              <a:avLst>
                <a:gd name="adj" fmla="val 75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224912" y="5416986"/>
              <a:ext cx="224134" cy="192560"/>
              <a:chOff x="6224912" y="5416986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336983" y="54873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224912" y="54169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336983" y="55651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539674" y="5053965"/>
              <a:ext cx="4625721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注意端点交叉：下限减的是上分位数 w*₍ₖ₂₎，上限减的是下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分位数 w*₍ₖ₁₎（通常为负数）。更正：原课件把 k₂ 写成 [B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 (1 − α)/2]，应为 [B × (1 − α/2)]，例 5 中 k₂ = 9500 按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的就是后者。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1044951" cy="902684"/>
            <a:chOff x="520827" y="342900"/>
            <a:chExt cx="11044951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1044951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 仔猪存活只数：bootstrap-t 法 90% 置信区间约为 (9.02, 10.09)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card-1"/>
          <p:cNvGrpSpPr/>
          <p:nvPr/>
        </p:nvGrpSpPr>
        <p:grpSpPr>
          <a:xfrm>
            <a:off x="533400" y="1524000"/>
            <a:ext cx="5410200" cy="2158365"/>
            <a:chOff x="533400" y="1524000"/>
            <a:chExt cx="5410200" cy="2158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286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窝仔猪的存活只数如下，用 bootstrap-t 法求均值 μ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 置信区间。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58190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5131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91565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8506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424940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6896" y="27184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758315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50271" y="27184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90738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82694" y="27184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424112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16069" y="27184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757488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84428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090862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17803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4238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16194" y="27184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57612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84553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90988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17928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24362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50351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756785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83726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090160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17101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423535" y="2589848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50476" y="2718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58190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5131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91565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18506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424940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51881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758315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850271" y="3238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090738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217678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424112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551053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757488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884428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090862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182819" y="3238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424238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516194" y="3238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757612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849569" y="3238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090988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217928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424362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515366" y="3238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756785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848741" y="3238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090160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182116" y="3238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423535" y="3109912"/>
              <a:ext cx="33337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50476" y="3238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86" name="c1-steps-2"/>
          <p:cNvGrpSpPr/>
          <p:nvPr/>
        </p:nvGrpSpPr>
        <p:grpSpPr>
          <a:xfrm>
            <a:off x="533400" y="3861435"/>
            <a:ext cx="5047615" cy="2307431"/>
            <a:chOff x="533400" y="3861435"/>
            <a:chExt cx="5047615" cy="2307431"/>
          </a:xfrm>
        </p:grpSpPr>
        <p:sp>
          <p:nvSpPr>
            <p:cNvPr id="73" name="Rectangle 73"/>
            <p:cNvSpPr/>
            <p:nvPr/>
          </p:nvSpPr>
          <p:spPr>
            <a:xfrm>
              <a:off x="666750" y="4004310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533400" y="386143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27024" y="3935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533400" y="44443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7024" y="45181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533400" y="52349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27024" y="5308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5642" y="3892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原始样本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6785" y="4160996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30，均值 9.53，s = 1.72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45642" y="447579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枢轴量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6785" y="4743926"/>
              <a:ext cx="46342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对第 i 个 bootstrap 样本（B = 10000）求 wᵢ* = (均值 − 9.53)/(sᵢ*/√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5642" y="526637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排序定位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46785" y="5533549"/>
              <a:ext cx="4541774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0.10，k₁ = 500、k₂ = 9500，w*₍₅₀₀₎ = −1.7813，w*₍₉₅₀₀₎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1.6299，代入两端得区间 (9.53 − 1.6299 × 1.72/√30, 9.53 + 1.7813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1.72/√30) = (9.018, 10.089)</a:t>
              </a:r>
            </a:p>
          </p:txBody>
        </p:sp>
      </p:grpSp>
      <p:grpSp>
        <p:nvGrpSpPr>
          <p:cNvPr id="90" name="c2-code-1"/>
          <p:cNvGrpSpPr/>
          <p:nvPr/>
        </p:nvGrpSpPr>
        <p:grpSpPr>
          <a:xfrm>
            <a:off x="6248400" y="1524000"/>
            <a:ext cx="5410200" cy="2264092"/>
            <a:chOff x="6248400" y="1524000"/>
            <a:chExt cx="5410200" cy="2264092"/>
          </a:xfrm>
        </p:grpSpPr>
        <p:sp>
          <p:nvSpPr>
            <p:cNvPr id="87" name="Rectangle 87"/>
            <p:cNvSpPr/>
            <p:nvPr/>
          </p:nvSpPr>
          <p:spPr>
            <a:xfrm>
              <a:off x="6248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76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376797" y="1935956"/>
              <a:ext cx="3980180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c(9, 8, 10, 12, 11, 12, 7, 9, 11, 8, 9, 7, 7, 8, 9,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7, 9, 9, 10, 9, 9, 9, 12, 10, 10, 9, 13, 11, 13, 9)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length(x); xbar &lt;- mean(x); s &lt;- sd(x)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 &lt;- replicate(10000,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y &lt;- sample(x, n, replace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(mean(y) - xbar) / (sd(y) / sqrt(n))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 &lt;- sort(w)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c(xbar - w[9500] * s / sqrt(n),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xbar - w[500]  * s / sqrt(n))</a:t>
              </a:r>
            </a:p>
          </p:txBody>
        </p:sp>
      </p:grpSp>
      <p:grpSp>
        <p:nvGrpSpPr>
          <p:cNvPr id="106" name="c2-table-2"/>
          <p:cNvGrpSpPr/>
          <p:nvPr/>
        </p:nvGrpSpPr>
        <p:grpSpPr>
          <a:xfrm>
            <a:off x="6243447" y="3958590"/>
            <a:ext cx="5415153" cy="1863756"/>
            <a:chOff x="6243447" y="3958590"/>
            <a:chExt cx="5415153" cy="1863756"/>
          </a:xfrm>
        </p:grpSpPr>
        <p:sp>
          <p:nvSpPr>
            <p:cNvPr id="91" name="Rectangle 91"/>
            <p:cNvSpPr/>
            <p:nvPr/>
          </p:nvSpPr>
          <p:spPr>
            <a:xfrm>
              <a:off x="6248400" y="395859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98753" y="40800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882892" y="4080034"/>
              <a:ext cx="954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90% 置信区间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345555" y="4480084"/>
              <a:ext cx="1723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bootstrap-t（原课件）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159240" y="448008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(9.018, 10.089)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47539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248400" y="475869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345555" y="4880134"/>
              <a:ext cx="1572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bootstrap-t（复算）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159240" y="4880134"/>
              <a:ext cx="13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(9.03, 10.10) 上下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248400" y="51539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345555" y="528018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按正态总体的 t 区间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159240" y="528018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(9.001, 10.066)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248400" y="395859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057322" y="395859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243447" y="5631656"/>
              <a:ext cx="40073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w* 左尾长于右尾（−1.78 对 1.63），区间向右偏，不像 t 区间对称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13708" cy="909257"/>
            <a:chOff x="520446" y="342900"/>
            <a:chExt cx="98137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137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bootstrap：分布形式已知时，从代入估计值的分布中抽样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843216" cy="2268379"/>
            <a:chOff x="533400" y="1533525"/>
            <a:chExt cx="4843216" cy="226837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分布形式已知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3151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F(x; β) 形式已知，含未知参数 β（可为向量）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4788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求最大似然估计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6016"/>
              <a:ext cx="27986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由样本 X₁, …, Xₙ 求出 β 的最大似然估计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0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代入并抽样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998946"/>
              <a:ext cx="4109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以该估计代替 β，从所得分布中抽容量 n 的样本 X₁*, …, Xₙ*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137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统计推断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81876"/>
              <a:ext cx="4429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 B ≥ 1000 个这样的样本，其余做法与非参数 bootstrap 相同</a:t>
              </a:r>
            </a:p>
          </p:txBody>
        </p:sp>
      </p:grpSp>
      <p:grpSp>
        <p:nvGrpSpPr>
          <p:cNvPr id="41" name="c1-compare-2"/>
          <p:cNvGrpSpPr/>
          <p:nvPr/>
        </p:nvGrpSpPr>
        <p:grpSpPr>
          <a:xfrm>
            <a:off x="533400" y="3965258"/>
            <a:ext cx="4977764" cy="2140268"/>
            <a:chOff x="533400" y="3965258"/>
            <a:chExt cx="4977764" cy="2140268"/>
          </a:xfrm>
        </p:grpSpPr>
        <p:sp>
          <p:nvSpPr>
            <p:cNvPr id="25" name="Rectangle 25"/>
            <p:cNvSpPr/>
            <p:nvPr/>
          </p:nvSpPr>
          <p:spPr>
            <a:xfrm>
              <a:off x="533400" y="3965258"/>
              <a:ext cx="2317432" cy="2140268"/>
            </a:xfrm>
            <a:prstGeom prst="roundRect">
              <a:avLst>
                <a:gd name="adj" fmla="val 62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098608"/>
              <a:ext cx="47625" cy="187356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332" y="4174808"/>
              <a:ext cx="1560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非参数 bootstrap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454723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4491038"/>
              <a:ext cx="1612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从经验分布 Fₙ 抽样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6762" y="484822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782" y="479202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不需要知道分布形式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193732" y="3965258"/>
              <a:ext cx="2317432" cy="2140268"/>
            </a:xfrm>
            <a:prstGeom prst="roundRect">
              <a:avLst>
                <a:gd name="adj" fmla="val 62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03258" y="4098608"/>
              <a:ext cx="47625" cy="18735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11664" y="4174808"/>
              <a:ext cx="1379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bootstrap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427095" y="454723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83114" y="449103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从代入估计值的分布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427095" y="51054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83114" y="504920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分布形式要设对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2860358" y="487299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30698" y="496919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5815965" y="1524000"/>
            <a:ext cx="5842635" cy="2644140"/>
            <a:chOff x="5815965" y="1524000"/>
            <a:chExt cx="5842635" cy="2644140"/>
          </a:xfrm>
        </p:grpSpPr>
        <p:sp>
          <p:nvSpPr>
            <p:cNvPr id="42" name="Rectangle 42"/>
            <p:cNvSpPr/>
            <p:nvPr/>
          </p:nvSpPr>
          <p:spPr>
            <a:xfrm>
              <a:off x="5815965" y="1524000"/>
              <a:ext cx="5842635" cy="2644140"/>
            </a:xfrm>
            <a:prstGeom prst="roundRect">
              <a:avLst>
                <a:gd name="adj" fmla="val 50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5490" y="1657350"/>
              <a:ext cx="47625" cy="23774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0755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6526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1572" y="1745932"/>
              <a:ext cx="1907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Hardy-Weinberg 定律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33897" y="2071688"/>
              <a:ext cx="50543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基因频率平衡时，个体血型为 M、MN、N 的概率分别是 (1 − θ)²、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2θ(1 − θ)、θ²，0 &lt; θ &lt; 1。1937 年某地区的调查数据：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40755" y="2606992"/>
              <a:ext cx="543115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33858" y="27284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血型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02992" y="272843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19982" y="272843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44747" y="27284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42968" y="27284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33858" y="31284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41331" y="31284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04321" y="31284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66359" y="31284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27891" y="312848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1029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40755" y="2606992"/>
              <a:ext cx="5431155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36130" y="260699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98168" y="260699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260205" y="260699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323195" y="260699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33897" y="3512820"/>
              <a:ext cx="506291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（1）求 θ 的最大似然估计；（2）求 θ 的 0.90 bootstrap 置信区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5815965" y="4337685"/>
            <a:ext cx="5842635" cy="1767840"/>
            <a:chOff x="5815965" y="4337685"/>
            <a:chExt cx="5842635" cy="1767840"/>
          </a:xfrm>
        </p:grpSpPr>
        <p:sp>
          <p:nvSpPr>
            <p:cNvPr id="66" name="Rectangle 66"/>
            <p:cNvSpPr/>
            <p:nvPr/>
          </p:nvSpPr>
          <p:spPr>
            <a:xfrm>
              <a:off x="5815965" y="4337685"/>
              <a:ext cx="5842635" cy="1767840"/>
            </a:xfrm>
            <a:prstGeom prst="roundRect">
              <a:avLst>
                <a:gd name="adj" fmla="val 754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02655" y="4524375"/>
              <a:ext cx="285464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22816" y="4557236"/>
              <a:ext cx="2813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解（1）：x₁、x₂、x₃ 为三种血型人数，和为 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formula147"/>
                <p:cNvSpPr txBox="1">
                  <a:spLocks noGrp="1"/>
                </p:cNvSpPr>
                <p:nvPr/>
              </p:nvSpPr>
              <p:spPr>
                <a:xfrm>
                  <a:off x="6002655" y="4846320"/>
                  <a:ext cx="5469255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2θ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s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formula148"/>
                <p:cNvSpPr txBox="1">
                  <a:spLocks noGrp="1"/>
                </p:cNvSpPr>
                <p:nvPr/>
              </p:nvSpPr>
              <p:spPr>
                <a:xfrm>
                  <a:off x="6002655" y="5215890"/>
                  <a:ext cx="5469255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</m:func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acc>
                          <m:accPr>
                            <m:chr m:val="ˆ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1" name="TextBox 71"/>
            <p:cNvSpPr txBox="1"/>
            <p:nvPr/>
          </p:nvSpPr>
          <p:spPr>
            <a:xfrm>
              <a:off x="5995797" y="5707380"/>
              <a:ext cx="4184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代入：θ̂ = (500 + 2 × 187)/(2 × 1029) ≈ 0.4247。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341374" cy="909257"/>
            <a:chOff x="520446" y="342900"/>
            <a:chExt cx="113413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516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086" y="407194"/>
              <a:ext cx="313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3.7 Bootstrap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3413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Hardy-Weinberg 例（2）：参数 bootstrap 区间约为 (0.407, 0.442)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147183" cy="2099786"/>
            <a:chOff x="533400" y="1533525"/>
            <a:chExt cx="5147183" cy="209978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0607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代入估计值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3290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0.4247 代替 θ，得血型的近似分布律（下表）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478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产生样本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6016"/>
              <a:ext cx="44848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按此分布律产生 10000 个容量 n = 1029 的样本，每个算出 θ* = (x₂* +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2x₃*)/(2n)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93846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排序取分位数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205639"/>
              <a:ext cx="47337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 = 500，k₂ = 9500，(θ*₍₅₀₀₎, θ*₍₉₅₀₀₎) 即为 0.90 的 bootstrap 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信区间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796665"/>
            <a:ext cx="5410200" cy="800100"/>
            <a:chOff x="533400" y="3796665"/>
            <a:chExt cx="5410200" cy="800100"/>
          </a:xfrm>
        </p:grpSpPr>
        <p:sp>
          <p:nvSpPr>
            <p:cNvPr id="21" name="Rectangle 21"/>
            <p:cNvSpPr/>
            <p:nvPr/>
          </p:nvSpPr>
          <p:spPr>
            <a:xfrm>
              <a:off x="533400" y="3796665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5561" y="39181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血型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14725" y="3918109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52707" y="391810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9417" y="391810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5561" y="43181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0138" y="431815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54120" y="431815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0.489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38103" y="431815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96665"/>
              <a:ext cx="541020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786890" y="379666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70872" y="379666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54855" y="379666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3"/>
          <p:cNvGrpSpPr/>
          <p:nvPr/>
        </p:nvGrpSpPr>
        <p:grpSpPr>
          <a:xfrm>
            <a:off x="533400" y="4767262"/>
            <a:ext cx="5410200" cy="1591628"/>
            <a:chOff x="533400" y="4767262"/>
            <a:chExt cx="5410200" cy="1591628"/>
          </a:xfrm>
        </p:grpSpPr>
        <p:sp>
          <p:nvSpPr>
            <p:cNvPr id="35" name="Rectangle 35"/>
            <p:cNvSpPr/>
            <p:nvPr/>
          </p:nvSpPr>
          <p:spPr>
            <a:xfrm>
              <a:off x="533400" y="4767262"/>
              <a:ext cx="5410200" cy="1591628"/>
            </a:xfrm>
            <a:prstGeom prst="roundRect">
              <a:avLst>
                <a:gd name="adj" fmla="val 8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900612"/>
              <a:ext cx="47625" cy="13249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8190" y="49539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0862" y="49868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332" y="5297805"/>
              <a:ext cx="44971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原课件的区间 (1.83, 1.92) 不对：θ 是概率，必在 (0, 1)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内。按原题数据复算得约 (0.407, 0.442)，与正态近似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0.4247 ± 1.645 × 0.0109 一致。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248400" y="1524000"/>
            <a:ext cx="5410200" cy="1737360"/>
            <a:chOff x="6248400" y="1524000"/>
            <a:chExt cx="5410200" cy="1737360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6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6797" y="1935956"/>
              <a:ext cx="3501009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c(342, 500, 187); n &lt;- sum(x)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theta &lt;- (x[2] + 2 * x[3]) / (2 * n)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0.4247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 &lt;- c((1 - theta)^2, 2 * theta * (1 - theta),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theta^2)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 &lt;- rmultinom(10000, n, p)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每列一个样本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theta_star &lt;- sort((M[2, ] + 2 * M[3, ]) / (2 * n))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theta_star[c(500, 9500)]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0.407 0.442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3430905"/>
            <a:ext cx="5410200" cy="729615"/>
            <a:chOff x="6248400" y="3430905"/>
            <a:chExt cx="5410200" cy="729615"/>
          </a:xfrm>
        </p:grpSpPr>
        <p:sp>
          <p:nvSpPr>
            <p:cNvPr id="45" name="Rectangle 45"/>
            <p:cNvSpPr/>
            <p:nvPr/>
          </p:nvSpPr>
          <p:spPr>
            <a:xfrm>
              <a:off x="6248400" y="343090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3695700"/>
              <a:ext cx="200026" cy="200026"/>
              <a:chOff x="6453188" y="3695700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36957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53200" y="3762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42088" y="37957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892" y="3576638"/>
              <a:ext cx="45314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rmultinom 按多项分布一次产生三种血型的人数 (x₁*,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x₂*, x₃*)，正好对应“以此分布律产生 bootstrap 样本”。</a:t>
              </a:r>
            </a:p>
          </p:txBody>
        </p:sp>
      </p:grpSp>
      <p:grpSp>
        <p:nvGrpSpPr>
          <p:cNvPr id="53" name="c2-text-3"/>
          <p:cNvGrpSpPr/>
          <p:nvPr/>
        </p:nvGrpSpPr>
        <p:grpSpPr>
          <a:xfrm>
            <a:off x="6242685" y="4348639"/>
            <a:ext cx="5203190" cy="441008"/>
            <a:chOff x="6242685" y="4348639"/>
            <a:chExt cx="5203190" cy="441008"/>
          </a:xfrm>
        </p:grpSpPr>
        <p:sp>
          <p:nvSpPr>
            <p:cNvPr id="52" name="TextBox 52"/>
            <p:cNvSpPr txBox="1"/>
            <p:nvPr/>
          </p:nvSpPr>
          <p:spPr>
            <a:xfrm>
              <a:off x="6242685" y="4348639"/>
              <a:ext cx="520319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+ 2x₃ 是 2n 个等位基因中 N 基因的个数，服从 B(2n, θ)，所以估计值的标准差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√(θ(1 − θ)/(2n)) ≈ 0.0109，与 bootstrap 值的标准差吻合。</a:t>
              </a:r>
            </a:p>
          </p:txBody>
        </p:sp>
      </p:grpSp>
      <p:grpSp>
        <p:nvGrpSpPr>
          <p:cNvPr id="58" name="c2-card-4"/>
          <p:cNvGrpSpPr/>
          <p:nvPr/>
        </p:nvGrpSpPr>
        <p:grpSpPr>
          <a:xfrm>
            <a:off x="6248400" y="4915852"/>
            <a:ext cx="5410200" cy="1443038"/>
            <a:chOff x="6248400" y="4915852"/>
            <a:chExt cx="5410200" cy="1443038"/>
          </a:xfrm>
        </p:grpSpPr>
        <p:sp>
          <p:nvSpPr>
            <p:cNvPr id="54" name="Rectangle 54"/>
            <p:cNvSpPr/>
            <p:nvPr/>
          </p:nvSpPr>
          <p:spPr>
            <a:xfrm>
              <a:off x="6248400" y="4915852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35090" y="5102542"/>
              <a:ext cx="1805940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86956" y="5135404"/>
              <a:ext cx="1702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和非参数 bootstrap 的差别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28232" y="5446395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这里没有对 1029 个个体重抽样，而是直接按多项分布产生新的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计数，靠的是“三种血型的概率由 θ 决定”这一模型假设。模型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设对时结果更稳，设错时区间会比非参数的更不可靠。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46114" cy="2997517"/>
            <a:chOff x="667512" y="1835468"/>
            <a:chExt cx="624611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8296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 MCMC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构造一条以目标分布为平稳分布的马氏链，让链跑出需要的样本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525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3.8.1 马氏链和 MCMC 介绍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11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3.8.2 Metropolis-Hastings 抽样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13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3.8.3 Gibbs 抽样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从不同初始分布出发，迭代十几步后都收敛到同一个分布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8447" y="1524000"/>
            <a:ext cx="5956173" cy="3063906"/>
            <a:chOff x="528447" y="1524000"/>
            <a:chExt cx="5956173" cy="30639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133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28621" y="1645444"/>
              <a:ext cx="1855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π₀ = (0.21, 0.68, 0.11)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47044" y="1645444"/>
              <a:ext cx="1855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π₀ = (0.75, 0.15, 0.10)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133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6303" y="20454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0.2100, 0.6800, 0.1100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94726" y="20454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0.7500, 0.1500, 0.1000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133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76303" y="244554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0.2517, 0.5540, 0.1943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94726" y="244554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0.5220, 0.3465, 0.1315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133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76303" y="28455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0.2700, 0.5116, 0.2184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94726" y="28455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0.4071, 0.4257, 0.1673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1336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76303" y="324564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0.2785, 0.4970, 0.2245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94726" y="324564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0.3485, 0.4594, 0.1921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1336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76303" y="36456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0.2860, 0.4888, 0.2252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4726" y="36456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0.2909, 0.4868, 0.2223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800" y="40457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257300" y="3933825"/>
              <a:ext cx="259937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76303" y="404574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0.2864, 0.4886, 0.2250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75722" y="3933825"/>
              <a:ext cx="259937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94726" y="404574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0.2871, 0.4883, 0.2246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95122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24301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86143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4397216"/>
              <a:ext cx="586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用第 9 页的转移矩阵 P 迭代 πₙ = πₙ₋₁P（Python 复算）；平稳分布为 (0.2865, 0.4885, 0.2250)</a:t>
              </a:r>
            </a:p>
          </p:txBody>
        </p:sp>
      </p:grpSp>
      <p:grpSp>
        <p:nvGrpSpPr>
          <p:cNvPr id="49" name="c1-card-2"/>
          <p:cNvGrpSpPr/>
          <p:nvPr/>
        </p:nvGrpSpPr>
        <p:grpSpPr>
          <a:xfrm>
            <a:off x="533400" y="4719638"/>
            <a:ext cx="5951220" cy="1443038"/>
            <a:chOff x="533400" y="4719638"/>
            <a:chExt cx="5951220" cy="1443038"/>
          </a:xfrm>
        </p:grpSpPr>
        <p:sp>
          <p:nvSpPr>
            <p:cNvPr id="44" name="Rectangle 44"/>
            <p:cNvSpPr/>
            <p:nvPr/>
          </p:nvSpPr>
          <p:spPr>
            <a:xfrm>
              <a:off x="533400" y="4719638"/>
              <a:ext cx="595122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85298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8190" y="49063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0862" y="49391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1332" y="5251133"/>
              <a:ext cx="52600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原课件两张迭代表的第 8 行都写成 0.289 0.488 0.225。重算：表一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0.286 0.489 0.225，表二第 8~10 行应为 0.289/0.288/0.287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0.488 0.224~0.225。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152"/>
              <p:cNvSpPr txBox="1">
                <a:spLocks noGrp="1"/>
              </p:cNvSpPr>
              <p:nvPr/>
            </p:nvSpPr>
            <p:spPr>
              <a:xfrm>
                <a:off x="6789420" y="1524000"/>
                <a:ext cx="486918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0.2865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0.4885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0.2250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0.2865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0.4885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0.2250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0.2865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0.4885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0.2250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4" name="c2-code-2"/>
          <p:cNvGrpSpPr/>
          <p:nvPr/>
        </p:nvGrpSpPr>
        <p:grpSpPr>
          <a:xfrm>
            <a:off x="6789420" y="2285048"/>
            <a:ext cx="4869180" cy="2264092"/>
            <a:chOff x="6789420" y="2285048"/>
            <a:chExt cx="4869180" cy="2264092"/>
          </a:xfrm>
        </p:grpSpPr>
        <p:sp>
          <p:nvSpPr>
            <p:cNvPr id="51" name="Rectangle 51"/>
            <p:cNvSpPr/>
            <p:nvPr/>
          </p:nvSpPr>
          <p:spPr>
            <a:xfrm>
              <a:off x="6789420" y="2285048"/>
              <a:ext cx="486918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17817" y="243697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17817" y="2697004"/>
              <a:ext cx="3314319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 &lt;- matrix(c(.65,.28,.07, .15,.67,.18,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.12,.36,.52), 3, byrow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pi_n &lt;- c(0.75, 0.15, 0.10)</a:t>
              </a:r>
              <a:br/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1:10)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pi_n &lt;- pi_n %*% P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print(round(pi_n, 4))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Pn &lt;- diag(3)</a:t>
              </a:r>
              <a:br/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1:20) Pn &lt;- Pn %*% P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round(Pn, 4)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三行都是 0.2865 0.4885 0.2250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789420" y="4719638"/>
            <a:ext cx="4869180" cy="1443038"/>
            <a:chOff x="6789420" y="4719638"/>
            <a:chExt cx="4869180" cy="1443038"/>
          </a:xfrm>
        </p:grpSpPr>
        <p:sp>
          <p:nvSpPr>
            <p:cNvPr id="55" name="Rectangle 55"/>
            <p:cNvSpPr/>
            <p:nvPr/>
          </p:nvSpPr>
          <p:spPr>
            <a:xfrm>
              <a:off x="6789420" y="4719638"/>
              <a:ext cx="4869180" cy="1443038"/>
            </a:xfrm>
            <a:prstGeom prst="roundRect">
              <a:avLst>
                <a:gd name="adj" fmla="val 792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994208" y="5340670"/>
              <a:ext cx="200023" cy="200023"/>
              <a:chOff x="6994208" y="534067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994208" y="53406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127558" y="5407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296912" y="5097780"/>
              <a:ext cx="39570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不论从哪个初始分布出发，迭代若干步后都稳定在同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一个分布上，而且 Pⁿ 的每一行都趋于它。MCMC 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是利用这种“忘掉初值”的性质。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收敛定理与遍历定理：链跑够久，样本就能当作目标分布的样本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392680"/>
            <a:chOff x="533400" y="1524000"/>
            <a:chExt cx="5842635" cy="2392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392680"/>
            </a:xfrm>
            <a:prstGeom prst="roundRect">
              <a:avLst>
                <a:gd name="adj" fmla="val 55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259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0357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马尔科夫链的收敛性质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若马氏链非周期，且任何两个状态连通（不可约），则极限与出发状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 i 无关：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9"/>
                <p:cNvSpPr txBox="1">
                  <a:spLocks noGrp="1"/>
                </p:cNvSpPr>
                <p:nvPr/>
              </p:nvSpPr>
              <p:spPr>
                <a:xfrm>
                  <a:off x="758190" y="2589848"/>
                  <a:ext cx="543115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bSup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262312"/>
              <a:ext cx="5105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Pⁿ 的每一行都趋于 π；π 是 πP = π 的唯一非负解，Σπ(i) = 1。状态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空间无限时还要求链正常返。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086225"/>
            <a:ext cx="5842635" cy="2136458"/>
            <a:chOff x="533400" y="4086225"/>
            <a:chExt cx="5842635" cy="2136458"/>
          </a:xfrm>
        </p:grpSpPr>
        <p:sp>
          <p:nvSpPr>
            <p:cNvPr id="15" name="Rectangle 15"/>
            <p:cNvSpPr/>
            <p:nvPr/>
          </p:nvSpPr>
          <p:spPr>
            <a:xfrm>
              <a:off x="533400" y="4086225"/>
              <a:ext cx="5842635" cy="2136458"/>
            </a:xfrm>
            <a:prstGeom prst="roundRect">
              <a:avLst>
                <a:gd name="adj" fmla="val 62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219575"/>
              <a:ext cx="47625" cy="18697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4272915"/>
              <a:ext cx="117824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8684" y="4305776"/>
              <a:ext cx="1036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遍历定理 (19.3)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4617720"/>
              <a:ext cx="50714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设正常返不可约马氏链的平稳分布为 π，h(·) 为 S 上的有界函数，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60"/>
                <p:cNvSpPr txBox="1">
                  <a:spLocks noGrp="1"/>
                </p:cNvSpPr>
                <p:nvPr/>
              </p:nvSpPr>
              <p:spPr>
                <a:xfrm>
                  <a:off x="758190" y="5153025"/>
                  <a:ext cx="5431155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</m:e>
                            </m:func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1332" y="5825490"/>
              <a:ext cx="5129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链上的样本平均几乎必然收敛到 π 下的期望，即使样本不独立。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6680835" y="1524000"/>
            <a:ext cx="4977765" cy="1839944"/>
            <a:chOff x="6680835" y="1524000"/>
            <a:chExt cx="4977765" cy="1839944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29142" r="0" b="29143"/>
            <a:stretch>
              <a:fillRect/>
            </a:stretch>
          </p:blipFill>
          <p:spPr>
            <a:xfrm>
              <a:off x="6680835" y="1524000"/>
              <a:ext cx="4977765" cy="1557338"/>
            </a:xfrm>
            <a:prstGeom prst="roundRect">
              <a:avLst>
                <a:gd name="adj" fmla="val 8562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7251814" y="3173254"/>
              <a:ext cx="3835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走得久了，脚印在高处密、低处疏，脚印的分布反映出地形的高低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680835" y="3514725"/>
            <a:ext cx="4977765" cy="1700212"/>
            <a:chOff x="6680835" y="3514725"/>
            <a:chExt cx="4977765" cy="1700212"/>
          </a:xfrm>
        </p:grpSpPr>
        <p:sp>
          <p:nvSpPr>
            <p:cNvPr id="26" name="Rectangle 26"/>
            <p:cNvSpPr/>
            <p:nvPr/>
          </p:nvSpPr>
          <p:spPr>
            <a:xfrm>
              <a:off x="6680835" y="3514725"/>
              <a:ext cx="4977765" cy="1700212"/>
            </a:xfrm>
            <a:prstGeom prst="roundRect">
              <a:avLst>
                <a:gd name="adj" fmla="val 784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67525" y="3701415"/>
              <a:ext cx="962025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33464" y="3734276"/>
              <a:ext cx="83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MCMC 的想法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0667" y="4045268"/>
              <a:ext cx="441998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要从复杂分布 π 中抽样时，构造一条以 π 为平稳分布的马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氏链，从任意初值出发跑 n₁ 步以后，后面的状态就近似是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 的样本；再由遍历定理，用这些样本的平均估计 π 下的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期望。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6680835" y="5384482"/>
            <a:ext cx="4977765" cy="978218"/>
            <a:chOff x="6680835" y="5384482"/>
            <a:chExt cx="4977765" cy="978218"/>
          </a:xfrm>
        </p:grpSpPr>
        <p:sp>
          <p:nvSpPr>
            <p:cNvPr id="31" name="Rectangle 31"/>
            <p:cNvSpPr/>
            <p:nvPr/>
          </p:nvSpPr>
          <p:spPr>
            <a:xfrm>
              <a:off x="6680835" y="5384482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885623" y="5774055"/>
              <a:ext cx="200026" cy="200026"/>
              <a:chOff x="6885623" y="577405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85623" y="57740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985635" y="58407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74523" y="58740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188327" y="5531168"/>
              <a:ext cx="396563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链上的样本互相有关，n 个 MCMC 样本的信息量不如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个独立样本，所以同样的样本量下 MCMC 估计的误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差更大。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细致平稳条件：让每一对状态之间的概率流互相抵消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674495"/>
            <a:chOff x="533400" y="1524000"/>
            <a:chExt cx="5193982" cy="1674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74495"/>
            </a:xfrm>
            <a:prstGeom prst="roundRect">
              <a:avLst>
                <a:gd name="adj" fmla="val 79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77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97548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4953" y="1743551"/>
              <a:ext cx="1881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细致平稳（detailed balance）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774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如果存在 {πⱼ, j ∈ S}，πⱼ ≥ 0，Σπⱼ = 1，使得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77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78250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801302"/>
              <a:ext cx="4822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称这样的马氏链为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细致平稳的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，{πⱼ} 是 {Xₜ} 的平稳分布。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68040"/>
            <a:ext cx="5193982" cy="1878330"/>
            <a:chOff x="533400" y="3368040"/>
            <a:chExt cx="5193982" cy="1878330"/>
          </a:xfrm>
        </p:grpSpPr>
        <p:sp>
          <p:nvSpPr>
            <p:cNvPr id="15" name="Rectangle 15"/>
            <p:cNvSpPr/>
            <p:nvPr/>
          </p:nvSpPr>
          <p:spPr>
            <a:xfrm>
              <a:off x="533400" y="3368040"/>
              <a:ext cx="5193982" cy="1878330"/>
            </a:xfrm>
            <a:prstGeom prst="roundRect">
              <a:avLst>
                <a:gd name="adj" fmla="val 70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01390"/>
              <a:ext cx="47625" cy="161163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55473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0357" y="358759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为什么细致平稳就平稳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3899535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i 求和即可：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78"/>
                <p:cNvSpPr txBox="1">
                  <a:spLocks noGrp="1"/>
                </p:cNvSpPr>
                <p:nvPr/>
              </p:nvSpPr>
              <p:spPr>
                <a:xfrm>
                  <a:off x="758190" y="4177665"/>
                  <a:ext cx="478250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1332" y="484917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正是平稳分布方程 (19.2)。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5416868"/>
            <a:ext cx="5193982" cy="729615"/>
            <a:chOff x="533400" y="5416868"/>
            <a:chExt cx="5193982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541686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677971"/>
              <a:ext cx="224134" cy="192560"/>
              <a:chOff x="726129" y="5677971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7483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6779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8261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562600"/>
              <a:ext cx="41113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细致平稳是平稳的充分条件，不是必要条件；MCMC 用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它，是因为它只涉及一对状态，容易构造。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032182" y="1524000"/>
            <a:ext cx="5626418" cy="4622482"/>
            <a:chOff x="6032182" y="1524000"/>
            <a:chExt cx="5626418" cy="4622482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4622482"/>
            </a:xfrm>
            <a:prstGeom prst="roundRect">
              <a:avLst>
                <a:gd name="adj" fmla="val 288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18872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9939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构造接受率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2014" y="2054542"/>
              <a:ext cx="50114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目标平稳分布 π(x) 和某一个马尔科夫链状态转移矩阵 Q 一般不满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足细致平稳条件：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79"/>
                <p:cNvSpPr txBox="1">
                  <a:spLocks noGrp="1"/>
                </p:cNvSpPr>
                <p:nvPr/>
              </p:nvSpPr>
              <p:spPr>
                <a:xfrm>
                  <a:off x="6218872" y="2589848"/>
                  <a:ext cx="52530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6212014" y="3039427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引入一个 α(i, j)，使得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80"/>
                <p:cNvSpPr txBox="1">
                  <a:spLocks noGrp="1"/>
                </p:cNvSpPr>
                <p:nvPr/>
              </p:nvSpPr>
              <p:spPr>
                <a:xfrm>
                  <a:off x="6218872" y="3316605"/>
                  <a:ext cx="52530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7" name="TextBox 37"/>
            <p:cNvSpPr txBox="1"/>
            <p:nvPr/>
          </p:nvSpPr>
          <p:spPr>
            <a:xfrm>
              <a:off x="6212014" y="3766185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α(i, j)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181"/>
                <p:cNvSpPr txBox="1">
                  <a:spLocks noGrp="1"/>
                </p:cNvSpPr>
                <p:nvPr/>
              </p:nvSpPr>
              <p:spPr>
                <a:xfrm>
                  <a:off x="6218872" y="4044315"/>
                  <a:ext cx="52530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6212014" y="4492942"/>
              <a:ext cx="49943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等式就成立。令 P(i, j) = Q(i, j)α(i, j)，P 就是以 π(x) 为平稳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分布的转移矩阵。α(i, j) 称为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接受率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，取值在 [0, 1] 之间，可以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理解为一个概率值。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7217" cy="909257"/>
            <a:chOff x="520446" y="342900"/>
            <a:chExt cx="80672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72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MCMC 抽样：以概率 α 接受这次转移，否则留在原地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554345" cy="3468339"/>
            <a:chOff x="533400" y="1533525"/>
            <a:chExt cx="5554345" cy="34683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1900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979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任意选定的状态转移矩阵 Q，平稳分布 π(x)，设定状态转移次数阈值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n₁、需要的样本个数 n₂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初值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从任意简单概率分布抽样得到初始状态值 x₀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28801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迭代（t = 0 到 n₁ + n₂ − 1）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08482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 从条件概率分布 Q(x | xₜ) 中抽样得到样本 x*；b) 从均匀分布抽样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~ U[0, 1]；c) 如果 u &lt; α(xₜ, x*) = π(x*)Q(x*, xₜ)，接受转移，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xₜ₊₁ = x*；d) 否则不接受转移，xₜ₊₁ = xₜ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224338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输出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518184"/>
              <a:ext cx="5141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样本集 (x_{n₁}, x_{n₁+1}, …, x_{n₁+n₂−1}) 即为需要的平稳分布对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应的样本集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5180648"/>
            <a:ext cx="5842635" cy="782955"/>
            <a:chOff x="533400" y="5180648"/>
            <a:chExt cx="5842635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518064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472113"/>
              <a:ext cx="200026" cy="200026"/>
              <a:chOff x="738188" y="5472113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4721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538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5721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329238"/>
              <a:ext cx="4834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n₁ 步称为燃烧期（burn-in），丢掉它们是为了消除初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值的影响。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680835" y="1524000"/>
            <a:ext cx="4977765" cy="1602105"/>
            <a:chOff x="6680835" y="1524000"/>
            <a:chExt cx="4977765" cy="1602105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036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20865" y="2110740"/>
              <a:ext cx="4177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 MCMC 抽样有时接受率过低。例如 α(i, j)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0.1、α(j, i) = 0.2 时，大部分转移被拒绝，链长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时间停在原地，要跑很久才能收敛。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680835" y="3316605"/>
            <a:ext cx="4977765" cy="2646998"/>
            <a:chOff x="6680835" y="3316605"/>
            <a:chExt cx="4977765" cy="2646998"/>
          </a:xfrm>
        </p:grpSpPr>
        <p:sp>
          <p:nvSpPr>
            <p:cNvPr id="38" name="Rectangle 38"/>
            <p:cNvSpPr/>
            <p:nvPr/>
          </p:nvSpPr>
          <p:spPr>
            <a:xfrm>
              <a:off x="6680835" y="3316605"/>
              <a:ext cx="4977765" cy="2646998"/>
            </a:xfrm>
            <a:prstGeom prst="roundRect">
              <a:avLst>
                <a:gd name="adj" fmla="val 503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90385" y="35261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68744" y="35618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改进的想法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2765" y="3903345"/>
              <a:ext cx="4301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细致平稳条件两边同乘一个常数仍然成立。把 α(i,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j)、α(j, i) 同时放大 5 倍变成 0.5 和 1，等式依然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成立，但转移容易被接受得多。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3908" y="4806791"/>
              <a:ext cx="3402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把两者中较大的一个放大到 1，就得到下一页的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Metropolis-Hastings 接受率。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47208" cy="909257"/>
            <a:chOff x="520446" y="342900"/>
            <a:chExt cx="81472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472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Metropolis-Hastings：把接受率放大到 min{·, 1}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193982" cy="1291590"/>
            <a:chOff x="533400" y="1524000"/>
            <a:chExt cx="5193982" cy="1291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91590"/>
            </a:xfrm>
            <a:prstGeom prst="roundRect">
              <a:avLst>
                <a:gd name="adj" fmla="val 1032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89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接受率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88"/>
                <p:cNvSpPr txBox="1">
                  <a:spLocks noGrp="1"/>
                </p:cNvSpPr>
                <p:nvPr/>
              </p:nvSpPr>
              <p:spPr>
                <a:xfrm>
                  <a:off x="731520" y="2059305"/>
                  <a:ext cx="4797742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e>
                                    </m:d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8" name="c1-card-2"/>
          <p:cNvGrpSpPr/>
          <p:nvPr/>
        </p:nvGrpSpPr>
        <p:grpSpPr>
          <a:xfrm>
            <a:off x="533400" y="2995612"/>
            <a:ext cx="5193982" cy="1411605"/>
            <a:chOff x="533400" y="2995612"/>
            <a:chExt cx="5193982" cy="1411605"/>
          </a:xfrm>
        </p:grpSpPr>
        <p:sp>
          <p:nvSpPr>
            <p:cNvPr id="12" name="Rectangle 12"/>
            <p:cNvSpPr/>
            <p:nvPr/>
          </p:nvSpPr>
          <p:spPr>
            <a:xfrm>
              <a:off x="533400" y="2995612"/>
              <a:ext cx="5193982" cy="1411605"/>
            </a:xfrm>
            <a:prstGeom prst="roundRect">
              <a:avLst>
                <a:gd name="adj" fmla="val 9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128962"/>
              <a:ext cx="47625" cy="11449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9620" y="319373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7057" y="32280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仍然满足细致平稳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89"/>
                <p:cNvSpPr txBox="1">
                  <a:spLocks noGrp="1"/>
                </p:cNvSpPr>
                <p:nvPr/>
              </p:nvSpPr>
              <p:spPr>
                <a:xfrm>
                  <a:off x="769620" y="3530918"/>
                  <a:ext cx="475964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62381" y="3986689"/>
              <a:ext cx="47706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右边交换 i、j 后不变，所以 π(i)P(i, j) = π(j)P(j, i)。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88192"/>
            <a:ext cx="5193982" cy="1583055"/>
            <a:chOff x="533400" y="4588192"/>
            <a:chExt cx="5193982" cy="1583055"/>
          </a:xfrm>
        </p:grpSpPr>
        <p:sp>
          <p:nvSpPr>
            <p:cNvPr id="19" name="Rectangle 19"/>
            <p:cNvSpPr/>
            <p:nvPr/>
          </p:nvSpPr>
          <p:spPr>
            <a:xfrm>
              <a:off x="533400" y="4588192"/>
              <a:ext cx="5193982" cy="1583055"/>
            </a:xfrm>
            <a:prstGeom prst="roundRect">
              <a:avLst>
                <a:gd name="adj" fmla="val 842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" y="4786312"/>
              <a:ext cx="212121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5305" y="4820602"/>
              <a:ext cx="1992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对称提议 → Metropolis 抽样法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281" y="5146834"/>
              <a:ext cx="36851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Q(i, j) = Q(j, i)，接受率进一步简化为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90"/>
                <p:cNvSpPr txBox="1">
                  <a:spLocks noGrp="1"/>
                </p:cNvSpPr>
                <p:nvPr/>
              </p:nvSpPr>
              <p:spPr>
                <a:xfrm>
                  <a:off x="731520" y="5440680"/>
                  <a:ext cx="479774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steps-1"/>
          <p:cNvGrpSpPr/>
          <p:nvPr/>
        </p:nvGrpSpPr>
        <p:grpSpPr>
          <a:xfrm>
            <a:off x="6032182" y="1533525"/>
            <a:ext cx="5317236" cy="2619756"/>
            <a:chOff x="6032182" y="1533525"/>
            <a:chExt cx="5317236" cy="2619756"/>
          </a:xfrm>
        </p:grpSpPr>
        <p:sp>
          <p:nvSpPr>
            <p:cNvPr id="25" name="Rectangle 25"/>
            <p:cNvSpPr/>
            <p:nvPr/>
          </p:nvSpPr>
          <p:spPr>
            <a:xfrm>
              <a:off x="6165532" y="1676400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32182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25806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32182" y="2767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5806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32182" y="36052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5806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4044" y="1566386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5186" y="1846898"/>
              <a:ext cx="4230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任意选定的状态转移矩阵 Q、平稳分布 π(x)，设定 n₁、n₂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4044" y="2183606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初值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5186" y="2464118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从任意简单概率分布采样得到初始状态值 x₀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4044" y="2799874"/>
              <a:ext cx="27265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迭代（t = 0 到 n₁ + n₂ − 1）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5186" y="3080385"/>
              <a:ext cx="49042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 从 Q(x | xₜ) 采样得 x*；b) u ~ U[0, 1]；c) u &lt; α(xₜ, x*) 时 xₜ₊₁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x*，否则 xₜ₊₁ = xₜ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4044" y="3638074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输出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5186" y="3918585"/>
              <a:ext cx="2871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 n₂ 个状态即为平稳分布对应的样本集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032182" y="4324350"/>
            <a:ext cx="5626418" cy="756285"/>
            <a:chOff x="6032182" y="4324350"/>
            <a:chExt cx="5626418" cy="756285"/>
          </a:xfrm>
        </p:grpSpPr>
        <p:sp>
          <p:nvSpPr>
            <p:cNvPr id="43" name="Rectangle 43"/>
            <p:cNvSpPr/>
            <p:nvPr/>
          </p:nvSpPr>
          <p:spPr>
            <a:xfrm>
              <a:off x="6032182" y="4324350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36970" y="4602482"/>
              <a:ext cx="200023" cy="200023"/>
              <a:chOff x="6236970" y="4602482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236970" y="46024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70320" y="46691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539294" y="4471511"/>
              <a:ext cx="471368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 只出现在比值里，所以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只要知道 π 的未归一化形式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就能抽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样，不必求归一化常数。贝叶斯后验分布正是这种情形。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032182" y="5260658"/>
            <a:ext cx="5626418" cy="910590"/>
            <a:chOff x="6032182" y="5260658"/>
            <a:chExt cx="5626418" cy="910590"/>
          </a:xfrm>
        </p:grpSpPr>
        <p:sp>
          <p:nvSpPr>
            <p:cNvPr id="49" name="Rectangle 49"/>
            <p:cNvSpPr/>
            <p:nvPr/>
          </p:nvSpPr>
          <p:spPr>
            <a:xfrm>
              <a:off x="6032182" y="5260658"/>
              <a:ext cx="5626418" cy="910590"/>
            </a:xfrm>
            <a:prstGeom prst="roundRect">
              <a:avLst>
                <a:gd name="adj" fmla="val 125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236970" y="5615940"/>
              <a:ext cx="200026" cy="200026"/>
              <a:chOff x="6236970" y="561594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236970" y="56159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36983" y="56826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325870" y="57159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539294" y="5484971"/>
              <a:ext cx="427951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更正：原课件写作 Metropolis-Hasting，规范写法是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Metropolis-Hastings（W. K. Hastings, 1970）。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8792" cy="909257"/>
            <a:chOff x="520446" y="342900"/>
            <a:chExt cx="71687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87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随机游动 Metropolis：连续分布上的对称提议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747010"/>
            <a:chOff x="533400" y="1524000"/>
            <a:chExt cx="5410200" cy="27470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47010"/>
            </a:xfrm>
            <a:prstGeom prst="roundRect">
              <a:avLst>
                <a:gd name="adj" fmla="val 48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803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207549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5426" y="1756410"/>
              <a:ext cx="2004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连续型分布的随机游动 MH 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设目标密度 π(x) 取值于 ℝᵈ，T(y | x) 为试抽样密度。试转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移概率函数不好找时，用随机游动 Metropolis：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47552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x⁽ᵗ⁾ 出发令 y = x⁽ᵗ⁾ + εₜ，εₜ 对不同 t 独立同分布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0499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989421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T(y | x) = g(y − x)；g 关于 0 对称时 T(y | x) =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T(x | y)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63950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579019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常取 g 为 N(0, σ²I)，或以 0 为中心、半径 σ 的球内均匀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451032"/>
            <a:ext cx="5410200" cy="1777365"/>
            <a:chOff x="533400" y="4451032"/>
            <a:chExt cx="5410200" cy="1777365"/>
          </a:xfrm>
        </p:grpSpPr>
        <p:sp>
          <p:nvSpPr>
            <p:cNvPr id="19" name="Rectangle 19"/>
            <p:cNvSpPr/>
            <p:nvPr/>
          </p:nvSpPr>
          <p:spPr>
            <a:xfrm>
              <a:off x="533400" y="4451032"/>
              <a:ext cx="5410200" cy="1777365"/>
            </a:xfrm>
            <a:prstGeom prst="roundRect">
              <a:avLst>
                <a:gd name="adj" fmla="val 750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" y="464915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959" y="46834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转移法则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281" y="5010626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试转移到 y 后，若 π(y) &gt; π(x⁽ᵗ⁾) 则令 x⁽ᵗ⁺¹⁾ = y；否则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 U ~ U(0, 1)，取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93"/>
                <p:cNvSpPr txBox="1">
                  <a:spLocks noGrp="1"/>
                </p:cNvSpPr>
                <p:nvPr/>
              </p:nvSpPr>
              <p:spPr>
                <a:xfrm>
                  <a:off x="731520" y="5575935"/>
                  <a:ext cx="501396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sup>
                        </m:sSup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r>
                          <m:rPr>
                            <m:nor m:val="on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otherwise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ode-1"/>
          <p:cNvGrpSpPr/>
          <p:nvPr/>
        </p:nvGrpSpPr>
        <p:grpSpPr>
          <a:xfrm>
            <a:off x="6248400" y="1524000"/>
            <a:ext cx="5410200" cy="2586990"/>
            <a:chOff x="6248400" y="1524000"/>
            <a:chExt cx="5410200" cy="258699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675924"/>
              <a:ext cx="29578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R：随机游动 Metropolis，目标 π(x) ∝ e^(−|x|)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416" y="1937385"/>
              <a:ext cx="3897821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rw_metropolis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(sigma, N, x0 = 10)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numeric(N); x[1] &lt;- x0; acc &lt;- 0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2:N)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 &lt;- x[t - 1] + rnorm(1, 0, sigma)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对称试转移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ratio &lt;- exp(abs(x[t - 1]) - abs(y))  </a:t>
              </a:r>
              <a:r>
                <a:rPr lang="el-GR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π(y)/π(x)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(runif(1) &lt;= ratio)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x[t] &lt;- y; acc &lt;- acc + 1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x[t] &lt;- x[t - 1]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list(x = x, rate = acc / (N - 1))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4291012"/>
            <a:ext cx="5410200" cy="1938338"/>
            <a:chOff x="6248400" y="4291012"/>
            <a:chExt cx="5410200" cy="1938338"/>
          </a:xfrm>
        </p:grpSpPr>
        <p:sp>
          <p:nvSpPr>
            <p:cNvPr id="29" name="Rectangle 29"/>
            <p:cNvSpPr/>
            <p:nvPr/>
          </p:nvSpPr>
          <p:spPr>
            <a:xfrm>
              <a:off x="6248400" y="4291012"/>
              <a:ext cx="5410200" cy="1938338"/>
            </a:xfrm>
            <a:prstGeom prst="roundRect">
              <a:avLst>
                <a:gd name="adj" fmla="val 688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46520" y="448913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3957" y="452342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与离散情形的对应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9281" y="4849654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离散的 Q(i, j)、π(i) 换成密度 T(y | x)、π(x)，接受率形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式不变：α = min{π(y)T(x | y)/(π(x)T(y | x)), 1}；g 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称时后一半约掉。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0424" y="5707380"/>
              <a:ext cx="4414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目标密度不必归一化，双指数分布的常数 1/2 在比值中消去。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步长 σ 怎么选：接受率太高或太低，链都走不动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27685" y="1524000"/>
            <a:ext cx="6065520" cy="2966561"/>
            <a:chOff x="527685" y="1524000"/>
            <a:chExt cx="6065520" cy="29665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006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9810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接受率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215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样本方差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60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9000" y="2108359"/>
              <a:ext cx="29458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7031" y="22217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76668" y="22217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6.94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5336" y="2108359"/>
              <a:ext cx="32722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步子太小，几乎每次都接受，20000 步后仍带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着初值的痕迹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551" y="278368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7031" y="278368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76668" y="278368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65336" y="278368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好一些，链移动仍然缓慢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062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48715" y="3107055"/>
              <a:ext cx="82962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67031" y="323230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76668" y="323230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65336" y="3232309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接受率适中，链混合得快，方差接近真值 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54615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0307" y="368093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67031" y="368093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76668" y="368093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65336" y="368093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步子太大，九成提议被拒绝，链常常原地不动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059805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13442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98310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5275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685" y="4070509"/>
              <a:ext cx="5701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目标为双指数分布 π(x) ∝ e^(−|x|)（方差为 2），初值 x₀ = 10，N = 20000，丢掉前 2000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步（Python 复算）</a:t>
              </a:r>
            </a:p>
          </p:txBody>
        </p:sp>
      </p:grpSp>
      <p:grpSp>
        <p:nvGrpSpPr>
          <p:cNvPr id="45" name="c1-callout-2"/>
          <p:cNvGrpSpPr/>
          <p:nvPr/>
        </p:nvGrpSpPr>
        <p:grpSpPr>
          <a:xfrm>
            <a:off x="533400" y="4636770"/>
            <a:ext cx="6059805" cy="782955"/>
            <a:chOff x="533400" y="4636770"/>
            <a:chExt cx="6059805" cy="782955"/>
          </a:xfrm>
        </p:grpSpPr>
        <p:sp>
          <p:nvSpPr>
            <p:cNvPr id="40" name="Rectangle 40"/>
            <p:cNvSpPr/>
            <p:nvPr/>
          </p:nvSpPr>
          <p:spPr>
            <a:xfrm>
              <a:off x="533400" y="463677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4928237"/>
              <a:ext cx="200023" cy="200023"/>
              <a:chOff x="738188" y="492823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49282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4994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4785360"/>
              <a:ext cx="5006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经验做法：调 σ 使接受率落在 0.2 ~ 0.5 之间，再看轨迹图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确认链已经离开初值区域。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1524000"/>
            <a:ext cx="4760595" cy="1937385"/>
            <a:chOff x="6898005" y="1524000"/>
            <a:chExt cx="4760595" cy="1937385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4565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14210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两个容易踩的坑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51370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09485" y="2110740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接受率高不等于抽得好：σ = 0.05 时几乎全部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接受，链却几乎没挪窝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51370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9485" y="273177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判断收敛不能只看均值：还要看轨迹图，并从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不同初值跑几条链比较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898005" y="3651885"/>
            <a:ext cx="4760595" cy="1767840"/>
            <a:chOff x="6898005" y="3651885"/>
            <a:chExt cx="4760595" cy="1767840"/>
          </a:xfrm>
        </p:grpSpPr>
        <p:sp>
          <p:nvSpPr>
            <p:cNvPr id="55" name="Rectangle 55"/>
            <p:cNvSpPr/>
            <p:nvPr/>
          </p:nvSpPr>
          <p:spPr>
            <a:xfrm>
              <a:off x="6898005" y="3651885"/>
              <a:ext cx="4760595" cy="1767840"/>
            </a:xfrm>
            <a:prstGeom prst="roundRect">
              <a:avLst>
                <a:gd name="adj" fmla="val 75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3785235"/>
              <a:ext cx="47625" cy="1501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45655" y="38614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10260" y="38971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与重要抽样的对照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8035" y="423862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重要抽样要求试投密度容易抽样并且覆盖目标分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布；随机游动 Metropolis 只要求能算出 π 的比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值，代价是样本不独立、需要预热。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4055" cy="909257"/>
            <a:chOff x="520446" y="342900"/>
            <a:chExt cx="82440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40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19.3 硬圆盘气体模型：在允许的位置上做均匀抽样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293620"/>
            <a:chOff x="533400" y="1524000"/>
            <a:chExt cx="5410200" cy="2293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93620"/>
            </a:xfrm>
            <a:prstGeom prst="roundRect">
              <a:avLst>
                <a:gd name="adj" fmla="val 58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69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9342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797" y="1756410"/>
              <a:ext cx="523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19.3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考虑如下的简单气体模型：在平面区域 G = [0, A] × [0,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B] 内有 K 个直径为 d 的刚性圆盘，随机向量 X = (x₁,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y₁, …, x_K, y_K) 为这些圆盘的位置坐标。分布 π(x) 是 G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内所有允许位置的均匀分布。希望对 π 抽样。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524" y="3210877"/>
              <a:ext cx="46070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允许位置：每个圆盘都完整地落在 G 内，任意两个圆心的距离不小于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997642"/>
            <a:ext cx="5410200" cy="2158365"/>
            <a:chOff x="533400" y="3997642"/>
            <a:chExt cx="5410200" cy="2158365"/>
          </a:xfrm>
        </p:grpSpPr>
        <p:sp>
          <p:nvSpPr>
            <p:cNvPr id="14" name="Rectangle 14"/>
            <p:cNvSpPr/>
            <p:nvPr/>
          </p:nvSpPr>
          <p:spPr>
            <a:xfrm>
              <a:off x="533400" y="3997642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1520" y="4195762"/>
              <a:ext cx="164592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5307" y="4230052"/>
              <a:ext cx="1538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用随机游动 Metropolis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9140" y="461676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5731" y="4557236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目标是均匀分布，π(y)/π(x⁽ᵗ⁾) 只有两个值：新位置允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许时为 1，不允许时为 0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39140" y="520636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5731" y="514588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每一步随机挑一个圆盘，把圆心移动一个对称的小随机量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39140" y="552354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5731" y="546401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新位置合法就接受，不合法就保持原状（这一步照样计入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样本）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2397442"/>
            <a:chOff x="6248400" y="1524000"/>
            <a:chExt cx="5410200" cy="2397442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1937385"/>
              <a:ext cx="3751136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move_one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(P, A, B, d, delta)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 &lt;- sample(nrow(P), 1)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随机挑一个圆盘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y &lt;- P[k, ] + runif(2, -delta, delta)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inside &lt;- all(y &gt;= d / 2) &amp;&amp;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y[1] &lt;= A - d / 2 &amp;&amp; y[2] &lt;= B - d / 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others &lt;- P[-k, , drop =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far &lt;- all(sqrt(colSums((t(others) - y)^2)) &gt;= d)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(inside &amp;&amp; far) P[k, ] &lt;- y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否则保持原状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101465"/>
            <a:ext cx="5410200" cy="2054542"/>
            <a:chOff x="6248400" y="4101465"/>
            <a:chExt cx="5410200" cy="2054542"/>
          </a:xfrm>
        </p:grpSpPr>
        <p:sp>
          <p:nvSpPr>
            <p:cNvPr id="28" name="Rectangle 28"/>
            <p:cNvSpPr/>
            <p:nvPr/>
          </p:nvSpPr>
          <p:spPr>
            <a:xfrm>
              <a:off x="6248400" y="4101465"/>
              <a:ext cx="5410200" cy="2054542"/>
            </a:xfrm>
            <a:prstGeom prst="roundRect">
              <a:avLst>
                <a:gd name="adj" fmla="val 55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5029200"/>
              <a:ext cx="200026" cy="200026"/>
              <a:chOff x="6453188" y="502920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50292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53200" y="5095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42088" y="51292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511" y="4766786"/>
              <a:ext cx="448691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圆盘排得较密时，“一次性随机摆放 K 个圆盘再检查”几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乎总是失败；每次只动一个圆盘的 Metropolis 抽样可以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从一个合法排列逐步走遍允许的位置。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2043" cy="909257"/>
            <a:chOff x="520446" y="342900"/>
            <a:chExt cx="89420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20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Gibbs 抽样：沿坐标轴方向移动时，细致平稳条件自动成立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951220" cy="4173855"/>
            <a:chOff x="533400" y="1524000"/>
            <a:chExt cx="5951220" cy="4173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173855"/>
            </a:xfrm>
            <a:prstGeom prst="roundRect">
              <a:avLst>
                <a:gd name="adj" fmla="val 319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5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二维情形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330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π(x₁, x₂) 是二维联合分布，观察第一个特征维度相同的两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个点 A(x₁⁽¹⁾, x₂⁽¹⁾) 和 B(x₁⁽¹⁾, x₂⁽²⁾)，容易发现下面两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式成立：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97"/>
                <p:cNvSpPr txBox="1">
                  <a:spLocks noGrp="1"/>
                </p:cNvSpPr>
                <p:nvPr/>
              </p:nvSpPr>
              <p:spPr>
                <a:xfrm>
                  <a:off x="742950" y="2992755"/>
                  <a:ext cx="553212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8"/>
                <p:cNvSpPr txBox="1">
                  <a:spLocks noGrp="1"/>
                </p:cNvSpPr>
                <p:nvPr/>
              </p:nvSpPr>
              <p:spPr>
                <a:xfrm>
                  <a:off x="742950" y="3392805"/>
                  <a:ext cx="553212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35330" y="38176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两式右边相等，因此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99"/>
                <p:cNvSpPr txBox="1">
                  <a:spLocks noGrp="1"/>
                </p:cNvSpPr>
                <p:nvPr/>
              </p:nvSpPr>
              <p:spPr>
                <a:xfrm>
                  <a:off x="742950" y="4128135"/>
                  <a:ext cx="553212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35330" y="4610100"/>
              <a:ext cx="5273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x₁ = x₁⁽¹⁾ 这条直线上，用条件分布 π(x₂ | x₁⁽¹⁾) 作为状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态转移概率，任意两点之间的转移都满足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细致平稳条件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理，在 x₂ = x₂⁽¹⁾ 这条直线上用 π(x₁ | x₂⁽¹⁾) 也满足。</a:t>
              </a:r>
            </a:p>
          </p:txBody>
        </p:sp>
      </p:grpSp>
      <p:grpSp>
        <p:nvGrpSpPr>
          <p:cNvPr id="44" name="c2-graph-1"/>
          <p:cNvGrpSpPr/>
          <p:nvPr/>
        </p:nvGrpSpPr>
        <p:grpSpPr>
          <a:xfrm>
            <a:off x="6982778" y="1644968"/>
            <a:ext cx="4482465" cy="2804159"/>
            <a:chOff x="6982778" y="1644968"/>
            <a:chExt cx="4482465" cy="2804159"/>
          </a:xfrm>
        </p:grpSpPr>
        <p:sp>
          <p:nvSpPr>
            <p:cNvPr id="17" name="Freeform 17"/>
            <p:cNvSpPr/>
            <p:nvPr/>
          </p:nvSpPr>
          <p:spPr>
            <a:xfrm>
              <a:off x="8347710" y="1656398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6994208" y="3656648"/>
              <a:ext cx="4459605" cy="9525"/>
            </a:xfrm>
            <a:custGeom>
              <a:avLst/>
              <a:gdLst/>
              <a:ahLst/>
              <a:cxnLst/>
              <a:rect l="l" t="t" r="r" b="b"/>
              <a:pathLst>
                <a:path w="4459605" h="9525">
                  <a:moveTo>
                    <a:pt x="0" y="0"/>
                  </a:moveTo>
                  <a:lnTo>
                    <a:pt x="445960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8347710" y="2417445"/>
              <a:ext cx="9525" cy="1077277"/>
            </a:xfrm>
            <a:custGeom>
              <a:avLst/>
              <a:gdLst/>
              <a:ahLst/>
              <a:cxnLst/>
              <a:rect l="l" t="t" r="r" b="b"/>
              <a:pathLst>
                <a:path w="9525" h="1077277">
                  <a:moveTo>
                    <a:pt x="0" y="107727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300085" y="23221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300085" y="34947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509635" y="3656648"/>
              <a:ext cx="1915478" cy="9525"/>
            </a:xfrm>
            <a:custGeom>
              <a:avLst/>
              <a:gdLst/>
              <a:ahLst/>
              <a:cxnLst/>
              <a:rect l="l" t="t" r="r" b="b"/>
              <a:pathLst>
                <a:path w="1915478" h="9525">
                  <a:moveTo>
                    <a:pt x="0" y="0"/>
                  </a:moveTo>
                  <a:lnTo>
                    <a:pt x="1915478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425112" y="36090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8414385" y="36090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403908" y="2290762"/>
              <a:ext cx="2126932" cy="1329690"/>
            </a:xfrm>
            <a:custGeom>
              <a:avLst/>
              <a:gdLst/>
              <a:ahLst/>
              <a:cxnLst/>
              <a:rect l="l" t="t" r="r" b="b"/>
              <a:pathLst>
                <a:path w="2126932" h="1329690">
                  <a:moveTo>
                    <a:pt x="0" y="1329690"/>
                  </a:moveTo>
                  <a:lnTo>
                    <a:pt x="2126932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26" name="Ellipse 26"/>
            <p:cNvSpPr/>
            <p:nvPr/>
          </p:nvSpPr>
          <p:spPr>
            <a:xfrm>
              <a:off x="8346758" y="16449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346758" y="444722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982778" y="36556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463338" y="36556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290560" y="3599498"/>
              <a:ext cx="114300" cy="1143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290560" y="219837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529888" y="3599498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529888" y="219837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28878" y="3604736"/>
              <a:ext cx="909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A(x₁⁽¹⁾, x₂⁽¹⁾)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8878" y="2203609"/>
              <a:ext cx="909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B(x₁⁽¹⁾, x₂⁽²⁾)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32390" y="3748564"/>
              <a:ext cx="909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C(x₁⁽²⁾, x₂⁽¹⁾)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50200" y="205216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76235" y="2877502"/>
              <a:ext cx="7429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89705" y="2906554"/>
              <a:ext cx="7160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π(x₂ | x₁⁽¹⁾)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096375" y="3577590"/>
              <a:ext cx="7429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09845" y="3606641"/>
              <a:ext cx="7160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π(x₁ | x₂⁽¹⁾)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12592" y="2877502"/>
              <a:ext cx="31051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31871" y="2906554"/>
              <a:ext cx="2719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 = 0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789420" y="4760595"/>
            <a:ext cx="4869180" cy="1602105"/>
            <a:chOff x="6789420" y="4760595"/>
            <a:chExt cx="4869180" cy="1602105"/>
          </a:xfrm>
        </p:grpSpPr>
        <p:sp>
          <p:nvSpPr>
            <p:cNvPr id="45" name="Rectangle 45"/>
            <p:cNvSpPr/>
            <p:nvPr/>
          </p:nvSpPr>
          <p:spPr>
            <a:xfrm>
              <a:off x="6789420" y="4760595"/>
              <a:ext cx="486918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48939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37070" y="497014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0527" y="500586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状态转移矩阵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29450" y="5347335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 → B) = π(x₂⁽ᴮ⁾ | x₁⁽¹⁾)（两点的 x₁ 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同），P(A → C) = π(x₁⁽ᶜ⁾ | x₂⁽¹⁾)（两点的 x₂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相同），其它情况 P = 0：不能斜着走。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51400" cy="909257"/>
            <a:chOff x="520446" y="342900"/>
            <a:chExt cx="90514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514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 Gibbs 抽样：轮流固定一个坐标，按条件分布抽另一个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02377" cy="2998755"/>
            <a:chOff x="533400" y="1533525"/>
            <a:chExt cx="5302377" cy="299875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平稳分布 π(x₁, x₂)（实际只要两个条件分布），设定状态转移次数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阈值 n₁、需要的样本个数 n₂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初值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2666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随机初始化状态值 x₁⁽⁰⁾ 和 x₂⁽⁰⁾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28801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迭代（t = 0 到 n₁ + n₂ − 1）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4881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 从条件分布 P(x₁ | x₂⁽ᵗ⁾) 中抽样得到 x₁⁽ᵗ⁺¹⁾；b) 从条件分布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P(x₂ | x₁⁽ᵗ⁺¹⁾) 中抽样得到 x₂⁽ᵗ⁺¹⁾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90022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输出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82916"/>
              <a:ext cx="48635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丢掉前 n₁ 轮，后 n₂ 轮的 (x₁, x₂) 即为平稳分布对应的样本集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711065"/>
            <a:ext cx="5626418" cy="782955"/>
            <a:chOff x="533400" y="4711065"/>
            <a:chExt cx="5626418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71106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002532"/>
              <a:ext cx="200023" cy="200023"/>
              <a:chOff x="738188" y="5002532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0025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0692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859655"/>
              <a:ext cx="4634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Gibbs 抽样是 M-H 的特例：提议分布就是条件分布，接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受率恒等于 1，每次提议都被接受。</a:t>
              </a:r>
            </a:p>
          </p:txBody>
        </p:sp>
      </p:grpSp>
      <p:grpSp>
        <p:nvGrpSpPr>
          <p:cNvPr id="56" name="c2-graph-1"/>
          <p:cNvGrpSpPr/>
          <p:nvPr/>
        </p:nvGrpSpPr>
        <p:grpSpPr>
          <a:xfrm>
            <a:off x="6683298" y="1689259"/>
            <a:ext cx="4652799" cy="3378518"/>
            <a:chOff x="6683298" y="1689259"/>
            <a:chExt cx="4652799" cy="3378518"/>
          </a:xfrm>
        </p:grpSpPr>
        <p:sp>
          <p:nvSpPr>
            <p:cNvPr id="31" name="Freeform 31"/>
            <p:cNvSpPr/>
            <p:nvPr/>
          </p:nvSpPr>
          <p:spPr>
            <a:xfrm>
              <a:off x="7207568" y="1818322"/>
              <a:ext cx="3708082" cy="3144202"/>
            </a:xfrm>
            <a:custGeom>
              <a:avLst/>
              <a:gdLst/>
              <a:ahLst/>
              <a:cxnLst/>
              <a:rect l="l" t="t" r="r" b="b"/>
              <a:pathLst>
                <a:path w="3708082" h="3144202">
                  <a:moveTo>
                    <a:pt x="3642360" y="200025"/>
                  </a:moveTo>
                  <a:lnTo>
                    <a:pt x="3708082" y="545782"/>
                  </a:lnTo>
                  <a:lnTo>
                    <a:pt x="3547110" y="1026795"/>
                  </a:lnTo>
                  <a:lnTo>
                    <a:pt x="3184207" y="1571625"/>
                  </a:lnTo>
                  <a:lnTo>
                    <a:pt x="2664143" y="2117408"/>
                  </a:lnTo>
                  <a:lnTo>
                    <a:pt x="2041207" y="2598420"/>
                  </a:lnTo>
                  <a:lnTo>
                    <a:pt x="1397317" y="2957512"/>
                  </a:lnTo>
                  <a:lnTo>
                    <a:pt x="810577" y="3144202"/>
                  </a:lnTo>
                  <a:lnTo>
                    <a:pt x="347662" y="3144202"/>
                  </a:lnTo>
                  <a:lnTo>
                    <a:pt x="67627" y="2953702"/>
                  </a:lnTo>
                  <a:lnTo>
                    <a:pt x="0" y="2598420"/>
                  </a:lnTo>
                  <a:lnTo>
                    <a:pt x="160972" y="2117408"/>
                  </a:lnTo>
                  <a:lnTo>
                    <a:pt x="524827" y="1571625"/>
                  </a:lnTo>
                  <a:lnTo>
                    <a:pt x="1043940" y="1026795"/>
                  </a:lnTo>
                  <a:lnTo>
                    <a:pt x="1666875" y="545782"/>
                  </a:lnTo>
                  <a:lnTo>
                    <a:pt x="2310765" y="186690"/>
                  </a:lnTo>
                  <a:lnTo>
                    <a:pt x="2898457" y="0"/>
                  </a:lnTo>
                  <a:lnTo>
                    <a:pt x="3360420" y="0"/>
                  </a:lnTo>
                  <a:lnTo>
                    <a:pt x="3640455" y="190500"/>
                  </a:lnTo>
                  <a:lnTo>
                    <a:pt x="3640455" y="19050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664768" y="4610100"/>
              <a:ext cx="932497" cy="9525"/>
            </a:xfrm>
            <a:custGeom>
              <a:avLst/>
              <a:gdLst/>
              <a:ahLst/>
              <a:cxnLst/>
              <a:rect l="l" t="t" r="r" b="b"/>
              <a:pathLst>
                <a:path w="932497" h="9525">
                  <a:moveTo>
                    <a:pt x="0" y="0"/>
                  </a:moveTo>
                  <a:lnTo>
                    <a:pt x="932497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597265" y="4562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749665" y="3542348"/>
              <a:ext cx="9525" cy="1010603"/>
            </a:xfrm>
            <a:custGeom>
              <a:avLst/>
              <a:gdLst/>
              <a:ahLst/>
              <a:cxnLst/>
              <a:rect l="l" t="t" r="r" b="b"/>
              <a:pathLst>
                <a:path w="9525" h="1010603">
                  <a:moveTo>
                    <a:pt x="0" y="101060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702040" y="34470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806815" y="3389948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740265" y="33423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892665" y="2752725"/>
              <a:ext cx="9525" cy="580072"/>
            </a:xfrm>
            <a:custGeom>
              <a:avLst/>
              <a:gdLst/>
              <a:ahLst/>
              <a:cxnLst/>
              <a:rect l="l" t="t" r="r" b="b"/>
              <a:pathLst>
                <a:path w="9525" h="580072">
                  <a:moveTo>
                    <a:pt x="0" y="58007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845040" y="2657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318308" y="2600325"/>
              <a:ext cx="517207" cy="9525"/>
            </a:xfrm>
            <a:custGeom>
              <a:avLst/>
              <a:gdLst/>
              <a:ahLst/>
              <a:cxnLst/>
              <a:rect l="l" t="t" r="r" b="b"/>
              <a:pathLst>
                <a:path w="517207" h="9525">
                  <a:moveTo>
                    <a:pt x="51720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223058" y="25527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847070" y="20078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559992" y="456247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702040" y="456247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702040" y="334232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845040" y="334232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845040" y="255270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118282" y="255270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11465" y="4531995"/>
              <a:ext cx="5343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31501" y="4561046"/>
              <a:ext cx="495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 x₁ | x₂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482965" y="3921442"/>
              <a:ext cx="5343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02048" y="3951446"/>
              <a:ext cx="495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 x₂ | x₁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50523" y="484774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83298" y="168925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40435" y="4632484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π 的等高线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464618" y="5303520"/>
            <a:ext cx="5193982" cy="1059180"/>
            <a:chOff x="6464618" y="5303520"/>
            <a:chExt cx="5193982" cy="1059180"/>
          </a:xfrm>
        </p:grpSpPr>
        <p:sp>
          <p:nvSpPr>
            <p:cNvPr id="57" name="Rectangle 57"/>
            <p:cNvSpPr/>
            <p:nvPr/>
          </p:nvSpPr>
          <p:spPr>
            <a:xfrm>
              <a:off x="6464618" y="530352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5733098"/>
              <a:ext cx="200026" cy="200026"/>
              <a:chOff x="6669405" y="573309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57330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69418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58305" y="58331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1348" y="545211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每次只沿一个坐标轴方向移动，路径呈阶梯形。两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个坐标高度相关时，阶梯很短，链要走很多步才能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走遍整个分布。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2972" cy="909257"/>
            <a:chOff x="520446" y="342900"/>
            <a:chExt cx="84729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29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二维正态分布的 Gibbs 抽样：两个条件分布仍是正态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733550"/>
            <a:chOff x="533400" y="1524000"/>
            <a:chExt cx="5193982" cy="17335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11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一个二维正态分布 N(μ, Σ)，其中 μ = (μ₁, μ₂) = (5, −1)，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09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782502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Sup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ρ</m:t>
                                  </m:r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ρ</m:t>
                                  </m:r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Sup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860358"/>
              <a:ext cx="2421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σ₁ = 1、σ₂ = 2、ρ = 0.5。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427095"/>
            <a:ext cx="5193982" cy="2714625"/>
            <a:chOff x="533400" y="3427095"/>
            <a:chExt cx="5193982" cy="2714625"/>
          </a:xfrm>
        </p:grpSpPr>
        <p:sp>
          <p:nvSpPr>
            <p:cNvPr id="15" name="Rectangle 15"/>
            <p:cNvSpPr/>
            <p:nvPr/>
          </p:nvSpPr>
          <p:spPr>
            <a:xfrm>
              <a:off x="533400" y="3427095"/>
              <a:ext cx="5193982" cy="2714625"/>
            </a:xfrm>
            <a:prstGeom prst="roundRect">
              <a:avLst>
                <a:gd name="adj" fmla="val 49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60445"/>
              <a:ext cx="47625" cy="24479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6137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2" y="36466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3958590"/>
              <a:ext cx="455714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原课件把条件均值的系数写成 ρσ₁σ₂，应为 ρσ₁/σ₂（和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ρσ₂/σ₁）。本例中第二式恰好 ρσ₂/σ₁ = ρσ₁σ₂ = 1，第一式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应是 0.25 而不是 1。原课件给出的代码用的正是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rho*s1/s2，与更正一致。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032182" y="1524000"/>
            <a:ext cx="5626418" cy="2176462"/>
            <a:chOff x="6032182" y="1524000"/>
            <a:chExt cx="5626418" cy="2176462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2176462"/>
            </a:xfrm>
            <a:prstGeom prst="roundRect">
              <a:avLst>
                <a:gd name="adj" fmla="val 612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18872" y="171069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5090" y="1743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状态转移的条件分布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210"/>
                <p:cNvSpPr txBox="1">
                  <a:spLocks noGrp="1"/>
                </p:cNvSpPr>
                <p:nvPr/>
              </p:nvSpPr>
              <p:spPr>
                <a:xfrm>
                  <a:off x="6218872" y="2032635"/>
                  <a:ext cx="525303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211"/>
                <p:cNvSpPr txBox="1">
                  <a:spLocks noGrp="1"/>
                </p:cNvSpPr>
                <p:nvPr/>
              </p:nvSpPr>
              <p:spPr>
                <a:xfrm>
                  <a:off x="6218872" y="2527935"/>
                  <a:ext cx="525303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212014" y="3045142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代入数据：x₁ | x₂ ~ N(5 + 0.25(x₂ + 1), 0.75)，x₂ | x₁ ~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N(−1 + (x₁ − 5), 3)。</a:t>
              </a:r>
            </a:p>
          </p:txBody>
        </p:sp>
      </p:grpSp>
      <p:grpSp>
        <p:nvGrpSpPr>
          <p:cNvPr id="45" name="c2-steps-2"/>
          <p:cNvGrpSpPr/>
          <p:nvPr/>
        </p:nvGrpSpPr>
        <p:grpSpPr>
          <a:xfrm>
            <a:off x="6032182" y="3879532"/>
            <a:ext cx="4421617" cy="2268380"/>
            <a:chOff x="6032182" y="3879532"/>
            <a:chExt cx="4421617" cy="2268380"/>
          </a:xfrm>
        </p:grpSpPr>
        <p:sp>
          <p:nvSpPr>
            <p:cNvPr id="28" name="Rectangle 28"/>
            <p:cNvSpPr/>
            <p:nvPr/>
          </p:nvSpPr>
          <p:spPr>
            <a:xfrm>
              <a:off x="6165532" y="4022408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032182" y="38795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39533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44624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45362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32182" y="50453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25806" y="51192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32182" y="56283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25806" y="57021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424" y="39119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取初值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5567" y="4179094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μ₂ = −1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4424" y="4494848"/>
              <a:ext cx="462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 x₁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5567" y="4762024"/>
              <a:ext cx="2277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~ N(5 + 0.25(x₂ + 1), 0.75)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4424" y="5077778"/>
              <a:ext cx="462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 x₂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5567" y="5344954"/>
              <a:ext cx="1770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~ N(−1 + (x₁ − 5), 3)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4424" y="566070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5567" y="5927884"/>
              <a:ext cx="4008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20000 轮，丢掉前 1000 轮，其余点作为 N(μ, Σ) 的样本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89375" cy="909257"/>
            <a:chOff x="520446" y="342900"/>
            <a:chExt cx="94893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89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 Gibbs 的 R 实现：均值、标准差与相关系数都还原了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733675"/>
            <a:chOff x="533400" y="1524000"/>
            <a:chExt cx="5842635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688334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m1 &lt;- 5; m2 &lt;- -1; s1 &lt;- 1; s2 &lt;- 2; rho &lt;- 0.5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&lt;- 20000; res &lt;- matrix(0, N, 2); y &lt;- m2</a:t>
              </a:r>
              <a:br/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rnorm(1, m1 + rho * s1 / s2 * (y - m2),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sqrt(1 - rho^2) * s1)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y &lt;- rnorm(1, m2 + rho * s2 / s1 * (x - m1),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sqrt(1 - rho^2) * s2)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res[i, ] &lt;- c(x, y)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res &lt;- res[-(1:1000), ]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丢掉燃烧期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colMeans(res); cor(res)[1, 2]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448175"/>
            <a:ext cx="5842635" cy="1316355"/>
            <a:chOff x="533400" y="4448175"/>
            <a:chExt cx="5842635" cy="1316355"/>
          </a:xfrm>
        </p:grpSpPr>
        <p:sp>
          <p:nvSpPr>
            <p:cNvPr id="11" name="Rectangle 11"/>
            <p:cNvSpPr/>
            <p:nvPr/>
          </p:nvSpPr>
          <p:spPr>
            <a:xfrm>
              <a:off x="533400" y="4448175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4657725"/>
              <a:ext cx="176593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5467" y="4693444"/>
              <a:ext cx="1660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为什么要丢掉前 1000 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5034915"/>
              <a:ext cx="5149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链从 x₂ = −1 这一点出发，开头若干轮还带着初值的痕迹；丢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掉这段“燃烧期”之后，剩下的点才近似服从目标分布。</a:t>
              </a:r>
            </a:p>
          </p:txBody>
        </p:sp>
      </p:grpSp>
      <p:grpSp>
        <p:nvGrpSpPr>
          <p:cNvPr id="36" name="c2-table-1"/>
          <p:cNvGrpSpPr/>
          <p:nvPr/>
        </p:nvGrpSpPr>
        <p:grpSpPr>
          <a:xfrm>
            <a:off x="6675120" y="1524000"/>
            <a:ext cx="4983480" cy="2091214"/>
            <a:chOff x="6675120" y="1524000"/>
            <a:chExt cx="4983480" cy="2091214"/>
          </a:xfrm>
        </p:grpSpPr>
        <p:sp>
          <p:nvSpPr>
            <p:cNvPr id="16" name="Rectangle 16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04506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0028" y="1659731"/>
              <a:ext cx="869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Gibbs 样本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3261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88658" y="2108359"/>
              <a:ext cx="896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x₁, E x₂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18801" y="2108359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5.00, −1.00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75696" y="2108359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−1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80835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8658" y="2556986"/>
              <a:ext cx="1071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 x₁, sd x₂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66187" y="2556986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1.01, 1.99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3082" y="2556986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80835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8658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81579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48929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0868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33272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75120" y="3395186"/>
              <a:ext cx="3748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 20000 次、丢掉前 1000 次的结果（Python 复算）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680835" y="3761422"/>
            <a:ext cx="4977765" cy="1059180"/>
            <a:chOff x="6680835" y="3761422"/>
            <a:chExt cx="4977765" cy="1059180"/>
          </a:xfrm>
        </p:grpSpPr>
        <p:sp>
          <p:nvSpPr>
            <p:cNvPr id="37" name="Rectangle 37"/>
            <p:cNvSpPr/>
            <p:nvPr/>
          </p:nvSpPr>
          <p:spPr>
            <a:xfrm>
              <a:off x="6680835" y="3761422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885623" y="4191000"/>
              <a:ext cx="200026" cy="200026"/>
              <a:chOff x="6885623" y="419100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885623" y="41910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985635" y="4257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74523" y="42910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187565" y="3910012"/>
              <a:ext cx="4082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Gibbs 样本前后相关，20000 个样本的信息量不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20000 个独立样本；要估计蒙特卡罗误差，可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以把样本分批后对批均值求标准差。</a:t>
              </a:r>
            </a:p>
          </p:txBody>
        </p:sp>
      </p:grpSp>
      <p:grpSp>
        <p:nvGrpSpPr>
          <p:cNvPr id="45" name="c2-text-3"/>
          <p:cNvGrpSpPr/>
          <p:nvPr/>
        </p:nvGrpSpPr>
        <p:grpSpPr>
          <a:xfrm>
            <a:off x="6674358" y="5031581"/>
            <a:ext cx="4645914" cy="500824"/>
            <a:chOff x="6674358" y="5031581"/>
            <a:chExt cx="4645914" cy="500824"/>
          </a:xfrm>
        </p:grpSpPr>
        <p:sp>
          <p:nvSpPr>
            <p:cNvPr id="44" name="TextBox 44"/>
            <p:cNvSpPr txBox="1"/>
            <p:nvPr/>
          </p:nvSpPr>
          <p:spPr>
            <a:xfrm>
              <a:off x="6674358" y="5031581"/>
              <a:ext cx="46459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 ρ = 0.5 不算大，链走得开；ρ 接近 ±1 时阶梯很短，需要更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多轮数。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7026" cy="909257"/>
            <a:chOff x="520446" y="342900"/>
            <a:chExt cx="85770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70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19.5 Beta-二项分布：联合分布难抽，条件分布好抽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12658"/>
            <a:chOff x="533400" y="1524000"/>
            <a:chExt cx="5410200" cy="2212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12658"/>
            </a:xfrm>
            <a:prstGeom prst="roundRect">
              <a:avLst>
                <a:gd name="adj" fmla="val 60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45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6103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636" y="1743551"/>
              <a:ext cx="4881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19.5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设目标分布为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15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998720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∝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825115"/>
              <a:ext cx="47628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X | Y ~ B(n, y)，Y | X ~ Beta(x + α, n − x + β)，易见 Y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边缘分布为 Beta(α, β)。用 Gibbs 抽样模拟生成 (X, Y) 的样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本链。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28447" y="3906202"/>
            <a:ext cx="5415153" cy="2264759"/>
            <a:chOff x="528447" y="3906202"/>
            <a:chExt cx="5415153" cy="2264759"/>
          </a:xfrm>
        </p:grpSpPr>
        <p:sp>
          <p:nvSpPr>
            <p:cNvPr id="15" name="Rectangle 15"/>
            <p:cNvSpPr/>
            <p:nvPr/>
          </p:nvSpPr>
          <p:spPr>
            <a:xfrm>
              <a:off x="533400" y="3906202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53338" y="402764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0666" y="4027646"/>
              <a:ext cx="761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Gibbs 样本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73486" y="40276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0555" y="442769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88273" y="44276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70164" y="4427696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α/(α + β) = 0.333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7015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70630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827746"/>
              <a:ext cx="41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 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6810" y="482774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0.0321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0870" y="482774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0.0317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1015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522779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29736" y="52277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70164" y="5227796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nα/(α + β) = 5.33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5016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50640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5627846"/>
              <a:ext cx="41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 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8273" y="562784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11.31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92333" y="562784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11.17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906202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930718" y="390620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662362" y="390620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47" y="5980271"/>
              <a:ext cx="4414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n = 16、α = 2、β = 4，迭代 60000 次、丢掉前 1000 次（Python 复算）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248400" y="1524000"/>
            <a:ext cx="5410200" cy="2088832"/>
            <a:chOff x="6248400" y="1524000"/>
            <a:chExt cx="5410200" cy="2088832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6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6797" y="1935956"/>
              <a:ext cx="3090291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&lt;- 16; a &lt;- 2; b &lt;- 4; N &lt;- 10000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numeric(N); Y &lt;- numeric(N); y &lt;- 0.5</a:t>
              </a:r>
              <a:br/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rbinom(1, n, y) 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X | Y = y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y &lt;- rbeta(1, x + a, n - x + b)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Y | X = x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X[t] &lt;- x; Y[t] &lt;- y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mean(Y[-(1:1000)])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1/3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mean(X[-(1:1000)])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16/3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248400" y="3782378"/>
            <a:ext cx="5410200" cy="978218"/>
            <a:chOff x="6248400" y="3782378"/>
            <a:chExt cx="5410200" cy="978218"/>
          </a:xfrm>
        </p:grpSpPr>
        <p:sp>
          <p:nvSpPr>
            <p:cNvPr id="45" name="Rectangle 45"/>
            <p:cNvSpPr/>
            <p:nvPr/>
          </p:nvSpPr>
          <p:spPr>
            <a:xfrm>
              <a:off x="6248400" y="3782378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4171952"/>
              <a:ext cx="200023" cy="200023"/>
              <a:chOff x="6453188" y="4171952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41719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86538" y="4238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892" y="3929062"/>
              <a:ext cx="445427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的边缘分布是 Beta-二项分布，写出它的概率质量函数要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Gamma 函数；用 Gibbs 抽样只要会抽二项和 Beta 随机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248400" y="4930140"/>
            <a:ext cx="5410200" cy="1202055"/>
            <a:chOff x="6248400" y="4930140"/>
            <a:chExt cx="5410200" cy="1202055"/>
          </a:xfrm>
        </p:grpSpPr>
        <p:sp>
          <p:nvSpPr>
            <p:cNvPr id="51" name="Rectangle 51"/>
            <p:cNvSpPr/>
            <p:nvPr/>
          </p:nvSpPr>
          <p:spPr>
            <a:xfrm>
              <a:off x="6248400" y="4930140"/>
              <a:ext cx="5410200" cy="1202055"/>
            </a:xfrm>
            <a:prstGeom prst="roundRect">
              <a:avLst>
                <a:gd name="adj" fmla="val 950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431155"/>
              <a:ext cx="200026" cy="200026"/>
              <a:chOff x="6453188" y="5431155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4311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3200" y="54978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2088" y="55311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892" y="5313045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这类“条件分布是标准分布、联合分布却不好抽”的结构，在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贝叶斯层次模型里很常见，是 Gibbs 抽样的主要用武之地。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65952" cy="909257"/>
            <a:chOff x="520446" y="342900"/>
            <a:chExt cx="51659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65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多维 Gibbs：系统扫描与随机扫描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375535"/>
            <a:chOff x="533400" y="1524000"/>
            <a:chExt cx="5410200" cy="23755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75535"/>
            </a:xfrm>
            <a:prstGeom prst="roundRect">
              <a:avLst>
                <a:gd name="adj" fmla="val 561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81070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0849" y="1769269"/>
              <a:ext cx="1713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系统扫描 Gibbs 抽样算法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π(x) 的取值区域任意取一个初值 X⁽⁰⁾。对 t = 0 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− 1，依次对 i = 1 到 n，从条件分布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17"/>
                <p:cNvSpPr txBox="1">
                  <a:spLocks noGrp="1"/>
                </p:cNvSpPr>
                <p:nvPr/>
              </p:nvSpPr>
              <p:spPr>
                <a:xfrm>
                  <a:off x="742950" y="2707005"/>
                  <a:ext cx="49911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35330" y="3169920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 Xᵢ*（已更新的分量用新值，未更新的用旧值）；一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轮结束后令 X⁽ᵗ⁺¹⁾ = (X₁*, …, Xₙ*)。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090035"/>
            <a:ext cx="5410200" cy="2132648"/>
            <a:chOff x="533400" y="4090035"/>
            <a:chExt cx="5410200" cy="2132648"/>
          </a:xfrm>
        </p:grpSpPr>
        <p:sp>
          <p:nvSpPr>
            <p:cNvPr id="14" name="Rectangle 14"/>
            <p:cNvSpPr/>
            <p:nvPr/>
          </p:nvSpPr>
          <p:spPr>
            <a:xfrm>
              <a:off x="533400" y="4090035"/>
              <a:ext cx="5410200" cy="2132648"/>
            </a:xfrm>
            <a:prstGeom prst="roundRect">
              <a:avLst>
                <a:gd name="adj" fmla="val 62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4299585"/>
              <a:ext cx="181070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849" y="4335304"/>
              <a:ext cx="1713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随机扫描 Gibbs 抽样算法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676775"/>
              <a:ext cx="47967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π(x) 的取值区域任意取一个初值 X⁽⁰⁾。对 t = 0 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− 1，按事先给定的概率 α = (α₁, …, αₙ) 随机抽取下标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i，从条件分布 p(xᵢ | X₍₋ᵢ₎⁽ᵗ⁾) 抽取 Xᵢ*，其余分量保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持不变。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248400" y="1524000"/>
            <a:ext cx="5410200" cy="2475548"/>
            <a:chOff x="6248400" y="1524000"/>
            <a:chExt cx="5410200" cy="2475548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92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4515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提议分布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2098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接受率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416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适用场景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6223" y="2108359"/>
              <a:ext cx="9944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Metropolis-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Hastings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54480" y="2221706"/>
              <a:ext cx="72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任选的 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52738" y="2221706"/>
              <a:ext cx="814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min{·, 1}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34778" y="222170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只会算 π 的比值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6223" y="2783681"/>
              <a:ext cx="90053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随机游动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Metropolis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54480" y="2783681"/>
              <a:ext cx="9558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对称的 g(y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52738" y="2783681"/>
              <a:ext cx="8094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min{π(y)/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π(x), 1}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34778" y="278368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连续分布，调步长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6223" y="3572351"/>
              <a:ext cx="470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Gibbs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54480" y="3459004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各分量的条件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52738" y="357235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34778" y="35723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条件分布容易抽样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4189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84015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2219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2"/>
          <p:cNvGrpSpPr/>
          <p:nvPr/>
        </p:nvGrpSpPr>
        <p:grpSpPr>
          <a:xfrm>
            <a:off x="6248400" y="4190048"/>
            <a:ext cx="5410200" cy="782955"/>
            <a:chOff x="6248400" y="4190048"/>
            <a:chExt cx="5410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6248400" y="419004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4481513"/>
              <a:ext cx="200026" cy="200025"/>
              <a:chOff x="6453188" y="448151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53188" y="44815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92926" y="45259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27642" y="46370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130" y="433863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系统扫描每轮更新全部分量，随机扫描每轮只更新一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个；两者都以 π 为平稳分布。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248400" y="5163502"/>
            <a:ext cx="5410200" cy="1059180"/>
            <a:chOff x="6248400" y="5163502"/>
            <a:chExt cx="5410200" cy="1059180"/>
          </a:xfrm>
        </p:grpSpPr>
        <p:sp>
          <p:nvSpPr>
            <p:cNvPr id="51" name="Rectangle 51"/>
            <p:cNvSpPr/>
            <p:nvPr/>
          </p:nvSpPr>
          <p:spPr>
            <a:xfrm>
              <a:off x="6248400" y="5163502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593080"/>
              <a:ext cx="200026" cy="200026"/>
              <a:chOff x="6453188" y="559308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5930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3200" y="56597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2088" y="56930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5312092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分量之间相关性很强时，可以把它们分成组、一组一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组地抽（块 Gibbs），或者先做线性变换让分量接近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独立，链会混合得快很多。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38032" cy="909257"/>
            <a:chOff x="520446" y="342900"/>
            <a:chExt cx="2538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250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201" y="407194"/>
              <a:ext cx="2456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 · 3.8 MCMC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5549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两状态链 P = [[0.9, 0.1], [0.5, 0.5]] 的平稳分布是什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766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0.1π₁ = 0.5π₂ 和 π₁ + π₂ = 1 得 π = (5/6, 1/6)。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228725"/>
            <a:chOff x="533400" y="3179445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4879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事件模拟估计 ER 时，为什么要丢掉预热期 T₀ 之前的顾客？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模拟从空系统开始，早到的顾客几乎不排队，不代表稳态。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78668"/>
            <a:ext cx="5410200" cy="1743075"/>
            <a:chOff x="533400" y="4578668"/>
            <a:chExt cx="5410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533400" y="457866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109210"/>
              <a:ext cx="46895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π(x) ∝ e^(−|x|)，随机游动 Metropolis 当前 x = 1，提议 y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2.5，接受概率？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520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min{1, e^(−2.5)/e^(−1)} = e^(−1.5) ≈ 0.223。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28725"/>
            <a:chOff x="6248400" y="1524000"/>
            <a:chExt cx="5410200" cy="122872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50413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中 λ = 6、μ = 8（人/小时），求 ρ、P₀、EN 与 ER。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6144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0.75，P₀ = 0.25，EN = 3 人，ER = 0.5 小时。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22270"/>
            <a:ext cx="5410200" cy="1743075"/>
            <a:chOff x="6248400" y="2922270"/>
            <a:chExt cx="5410200" cy="1743075"/>
          </a:xfrm>
        </p:grpSpPr>
        <p:sp>
          <p:nvSpPr>
            <p:cNvPr id="31" name="Rectangle 31"/>
            <p:cNvSpPr/>
            <p:nvPr/>
          </p:nvSpPr>
          <p:spPr>
            <a:xfrm>
              <a:off x="6248400" y="2922270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1089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1418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453765"/>
              <a:ext cx="470073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(1, 3, 8) 的 bootstrap 样本共多少种？中位数取 8 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 种；至少两个 8，概率 3 × (1/3)²(2/3) + (1/3)³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7/27。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3098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Gibbs 抽样的接受率是多少？为什么？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1：它是 M-H 的特例，提议分布就是条件分布，比值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1。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686496" cy="909257"/>
            <a:chOff x="520446" y="342900"/>
            <a:chExt cx="16864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735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165" y="407194"/>
              <a:ext cx="150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随机模拟（下）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4478"/>
            <a:ext cx="5720906" cy="3104388"/>
            <a:chOff x="533400" y="1534478"/>
            <a:chExt cx="5720906" cy="3104388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53029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马氏链由 P 决定；有限、不可约、非周期时 Pⁿ 收敛，极限分布即平稳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 πP = 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0026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138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111692"/>
              <a:ext cx="54401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排队系统由输入过程、排队规则、服务机构刻画，用 X/Y/Z/A/B/C 记号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6604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677477"/>
              <a:ext cx="4698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稳态分布 Pₖ = ρᵏ(1 − ρ)，由它得队长与滞留时间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974657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0130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986088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事件模拟只在事件发生时推进时钟，用理论值检验程序，用预热期去初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值影响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54044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35788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3551872"/>
              <a:ext cx="53715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 用样本代替总体重抽样，估计标准误、偏差、均方误差与置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信区间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106227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9078" y="41446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197" y="4117658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MCMC 构造以 π 为平稳分布的链：M-H 用接受率修正提议，Gibbs 按条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件分布逐分量更新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4755832"/>
            <a:ext cx="5951220" cy="1600200"/>
            <a:chOff x="533400" y="4755832"/>
            <a:chExt cx="5951220" cy="1600200"/>
          </a:xfrm>
        </p:grpSpPr>
        <p:sp>
          <p:nvSpPr>
            <p:cNvPr id="26" name="Rectangle 26"/>
            <p:cNvSpPr/>
            <p:nvPr/>
          </p:nvSpPr>
          <p:spPr>
            <a:xfrm>
              <a:off x="533400" y="4755832"/>
              <a:ext cx="59512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8629" y="48772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公式速查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69626" y="48772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0555" y="5277326"/>
              <a:ext cx="8900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稳态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5540" y="5277326"/>
              <a:ext cx="3419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 = ρᵏ(1 − ρ)，EN = u/(1 − u)，ER = 1/(μ − λ)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55117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555932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5677376"/>
              <a:ext cx="808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Little 公式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15540" y="5677376"/>
              <a:ext cx="2997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λW，Lq = λWq；平方根配置 k ≈ R + c√R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9512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6077426"/>
              <a:ext cx="823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M-H 接受率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15540" y="6077426"/>
              <a:ext cx="2648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min{π(j)Q(j,i)/(π(i)Q(i,j)), 1}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755832"/>
              <a:ext cx="595122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13622" y="475583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6789420" y="1524000"/>
            <a:ext cx="4869180" cy="3715702"/>
            <a:chOff x="6789420" y="1524000"/>
            <a:chExt cx="4869180" cy="3715702"/>
          </a:xfrm>
        </p:grpSpPr>
        <p:sp>
          <p:nvSpPr>
            <p:cNvPr id="41" name="Rectangle 41"/>
            <p:cNvSpPr/>
            <p:nvPr/>
          </p:nvSpPr>
          <p:spPr>
            <a:xfrm>
              <a:off x="6789420" y="1524000"/>
              <a:ext cx="4869180" cy="3715702"/>
            </a:xfrm>
            <a:prstGeom prst="roundRect">
              <a:avLst>
                <a:gd name="adj" fmla="val 3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98945" y="1657350"/>
              <a:ext cx="47625" cy="34490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14210" y="1710690"/>
              <a:ext cx="24498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46824" y="1743551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本讲义对原课件的更正（括号内为页码）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2278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78802" y="2054542"/>
              <a:ext cx="40427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M/M/1 推导中 Pₖ(t) 的含义与来路（18）、1/(sμ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λ) 的含义（23）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022782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8802" y="2612708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事件模拟中 ER 的顾客集合（28）、医院程序的变量名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（31）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22782" y="32261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78802" y="316992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的中位数漏除以 2（40）、例 3 的 B = 10000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（41）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022782" y="37833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78802" y="3727132"/>
              <a:ext cx="3514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bootstrap-t 的 k₂ = [B(1 − α/2)]（43）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022782" y="408336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78802" y="4027170"/>
              <a:ext cx="396563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Hardy-Weinberg 区间 (1.83, 1.92) 应为 (0.407,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0.442)（46）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22782" y="464058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78802" y="4584382"/>
              <a:ext cx="39999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马氏链迭代表第 8 行（48）、二维正态条件均值系数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ρσ₁/σ₂（58）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789420" y="5409248"/>
            <a:ext cx="4869180" cy="946785"/>
            <a:chOff x="6789420" y="5409248"/>
            <a:chExt cx="4869180" cy="946785"/>
          </a:xfrm>
        </p:grpSpPr>
        <p:sp>
          <p:nvSpPr>
            <p:cNvPr id="58" name="Rectangle 58"/>
            <p:cNvSpPr/>
            <p:nvPr/>
          </p:nvSpPr>
          <p:spPr>
            <a:xfrm>
              <a:off x="6789420" y="5409248"/>
              <a:ext cx="4869180" cy="946785"/>
            </a:xfrm>
            <a:prstGeom prst="roundRect">
              <a:avLst>
                <a:gd name="adj" fmla="val 1207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994208" y="5782630"/>
              <a:ext cx="200023" cy="200023"/>
              <a:chOff x="6994208" y="578263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994208" y="57826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127558" y="58493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296912" y="5664518"/>
              <a:ext cx="387991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动手复习：解一次 πP = π、模拟一次 M/M/1、做一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 bootstrap 区间、写一段 Metropolis。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随机模拟（下）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atc_ch3b">
  <a:themeElements>
    <a:clrScheme name="statc_ch3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tc_ch3b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tc_ch3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2026-09-19T03:02:40Z</dcterms:created>
  <dcterms:modified xsi:type="dcterms:W3CDTF">2026-09-19T03:02:40Z</dcterms:modified>
  <cp:category/>
  <cp:contentStatus/>
</cp:coreProperties>
</file>