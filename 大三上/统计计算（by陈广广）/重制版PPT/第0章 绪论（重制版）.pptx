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tatc_ch0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tatc_ch0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73e6f9298ad39b8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058a9957a52f2af.png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90e6c57ae5525e71.png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3715055" cy="3437763"/>
            <a:chOff x="666750" y="1619250"/>
            <a:chExt cx="3715055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529715" cy="3429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5751" y="1718310"/>
              <a:ext cx="1269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统计计算 · 第0章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116890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绪论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7051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统计计算、统计模拟与 R 语言入门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课程定位与参考书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统计模拟的概念与步骤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20343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Monte Carlo 与投针实验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4423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 语言与 RStudio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696454" cy="205359"/>
            <a:chOff x="680466" y="6192202"/>
            <a:chExt cx="4696454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696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自学复习版｜据吉林大学《统计计算》绪论及课程介绍课件整理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6297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9866" y="407194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第0章 绪论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课程导引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课程特点、先修课程、学习目标、考核与参考书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8042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 统计计算概述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统计学的意义、统计研究的环节、统计计算的任务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24706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 主要内容与统计模拟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课程内容框架，统计模拟的概念、分类与一般步骤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8880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Monte Carlo 方法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名字由来、简史、投针实验、定积分、组成部分与误差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随机数在模拟中的位置、产生方法的历史、平方取中法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3600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 统计软件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555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常用软件、R 的包与帮助、回归作图、RStudio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说出统计模拟的一般步骤，并画出流程图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50888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446020"/>
              <a:ext cx="36156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推导 Buffon 投针的相交概率，并据此估计</a:t>
              </a:r>
              <a:br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12991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06705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用随机投点法和平均值法估计定积分，比较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两者的标准误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375094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688080"/>
              <a:ext cx="36947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 Monte Carlo 误差为何按 1/√n 下降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08622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023360"/>
              <a:ext cx="3663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R 中安装、载入包，查帮助，画散点图和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回归直线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第0章 绪论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135499" cy="2997517"/>
            <a:chOff x="667512" y="1835468"/>
            <a:chExt cx="5135499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课程导引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这门课学什么、需要什么基础、怎样考核、看哪些书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课程特点与先修课程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学习目标与考核方式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教材与参考书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第0章 绪论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第0章 绪论 · 课程导引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统计计算站在数理统计、数值计算和计算机的交汇处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graph-1"/>
          <p:cNvGrpSpPr/>
          <p:nvPr/>
        </p:nvGrpSpPr>
        <p:grpSpPr>
          <a:xfrm>
            <a:off x="563880" y="1837372"/>
            <a:ext cx="4267200" cy="4357688"/>
            <a:chOff x="563880" y="1837372"/>
            <a:chExt cx="4267200" cy="4357688"/>
          </a:xfrm>
        </p:grpSpPr>
        <p:sp>
          <p:nvSpPr>
            <p:cNvPr id="7" name="Freeform 7"/>
            <p:cNvSpPr/>
            <p:nvPr/>
          </p:nvSpPr>
          <p:spPr>
            <a:xfrm>
              <a:off x="2697480" y="2275522"/>
              <a:ext cx="9525" cy="1309687"/>
            </a:xfrm>
            <a:custGeom>
              <a:avLst/>
              <a:gdLst/>
              <a:ahLst/>
              <a:cxnLst/>
              <a:rect l="l" t="t" r="r" b="b"/>
              <a:pathLst>
                <a:path w="9525" h="1309687">
                  <a:moveTo>
                    <a:pt x="0" y="0"/>
                  </a:moveTo>
                  <a:lnTo>
                    <a:pt x="0" y="130968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649855" y="358521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367790" y="4643438"/>
              <a:ext cx="942022" cy="1113472"/>
            </a:xfrm>
            <a:custGeom>
              <a:avLst/>
              <a:gdLst/>
              <a:ahLst/>
              <a:cxnLst/>
              <a:rect l="l" t="t" r="r" b="b"/>
              <a:pathLst>
                <a:path w="942022" h="1113472">
                  <a:moveTo>
                    <a:pt x="0" y="1113472"/>
                  </a:moveTo>
                  <a:lnTo>
                    <a:pt x="94202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273618" y="4571048"/>
              <a:ext cx="98108" cy="102870"/>
            </a:xfrm>
            <a:custGeom>
              <a:avLst/>
              <a:gdLst/>
              <a:ahLst/>
              <a:cxnLst/>
              <a:rect l="l" t="t" r="r" b="b"/>
              <a:pathLst>
                <a:path w="98108" h="102870">
                  <a:moveTo>
                    <a:pt x="98108" y="0"/>
                  </a:moveTo>
                  <a:lnTo>
                    <a:pt x="72390" y="102870"/>
                  </a:lnTo>
                  <a:lnTo>
                    <a:pt x="0" y="4191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085148" y="4643438"/>
              <a:ext cx="942023" cy="1113472"/>
            </a:xfrm>
            <a:custGeom>
              <a:avLst/>
              <a:gdLst/>
              <a:ahLst/>
              <a:cxnLst/>
              <a:rect l="l" t="t" r="r" b="b"/>
              <a:pathLst>
                <a:path w="942023" h="1113472">
                  <a:moveTo>
                    <a:pt x="942023" y="111347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023235" y="4571048"/>
              <a:ext cx="98108" cy="102870"/>
            </a:xfrm>
            <a:custGeom>
              <a:avLst/>
              <a:gdLst/>
              <a:ahLst/>
              <a:cxnLst/>
              <a:rect l="l" t="t" r="r" b="b"/>
              <a:pathLst>
                <a:path w="98108" h="102870">
                  <a:moveTo>
                    <a:pt x="0" y="0"/>
                  </a:moveTo>
                  <a:lnTo>
                    <a:pt x="98108" y="41910"/>
                  </a:lnTo>
                  <a:lnTo>
                    <a:pt x="25718" y="10287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2202180" y="3689985"/>
              <a:ext cx="990600" cy="990600"/>
            </a:xfrm>
            <a:prstGeom prst="ellipse">
              <a:avLst/>
            </a:prstGeom>
            <a:solidFill>
              <a:srgbClr val="2E7D4F"/>
            </a:solidFill>
            <a:ln w="17145">
              <a:solidFill>
                <a:srgbClr val="2E7D4F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2078355" y="1837372"/>
              <a:ext cx="123825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7145">
              <a:solidFill>
                <a:srgbClr val="2E7D4F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63880" y="5756910"/>
              <a:ext cx="123825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7145">
              <a:solidFill>
                <a:srgbClr val="2E7D4F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592830" y="5756910"/>
              <a:ext cx="123825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7145">
              <a:solidFill>
                <a:srgbClr val="2E7D4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368296" y="411099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统计计算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68296" y="19812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数理统计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53821" y="590073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数值计算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963543" y="590073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534602" y="2885122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560599" y="291988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基础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706880" y="5071110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732877" y="51049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指导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362325" y="5071110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388322" y="51049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实现</a:t>
              </a:r>
            </a:p>
          </p:txBody>
        </p:sp>
      </p:grpSp>
      <p:grpSp>
        <p:nvGrpSpPr>
          <p:cNvPr id="33" name="c2-card-1"/>
          <p:cNvGrpSpPr/>
          <p:nvPr/>
        </p:nvGrpSpPr>
        <p:grpSpPr>
          <a:xfrm>
            <a:off x="5166360" y="1524000"/>
            <a:ext cx="6492240" cy="1316355"/>
            <a:chOff x="5166360" y="1524000"/>
            <a:chExt cx="6492240" cy="1316355"/>
          </a:xfrm>
        </p:grpSpPr>
        <p:sp>
          <p:nvSpPr>
            <p:cNvPr id="28" name="Rectangle 28"/>
            <p:cNvSpPr/>
            <p:nvPr/>
          </p:nvSpPr>
          <p:spPr>
            <a:xfrm>
              <a:off x="5166360" y="1524000"/>
              <a:ext cx="649224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175885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14010" y="173355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478615" y="176926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以数理统计为基础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406390" y="2110740"/>
              <a:ext cx="5730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用回归分析、多元分析、时间序列分析等统计方法解决实际问题，并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解决应用中出现的计算问题。</a:t>
              </a:r>
            </a:p>
          </p:txBody>
        </p:sp>
      </p:grpSp>
      <p:grpSp>
        <p:nvGrpSpPr>
          <p:cNvPr id="39" name="c2-card-2"/>
          <p:cNvGrpSpPr/>
          <p:nvPr/>
        </p:nvGrpSpPr>
        <p:grpSpPr>
          <a:xfrm>
            <a:off x="5166360" y="3030855"/>
            <a:ext cx="6492240" cy="1316355"/>
            <a:chOff x="5166360" y="3030855"/>
            <a:chExt cx="6492240" cy="1316355"/>
          </a:xfrm>
        </p:grpSpPr>
        <p:sp>
          <p:nvSpPr>
            <p:cNvPr id="34" name="Rectangle 34"/>
            <p:cNvSpPr/>
            <p:nvPr/>
          </p:nvSpPr>
          <p:spPr>
            <a:xfrm>
              <a:off x="5166360" y="3030855"/>
              <a:ext cx="649224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175885" y="3164205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414010" y="3240405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470716" y="327612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以数值计算理论为指导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406390" y="3617595"/>
              <a:ext cx="5730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例：计算分布函数要做积分的近似计算，会用到等距内插求积公式、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高斯型求积公式、有理函数逼近、连分式逼近等方法。</a:t>
              </a:r>
            </a:p>
          </p:txBody>
        </p:sp>
      </p:grpSp>
      <p:grpSp>
        <p:nvGrpSpPr>
          <p:cNvPr id="48" name="c2-card-3"/>
          <p:cNvGrpSpPr/>
          <p:nvPr/>
        </p:nvGrpSpPr>
        <p:grpSpPr>
          <a:xfrm>
            <a:off x="5166360" y="4537710"/>
            <a:ext cx="6492240" cy="1365885"/>
            <a:chOff x="5166360" y="4537710"/>
            <a:chExt cx="6492240" cy="1365885"/>
          </a:xfrm>
        </p:grpSpPr>
        <p:sp>
          <p:nvSpPr>
            <p:cNvPr id="40" name="Rectangle 40"/>
            <p:cNvSpPr/>
            <p:nvPr/>
          </p:nvSpPr>
          <p:spPr>
            <a:xfrm>
              <a:off x="5166360" y="4537710"/>
              <a:ext cx="6492240" cy="1365885"/>
            </a:xfrm>
            <a:prstGeom prst="roundRect">
              <a:avLst>
                <a:gd name="adj" fmla="val 97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5175885" y="4671060"/>
              <a:ext cx="47625" cy="109918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414010" y="474726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487467" y="478297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由计算机实现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5419725" y="518731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577840" y="512445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以算法为基础：用高级语言编写程序实现计算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5419725" y="552259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577840" y="5459730"/>
              <a:ext cx="50032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以统计模型为基础：用 SPSS、SAS 等软件分析具体数据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第0章 绪论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第0章 绪论 · 课程导引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先修课程在本课中的用处，以及学习目标与考核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5842635" cy="2692718"/>
            <a:chOff x="533400" y="1524000"/>
            <a:chExt cx="5842635" cy="26927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59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先修课程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721443" y="165973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本课用到的内容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108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概率统计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93823" y="2108359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分布、期望与方差、中心极限定理、参数估计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164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21255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5569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计算方法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393823" y="2556986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数值积分、插值、方程求根、迭代的收敛性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6607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005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线性代数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93823" y="3005614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矩阵运算与分解（回归、多元统计、随机向量）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1470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319462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345424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最优化理论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93823" y="3454241"/>
              <a:ext cx="340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梯度法、牛顿法（最大似然估计、EM 算法）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6332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1223" y="390382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高级语言程序设计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393823" y="390382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循环、函数、数组，用来实现算法和模拟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5842635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281238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6" name="c1-card-2"/>
          <p:cNvGrpSpPr/>
          <p:nvPr/>
        </p:nvGrpSpPr>
        <p:grpSpPr>
          <a:xfrm>
            <a:off x="533400" y="4407218"/>
            <a:ext cx="5842635" cy="1365885"/>
            <a:chOff x="533400" y="4407218"/>
            <a:chExt cx="5842635" cy="1365885"/>
          </a:xfrm>
        </p:grpSpPr>
        <p:sp>
          <p:nvSpPr>
            <p:cNvPr id="29" name="Rectangle 29"/>
            <p:cNvSpPr/>
            <p:nvPr/>
          </p:nvSpPr>
          <p:spPr>
            <a:xfrm>
              <a:off x="533400" y="4407218"/>
              <a:ext cx="5842635" cy="1365885"/>
            </a:xfrm>
            <a:prstGeom prst="roundRect">
              <a:avLst>
                <a:gd name="adj" fmla="val 9763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42950" y="4616768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25259" y="465248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考核方式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48665" y="5056822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06780" y="4993958"/>
              <a:ext cx="12571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期末考试 70%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48665" y="5392102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06780" y="5329238"/>
              <a:ext cx="26706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平时成绩 30%（作业和出勤）</a:t>
              </a:r>
            </a:p>
          </p:txBody>
        </p:sp>
      </p:grpSp>
      <p:grpSp>
        <p:nvGrpSpPr>
          <p:cNvPr id="53" name="c2-card-1"/>
          <p:cNvGrpSpPr/>
          <p:nvPr/>
        </p:nvGrpSpPr>
        <p:grpSpPr>
          <a:xfrm>
            <a:off x="6680835" y="1524000"/>
            <a:ext cx="4977765" cy="4249102"/>
            <a:chOff x="6680835" y="1524000"/>
            <a:chExt cx="4977765" cy="4249102"/>
          </a:xfrm>
        </p:grpSpPr>
        <p:sp>
          <p:nvSpPr>
            <p:cNvPr id="37" name="Rectangle 37"/>
            <p:cNvSpPr/>
            <p:nvPr/>
          </p:nvSpPr>
          <p:spPr>
            <a:xfrm>
              <a:off x="6680835" y="1524000"/>
              <a:ext cx="4977765" cy="4249102"/>
            </a:xfrm>
            <a:prstGeom prst="roundRect">
              <a:avLst>
                <a:gd name="adj" fmla="val 3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690360" y="1657350"/>
              <a:ext cx="47625" cy="398240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928485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010794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课程目标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928485" y="209740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990334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229475" y="2110740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掌握基本统计问题在计算机上的计算方法，能对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方法做误差分析和收敛性分析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928485" y="271843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90334" y="27607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29475" y="2731770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用统计思维描述复杂的计算机工程问题，抽象出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统计模型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928485" y="333946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990334" y="33817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229475" y="3352800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针对统计模型，综合考虑算法性能和时间、空间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开销，选择合适的统计计算方法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928485" y="396049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990334" y="40027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229475" y="3973830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针对实际问题设计模型与算法，再设计统计实验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验证，分析、解释结果并得出结论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第0章 绪论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第0章 绪论 · 课程导引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教材与参考书：按要查的内容选书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33400" y="1524000"/>
            <a:ext cx="5410200" cy="4000500"/>
            <a:chOff x="533400" y="1524000"/>
            <a:chExt cx="5410200" cy="4000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99997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书目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78909" y="16454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适合查什么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0555" y="2045494"/>
              <a:ext cx="28562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教材：李东风编《统计计算》，高等教育出版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社，2017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76675" y="2045494"/>
              <a:ext cx="17183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全课主线；网络版链接见第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 页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5193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524125"/>
              <a:ext cx="5410200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0555" y="2745581"/>
              <a:ext cx="30736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高惠璇《统计计算》，北京大学出版社，1995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76675" y="2645569"/>
              <a:ext cx="18605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随机数、模拟、数值方法的经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典中文教材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1194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0555" y="3245644"/>
              <a:ext cx="279364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Givens、Hoeting《计算统计（第2版）》，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西安交通大学出版社，2017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76675" y="3245644"/>
              <a:ext cx="127736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优化、EM、MCMC、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Bootstrap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7195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724275"/>
              <a:ext cx="5410200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0555" y="3845719"/>
              <a:ext cx="284022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Ross《统计模拟（英文版第5版）》，机械工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业出版社，2013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76675" y="394573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随机数与随机模拟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3195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0555" y="4445794"/>
              <a:ext cx="274279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Rizzo《统计计算：使用R》，机械工业出版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社，2019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876675" y="4545806"/>
              <a:ext cx="1250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R 实现各类算法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9196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924425"/>
              <a:ext cx="5410200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0555" y="5045869"/>
              <a:ext cx="279613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肖华勇《统计计算与软件应用（第2版）》，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西北工业大学出版社，2018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876675" y="514588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统计软件的使用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1524000"/>
              <a:ext cx="5410200" cy="40005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3774758" y="1524000"/>
              <a:ext cx="9525" cy="4000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c2-table-1"/>
          <p:cNvGrpSpPr/>
          <p:nvPr/>
        </p:nvGrpSpPr>
        <p:grpSpPr>
          <a:xfrm>
            <a:off x="6248400" y="1524000"/>
            <a:ext cx="5410200" cy="4800600"/>
            <a:chOff x="6248400" y="1524000"/>
            <a:chExt cx="5410200" cy="4800600"/>
          </a:xfrm>
        </p:grpSpPr>
        <p:sp>
          <p:nvSpPr>
            <p:cNvPr id="33" name="Rectangle 33"/>
            <p:cNvSpPr/>
            <p:nvPr/>
          </p:nvSpPr>
          <p:spPr>
            <a:xfrm>
              <a:off x="6248400" y="1524000"/>
              <a:ext cx="541020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71497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书目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193909" y="16454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适合查什么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45555" y="2045494"/>
              <a:ext cx="2490673" cy="620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Gentle, Härdle, Mori. Handbook of</a:t>
              </a:r>
              <a:br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Computational Statistics, 2nd ed.</a:t>
              </a:r>
              <a:br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Springer, 2012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591675" y="224551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专题手册，按主题查阅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27193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48400" y="2724150"/>
              <a:ext cx="5410200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45555" y="2845594"/>
              <a:ext cx="28562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徐树方《矩阵计算的理论与方法》，北京大学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出版社，1995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591675" y="294560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矩阵分解与数值线性代数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33194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45555" y="3445669"/>
              <a:ext cx="2832405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Hoaglin 等《探索性数据分析》，中国统计出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版社，1998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591675" y="3545681"/>
              <a:ext cx="14513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第1章探索性数据分析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39195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48400" y="3924300"/>
              <a:ext cx="5410200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45555" y="4045744"/>
              <a:ext cx="279613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李航《统计学习方法（第2版）》，清华大学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出版社，2019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591675" y="4145756"/>
              <a:ext cx="13217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EM 算法等学习方法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45196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45555" y="4645819"/>
              <a:ext cx="28562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林成森《数值计算方法（上、下）》第二版，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科学出版社，2010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591675" y="474583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数值积分、逼近等数值方法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248400" y="51196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48400" y="5124450"/>
              <a:ext cx="5410200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45555" y="5245894"/>
              <a:ext cx="279613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李庆扬等《数值分析（第5版）》，华中科技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大学出版社，2018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591675" y="53459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数值分析基础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248400" y="57197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345555" y="5845969"/>
              <a:ext cx="283133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Moler《MATLAB 数值计算》，北京航空航天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大学出版社，2015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591675" y="59459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数值算法的程序实现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248400" y="1524000"/>
              <a:ext cx="5410200" cy="48006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9489758" y="1524000"/>
              <a:ext cx="9525" cy="48006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第0章 绪论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247007" cy="2997517"/>
            <a:chOff x="667512" y="1835468"/>
            <a:chExt cx="4247007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统计计算概述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统计学要做什么，统计计算在其中承担什么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42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0.1.1 统计学的意义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465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0.1.2 统计计算研究方法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0.1.3 统计计算的任务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第0章 绪论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第0章 绪论 · 统计计算概述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统计学研究怎样从带随机性的数据中得出结论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193982" cy="1459230"/>
            <a:chOff x="533400" y="1524000"/>
            <a:chExt cx="5193982" cy="14592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459230"/>
            </a:xfrm>
            <a:prstGeom prst="roundRect">
              <a:avLst>
                <a:gd name="adj" fmla="val 9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9253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3784" y="174593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071688"/>
              <a:ext cx="44714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研究如何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有效地搜集、整理和分析带有随机性的数据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，对所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观察的问题作出推断或预测，直至为采取一定的决策和行动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提供依据和建议的学科。</a:t>
              </a:r>
            </a:p>
          </p:txBody>
        </p:sp>
      </p:grpSp>
      <p:grpSp>
        <p:nvGrpSpPr>
          <p:cNvPr id="32" name="c1-flow-2"/>
          <p:cNvGrpSpPr/>
          <p:nvPr/>
        </p:nvGrpSpPr>
        <p:grpSpPr>
          <a:xfrm>
            <a:off x="715328" y="3495675"/>
            <a:ext cx="4830126" cy="2525077"/>
            <a:chOff x="715328" y="3495675"/>
            <a:chExt cx="4830126" cy="2525077"/>
          </a:xfrm>
        </p:grpSpPr>
        <p:sp>
          <p:nvSpPr>
            <p:cNvPr id="14" name="Freeform 14"/>
            <p:cNvSpPr/>
            <p:nvPr/>
          </p:nvSpPr>
          <p:spPr>
            <a:xfrm>
              <a:off x="2948940" y="3688080"/>
              <a:ext cx="258127" cy="9525"/>
            </a:xfrm>
            <a:custGeom>
              <a:avLst/>
              <a:gdLst/>
              <a:ahLst/>
              <a:cxnLst/>
              <a:rect l="l" t="t" r="r" b="b"/>
              <a:pathLst>
                <a:path w="258127" h="9525">
                  <a:moveTo>
                    <a:pt x="0" y="0"/>
                  </a:moveTo>
                  <a:lnTo>
                    <a:pt x="258127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207068" y="363569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4429125" y="3881438"/>
              <a:ext cx="9525" cy="579120"/>
            </a:xfrm>
            <a:custGeom>
              <a:avLst/>
              <a:gdLst/>
              <a:ahLst/>
              <a:cxnLst/>
              <a:rect l="l" t="t" r="r" b="b"/>
              <a:pathLst>
                <a:path w="9525" h="579120">
                  <a:moveTo>
                    <a:pt x="0" y="0"/>
                  </a:moveTo>
                  <a:lnTo>
                    <a:pt x="0" y="5791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376738" y="44605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3053715" y="4757738"/>
              <a:ext cx="258127" cy="9525"/>
            </a:xfrm>
            <a:custGeom>
              <a:avLst/>
              <a:gdLst/>
              <a:ahLst/>
              <a:cxnLst/>
              <a:rect l="l" t="t" r="r" b="b"/>
              <a:pathLst>
                <a:path w="258127" h="9525">
                  <a:moveTo>
                    <a:pt x="258127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948940" y="47053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1831658" y="4951095"/>
              <a:ext cx="1298258" cy="579120"/>
            </a:xfrm>
            <a:custGeom>
              <a:avLst/>
              <a:gdLst/>
              <a:ahLst/>
              <a:cxnLst/>
              <a:rect l="l" t="t" r="r" b="b"/>
              <a:pathLst>
                <a:path w="1298258" h="579120">
                  <a:moveTo>
                    <a:pt x="0" y="0"/>
                  </a:moveTo>
                  <a:lnTo>
                    <a:pt x="0" y="341948"/>
                  </a:lnTo>
                  <a:lnTo>
                    <a:pt x="1298258" y="341948"/>
                  </a:lnTo>
                  <a:lnTo>
                    <a:pt x="1298258" y="5791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3077528" y="55302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15328" y="3495675"/>
              <a:ext cx="2233612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311842" y="3495675"/>
              <a:ext cx="2233612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311842" y="4565332"/>
              <a:ext cx="2233612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15328" y="4565332"/>
              <a:ext cx="2233612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897255" y="5634990"/>
              <a:ext cx="4466272" cy="385762"/>
            </a:xfrm>
            <a:prstGeom prst="roundRect">
              <a:avLst>
                <a:gd name="adj" fmla="val 49877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524394" y="360949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搜集数据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21861" y="360949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整理数据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121861" y="46791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分析数据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449007" y="46791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推断或预测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521102" y="574881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决策与行动的依据</a:t>
              </a:r>
            </a:p>
          </p:txBody>
        </p:sp>
      </p:grpSp>
      <p:grpSp>
        <p:nvGrpSpPr>
          <p:cNvPr id="47" name="c2-table-1"/>
          <p:cNvGrpSpPr/>
          <p:nvPr/>
        </p:nvGrpSpPr>
        <p:grpSpPr>
          <a:xfrm>
            <a:off x="6032182" y="1524000"/>
            <a:ext cx="5626418" cy="2200275"/>
            <a:chOff x="6032182" y="1524000"/>
            <a:chExt cx="5626418" cy="2200275"/>
          </a:xfrm>
        </p:grpSpPr>
        <p:sp>
          <p:nvSpPr>
            <p:cNvPr id="33" name="Rectangle 33"/>
            <p:cNvSpPr/>
            <p:nvPr/>
          </p:nvSpPr>
          <p:spPr>
            <a:xfrm>
              <a:off x="6032182" y="1524000"/>
              <a:ext cx="5626418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50354" y="1645444"/>
              <a:ext cx="788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三个“必须”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70188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29338" y="21455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必须为各个领域服务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54352" y="2045494"/>
              <a:ext cx="31407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经济、医学、工程、互联网等领域都要从数据中找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规律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032182" y="25193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032182" y="2524125"/>
              <a:ext cx="5626418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129338" y="274558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必须和数据打交道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154352" y="2645569"/>
              <a:ext cx="31407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结论来自数据；数据带随机性，结论要附带误差或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032182" y="311943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129338" y="33456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必须和计算机结合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154352" y="3245644"/>
              <a:ext cx="31407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数据量大、模型复杂时，估计、检验、模拟都离不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开计算机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032182" y="1524000"/>
              <a:ext cx="5626418" cy="2200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052435" y="1524000"/>
              <a:ext cx="9525" cy="2200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c2-callout-2"/>
          <p:cNvGrpSpPr/>
          <p:nvPr/>
        </p:nvGrpSpPr>
        <p:grpSpPr>
          <a:xfrm>
            <a:off x="6032182" y="3893820"/>
            <a:ext cx="5626418" cy="729615"/>
            <a:chOff x="6032182" y="3893820"/>
            <a:chExt cx="5626418" cy="729615"/>
          </a:xfrm>
        </p:grpSpPr>
        <p:sp>
          <p:nvSpPr>
            <p:cNvPr id="48" name="Rectangle 48"/>
            <p:cNvSpPr/>
            <p:nvPr/>
          </p:nvSpPr>
          <p:spPr>
            <a:xfrm>
              <a:off x="6032182" y="3893820"/>
              <a:ext cx="5626418" cy="729615"/>
            </a:xfrm>
            <a:prstGeom prst="roundRect">
              <a:avLst>
                <a:gd name="adj" fmla="val 15666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236970" y="4158617"/>
              <a:ext cx="200023" cy="200023"/>
              <a:chOff x="6236970" y="4158617"/>
              <a:chExt cx="200023" cy="200023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236970" y="415861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370320" y="42252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6539674" y="4040505"/>
              <a:ext cx="46428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统计计算是现代统计的重要组成部分：它研究统计方法怎样在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计算机上算出来、算得准、算得快。</a:t>
              </a:r>
            </a:p>
          </p:txBody>
        </p:sp>
      </p:grpSp>
      <p:grpSp>
        <p:nvGrpSpPr>
          <p:cNvPr id="59" name="c2-card-3"/>
          <p:cNvGrpSpPr/>
          <p:nvPr/>
        </p:nvGrpSpPr>
        <p:grpSpPr>
          <a:xfrm>
            <a:off x="6032182" y="4793932"/>
            <a:ext cx="5626418" cy="1443038"/>
            <a:chOff x="6032182" y="4793932"/>
            <a:chExt cx="5626418" cy="1443038"/>
          </a:xfrm>
        </p:grpSpPr>
        <p:sp>
          <p:nvSpPr>
            <p:cNvPr id="54" name="Rectangle 54"/>
            <p:cNvSpPr/>
            <p:nvPr/>
          </p:nvSpPr>
          <p:spPr>
            <a:xfrm>
              <a:off x="6032182" y="4793932"/>
              <a:ext cx="5626418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041708" y="4927282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256972" y="4980622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330340" y="501348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对照左图的例子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50114" y="5324475"/>
              <a:ext cx="49857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估计某市居民平均月收入：随机抽 1000 户调查（搜集），录入并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剔除错误记录（整理），算样本均值和标准误（分析），给出全市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均值的置信区间（推断），作为制定政策的依据（决策）。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第0章 绪论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第0章 绪论 · 统计计算概述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统计研究的六个环节，与统计计算要完成的任务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steps-1"/>
          <p:cNvGrpSpPr/>
          <p:nvPr/>
        </p:nvGrpSpPr>
        <p:grpSpPr>
          <a:xfrm>
            <a:off x="533400" y="1533525"/>
            <a:ext cx="5109972" cy="3632263"/>
            <a:chOff x="533400" y="1533525"/>
            <a:chExt cx="5109972" cy="3632263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30841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074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4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6701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40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38423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4580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00050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0743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61772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6915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15663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1846898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首先正确选择研究课题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218360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2464118"/>
              <a:ext cx="3889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根据课题性质选择最佳设计方案，即寻找最优统计模型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261" y="279987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确定研究对象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404" y="3080385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正确诊断研究对象，制订具体的纳入和排除标准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261" y="341709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样本含量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404" y="3697605"/>
              <a:ext cx="46969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大小要合适：太小试验结果说明不了问题，太大造成不必要的浪费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5261" y="403431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控制误差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404" y="4314825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防止或识别各种误差对研究结果的干扰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5261" y="465058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6404" y="4931092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正确应用统计分析方法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6898005" y="1524000"/>
            <a:ext cx="4760595" cy="1840230"/>
            <a:chOff x="6898005" y="1524000"/>
            <a:chExt cx="4760595" cy="1840230"/>
          </a:xfrm>
        </p:grpSpPr>
        <p:sp>
          <p:nvSpPr>
            <p:cNvPr id="33" name="Rectangle 33"/>
            <p:cNvSpPr/>
            <p:nvPr/>
          </p:nvSpPr>
          <p:spPr>
            <a:xfrm>
              <a:off x="6898005" y="1524000"/>
              <a:ext cx="4760595" cy="1840230"/>
            </a:xfrm>
            <a:prstGeom prst="roundRect">
              <a:avLst>
                <a:gd name="adj" fmla="val 7246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096125" y="172212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67562" y="175641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统计计算的任务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103745" y="214312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260336" y="2082641"/>
              <a:ext cx="39819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利用统计方法解决实际问题，力求把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统计思想、数</a:t>
              </a:r>
              <a:br/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值计算步骤和计算机实现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结合起来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103745" y="2731770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260336" y="2672239"/>
              <a:ext cx="39819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应用统计学的基本原理和方法，发现实践中遇到的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问题并更好地解决，提高解决问题的能力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6898005" y="3544252"/>
            <a:ext cx="4760595" cy="1750695"/>
            <a:chOff x="6898005" y="3544252"/>
            <a:chExt cx="4760595" cy="1750695"/>
          </a:xfrm>
        </p:grpSpPr>
        <p:sp>
          <p:nvSpPr>
            <p:cNvPr id="41" name="Rectangle 41"/>
            <p:cNvSpPr/>
            <p:nvPr/>
          </p:nvSpPr>
          <p:spPr>
            <a:xfrm>
              <a:off x="6898005" y="3544252"/>
              <a:ext cx="4760595" cy="1750695"/>
            </a:xfrm>
            <a:prstGeom prst="roundRect">
              <a:avLst>
                <a:gd name="adj" fmla="val 76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907530" y="3677602"/>
              <a:ext cx="47625" cy="14839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134225" y="3742372"/>
              <a:ext cx="903922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212333" y="3776662"/>
              <a:ext cx="7467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读懂第 3 步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126986" y="4102894"/>
              <a:ext cx="399999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“纳入和排除标准”来自医学等领域的研究设计：事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先规定哪些个体算研究对象。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28129" y="4689158"/>
              <a:ext cx="41269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例：研究某降压药疗效，纳入确诊的高血压患者，排除孕妇和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正在服用其他降压药的人。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48" name="Rectangle 48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5884545"/>
              <a:ext cx="200026" cy="200025"/>
              <a:chOff x="738188" y="5884545"/>
              <a:chExt cx="200026" cy="20002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58845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77926" y="59289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12642" y="60401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511" y="5753576"/>
              <a:ext cx="987907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模拟研究有同样的环节：模拟次数相当于样本含量，太少结论不可靠，太多浪费计算；第 25 页的标准误公式可以用来定模拟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次数。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第0章 绪论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469130" cy="2997517"/>
            <a:chOff x="667512" y="1835468"/>
            <a:chExt cx="446913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主要内容与统计模拟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课程由哪几块组成，统计模拟是什么、怎么做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20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 课程内容框架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统计模拟的概念与分类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统计模拟的一般步骤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第0章 绪论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第0章 绪论 · 主要内容与统计模拟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课程内容：随机数、随机模拟、优化、多元统计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table-1"/>
          <p:cNvGrpSpPr/>
          <p:nvPr/>
        </p:nvGrpSpPr>
        <p:grpSpPr>
          <a:xfrm>
            <a:off x="527685" y="1524000"/>
            <a:ext cx="6822757" cy="3895249"/>
            <a:chOff x="527685" y="1524000"/>
            <a:chExt cx="6822757" cy="389524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817042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7280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板块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5892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主要内容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4972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对应课件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2217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基础知识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277618" y="2108359"/>
              <a:ext cx="32641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探索性数据分析、概率统计、矩阵代数、统计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图形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58078" y="2221706"/>
              <a:ext cx="4523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第1章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68170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681704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783681"/>
              <a:ext cx="13134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随机数的产生和检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277618" y="2783681"/>
              <a:ext cx="319100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均匀分布、非均匀分布、随机向量*、随机过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程*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958078" y="2897029"/>
              <a:ext cx="4523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第2章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19462"/>
              <a:ext cx="68170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57235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随机模拟方法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277618" y="3459004"/>
              <a:ext cx="293090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随机模拟积分、方差缩减、Bootstrap、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MCMC、随机服务系统模拟*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958078" y="3572351"/>
              <a:ext cx="4523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第3章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994785"/>
              <a:ext cx="68170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999548"/>
              <a:ext cx="681704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4134326"/>
              <a:ext cx="13134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统计计算中的优化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277618" y="4247674"/>
              <a:ext cx="3078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最大似然估计*、非线性回归*、EM 算法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958078" y="4247674"/>
              <a:ext cx="4523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第4章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670108"/>
              <a:ext cx="68170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4810601"/>
              <a:ext cx="11463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多元统计方法*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277618" y="4810601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方差分析、回归分析、主成分分析、聚类分析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958078" y="481060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无单独课件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6817042" cy="359949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165032" y="1524000"/>
              <a:ext cx="9525" cy="35994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845492" y="1524000"/>
              <a:ext cx="9525" cy="35994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7685" y="5199221"/>
              <a:ext cx="5559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带 * 的条目在原课件中单独标注，通常表示选讲；“基础知识”一行据第1章课件补入</a:t>
              </a:r>
            </a:p>
          </p:txBody>
        </p:sp>
      </p:grpSp>
      <p:grpSp>
        <p:nvGrpSpPr>
          <p:cNvPr id="43" name="c1-callout-2"/>
          <p:cNvGrpSpPr/>
          <p:nvPr/>
        </p:nvGrpSpPr>
        <p:grpSpPr>
          <a:xfrm>
            <a:off x="533400" y="5565458"/>
            <a:ext cx="6817042" cy="782955"/>
            <a:chOff x="533400" y="5565458"/>
            <a:chExt cx="6817042" cy="782955"/>
          </a:xfrm>
        </p:grpSpPr>
        <p:sp>
          <p:nvSpPr>
            <p:cNvPr id="37" name="Rectangle 37"/>
            <p:cNvSpPr/>
            <p:nvPr/>
          </p:nvSpPr>
          <p:spPr>
            <a:xfrm>
              <a:off x="533400" y="5565458"/>
              <a:ext cx="6817042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5856923"/>
              <a:ext cx="200026" cy="200026"/>
              <a:chOff x="738188" y="5856923"/>
              <a:chExt cx="200026" cy="20002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585692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38200" y="59235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27088" y="595693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130" y="5714048"/>
              <a:ext cx="58540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建议学习顺序：第1章复习概率统计和矩阵代数，第2章学随机数，第3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章学各种模拟方法，第4章学优化算法。</a:t>
              </a:r>
            </a:p>
          </p:txBody>
        </p:sp>
      </p:grpSp>
      <p:grpSp>
        <p:nvGrpSpPr>
          <p:cNvPr id="58" name="c2-flow-1"/>
          <p:cNvGrpSpPr/>
          <p:nvPr/>
        </p:nvGrpSpPr>
        <p:grpSpPr>
          <a:xfrm>
            <a:off x="7935278" y="1948815"/>
            <a:ext cx="3443288" cy="3015615"/>
            <a:chOff x="7935278" y="1948815"/>
            <a:chExt cx="3443288" cy="3015615"/>
          </a:xfrm>
        </p:grpSpPr>
        <p:sp>
          <p:nvSpPr>
            <p:cNvPr id="44" name="Freeform 44"/>
            <p:cNvSpPr/>
            <p:nvPr/>
          </p:nvSpPr>
          <p:spPr>
            <a:xfrm>
              <a:off x="9656445" y="2386965"/>
              <a:ext cx="9525" cy="650557"/>
            </a:xfrm>
            <a:custGeom>
              <a:avLst/>
              <a:gdLst/>
              <a:ahLst/>
              <a:cxnLst/>
              <a:rect l="l" t="t" r="r" b="b"/>
              <a:pathLst>
                <a:path w="9525" h="650557">
                  <a:moveTo>
                    <a:pt x="0" y="0"/>
                  </a:moveTo>
                  <a:lnTo>
                    <a:pt x="0" y="65055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9604058" y="303752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9656445" y="3875722"/>
              <a:ext cx="9525" cy="650558"/>
            </a:xfrm>
            <a:custGeom>
              <a:avLst/>
              <a:gdLst/>
              <a:ahLst/>
              <a:cxnLst/>
              <a:rect l="l" t="t" r="r" b="b"/>
              <a:pathLst>
                <a:path w="9525" h="650558">
                  <a:moveTo>
                    <a:pt x="0" y="65055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47" name="Freeform 47"/>
            <p:cNvSpPr/>
            <p:nvPr/>
          </p:nvSpPr>
          <p:spPr>
            <a:xfrm>
              <a:off x="9604058" y="377094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935278" y="1948815"/>
              <a:ext cx="344328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935278" y="3142298"/>
              <a:ext cx="3443288" cy="629602"/>
            </a:xfrm>
            <a:prstGeom prst="roundRect">
              <a:avLst>
                <a:gd name="adj" fmla="val 15129"/>
              </a:avLst>
            </a:prstGeom>
            <a:solidFill>
              <a:srgbClr val="E5F2EA"/>
            </a:solidFill>
            <a:ln w="19050">
              <a:solidFill>
                <a:srgbClr val="2E7D4F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935278" y="4526280"/>
              <a:ext cx="344328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357616" y="207883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随机数：均匀与非均匀分布的样本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68208" y="3258026"/>
              <a:ext cx="277647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随机模拟：用样本估计积分、分布和统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计量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43773" y="4656296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优化：求似然函数等目标的最值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9685020" y="2672715"/>
              <a:ext cx="6286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708261" y="269938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提供原料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685020" y="4056698"/>
              <a:ext cx="7620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708261" y="408336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常一起使用</a:t>
              </a:r>
            </a:p>
          </p:txBody>
        </p:sp>
      </p:grpSp>
      <p:grpSp>
        <p:nvGrpSpPr>
          <p:cNvPr id="65" name="c2-callout-2"/>
          <p:cNvGrpSpPr/>
          <p:nvPr/>
        </p:nvGrpSpPr>
        <p:grpSpPr>
          <a:xfrm>
            <a:off x="7655242" y="5579745"/>
            <a:ext cx="4003358" cy="782955"/>
            <a:chOff x="7655242" y="5579745"/>
            <a:chExt cx="4003358" cy="782955"/>
          </a:xfrm>
        </p:grpSpPr>
        <p:sp>
          <p:nvSpPr>
            <p:cNvPr id="59" name="Rectangle 59"/>
            <p:cNvSpPr/>
            <p:nvPr/>
          </p:nvSpPr>
          <p:spPr>
            <a:xfrm>
              <a:off x="7655242" y="5579745"/>
              <a:ext cx="4003358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860030" y="5871210"/>
              <a:ext cx="200026" cy="200025"/>
              <a:chOff x="7860030" y="5871210"/>
              <a:chExt cx="200026" cy="200025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860030" y="58712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899769" y="59156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934484" y="60267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8161973" y="5728335"/>
              <a:ext cx="31680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第2章是后面所有模拟方法的基础，先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把随机数的产生弄懂。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第0章 绪论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第0章 绪论 · 主要内容与统计模拟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统计模拟是计算机建模：从实际问题走到实际解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flow-1"/>
          <p:cNvGrpSpPr/>
          <p:nvPr/>
        </p:nvGrpSpPr>
        <p:grpSpPr>
          <a:xfrm>
            <a:off x="866775" y="1802130"/>
            <a:ext cx="4094798" cy="4282440"/>
            <a:chOff x="866775" y="1802130"/>
            <a:chExt cx="4094798" cy="4282440"/>
          </a:xfrm>
        </p:grpSpPr>
        <p:sp>
          <p:nvSpPr>
            <p:cNvPr id="7" name="Freeform 7"/>
            <p:cNvSpPr/>
            <p:nvPr/>
          </p:nvSpPr>
          <p:spPr>
            <a:xfrm>
              <a:off x="2913698" y="2213610"/>
              <a:ext cx="9525" cy="451485"/>
            </a:xfrm>
            <a:custGeom>
              <a:avLst/>
              <a:gdLst/>
              <a:ahLst/>
              <a:cxnLst/>
              <a:rect l="l" t="t" r="r" b="b"/>
              <a:pathLst>
                <a:path w="9525" h="451485">
                  <a:moveTo>
                    <a:pt x="0" y="0"/>
                  </a:moveTo>
                  <a:lnTo>
                    <a:pt x="0" y="4514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861310" y="26650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913698" y="3181350"/>
              <a:ext cx="9525" cy="451485"/>
            </a:xfrm>
            <a:custGeom>
              <a:avLst/>
              <a:gdLst/>
              <a:ahLst/>
              <a:cxnLst/>
              <a:rect l="l" t="t" r="r" b="b"/>
              <a:pathLst>
                <a:path w="9525" h="451485">
                  <a:moveTo>
                    <a:pt x="0" y="0"/>
                  </a:moveTo>
                  <a:lnTo>
                    <a:pt x="0" y="4514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861310" y="363283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913698" y="4149090"/>
              <a:ext cx="9525" cy="451485"/>
            </a:xfrm>
            <a:custGeom>
              <a:avLst/>
              <a:gdLst/>
              <a:ahLst/>
              <a:cxnLst/>
              <a:rect l="l" t="t" r="r" b="b"/>
              <a:pathLst>
                <a:path w="9525" h="451485">
                  <a:moveTo>
                    <a:pt x="0" y="0"/>
                  </a:moveTo>
                  <a:lnTo>
                    <a:pt x="0" y="4514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861310" y="46005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913698" y="5116830"/>
              <a:ext cx="9525" cy="451485"/>
            </a:xfrm>
            <a:custGeom>
              <a:avLst/>
              <a:gdLst/>
              <a:ahLst/>
              <a:cxnLst/>
              <a:rect l="l" t="t" r="r" b="b"/>
              <a:pathLst>
                <a:path w="9525" h="451485">
                  <a:moveTo>
                    <a:pt x="0" y="0"/>
                  </a:moveTo>
                  <a:lnTo>
                    <a:pt x="0" y="4514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861310" y="55683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866775" y="1802130"/>
              <a:ext cx="4094798" cy="41148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866775" y="2769870"/>
              <a:ext cx="4094798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866775" y="3737610"/>
              <a:ext cx="4094798" cy="411480"/>
            </a:xfrm>
            <a:prstGeom prst="roundRect">
              <a:avLst>
                <a:gd name="adj" fmla="val 23148"/>
              </a:avLst>
            </a:prstGeom>
            <a:solidFill>
              <a:srgbClr val="E5F2EA"/>
            </a:solidFill>
            <a:ln w="19050">
              <a:solidFill>
                <a:srgbClr val="2E7D4F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866775" y="4705350"/>
              <a:ext cx="4094798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66775" y="5673090"/>
              <a:ext cx="4094798" cy="41148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584513" y="19240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实际问题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42198" y="289179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统计、逻辑模型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38338" y="385953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计算机模拟（程序、算法）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342198" y="482727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统计、计算机解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665286" y="57950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实际解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942272" y="2406015"/>
              <a:ext cx="34385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965894" y="243125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942272" y="3373755"/>
              <a:ext cx="34385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965894" y="33989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编程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942272" y="4341495"/>
              <a:ext cx="34385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965894" y="43667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运行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942272" y="5309235"/>
              <a:ext cx="34385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965894" y="533447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解释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5598795" y="1524000"/>
            <a:ext cx="6059805" cy="1632585"/>
            <a:chOff x="5598795" y="1524000"/>
            <a:chExt cx="6059805" cy="1632585"/>
          </a:xfrm>
        </p:grpSpPr>
        <p:sp>
          <p:nvSpPr>
            <p:cNvPr id="34" name="Rectangle 34"/>
            <p:cNvSpPr/>
            <p:nvPr/>
          </p:nvSpPr>
          <p:spPr>
            <a:xfrm>
              <a:off x="5598795" y="1524000"/>
              <a:ext cx="6059805" cy="1632585"/>
            </a:xfrm>
            <a:prstGeom prst="roundRect">
              <a:avLst>
                <a:gd name="adj" fmla="val 81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608320" y="1657350"/>
              <a:ext cx="47625" cy="136588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835015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26455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18326" y="17568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统计模拟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5842635" y="2161222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999226" y="2100739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统计模拟即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计算机统计模拟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5842635" y="247840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999226" y="241887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实质上是计算机建模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5842635" y="279654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999226" y="2736056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是架在计算机理论和实际问题之间的桥梁</a:t>
              </a:r>
            </a:p>
          </p:txBody>
        </p:sp>
      </p:grpSp>
      <p:grpSp>
        <p:nvGrpSpPr>
          <p:cNvPr id="59" name="c2-steps-2"/>
          <p:cNvGrpSpPr/>
          <p:nvPr/>
        </p:nvGrpSpPr>
        <p:grpSpPr>
          <a:xfrm>
            <a:off x="5598795" y="3347085"/>
            <a:ext cx="5433060" cy="1781556"/>
            <a:chOff x="5598795" y="3347085"/>
            <a:chExt cx="5433060" cy="1781556"/>
          </a:xfrm>
        </p:grpSpPr>
        <p:sp>
          <p:nvSpPr>
            <p:cNvPr id="46" name="Rectangle 46"/>
            <p:cNvSpPr/>
            <p:nvPr/>
          </p:nvSpPr>
          <p:spPr>
            <a:xfrm>
              <a:off x="5732145" y="3489960"/>
              <a:ext cx="19050" cy="12334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5598795" y="334708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692419" y="34209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5598795" y="396335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692419" y="40371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5598795" y="458057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692419" y="46543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010656" y="337994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建模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011799" y="3660457"/>
              <a:ext cx="5020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根据问题性质建立概率统计模型，确定感兴趣的量及有关量的概率分布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010656" y="399621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抽样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011799" y="4276725"/>
              <a:ext cx="46969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从概率分布出发进行随机抽样，得到感兴趣特征量的一批模拟结果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010656" y="461343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011799" y="4893945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对模拟结果进行分析、总结，得出结论或改进模型</a:t>
              </a:r>
            </a:p>
          </p:txBody>
        </p:sp>
      </p:grpSp>
      <p:grpSp>
        <p:nvGrpSpPr>
          <p:cNvPr id="66" name="c2-callout-3"/>
          <p:cNvGrpSpPr/>
          <p:nvPr/>
        </p:nvGrpSpPr>
        <p:grpSpPr>
          <a:xfrm>
            <a:off x="5598795" y="5299710"/>
            <a:ext cx="6059805" cy="1018222"/>
            <a:chOff x="5598795" y="5299710"/>
            <a:chExt cx="6059805" cy="1018222"/>
          </a:xfrm>
        </p:grpSpPr>
        <p:sp>
          <p:nvSpPr>
            <p:cNvPr id="60" name="Rectangle 60"/>
            <p:cNvSpPr/>
            <p:nvPr/>
          </p:nvSpPr>
          <p:spPr>
            <a:xfrm>
              <a:off x="5598795" y="5299710"/>
              <a:ext cx="6059805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5803583" y="5709285"/>
              <a:ext cx="200026" cy="200025"/>
              <a:chOff x="5803583" y="5709285"/>
              <a:chExt cx="200026" cy="200025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5803583" y="570928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5843321" y="575373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5878037" y="586486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6105906" y="5446871"/>
              <a:ext cx="5091049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以估计 π 为例：模型是在单位正方形内均匀投点，点落进四分之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一圆的概率为 π/4；抽样就是产生点的坐标；分析是用命中比例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乘 4 估计 π，并估算误差。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第0章 绪论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第0章 绪论 · 主要内容与统计模拟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统计模拟的分类与常用方法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table-1"/>
          <p:cNvGrpSpPr/>
          <p:nvPr/>
        </p:nvGrpSpPr>
        <p:grpSpPr>
          <a:xfrm>
            <a:off x="533400" y="1524000"/>
            <a:ext cx="5626418" cy="3150870"/>
            <a:chOff x="533400" y="1524000"/>
            <a:chExt cx="5626418" cy="31508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7001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分类依据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6156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类别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8753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11508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状态变量的变化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216658" y="222170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连续随机模拟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79698" y="222170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状态连续变化，如水库水位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562641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216658" y="289702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离散随机模拟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79698" y="2783681"/>
              <a:ext cx="21262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状态跳跃变化，如队列中的人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3194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1223" y="3459004"/>
              <a:ext cx="11508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变量是否随时间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变化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216658" y="357235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动态随机模拟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79698" y="3459004"/>
              <a:ext cx="21262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模拟系统随时间的演化，如银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行一天的排队过程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99478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3999548"/>
              <a:ext cx="562641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216658" y="424767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静态随机模拟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679698" y="4134326"/>
              <a:ext cx="226441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与时间无关，如投点法估计 π、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投针实验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5626418" cy="31508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104072" y="1524000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3567112" y="1524000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6" name="c1-callout-2"/>
          <p:cNvGrpSpPr/>
          <p:nvPr/>
        </p:nvGrpSpPr>
        <p:grpSpPr>
          <a:xfrm>
            <a:off x="533400" y="4865370"/>
            <a:ext cx="5626418" cy="782955"/>
            <a:chOff x="533400" y="4865370"/>
            <a:chExt cx="5626418" cy="782955"/>
          </a:xfrm>
        </p:grpSpPr>
        <p:sp>
          <p:nvSpPr>
            <p:cNvPr id="30" name="Rectangle 30"/>
            <p:cNvSpPr/>
            <p:nvPr/>
          </p:nvSpPr>
          <p:spPr>
            <a:xfrm>
              <a:off x="533400" y="4865370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5156835"/>
              <a:ext cx="200026" cy="200026"/>
              <a:chOff x="738188" y="5156835"/>
              <a:chExt cx="200026" cy="200026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515683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38200" y="52235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27088" y="525684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130" y="5013960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两种分法互相独立：银行排队模拟既是动态的，又是离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散的。</a:t>
              </a:r>
            </a:p>
          </p:txBody>
        </p:sp>
      </p:grpSp>
      <p:grpSp>
        <p:nvGrpSpPr>
          <p:cNvPr id="66" name="c2-tree-1"/>
          <p:cNvGrpSpPr/>
          <p:nvPr/>
        </p:nvGrpSpPr>
        <p:grpSpPr>
          <a:xfrm>
            <a:off x="6464618" y="1741170"/>
            <a:ext cx="5193982" cy="4510088"/>
            <a:chOff x="6464618" y="1741170"/>
            <a:chExt cx="5193982" cy="4510088"/>
          </a:xfrm>
        </p:grpSpPr>
        <p:sp>
          <p:nvSpPr>
            <p:cNvPr id="37" name="Freeform 37"/>
            <p:cNvSpPr/>
            <p:nvPr/>
          </p:nvSpPr>
          <p:spPr>
            <a:xfrm>
              <a:off x="9787890" y="1926908"/>
              <a:ext cx="419100" cy="806767"/>
            </a:xfrm>
            <a:custGeom>
              <a:avLst/>
              <a:gdLst/>
              <a:ahLst/>
              <a:cxnLst/>
              <a:rect l="l" t="t" r="r" b="b"/>
              <a:pathLst>
                <a:path w="419100" h="806767">
                  <a:moveTo>
                    <a:pt x="0" y="806767"/>
                  </a:moveTo>
                  <a:lnTo>
                    <a:pt x="209550" y="806767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9787890" y="273367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9787890" y="2733675"/>
              <a:ext cx="419100" cy="806767"/>
            </a:xfrm>
            <a:custGeom>
              <a:avLst/>
              <a:gdLst/>
              <a:ahLst/>
              <a:cxnLst/>
              <a:rect l="l" t="t" r="r" b="b"/>
              <a:pathLst>
                <a:path w="419100" h="806767">
                  <a:moveTo>
                    <a:pt x="0" y="0"/>
                  </a:moveTo>
                  <a:lnTo>
                    <a:pt x="209550" y="0"/>
                  </a:lnTo>
                  <a:lnTo>
                    <a:pt x="209550" y="806767"/>
                  </a:lnTo>
                  <a:lnTo>
                    <a:pt x="419100" y="806767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9787890" y="4346258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9787890" y="5153025"/>
              <a:ext cx="419100" cy="402907"/>
            </a:xfrm>
            <a:custGeom>
              <a:avLst/>
              <a:gdLst/>
              <a:ahLst/>
              <a:cxnLst/>
              <a:rect l="l" t="t" r="r" b="b"/>
              <a:pathLst>
                <a:path w="419100" h="402907">
                  <a:moveTo>
                    <a:pt x="0" y="402907"/>
                  </a:moveTo>
                  <a:lnTo>
                    <a:pt x="209550" y="402907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9787890" y="5555932"/>
              <a:ext cx="419100" cy="403860"/>
            </a:xfrm>
            <a:custGeom>
              <a:avLst/>
              <a:gdLst/>
              <a:ahLst/>
              <a:cxnLst/>
              <a:rect l="l" t="t" r="r" b="b"/>
              <a:pathLst>
                <a:path w="419100" h="403860">
                  <a:moveTo>
                    <a:pt x="0" y="0"/>
                  </a:moveTo>
                  <a:lnTo>
                    <a:pt x="209550" y="0"/>
                  </a:lnTo>
                  <a:lnTo>
                    <a:pt x="209550" y="403860"/>
                  </a:lnTo>
                  <a:lnTo>
                    <a:pt x="419100" y="40386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7916228" y="2733675"/>
              <a:ext cx="419100" cy="1411605"/>
            </a:xfrm>
            <a:custGeom>
              <a:avLst/>
              <a:gdLst/>
              <a:ahLst/>
              <a:cxnLst/>
              <a:rect l="l" t="t" r="r" b="b"/>
              <a:pathLst>
                <a:path w="419100" h="1411605">
                  <a:moveTo>
                    <a:pt x="0" y="1411605"/>
                  </a:moveTo>
                  <a:lnTo>
                    <a:pt x="209550" y="141160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7916228" y="4145280"/>
              <a:ext cx="419100" cy="200978"/>
            </a:xfrm>
            <a:custGeom>
              <a:avLst/>
              <a:gdLst/>
              <a:ahLst/>
              <a:cxnLst/>
              <a:rect l="l" t="t" r="r" b="b"/>
              <a:pathLst>
                <a:path w="419100" h="200978">
                  <a:moveTo>
                    <a:pt x="0" y="0"/>
                  </a:moveTo>
                  <a:lnTo>
                    <a:pt x="209550" y="0"/>
                  </a:lnTo>
                  <a:lnTo>
                    <a:pt x="209550" y="200978"/>
                  </a:lnTo>
                  <a:lnTo>
                    <a:pt x="419100" y="20097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7916228" y="4145280"/>
              <a:ext cx="419100" cy="1410652"/>
            </a:xfrm>
            <a:custGeom>
              <a:avLst/>
              <a:gdLst/>
              <a:ahLst/>
              <a:cxnLst/>
              <a:rect l="l" t="t" r="r" b="b"/>
              <a:pathLst>
                <a:path w="419100" h="1410652">
                  <a:moveTo>
                    <a:pt x="0" y="0"/>
                  </a:moveTo>
                  <a:lnTo>
                    <a:pt x="209550" y="0"/>
                  </a:lnTo>
                  <a:lnTo>
                    <a:pt x="209550" y="1410652"/>
                  </a:lnTo>
                  <a:lnTo>
                    <a:pt x="419100" y="141065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10206990" y="1741170"/>
              <a:ext cx="145161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10206990" y="2546985"/>
              <a:ext cx="145161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10206990" y="3353752"/>
              <a:ext cx="145161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8335328" y="2546985"/>
              <a:ext cx="1451610" cy="372428"/>
            </a:xfrm>
            <a:prstGeom prst="roundRect">
              <a:avLst>
                <a:gd name="adj" fmla="val 25575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10206990" y="4054792"/>
              <a:ext cx="1451610" cy="582930"/>
            </a:xfrm>
            <a:prstGeom prst="roundRect">
              <a:avLst>
                <a:gd name="adj" fmla="val 1634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335328" y="4160520"/>
              <a:ext cx="1451610" cy="372428"/>
            </a:xfrm>
            <a:prstGeom prst="roundRect">
              <a:avLst>
                <a:gd name="adj" fmla="val 25575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206990" y="4861560"/>
              <a:ext cx="1451610" cy="582930"/>
            </a:xfrm>
            <a:prstGeom prst="roundRect">
              <a:avLst>
                <a:gd name="adj" fmla="val 1634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206990" y="5668328"/>
              <a:ext cx="1451610" cy="582930"/>
            </a:xfrm>
            <a:prstGeom prst="roundRect">
              <a:avLst>
                <a:gd name="adj" fmla="val 1634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8335328" y="5370195"/>
              <a:ext cx="1451610" cy="372428"/>
            </a:xfrm>
            <a:prstGeom prst="roundRect">
              <a:avLst>
                <a:gd name="adj" fmla="val 25575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64618" y="3853815"/>
              <a:ext cx="1451610" cy="582930"/>
            </a:xfrm>
            <a:prstGeom prst="roundRect">
              <a:avLst>
                <a:gd name="adj" fmla="val 1634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295763" y="183784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随机投点法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295763" y="264461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平均值法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295763" y="345138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重要抽样法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424100" y="264461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蒙特卡罗法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295763" y="4152424"/>
              <a:ext cx="1150874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随机服务系统模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拟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424100" y="425719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系统模拟方法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295763" y="4958239"/>
              <a:ext cx="1142746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Bootstrap（自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助法）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295763" y="5765006"/>
              <a:ext cx="1085850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MCMC（马氏链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蒙特卡罗）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424100" y="546687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其他方法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553391" y="3950494"/>
              <a:ext cx="1150874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常用统计模拟方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法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第0章 绪论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第0章 绪论 · 主要内容与统计模拟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统计模拟的一般步骤：不满意就回头修正模型或参数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1" name="c1-flow-1"/>
          <p:cNvGrpSpPr/>
          <p:nvPr/>
        </p:nvGrpSpPr>
        <p:grpSpPr>
          <a:xfrm>
            <a:off x="727710" y="1623060"/>
            <a:ext cx="10735628" cy="3840480"/>
            <a:chOff x="727710" y="1623060"/>
            <a:chExt cx="10735628" cy="3840480"/>
          </a:xfrm>
        </p:grpSpPr>
        <p:sp>
          <p:nvSpPr>
            <p:cNvPr id="7" name="Freeform 7"/>
            <p:cNvSpPr/>
            <p:nvPr/>
          </p:nvSpPr>
          <p:spPr>
            <a:xfrm>
              <a:off x="3120390" y="1937385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0" y="0"/>
                  </a:moveTo>
                  <a:lnTo>
                    <a:pt x="2838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404235" y="188499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5901690" y="1937385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0" y="0"/>
                  </a:moveTo>
                  <a:lnTo>
                    <a:pt x="2838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6185535" y="188499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705350" y="2238375"/>
              <a:ext cx="9525" cy="201930"/>
            </a:xfrm>
            <a:custGeom>
              <a:avLst/>
              <a:gdLst/>
              <a:ahLst/>
              <a:cxnLst/>
              <a:rect l="l" t="t" r="r" b="b"/>
              <a:pathLst>
                <a:path w="9525" h="201930">
                  <a:moveTo>
                    <a:pt x="0" y="0"/>
                  </a:moveTo>
                  <a:lnTo>
                    <a:pt x="0" y="2019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652962" y="24403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5901690" y="2764155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0" y="0"/>
                  </a:moveTo>
                  <a:lnTo>
                    <a:pt x="2838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6185535" y="27117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8682990" y="2764155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0" y="0"/>
                  </a:moveTo>
                  <a:lnTo>
                    <a:pt x="2838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8966835" y="27117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0267950" y="2983230"/>
              <a:ext cx="9525" cy="283845"/>
            </a:xfrm>
            <a:custGeom>
              <a:avLst/>
              <a:gdLst/>
              <a:ahLst/>
              <a:cxnLst/>
              <a:rect l="l" t="t" r="r" b="b"/>
              <a:pathLst>
                <a:path w="9525" h="283845">
                  <a:moveTo>
                    <a:pt x="0" y="0"/>
                  </a:moveTo>
                  <a:lnTo>
                    <a:pt x="0" y="2838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0215562" y="32670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8787765" y="3590925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28384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8682990" y="35385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6006465" y="3590925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28384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901690" y="35385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4705350" y="3810000"/>
              <a:ext cx="9525" cy="201930"/>
            </a:xfrm>
            <a:custGeom>
              <a:avLst/>
              <a:gdLst/>
              <a:ahLst/>
              <a:cxnLst/>
              <a:rect l="l" t="t" r="r" b="b"/>
              <a:pathLst>
                <a:path w="9525" h="201930">
                  <a:moveTo>
                    <a:pt x="0" y="0"/>
                  </a:moveTo>
                  <a:lnTo>
                    <a:pt x="0" y="2019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4652962" y="40119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4705350" y="4718685"/>
              <a:ext cx="9525" cy="201930"/>
            </a:xfrm>
            <a:custGeom>
              <a:avLst/>
              <a:gdLst/>
              <a:ahLst/>
              <a:cxnLst/>
              <a:rect l="l" t="t" r="r" b="b"/>
              <a:pathLst>
                <a:path w="9525" h="201930">
                  <a:moveTo>
                    <a:pt x="0" y="0"/>
                  </a:moveTo>
                  <a:lnTo>
                    <a:pt x="0" y="2019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4652962" y="49206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5901690" y="4417695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0" y="0"/>
                  </a:moveTo>
                  <a:lnTo>
                    <a:pt x="2838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6185535" y="436530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7486650" y="3914775"/>
              <a:ext cx="9525" cy="283845"/>
            </a:xfrm>
            <a:custGeom>
              <a:avLst/>
              <a:gdLst/>
              <a:ahLst/>
              <a:cxnLst/>
              <a:rect l="l" t="t" r="r" b="b"/>
              <a:pathLst>
                <a:path w="9525" h="283845">
                  <a:moveTo>
                    <a:pt x="0" y="28384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7434262" y="38100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1924050" y="3914775"/>
              <a:ext cx="1584960" cy="502920"/>
            </a:xfrm>
            <a:custGeom>
              <a:avLst/>
              <a:gdLst/>
              <a:ahLst/>
              <a:cxnLst/>
              <a:rect l="l" t="t" r="r" b="b"/>
              <a:pathLst>
                <a:path w="1584960" h="502920">
                  <a:moveTo>
                    <a:pt x="1584960" y="502920"/>
                  </a:moveTo>
                  <a:lnTo>
                    <a:pt x="1375410" y="502920"/>
                  </a:lnTo>
                  <a:lnTo>
                    <a:pt x="0" y="502920"/>
                  </a:lnTo>
                  <a:lnTo>
                    <a:pt x="0" y="104775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1871662" y="38100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1924050" y="2764155"/>
              <a:ext cx="1480185" cy="607695"/>
            </a:xfrm>
            <a:custGeom>
              <a:avLst/>
              <a:gdLst/>
              <a:ahLst/>
              <a:cxnLst/>
              <a:rect l="l" t="t" r="r" b="b"/>
              <a:pathLst>
                <a:path w="1480185" h="607695">
                  <a:moveTo>
                    <a:pt x="0" y="607695"/>
                  </a:moveTo>
                  <a:lnTo>
                    <a:pt x="0" y="398145"/>
                  </a:lnTo>
                  <a:lnTo>
                    <a:pt x="0" y="0"/>
                  </a:lnTo>
                  <a:lnTo>
                    <a:pt x="1375410" y="0"/>
                  </a:lnTo>
                  <a:lnTo>
                    <a:pt x="148018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3404235" y="27117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27710" y="1718310"/>
              <a:ext cx="2391728" cy="43815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3509010" y="1636395"/>
              <a:ext cx="2392680" cy="601980"/>
            </a:xfrm>
            <a:custGeom>
              <a:avLst/>
              <a:gdLst/>
              <a:ahLst/>
              <a:cxnLst/>
              <a:rect l="l" t="t" r="r" b="b"/>
              <a:pathLst>
                <a:path w="2392680" h="601980">
                  <a:moveTo>
                    <a:pt x="1196340" y="0"/>
                  </a:moveTo>
                  <a:lnTo>
                    <a:pt x="2392680" y="300990"/>
                  </a:lnTo>
                  <a:lnTo>
                    <a:pt x="1196340" y="601980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90310" y="1623060"/>
              <a:ext cx="2391728" cy="629602"/>
            </a:xfrm>
            <a:prstGeom prst="roundRect">
              <a:avLst>
                <a:gd name="adj" fmla="val 1512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3509010" y="2545080"/>
              <a:ext cx="239172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90310" y="2545080"/>
              <a:ext cx="239172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9071610" y="2545080"/>
              <a:ext cx="239172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27710" y="3371850"/>
              <a:ext cx="2391728" cy="438150"/>
            </a:xfrm>
            <a:prstGeom prst="roundRect">
              <a:avLst>
                <a:gd name="adj" fmla="val 17391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3509010" y="3371850"/>
              <a:ext cx="239172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90310" y="3371850"/>
              <a:ext cx="2391728" cy="438150"/>
            </a:xfrm>
            <a:prstGeom prst="roundRect">
              <a:avLst>
                <a:gd name="adj" fmla="val 21739"/>
              </a:avLst>
            </a:prstGeom>
            <a:solidFill>
              <a:srgbClr val="E5F2EA"/>
            </a:solidFill>
            <a:ln w="19050">
              <a:solidFill>
                <a:srgbClr val="2E7D4F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9071610" y="3371850"/>
              <a:ext cx="239172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3509010" y="4116705"/>
              <a:ext cx="2392680" cy="601980"/>
            </a:xfrm>
            <a:custGeom>
              <a:avLst/>
              <a:gdLst/>
              <a:ahLst/>
              <a:cxnLst/>
              <a:rect l="l" t="t" r="r" b="b"/>
              <a:pathLst>
                <a:path w="2392680" h="601980">
                  <a:moveTo>
                    <a:pt x="1196340" y="0"/>
                  </a:moveTo>
                  <a:lnTo>
                    <a:pt x="2392680" y="300990"/>
                  </a:lnTo>
                  <a:lnTo>
                    <a:pt x="1196340" y="601980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90310" y="4198620"/>
              <a:ext cx="2391728" cy="438150"/>
            </a:xfrm>
            <a:prstGeom prst="roundRect">
              <a:avLst>
                <a:gd name="adj" fmla="val 17391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3509010" y="5025390"/>
              <a:ext cx="2391728" cy="43815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572946" y="184832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问题识别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923462" y="184832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是否采用模拟技术？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86093" y="1738789"/>
              <a:ext cx="18011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采用解析法或其他数值解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354246" y="267509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建立模型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18605" y="267509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确定随机变量及其分布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658375" y="267509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产生均匀随机数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572946" y="350186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模型修正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354246" y="350186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结果分析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963232" y="350186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模型演算试验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313748" y="350186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产生随机变量的模拟数据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268089" y="432863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是否满意？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963232" y="432863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修正试验参数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526559" y="51554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决策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981700" y="172116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019991" y="174783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4733925" y="229933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757166" y="232600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4733925" y="477964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4757166" y="480631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581650" y="4201478"/>
              <a:ext cx="10287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595938" y="422814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否（参数问题）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2097405" y="4201478"/>
              <a:ext cx="10287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2111692" y="422814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否（模型问题）</a:t>
              </a:r>
            </a:p>
          </p:txBody>
        </p:sp>
      </p:grpSp>
      <p:grpSp>
        <p:nvGrpSpPr>
          <p:cNvPr id="7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72" name="Rectangle 7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1040130" y="5991225"/>
              <a:ext cx="104449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中间四步（确定分布、产生均匀随机数、产生模拟数据、演算试验）就是“模拟”本身；第2章解决其中的随机数问题。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第0章 绪论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119317" cy="3351847"/>
            <a:chOff x="667512" y="1835468"/>
            <a:chExt cx="4119317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11931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Monte Carlo 方法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用随机抽样回答确定性的或随机的问题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名字由来与简史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5664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Buffon 投针与定积分的估计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算法的组成部分与误差估计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随机数的产生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第0章 绪论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67065" cy="909257"/>
            <a:chOff x="520446" y="342900"/>
            <a:chExt cx="806706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2219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797" y="407194"/>
              <a:ext cx="22034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第0章 绪论 · Monte Carlo 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670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Monte Carlo 方法：用计算机产生随机数做数值模拟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602105"/>
            <a:chOff x="533400" y="1524000"/>
            <a:chExt cx="5410200" cy="16021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654391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统计模拟（statistical simulation）方法，亦称</a:t>
              </a:r>
              <a:br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Monte Carlo 方法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：利用计算机产生随机数进行数值模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拟的方法。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316605"/>
            <a:ext cx="5410200" cy="2988945"/>
            <a:chOff x="533400" y="3316605"/>
            <a:chExt cx="5410200" cy="2988945"/>
          </a:xfrm>
        </p:grpSpPr>
        <p:sp>
          <p:nvSpPr>
            <p:cNvPr id="13" name="Rectangle 13"/>
            <p:cNvSpPr/>
            <p:nvPr/>
          </p:nvSpPr>
          <p:spPr>
            <a:xfrm>
              <a:off x="533400" y="3316605"/>
              <a:ext cx="5410200" cy="2988945"/>
            </a:xfrm>
            <a:prstGeom prst="roundRect">
              <a:avLst>
                <a:gd name="adj" fmla="val 44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449955"/>
              <a:ext cx="47625" cy="27222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81050" y="352615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3359" y="356187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名字由来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396621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3903345"/>
              <a:ext cx="45967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Monte Carlo 是摩纳哥的一个城区，以赌场闻名；赌博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靠随机性，正好对应这种方法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86765" y="458724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4880" y="4524375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名字由 Nicholas Metropolis（1915–1999）提出，来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自洛斯阿拉莫斯实验室研究中子输运的工作，这项研究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延续自曼哈顿计划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4573" y="5427821"/>
              <a:ext cx="4621530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更正：原课件写 Monte Carlo 是摩纳哥首都、名字在二战期间提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出。摩纳哥是城邦国家，Monte Carlo 只是其中一区；命名在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1947 年前后，二战已经结束。</a:t>
              </a:r>
            </a:p>
          </p:txBody>
        </p:sp>
      </p:grpSp>
      <p:grpSp>
        <p:nvGrpSpPr>
          <p:cNvPr id="33" name="c2-card-1"/>
          <p:cNvGrpSpPr/>
          <p:nvPr/>
        </p:nvGrpSpPr>
        <p:grpSpPr>
          <a:xfrm>
            <a:off x="6248400" y="1524000"/>
            <a:ext cx="5410200" cy="4781550"/>
            <a:chOff x="6248400" y="1524000"/>
            <a:chExt cx="5410200" cy="4781550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4781550"/>
            </a:xfrm>
            <a:prstGeom prst="roundRect">
              <a:avLst>
                <a:gd name="adj" fmla="val 278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57925" y="1657350"/>
              <a:ext cx="47625" cy="45148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9605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73456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最小的例子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23798" y="1768792"/>
              <a:ext cx="28841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掷两颗骰子，点数和为 7 的概率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88430" y="2129790"/>
              <a:ext cx="42824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精确值：36 种等可能结果中有 6 种和为 7，概率为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6/36 ≈ 0.1667。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496050" y="2726055"/>
              <a:ext cx="4953000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24447" y="287797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23685" y="3139916"/>
              <a:ext cx="3069590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  &lt;- 100000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d1 &lt;- sample(1:6, n, replace = </a:t>
              </a:r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d2 &lt;- sample(1:6, n, replace = </a:t>
              </a:r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mean(d1 + d2 == 7)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频率，接近 0.1667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89573" y="4156234"/>
              <a:ext cx="475157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不推公式，让计算机“掷” 10 万次数频率，这就是 Monte Carlo 的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基本做法。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4" name="TextBox 34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第0章 绪论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23784" cy="909257"/>
            <a:chOff x="520446" y="342900"/>
            <a:chExt cx="77237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2219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797" y="407194"/>
              <a:ext cx="22034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第0章 绪论 · Monte Carlo 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237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Monte Carlo 方法简史：从投针实验到电子计算机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table-1"/>
          <p:cNvGrpSpPr/>
          <p:nvPr/>
        </p:nvGrpSpPr>
        <p:grpSpPr>
          <a:xfrm>
            <a:off x="533400" y="1524000"/>
            <a:ext cx="11125200" cy="3000375"/>
            <a:chOff x="533400" y="1524000"/>
            <a:chExt cx="11125200" cy="30003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1130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5821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人物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88642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事件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0555" y="2045494"/>
              <a:ext cx="1255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1733 年、1777 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299335" y="2045494"/>
              <a:ext cx="5136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24375" y="2045494"/>
              <a:ext cx="44441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提出投针问题（1733），在《道德算术试验》中发表解答（1777）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193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241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0555" y="2445544"/>
              <a:ext cx="5579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1812 年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299335" y="2445544"/>
              <a:ext cx="5586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Laplace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24375" y="2445544"/>
              <a:ext cx="41233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提出用投针实验估计 π，是有记载的最早的 Monte Carlo 应用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193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0555" y="2845594"/>
              <a:ext cx="11052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世纪 30 年代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299335" y="2845594"/>
              <a:ext cx="4231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Fermi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4375" y="2845594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在罗马研究中子扩散时用随机抽样做估算，没有发表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1194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124200"/>
              <a:ext cx="11125200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0555" y="3345656"/>
              <a:ext cx="9933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1946–1948 年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299335" y="3345656"/>
              <a:ext cx="14007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Ulam、von Neumann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24375" y="3245644"/>
              <a:ext cx="65544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为研究中子输运提出系统的随机抽样方法：由概率密度、累积分布函数的反函数抽样，设计伪随机数产生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器；在 ENIAC 上计算。Ulam 意识到了数字计算机的重要性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7195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0555" y="3845719"/>
              <a:ext cx="5579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1947 年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299335" y="3845719"/>
              <a:ext cx="4231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Fermi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24375" y="3845719"/>
              <a:ext cx="54893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设计机械模拟装置 FERMIAC，手推它在图纸上追踪中子路径，用于核反应堆等问题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1195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124325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0555" y="42457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此后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24375" y="4245769"/>
              <a:ext cx="4233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随着计算机和统计技术快速发展，方法不断丰富，应用越来越广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1524000"/>
              <a:ext cx="11125200" cy="30003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2197418" y="1524000"/>
              <a:ext cx="9525" cy="30003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422458" y="1524000"/>
              <a:ext cx="9525" cy="30003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8" name="c1-card-2"/>
          <p:cNvGrpSpPr/>
          <p:nvPr/>
        </p:nvGrpSpPr>
        <p:grpSpPr>
          <a:xfrm>
            <a:off x="533400" y="4693920"/>
            <a:ext cx="11125200" cy="1228725"/>
            <a:chOff x="533400" y="4693920"/>
            <a:chExt cx="11125200" cy="1228725"/>
          </a:xfrm>
        </p:grpSpPr>
        <p:sp>
          <p:nvSpPr>
            <p:cNvPr id="40" name="Rectangle 40"/>
            <p:cNvSpPr/>
            <p:nvPr/>
          </p:nvSpPr>
          <p:spPr>
            <a:xfrm>
              <a:off x="533400" y="4693920"/>
              <a:ext cx="11125200" cy="1228725"/>
            </a:xfrm>
            <a:prstGeom prst="roundRect">
              <a:avLst>
                <a:gd name="adj" fmla="val 108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542925" y="4827270"/>
              <a:ext cx="47625" cy="96202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58190" y="488061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50862" y="491347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66762" y="528161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22782" y="5225415"/>
              <a:ext cx="105451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原课件写“1768 年 Buffon 利用投针实验估计 π”。Buffon 1733 年提出问题、1777 年发表，用它估计 π 是 Laplace 1812 年提出的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66762" y="558165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22782" y="5525452"/>
              <a:ext cx="9651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 FERMIAC 写在 1930 年。Fermi 30 年代只是手工做抽样估算，FERMIAC 是 1947 年在洛斯阿拉莫斯设计制造的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第0章 绪论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16897" cy="909257"/>
            <a:chOff x="520446" y="342900"/>
            <a:chExt cx="781689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2219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797" y="407194"/>
              <a:ext cx="22034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第0章 绪论 · Monte Carlo 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1689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Buffon 投针：针与平行线相交的概率 p = 2l/(dπ)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977765" cy="1316355"/>
            <a:chOff x="533400" y="1524000"/>
            <a:chExt cx="4977765" cy="13163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3491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平面上画有间距为 d 的平行线，把长为 l（l &lt; d）的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针随机投到平面上，求针与某条直线相交的概率。</a:t>
              </a:r>
            </a:p>
          </p:txBody>
        </p:sp>
      </p:grpSp>
      <p:grpSp>
        <p:nvGrpSpPr>
          <p:cNvPr id="33" name="c1-graph-2"/>
          <p:cNvGrpSpPr/>
          <p:nvPr/>
        </p:nvGrpSpPr>
        <p:grpSpPr>
          <a:xfrm>
            <a:off x="770572" y="3430905"/>
            <a:ext cx="4503420" cy="2674620"/>
            <a:chOff x="770572" y="3430905"/>
            <a:chExt cx="4503420" cy="2674620"/>
          </a:xfrm>
        </p:grpSpPr>
        <p:sp>
          <p:nvSpPr>
            <p:cNvPr id="13" name="Freeform 13"/>
            <p:cNvSpPr/>
            <p:nvPr/>
          </p:nvSpPr>
          <p:spPr>
            <a:xfrm>
              <a:off x="770572" y="3430905"/>
              <a:ext cx="4503420" cy="9525"/>
            </a:xfrm>
            <a:custGeom>
              <a:avLst/>
              <a:gdLst/>
              <a:ahLst/>
              <a:cxnLst/>
              <a:rect l="l" t="t" r="r" b="b"/>
              <a:pathLst>
                <a:path w="4503420" h="9525">
                  <a:moveTo>
                    <a:pt x="0" y="0"/>
                  </a:moveTo>
                  <a:lnTo>
                    <a:pt x="4503420" y="0"/>
                  </a:lnTo>
                </a:path>
              </a:pathLst>
            </a:custGeom>
            <a:noFill/>
            <a:ln w="17145">
              <a:solidFill>
                <a:srgbClr val="2E7D4F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770572" y="6096000"/>
              <a:ext cx="4503420" cy="9525"/>
            </a:xfrm>
            <a:custGeom>
              <a:avLst/>
              <a:gdLst/>
              <a:ahLst/>
              <a:cxnLst/>
              <a:rect l="l" t="t" r="r" b="b"/>
              <a:pathLst>
                <a:path w="4503420" h="9525">
                  <a:moveTo>
                    <a:pt x="0" y="0"/>
                  </a:moveTo>
                  <a:lnTo>
                    <a:pt x="4503420" y="0"/>
                  </a:lnTo>
                </a:path>
              </a:pathLst>
            </a:custGeom>
            <a:noFill/>
            <a:ln w="17145">
              <a:solidFill>
                <a:srgbClr val="2E7D4F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065020" y="5363528"/>
              <a:ext cx="2511742" cy="9525"/>
            </a:xfrm>
            <a:custGeom>
              <a:avLst/>
              <a:gdLst/>
              <a:ahLst/>
              <a:cxnLst/>
              <a:rect l="l" t="t" r="r" b="b"/>
              <a:pathLst>
                <a:path w="2511742" h="9525">
                  <a:moveTo>
                    <a:pt x="0" y="0"/>
                  </a:moveTo>
                  <a:lnTo>
                    <a:pt x="251174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2468880" y="4067175"/>
              <a:ext cx="1504950" cy="1259205"/>
            </a:xfrm>
            <a:custGeom>
              <a:avLst/>
              <a:gdLst/>
              <a:ahLst/>
              <a:cxnLst/>
              <a:rect l="l" t="t" r="r" b="b"/>
              <a:pathLst>
                <a:path w="1504950" h="1259205">
                  <a:moveTo>
                    <a:pt x="0" y="1259205"/>
                  </a:moveTo>
                  <a:lnTo>
                    <a:pt x="150495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026920" y="3648075"/>
              <a:ext cx="9525" cy="1498282"/>
            </a:xfrm>
            <a:custGeom>
              <a:avLst/>
              <a:gdLst/>
              <a:ahLst/>
              <a:cxnLst/>
              <a:rect l="l" t="t" r="r" b="b"/>
              <a:pathLst>
                <a:path w="9525" h="1498282">
                  <a:moveTo>
                    <a:pt x="0" y="149828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979295" y="35528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979295" y="51463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4315778" y="4247198"/>
              <a:ext cx="9525" cy="899160"/>
            </a:xfrm>
            <a:custGeom>
              <a:avLst/>
              <a:gdLst/>
              <a:ahLst/>
              <a:cxnLst/>
              <a:rect l="l" t="t" r="r" b="b"/>
              <a:pathLst>
                <a:path w="9525" h="899160">
                  <a:moveTo>
                    <a:pt x="0" y="89916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268152" y="415194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4268152" y="51463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1130618" y="3648075"/>
              <a:ext cx="9525" cy="2230755"/>
            </a:xfrm>
            <a:custGeom>
              <a:avLst/>
              <a:gdLst/>
              <a:ahLst/>
              <a:cxnLst/>
              <a:rect l="l" t="t" r="r" b="b"/>
              <a:pathLst>
                <a:path w="9525" h="2230755">
                  <a:moveTo>
                    <a:pt x="0" y="0"/>
                  </a:moveTo>
                  <a:lnTo>
                    <a:pt x="0" y="22307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082992" y="58788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1082992" y="35528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2377440" y="5315902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970020" y="3982402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82294" y="46420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76132" y="430863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992821" y="4375309"/>
              <a:ext cx="58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76032" y="504205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θ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86582" y="4575334"/>
              <a:ext cx="4547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l·sinθ</a:t>
              </a:r>
            </a:p>
          </p:txBody>
        </p:sp>
      </p:grpSp>
      <p:grpSp>
        <p:nvGrpSpPr>
          <p:cNvPr id="47" name="c2-steps-1"/>
          <p:cNvGrpSpPr/>
          <p:nvPr/>
        </p:nvGrpSpPr>
        <p:grpSpPr>
          <a:xfrm>
            <a:off x="5815965" y="1533525"/>
            <a:ext cx="5432425" cy="2112930"/>
            <a:chOff x="5815965" y="1533525"/>
            <a:chExt cx="5432425" cy="2112930"/>
          </a:xfrm>
        </p:grpSpPr>
        <p:sp>
          <p:nvSpPr>
            <p:cNvPr id="34" name="Rectangle 34"/>
            <p:cNvSpPr/>
            <p:nvPr/>
          </p:nvSpPr>
          <p:spPr>
            <a:xfrm>
              <a:off x="5949315" y="1676400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5815965" y="241935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909589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5815965" y="306990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909589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27445" y="15678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设随机变量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28588" y="1861661"/>
              <a:ext cx="501980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A：针下端到上方直线的距离，A ~ U(0, d)；θ：针与直线的夹角，θ ~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U(0, π)；两者独立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27445" y="245364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相交条件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28588" y="2746534"/>
              <a:ext cx="32530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针的竖直高度为 l·sinθ，相交 ⇔ A ≤ l·sinθ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27445" y="310419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积分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28588" y="3397091"/>
              <a:ext cx="30456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联合密度为 1/(dπ)，在相交区域上积分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formula2"/>
              <p:cNvSpPr txBox="1">
                <a:spLocks noGrp="1"/>
              </p:cNvSpPr>
              <p:nvPr/>
            </p:nvSpPr>
            <p:spPr>
              <a:xfrm>
                <a:off x="5815965" y="3825240"/>
                <a:ext cx="5842635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π</m:t>
                          </m:r>
                        </m:sup>
                        <m:e>
                          <m:nary>
                            <m:naryPr>
                              <m:chr m:val="∫"/>
                              <m:limLoc m:val="subSup"/>
                              <m:grow m:val="off"/>
                              <m:subHide m:val="off"/>
                              <m:supHide m:val="off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  <m:func>
                                <m:funcPr/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θ</m:t>
                                  </m:r>
                                </m:e>
                              </m:func>
                            </m:sup>
                            <m:e>
                              <m:f>
                                <m:fPr>
                                  <m:type m:val="bar"/>
                                  <m:ctrl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dπ</m:t>
                                  </m:r>
                                </m:den>
                              </m:f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 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dA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 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dθ</m:t>
                              </m:r>
                            </m:e>
                          </m:nary>
                        </m:e>
                      </m:nary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dπ</m:t>
                          </m:r>
                        </m:den>
                      </m:f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π</m:t>
                          </m:r>
                        </m:sup>
                        <m:e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</m:func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dθ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2l</m:t>
                          </m:r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dπ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54" name="c2-callout-3"/>
          <p:cNvGrpSpPr/>
          <p:nvPr/>
        </p:nvGrpSpPr>
        <p:grpSpPr>
          <a:xfrm>
            <a:off x="5815965" y="4602480"/>
            <a:ext cx="5842635" cy="782955"/>
            <a:chOff x="5815965" y="4602480"/>
            <a:chExt cx="5842635" cy="782955"/>
          </a:xfrm>
        </p:grpSpPr>
        <p:sp>
          <p:nvSpPr>
            <p:cNvPr id="49" name="Rectangle 49"/>
            <p:cNvSpPr/>
            <p:nvPr/>
          </p:nvSpPr>
          <p:spPr>
            <a:xfrm>
              <a:off x="5815965" y="4602480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020753" y="4893947"/>
              <a:ext cx="200023" cy="200023"/>
              <a:chOff x="6020753" y="4893947"/>
              <a:chExt cx="200023" cy="200023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020753" y="489394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154103" y="49606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322695" y="4751070"/>
              <a:ext cx="47682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投 n 次、相交 m 次，用频率 m/n 代替 p，得 π 的估计值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2ln/(dm)。</a:t>
              </a:r>
            </a:p>
          </p:txBody>
        </p:sp>
      </p:grpSp>
      <p:grpSp>
        <p:nvGrpSpPr>
          <p:cNvPr id="61" name="c2-callout-4"/>
          <p:cNvGrpSpPr/>
          <p:nvPr/>
        </p:nvGrpSpPr>
        <p:grpSpPr>
          <a:xfrm>
            <a:off x="5815965" y="5575935"/>
            <a:ext cx="5842635" cy="782955"/>
            <a:chOff x="5815965" y="5575935"/>
            <a:chExt cx="5842635" cy="782955"/>
          </a:xfrm>
        </p:grpSpPr>
        <p:sp>
          <p:nvSpPr>
            <p:cNvPr id="55" name="Rectangle 55"/>
            <p:cNvSpPr/>
            <p:nvPr/>
          </p:nvSpPr>
          <p:spPr>
            <a:xfrm>
              <a:off x="5815965" y="5575935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020753" y="5867400"/>
              <a:ext cx="200026" cy="200026"/>
              <a:chOff x="6020753" y="5867400"/>
              <a:chExt cx="200026" cy="200026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6020753" y="586740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120765" y="59340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109653" y="596741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6322695" y="5724525"/>
              <a:ext cx="48444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&lt; d 保证针最多与一条直线相交；A 取遍 [0, d]、θ 取遍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[0, π]，覆盖了针相对直线的所有位置。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第0章 绪论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36896" cy="909257"/>
            <a:chOff x="520446" y="342900"/>
            <a:chExt cx="753689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2219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797" y="407194"/>
              <a:ext cx="22034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第0章 绪论 · Monte Carlo 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3689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用程序投针：n 增大 100 倍，误差约缩小到 1/10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1912620"/>
            <a:chOff x="533400" y="1524000"/>
            <a:chExt cx="5626418" cy="19126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912620"/>
            </a:xfrm>
            <a:prstGeom prst="roundRect">
              <a:avLst>
                <a:gd name="adj" fmla="val 49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2635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R：模拟投针并估计 π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3706368" cy="1424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buffon &lt;-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function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(n, l = 1, d = 2)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A     &lt;- runif(n, 0, d)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针下端到上方直线的距离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theta &lt;- runif(n, 0, pi)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针与直线的夹角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m &lt;- sum(A &lt;= l * sin(theta))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相交次数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2 * l * n / (d * m)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π 的估计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set.seed(2024)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buffon(1e4)</a:t>
              </a:r>
            </a:p>
          </p:txBody>
        </p:sp>
      </p:grpSp>
      <p:grpSp>
        <p:nvGrpSpPr>
          <p:cNvPr id="49" name="c1-table-2"/>
          <p:cNvGrpSpPr/>
          <p:nvPr/>
        </p:nvGrpSpPr>
        <p:grpSpPr>
          <a:xfrm>
            <a:off x="528447" y="3607118"/>
            <a:ext cx="5631371" cy="2663856"/>
            <a:chOff x="528447" y="3607118"/>
            <a:chExt cx="5631371" cy="2663856"/>
          </a:xfrm>
        </p:grpSpPr>
        <p:sp>
          <p:nvSpPr>
            <p:cNvPr id="11" name="Rectangle 11"/>
            <p:cNvSpPr/>
            <p:nvPr/>
          </p:nvSpPr>
          <p:spPr>
            <a:xfrm>
              <a:off x="533400" y="3607118"/>
              <a:ext cx="5626418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4181" y="3728561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投针次数 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304244" y="3728561"/>
              <a:ext cx="7807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相交次数 m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69920" y="3728561"/>
              <a:ext cx="598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π 的估计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054219" y="372856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理论标准误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12404" y="412861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10²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05982" y="412861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14587" y="412861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3.1250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23840" y="412861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0.460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40245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4407218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12404" y="452866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10³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564519" y="452866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309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814587" y="452866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3.2362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23840" y="452866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0.145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80250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12404" y="492871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23056" y="492871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3211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814587" y="492871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3.1143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723448" y="4816792"/>
              <a:ext cx="142684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23840" y="492871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0.046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520255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5207318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12404" y="532876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10⁵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481593" y="532876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32098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814587" y="532876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3.1155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23840" y="532876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0.015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560260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112404" y="572881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440130" y="572881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318658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814587" y="572881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3.1382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723448" y="5616892"/>
              <a:ext cx="142684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223840" y="572881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0.005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3607118"/>
              <a:ext cx="5626418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959292" y="3607118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3420428" y="3607118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4709160" y="3607118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28447" y="6080284"/>
              <a:ext cx="47179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 = 1，d = 2；用 Python 按同一方法模拟（种子 2024），换软件或种子数值会变</a:t>
              </a:r>
            </a:p>
          </p:txBody>
        </p:sp>
      </p:grpSp>
      <p:grpSp>
        <p:nvGrpSpPr>
          <p:cNvPr id="52" name="c2-image-1"/>
          <p:cNvGrpSpPr/>
          <p:nvPr/>
        </p:nvGrpSpPr>
        <p:grpSpPr>
          <a:xfrm>
            <a:off x="6464618" y="1524000"/>
            <a:ext cx="5193982" cy="2713386"/>
            <a:chOff x="6464618" y="1524000"/>
            <a:chExt cx="5193982" cy="2713386"/>
          </a:xfrm>
        </p:grpSpPr>
        <p:pic>
          <p:nvPicPr>
            <p:cNvPr id="50" name="Image 50"/>
            <p:cNvPicPr>
              <a:picLocks noChangeAspect="1"/>
            </p:cNvPicPr>
            <p:nvPr/>
          </p:nvPicPr>
          <p:blipFill>
            <a:blip r:embed="rId2"/>
            <a:srcRect l="0" t="18812" r="0" b="18813"/>
            <a:stretch>
              <a:fillRect/>
            </a:stretch>
          </p:blipFill>
          <p:spPr>
            <a:xfrm>
              <a:off x="6464618" y="1524000"/>
              <a:ext cx="5193982" cy="2429828"/>
            </a:xfrm>
            <a:prstGeom prst="roundRect">
              <a:avLst>
                <a:gd name="adj" fmla="val 5488"/>
              </a:avLst>
            </a:prstGeom>
          </p:spPr>
        </p:pic>
        <p:sp>
          <p:nvSpPr>
            <p:cNvPr id="51" name="TextBox 51"/>
            <p:cNvSpPr txBox="1"/>
            <p:nvPr/>
          </p:nvSpPr>
          <p:spPr>
            <a:xfrm>
              <a:off x="8067675" y="4046696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地板缝就是平行线，火柴短于板宽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formula7"/>
              <p:cNvSpPr txBox="1">
                <a:spLocks noGrp="1"/>
              </p:cNvSpPr>
              <p:nvPr/>
            </p:nvSpPr>
            <p:spPr>
              <a:xfrm>
                <a:off x="6464618" y="4387215"/>
                <a:ext cx="5193982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se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acc>
                            <m:accPr>
                              <m:chr m:val="ˆ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π</m:t>
                              </m:r>
                            </m:e>
                          </m:acc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π</m:t>
                      </m:r>
                      <m:rad>
                        <m:radPr>
                          <m:degHide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bar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num>
                            <m:den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np</m:t>
                              </m:r>
                            </m:den>
                          </m:f>
                        </m:e>
                      </m:ra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π</m:t>
                          </m:r>
                        </m:den>
                      </m:f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55" name="c2-text-3"/>
          <p:cNvGrpSpPr/>
          <p:nvPr/>
        </p:nvGrpSpPr>
        <p:grpSpPr>
          <a:xfrm>
            <a:off x="6458902" y="5039201"/>
            <a:ext cx="4675835" cy="220028"/>
            <a:chOff x="6458902" y="5039201"/>
            <a:chExt cx="4675835" cy="220028"/>
          </a:xfrm>
        </p:grpSpPr>
        <p:sp>
          <p:nvSpPr>
            <p:cNvPr id="54" name="TextBox 54"/>
            <p:cNvSpPr txBox="1"/>
            <p:nvPr/>
          </p:nvSpPr>
          <p:spPr>
            <a:xfrm>
              <a:off x="6458902" y="5039201"/>
              <a:ext cx="46758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m ~ B(n, p) 和估计值 2ln/(dm) 用一阶近似（delta 方法）得到。</a:t>
              </a:r>
            </a:p>
          </p:txBody>
        </p:sp>
      </p:grpSp>
      <p:grpSp>
        <p:nvGrpSpPr>
          <p:cNvPr id="62" name="c2-callout-4"/>
          <p:cNvGrpSpPr/>
          <p:nvPr/>
        </p:nvGrpSpPr>
        <p:grpSpPr>
          <a:xfrm>
            <a:off x="6464618" y="5384482"/>
            <a:ext cx="5193982" cy="978218"/>
            <a:chOff x="6464618" y="5384482"/>
            <a:chExt cx="5193982" cy="978218"/>
          </a:xfrm>
        </p:grpSpPr>
        <p:sp>
          <p:nvSpPr>
            <p:cNvPr id="56" name="Rectangle 56"/>
            <p:cNvSpPr/>
            <p:nvPr/>
          </p:nvSpPr>
          <p:spPr>
            <a:xfrm>
              <a:off x="6464618" y="5384482"/>
              <a:ext cx="5193982" cy="978218"/>
            </a:xfrm>
            <a:prstGeom prst="roundRect">
              <a:avLst>
                <a:gd name="adj" fmla="val 1168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6657347" y="5770363"/>
              <a:ext cx="224134" cy="192560"/>
              <a:chOff x="6657347" y="5770363"/>
              <a:chExt cx="224134" cy="19256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6769418" y="584073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657347" y="577036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769418" y="59185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6972110" y="5531168"/>
              <a:ext cx="4291394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n = 10⁵ 时误差 0.026，约为 1.8 个标准误，属于正常波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动。n 增大保证的是误差量级变小，单次结果不一定更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准。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第0章 绪论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290974" cy="909257"/>
            <a:chOff x="520446" y="342900"/>
            <a:chExt cx="429097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2219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797" y="407194"/>
              <a:ext cx="22034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第0章 绪论 · Monte Carlo 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2909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Monte Carlo 模拟用在哪里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table-1"/>
          <p:cNvGrpSpPr/>
          <p:nvPr/>
        </p:nvGrpSpPr>
        <p:grpSpPr>
          <a:xfrm>
            <a:off x="533400" y="1524000"/>
            <a:ext cx="6708458" cy="3826192"/>
            <a:chOff x="533400" y="1524000"/>
            <a:chExt cx="6708458" cy="38261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708458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5849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领域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7014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175390" y="16597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模拟的是什么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33505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自然现象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48993" y="2108359"/>
              <a:ext cx="196367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宇宙射线在地球大气中的传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输；高能物理实验中的核相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互作用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63580" y="2221706"/>
              <a:ext cx="26139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粒子每一步走多远、发生什么反应，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按概率抽样决定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86988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874645"/>
              <a:ext cx="670845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312372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实验探测器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48993" y="312372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探测器模拟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63580" y="3010376"/>
              <a:ext cx="26139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粒子穿过探测器留下的信号，用于设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计和标定探测器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54615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68569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数值分析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48993" y="3685699"/>
              <a:ext cx="21534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Monte Carlo 方法求积分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63580" y="3685699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把积分写成期望，用样本均值估计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994785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999548"/>
              <a:ext cx="670845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424767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金融工程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48993" y="424767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股票期权的模拟定价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63580" y="4134326"/>
              <a:ext cx="26139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模拟大量股价路径，对到期收益求平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均再贴现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67010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492394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离散事件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48993" y="492394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排队、库存、交通等系统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263580" y="4810601"/>
              <a:ext cx="24513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按随机的到达和服务时间推进事件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（第3章）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6708458" cy="38261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736408" y="1524000"/>
              <a:ext cx="9525" cy="38261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150995" y="1524000"/>
              <a:ext cx="9525" cy="38261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1" name="c2-card-1"/>
          <p:cNvGrpSpPr/>
          <p:nvPr/>
        </p:nvGrpSpPr>
        <p:grpSpPr>
          <a:xfrm>
            <a:off x="7546658" y="1524000"/>
            <a:ext cx="4111942" cy="1937385"/>
            <a:chOff x="7546658" y="1524000"/>
            <a:chExt cx="4111942" cy="1937385"/>
          </a:xfrm>
        </p:grpSpPr>
        <p:sp>
          <p:nvSpPr>
            <p:cNvPr id="36" name="Rectangle 36"/>
            <p:cNvSpPr/>
            <p:nvPr/>
          </p:nvSpPr>
          <p:spPr>
            <a:xfrm>
              <a:off x="7546658" y="1524000"/>
              <a:ext cx="4111942" cy="1937385"/>
            </a:xfrm>
            <a:prstGeom prst="roundRect">
              <a:avLst>
                <a:gd name="adj" fmla="val 6883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756208" y="1733550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812913" y="176926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为什么高维问题常用它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748588" y="2110740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数值求积在每一维取 k 个格点，d 维就要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kᵈ 个点，维数一高就算不动。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48588" y="2731770"/>
              <a:ext cx="3358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Monte Carlo 估计的标准误是 σ/√n，收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敛速度与维数无关。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7546658" y="3651885"/>
            <a:ext cx="4111942" cy="1698308"/>
            <a:chOff x="7546658" y="3651885"/>
            <a:chExt cx="4111942" cy="1698308"/>
          </a:xfrm>
        </p:grpSpPr>
        <p:sp>
          <p:nvSpPr>
            <p:cNvPr id="42" name="Rectangle 42"/>
            <p:cNvSpPr/>
            <p:nvPr/>
          </p:nvSpPr>
          <p:spPr>
            <a:xfrm>
              <a:off x="7546658" y="3651885"/>
              <a:ext cx="4111942" cy="1698308"/>
            </a:xfrm>
            <a:prstGeom prst="roundRect">
              <a:avLst>
                <a:gd name="adj" fmla="val 78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7556182" y="3785235"/>
              <a:ext cx="47625" cy="143160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794308" y="38614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885468" y="38971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786688" y="4238625"/>
              <a:ext cx="3387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收敛慢：精度要提高 10 倍，模拟次数要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 100 倍。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8" name="Rectangle 4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130" y="5991225"/>
              <a:ext cx="103375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选方法的经验：维数高、系统复杂、难以写出解析解时优先考虑 Monte Carlo；低维且光滑的问题优先用数值方法。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第0章 绪论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2219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797" y="407194"/>
              <a:ext cx="22034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第0章 绪论 · Monte Carlo 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注意两点：它与数值解法不同，也不只处理随机问题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compare-1"/>
          <p:cNvGrpSpPr/>
          <p:nvPr/>
        </p:nvGrpSpPr>
        <p:grpSpPr>
          <a:xfrm>
            <a:off x="533400" y="1524000"/>
            <a:ext cx="11125200" cy="1223962"/>
            <a:chOff x="533400" y="1524000"/>
            <a:chExt cx="11125200" cy="12239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391150" cy="1223962"/>
            </a:xfrm>
            <a:prstGeom prst="roundRect">
              <a:avLst>
                <a:gd name="adj" fmla="val 108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5726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1332" y="1732597"/>
              <a:ext cx="15447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Monte Carlo 方法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66762" y="2105978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22782" y="204978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利用随机抽样的方法解决问题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6762" y="240601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2782" y="234981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结果带统计误差，可以给出置信区间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267450" y="1524000"/>
              <a:ext cx="5391150" cy="1223962"/>
            </a:xfrm>
            <a:prstGeom prst="roundRect">
              <a:avLst>
                <a:gd name="adj" fmla="val 108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76975" y="1657350"/>
              <a:ext cx="47625" cy="9572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85382" y="173259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数值解法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6500812" y="2105978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56832" y="2049780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从数学模型出发，通过分析或数值计算求解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500812" y="240601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56832" y="234981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结果是确定的，误差来自截断和舍入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934075" y="197358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04415" y="206978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29" name="c1-card-2"/>
          <p:cNvGrpSpPr/>
          <p:nvPr/>
        </p:nvGrpSpPr>
        <p:grpSpPr>
          <a:xfrm>
            <a:off x="533400" y="2917508"/>
            <a:ext cx="11125200" cy="1519238"/>
            <a:chOff x="533400" y="2917508"/>
            <a:chExt cx="11125200" cy="1519238"/>
          </a:xfrm>
        </p:grpSpPr>
        <p:sp>
          <p:nvSpPr>
            <p:cNvPr id="24" name="Rectangle 24"/>
            <p:cNvSpPr/>
            <p:nvPr/>
          </p:nvSpPr>
          <p:spPr>
            <a:xfrm>
              <a:off x="533400" y="2917508"/>
              <a:ext cx="11125200" cy="1519238"/>
            </a:xfrm>
            <a:prstGeom prst="roundRect">
              <a:avLst>
                <a:gd name="adj" fmla="val 8777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20090" y="3104198"/>
              <a:ext cx="1995488" cy="23812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1868" y="3137059"/>
              <a:ext cx="19128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非随机问题怎样用 Monte Carlo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3232" y="3449002"/>
              <a:ext cx="78284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问题本身不含随机量（如定积分）时，先把所求量写成某个随机变量的期望，再用样本均值估计：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11"/>
                <p:cNvSpPr txBox="1">
                  <a:spLocks noGrp="1"/>
                </p:cNvSpPr>
                <p:nvPr/>
              </p:nvSpPr>
              <p:spPr>
                <a:xfrm>
                  <a:off x="720090" y="3726180"/>
                  <a:ext cx="10751820" cy="5067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  <m:sup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sup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dx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U</m:t>
                                </m:r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U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U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9" name="c1-table-3"/>
          <p:cNvGrpSpPr/>
          <p:nvPr/>
        </p:nvGrpSpPr>
        <p:grpSpPr>
          <a:xfrm>
            <a:off x="533400" y="4606290"/>
            <a:ext cx="11125200" cy="1600200"/>
            <a:chOff x="533400" y="4606290"/>
            <a:chExt cx="11125200" cy="1600200"/>
          </a:xfrm>
        </p:grpSpPr>
        <p:sp>
          <p:nvSpPr>
            <p:cNvPr id="30" name="Rectangle 30"/>
            <p:cNvSpPr/>
            <p:nvPr/>
          </p:nvSpPr>
          <p:spPr>
            <a:xfrm>
              <a:off x="533400" y="4606290"/>
              <a:ext cx="1112520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712316" y="47277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009591" y="47277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数值解法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904194" y="4727734"/>
              <a:ext cx="1281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Monte Carlo 方法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0555" y="5127784"/>
              <a:ext cx="19696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一维光滑积分，如 ∫₀¹ eˣ dx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300412" y="5127784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辛普森公式取几个点就很准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28560" y="5127784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能做，但要大量样本才达到同样精度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54016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33400" y="540639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0555" y="5527834"/>
              <a:ext cx="685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维积分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300412" y="5527834"/>
              <a:ext cx="20468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每维 10 个格点就要 10¹⁰ 个点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28560" y="5527834"/>
              <a:ext cx="1142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标准误仍是 σ/√n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58016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0555" y="592788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排队等带随机性的系统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300412" y="592788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很难写出可解的数学模型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28560" y="592788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直接按规则模拟过程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4606290"/>
              <a:ext cx="11125200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3198495" y="460629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426642" y="460629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第0章 绪论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76197" cy="909257"/>
            <a:chOff x="520446" y="342900"/>
            <a:chExt cx="627619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2219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797" y="407194"/>
              <a:ext cx="22034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第0章 绪论 · Monte Carlo 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7619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例：随机投点法估计定积分（以 π 为例）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388209" cy="2529173"/>
            <a:chOff x="533400" y="1533525"/>
            <a:chExt cx="5388209" cy="2529173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3464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48615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1567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框住曲线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1861661"/>
              <a:ext cx="49755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设在 [a, b] 上 0 ≤ g(x) ≤ c，所求面积在矩形 [a, b]×[0, c] 内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21837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均匀投点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512219"/>
              <a:ext cx="40097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独立产生 Xᵢ ~ U(a, b)，Yᵢ ~ U(0, c)，i = 1, …, 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868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162776"/>
              <a:ext cx="33280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数出落在曲线下方（Yᵢ ≤ g(Xᵢ)）的点数 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52044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813334"/>
              <a:ext cx="39072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面积 ≈ 矩形面积 × 命中比例，即 θ ≈ c(b − a)·m/n</a:t>
              </a:r>
            </a:p>
          </p:txBody>
        </p:sp>
      </p:grpSp>
      <p:grpSp>
        <p:nvGrpSpPr>
          <p:cNvPr id="28" name="c1-code-2"/>
          <p:cNvGrpSpPr/>
          <p:nvPr/>
        </p:nvGrpSpPr>
        <p:grpSpPr>
          <a:xfrm>
            <a:off x="533400" y="4241482"/>
            <a:ext cx="6059805" cy="1110615"/>
            <a:chOff x="533400" y="4241482"/>
            <a:chExt cx="6059805" cy="1110615"/>
          </a:xfrm>
        </p:grpSpPr>
        <p:sp>
          <p:nvSpPr>
            <p:cNvPr id="25" name="Rectangle 25"/>
            <p:cNvSpPr/>
            <p:nvPr/>
          </p:nvSpPr>
          <p:spPr>
            <a:xfrm>
              <a:off x="533400" y="4241482"/>
              <a:ext cx="6059805" cy="1110615"/>
            </a:xfrm>
            <a:prstGeom prst="roundRect">
              <a:avLst>
                <a:gd name="adj" fmla="val 8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1797" y="4393406"/>
              <a:ext cx="37744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取 g(x) = √(1 − x²)，[0, 1]×[0, 1]：四分之一圆面积为 π/4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1035" y="4655344"/>
              <a:ext cx="2863342" cy="625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 &lt;- 1e4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x &lt;- runif(n); y &lt;- runif(n)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4 * mean(x^2 + y^2 &lt;= 1)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π 的估计</a:t>
              </a:r>
            </a:p>
          </p:txBody>
        </p:sp>
      </p:grpSp>
      <p:grpSp>
        <p:nvGrpSpPr>
          <p:cNvPr id="35" name="c1-callout-3"/>
          <p:cNvGrpSpPr/>
          <p:nvPr/>
        </p:nvGrpSpPr>
        <p:grpSpPr>
          <a:xfrm>
            <a:off x="533400" y="5542598"/>
            <a:ext cx="6059805" cy="782955"/>
            <a:chOff x="533400" y="5542598"/>
            <a:chExt cx="6059805" cy="782955"/>
          </a:xfrm>
        </p:grpSpPr>
        <p:sp>
          <p:nvSpPr>
            <p:cNvPr id="29" name="Rectangle 29"/>
            <p:cNvSpPr/>
            <p:nvPr/>
          </p:nvSpPr>
          <p:spPr>
            <a:xfrm>
              <a:off x="533400" y="5542598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26129" y="5830371"/>
              <a:ext cx="224134" cy="192560"/>
              <a:chOff x="726129" y="5830371"/>
              <a:chExt cx="224134" cy="19256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838200" y="590073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26129" y="583037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38200" y="597852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130" y="5691188"/>
              <a:ext cx="49015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c 必须不小于 g 在 [a, b] 上的最大值，否则矩形框不住曲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线，估计会偏小。</a:t>
              </a:r>
            </a:p>
          </p:txBody>
        </p:sp>
      </p:grpSp>
      <p:grpSp>
        <p:nvGrpSpPr>
          <p:cNvPr id="38" name="c2-image-1"/>
          <p:cNvGrpSpPr/>
          <p:nvPr/>
        </p:nvGrpSpPr>
        <p:grpSpPr>
          <a:xfrm>
            <a:off x="7078028" y="1524000"/>
            <a:ext cx="4399598" cy="3614262"/>
            <a:chOff x="7078028" y="1524000"/>
            <a:chExt cx="4399598" cy="3614262"/>
          </a:xfrm>
        </p:grpSpPr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2"/>
            <a:srcRect l="0" t="4" r="0" b="3"/>
            <a:stretch>
              <a:fillRect/>
            </a:stretch>
          </p:blipFill>
          <p:spPr>
            <a:xfrm>
              <a:off x="7078028" y="1524000"/>
              <a:ext cx="4399598" cy="3299460"/>
            </a:xfrm>
            <a:prstGeom prst="roundRect">
              <a:avLst>
                <a:gd name="adj" fmla="val 4041"/>
              </a:avLst>
            </a:prstGeom>
          </p:spPr>
        </p:pic>
        <p:sp>
          <p:nvSpPr>
            <p:cNvPr id="37" name="TextBox 37"/>
            <p:cNvSpPr txBox="1"/>
            <p:nvPr/>
          </p:nvSpPr>
          <p:spPr>
            <a:xfrm>
              <a:off x="7617838" y="4918234"/>
              <a:ext cx="3320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点均匀分布时，落在四分之一圆内的比例约为 π/4</a:t>
              </a:r>
            </a:p>
          </p:txBody>
        </p:sp>
      </p:grpSp>
      <p:grpSp>
        <p:nvGrpSpPr>
          <p:cNvPr id="45" name="c2-callout-2"/>
          <p:cNvGrpSpPr/>
          <p:nvPr/>
        </p:nvGrpSpPr>
        <p:grpSpPr>
          <a:xfrm>
            <a:off x="6898005" y="5303520"/>
            <a:ext cx="4760595" cy="1059180"/>
            <a:chOff x="6898005" y="5303520"/>
            <a:chExt cx="4760595" cy="1059180"/>
          </a:xfrm>
        </p:grpSpPr>
        <p:sp>
          <p:nvSpPr>
            <p:cNvPr id="39" name="Rectangle 39"/>
            <p:cNvSpPr/>
            <p:nvPr/>
          </p:nvSpPr>
          <p:spPr>
            <a:xfrm>
              <a:off x="6898005" y="5303520"/>
              <a:ext cx="4760595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102793" y="5733098"/>
              <a:ext cx="200026" cy="200026"/>
              <a:chOff x="7102793" y="5733098"/>
              <a:chExt cx="200026" cy="200026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102793" y="573309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202805" y="57997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191693" y="583311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7404735" y="5452110"/>
              <a:ext cx="36252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每个点命中与否是 0-1 变量，命中概率 p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π/4，所以 4·(m/n) 的方差为 16p(1 −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p)/n。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第0章 绪论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1214" cy="909257"/>
            <a:chOff x="520446" y="342900"/>
            <a:chExt cx="895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2219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797" y="407194"/>
              <a:ext cx="22034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第0章 绪论 · Monte Carlo 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例：平均值法估计同一个积分，标准误只有投点法的一半多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4"/>
              <p:cNvSpPr txBox="1">
                <a:spLocks noGrp="1"/>
              </p:cNvSpPr>
              <p:nvPr/>
            </p:nvSpPr>
            <p:spPr>
              <a:xfrm>
                <a:off x="533400" y="1524000"/>
                <a:ext cx="5085398" cy="6915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ˆ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U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∼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1" name="c1-code-2"/>
          <p:cNvGrpSpPr/>
          <p:nvPr/>
        </p:nvGrpSpPr>
        <p:grpSpPr>
          <a:xfrm>
            <a:off x="533400" y="2406015"/>
            <a:ext cx="5085398" cy="1110615"/>
            <a:chOff x="533400" y="2406015"/>
            <a:chExt cx="5085398" cy="1110615"/>
          </a:xfrm>
        </p:grpSpPr>
        <p:sp>
          <p:nvSpPr>
            <p:cNvPr id="8" name="Rectangle 8"/>
            <p:cNvSpPr/>
            <p:nvPr/>
          </p:nvSpPr>
          <p:spPr>
            <a:xfrm>
              <a:off x="533400" y="2406015"/>
              <a:ext cx="5085398" cy="1110615"/>
            </a:xfrm>
            <a:prstGeom prst="roundRect">
              <a:avLst>
                <a:gd name="adj" fmla="val 8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61797" y="2557939"/>
              <a:ext cx="11316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R：平均值法估计 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61035" y="2820829"/>
              <a:ext cx="1810766" cy="625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 &lt;- 1e4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u &lt;- runif(n)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4 * mean(sqrt(1 - u^2))</a:t>
              </a:r>
            </a:p>
          </p:txBody>
        </p:sp>
      </p:grpSp>
      <p:grpSp>
        <p:nvGrpSpPr>
          <p:cNvPr id="20" name="c1-card-3"/>
          <p:cNvGrpSpPr/>
          <p:nvPr/>
        </p:nvGrpSpPr>
        <p:grpSpPr>
          <a:xfrm>
            <a:off x="533400" y="3707130"/>
            <a:ext cx="5085398" cy="2259330"/>
            <a:chOff x="533400" y="3707130"/>
            <a:chExt cx="5085398" cy="2259330"/>
          </a:xfrm>
        </p:grpSpPr>
        <p:sp>
          <p:nvSpPr>
            <p:cNvPr id="12" name="Rectangle 12"/>
            <p:cNvSpPr/>
            <p:nvPr/>
          </p:nvSpPr>
          <p:spPr>
            <a:xfrm>
              <a:off x="533400" y="3707130"/>
              <a:ext cx="5085398" cy="2259330"/>
            </a:xfrm>
            <a:prstGeom prst="roundRect">
              <a:avLst>
                <a:gd name="adj" fmla="val 590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42925" y="3840480"/>
              <a:ext cx="47625" cy="19926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81050" y="391668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63359" y="395239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方差推导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435673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4293870"/>
              <a:ext cx="4063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投点法：Var(4I) = 16·(π/4)(1 − π/4) = π(4 −</a:t>
              </a:r>
              <a:br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π) ≈ 2.697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6765" y="497776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4914900"/>
              <a:ext cx="3758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平均值法：Var(4√(1−U²)) = 16(E[1−U²] −</a:t>
              </a:r>
              <a:br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π²/16) = 32/3 − π² ≈ 0.797</a:t>
              </a:r>
            </a:p>
          </p:txBody>
        </p:sp>
      </p:grpSp>
      <p:grpSp>
        <p:nvGrpSpPr>
          <p:cNvPr id="47" name="c2-table-1"/>
          <p:cNvGrpSpPr/>
          <p:nvPr/>
        </p:nvGrpSpPr>
        <p:grpSpPr>
          <a:xfrm>
            <a:off x="5917882" y="1524000"/>
            <a:ext cx="5740718" cy="2539842"/>
            <a:chOff x="5917882" y="1524000"/>
            <a:chExt cx="5740718" cy="2539842"/>
          </a:xfrm>
        </p:grpSpPr>
        <p:sp>
          <p:nvSpPr>
            <p:cNvPr id="21" name="Rectangle 21"/>
            <p:cNvSpPr/>
            <p:nvPr/>
          </p:nvSpPr>
          <p:spPr>
            <a:xfrm>
              <a:off x="5923598" y="1524000"/>
              <a:ext cx="5735002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9830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990584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随机投点法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59121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平均值法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31420" y="2108359"/>
              <a:ext cx="9555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单次方差 σ²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184437" y="210835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2.697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698912" y="210835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0.797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923598" y="2416492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923598" y="2421255"/>
              <a:ext cx="573500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31420" y="2556986"/>
              <a:ext cx="13626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10⁴ 的标准误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137051" y="2556986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0.0164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651526" y="2556986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0.0089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923598" y="2866072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031420" y="3005614"/>
              <a:ext cx="19975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一次模拟结果（n = 10⁴）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137051" y="3005614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3.1500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651526" y="3005614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3.1369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923598" y="3314700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923598" y="3319462"/>
              <a:ext cx="573500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031420" y="3454241"/>
              <a:ext cx="20518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标准误达到 0.01 需要的 n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184437" y="345424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26968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235565" y="3328988"/>
              <a:ext cx="141351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746298" y="345424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7971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923598" y="1524000"/>
              <a:ext cx="5735002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624888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10221278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917882" y="3843814"/>
              <a:ext cx="38315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模拟结果用 Python 按同一方法算出，所需 n = σ²/0.01²</a:t>
              </a:r>
            </a:p>
          </p:txBody>
        </p:sp>
      </p:grpSp>
      <p:grpSp>
        <p:nvGrpSpPr>
          <p:cNvPr id="53" name="c2-callout-2"/>
          <p:cNvGrpSpPr/>
          <p:nvPr/>
        </p:nvGrpSpPr>
        <p:grpSpPr>
          <a:xfrm>
            <a:off x="5923598" y="4210050"/>
            <a:ext cx="5735002" cy="782955"/>
            <a:chOff x="5923598" y="4210050"/>
            <a:chExt cx="5735002" cy="782955"/>
          </a:xfrm>
        </p:grpSpPr>
        <p:sp>
          <p:nvSpPr>
            <p:cNvPr id="48" name="Rectangle 48"/>
            <p:cNvSpPr/>
            <p:nvPr/>
          </p:nvSpPr>
          <p:spPr>
            <a:xfrm>
              <a:off x="5923598" y="4210050"/>
              <a:ext cx="5735002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128385" y="4501515"/>
              <a:ext cx="200026" cy="200026"/>
              <a:chOff x="6128385" y="4501515"/>
              <a:chExt cx="200026" cy="200026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128385" y="45015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195060" y="457930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6430328" y="4358640"/>
              <a:ext cx="45681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平均值法直接用 g(U) 的取值，不再丢掉“差多少”的信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息，方差约为投点法的 1/3.4。</a:t>
              </a:r>
            </a:p>
          </p:txBody>
        </p:sp>
      </p:grpSp>
      <p:grpSp>
        <p:nvGrpSpPr>
          <p:cNvPr id="60" name="c2-callout-3"/>
          <p:cNvGrpSpPr/>
          <p:nvPr/>
        </p:nvGrpSpPr>
        <p:grpSpPr>
          <a:xfrm>
            <a:off x="5923598" y="5183505"/>
            <a:ext cx="5735002" cy="782955"/>
            <a:chOff x="5923598" y="5183505"/>
            <a:chExt cx="5735002" cy="782955"/>
          </a:xfrm>
        </p:grpSpPr>
        <p:sp>
          <p:nvSpPr>
            <p:cNvPr id="54" name="Rectangle 54"/>
            <p:cNvSpPr/>
            <p:nvPr/>
          </p:nvSpPr>
          <p:spPr>
            <a:xfrm>
              <a:off x="5923598" y="5183505"/>
              <a:ext cx="5735002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6128385" y="5474970"/>
              <a:ext cx="200026" cy="200025"/>
              <a:chOff x="6128385" y="5474970"/>
              <a:chExt cx="200026" cy="2000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128385" y="547497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168124" y="551942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202839" y="563054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6430328" y="5332095"/>
              <a:ext cx="46920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同样的思路发展下去就是第3章的重要抽样法和方差缩减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技术。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第0章 绪论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10346" cy="909257"/>
            <a:chOff x="520446" y="342900"/>
            <a:chExt cx="841034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2219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797" y="407194"/>
              <a:ext cx="22034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第0章 绪论 · Monte Carlo 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1034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Monte Carlo 算法的七个组成部分（以投针实验对照）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4" name="c1-table-1"/>
          <p:cNvGrpSpPr/>
          <p:nvPr/>
        </p:nvGrpSpPr>
        <p:grpSpPr>
          <a:xfrm>
            <a:off x="533400" y="1524000"/>
            <a:ext cx="11125200" cy="3959542"/>
            <a:chOff x="533400" y="1524000"/>
            <a:chExt cx="11125200" cy="39595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629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44918" y="165592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组成部分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785081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64282" y="165592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在投针实验中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4746" y="2119789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概率密度函数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636901" y="2119789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给出与所研究问题相关的一组概率密度函数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32751" y="2119789"/>
              <a:ext cx="22892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~ U(0, d)，θ ~ U(0, π)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4602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50782"/>
              <a:ext cx="11125200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4746" y="258270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随机数产生器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36901" y="2582704"/>
              <a:ext cx="31972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产生区间 [0, 1] 上均匀分布的随机数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32751" y="2582704"/>
              <a:ext cx="26716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runif() 背后的伪随机数产生器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90893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4746" y="304561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抽样方法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36901" y="3045619"/>
              <a:ext cx="47743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[0, 1] 上的均匀随机数得到服从给定 pdf 的随机变量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32751" y="3045619"/>
              <a:ext cx="17388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d·U₁，θ = π·U₂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728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377565"/>
              <a:ext cx="11125200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4746" y="350948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模拟结果记录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36901" y="350948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记录感兴趣量的模拟结果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32751" y="3509486"/>
              <a:ext cx="9798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相交次数 m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83571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4746" y="397240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误差估计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36901" y="3972401"/>
              <a:ext cx="46023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确定统计误差（或方差）随模拟次数以及其他量的变化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32751" y="3972401"/>
              <a:ext cx="20312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 ≈ π√((1 − p)/(np))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29863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303395"/>
              <a:ext cx="11125200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4746" y="4436269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减少方差的技术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636901" y="4436269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减少达到给定精度所需的模拟次数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32751" y="4436269"/>
              <a:ext cx="35605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改用方差更小的估计量（第3章方差缩减）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76250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4746" y="502586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并行和矢量化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636901" y="5025866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设计能在并行计算机上高效运行的算法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32751" y="4899184"/>
              <a:ext cx="3774567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各次投针相互独立，可分给多核同时算；R 中用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向量运算代替循环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1524000"/>
              <a:ext cx="11125200" cy="395954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2530792" y="1524000"/>
              <a:ext cx="9525" cy="39595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426642" y="1524000"/>
              <a:ext cx="9525" cy="39595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45" name="Rectangle 45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6011228"/>
              <a:ext cx="200026" cy="200026"/>
              <a:chOff x="738188" y="6011228"/>
              <a:chExt cx="200026" cy="200026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60112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38200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27088" y="61112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511" y="6011704"/>
              <a:ext cx="92092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第2章讲随机数产生器和抽样方法，第3章讲误差估计之后的方差缩减；本章的例子已经把七个部分都用到了。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第0章 绪论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76236" cy="909257"/>
            <a:chOff x="520446" y="342900"/>
            <a:chExt cx="607623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2219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797" y="407194"/>
              <a:ext cx="22034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第0章 绪论 · Monte Carlo 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7623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误差估计：标准误 σ/√n，给出置信区间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626418" cy="4558665"/>
            <a:chOff x="533400" y="1524000"/>
            <a:chExt cx="5626418" cy="45586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558665"/>
            </a:xfrm>
            <a:prstGeom prst="roundRect">
              <a:avLst>
                <a:gd name="adj" fmla="val 29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29196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依据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大数定律与中心极限定理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8920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Y₁, …, Yₙ 独立同分布，E(Yᵢ) = θ，Var(Yᵢ) = σ²，用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样本均值作估计量，则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7"/>
                <p:cNvSpPr txBox="1">
                  <a:spLocks noGrp="1"/>
                </p:cNvSpPr>
                <p:nvPr/>
              </p:nvSpPr>
              <p:spPr>
                <a:xfrm>
                  <a:off x="781050" y="2726055"/>
                  <a:ext cx="5169218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acc>
                                  <m:accPr>
                                    <m:chr m:val="ˆ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se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acc>
                                  <m:accPr>
                                    <m:chr m:val="ˆ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</m:rad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73430" y="341185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较大时近似正态，95% 置信区间为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18"/>
                <p:cNvSpPr txBox="1">
                  <a:spLocks noGrp="1"/>
                </p:cNvSpPr>
                <p:nvPr/>
              </p:nvSpPr>
              <p:spPr>
                <a:xfrm>
                  <a:off x="781050" y="3722370"/>
                  <a:ext cx="5169218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acc>
                              <m:accPr>
                                <m:chr m:val="ˆ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</m:acc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±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1.96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</m:rad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TextBox 16"/>
            <p:cNvSpPr txBox="1"/>
            <p:nvPr/>
          </p:nvSpPr>
          <p:spPr>
            <a:xfrm>
              <a:off x="774573" y="4404836"/>
              <a:ext cx="28905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 是样本标准差，用来代替未知的 σ。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6464618" y="1524000"/>
            <a:ext cx="5193982" cy="3585210"/>
            <a:chOff x="6464618" y="1524000"/>
            <a:chExt cx="5193982" cy="3585210"/>
          </a:xfrm>
        </p:grpSpPr>
        <p:sp>
          <p:nvSpPr>
            <p:cNvPr id="18" name="Rectangle 18"/>
            <p:cNvSpPr/>
            <p:nvPr/>
          </p:nvSpPr>
          <p:spPr>
            <a:xfrm>
              <a:off x="6464618" y="1524000"/>
              <a:ext cx="5193982" cy="3585210"/>
            </a:xfrm>
            <a:prstGeom prst="roundRect">
              <a:avLst>
                <a:gd name="adj" fmla="val 37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474142" y="1657350"/>
              <a:ext cx="47625" cy="331851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712268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807378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71373" y="1768792"/>
              <a:ext cx="28084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平均值法，n = 10⁴ 的一次模拟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712268" y="2105025"/>
              <a:ext cx="4736782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93101" y="224075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75812" y="22407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数值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20091" y="268938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估计值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63808" y="2689384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3.1424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712268" y="2997518"/>
              <a:ext cx="47367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712268" y="3002280"/>
              <a:ext cx="47367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20091" y="3138011"/>
              <a:ext cx="10283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样本标准差 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63808" y="3138011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0.8966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712268" y="3447098"/>
              <a:ext cx="47367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20091" y="3586639"/>
              <a:ext cx="9822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标准误 s/√n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63808" y="3586639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0.0090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712268" y="3895725"/>
              <a:ext cx="47367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712268" y="3900488"/>
              <a:ext cx="47367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20091" y="4035266"/>
              <a:ext cx="10912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95% 置信区间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411485" y="4035266"/>
              <a:ext cx="14862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[3.1248, 3.1600]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712268" y="2105025"/>
              <a:ext cx="4736782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8854440" y="210502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05791" y="4465796"/>
              <a:ext cx="45239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区间包含真值 π = 3.1416。重复模拟很多次，约 95% 的区间会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包含 π。</a:t>
              </a:r>
            </a:p>
          </p:txBody>
        </p:sp>
      </p:grpSp>
      <p:grpSp>
        <p:nvGrpSpPr>
          <p:cNvPr id="49" name="c2-callout-2"/>
          <p:cNvGrpSpPr/>
          <p:nvPr/>
        </p:nvGrpSpPr>
        <p:grpSpPr>
          <a:xfrm>
            <a:off x="6464618" y="5299710"/>
            <a:ext cx="5193982" cy="782955"/>
            <a:chOff x="6464618" y="5299710"/>
            <a:chExt cx="5193982" cy="782955"/>
          </a:xfrm>
        </p:grpSpPr>
        <p:sp>
          <p:nvSpPr>
            <p:cNvPr id="43" name="Rectangle 43"/>
            <p:cNvSpPr/>
            <p:nvPr/>
          </p:nvSpPr>
          <p:spPr>
            <a:xfrm>
              <a:off x="6464618" y="5299710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657347" y="5587483"/>
              <a:ext cx="224134" cy="192560"/>
              <a:chOff x="6657347" y="5587483"/>
              <a:chExt cx="224134" cy="19256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769418" y="565785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657347" y="558748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769418" y="57356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971348" y="5448300"/>
              <a:ext cx="42824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标准误减半要 4 倍样本，多一位有效数字要 100 倍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样本。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第0章 绪论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94495" cy="909257"/>
            <a:chOff x="520446" y="342900"/>
            <a:chExt cx="92944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2219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797" y="407194"/>
              <a:ext cx="22034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第0章 绪论 · Monte Carlo 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944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模拟的第一步是产生随机数：先有均匀随机数，再抽任意分布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869180" cy="2184082"/>
            <a:chOff x="533400" y="1524000"/>
            <a:chExt cx="4869180" cy="21840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2184082"/>
            </a:xfrm>
            <a:prstGeom prst="roundRect">
              <a:avLst>
                <a:gd name="adj" fmla="val 610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1738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655" y="176926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为什么先学随机数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2062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用随机（统计）模拟方法解决实际问题，首先要解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决随机数的产生方法，也称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随机变量的抽样方法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即如何从已知分布的总体中抽取简单子样。它在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Monte Carlo 方法中占有非常重要的地位。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4573" y="3299936"/>
              <a:ext cx="41517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简单子样：X₁, …, Xₙ 相互独立，且都与总体同分布。</a:t>
              </a:r>
            </a:p>
          </p:txBody>
        </p:sp>
      </p:grpSp>
      <p:grpSp>
        <p:nvGrpSpPr>
          <p:cNvPr id="30" name="c1-flow-2"/>
          <p:cNvGrpSpPr/>
          <p:nvPr/>
        </p:nvGrpSpPr>
        <p:grpSpPr>
          <a:xfrm>
            <a:off x="703898" y="4295775"/>
            <a:ext cx="4528185" cy="1669733"/>
            <a:chOff x="703898" y="4295775"/>
            <a:chExt cx="4528185" cy="1669733"/>
          </a:xfrm>
        </p:grpSpPr>
        <p:sp>
          <p:nvSpPr>
            <p:cNvPr id="14" name="Freeform 14"/>
            <p:cNvSpPr/>
            <p:nvPr/>
          </p:nvSpPr>
          <p:spPr>
            <a:xfrm>
              <a:off x="2797492" y="4514850"/>
              <a:ext cx="236220" cy="9525"/>
            </a:xfrm>
            <a:custGeom>
              <a:avLst/>
              <a:gdLst/>
              <a:ahLst/>
              <a:cxnLst/>
              <a:rect l="l" t="t" r="r" b="b"/>
              <a:pathLst>
                <a:path w="236220" h="9525">
                  <a:moveTo>
                    <a:pt x="0" y="0"/>
                  </a:moveTo>
                  <a:lnTo>
                    <a:pt x="23622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033712" y="44624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4185285" y="4733925"/>
              <a:ext cx="9525" cy="688657"/>
            </a:xfrm>
            <a:custGeom>
              <a:avLst/>
              <a:gdLst/>
              <a:ahLst/>
              <a:cxnLst/>
              <a:rect l="l" t="t" r="r" b="b"/>
              <a:pathLst>
                <a:path w="9525" h="688657">
                  <a:moveTo>
                    <a:pt x="0" y="0"/>
                  </a:moveTo>
                  <a:lnTo>
                    <a:pt x="0" y="68865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132898" y="542258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2902268" y="5746432"/>
              <a:ext cx="236220" cy="9525"/>
            </a:xfrm>
            <a:custGeom>
              <a:avLst/>
              <a:gdLst/>
              <a:ahLst/>
              <a:cxnLst/>
              <a:rect l="l" t="t" r="r" b="b"/>
              <a:pathLst>
                <a:path w="236220" h="9525">
                  <a:moveTo>
                    <a:pt x="23622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797492" y="56940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03898" y="4295775"/>
              <a:ext cx="209359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138488" y="4295775"/>
              <a:ext cx="209359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138488" y="5527358"/>
              <a:ext cx="2093595" cy="438150"/>
            </a:xfrm>
            <a:prstGeom prst="roundRect">
              <a:avLst>
                <a:gd name="adj" fmla="val 21739"/>
              </a:avLst>
            </a:prstGeom>
            <a:solidFill>
              <a:srgbClr val="E5F2EA"/>
            </a:solidFill>
            <a:ln w="19050">
              <a:solidFill>
                <a:srgbClr val="2E7D4F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703898" y="5527358"/>
              <a:ext cx="2093595" cy="43815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227277" y="442579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随机数产生器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92617" y="4425791"/>
              <a:ext cx="11853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U(0,1) 随机数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43335" y="5657374"/>
              <a:ext cx="10838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服从 F 的样本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99591" y="565737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模拟计算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213860" y="5038725"/>
              <a:ext cx="6286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237101" y="50653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抽样方法</a:t>
              </a:r>
            </a:p>
          </p:txBody>
        </p:sp>
      </p:grpSp>
      <p:grpSp>
        <p:nvGrpSpPr>
          <p:cNvPr id="56" name="c2-table-1"/>
          <p:cNvGrpSpPr/>
          <p:nvPr/>
        </p:nvGrpSpPr>
        <p:grpSpPr>
          <a:xfrm>
            <a:off x="5707380" y="1524000"/>
            <a:ext cx="5951220" cy="3377565"/>
            <a:chOff x="5707380" y="1524000"/>
            <a:chExt cx="5951220" cy="3377565"/>
          </a:xfrm>
        </p:grpSpPr>
        <p:sp>
          <p:nvSpPr>
            <p:cNvPr id="31" name="Rectangle 31"/>
            <p:cNvSpPr/>
            <p:nvPr/>
          </p:nvSpPr>
          <p:spPr>
            <a:xfrm>
              <a:off x="5707380" y="1524000"/>
              <a:ext cx="5951220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89158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产生方法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4983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203028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优缺点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815203" y="2108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手工方法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86766" y="210835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掷骰子、抛硬币、抽签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386126" y="210835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真随机，但速度太慢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707380" y="241649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707380" y="2421255"/>
              <a:ext cx="5951220" cy="112871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815203" y="289702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随机数表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86766" y="2556986"/>
              <a:ext cx="2126234" cy="929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把事先产生好的随机数字印成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表，如 Tippett 随机数表</a:t>
              </a:r>
            </a:p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（1927）、RAND 公司《百万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随机数字》（1955）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386126" y="2783681"/>
              <a:ext cx="19636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可反复查用；数量有限，输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入计算机不便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707380" y="354615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815203" y="379904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物理方法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86766" y="3685699"/>
              <a:ext cx="21262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利用放射性衰变、电子噪声等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物理过程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386126" y="3685699"/>
              <a:ext cx="19636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真随机；要专门设备，结果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无法重现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707380" y="422148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707380" y="4226242"/>
              <a:ext cx="595122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716905" y="4235768"/>
              <a:ext cx="1052512" cy="656272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815203" y="447436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伪随机数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86766" y="4361021"/>
              <a:ext cx="21262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在计算机上用确定的递推公式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产生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386126" y="4361021"/>
              <a:ext cx="19636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快、可重现；有周期，只是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“看起来随机”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707380" y="1524000"/>
              <a:ext cx="5951220" cy="33775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774180" y="1524000"/>
              <a:ext cx="9525" cy="33775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9273540" y="1524000"/>
              <a:ext cx="9525" cy="33775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2" name="c2-callout-2"/>
          <p:cNvGrpSpPr/>
          <p:nvPr/>
        </p:nvGrpSpPr>
        <p:grpSpPr>
          <a:xfrm>
            <a:off x="5707380" y="5092065"/>
            <a:ext cx="5951220" cy="782955"/>
            <a:chOff x="5707380" y="5092065"/>
            <a:chExt cx="5951220" cy="782955"/>
          </a:xfrm>
        </p:grpSpPr>
        <p:sp>
          <p:nvSpPr>
            <p:cNvPr id="57" name="Rectangle 57"/>
            <p:cNvSpPr/>
            <p:nvPr/>
          </p:nvSpPr>
          <p:spPr>
            <a:xfrm>
              <a:off x="5707380" y="5092065"/>
              <a:ext cx="5951220" cy="782955"/>
            </a:xfrm>
            <a:prstGeom prst="roundRect">
              <a:avLst>
                <a:gd name="adj" fmla="val 14599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5912168" y="5383532"/>
              <a:ext cx="200023" cy="200023"/>
              <a:chOff x="5912168" y="5383532"/>
              <a:chExt cx="200023" cy="200023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5912168" y="538353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045518" y="545020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6214110" y="5240655"/>
              <a:ext cx="4987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现在的模拟几乎都用伪随机数，所以要检验它“像不像”独立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 U(0,1) 样本（第2章）。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第0章 绪论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02061" cy="909257"/>
            <a:chOff x="520446" y="342900"/>
            <a:chExt cx="78020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2219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797" y="407194"/>
              <a:ext cx="22034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第0章 绪论 · Monte Carlo 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020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伪随机数的早期做法：von Neumann 的平方取中法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9122283" cy="293370"/>
            <a:chOff x="525780" y="1548765"/>
            <a:chExt cx="9122283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91222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取 4 位数种子 x₀；把 xₙ² 写成 8 位（不足补 0），取中间 4 位作 xₙ₊₁；随机数 uₙ₊₁ = xₙ₊₁ / 10⁴。</a:t>
              </a:r>
            </a:p>
          </p:txBody>
        </p:sp>
      </p:grpSp>
      <p:grpSp>
        <p:nvGrpSpPr>
          <p:cNvPr id="40" name="c1-table-1"/>
          <p:cNvGrpSpPr/>
          <p:nvPr/>
        </p:nvGrpSpPr>
        <p:grpSpPr>
          <a:xfrm>
            <a:off x="528066" y="1954530"/>
            <a:ext cx="5199316" cy="2401824"/>
            <a:chOff x="528066" y="1954530"/>
            <a:chExt cx="5199316" cy="2401824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193982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67386" y="208311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27545" y="208311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xₙ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157157" y="2083118"/>
              <a:ext cx="9208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xₙ²（8 位）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915578" y="2083118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xₙ₊₁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67386" y="25069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43138" y="250698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1234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56102" y="2506980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01522756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24463" y="250698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5227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79844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803208"/>
              <a:ext cx="519398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67386" y="293179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43138" y="2931795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5227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256102" y="2931795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27321529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924463" y="2931795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3215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22326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67386" y="33566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43138" y="335661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3215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256102" y="3356610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10336225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924463" y="335661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3362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64712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3651885"/>
              <a:ext cx="519398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67386" y="378047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43138" y="378047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3362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256102" y="3780472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11303044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924463" y="378047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3030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1954530"/>
              <a:ext cx="5193982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503045" y="195453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2741295" y="195453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484370" y="195453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8066" y="4150995"/>
              <a:ext cx="40391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种子 1234 开始时看起来很随机，但到第 56 步变成 0 后一直是 0</a:t>
              </a:r>
            </a:p>
          </p:txBody>
        </p:sp>
      </p:grpSp>
      <p:grpSp>
        <p:nvGrpSpPr>
          <p:cNvPr id="55" name="c1-table-2"/>
          <p:cNvGrpSpPr/>
          <p:nvPr/>
        </p:nvGrpSpPr>
        <p:grpSpPr>
          <a:xfrm>
            <a:off x="533400" y="4495800"/>
            <a:ext cx="5193982" cy="1697355"/>
            <a:chOff x="533400" y="4495800"/>
            <a:chExt cx="5193982" cy="1697355"/>
          </a:xfrm>
        </p:grpSpPr>
        <p:sp>
          <p:nvSpPr>
            <p:cNvPr id="41" name="Rectangle 41"/>
            <p:cNvSpPr/>
            <p:nvPr/>
          </p:nvSpPr>
          <p:spPr>
            <a:xfrm>
              <a:off x="533400" y="4495800"/>
              <a:ext cx="5193982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84872" y="46234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种子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240024" y="46234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出现的问题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5889" y="5048250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2100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675067" y="5048250"/>
              <a:ext cx="3484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周期只有 4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：2100 → 4100 → 8100 → 6100 → 2100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533971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33400" y="5344478"/>
              <a:ext cx="519398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5889" y="5473065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3792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675067" y="5473065"/>
              <a:ext cx="37196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3792² = 14379264，中间 4 位还是 3792，</a:t>
              </a:r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原地不动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576357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5889" y="5896928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1234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675067" y="5896928"/>
              <a:ext cx="23384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56 步退化为 0，此后一直是 0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4495800"/>
              <a:ext cx="5193982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1567815" y="449580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c2-code-1"/>
          <p:cNvGrpSpPr/>
          <p:nvPr/>
        </p:nvGrpSpPr>
        <p:grpSpPr>
          <a:xfrm>
            <a:off x="6032182" y="1954530"/>
            <a:ext cx="5626418" cy="2207895"/>
            <a:chOff x="6032182" y="1954530"/>
            <a:chExt cx="5626418" cy="2207895"/>
          </a:xfrm>
        </p:grpSpPr>
        <p:sp>
          <p:nvSpPr>
            <p:cNvPr id="56" name="Rectangle 56"/>
            <p:cNvSpPr/>
            <p:nvPr/>
          </p:nvSpPr>
          <p:spPr>
            <a:xfrm>
              <a:off x="6032182" y="1954530"/>
              <a:ext cx="5626418" cy="2207895"/>
            </a:xfrm>
            <a:prstGeom prst="roundRect">
              <a:avLst>
                <a:gd name="adj" fmla="val 431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160580" y="2106454"/>
              <a:ext cx="8819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R：平方取中法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160198" y="2367915"/>
              <a:ext cx="3457766" cy="1721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midsq &lt;- </a:t>
              </a:r>
              <a:r>
                <a:rPr lang="en-US" sz="105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function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(x0, k)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x &lt;- numeric(k); cur &lt;- x0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05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</a:t>
              </a:r>
              <a:r>
                <a:rPr lang="en-US" sz="105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1:k)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cur  &lt;- (cur^2 %/% 100) %% 10000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x[i] &lt;- cur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}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x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midsq(2100, 6)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4100 8100 6100 2100 4100 8100</a:t>
              </a:r>
            </a:p>
          </p:txBody>
        </p:sp>
      </p:grpSp>
      <p:grpSp>
        <p:nvGrpSpPr>
          <p:cNvPr id="70" name="c2-card-2"/>
          <p:cNvGrpSpPr/>
          <p:nvPr/>
        </p:nvGrpSpPr>
        <p:grpSpPr>
          <a:xfrm>
            <a:off x="6032182" y="4343400"/>
            <a:ext cx="5626418" cy="1886902"/>
            <a:chOff x="6032182" y="4343400"/>
            <a:chExt cx="5626418" cy="1886902"/>
          </a:xfrm>
        </p:grpSpPr>
        <p:sp>
          <p:nvSpPr>
            <p:cNvPr id="60" name="Rectangle 60"/>
            <p:cNvSpPr/>
            <p:nvPr/>
          </p:nvSpPr>
          <p:spPr>
            <a:xfrm>
              <a:off x="6032182" y="4343400"/>
              <a:ext cx="5626418" cy="1886902"/>
            </a:xfrm>
            <a:prstGeom prst="roundRect">
              <a:avLst>
                <a:gd name="adj" fmla="val 70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041708" y="4476750"/>
              <a:ext cx="47625" cy="162020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268402" y="454152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347841" y="45758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现在怎么做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276022" y="4961572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432614" y="4902041"/>
              <a:ext cx="50897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这些缺陷使平方取中法被淘汰，常用线性同余法等（第2章）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276022" y="5279708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432614" y="5219224"/>
              <a:ext cx="31724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默认用 Mersenne-Twister 产生器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6276022" y="5597842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432614" y="5537359"/>
              <a:ext cx="451396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set.seed(1) 后再调用 runif(3)，每次得到同样的 3 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数，便于复查结果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第0章 绪论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047317" cy="3351847"/>
            <a:chOff x="667512" y="1835468"/>
            <a:chExt cx="4047317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04731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统计软件与 R 语言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6185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本课的计算和模拟都可以在 R 中完成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20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 常用统计软件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101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的包、库与帮助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例：简单线性回归图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251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RStudio 与项目管理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第0章 绪论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0219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50" y="407194"/>
              <a:ext cx="2178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第0章 绪论 · 统计软件与 R 语言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常用统计软件：从电子表格到编程环境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table-1"/>
          <p:cNvGrpSpPr/>
          <p:nvPr/>
        </p:nvGrpSpPr>
        <p:grpSpPr>
          <a:xfrm>
            <a:off x="533400" y="1524000"/>
            <a:ext cx="6924675" cy="3372802"/>
            <a:chOff x="533400" y="1524000"/>
            <a:chExt cx="6924675" cy="337280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924675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943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软件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8636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05412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适合做什么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221706"/>
              <a:ext cx="4703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Excel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10868" y="2108359"/>
              <a:ext cx="295529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电子表格，内置统计函数和“数据分析”工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935093" y="2221706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小数据的整理、描述统计和图表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692467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783681"/>
              <a:ext cx="4335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SPSS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10868" y="2783681"/>
              <a:ext cx="27712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以菜单和对话框操作为主，现属 IBM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935093" y="2783681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不写代码完成常规统计分析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92768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345656"/>
              <a:ext cx="3283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SAS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10868" y="3232309"/>
              <a:ext cx="290652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商业统计系统，用 DATA 步和 PROC 步编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935093" y="334565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大型机构的数据管理与分析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68090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772852"/>
              <a:ext cx="692467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907631"/>
              <a:ext cx="6438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S-PLUS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10868" y="3907631"/>
              <a:ext cx="22900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贝尔实验室 S 语言的商业实现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935093" y="390763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早期流行的统计编程环境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216718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4231005"/>
              <a:ext cx="950595" cy="656272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1223" y="4470559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610868" y="4357211"/>
              <a:ext cx="291465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语言的开源实现，免费，扩展包非常丰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35093" y="4357211"/>
              <a:ext cx="22887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统计计算、模拟与作图（本课使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用）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524000"/>
              <a:ext cx="6924675" cy="337280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498282" y="1524000"/>
              <a:ext cx="9525" cy="33728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822508" y="1524000"/>
              <a:ext cx="9525" cy="33728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7" name="c1-flow-2"/>
          <p:cNvGrpSpPr/>
          <p:nvPr/>
        </p:nvGrpSpPr>
        <p:grpSpPr>
          <a:xfrm>
            <a:off x="775335" y="5187315"/>
            <a:ext cx="6440805" cy="1075373"/>
            <a:chOff x="775335" y="5187315"/>
            <a:chExt cx="6440805" cy="1075373"/>
          </a:xfrm>
        </p:grpSpPr>
        <p:sp>
          <p:nvSpPr>
            <p:cNvPr id="37" name="Freeform 37"/>
            <p:cNvSpPr/>
            <p:nvPr/>
          </p:nvSpPr>
          <p:spPr>
            <a:xfrm>
              <a:off x="3753802" y="5406390"/>
              <a:ext cx="380047" cy="9525"/>
            </a:xfrm>
            <a:custGeom>
              <a:avLst/>
              <a:gdLst/>
              <a:ahLst/>
              <a:cxnLst/>
              <a:rect l="l" t="t" r="r" b="b"/>
              <a:pathLst>
                <a:path w="380047" h="9525">
                  <a:moveTo>
                    <a:pt x="0" y="0"/>
                  </a:moveTo>
                  <a:lnTo>
                    <a:pt x="380047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4133850" y="53540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2265045" y="5625465"/>
              <a:ext cx="1868805" cy="418147"/>
            </a:xfrm>
            <a:custGeom>
              <a:avLst/>
              <a:gdLst/>
              <a:ahLst/>
              <a:cxnLst/>
              <a:rect l="l" t="t" r="r" b="b"/>
              <a:pathLst>
                <a:path w="1868805" h="418147">
                  <a:moveTo>
                    <a:pt x="0" y="0"/>
                  </a:moveTo>
                  <a:lnTo>
                    <a:pt x="0" y="209550"/>
                  </a:lnTo>
                  <a:lnTo>
                    <a:pt x="0" y="418147"/>
                  </a:lnTo>
                  <a:lnTo>
                    <a:pt x="1764030" y="418147"/>
                  </a:lnTo>
                  <a:lnTo>
                    <a:pt x="1868805" y="41814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4133850" y="59912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75335" y="5187315"/>
              <a:ext cx="2977515" cy="43815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238625" y="5187315"/>
              <a:ext cx="297751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4238625" y="5824538"/>
              <a:ext cx="2977515" cy="438150"/>
            </a:xfrm>
            <a:prstGeom prst="roundRect">
              <a:avLst>
                <a:gd name="adj" fmla="val 21739"/>
              </a:avLst>
            </a:prstGeom>
            <a:solidFill>
              <a:srgbClr val="E5F2EA"/>
            </a:solidFill>
            <a:ln w="19050">
              <a:solidFill>
                <a:srgbClr val="2E7D4F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401909" y="5317331"/>
              <a:ext cx="1726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 语言（贝尔实验室）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989711" y="5317331"/>
              <a:ext cx="147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S-PLUS：商业实现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446110" y="5954554"/>
              <a:ext cx="25625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R：开源实现，语法与 S 大体兼容</a:t>
              </a:r>
            </a:p>
          </p:txBody>
        </p:sp>
      </p:grpSp>
      <p:grpSp>
        <p:nvGrpSpPr>
          <p:cNvPr id="56" name="c2-card-1"/>
          <p:cNvGrpSpPr/>
          <p:nvPr/>
        </p:nvGrpSpPr>
        <p:grpSpPr>
          <a:xfrm>
            <a:off x="7762875" y="1524000"/>
            <a:ext cx="3895725" cy="4706302"/>
            <a:chOff x="7762875" y="1524000"/>
            <a:chExt cx="3895725" cy="4706302"/>
          </a:xfrm>
        </p:grpSpPr>
        <p:sp>
          <p:nvSpPr>
            <p:cNvPr id="48" name="Rectangle 48"/>
            <p:cNvSpPr/>
            <p:nvPr/>
          </p:nvSpPr>
          <p:spPr>
            <a:xfrm>
              <a:off x="7762875" y="1524000"/>
              <a:ext cx="3895725" cy="4706302"/>
            </a:xfrm>
            <a:prstGeom prst="roundRect">
              <a:avLst>
                <a:gd name="adj" fmla="val 34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772400" y="1657350"/>
              <a:ext cx="47625" cy="443960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8010525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092834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自学资料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896350" y="176879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两份免费网络版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002905" y="2129790"/>
              <a:ext cx="331089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教材《统计计算》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https://www.math.pku.edu.cn/te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achers/lidf/docs/statcomp/html/_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statcompbook/index.html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002905" y="3322320"/>
              <a:ext cx="331089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《R 语言教程》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https://www.math.pku.edu.cn/te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achers/lidf/docs/Rbook/html/_Rbo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ok/index.html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004048" y="4511516"/>
              <a:ext cx="321538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两书作者相同（李东风），R 教程系统介绍 R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的使用与编程，适合配合本课边学边练。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第0章 绪论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28686" cy="909257"/>
            <a:chOff x="520446" y="342900"/>
            <a:chExt cx="652868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0219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50" y="407194"/>
              <a:ext cx="2178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第0章 绪论 · 统计软件与 R 语言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2868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语言：免费、可编程、专为统计分析设计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kv-1"/>
          <p:cNvGrpSpPr/>
          <p:nvPr/>
        </p:nvGrpSpPr>
        <p:grpSpPr>
          <a:xfrm>
            <a:off x="525780" y="1548765"/>
            <a:ext cx="5958840" cy="2617470"/>
            <a:chOff x="525780" y="1548765"/>
            <a:chExt cx="5958840" cy="26174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70622" y="1548765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用于统计分析、图形表示和报告的编程语言和软件环境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86880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198882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起源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70622" y="1988820"/>
              <a:ext cx="51015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由新西兰奥克兰大学的 Ross Ihaka 和 Robert Gentleman 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建，现由 R 核心开发团队开发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59080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2710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语言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70622" y="271081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解释型语言，支持分支、循环以及使用函数的模块化编程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03085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5780" y="315087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扩展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70622" y="3150870"/>
              <a:ext cx="47399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可调用 C、C++、.Net、Python、Fortran 程序提速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47091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5780" y="35909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许可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70622" y="3590925"/>
              <a:ext cx="47205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GNU 通用公共许可证（GPL）下免费提供，有 Linux、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Windows、macOS 的预编译版本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4297680"/>
            <a:ext cx="5951220" cy="1887855"/>
            <a:chOff x="533400" y="4297680"/>
            <a:chExt cx="5951220" cy="1887855"/>
          </a:xfrm>
        </p:grpSpPr>
        <p:sp>
          <p:nvSpPr>
            <p:cNvPr id="22" name="Rectangle 22"/>
            <p:cNvSpPr/>
            <p:nvPr/>
          </p:nvSpPr>
          <p:spPr>
            <a:xfrm>
              <a:off x="533400" y="4297680"/>
              <a:ext cx="5951220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4431030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81050" y="450723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71258" y="45429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3430" y="4884420"/>
              <a:ext cx="520636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原课件“R 是一个在 GNU 风格的副本左侧的自由软件”是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copyleft 的误译。原意：R 是按 GNU 风格的 copyleft（著佐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权）方式发布的自由软件，是 GNU 项目的正式组成部分，称为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GNU S。</a:t>
              </a:r>
            </a:p>
          </p:txBody>
        </p:sp>
      </p:grpSp>
      <p:grpSp>
        <p:nvGrpSpPr>
          <p:cNvPr id="47" name="c2-bullets-1"/>
          <p:cNvGrpSpPr/>
          <p:nvPr/>
        </p:nvGrpSpPr>
        <p:grpSpPr>
          <a:xfrm>
            <a:off x="6781800" y="1548765"/>
            <a:ext cx="4705350" cy="2943225"/>
            <a:chOff x="6781800" y="1548765"/>
            <a:chExt cx="4705350" cy="2943225"/>
          </a:xfrm>
        </p:grpSpPr>
        <p:sp>
          <p:nvSpPr>
            <p:cNvPr id="28" name="TextBox 28"/>
            <p:cNvSpPr txBox="1"/>
            <p:nvPr/>
          </p:nvSpPr>
          <p:spPr>
            <a:xfrm>
              <a:off x="6781800" y="1548765"/>
              <a:ext cx="8114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R 的特点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789420" y="188976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51269" y="193205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90410" y="190309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简单有效的编程语言：条件、循环、递归函数、输入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789420" y="252031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51269" y="25626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90410" y="253365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有效的数据处理和存储功能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789420" y="286512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51269" y="290741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90410" y="287845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一套用于数组、列表、向量和矩阵计算的运算符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789420" y="320992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851269" y="325221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90410" y="322326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大型、一致、集成的数据分析工具集合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789420" y="355473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51269" y="35970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90410" y="356806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可在屏幕上显示或打印到纸上的图形功能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789420" y="389953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51269" y="39418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90410" y="391287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使用最广泛的统计编程语言之一，社区贡献了大量扩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展包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第0章 绪论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0219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50" y="407194"/>
              <a:ext cx="2178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第0章 绪论 · 统计软件与 R 语言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包与库：安装一次，每次使用前载入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kv-1"/>
          <p:cNvGrpSpPr/>
          <p:nvPr/>
        </p:nvGrpSpPr>
        <p:grpSpPr>
          <a:xfrm>
            <a:off x="526542" y="1545907"/>
            <a:ext cx="4551236" cy="910781"/>
            <a:chOff x="526542" y="1545907"/>
            <a:chExt cx="4551236" cy="910781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包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53262" y="1545907"/>
              <a:ext cx="3931348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函数、数据、预编译代码以一种定义完善的格式组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成的集合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08597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542" y="2192655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53262" y="219265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存储包的目录</a:t>
              </a:r>
            </a:p>
          </p:txBody>
        </p:sp>
      </p:grpSp>
      <p:grpSp>
        <p:nvGrpSpPr>
          <p:cNvPr id="31" name="c1-flow-2"/>
          <p:cNvGrpSpPr/>
          <p:nvPr/>
        </p:nvGrpSpPr>
        <p:grpSpPr>
          <a:xfrm>
            <a:off x="692468" y="2782252"/>
            <a:ext cx="4227194" cy="1198245"/>
            <a:chOff x="692468" y="2782252"/>
            <a:chExt cx="4227194" cy="1198245"/>
          </a:xfrm>
        </p:grpSpPr>
        <p:sp>
          <p:nvSpPr>
            <p:cNvPr id="13" name="Freeform 13"/>
            <p:cNvSpPr/>
            <p:nvPr/>
          </p:nvSpPr>
          <p:spPr>
            <a:xfrm>
              <a:off x="2646998" y="2978468"/>
              <a:ext cx="213360" cy="9525"/>
            </a:xfrm>
            <a:custGeom>
              <a:avLst/>
              <a:gdLst/>
              <a:ahLst/>
              <a:cxnLst/>
              <a:rect l="l" t="t" r="r" b="b"/>
              <a:pathLst>
                <a:path w="213360" h="9525">
                  <a:moveTo>
                    <a:pt x="0" y="0"/>
                  </a:moveTo>
                  <a:lnTo>
                    <a:pt x="21336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860358" y="29260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941445" y="3170872"/>
              <a:ext cx="9525" cy="319088"/>
            </a:xfrm>
            <a:custGeom>
              <a:avLst/>
              <a:gdLst/>
              <a:ahLst/>
              <a:cxnLst/>
              <a:rect l="l" t="t" r="r" b="b"/>
              <a:pathLst>
                <a:path w="9525" h="319088">
                  <a:moveTo>
                    <a:pt x="0" y="0"/>
                  </a:moveTo>
                  <a:lnTo>
                    <a:pt x="0" y="3190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889058" y="348996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751772" y="3788092"/>
              <a:ext cx="213360" cy="9525"/>
            </a:xfrm>
            <a:custGeom>
              <a:avLst/>
              <a:gdLst/>
              <a:ahLst/>
              <a:cxnLst/>
              <a:rect l="l" t="t" r="r" b="b"/>
              <a:pathLst>
                <a:path w="213360" h="9525">
                  <a:moveTo>
                    <a:pt x="21336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646998" y="37357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92468" y="2785110"/>
              <a:ext cx="1954530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965132" y="2785110"/>
              <a:ext cx="1954530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965132" y="3594735"/>
              <a:ext cx="1954530" cy="385762"/>
            </a:xfrm>
            <a:prstGeom prst="roundRect">
              <a:avLst>
                <a:gd name="adj" fmla="val 24691"/>
              </a:avLst>
            </a:prstGeom>
            <a:solidFill>
              <a:srgbClr val="E5F2EA"/>
            </a:solidFill>
            <a:ln w="19050">
              <a:solidFill>
                <a:srgbClr val="2E7D4F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92468" y="3594735"/>
              <a:ext cx="1954530" cy="385762"/>
            </a:xfrm>
            <a:prstGeom prst="roundRect">
              <a:avLst>
                <a:gd name="adj" fmla="val 49877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74225" y="2899886"/>
              <a:ext cx="1391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install.packages()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483407" y="289988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包存进库目录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26866" y="3709511"/>
              <a:ext cx="10291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library() 载入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11694" y="370951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使用包中函数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644140" y="2782252"/>
              <a:ext cx="3238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680144" y="280511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一次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970020" y="3304222"/>
              <a:ext cx="5524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993832" y="3327082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每次会话</a:t>
              </a:r>
            </a:p>
          </p:txBody>
        </p:sp>
      </p:grpSp>
      <p:grpSp>
        <p:nvGrpSpPr>
          <p:cNvPr id="40" name="c1-card-3"/>
          <p:cNvGrpSpPr/>
          <p:nvPr/>
        </p:nvGrpSpPr>
        <p:grpSpPr>
          <a:xfrm>
            <a:off x="533400" y="4362450"/>
            <a:ext cx="4544378" cy="2000250"/>
            <a:chOff x="533400" y="4362450"/>
            <a:chExt cx="4544378" cy="2000250"/>
          </a:xfrm>
        </p:grpSpPr>
        <p:sp>
          <p:nvSpPr>
            <p:cNvPr id="32" name="Rectangle 32"/>
            <p:cNvSpPr/>
            <p:nvPr/>
          </p:nvSpPr>
          <p:spPr>
            <a:xfrm>
              <a:off x="533400" y="4362450"/>
              <a:ext cx="4544378" cy="2000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2925" y="4495800"/>
              <a:ext cx="47625" cy="17335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58190" y="454914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50862" y="458200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66762" y="494919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22782" y="4892992"/>
              <a:ext cx="370846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 ‘包名’ 用了中文弯引号，R 只认英文直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引号（双引号或单引号）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66762" y="550735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22782" y="5451158"/>
              <a:ext cx="345986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update.packages() 的第一个参数是库路径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lib.loc，不能直接写包名；只更新某个包要用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oldPkgs 参数</a:t>
              </a:r>
            </a:p>
          </p:txBody>
        </p:sp>
      </p:grpSp>
      <p:grpSp>
        <p:nvGrpSpPr>
          <p:cNvPr id="44" name="c2-code-1"/>
          <p:cNvGrpSpPr/>
          <p:nvPr/>
        </p:nvGrpSpPr>
        <p:grpSpPr>
          <a:xfrm>
            <a:off x="5382578" y="1524000"/>
            <a:ext cx="6276022" cy="2088832"/>
            <a:chOff x="5382578" y="1524000"/>
            <a:chExt cx="6276022" cy="2088832"/>
          </a:xfrm>
        </p:grpSpPr>
        <p:sp>
          <p:nvSpPr>
            <p:cNvPr id="41" name="Rectangle 41"/>
            <p:cNvSpPr/>
            <p:nvPr/>
          </p:nvSpPr>
          <p:spPr>
            <a:xfrm>
              <a:off x="5382578" y="1524000"/>
              <a:ext cx="6276022" cy="2088832"/>
            </a:xfrm>
            <a:prstGeom prst="roundRect">
              <a:avLst>
                <a:gd name="adj" fmla="val 456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510974" y="167592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包与库的常用命令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510974" y="1935956"/>
              <a:ext cx="4272661" cy="16003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install.packages(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"vcd"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安装包（从 CRAN 下载）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update.packages()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更新所有过时的包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update.packages(oldPkgs =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"vcd"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只更新指定的包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installed.packages()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已安装包的列表（版本、依赖等）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.libPaths()   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显示库所在位置</a:t>
              </a:r>
              <a:br/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library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()     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显示库中的包</a:t>
              </a:r>
              <a:br/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library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(vcd)  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载入包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help(package =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"vcd"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查询包的说明和函数列表</a:t>
              </a:r>
            </a:p>
          </p:txBody>
        </p:sp>
      </p:grpSp>
      <p:grpSp>
        <p:nvGrpSpPr>
          <p:cNvPr id="51" name="c2-callout-2"/>
          <p:cNvGrpSpPr/>
          <p:nvPr/>
        </p:nvGrpSpPr>
        <p:grpSpPr>
          <a:xfrm>
            <a:off x="5382578" y="3782378"/>
            <a:ext cx="6276022" cy="729615"/>
            <a:chOff x="5382578" y="3782378"/>
            <a:chExt cx="6276022" cy="729615"/>
          </a:xfrm>
        </p:grpSpPr>
        <p:sp>
          <p:nvSpPr>
            <p:cNvPr id="45" name="Rectangle 45"/>
            <p:cNvSpPr/>
            <p:nvPr/>
          </p:nvSpPr>
          <p:spPr>
            <a:xfrm>
              <a:off x="5382578" y="3782378"/>
              <a:ext cx="6276022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5575307" y="4043481"/>
              <a:ext cx="224134" cy="192560"/>
              <a:chOff x="5575307" y="4043481"/>
              <a:chExt cx="224134" cy="19256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5687378" y="41138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5575307" y="40434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5687378" y="41916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5890070" y="3929062"/>
              <a:ext cx="534581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易错：安装后直接调用函数报“找不到函数”，多半是这次会话没有执行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library()。</a:t>
              </a:r>
            </a:p>
          </p:txBody>
        </p:sp>
      </p:grpSp>
      <p:grpSp>
        <p:nvGrpSpPr>
          <p:cNvPr id="66" name="c2-table-3"/>
          <p:cNvGrpSpPr/>
          <p:nvPr/>
        </p:nvGrpSpPr>
        <p:grpSpPr>
          <a:xfrm>
            <a:off x="5382578" y="4681538"/>
            <a:ext cx="6276022" cy="1600200"/>
            <a:chOff x="5382578" y="4681538"/>
            <a:chExt cx="6276022" cy="1600200"/>
          </a:xfrm>
        </p:grpSpPr>
        <p:sp>
          <p:nvSpPr>
            <p:cNvPr id="52" name="Rectangle 52"/>
            <p:cNvSpPr/>
            <p:nvPr/>
          </p:nvSpPr>
          <p:spPr>
            <a:xfrm>
              <a:off x="5382578" y="4681538"/>
              <a:ext cx="6276022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168111" y="480298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写法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305646" y="480298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效果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479732" y="5203031"/>
              <a:ext cx="977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library(vcd)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62825" y="5203031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载入包；包不存在时报错并停止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82578" y="547687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382578" y="5481638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479732" y="5603081"/>
              <a:ext cx="10167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require(vcd)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362825" y="5603081"/>
              <a:ext cx="40329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载入包；包不存在时给出警告并返回 FALSE，常用于 if 判断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382578" y="587692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479732" y="6003131"/>
              <a:ext cx="11354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vcd::mosaic()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362825" y="6003131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不载入整个包，只调用包里的一个函数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382578" y="4681538"/>
              <a:ext cx="6276022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7260908" y="4681538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第0章 绪论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31258" cy="909257"/>
            <a:chOff x="520446" y="342900"/>
            <a:chExt cx="713125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0219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50" y="407194"/>
              <a:ext cx="2178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第0章 绪论 · 统计软件与 R 语言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3125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帮助系统：以 vcd 包的 Arthritis 数据集为例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951220" cy="1922145"/>
            <a:chOff x="533400" y="1524000"/>
            <a:chExt cx="5951220" cy="19221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922145"/>
            </a:xfrm>
            <a:prstGeom prst="roundRect">
              <a:avLst>
                <a:gd name="adj" fmla="val 49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打开帮助、查看包和数据集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4186174" cy="14373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help.start()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在浏览器中打开帮助文档首页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install.packages(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"vcd"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vcd：分类数据可视化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help(package = 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"vcd"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列出包中的函数和数据集</a:t>
              </a:r>
              <a:br/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library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(vcd)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载入包，数据集随之可用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help(Arthritis)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数据集说明，等价于 ?Arthritis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print(Arthritis)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列出数据集内容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example(Arthritis)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运行帮助页中的示例代码</a:t>
              </a:r>
            </a:p>
          </p:txBody>
        </p:sp>
      </p:grpSp>
      <p:grpSp>
        <p:nvGrpSpPr>
          <p:cNvPr id="16" name="c1-card-2"/>
          <p:cNvGrpSpPr/>
          <p:nvPr/>
        </p:nvGrpSpPr>
        <p:grpSpPr>
          <a:xfrm>
            <a:off x="533400" y="3636645"/>
            <a:ext cx="5951220" cy="2169795"/>
            <a:chOff x="533400" y="3636645"/>
            <a:chExt cx="5951220" cy="2169795"/>
          </a:xfrm>
        </p:grpSpPr>
        <p:sp>
          <p:nvSpPr>
            <p:cNvPr id="11" name="Rectangle 11"/>
            <p:cNvSpPr/>
            <p:nvPr/>
          </p:nvSpPr>
          <p:spPr>
            <a:xfrm>
              <a:off x="533400" y="3636645"/>
              <a:ext cx="5951220" cy="2169795"/>
            </a:xfrm>
            <a:prstGeom prst="roundRect">
              <a:avLst>
                <a:gd name="adj" fmla="val 61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3769995"/>
              <a:ext cx="47625" cy="19030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81050" y="384619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71258" y="38819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3430" y="4223385"/>
              <a:ext cx="51968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原课件用 help.packages('vcd') 列出包中函数，R 中没有这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个函数，应写 help(package = "vcd") 或 library(help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"vcd")。</a:t>
              </a:r>
            </a:p>
          </p:txBody>
        </p:sp>
      </p:grpSp>
      <p:grpSp>
        <p:nvGrpSpPr>
          <p:cNvPr id="35" name="c2-table-1"/>
          <p:cNvGrpSpPr/>
          <p:nvPr/>
        </p:nvGrpSpPr>
        <p:grpSpPr>
          <a:xfrm>
            <a:off x="6789420" y="1524000"/>
            <a:ext cx="4869180" cy="2470786"/>
            <a:chOff x="6789420" y="1524000"/>
            <a:chExt cx="4869180" cy="2470786"/>
          </a:xfrm>
        </p:grpSpPr>
        <p:sp>
          <p:nvSpPr>
            <p:cNvPr id="17" name="Rectangle 17"/>
            <p:cNvSpPr/>
            <p:nvPr/>
          </p:nvSpPr>
          <p:spPr>
            <a:xfrm>
              <a:off x="6789420" y="1524000"/>
              <a:ext cx="4869180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3361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06820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897243" y="2108359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?mean 或 help(mean)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942260" y="210835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查看函数 mean 的说明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789420" y="241649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789420" y="2421255"/>
              <a:ext cx="486918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97243" y="2670334"/>
              <a:ext cx="11618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??regression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42260" y="2556986"/>
              <a:ext cx="21668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按关键词搜索帮助，等价于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help.search("regression")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789420" y="309276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897243" y="3232309"/>
              <a:ext cx="13337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example(mean)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942260" y="323230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运行帮助页里的示例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789420" y="354139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789420" y="3546158"/>
              <a:ext cx="486918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97243" y="3680936"/>
              <a:ext cx="15418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apropos("mean")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942260" y="368093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列出名字中含 mean 的对象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789420" y="1524000"/>
              <a:ext cx="4869180" cy="24707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8829675" y="152400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2" name="c2-card-2"/>
          <p:cNvGrpSpPr/>
          <p:nvPr/>
        </p:nvGrpSpPr>
        <p:grpSpPr>
          <a:xfrm>
            <a:off x="6789420" y="4185285"/>
            <a:ext cx="4869180" cy="1621155"/>
            <a:chOff x="6789420" y="4185285"/>
            <a:chExt cx="4869180" cy="1621155"/>
          </a:xfrm>
        </p:grpSpPr>
        <p:sp>
          <p:nvSpPr>
            <p:cNvPr id="36" name="Rectangle 36"/>
            <p:cNvSpPr/>
            <p:nvPr/>
          </p:nvSpPr>
          <p:spPr>
            <a:xfrm>
              <a:off x="6789420" y="4185285"/>
              <a:ext cx="4869180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798945" y="4318635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037070" y="439483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123328" y="443055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数据集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80020" y="4430078"/>
              <a:ext cx="9646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Arthritis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29450" y="4791075"/>
              <a:ext cx="40728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类风湿关节炎治疗试验数据，84 名患者，5 个变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量：ID、Treatment（治疗方式）、Sex、Age、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Improved（改善程度）。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第0章 绪论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55697" cy="909257"/>
            <a:chOff x="520446" y="342900"/>
            <a:chExt cx="725569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0219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50" y="407194"/>
              <a:ext cx="2178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第0章 绪论 · 统计软件与 R 语言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5569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例：用 R 画 50 组对比数据的散点图和回归直线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276022" cy="2125028"/>
            <a:chOff x="533400" y="1524000"/>
            <a:chExt cx="6276022" cy="212502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2125028"/>
            </a:xfrm>
            <a:prstGeom prst="roundRect">
              <a:avLst>
                <a:gd name="adj" fmla="val 4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1128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第一步导入 .csv 文件，第二步绘图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4470654" cy="1640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library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(ggplot2)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需要先 install.packages("ggplot2")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X &lt;- read.table(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"D:/abc11.csv"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header = </a:t>
              </a:r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sep = 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","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等价写法：X &lt;- read.csv("D:/abc11.csv")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ggplot(X, aes(x = aaa, y = bbb)) +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geom_point() +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散点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geom_smooth(method = 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"lm"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+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回归直线与置信带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labs(x = 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"横坐标标题"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y = 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"纵坐标标题"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839528"/>
            <a:ext cx="6276022" cy="2441258"/>
            <a:chOff x="533400" y="3839528"/>
            <a:chExt cx="6276022" cy="2441258"/>
          </a:xfrm>
        </p:grpSpPr>
        <p:sp>
          <p:nvSpPr>
            <p:cNvPr id="11" name="Rectangle 11"/>
            <p:cNvSpPr/>
            <p:nvPr/>
          </p:nvSpPr>
          <p:spPr>
            <a:xfrm>
              <a:off x="533400" y="3839528"/>
              <a:ext cx="6276022" cy="2441258"/>
            </a:xfrm>
            <a:prstGeom prst="roundRect">
              <a:avLst>
                <a:gd name="adj" fmla="val 546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3972878"/>
              <a:ext cx="47625" cy="217455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81050" y="404907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71258" y="40847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4489132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4426268"/>
              <a:ext cx="53301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原课件路径写作 "D:abc11.csv"，少了 /，在 Windows 上表示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盘当前目录下的文件，应写 "D:/abc11.csv"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5110162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5047298"/>
              <a:ext cx="53159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原课件没有载入 ggplot2，直接运行会报找不到函数 ggplot</a:t>
              </a:r>
            </a:p>
          </p:txBody>
        </p:sp>
      </p:grpSp>
      <p:grpSp>
        <p:nvGrpSpPr>
          <p:cNvPr id="54" name="c2-cells-1"/>
          <p:cNvGrpSpPr/>
          <p:nvPr/>
        </p:nvGrpSpPr>
        <p:grpSpPr>
          <a:xfrm>
            <a:off x="7107746" y="1524000"/>
            <a:ext cx="3904106" cy="1009650"/>
            <a:chOff x="7107746" y="1524000"/>
            <a:chExt cx="3904106" cy="1009650"/>
          </a:xfrm>
        </p:grpSpPr>
        <p:sp>
          <p:nvSpPr>
            <p:cNvPr id="20" name="TextBox 20"/>
            <p:cNvSpPr txBox="1"/>
            <p:nvPr/>
          </p:nvSpPr>
          <p:spPr>
            <a:xfrm>
              <a:off x="7107746" y="1654016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aaa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28560" y="1524000"/>
              <a:ext cx="4352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40694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75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964805" y="1524000"/>
              <a:ext cx="4352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075987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75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400098" y="1524000"/>
              <a:ext cx="4352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511279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835390" y="1524000"/>
              <a:ext cx="4352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946572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63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270682" y="1524000"/>
              <a:ext cx="4352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382817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705975" y="1524000"/>
              <a:ext cx="4352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818109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77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0141268" y="1524000"/>
              <a:ext cx="4352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253402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0576560" y="1524000"/>
              <a:ext cx="4352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738450" y="16540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107746" y="2244566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bbb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528560" y="2114550"/>
              <a:ext cx="4352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40694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76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964805" y="2114550"/>
              <a:ext cx="4352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075987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76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400098" y="2114550"/>
              <a:ext cx="4352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511279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835390" y="2114550"/>
              <a:ext cx="4352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946572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270682" y="2114550"/>
              <a:ext cx="4352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382817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705975" y="2114550"/>
              <a:ext cx="4352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818109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76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0141268" y="2114550"/>
              <a:ext cx="4352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253402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0576560" y="2114550"/>
              <a:ext cx="4352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738450" y="224456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</p:grpSp>
      <p:grpSp>
        <p:nvGrpSpPr>
          <p:cNvPr id="69" name="c2-kv-2"/>
          <p:cNvGrpSpPr/>
          <p:nvPr/>
        </p:nvGrpSpPr>
        <p:grpSpPr>
          <a:xfrm>
            <a:off x="7106602" y="2748915"/>
            <a:ext cx="4551998" cy="2617470"/>
            <a:chOff x="7106602" y="2748915"/>
            <a:chExt cx="4551998" cy="2617470"/>
          </a:xfrm>
        </p:grpSpPr>
        <p:sp>
          <p:nvSpPr>
            <p:cNvPr id="55" name="TextBox 55"/>
            <p:cNvSpPr txBox="1"/>
            <p:nvPr/>
          </p:nvSpPr>
          <p:spPr>
            <a:xfrm>
              <a:off x="7106602" y="27489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651558" y="2748915"/>
              <a:ext cx="25774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.csv 文件第一行是列名 aaa、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bbb，之后 50 行数据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114222" y="335089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106602" y="3470910"/>
              <a:ext cx="5983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aes()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651558" y="3470910"/>
              <a:ext cx="26201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指定横轴用 aaa、纵轴用 bbb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114222" y="379095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106602" y="3910965"/>
              <a:ext cx="14040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geom_point()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651558" y="3910965"/>
              <a:ext cx="11662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 50 个点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114222" y="423100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106602" y="4351020"/>
              <a:ext cx="1305401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en-US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geom_smooth</a:t>
              </a:r>
              <a:br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()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651558" y="4351020"/>
              <a:ext cx="25107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method = "lm" 画最小二乘直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线，灰色带是 95% 置信带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7114222" y="495300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106602" y="5073015"/>
              <a:ext cx="6619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labs()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651558" y="50730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设置坐标轴标题</a:t>
              </a:r>
            </a:p>
          </p:txBody>
        </p:sp>
      </p:grpSp>
      <p:grpSp>
        <p:nvGrpSpPr>
          <p:cNvPr id="75" name="c2-callout-3"/>
          <p:cNvGrpSpPr/>
          <p:nvPr/>
        </p:nvGrpSpPr>
        <p:grpSpPr>
          <a:xfrm>
            <a:off x="7114222" y="5497830"/>
            <a:ext cx="4544378" cy="782955"/>
            <a:chOff x="7114222" y="5497830"/>
            <a:chExt cx="4544378" cy="782955"/>
          </a:xfrm>
        </p:grpSpPr>
        <p:sp>
          <p:nvSpPr>
            <p:cNvPr id="70" name="Rectangle 70"/>
            <p:cNvSpPr/>
            <p:nvPr/>
          </p:nvSpPr>
          <p:spPr>
            <a:xfrm>
              <a:off x="7114222" y="5497830"/>
              <a:ext cx="4544378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319010" y="5789295"/>
              <a:ext cx="200026" cy="200026"/>
              <a:chOff x="7319010" y="5789295"/>
              <a:chExt cx="200026" cy="200026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319010" y="57892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7385685" y="586708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7620952" y="5646420"/>
              <a:ext cx="3634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结果图中点大致沿一条上升直线分布，说明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两组结果高度正相关。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第0章 绪论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395763" cy="909257"/>
            <a:chOff x="520446" y="342900"/>
            <a:chExt cx="939576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0219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50" y="407194"/>
              <a:ext cx="2178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第0章 绪论 · 统计软件与 R 语言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39576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geom_smooth 画的直线怎么来：用前 7 行数据手算最小二乘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9" name="c1-table-1"/>
          <p:cNvGrpSpPr/>
          <p:nvPr/>
        </p:nvGrpSpPr>
        <p:grpSpPr>
          <a:xfrm>
            <a:off x="533400" y="1524000"/>
            <a:ext cx="4977765" cy="4039553"/>
            <a:chOff x="533400" y="1524000"/>
            <a:chExt cx="4977765" cy="4039553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3282" y="1659731"/>
              <a:ext cx="7556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x（aaa）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77720" y="1659731"/>
              <a:ext cx="7556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y（bbb）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494462" y="16597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x²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767954" y="16597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5107" y="210835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75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54283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76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404428" y="210835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5625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77921" y="210835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5700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1649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21255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35107" y="255698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54283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04428" y="255698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5625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77921" y="255698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5700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86607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35107" y="300561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254283" y="30056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04428" y="300561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3721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77921" y="300561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3660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31470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319462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35107" y="345424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254283" y="345424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04428" y="345424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3969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77921" y="345424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4032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76332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35107" y="390382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254283" y="390382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404428" y="390382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3481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77921" y="390382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3304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21195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4216718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35107" y="435244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77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254283" y="435244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404428" y="435244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5929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677921" y="435244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5852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466058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35107" y="480107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254283" y="480107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404428" y="480107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6084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677921" y="480107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6084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511016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33400" y="5114925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14407" y="5249704"/>
              <a:ext cx="6533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= 488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044093" y="5249704"/>
              <a:ext cx="6228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= 486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188873" y="5249704"/>
              <a:ext cx="8231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= 34434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462366" y="5249704"/>
              <a:ext cx="8231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= 34332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1524000"/>
              <a:ext cx="4977765" cy="40395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1743075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2958465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4231958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7" name="c2-steps-1"/>
          <p:cNvGrpSpPr/>
          <p:nvPr/>
        </p:nvGrpSpPr>
        <p:grpSpPr>
          <a:xfrm>
            <a:off x="5815965" y="1533525"/>
            <a:ext cx="4977257" cy="2763489"/>
            <a:chOff x="5815965" y="1533525"/>
            <a:chExt cx="4977257" cy="2763489"/>
          </a:xfrm>
        </p:grpSpPr>
        <p:sp>
          <p:nvSpPr>
            <p:cNvPr id="60" name="Rectangle 60"/>
            <p:cNvSpPr/>
            <p:nvPr/>
          </p:nvSpPr>
          <p:spPr>
            <a:xfrm>
              <a:off x="5949315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5815965" y="218408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909589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5815965" y="283464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909589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5815965" y="348615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909589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227445" y="15678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离差平方和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228588" y="1861661"/>
              <a:ext cx="39283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Sxx = Σx² − (Σx)²/n = 34434 − 488²/7 ≈ 413.43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227445" y="221837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离差乘积和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228588" y="2512219"/>
              <a:ext cx="41192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Sxy = Σxy − ΣxΣy/n = 34332 − 488×486/7 ≈ 450.86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227445" y="2868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斜率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228588" y="3162776"/>
              <a:ext cx="35237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b₁ = Sxy / Sxx ≈ 450.86 / 413.43 ≈ 1.0905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227445" y="352044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截距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228588" y="3813334"/>
              <a:ext cx="45646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两列均值约为 69.714、69.429，b₀ = 69.429 − b₁ × 69.714 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−6.597</a:t>
              </a:r>
            </a:p>
          </p:txBody>
        </p:sp>
      </p:grpSp>
      <p:grpSp>
        <p:nvGrpSpPr>
          <p:cNvPr id="83" name="c2-callout-2"/>
          <p:cNvGrpSpPr/>
          <p:nvPr/>
        </p:nvGrpSpPr>
        <p:grpSpPr>
          <a:xfrm>
            <a:off x="5815965" y="4475798"/>
            <a:ext cx="5842635" cy="782955"/>
            <a:chOff x="5815965" y="4475798"/>
            <a:chExt cx="5842635" cy="782955"/>
          </a:xfrm>
        </p:grpSpPr>
        <p:sp>
          <p:nvSpPr>
            <p:cNvPr id="78" name="Rectangle 78"/>
            <p:cNvSpPr/>
            <p:nvPr/>
          </p:nvSpPr>
          <p:spPr>
            <a:xfrm>
              <a:off x="5815965" y="4475798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6020753" y="4767265"/>
              <a:ext cx="200023" cy="200023"/>
              <a:chOff x="6020753" y="4767265"/>
              <a:chExt cx="200023" cy="200023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6020753" y="476726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6154103" y="48339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6322695" y="4624388"/>
              <a:ext cx="44348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回归直线 ŷ ≈ −6.60 + 1.091x；R 中 coef(lm(bbb ~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aaa, data = X[1:7, ])) 给出同样结果。</a:t>
              </a:r>
            </a:p>
          </p:txBody>
        </p:sp>
      </p:grpSp>
      <p:grpSp>
        <p:nvGrpSpPr>
          <p:cNvPr id="85" name="c2-text-3"/>
          <p:cNvGrpSpPr/>
          <p:nvPr/>
        </p:nvGrpSpPr>
        <p:grpSpPr>
          <a:xfrm>
            <a:off x="5809488" y="5470684"/>
            <a:ext cx="4938522" cy="500824"/>
            <a:chOff x="5809488" y="5470684"/>
            <a:chExt cx="4938522" cy="500824"/>
          </a:xfrm>
        </p:grpSpPr>
        <p:sp>
          <p:nvSpPr>
            <p:cNvPr id="84" name="TextBox 84"/>
            <p:cNvSpPr txBox="1"/>
            <p:nvPr/>
          </p:nvSpPr>
          <p:spPr>
            <a:xfrm>
              <a:off x="5809488" y="5470684"/>
              <a:ext cx="4938522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用全部 50 行数据时算法相同，只是求和范围变大。数值已用 Python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（numpy.polyfit）复核。</a:t>
              </a:r>
            </a:p>
          </p:txBody>
        </p:sp>
      </p:grpSp>
      <p:grpSp>
        <p:nvGrpSpPr>
          <p:cNvPr id="8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6" name="TextBox 86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第0章 绪论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43764" cy="909257"/>
            <a:chOff x="520446" y="342900"/>
            <a:chExt cx="824376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0219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50" y="407194"/>
              <a:ext cx="2178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第0章 绪论 · 统计软件与 R 语言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4376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RStudio：R 的集成开发环境，用“项目”管理一次分析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2558415"/>
            <a:chOff x="533400" y="1524000"/>
            <a:chExt cx="5410200" cy="25584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558415"/>
            </a:xfrm>
            <a:prstGeom prst="roundRect">
              <a:avLst>
                <a:gd name="adj" fmla="val 52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9171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4676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9143" y="1769269"/>
              <a:ext cx="590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RStudio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的集成开发环境，对 R 做了很多功能增强；需要先安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 R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31770"/>
              <a:ext cx="4453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Posit 公司（原 RStudio 公司）开发，桌面版免费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开源，另有商业版，免费版能满足一般需要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41566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352800"/>
              <a:ext cx="4025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尤其适合用 R Markdown（.Rmd）制作 HTML、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Word、PDF、网站、图书、演示</a:t>
              </a:r>
            </a:p>
          </p:txBody>
        </p:sp>
      </p:grpSp>
      <p:grpSp>
        <p:nvGrpSpPr>
          <p:cNvPr id="29" name="c1-kv-2"/>
          <p:cNvGrpSpPr/>
          <p:nvPr/>
        </p:nvGrpSpPr>
        <p:grpSpPr>
          <a:xfrm>
            <a:off x="525780" y="4297680"/>
            <a:ext cx="5417820" cy="1613535"/>
            <a:chOff x="525780" y="4297680"/>
            <a:chExt cx="5417820" cy="1613535"/>
          </a:xfrm>
        </p:grpSpPr>
        <p:sp>
          <p:nvSpPr>
            <p:cNvPr id="18" name="TextBox 18"/>
            <p:cNvSpPr txBox="1"/>
            <p:nvPr/>
          </p:nvSpPr>
          <p:spPr>
            <a:xfrm>
              <a:off x="525780" y="429768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左上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70622" y="4297680"/>
              <a:ext cx="3292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源代码编辑器：编写 .R、.Rmd 文件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61772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5780" y="473773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左下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70622" y="473773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控制台：逐行运行命令、看输出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50577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5780" y="517779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右上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70622" y="517779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环境和历史：当前变量、执行过的命令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549783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5780" y="561784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右下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70622" y="561784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文件、图形、包、帮助</a:t>
              </a:r>
            </a:p>
          </p:txBody>
        </p:sp>
      </p:grpSp>
      <p:grpSp>
        <p:nvGrpSpPr>
          <p:cNvPr id="43" name="c2-steps-1"/>
          <p:cNvGrpSpPr/>
          <p:nvPr/>
        </p:nvGrpSpPr>
        <p:grpSpPr>
          <a:xfrm>
            <a:off x="6248400" y="1533525"/>
            <a:ext cx="4905731" cy="2112931"/>
            <a:chOff x="6248400" y="1533525"/>
            <a:chExt cx="4905731" cy="2112931"/>
          </a:xfrm>
        </p:grpSpPr>
        <p:sp>
          <p:nvSpPr>
            <p:cNvPr id="30" name="Rectangle 30"/>
            <p:cNvSpPr/>
            <p:nvPr/>
          </p:nvSpPr>
          <p:spPr>
            <a:xfrm>
              <a:off x="6381750" y="167640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248400" y="218408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42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248400" y="283464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42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59880" y="15678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建目录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61023" y="1861661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把一个统计研究或数据分析项目的文件放在同一个子目录里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59880" y="221837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建项目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61023" y="2512219"/>
              <a:ext cx="41939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File 菜单中新建 Project，把项目与这个子目录关联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59880" y="286893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放文件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61023" y="3162776"/>
              <a:ext cx="417449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子目录中放数据、R 脚本（.r 或 .R）、R Markdown 文件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（.Rmd）</a:t>
              </a:r>
            </a:p>
          </p:txBody>
        </p:sp>
      </p:grpSp>
      <p:grpSp>
        <p:nvGrpSpPr>
          <p:cNvPr id="58" name="c2-tree-2"/>
          <p:cNvGrpSpPr/>
          <p:nvPr/>
        </p:nvGrpSpPr>
        <p:grpSpPr>
          <a:xfrm>
            <a:off x="6248400" y="3834765"/>
            <a:ext cx="5410200" cy="1544955"/>
            <a:chOff x="6248400" y="3834765"/>
            <a:chExt cx="5410200" cy="1544955"/>
          </a:xfrm>
        </p:grpSpPr>
        <p:sp>
          <p:nvSpPr>
            <p:cNvPr id="44" name="Freeform 44"/>
            <p:cNvSpPr/>
            <p:nvPr/>
          </p:nvSpPr>
          <p:spPr>
            <a:xfrm>
              <a:off x="8743950" y="4020502"/>
              <a:ext cx="419100" cy="586740"/>
            </a:xfrm>
            <a:custGeom>
              <a:avLst/>
              <a:gdLst/>
              <a:ahLst/>
              <a:cxnLst/>
              <a:rect l="l" t="t" r="r" b="b"/>
              <a:pathLst>
                <a:path w="419100" h="586740">
                  <a:moveTo>
                    <a:pt x="0" y="586740"/>
                  </a:moveTo>
                  <a:lnTo>
                    <a:pt x="209550" y="58674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8743950" y="4411980"/>
              <a:ext cx="419100" cy="195262"/>
            </a:xfrm>
            <a:custGeom>
              <a:avLst/>
              <a:gdLst/>
              <a:ahLst/>
              <a:cxnLst/>
              <a:rect l="l" t="t" r="r" b="b"/>
              <a:pathLst>
                <a:path w="419100" h="195262">
                  <a:moveTo>
                    <a:pt x="0" y="195262"/>
                  </a:moveTo>
                  <a:lnTo>
                    <a:pt x="209550" y="19526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8743950" y="4607242"/>
              <a:ext cx="419100" cy="195262"/>
            </a:xfrm>
            <a:custGeom>
              <a:avLst/>
              <a:gdLst/>
              <a:ahLst/>
              <a:cxnLst/>
              <a:rect l="l" t="t" r="r" b="b"/>
              <a:pathLst>
                <a:path w="419100" h="195262">
                  <a:moveTo>
                    <a:pt x="0" y="0"/>
                  </a:moveTo>
                  <a:lnTo>
                    <a:pt x="209550" y="0"/>
                  </a:lnTo>
                  <a:lnTo>
                    <a:pt x="209550" y="195262"/>
                  </a:lnTo>
                  <a:lnTo>
                    <a:pt x="419100" y="19526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8743950" y="4607242"/>
              <a:ext cx="419100" cy="586740"/>
            </a:xfrm>
            <a:custGeom>
              <a:avLst/>
              <a:gdLst/>
              <a:ahLst/>
              <a:cxnLst/>
              <a:rect l="l" t="t" r="r" b="b"/>
              <a:pathLst>
                <a:path w="419100" h="586740">
                  <a:moveTo>
                    <a:pt x="0" y="0"/>
                  </a:moveTo>
                  <a:lnTo>
                    <a:pt x="209550" y="0"/>
                  </a:lnTo>
                  <a:lnTo>
                    <a:pt x="209550" y="586740"/>
                  </a:lnTo>
                  <a:lnTo>
                    <a:pt x="419100" y="58674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9163050" y="3834765"/>
              <a:ext cx="249555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9163050" y="4225290"/>
              <a:ext cx="249555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9163050" y="4616768"/>
              <a:ext cx="249555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9163050" y="5007292"/>
              <a:ext cx="249555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48400" y="4420552"/>
              <a:ext cx="2495550" cy="372428"/>
            </a:xfrm>
            <a:prstGeom prst="roundRect">
              <a:avLst>
                <a:gd name="adj" fmla="val 25575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251823" y="3931444"/>
              <a:ext cx="13883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myproject.Rproj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251823" y="4322921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abc11.csv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251823" y="4713446"/>
              <a:ext cx="8799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analysis.R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251823" y="5104924"/>
              <a:ext cx="10013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report.Rmd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337173" y="4518184"/>
              <a:ext cx="9990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myproject/</a:t>
              </a:r>
            </a:p>
          </p:txBody>
        </p:sp>
      </p:grpSp>
      <p:grpSp>
        <p:nvGrpSpPr>
          <p:cNvPr id="65" name="c2-callout-3"/>
          <p:cNvGrpSpPr/>
          <p:nvPr/>
        </p:nvGrpSpPr>
        <p:grpSpPr>
          <a:xfrm>
            <a:off x="6248400" y="5579745"/>
            <a:ext cx="5410200" cy="782955"/>
            <a:chOff x="6248400" y="5579745"/>
            <a:chExt cx="5410200" cy="782955"/>
          </a:xfrm>
        </p:grpSpPr>
        <p:sp>
          <p:nvSpPr>
            <p:cNvPr id="59" name="Rectangle 59"/>
            <p:cNvSpPr/>
            <p:nvPr/>
          </p:nvSpPr>
          <p:spPr>
            <a:xfrm>
              <a:off x="6248400" y="557974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6453188" y="5871210"/>
              <a:ext cx="200026" cy="200025"/>
              <a:chOff x="6453188" y="5871210"/>
              <a:chExt cx="200026" cy="200025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453188" y="58712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492926" y="59156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527642" y="60267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6755130" y="5728335"/>
              <a:ext cx="37966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打开项目后工作目录就是该子目录，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read.csv("abc11.csv") 不用写完整路径。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第0章 绪论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315146" cy="909257"/>
            <a:chOff x="520446" y="342900"/>
            <a:chExt cx="231514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0219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50" y="407194"/>
              <a:ext cx="2178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第0章 绪论 · 统计软件与 R 语言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485900"/>
            <a:chOff x="533400" y="1524000"/>
            <a:chExt cx="5410200" cy="14859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3232" y="2054542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统计模拟的一般步骤分哪三步？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3232" y="2355532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建立概率统计模型并确定分布；随机抽样得到模拟结果；分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析总结，得出结论或改进。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179445"/>
            <a:ext cx="5410200" cy="1228725"/>
            <a:chOff x="533400" y="3179445"/>
            <a:chExt cx="5410200" cy="1228725"/>
          </a:xfrm>
        </p:grpSpPr>
        <p:sp>
          <p:nvSpPr>
            <p:cNvPr id="13" name="Rectangle 13"/>
            <p:cNvSpPr/>
            <p:nvPr/>
          </p:nvSpPr>
          <p:spPr>
            <a:xfrm>
              <a:off x="533400" y="3179445"/>
              <a:ext cx="5410200" cy="1228725"/>
            </a:xfrm>
            <a:prstGeom prst="roundRect">
              <a:avLst>
                <a:gd name="adj" fmla="val 1085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0090" y="336613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9547" y="339899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3232" y="3710940"/>
              <a:ext cx="47366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用平均值法估计 ∫₀² x² dx，估计量怎样写？真值是多少？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3232" y="4010977"/>
              <a:ext cx="50077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估计量 (2/n)ΣUᵢ²，Uᵢ ~ U(0, 2)；真值 8/3 ≈ 2.667。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578668"/>
            <a:ext cx="5410200" cy="1485900"/>
            <a:chOff x="533400" y="4578668"/>
            <a:chExt cx="5410200" cy="1485900"/>
          </a:xfrm>
        </p:grpSpPr>
        <p:sp>
          <p:nvSpPr>
            <p:cNvPr id="19" name="Rectangle 19"/>
            <p:cNvSpPr/>
            <p:nvPr/>
          </p:nvSpPr>
          <p:spPr>
            <a:xfrm>
              <a:off x="533400" y="4578668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0090" y="476535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9547" y="479821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3232" y="5109210"/>
              <a:ext cx="29106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平方取中法以 3792 为种子会怎样？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3232" y="5409248"/>
              <a:ext cx="48057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3792² = 14379264，中间 4 位仍是 3792，序列停在原地，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说明递推产生的数可能退化。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485900"/>
            <a:chOff x="6248400" y="1524000"/>
            <a:chExt cx="5410200" cy="1485900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35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4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28232" y="2054542"/>
              <a:ext cx="48096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投针实验 l = 1，d = 2，投 1000 次相交 320 次，π 的估计是多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28232" y="2612708"/>
              <a:ext cx="46207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估计值 = 2ln/(dm) = 2×1×1000/(2×320) = 3.125。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3179445"/>
            <a:ext cx="5410200" cy="1228725"/>
            <a:chOff x="6248400" y="3179445"/>
            <a:chExt cx="5410200" cy="1228725"/>
          </a:xfrm>
        </p:grpSpPr>
        <p:sp>
          <p:nvSpPr>
            <p:cNvPr id="31" name="Rectangle 31"/>
            <p:cNvSpPr/>
            <p:nvPr/>
          </p:nvSpPr>
          <p:spPr>
            <a:xfrm>
              <a:off x="6248400" y="3179445"/>
              <a:ext cx="5410200" cy="1228725"/>
            </a:xfrm>
            <a:prstGeom prst="roundRect">
              <a:avLst>
                <a:gd name="adj" fmla="val 1085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35090" y="336613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4547" y="339899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28232" y="3710940"/>
              <a:ext cx="46575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10⁴ 时标准误为 0.009，要降到 0.003 约需多少次？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28232" y="4010977"/>
              <a:ext cx="41482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标准误与 √n 成反比，n 要乘 9，约 9×10⁴ 次。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578668"/>
            <a:ext cx="5410200" cy="1485900"/>
            <a:chOff x="6248400" y="4578668"/>
            <a:chExt cx="5410200" cy="1485900"/>
          </a:xfrm>
        </p:grpSpPr>
        <p:sp>
          <p:nvSpPr>
            <p:cNvPr id="37" name="Rectangle 37"/>
            <p:cNvSpPr/>
            <p:nvPr/>
          </p:nvSpPr>
          <p:spPr>
            <a:xfrm>
              <a:off x="6248400" y="4578668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35090" y="476535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4547" y="479821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28232" y="5109210"/>
              <a:ext cx="34096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R 中使用 ggplot2 要执行哪两条命令？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28232" y="5409248"/>
              <a:ext cx="36398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install.packages("ggplot2") 只需一次；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library(ggplot2) 每次新会话都要执行。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第0章 绪论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315146" cy="909257"/>
            <a:chOff x="520446" y="342900"/>
            <a:chExt cx="231514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0219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50" y="407194"/>
              <a:ext cx="2178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第0章 绪论 · 统计软件与 R 语言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bullets-1"/>
          <p:cNvGrpSpPr/>
          <p:nvPr/>
        </p:nvGrpSpPr>
        <p:grpSpPr>
          <a:xfrm>
            <a:off x="533400" y="1534478"/>
            <a:ext cx="5928360" cy="1818513"/>
            <a:chOff x="533400" y="1534478"/>
            <a:chExt cx="5928360" cy="1818513"/>
          </a:xfrm>
        </p:grpSpPr>
        <p:sp>
          <p:nvSpPr>
            <p:cNvPr id="7" name="Ellipse 7"/>
            <p:cNvSpPr/>
            <p:nvPr/>
          </p:nvSpPr>
          <p:spPr>
            <a:xfrm>
              <a:off x="533400" y="1534478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9078" y="15728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4197" y="1545907"/>
              <a:ext cx="5284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统计计算以数理统计为基础、数值计算为指导、计算机为实现手段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43088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9078" y="188147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4197" y="1854518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统计模拟是计算机建模：建模、抽样、分析，不满意就修正模型或参数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151698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9078" y="219008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4197" y="2163128"/>
              <a:ext cx="47604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Monte Carlo 方法用随机抽样求解；非随机问题先写成期望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460307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9078" y="249869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4197" y="2471738"/>
              <a:ext cx="54294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平均值法比随机投点法方差小；标准误 σ/√n 与维数无关，但收敛慢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768918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9078" y="280730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4197" y="2780348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模拟从均匀随机数开始；伪随机数快且可重现，但有周期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3077527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89078" y="311591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4197" y="3088958"/>
              <a:ext cx="47839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用 install.packages() 安装、library() 载入、? 查帮助</a:t>
              </a:r>
            </a:p>
          </p:txBody>
        </p:sp>
      </p:grpSp>
      <p:grpSp>
        <p:nvGrpSpPr>
          <p:cNvPr id="44" name="c1-table-2"/>
          <p:cNvGrpSpPr/>
          <p:nvPr/>
        </p:nvGrpSpPr>
        <p:grpSpPr>
          <a:xfrm>
            <a:off x="533400" y="3469958"/>
            <a:ext cx="6059805" cy="2000250"/>
            <a:chOff x="533400" y="3469958"/>
            <a:chExt cx="6059805" cy="2000250"/>
          </a:xfrm>
        </p:grpSpPr>
        <p:sp>
          <p:nvSpPr>
            <p:cNvPr id="26" name="Rectangle 26"/>
            <p:cNvSpPr/>
            <p:nvPr/>
          </p:nvSpPr>
          <p:spPr>
            <a:xfrm>
              <a:off x="533400" y="3469958"/>
              <a:ext cx="6059805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34821" y="35914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公式速查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240111" y="35914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表达式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0555" y="399145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投针相交概率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447925" y="3991451"/>
              <a:ext cx="23936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= 2l/(dπ)，π 的估计值 2ln/(dm)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26529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4270058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0555" y="43915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随机投点法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447925" y="4391501"/>
              <a:ext cx="14588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估计值 c(b − a)·m/n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66534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0555" y="479155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平均值法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447925" y="4791551"/>
              <a:ext cx="19231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估计值 (b − a)/n · Σ g(Uᵢ)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506539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5070158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0555" y="5191601"/>
              <a:ext cx="13039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标准误与 95% 区间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447925" y="5191601"/>
              <a:ext cx="18659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σ/√n；估计值 ± 1.96·s/√n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3469958"/>
              <a:ext cx="6059805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2346008" y="3469958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2-card-1"/>
          <p:cNvGrpSpPr/>
          <p:nvPr/>
        </p:nvGrpSpPr>
        <p:grpSpPr>
          <a:xfrm>
            <a:off x="6898005" y="1524000"/>
            <a:ext cx="4760595" cy="3946208"/>
            <a:chOff x="6898005" y="1524000"/>
            <a:chExt cx="4760595" cy="3946208"/>
          </a:xfrm>
        </p:grpSpPr>
        <p:sp>
          <p:nvSpPr>
            <p:cNvPr id="45" name="Rectangle 45"/>
            <p:cNvSpPr/>
            <p:nvPr/>
          </p:nvSpPr>
          <p:spPr>
            <a:xfrm>
              <a:off x="6898005" y="1524000"/>
              <a:ext cx="4760595" cy="3946208"/>
            </a:xfrm>
            <a:prstGeom prst="roundRect">
              <a:avLst>
                <a:gd name="adj" fmla="val 33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907530" y="1657350"/>
              <a:ext cx="47625" cy="367950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122795" y="1710690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184962" y="1743551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131367" y="211074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287387" y="2054542"/>
              <a:ext cx="39313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Monte Carlo 是城区不是首都，命名在 1947 年前后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（第 16 页）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131367" y="266890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287387" y="2612708"/>
              <a:ext cx="36453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Buffon 投针与 FERMIAC 的年代（第 17 页）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7131367" y="296894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287387" y="2912745"/>
              <a:ext cx="31486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“副本左侧”应为 copyleft（第 30 页）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7131367" y="326898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287387" y="3212782"/>
              <a:ext cx="396563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命令的引号、参数、函数名、路径和 ggplot2 载入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（第 31–33 页）</a:t>
              </a:r>
            </a:p>
          </p:txBody>
        </p:sp>
      </p:grpSp>
      <p:grpSp>
        <p:nvGrpSpPr>
          <p:cNvPr id="63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8" name="Rectangle 58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892" y="6028373"/>
              <a:ext cx="79828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复习时动手跑一遍：投针估计 π、投点法与平均值法对比、平方取中法，并用标准误公式解释结果。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第0章 绪论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tatc_ch0">
  <a:themeElements>
    <a:clrScheme name="statc_ch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tc_ch0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tc_ch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2026-09-17T09:56:08Z</dcterms:created>
  <dcterms:modified xsi:type="dcterms:W3CDTF">2026-09-17T09:56:08Z</dcterms:modified>
  <cp:category/>
  <cp:contentStatus/>
</cp:coreProperties>
</file>