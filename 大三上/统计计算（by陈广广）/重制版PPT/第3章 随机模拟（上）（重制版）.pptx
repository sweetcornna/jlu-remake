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</p:sldIdLst>
  <p:sldSz cx="12192000" cy="6858000" type="screen16x9"/>
  <p:notesSz cx="6858000" cy="9144000"/>
  <p:defaultTextStyle>
    <a:defPPr>
      <a:defRPr lang="zh-CN"/>
    </a:defPPr>
    <a:lvl1pPr marL="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statc_ch3a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Masters/_rels/slideMaster1.xml.rels><?xml version='1.0' encoding='UTF-8' standalone='yes'?>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statc_ch3a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lang="zh-CN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bd9961aa68b829b1.png"/>
</Relationships>
</file>

<file path=ppt/slides/_rels/slide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672388f666bbd65a.png"/>
</Relationships>
</file>

<file path=ppt/slides/_rels/slide2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a34570552ef27372.png"/>
</Relationships>
</file>

<file path=ppt/slides/_rels/slide3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ver-her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over-scrim"/>
          <p:cNvSpPr/>
          <p:nvPr/>
        </p:nvSpPr>
        <p:spPr>
          <a:xfrm>
            <a:off x="0" y="0"/>
            <a:ext cx="7620000" cy="6858000"/>
          </a:xfrm>
          <a:prstGeom prst="rect">
            <a:avLst/>
          </a:prstGeom>
          <a:gradFill>
            <a:gsLst>
              <a:gs pos="0">
                <a:srgbClr val="FFFFFF">
                  <a:alpha val="97000"/>
                </a:srgbClr>
              </a:gs>
              <a:gs pos="58000">
                <a:srgbClr val="FFFFFF">
                  <a:alpha val="85000"/>
                </a:srgbClr>
              </a:gs>
              <a:gs pos="100000">
                <a:srgbClr val="FFFFFF">
                  <a:alpha val="0"/>
                </a:srgbClr>
              </a:gs>
            </a:gsLst>
            <a:lin ang="0" scaled="1"/>
          </a:gradFill>
          <a:ln>
            <a:noFill/>
          </a:ln>
        </p:spPr>
      </p:sp>
      <p:grpSp>
        <p:nvGrpSpPr>
          <p:cNvPr id="17" name="cover-title"/>
          <p:cNvGrpSpPr/>
          <p:nvPr/>
        </p:nvGrpSpPr>
        <p:grpSpPr>
          <a:xfrm>
            <a:off x="666750" y="1619250"/>
            <a:ext cx="4632198" cy="3437763"/>
            <a:chOff x="666750" y="1619250"/>
            <a:chExt cx="4632198" cy="3437763"/>
          </a:xfrm>
        </p:grpSpPr>
        <p:sp>
          <p:nvSpPr>
            <p:cNvPr id="4" name="Rectangle 4"/>
            <p:cNvSpPr/>
            <p:nvPr/>
          </p:nvSpPr>
          <p:spPr>
            <a:xfrm>
              <a:off x="685800" y="1619250"/>
              <a:ext cx="1986915" cy="3429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802035" y="1718310"/>
              <a:ext cx="17544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统计计算 · 第3章（上）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666750" y="2407920"/>
              <a:ext cx="3995928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随机模拟（上）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685800" y="3147060"/>
              <a:ext cx="990600" cy="5715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76656" y="3467100"/>
              <a:ext cx="462229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用随机数算积分，再设法把估计方差压下来</a:t>
              </a:r>
            </a:p>
          </p:txBody>
        </p:sp>
        <p:sp>
          <p:nvSpPr>
            <p:cNvPr id="9" name="Ellipse 9"/>
            <p:cNvSpPr/>
            <p:nvPr/>
          </p:nvSpPr>
          <p:spPr>
            <a:xfrm>
              <a:off x="709612" y="3976688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69442" y="3921442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随机模拟的思路与误差</a:t>
              </a:r>
            </a:p>
          </p:txBody>
        </p:sp>
        <p:sp>
          <p:nvSpPr>
            <p:cNvPr id="11" name="Ellipse 11"/>
            <p:cNvSpPr/>
            <p:nvPr/>
          </p:nvSpPr>
          <p:spPr>
            <a:xfrm>
              <a:off x="709612" y="4267200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69442" y="4211955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随机投点法与平均值法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709612" y="4557712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869442" y="4502468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重要抽样与分层抽样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709612" y="4848225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69442" y="4792980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四种方差缩减技术</a:t>
              </a:r>
            </a:p>
          </p:txBody>
        </p:sp>
      </p:grpSp>
      <p:grpSp>
        <p:nvGrpSpPr>
          <p:cNvPr id="19" name="cover-credit"/>
          <p:cNvGrpSpPr/>
          <p:nvPr/>
        </p:nvGrpSpPr>
        <p:grpSpPr>
          <a:xfrm>
            <a:off x="680466" y="6192202"/>
            <a:ext cx="4894345" cy="205359"/>
            <a:chOff x="680466" y="6192202"/>
            <a:chExt cx="4894345" cy="205359"/>
          </a:xfrm>
        </p:grpSpPr>
        <p:sp>
          <p:nvSpPr>
            <p:cNvPr id="18" name="TextBox 18"/>
            <p:cNvSpPr txBox="1"/>
            <p:nvPr/>
          </p:nvSpPr>
          <p:spPr>
            <a:xfrm>
              <a:off x="680466" y="6192202"/>
              <a:ext cx="489434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重制讲义 · 自学复习版｜据吉林大学《统计计算》第3章课件（3.1–3.5）整理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2085594" cy="909257"/>
            <a:chOff x="520446" y="342900"/>
            <a:chExt cx="208559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673542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19165" y="407194"/>
              <a:ext cx="150296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第3章 随机模拟（上）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208559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本讲学习路线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6" name="c1-agenda-1"/>
          <p:cNvGrpSpPr/>
          <p:nvPr/>
        </p:nvGrpSpPr>
        <p:grpSpPr>
          <a:xfrm>
            <a:off x="521970" y="1515428"/>
            <a:ext cx="6287453" cy="3689317"/>
            <a:chOff x="521970" y="1515428"/>
            <a:chExt cx="6287453" cy="3689317"/>
          </a:xfrm>
        </p:grpSpPr>
        <p:sp>
          <p:nvSpPr>
            <p:cNvPr id="7" name="TextBox 7"/>
            <p:cNvSpPr txBox="1"/>
            <p:nvPr/>
          </p:nvSpPr>
          <p:spPr>
            <a:xfrm>
              <a:off x="521970" y="1515428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065086" y="1551622"/>
              <a:ext cx="180429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3.1 随机模拟介绍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066990" y="1868329"/>
              <a:ext cx="481188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数学建模的局限、蒙提霍尔问题、投针与投点估计 π、模拟误差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1073468" y="2181225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521970" y="2286952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065086" y="2323148"/>
              <a:ext cx="180429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3.2 随机模拟积分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066990" y="2639854"/>
              <a:ext cx="501004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双期望与方差分解、随机投点法、平均值法、误差度量、高维积分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1073468" y="2953702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521970" y="3058478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065086" y="3094673"/>
              <a:ext cx="158217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3.3 重要抽样法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066990" y="3412331"/>
              <a:ext cx="44931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试投密度与权重、标准化重要抽样、带舍选控制的重要抽样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1073468" y="3725228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521970" y="3830955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04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065086" y="3867150"/>
              <a:ext cx="158217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3.4 分层抽样法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066990" y="4183856"/>
              <a:ext cx="414848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分层估计、样本量的最优分配、按离散变量分层求期望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1073468" y="4497705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521970" y="4602480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05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065086" y="4638675"/>
              <a:ext cx="180429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3.5 方差缩减技术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066990" y="4955381"/>
              <a:ext cx="34592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控制变量、对立变量、条件期望、随机数复用</a:t>
              </a:r>
            </a:p>
          </p:txBody>
        </p:sp>
      </p:grpSp>
      <p:grpSp>
        <p:nvGrpSpPr>
          <p:cNvPr id="41" name="c2-card-1"/>
          <p:cNvGrpSpPr/>
          <p:nvPr/>
        </p:nvGrpSpPr>
        <p:grpSpPr>
          <a:xfrm>
            <a:off x="7114222" y="1524000"/>
            <a:ext cx="4544378" cy="3800475"/>
            <a:chOff x="7114222" y="1524000"/>
            <a:chExt cx="4544378" cy="3800475"/>
          </a:xfrm>
        </p:grpSpPr>
        <p:sp>
          <p:nvSpPr>
            <p:cNvPr id="27" name="Rectangle 27"/>
            <p:cNvSpPr/>
            <p:nvPr/>
          </p:nvSpPr>
          <p:spPr>
            <a:xfrm>
              <a:off x="7114222" y="1524000"/>
              <a:ext cx="4544378" cy="3800475"/>
            </a:xfrm>
            <a:prstGeom prst="roundRect">
              <a:avLst>
                <a:gd name="adj" fmla="val 350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7123748" y="1657350"/>
              <a:ext cx="47625" cy="3533775"/>
            </a:xfrm>
            <a:prstGeom prst="roundRect">
              <a:avLst>
                <a:gd name="adj" fmla="val 50000"/>
              </a:avLst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7361872" y="1733550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443229" y="1769269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学习目标</a:t>
              </a:r>
            </a:p>
          </p:txBody>
        </p:sp>
        <p:sp>
          <p:nvSpPr>
            <p:cNvPr id="31" name="Ellipse 31"/>
            <p:cNvSpPr/>
            <p:nvPr/>
          </p:nvSpPr>
          <p:spPr>
            <a:xfrm>
              <a:off x="7367588" y="2173605"/>
              <a:ext cx="64770" cy="6477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7525702" y="2110740"/>
              <a:ext cx="3634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写出随机投点法和平均值法的估计量与渐近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方差，说明后者方差更小</a:t>
              </a:r>
            </a:p>
          </p:txBody>
        </p:sp>
        <p:sp>
          <p:nvSpPr>
            <p:cNvPr id="33" name="Ellipse 33"/>
            <p:cNvSpPr/>
            <p:nvPr/>
          </p:nvSpPr>
          <p:spPr>
            <a:xfrm>
              <a:off x="7367588" y="2794635"/>
              <a:ext cx="64770" cy="6477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7525702" y="2731770"/>
              <a:ext cx="37109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由一次模拟的结果算出 RMSE、MAE、MRE，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并估计需要的样本量</a:t>
              </a:r>
            </a:p>
          </p:txBody>
        </p:sp>
        <p:sp>
          <p:nvSpPr>
            <p:cNvPr id="35" name="Ellipse 35"/>
            <p:cNvSpPr/>
            <p:nvPr/>
          </p:nvSpPr>
          <p:spPr>
            <a:xfrm>
              <a:off x="7367588" y="3415665"/>
              <a:ext cx="64770" cy="6477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525702" y="3352800"/>
              <a:ext cx="3634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为给定积分选试投密度，写出重要抽样估计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及其方差</a:t>
              </a:r>
            </a:p>
          </p:txBody>
        </p:sp>
        <p:sp>
          <p:nvSpPr>
            <p:cNvPr id="37" name="Ellipse 37"/>
            <p:cNvSpPr/>
            <p:nvPr/>
          </p:nvSpPr>
          <p:spPr>
            <a:xfrm>
              <a:off x="7367588" y="4036695"/>
              <a:ext cx="64770" cy="6477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525702" y="3973830"/>
              <a:ext cx="3634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用分层抽样、控制变量、对立变量、条件期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望改写估计量并比较方差</a:t>
              </a:r>
            </a:p>
          </p:txBody>
        </p:sp>
        <p:sp>
          <p:nvSpPr>
            <p:cNvPr id="39" name="Ellipse 39"/>
            <p:cNvSpPr/>
            <p:nvPr/>
          </p:nvSpPr>
          <p:spPr>
            <a:xfrm>
              <a:off x="7367588" y="4657725"/>
              <a:ext cx="64770" cy="6477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7525702" y="4594860"/>
              <a:ext cx="3634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解释公共随机数为什么能提高两系统之差的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估计精度</a:t>
              </a:r>
            </a:p>
          </p:txBody>
        </p:sp>
      </p:grpSp>
      <p:grpSp>
        <p:nvGrpSpPr>
          <p:cNvPr id="4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2" name="TextBox 42"/>
            <p:cNvSpPr txBox="1"/>
            <p:nvPr/>
          </p:nvSpPr>
          <p:spPr>
            <a:xfrm>
              <a:off x="528447" y="6581299"/>
              <a:ext cx="198882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统计计算 · 第3章 随机模拟（上）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2E7D4F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5F2EA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</p:grpSp>
      <p:grpSp>
        <p:nvGrpSpPr>
          <p:cNvPr id="18" name="section-title"/>
          <p:cNvGrpSpPr/>
          <p:nvPr/>
        </p:nvGrpSpPr>
        <p:grpSpPr>
          <a:xfrm>
            <a:off x="667512" y="1835468"/>
            <a:ext cx="4691253" cy="3351847"/>
            <a:chOff x="667512" y="1835468"/>
            <a:chExt cx="4691253" cy="335184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第一部分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3936652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3.1 随机模拟介绍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468134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把问题改写成概率模型，用大量随机数求近似解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24384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数学建模的局限与随机模拟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蒙提霍尔问题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16003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投针与投点估计 π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23900" y="4951095"/>
              <a:ext cx="76200" cy="7620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06780" y="4893945"/>
              <a:ext cx="24384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随机模拟误差、特点与应用</a:t>
              </a:r>
            </a:p>
          </p:txBody>
        </p:sp>
      </p:grpSp>
      <p:grpSp>
        <p:nvGrpSpPr>
          <p:cNvPr id="2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9" name="TextBox 19"/>
            <p:cNvSpPr txBox="1"/>
            <p:nvPr/>
          </p:nvSpPr>
          <p:spPr>
            <a:xfrm>
              <a:off x="528447" y="6581299"/>
              <a:ext cx="198882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统计计算 · 第3章 随机模拟（上）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607933" cy="909257"/>
            <a:chOff x="520446" y="342900"/>
            <a:chExt cx="860793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989898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9634" y="407194"/>
              <a:ext cx="289838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第3章 随机模拟（上） · 3.1 随机模拟介绍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60793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数学模型求得出解，却未必贴近实际；随机模拟换一条路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6" name="c1-compare-1"/>
          <p:cNvGrpSpPr/>
          <p:nvPr/>
        </p:nvGrpSpPr>
        <p:grpSpPr>
          <a:xfrm>
            <a:off x="533400" y="1524000"/>
            <a:ext cx="5410200" cy="2203132"/>
            <a:chOff x="533400" y="1524000"/>
            <a:chExt cx="5410200" cy="220313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2533650" cy="2203132"/>
            </a:xfrm>
            <a:prstGeom prst="roundRect">
              <a:avLst>
                <a:gd name="adj" fmla="val 6053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724281" y="1745456"/>
              <a:ext cx="173492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数学建模的常见做法</a:t>
              </a:r>
            </a:p>
          </p:txBody>
        </p:sp>
        <p:sp>
          <p:nvSpPr>
            <p:cNvPr id="9" name="Ellipse 9"/>
            <p:cNvSpPr/>
            <p:nvPr/>
          </p:nvSpPr>
          <p:spPr>
            <a:xfrm>
              <a:off x="739140" y="2141220"/>
              <a:ext cx="60960" cy="6096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95731" y="2081689"/>
              <a:ext cx="116144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忽略许多细节</a:t>
              </a:r>
            </a:p>
          </p:txBody>
        </p:sp>
        <p:sp>
          <p:nvSpPr>
            <p:cNvPr id="11" name="Ellipse 11"/>
            <p:cNvSpPr/>
            <p:nvPr/>
          </p:nvSpPr>
          <p:spPr>
            <a:xfrm>
              <a:off x="739140" y="2459355"/>
              <a:ext cx="60960" cy="6096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95731" y="2398871"/>
              <a:ext cx="181787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增加一些很难验证的理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论假设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739140" y="3048000"/>
              <a:ext cx="60960" cy="6096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895731" y="2988469"/>
              <a:ext cx="135260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让模型足够简单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739140" y="3366135"/>
              <a:ext cx="60960" cy="6096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95731" y="3305651"/>
              <a:ext cx="192608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再用数学理论分析求解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3409950" y="1524000"/>
              <a:ext cx="2533650" cy="2203132"/>
            </a:xfrm>
            <a:prstGeom prst="roundRect">
              <a:avLst>
                <a:gd name="adj" fmla="val 605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3419475" y="1657350"/>
              <a:ext cx="47625" cy="1936432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3638931" y="1745456"/>
              <a:ext cx="97028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带来的问题</a:t>
              </a:r>
            </a:p>
          </p:txBody>
        </p:sp>
        <p:sp>
          <p:nvSpPr>
            <p:cNvPr id="20" name="Ellipse 20"/>
            <p:cNvSpPr/>
            <p:nvPr/>
          </p:nvSpPr>
          <p:spPr>
            <a:xfrm>
              <a:off x="3653790" y="2141220"/>
              <a:ext cx="60960" cy="6096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3810381" y="2081689"/>
              <a:ext cx="173492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与实际情况差距较大</a:t>
              </a:r>
            </a:p>
          </p:txBody>
        </p:sp>
        <p:sp>
          <p:nvSpPr>
            <p:cNvPr id="22" name="Ellipse 22"/>
            <p:cNvSpPr/>
            <p:nvPr/>
          </p:nvSpPr>
          <p:spPr>
            <a:xfrm>
              <a:off x="3653790" y="2459355"/>
              <a:ext cx="60960" cy="6096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3810381" y="2398871"/>
              <a:ext cx="181787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即使理论分析完美，结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论也未必可信</a:t>
              </a:r>
            </a:p>
          </p:txBody>
        </p:sp>
        <p:sp>
          <p:nvSpPr>
            <p:cNvPr id="24" name="Ellipse 24"/>
            <p:cNvSpPr/>
            <p:nvPr/>
          </p:nvSpPr>
          <p:spPr>
            <a:xfrm>
              <a:off x="3076575" y="2463165"/>
              <a:ext cx="323850" cy="323850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3146915" y="2559368"/>
              <a:ext cx="1831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VS</a:t>
              </a:r>
            </a:p>
          </p:txBody>
        </p:sp>
      </p:grpSp>
      <p:grpSp>
        <p:nvGrpSpPr>
          <p:cNvPr id="39" name="c1-card-2"/>
          <p:cNvGrpSpPr/>
          <p:nvPr/>
        </p:nvGrpSpPr>
        <p:grpSpPr>
          <a:xfrm>
            <a:off x="533400" y="3907155"/>
            <a:ext cx="5410200" cy="2222182"/>
            <a:chOff x="533400" y="3907155"/>
            <a:chExt cx="5410200" cy="2222182"/>
          </a:xfrm>
        </p:grpSpPr>
        <p:sp>
          <p:nvSpPr>
            <p:cNvPr id="27" name="Rectangle 27"/>
            <p:cNvSpPr/>
            <p:nvPr/>
          </p:nvSpPr>
          <p:spPr>
            <a:xfrm>
              <a:off x="533400" y="3907155"/>
              <a:ext cx="5410200" cy="2222182"/>
            </a:xfrm>
            <a:prstGeom prst="roundRect">
              <a:avLst>
                <a:gd name="adj" fmla="val 600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542925" y="4040505"/>
              <a:ext cx="47625" cy="1955482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769620" y="4105275"/>
              <a:ext cx="342900" cy="247650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865060" y="4139565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219581" y="4140041"/>
              <a:ext cx="192608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红绿灯信号的最优控制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62381" y="4483894"/>
              <a:ext cx="470331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目标：汽车通过路口的平均耽搁时间最短，同时行人等候时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间不超过某个心理极限值。</a:t>
              </a:r>
            </a:p>
          </p:txBody>
        </p:sp>
        <p:sp>
          <p:nvSpPr>
            <p:cNvPr id="33" name="Ellipse 33"/>
            <p:cNvSpPr/>
            <p:nvPr/>
          </p:nvSpPr>
          <p:spPr>
            <a:xfrm>
              <a:off x="777240" y="5133022"/>
              <a:ext cx="60960" cy="6096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933831" y="5072539"/>
              <a:ext cx="326420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按随机规律模拟汽车和行人到来的过程</a:t>
              </a:r>
            </a:p>
          </p:txBody>
        </p:sp>
        <p:sp>
          <p:nvSpPr>
            <p:cNvPr id="35" name="Ellipse 35"/>
            <p:cNvSpPr/>
            <p:nvPr/>
          </p:nvSpPr>
          <p:spPr>
            <a:xfrm>
              <a:off x="777240" y="5451158"/>
              <a:ext cx="60960" cy="6096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933831" y="5390674"/>
              <a:ext cx="345536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对每种控制方案统计耽搁时间与等候时间</a:t>
              </a:r>
            </a:p>
          </p:txBody>
        </p:sp>
        <p:sp>
          <p:nvSpPr>
            <p:cNvPr id="37" name="Ellipse 37"/>
            <p:cNvSpPr/>
            <p:nvPr/>
          </p:nvSpPr>
          <p:spPr>
            <a:xfrm>
              <a:off x="777240" y="5768340"/>
              <a:ext cx="60960" cy="6096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933831" y="5708809"/>
              <a:ext cx="249956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比较统计结果，选出最优方案</a:t>
              </a:r>
            </a:p>
          </p:txBody>
        </p:sp>
      </p:grpSp>
      <p:grpSp>
        <p:nvGrpSpPr>
          <p:cNvPr id="46" name="c2-card-1"/>
          <p:cNvGrpSpPr/>
          <p:nvPr/>
        </p:nvGrpSpPr>
        <p:grpSpPr>
          <a:xfrm>
            <a:off x="6248400" y="1524000"/>
            <a:ext cx="5410200" cy="1268730"/>
            <a:chOff x="6248400" y="1524000"/>
            <a:chExt cx="5410200" cy="1268730"/>
          </a:xfrm>
        </p:grpSpPr>
        <p:sp>
          <p:nvSpPr>
            <p:cNvPr id="40" name="Rectangle 40"/>
            <p:cNvSpPr/>
            <p:nvPr/>
          </p:nvSpPr>
          <p:spPr>
            <a:xfrm>
              <a:off x="6248400" y="1524000"/>
              <a:ext cx="5410200" cy="1268730"/>
            </a:xfrm>
            <a:prstGeom prst="roundRect">
              <a:avLst>
                <a:gd name="adj" fmla="val 1051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1" name="Rectangle 41"/>
            <p:cNvSpPr/>
            <p:nvPr/>
          </p:nvSpPr>
          <p:spPr>
            <a:xfrm>
              <a:off x="6257925" y="1657350"/>
              <a:ext cx="47625" cy="1002030"/>
            </a:xfrm>
            <a:prstGeom prst="roundRect">
              <a:avLst>
                <a:gd name="adj" fmla="val 50000"/>
              </a:avLst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42" name="Rectangle 42"/>
            <p:cNvSpPr/>
            <p:nvPr/>
          </p:nvSpPr>
          <p:spPr>
            <a:xfrm>
              <a:off x="6484620" y="1722120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6576060" y="175641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定义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7067931" y="1756886"/>
              <a:ext cx="39679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模拟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6477381" y="2100739"/>
              <a:ext cx="470331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把某一现实的或抽象的系统的某种特征或部分状态，用另一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个系统（称为模拟模型）来代替或模拟。</a:t>
              </a:r>
            </a:p>
          </p:txBody>
        </p:sp>
      </p:grpSp>
      <p:grpSp>
        <p:nvGrpSpPr>
          <p:cNvPr id="54" name="c2-card-2"/>
          <p:cNvGrpSpPr/>
          <p:nvPr/>
        </p:nvGrpSpPr>
        <p:grpSpPr>
          <a:xfrm>
            <a:off x="6248400" y="2972752"/>
            <a:ext cx="5410200" cy="3155632"/>
            <a:chOff x="6248400" y="2972752"/>
            <a:chExt cx="5410200" cy="3155632"/>
          </a:xfrm>
        </p:grpSpPr>
        <p:sp>
          <p:nvSpPr>
            <p:cNvPr id="47" name="Rectangle 47"/>
            <p:cNvSpPr/>
            <p:nvPr/>
          </p:nvSpPr>
          <p:spPr>
            <a:xfrm>
              <a:off x="6248400" y="2972752"/>
              <a:ext cx="5410200" cy="3155632"/>
            </a:xfrm>
            <a:prstGeom prst="roundRect">
              <a:avLst>
                <a:gd name="adj" fmla="val 422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8" name="Rectangle 48"/>
            <p:cNvSpPr/>
            <p:nvPr/>
          </p:nvSpPr>
          <p:spPr>
            <a:xfrm>
              <a:off x="6257925" y="3106102"/>
              <a:ext cx="47625" cy="2888932"/>
            </a:xfrm>
            <a:prstGeom prst="roundRect">
              <a:avLst>
                <a:gd name="adj" fmla="val 50000"/>
              </a:avLst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49" name="Rectangle 49"/>
            <p:cNvSpPr/>
            <p:nvPr/>
          </p:nvSpPr>
          <p:spPr>
            <a:xfrm>
              <a:off x="6484620" y="3170872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6576060" y="3205162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定义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7067931" y="3206591"/>
              <a:ext cx="277185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随机模拟法（Monte Carlo 法）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6477381" y="3549491"/>
              <a:ext cx="4703318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为了解决某个问题，先把它变成一个 </a:t>
              </a:r>
              <a:r>
                <a:rPr lang="zh-CN" sz="14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概率模型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的求解问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题，然后产生符合模型的大量随机数，对这些随机数做统计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分析，从而求解问题。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6478524" y="4407218"/>
              <a:ext cx="4736592" cy="4556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40"/>
                </a:lnSpc>
              </a:pPr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车流、人流的到达都是随机的，解析求最优方案很难；模拟只需按规则</a:t>
              </a:r>
              <a:br/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把过程演一遍再统计。</a:t>
              </a:r>
            </a:p>
          </p:txBody>
        </p:sp>
      </p:grpSp>
      <p:grpSp>
        <p:nvGrpSpPr>
          <p:cNvPr id="5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5" name="TextBox 55"/>
            <p:cNvSpPr txBox="1"/>
            <p:nvPr/>
          </p:nvSpPr>
          <p:spPr>
            <a:xfrm>
              <a:off x="528447" y="6581299"/>
              <a:ext cx="198882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统计计算 · 第3章 随机模拟（上）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234809" cy="909257"/>
            <a:chOff x="520446" y="342900"/>
            <a:chExt cx="723480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989898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9634" y="407194"/>
              <a:ext cx="289838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第3章 随机模拟（上） · 3.1 随机模拟介绍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23480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蒙提霍尔问题：主持人开门之后，换门划不划算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4" name="c1-card-1"/>
          <p:cNvGrpSpPr/>
          <p:nvPr/>
        </p:nvGrpSpPr>
        <p:grpSpPr>
          <a:xfrm>
            <a:off x="533400" y="1524000"/>
            <a:ext cx="5842635" cy="1917382"/>
            <a:chOff x="533400" y="1524000"/>
            <a:chExt cx="5842635" cy="191738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842635" cy="1917382"/>
            </a:xfrm>
            <a:prstGeom prst="roundRect">
              <a:avLst>
                <a:gd name="adj" fmla="val 695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650682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81050" y="1733550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63359" y="1769269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三门问题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665922" y="1768792"/>
              <a:ext cx="194765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Monty Hall problem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73430" y="2129790"/>
              <a:ext cx="515874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三扇关闭的门中，一扇后面是汽车，另两扇后面各是一只山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羊。参赛者先选定一扇但不打开；主持人从剩下两扇中打开一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扇藏山羊的门，再问参赛者是否换成另一扇仍关着的门。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74573" y="3033236"/>
              <a:ext cx="432079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问题：采用换门策略是否有利？赢得汽车的机会有多大？</a:t>
              </a:r>
            </a:p>
          </p:txBody>
        </p:sp>
      </p:grpSp>
      <p:grpSp>
        <p:nvGrpSpPr>
          <p:cNvPr id="40" name="c1-table-2"/>
          <p:cNvGrpSpPr/>
          <p:nvPr/>
        </p:nvGrpSpPr>
        <p:grpSpPr>
          <a:xfrm>
            <a:off x="527685" y="3631882"/>
            <a:ext cx="5848350" cy="2091215"/>
            <a:chOff x="527685" y="3631882"/>
            <a:chExt cx="5848350" cy="2091215"/>
          </a:xfrm>
        </p:grpSpPr>
        <p:sp>
          <p:nvSpPr>
            <p:cNvPr id="15" name="Rectangle 15"/>
            <p:cNvSpPr/>
            <p:nvPr/>
          </p:nvSpPr>
          <p:spPr>
            <a:xfrm>
              <a:off x="533400" y="3631882"/>
              <a:ext cx="5842635" cy="448628"/>
            </a:xfrm>
            <a:prstGeom prst="rect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912863" y="3767614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骰子点数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2373046" y="3767614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对应号码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3834181" y="3767614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最初选中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5295316" y="3767614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换门结果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017544" y="4216241"/>
              <a:ext cx="49284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 或 2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2670287" y="4216241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3933261" y="4216241"/>
              <a:ext cx="50404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山羊 1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5553786" y="4216241"/>
              <a:ext cx="18526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赢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533400" y="4525328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533400" y="4530090"/>
              <a:ext cx="5842635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1017544" y="4664869"/>
              <a:ext cx="49284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 或 4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2670287" y="4664869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3933261" y="4664869"/>
              <a:ext cx="50404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山羊 2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5553786" y="4664869"/>
              <a:ext cx="18526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赢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533400" y="4973955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1017544" y="5113496"/>
              <a:ext cx="49284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 或 6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2670287" y="5113496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4006494" y="5113496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汽车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5553786" y="5113496"/>
              <a:ext cx="18526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输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533400" y="3631882"/>
              <a:ext cx="5842635" cy="1795462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1989772" y="3631882"/>
              <a:ext cx="9525" cy="179546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3449955" y="3631882"/>
              <a:ext cx="9525" cy="179546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4911090" y="3631882"/>
              <a:ext cx="9525" cy="179546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527685" y="5503069"/>
              <a:ext cx="551469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两只山羊编号 1、2，汽车编号 3；掷一次骰子代表参赛者从 1、2、3 中随机选一个</a:t>
              </a:r>
            </a:p>
          </p:txBody>
        </p:sp>
      </p:grpSp>
      <p:grpSp>
        <p:nvGrpSpPr>
          <p:cNvPr id="58" name="c2-steps-1"/>
          <p:cNvGrpSpPr/>
          <p:nvPr/>
        </p:nvGrpSpPr>
        <p:grpSpPr>
          <a:xfrm>
            <a:off x="6680835" y="1533525"/>
            <a:ext cx="4652137" cy="2998756"/>
            <a:chOff x="6680835" y="1533525"/>
            <a:chExt cx="4652137" cy="2998756"/>
          </a:xfrm>
        </p:grpSpPr>
        <p:sp>
          <p:nvSpPr>
            <p:cNvPr id="41" name="Rectangle 41"/>
            <p:cNvSpPr/>
            <p:nvPr/>
          </p:nvSpPr>
          <p:spPr>
            <a:xfrm>
              <a:off x="6814185" y="1676400"/>
              <a:ext cx="19050" cy="218694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2" name="Ellipse 42"/>
            <p:cNvSpPr/>
            <p:nvPr/>
          </p:nvSpPr>
          <p:spPr>
            <a:xfrm>
              <a:off x="6680835" y="1533525"/>
              <a:ext cx="285750" cy="28575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6774459" y="16073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4" name="Ellipse 44"/>
            <p:cNvSpPr/>
            <p:nvPr/>
          </p:nvSpPr>
          <p:spPr>
            <a:xfrm>
              <a:off x="6680835" y="2184082"/>
              <a:ext cx="285750" cy="28575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6774459" y="225790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46" name="Ellipse 46"/>
            <p:cNvSpPr/>
            <p:nvPr/>
          </p:nvSpPr>
          <p:spPr>
            <a:xfrm>
              <a:off x="6680835" y="3069908"/>
              <a:ext cx="285750" cy="28575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6774459" y="314372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48" name="Ellipse 48"/>
            <p:cNvSpPr/>
            <p:nvPr/>
          </p:nvSpPr>
          <p:spPr>
            <a:xfrm>
              <a:off x="6680835" y="3720465"/>
              <a:ext cx="285750" cy="28575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6774459" y="379428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7092315" y="156781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一次试验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7093458" y="1861661"/>
              <a:ext cx="31145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掷一次骰子，确定参赛者最初选中的号码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7092315" y="2218372"/>
              <a:ext cx="83255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点数 1–4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7093458" y="2512219"/>
              <a:ext cx="4239514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最初选中山羊，主持人只能打开另一只山羊的门，换门必得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汽车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7092315" y="3104198"/>
              <a:ext cx="83255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点数 5–6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7093458" y="3397091"/>
              <a:ext cx="259765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最初选中汽车，换门必然失去汽车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7092315" y="3754755"/>
              <a:ext cx="8648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重复 n 次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7093458" y="4048601"/>
              <a:ext cx="4125722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记点数为 1–4 的次数 m，它就是换门赢得汽车的次数，用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m/n 估计换门获胜的概率</a:t>
              </a:r>
            </a:p>
          </p:txBody>
        </p:sp>
      </p:grpSp>
      <p:grpSp>
        <p:nvGrpSpPr>
          <p:cNvPr id="6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9" name="TextBox 59"/>
            <p:cNvSpPr txBox="1"/>
            <p:nvPr/>
          </p:nvSpPr>
          <p:spPr>
            <a:xfrm>
              <a:off x="528447" y="6581299"/>
              <a:ext cx="198882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统计计算 · 第3章 随机模拟（上）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877991" cy="909257"/>
            <a:chOff x="520446" y="342900"/>
            <a:chExt cx="587799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989898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9634" y="407194"/>
              <a:ext cx="289838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第3章 随机模拟（上） · 3.1 随机模拟介绍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87799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模拟频率稳定在 2/3，与概率计算一致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3" name="c1-table-1"/>
          <p:cNvGrpSpPr/>
          <p:nvPr/>
        </p:nvGrpSpPr>
        <p:grpSpPr>
          <a:xfrm>
            <a:off x="527685" y="1524000"/>
            <a:ext cx="4766310" cy="3437097"/>
            <a:chOff x="527685" y="1524000"/>
            <a:chExt cx="4766310" cy="3437097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4760595" cy="448628"/>
            </a:xfrm>
            <a:prstGeom prst="rect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158866" y="1659731"/>
              <a:ext cx="85599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试验次数 n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3249246" y="1659731"/>
              <a:ext cx="143583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换门获胜频率 m/n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480877" y="2108359"/>
              <a:ext cx="2119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3676368" y="2108359"/>
              <a:ext cx="58158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0.7000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533400" y="2416492"/>
              <a:ext cx="476059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533400" y="2421255"/>
              <a:ext cx="4760595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1431121" y="2556986"/>
              <a:ext cx="31148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100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3676368" y="2556986"/>
              <a:ext cx="58158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0.6600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533400" y="2866072"/>
              <a:ext cx="476059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1381366" y="3005614"/>
              <a:ext cx="41099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1000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3676368" y="3005614"/>
              <a:ext cx="58158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0.6650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33400" y="3314700"/>
              <a:ext cx="476059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533400" y="3319462"/>
              <a:ext cx="4760595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1331610" y="3454241"/>
              <a:ext cx="51051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10000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3676368" y="3454241"/>
              <a:ext cx="58158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0.6600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33400" y="3763328"/>
              <a:ext cx="476059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1281855" y="3903821"/>
              <a:ext cx="61002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100000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3676368" y="3903821"/>
              <a:ext cx="58158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0.6663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533400" y="4211955"/>
              <a:ext cx="476059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533400" y="4216718"/>
              <a:ext cx="4760595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1232099" y="4352449"/>
              <a:ext cx="70953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1000000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3676368" y="4352449"/>
              <a:ext cx="58158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0.6666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533400" y="1524000"/>
              <a:ext cx="4760595" cy="314134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1" name="Rectangle 31"/>
            <p:cNvSpPr/>
            <p:nvPr/>
          </p:nvSpPr>
          <p:spPr>
            <a:xfrm>
              <a:off x="2635568" y="1524000"/>
              <a:ext cx="9525" cy="314134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527685" y="4741069"/>
              <a:ext cx="18207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原课件给出的一次模拟结果</a:t>
              </a:r>
            </a:p>
          </p:txBody>
        </p:sp>
      </p:grpSp>
      <p:grpSp>
        <p:nvGrpSpPr>
          <p:cNvPr id="37" name="c1-card-2"/>
          <p:cNvGrpSpPr/>
          <p:nvPr/>
        </p:nvGrpSpPr>
        <p:grpSpPr>
          <a:xfrm>
            <a:off x="533400" y="5107305"/>
            <a:ext cx="4760595" cy="1249680"/>
            <a:chOff x="533400" y="5107305"/>
            <a:chExt cx="4760595" cy="1249680"/>
          </a:xfrm>
        </p:grpSpPr>
        <p:sp>
          <p:nvSpPr>
            <p:cNvPr id="34" name="Rectangle 34"/>
            <p:cNvSpPr/>
            <p:nvPr/>
          </p:nvSpPr>
          <p:spPr>
            <a:xfrm>
              <a:off x="533400" y="5107305"/>
              <a:ext cx="4760595" cy="1249680"/>
            </a:xfrm>
            <a:prstGeom prst="roundRect">
              <a:avLst>
                <a:gd name="adj" fmla="val 1067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5" name="Rectangle 35"/>
            <p:cNvSpPr/>
            <p:nvPr/>
          </p:nvSpPr>
          <p:spPr>
            <a:xfrm>
              <a:off x="542925" y="5240655"/>
              <a:ext cx="47625" cy="982980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73430" y="5341620"/>
              <a:ext cx="401574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精确计算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：换门获胜当且仅当最初选中山羊，概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率 2/3；坚持不换获胜当且仅当最初选中汽车，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概率 1/3。</a:t>
              </a:r>
            </a:p>
          </p:txBody>
        </p:sp>
      </p:grpSp>
      <p:grpSp>
        <p:nvGrpSpPr>
          <p:cNvPr id="41" name="c2-code-1"/>
          <p:cNvGrpSpPr/>
          <p:nvPr/>
        </p:nvGrpSpPr>
        <p:grpSpPr>
          <a:xfrm>
            <a:off x="5598795" y="1524000"/>
            <a:ext cx="6059805" cy="1922145"/>
            <a:chOff x="5598795" y="1524000"/>
            <a:chExt cx="6059805" cy="1922145"/>
          </a:xfrm>
        </p:grpSpPr>
        <p:sp>
          <p:nvSpPr>
            <p:cNvPr id="38" name="Rectangle 38"/>
            <p:cNvSpPr/>
            <p:nvPr/>
          </p:nvSpPr>
          <p:spPr>
            <a:xfrm>
              <a:off x="5598795" y="1524000"/>
              <a:ext cx="6059805" cy="1922145"/>
            </a:xfrm>
            <a:prstGeom prst="roundRect">
              <a:avLst>
                <a:gd name="adj" fmla="val 4955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5727192" y="1675924"/>
              <a:ext cx="154161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R：两种写法模拟换门策略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5726430" y="1937861"/>
              <a:ext cx="3688334" cy="14373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98"/>
                </a:lnSpc>
              </a:pP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n &lt;- 1e5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die &lt;- sample(1:6, n, replace = </a:t>
              </a:r>
              <a:r>
                <a:rPr lang="en-US" sz="1120" b="1" dirty="0">
                  <a:solidFill>
                    <a:srgbClr val="2E7D4F"/>
                  </a:solidFill>
                  <a:latin typeface="Consolas"/>
                  <a:ea typeface="Consolas"/>
                  <a:cs typeface="Consolas"/>
                </a:rPr>
                <a:t>TRUE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sum(die &lt;= 4) / n        </a:t>
              </a:r>
              <a:r>
                <a:rPr lang="zh-CN" sz="11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# 点数 1~4：换门赢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car  &lt;- sample(1:3, n, replace = </a:t>
              </a:r>
              <a:r>
                <a:rPr lang="en-US" sz="1120" b="1" dirty="0">
                  <a:solidFill>
                    <a:srgbClr val="2E7D4F"/>
                  </a:solidFill>
                  <a:latin typeface="Consolas"/>
                  <a:ea typeface="Consolas"/>
                  <a:cs typeface="Consolas"/>
                </a:rPr>
                <a:t>TRUE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pick &lt;- sample(1:3, n, replace = </a:t>
              </a:r>
              <a:r>
                <a:rPr lang="en-US" sz="1120" b="1" dirty="0">
                  <a:solidFill>
                    <a:srgbClr val="2E7D4F"/>
                  </a:solidFill>
                  <a:latin typeface="Consolas"/>
                  <a:ea typeface="Consolas"/>
                  <a:cs typeface="Consolas"/>
                </a:rPr>
                <a:t>TRUE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mean(pick != car)        </a:t>
              </a:r>
              <a:r>
                <a:rPr lang="zh-CN" sz="11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# 最初没选中车，换门就赢</a:t>
              </a:r>
            </a:p>
          </p:txBody>
        </p:sp>
      </p:grpSp>
      <p:grpSp>
        <p:nvGrpSpPr>
          <p:cNvPr id="48" name="c2-callout-2"/>
          <p:cNvGrpSpPr/>
          <p:nvPr/>
        </p:nvGrpSpPr>
        <p:grpSpPr>
          <a:xfrm>
            <a:off x="5598795" y="3636645"/>
            <a:ext cx="6059805" cy="782955"/>
            <a:chOff x="5598795" y="3636645"/>
            <a:chExt cx="6059805" cy="782955"/>
          </a:xfrm>
        </p:grpSpPr>
        <p:sp>
          <p:nvSpPr>
            <p:cNvPr id="42" name="Rectangle 42"/>
            <p:cNvSpPr/>
            <p:nvPr/>
          </p:nvSpPr>
          <p:spPr>
            <a:xfrm>
              <a:off x="5598795" y="3636645"/>
              <a:ext cx="6059805" cy="782955"/>
            </a:xfrm>
            <a:prstGeom prst="roundRect">
              <a:avLst>
                <a:gd name="adj" fmla="val 14599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46" name="Group 46"/>
            <p:cNvGrpSpPr/>
            <p:nvPr/>
          </p:nvGrpSpPr>
          <p:grpSpPr>
            <a:xfrm>
              <a:off x="5803583" y="3928110"/>
              <a:ext cx="200026" cy="200025"/>
              <a:chOff x="5803583" y="3928110"/>
              <a:chExt cx="200026" cy="200025"/>
            </a:xfrm>
          </p:grpSpPr>
          <p:sp>
            <p:nvSpPr>
              <p:cNvPr id="43" name="Freeform 43"/>
              <p:cNvSpPr/>
              <p:nvPr/>
            </p:nvSpPr>
            <p:spPr>
              <a:xfrm>
                <a:off x="5803583" y="3928110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4" name="Freeform 44"/>
              <p:cNvSpPr/>
              <p:nvPr/>
            </p:nvSpPr>
            <p:spPr>
              <a:xfrm>
                <a:off x="5843321" y="3972560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5" name="Freeform 45"/>
              <p:cNvSpPr/>
              <p:nvPr/>
            </p:nvSpPr>
            <p:spPr>
              <a:xfrm>
                <a:off x="5878037" y="4083686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47" name="TextBox 47"/>
            <p:cNvSpPr txBox="1"/>
            <p:nvPr/>
          </p:nvSpPr>
          <p:spPr>
            <a:xfrm>
              <a:off x="6105525" y="3785235"/>
              <a:ext cx="4939665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模拟只要求写清一次试验怎么做，不必推导条件概率；n 越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大，频率在 2/3 附近摆动的幅度越小。</a:t>
              </a:r>
            </a:p>
          </p:txBody>
        </p:sp>
      </p:grpSp>
      <p:grpSp>
        <p:nvGrpSpPr>
          <p:cNvPr id="72" name="c2-graph-3"/>
          <p:cNvGrpSpPr/>
          <p:nvPr/>
        </p:nvGrpSpPr>
        <p:grpSpPr>
          <a:xfrm>
            <a:off x="5630649" y="4654868"/>
            <a:ext cx="5846976" cy="1688496"/>
            <a:chOff x="5630649" y="4654868"/>
            <a:chExt cx="5846976" cy="1688496"/>
          </a:xfrm>
        </p:grpSpPr>
        <p:sp>
          <p:nvSpPr>
            <p:cNvPr id="49" name="Freeform 49"/>
            <p:cNvSpPr/>
            <p:nvPr/>
          </p:nvSpPr>
          <p:spPr>
            <a:xfrm>
              <a:off x="6216015" y="6099810"/>
              <a:ext cx="5154930" cy="9525"/>
            </a:xfrm>
            <a:custGeom>
              <a:avLst/>
              <a:gdLst/>
              <a:ahLst/>
              <a:cxnLst/>
              <a:rect l="l" t="t" r="r" b="b"/>
              <a:pathLst>
                <a:path w="5154930" h="9525">
                  <a:moveTo>
                    <a:pt x="0" y="0"/>
                  </a:moveTo>
                  <a:lnTo>
                    <a:pt x="5154930" y="0"/>
                  </a:lnTo>
                </a:path>
              </a:pathLst>
            </a:custGeom>
            <a:noFill/>
            <a:ln w="17145">
              <a:solidFill>
                <a:srgbClr val="5B6475"/>
              </a:solidFill>
            </a:ln>
          </p:spPr>
        </p:sp>
        <p:sp>
          <p:nvSpPr>
            <p:cNvPr id="50" name="Freeform 50"/>
            <p:cNvSpPr/>
            <p:nvPr/>
          </p:nvSpPr>
          <p:spPr>
            <a:xfrm>
              <a:off x="11370945" y="605218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51" name="Freeform 51"/>
            <p:cNvSpPr/>
            <p:nvPr/>
          </p:nvSpPr>
          <p:spPr>
            <a:xfrm>
              <a:off x="6205538" y="4855845"/>
              <a:ext cx="9525" cy="1321118"/>
            </a:xfrm>
            <a:custGeom>
              <a:avLst/>
              <a:gdLst/>
              <a:ahLst/>
              <a:cxnLst/>
              <a:rect l="l" t="t" r="r" b="b"/>
              <a:pathLst>
                <a:path w="9525" h="1321118">
                  <a:moveTo>
                    <a:pt x="0" y="1321118"/>
                  </a:move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5B6475"/>
              </a:solidFill>
            </a:ln>
          </p:spPr>
        </p:sp>
        <p:sp>
          <p:nvSpPr>
            <p:cNvPr id="52" name="Freeform 52"/>
            <p:cNvSpPr/>
            <p:nvPr/>
          </p:nvSpPr>
          <p:spPr>
            <a:xfrm>
              <a:off x="6157912" y="476059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0"/>
                  </a:moveTo>
                  <a:lnTo>
                    <a:pt x="95250" y="95250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53" name="Freeform 53"/>
            <p:cNvSpPr/>
            <p:nvPr/>
          </p:nvSpPr>
          <p:spPr>
            <a:xfrm>
              <a:off x="6216015" y="5722620"/>
              <a:ext cx="5129212" cy="9525"/>
            </a:xfrm>
            <a:custGeom>
              <a:avLst/>
              <a:gdLst/>
              <a:ahLst/>
              <a:cxnLst/>
              <a:rect l="l" t="t" r="r" b="b"/>
              <a:pathLst>
                <a:path w="5129212" h="9525">
                  <a:moveTo>
                    <a:pt x="0" y="0"/>
                  </a:moveTo>
                  <a:lnTo>
                    <a:pt x="5129212" y="0"/>
                  </a:lnTo>
                </a:path>
              </a:pathLst>
            </a:custGeom>
            <a:noFill/>
            <a:ln w="17145">
              <a:solidFill>
                <a:srgbClr val="F26B3A"/>
              </a:solidFill>
              <a:custDash>
                <a:ds d="333333" sp="222222"/>
              </a:custDash>
            </a:ln>
          </p:spPr>
        </p:sp>
        <p:sp>
          <p:nvSpPr>
            <p:cNvPr id="54" name="Freeform 54"/>
            <p:cNvSpPr/>
            <p:nvPr/>
          </p:nvSpPr>
          <p:spPr>
            <a:xfrm>
              <a:off x="6844665" y="5033010"/>
              <a:ext cx="4160520" cy="835343"/>
            </a:xfrm>
            <a:custGeom>
              <a:avLst/>
              <a:gdLst/>
              <a:ahLst/>
              <a:cxnLst/>
              <a:rect l="l" t="t" r="r" b="b"/>
              <a:pathLst>
                <a:path w="4160520" h="835343">
                  <a:moveTo>
                    <a:pt x="0" y="0"/>
                  </a:moveTo>
                  <a:lnTo>
                    <a:pt x="814388" y="835343"/>
                  </a:lnTo>
                  <a:lnTo>
                    <a:pt x="1663065" y="726758"/>
                  </a:lnTo>
                  <a:lnTo>
                    <a:pt x="2511742" y="835343"/>
                  </a:lnTo>
                  <a:lnTo>
                    <a:pt x="3359467" y="699135"/>
                  </a:lnTo>
                  <a:lnTo>
                    <a:pt x="4160520" y="692468"/>
                  </a:lnTo>
                </a:path>
              </a:pathLst>
            </a:custGeom>
            <a:noFill/>
            <a:ln w="22860">
              <a:solidFill>
                <a:srgbClr val="2E7D4F"/>
              </a:solidFill>
            </a:ln>
          </p:spPr>
        </p:sp>
        <p:sp>
          <p:nvSpPr>
            <p:cNvPr id="55" name="Ellipse 55"/>
            <p:cNvSpPr/>
            <p:nvPr/>
          </p:nvSpPr>
          <p:spPr>
            <a:xfrm>
              <a:off x="6204585" y="6098858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56" name="Ellipse 56"/>
            <p:cNvSpPr/>
            <p:nvPr/>
          </p:nvSpPr>
          <p:spPr>
            <a:xfrm>
              <a:off x="11475720" y="6098858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57" name="Ellipse 57"/>
            <p:cNvSpPr/>
            <p:nvPr/>
          </p:nvSpPr>
          <p:spPr>
            <a:xfrm>
              <a:off x="6204585" y="6186488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58" name="Ellipse 58"/>
            <p:cNvSpPr/>
            <p:nvPr/>
          </p:nvSpPr>
          <p:spPr>
            <a:xfrm>
              <a:off x="6204585" y="4749165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59" name="Ellipse 59"/>
            <p:cNvSpPr/>
            <p:nvPr/>
          </p:nvSpPr>
          <p:spPr>
            <a:xfrm>
              <a:off x="6204585" y="5721667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60" name="Ellipse 60"/>
            <p:cNvSpPr/>
            <p:nvPr/>
          </p:nvSpPr>
          <p:spPr>
            <a:xfrm>
              <a:off x="11354753" y="5721667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61" name="Ellipse 61"/>
            <p:cNvSpPr/>
            <p:nvPr/>
          </p:nvSpPr>
          <p:spPr>
            <a:xfrm>
              <a:off x="6773228" y="4960620"/>
              <a:ext cx="76200" cy="7620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62" name="Ellipse 62"/>
            <p:cNvSpPr/>
            <p:nvPr/>
          </p:nvSpPr>
          <p:spPr>
            <a:xfrm>
              <a:off x="11014710" y="5686425"/>
              <a:ext cx="76200" cy="7620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5727889" y="5617369"/>
              <a:ext cx="22758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2/3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5630649" y="4893469"/>
              <a:ext cx="30014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0.70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6733814" y="6152674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7545259" y="6152674"/>
              <a:ext cx="22758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10²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8393937" y="6152674"/>
              <a:ext cx="22758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10³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9242614" y="6152674"/>
              <a:ext cx="22758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10⁴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10090339" y="6152674"/>
              <a:ext cx="22758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10⁵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10939017" y="6152674"/>
              <a:ext cx="22758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10⁶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6926961" y="4654868"/>
              <a:ext cx="11778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换门获胜频率 m/n</a:t>
              </a:r>
            </a:p>
          </p:txBody>
        </p:sp>
      </p:grpSp>
      <p:grpSp>
        <p:nvGrpSpPr>
          <p:cNvPr id="7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3" name="TextBox 73"/>
            <p:cNvSpPr txBox="1"/>
            <p:nvPr/>
          </p:nvSpPr>
          <p:spPr>
            <a:xfrm>
              <a:off x="528447" y="6581299"/>
              <a:ext cx="198882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统计计算 · 第3章 随机模拟（上）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548247" cy="909257"/>
            <a:chOff x="520446" y="342900"/>
            <a:chExt cx="654824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989898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9634" y="407194"/>
              <a:ext cx="289838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第3章 随机模拟（上） · 3.1 随机模拟介绍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54824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随机模拟的一般思路：先把模拟系统搭起来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c1-text-1"/>
          <p:cNvGrpSpPr/>
          <p:nvPr/>
        </p:nvGrpSpPr>
        <p:grpSpPr>
          <a:xfrm>
            <a:off x="525780" y="1548765"/>
            <a:ext cx="5406390" cy="588645"/>
            <a:chOff x="525780" y="1548765"/>
            <a:chExt cx="5406390" cy="588645"/>
          </a:xfrm>
        </p:grpSpPr>
        <p:sp>
          <p:nvSpPr>
            <p:cNvPr id="7" name="TextBox 7"/>
            <p:cNvSpPr txBox="1"/>
            <p:nvPr/>
          </p:nvSpPr>
          <p:spPr>
            <a:xfrm>
              <a:off x="525780" y="1548765"/>
              <a:ext cx="5406390" cy="5886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325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应用随机模拟方法的关键步骤，是构造该问题的 </a:t>
              </a:r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模拟系统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。搭系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统时要回答四个问题：</a:t>
              </a:r>
            </a:p>
          </p:txBody>
        </p:sp>
      </p:grpSp>
      <p:grpSp>
        <p:nvGrpSpPr>
          <p:cNvPr id="27" name="c1-table-2"/>
          <p:cNvGrpSpPr/>
          <p:nvPr/>
        </p:nvGrpSpPr>
        <p:grpSpPr>
          <a:xfrm>
            <a:off x="533400" y="2268855"/>
            <a:ext cx="5626418" cy="2244091"/>
            <a:chOff x="533400" y="2268855"/>
            <a:chExt cx="5626418" cy="2244091"/>
          </a:xfrm>
        </p:grpSpPr>
        <p:sp>
          <p:nvSpPr>
            <p:cNvPr id="9" name="Rectangle 9"/>
            <p:cNvSpPr/>
            <p:nvPr/>
          </p:nvSpPr>
          <p:spPr>
            <a:xfrm>
              <a:off x="533400" y="2268855"/>
              <a:ext cx="5626418" cy="448628"/>
            </a:xfrm>
            <a:prstGeom prst="rect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192035" y="2404586"/>
              <a:ext cx="10468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要回答的问题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3832454" y="2404586"/>
              <a:ext cx="139146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在蒙提霍尔问题中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41223" y="2853214"/>
              <a:ext cx="139146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系统的状态是什么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3004376" y="2853214"/>
              <a:ext cx="276997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汽车在哪扇门后、参赛者最初选哪扇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533400" y="3161348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533400" y="3166110"/>
              <a:ext cx="5626418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41223" y="3301841"/>
              <a:ext cx="139146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存在什么随机因素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3004376" y="3301841"/>
              <a:ext cx="225303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参赛者的最初选择（掷骰子）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533400" y="3610928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641223" y="3750469"/>
              <a:ext cx="15637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系统会出现哪些结果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3004376" y="3750469"/>
              <a:ext cx="208071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换门后赢得汽车或失去汽车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533400" y="4059555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533400" y="4064318"/>
              <a:ext cx="5626418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41223" y="4199096"/>
              <a:ext cx="139146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要计算的性能指标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3004376" y="4199096"/>
              <a:ext cx="208071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换门策略下赢得汽车的概率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533400" y="2268855"/>
              <a:ext cx="5626418" cy="224409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26" name="Rectangle 26"/>
            <p:cNvSpPr/>
            <p:nvPr/>
          </p:nvSpPr>
          <p:spPr>
            <a:xfrm>
              <a:off x="2891790" y="2268855"/>
              <a:ext cx="9525" cy="224409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42" name="c1-flow-3"/>
          <p:cNvGrpSpPr/>
          <p:nvPr/>
        </p:nvGrpSpPr>
        <p:grpSpPr>
          <a:xfrm>
            <a:off x="666750" y="5313998"/>
            <a:ext cx="5359717" cy="438150"/>
            <a:chOff x="666750" y="5313998"/>
            <a:chExt cx="5359717" cy="438150"/>
          </a:xfrm>
        </p:grpSpPr>
        <p:sp>
          <p:nvSpPr>
            <p:cNvPr id="28" name="Freeform 28"/>
            <p:cNvSpPr/>
            <p:nvPr/>
          </p:nvSpPr>
          <p:spPr>
            <a:xfrm>
              <a:off x="1806892" y="5533072"/>
              <a:ext cx="161925" cy="9525"/>
            </a:xfrm>
            <a:custGeom>
              <a:avLst/>
              <a:gdLst/>
              <a:ahLst/>
              <a:cxnLst/>
              <a:rect l="l" t="t" r="r" b="b"/>
              <a:pathLst>
                <a:path w="161925" h="9525">
                  <a:moveTo>
                    <a:pt x="0" y="0"/>
                  </a:moveTo>
                  <a:lnTo>
                    <a:pt x="161925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29" name="Freeform 29"/>
            <p:cNvSpPr/>
            <p:nvPr/>
          </p:nvSpPr>
          <p:spPr>
            <a:xfrm>
              <a:off x="1968818" y="5480685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30" name="Freeform 30"/>
            <p:cNvSpPr/>
            <p:nvPr/>
          </p:nvSpPr>
          <p:spPr>
            <a:xfrm>
              <a:off x="3213735" y="5533072"/>
              <a:ext cx="161925" cy="9525"/>
            </a:xfrm>
            <a:custGeom>
              <a:avLst/>
              <a:gdLst/>
              <a:ahLst/>
              <a:cxnLst/>
              <a:rect l="l" t="t" r="r" b="b"/>
              <a:pathLst>
                <a:path w="161925" h="9525">
                  <a:moveTo>
                    <a:pt x="0" y="0"/>
                  </a:moveTo>
                  <a:lnTo>
                    <a:pt x="161925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31" name="Freeform 31"/>
            <p:cNvSpPr/>
            <p:nvPr/>
          </p:nvSpPr>
          <p:spPr>
            <a:xfrm>
              <a:off x="3375660" y="5480685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32" name="Freeform 32"/>
            <p:cNvSpPr/>
            <p:nvPr/>
          </p:nvSpPr>
          <p:spPr>
            <a:xfrm>
              <a:off x="4619625" y="5533072"/>
              <a:ext cx="161925" cy="9525"/>
            </a:xfrm>
            <a:custGeom>
              <a:avLst/>
              <a:gdLst/>
              <a:ahLst/>
              <a:cxnLst/>
              <a:rect l="l" t="t" r="r" b="b"/>
              <a:pathLst>
                <a:path w="161925" h="9525">
                  <a:moveTo>
                    <a:pt x="0" y="0"/>
                  </a:moveTo>
                  <a:lnTo>
                    <a:pt x="161925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33" name="Freeform 33"/>
            <p:cNvSpPr/>
            <p:nvPr/>
          </p:nvSpPr>
          <p:spPr>
            <a:xfrm>
              <a:off x="4781550" y="5480685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666750" y="5313998"/>
              <a:ext cx="1140142" cy="438150"/>
            </a:xfrm>
            <a:prstGeom prst="roundRect">
              <a:avLst>
                <a:gd name="adj" fmla="val 50000"/>
              </a:avLst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35" name="Rectangle 35"/>
            <p:cNvSpPr/>
            <p:nvPr/>
          </p:nvSpPr>
          <p:spPr>
            <a:xfrm>
              <a:off x="2073592" y="5313998"/>
              <a:ext cx="1140142" cy="438150"/>
            </a:xfrm>
            <a:prstGeom prst="roundRect">
              <a:avLst>
                <a:gd name="adj" fmla="val 21739"/>
              </a:avLst>
            </a:prstGeom>
            <a:solidFill>
              <a:srgbClr val="FFFFFF"/>
            </a:solidFill>
            <a:ln w="15240">
              <a:solidFill>
                <a:srgbClr val="2E7D4F"/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3480435" y="5313998"/>
              <a:ext cx="1140142" cy="438150"/>
            </a:xfrm>
            <a:prstGeom prst="roundRect">
              <a:avLst>
                <a:gd name="adj" fmla="val 21739"/>
              </a:avLst>
            </a:prstGeom>
            <a:solidFill>
              <a:srgbClr val="FFFFFF"/>
            </a:solidFill>
            <a:ln w="15240">
              <a:solidFill>
                <a:srgbClr val="2E7D4F"/>
              </a:solidFill>
            </a:ln>
          </p:spPr>
        </p:sp>
        <p:sp>
          <p:nvSpPr>
            <p:cNvPr id="37" name="Rectangle 37"/>
            <p:cNvSpPr/>
            <p:nvPr/>
          </p:nvSpPr>
          <p:spPr>
            <a:xfrm>
              <a:off x="4886325" y="5313998"/>
              <a:ext cx="1140142" cy="438150"/>
            </a:xfrm>
            <a:prstGeom prst="roundRect">
              <a:avLst>
                <a:gd name="adj" fmla="val 21739"/>
              </a:avLst>
            </a:prstGeom>
            <a:solidFill>
              <a:srgbClr val="E5F2EA"/>
            </a:solidFill>
            <a:ln w="19050">
              <a:solidFill>
                <a:srgbClr val="2E7D4F"/>
              </a:solidFill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885241" y="5444014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建立系统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2292083" y="5444014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抽随机数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3680394" y="5444014"/>
              <a:ext cx="73927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重复 N 次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5105768" y="5444014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统计误差</a:t>
              </a:r>
            </a:p>
          </p:txBody>
        </p:sp>
      </p:grpSp>
      <p:grpSp>
        <p:nvGrpSpPr>
          <p:cNvPr id="56" name="c2-card-1"/>
          <p:cNvGrpSpPr/>
          <p:nvPr/>
        </p:nvGrpSpPr>
        <p:grpSpPr>
          <a:xfrm>
            <a:off x="6464618" y="1524000"/>
            <a:ext cx="5193982" cy="2371725"/>
            <a:chOff x="6464618" y="1524000"/>
            <a:chExt cx="5193982" cy="2371725"/>
          </a:xfrm>
        </p:grpSpPr>
        <p:sp>
          <p:nvSpPr>
            <p:cNvPr id="43" name="Rectangle 43"/>
            <p:cNvSpPr/>
            <p:nvPr/>
          </p:nvSpPr>
          <p:spPr>
            <a:xfrm>
              <a:off x="6464618" y="1524000"/>
              <a:ext cx="5193982" cy="2371725"/>
            </a:xfrm>
            <a:prstGeom prst="roundRect">
              <a:avLst>
                <a:gd name="adj" fmla="val 5622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4" name="Rectangle 44"/>
            <p:cNvSpPr/>
            <p:nvPr/>
          </p:nvSpPr>
          <p:spPr>
            <a:xfrm>
              <a:off x="6674168" y="1733550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6765328" y="176926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特点</a:t>
              </a:r>
            </a:p>
          </p:txBody>
        </p:sp>
        <p:sp>
          <p:nvSpPr>
            <p:cNvPr id="46" name="Ellipse 46"/>
            <p:cNvSpPr/>
            <p:nvPr/>
          </p:nvSpPr>
          <p:spPr>
            <a:xfrm>
              <a:off x="6679883" y="2173605"/>
              <a:ext cx="64770" cy="6477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6837998" y="2110740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应用面广，适应性强</a:t>
              </a:r>
            </a:p>
          </p:txBody>
        </p:sp>
        <p:sp>
          <p:nvSpPr>
            <p:cNvPr id="48" name="Ellipse 48"/>
            <p:cNvSpPr/>
            <p:nvPr/>
          </p:nvSpPr>
          <p:spPr>
            <a:xfrm>
              <a:off x="6679883" y="2508885"/>
              <a:ext cx="64770" cy="6477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6837998" y="2446020"/>
              <a:ext cx="34480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算法简单，容易改变条件，但计算量大</a:t>
              </a:r>
            </a:p>
          </p:txBody>
        </p:sp>
        <p:sp>
          <p:nvSpPr>
            <p:cNvPr id="50" name="Ellipse 50"/>
            <p:cNvSpPr/>
            <p:nvPr/>
          </p:nvSpPr>
          <p:spPr>
            <a:xfrm>
              <a:off x="6679883" y="2844165"/>
              <a:ext cx="64770" cy="6477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6837998" y="2781300"/>
              <a:ext cx="24384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结果具有随机性，精度较低</a:t>
              </a:r>
            </a:p>
          </p:txBody>
        </p:sp>
        <p:sp>
          <p:nvSpPr>
            <p:cNvPr id="52" name="Ellipse 52"/>
            <p:cNvSpPr/>
            <p:nvPr/>
          </p:nvSpPr>
          <p:spPr>
            <a:xfrm>
              <a:off x="6679883" y="3179445"/>
              <a:ext cx="64770" cy="6477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6837998" y="3116580"/>
              <a:ext cx="444931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结果的收敛服从概率论规律，误差约按 1/√N 下降</a:t>
              </a:r>
            </a:p>
          </p:txBody>
        </p:sp>
        <p:sp>
          <p:nvSpPr>
            <p:cNvPr id="54" name="Ellipse 54"/>
            <p:cNvSpPr/>
            <p:nvPr/>
          </p:nvSpPr>
          <p:spPr>
            <a:xfrm>
              <a:off x="6679883" y="3514725"/>
              <a:ext cx="64770" cy="6477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6837998" y="3451860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对维数增加不敏感</a:t>
              </a:r>
            </a:p>
          </p:txBody>
        </p:sp>
      </p:grpSp>
      <p:grpSp>
        <p:nvGrpSpPr>
          <p:cNvPr id="65" name="c2-card-2"/>
          <p:cNvGrpSpPr/>
          <p:nvPr/>
        </p:nvGrpSpPr>
        <p:grpSpPr>
          <a:xfrm>
            <a:off x="6464618" y="4086225"/>
            <a:ext cx="5193982" cy="1760220"/>
            <a:chOff x="6464618" y="4086225"/>
            <a:chExt cx="5193982" cy="1760220"/>
          </a:xfrm>
        </p:grpSpPr>
        <p:sp>
          <p:nvSpPr>
            <p:cNvPr id="57" name="Rectangle 57"/>
            <p:cNvSpPr/>
            <p:nvPr/>
          </p:nvSpPr>
          <p:spPr>
            <a:xfrm>
              <a:off x="6464618" y="4086225"/>
              <a:ext cx="5193982" cy="1760220"/>
            </a:xfrm>
            <a:prstGeom prst="roundRect">
              <a:avLst>
                <a:gd name="adj" fmla="val 757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8" name="Rectangle 58"/>
            <p:cNvSpPr/>
            <p:nvPr/>
          </p:nvSpPr>
          <p:spPr>
            <a:xfrm>
              <a:off x="6474142" y="4219575"/>
              <a:ext cx="47625" cy="1493520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59" name="Rectangle 59"/>
            <p:cNvSpPr/>
            <p:nvPr/>
          </p:nvSpPr>
          <p:spPr>
            <a:xfrm>
              <a:off x="6712268" y="4295775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6803428" y="433149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应用</a:t>
              </a:r>
            </a:p>
          </p:txBody>
        </p:sp>
        <p:sp>
          <p:nvSpPr>
            <p:cNvPr id="61" name="Ellipse 61"/>
            <p:cNvSpPr/>
            <p:nvPr/>
          </p:nvSpPr>
          <p:spPr>
            <a:xfrm>
              <a:off x="6717983" y="4735830"/>
              <a:ext cx="64770" cy="6477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6876098" y="4672965"/>
              <a:ext cx="38519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探索性试验；说明新模型或新技术的有效性</a:t>
              </a:r>
            </a:p>
          </p:txBody>
        </p:sp>
        <p:sp>
          <p:nvSpPr>
            <p:cNvPr id="63" name="Ellipse 63"/>
            <p:cNvSpPr/>
            <p:nvPr/>
          </p:nvSpPr>
          <p:spPr>
            <a:xfrm>
              <a:off x="6717983" y="5071110"/>
              <a:ext cx="64770" cy="6477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6876098" y="5008245"/>
              <a:ext cx="425386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蒙特卡洛检验；bootstrap 置信区间与偏差修正；</a:t>
              </a:r>
              <a:br/>
              <a:r>
                <a:rPr lang="en-US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MCMC</a:t>
              </a:r>
            </a:p>
          </p:txBody>
        </p:sp>
      </p:grpSp>
      <p:grpSp>
        <p:nvGrpSpPr>
          <p:cNvPr id="6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6" name="TextBox 66"/>
            <p:cNvSpPr txBox="1"/>
            <p:nvPr/>
          </p:nvSpPr>
          <p:spPr>
            <a:xfrm>
              <a:off x="528447" y="6581299"/>
              <a:ext cx="198882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统计计算 · 第3章 随机模拟（上）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663910" cy="909257"/>
            <a:chOff x="520446" y="342900"/>
            <a:chExt cx="7663910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989898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9634" y="407194"/>
              <a:ext cx="289838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第3章 随机模拟（上） · 3.1 随机模拟介绍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66391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例10.1(1) 蒲丰投针：由针与线相交的频率反推 π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7" name="c1-graph-1"/>
          <p:cNvGrpSpPr/>
          <p:nvPr/>
        </p:nvGrpSpPr>
        <p:grpSpPr>
          <a:xfrm>
            <a:off x="722948" y="1778318"/>
            <a:ext cx="4381499" cy="1176337"/>
            <a:chOff x="722948" y="1778318"/>
            <a:chExt cx="4381499" cy="1176337"/>
          </a:xfrm>
        </p:grpSpPr>
        <p:sp>
          <p:nvSpPr>
            <p:cNvPr id="7" name="Freeform 7"/>
            <p:cNvSpPr/>
            <p:nvPr/>
          </p:nvSpPr>
          <p:spPr>
            <a:xfrm>
              <a:off x="734378" y="1779270"/>
              <a:ext cx="4358640" cy="9525"/>
            </a:xfrm>
            <a:custGeom>
              <a:avLst/>
              <a:gdLst/>
              <a:ahLst/>
              <a:cxnLst/>
              <a:rect l="l" t="t" r="r" b="b"/>
              <a:pathLst>
                <a:path w="4358640" h="9525">
                  <a:moveTo>
                    <a:pt x="0" y="0"/>
                  </a:moveTo>
                  <a:lnTo>
                    <a:pt x="4358640" y="0"/>
                  </a:lnTo>
                </a:path>
              </a:pathLst>
            </a:custGeom>
            <a:noFill/>
            <a:ln w="19050">
              <a:solidFill>
                <a:srgbClr val="1F2937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734378" y="2861310"/>
              <a:ext cx="4358640" cy="9525"/>
            </a:xfrm>
            <a:custGeom>
              <a:avLst/>
              <a:gdLst/>
              <a:ahLst/>
              <a:cxnLst/>
              <a:rect l="l" t="t" r="r" b="b"/>
              <a:pathLst>
                <a:path w="4358640" h="9525">
                  <a:moveTo>
                    <a:pt x="0" y="0"/>
                  </a:moveTo>
                  <a:lnTo>
                    <a:pt x="4358640" y="0"/>
                  </a:lnTo>
                </a:path>
              </a:pathLst>
            </a:custGeom>
            <a:noFill/>
            <a:ln w="19050">
              <a:solidFill>
                <a:srgbClr val="1F2937"/>
              </a:solidFill>
            </a:ln>
          </p:spPr>
        </p:sp>
        <p:sp>
          <p:nvSpPr>
            <p:cNvPr id="9" name="Freeform 9"/>
            <p:cNvSpPr/>
            <p:nvPr/>
          </p:nvSpPr>
          <p:spPr>
            <a:xfrm>
              <a:off x="2004060" y="2009775"/>
              <a:ext cx="2009775" cy="940117"/>
            </a:xfrm>
            <a:custGeom>
              <a:avLst/>
              <a:gdLst/>
              <a:ahLst/>
              <a:cxnLst/>
              <a:rect l="l" t="t" r="r" b="b"/>
              <a:pathLst>
                <a:path w="2009775" h="940117">
                  <a:moveTo>
                    <a:pt x="0" y="940117"/>
                  </a:moveTo>
                  <a:lnTo>
                    <a:pt x="2009775" y="0"/>
                  </a:lnTo>
                </a:path>
              </a:pathLst>
            </a:custGeom>
            <a:noFill/>
            <a:ln w="33338">
              <a:solidFill>
                <a:srgbClr val="F26B3A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3008948" y="2631758"/>
              <a:ext cx="9525" cy="123825"/>
            </a:xfrm>
            <a:custGeom>
              <a:avLst/>
              <a:gdLst/>
              <a:ahLst/>
              <a:cxnLst/>
              <a:rect l="l" t="t" r="r" b="b"/>
              <a:pathLst>
                <a:path w="9525" h="123825">
                  <a:moveTo>
                    <a:pt x="0" y="0"/>
                  </a:moveTo>
                  <a:lnTo>
                    <a:pt x="0" y="123825"/>
                  </a:lnTo>
                </a:path>
              </a:pathLst>
            </a:custGeom>
            <a:noFill/>
            <a:ln w="17145">
              <a:solidFill>
                <a:srgbClr val="2E7D4F"/>
              </a:solidFill>
              <a:custDash>
                <a:ds d="333333" sp="222222"/>
              </a:custDash>
            </a:ln>
          </p:spPr>
        </p:sp>
        <p:sp>
          <p:nvSpPr>
            <p:cNvPr id="11" name="Freeform 11"/>
            <p:cNvSpPr/>
            <p:nvPr/>
          </p:nvSpPr>
          <p:spPr>
            <a:xfrm>
              <a:off x="2961322" y="2755582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95250"/>
                  </a:moveTo>
                  <a:lnTo>
                    <a:pt x="0" y="0"/>
                  </a:lnTo>
                  <a:lnTo>
                    <a:pt x="95250" y="0"/>
                  </a:lnTo>
                  <a:close/>
                </a:path>
              </a:pathLst>
            </a:custGeom>
            <a:solidFill>
              <a:srgbClr val="2E7D4F"/>
            </a:solidFill>
            <a:ln>
              <a:noFill/>
            </a:ln>
          </p:spPr>
        </p:sp>
        <p:sp>
          <p:nvSpPr>
            <p:cNvPr id="12" name="Freeform 12"/>
            <p:cNvSpPr/>
            <p:nvPr/>
          </p:nvSpPr>
          <p:spPr>
            <a:xfrm>
              <a:off x="2961322" y="2536508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0"/>
                  </a:moveTo>
                  <a:lnTo>
                    <a:pt x="95250" y="95250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rgbClr val="2E7D4F"/>
            </a:solidFill>
            <a:ln>
              <a:noFill/>
            </a:ln>
          </p:spPr>
        </p:sp>
        <p:sp>
          <p:nvSpPr>
            <p:cNvPr id="13" name="Freeform 13"/>
            <p:cNvSpPr/>
            <p:nvPr/>
          </p:nvSpPr>
          <p:spPr>
            <a:xfrm>
              <a:off x="1104900" y="1884998"/>
              <a:ext cx="9525" cy="870585"/>
            </a:xfrm>
            <a:custGeom>
              <a:avLst/>
              <a:gdLst/>
              <a:ahLst/>
              <a:cxnLst/>
              <a:rect l="l" t="t" r="r" b="b"/>
              <a:pathLst>
                <a:path w="9525" h="870585">
                  <a:moveTo>
                    <a:pt x="0" y="0"/>
                  </a:moveTo>
                  <a:lnTo>
                    <a:pt x="0" y="870585"/>
                  </a:lnTo>
                </a:path>
              </a:pathLst>
            </a:custGeom>
            <a:noFill/>
            <a:ln w="17145">
              <a:solidFill>
                <a:srgbClr val="5B6475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1057275" y="2755582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95250"/>
                  </a:moveTo>
                  <a:lnTo>
                    <a:pt x="0" y="0"/>
                  </a:lnTo>
                  <a:lnTo>
                    <a:pt x="9525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5" name="Freeform 15"/>
            <p:cNvSpPr/>
            <p:nvPr/>
          </p:nvSpPr>
          <p:spPr>
            <a:xfrm>
              <a:off x="1057275" y="1789748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0"/>
                  </a:moveTo>
                  <a:lnTo>
                    <a:pt x="95250" y="95250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6" name="Freeform 16"/>
            <p:cNvSpPr/>
            <p:nvPr/>
          </p:nvSpPr>
          <p:spPr>
            <a:xfrm>
              <a:off x="3066098" y="2479358"/>
              <a:ext cx="980123" cy="9525"/>
            </a:xfrm>
            <a:custGeom>
              <a:avLst/>
              <a:gdLst/>
              <a:ahLst/>
              <a:cxnLst/>
              <a:rect l="l" t="t" r="r" b="b"/>
              <a:pathLst>
                <a:path w="980123" h="9525">
                  <a:moveTo>
                    <a:pt x="0" y="0"/>
                  </a:moveTo>
                  <a:lnTo>
                    <a:pt x="980123" y="0"/>
                  </a:lnTo>
                </a:path>
              </a:pathLst>
            </a:custGeom>
            <a:noFill/>
            <a:ln w="17145">
              <a:solidFill>
                <a:srgbClr val="5B6475"/>
              </a:solidFill>
              <a:custDash>
                <a:ds d="333333" sp="222222"/>
              </a:custDash>
            </a:ln>
          </p:spPr>
        </p:sp>
        <p:sp>
          <p:nvSpPr>
            <p:cNvPr id="17" name="Freeform 17"/>
            <p:cNvSpPr/>
            <p:nvPr/>
          </p:nvSpPr>
          <p:spPr>
            <a:xfrm>
              <a:off x="4023360" y="2110740"/>
              <a:ext cx="9525" cy="262890"/>
            </a:xfrm>
            <a:custGeom>
              <a:avLst/>
              <a:gdLst/>
              <a:ahLst/>
              <a:cxnLst/>
              <a:rect l="l" t="t" r="r" b="b"/>
              <a:pathLst>
                <a:path w="9525" h="262890">
                  <a:moveTo>
                    <a:pt x="0" y="0"/>
                  </a:moveTo>
                  <a:lnTo>
                    <a:pt x="0" y="262890"/>
                  </a:lnTo>
                </a:path>
              </a:pathLst>
            </a:custGeom>
            <a:noFill/>
            <a:ln w="17145">
              <a:solidFill>
                <a:srgbClr val="B42318"/>
              </a:solidFill>
              <a:custDash>
                <a:ds d="333333" sp="222222"/>
              </a:custDash>
            </a:ln>
          </p:spPr>
        </p:sp>
        <p:sp>
          <p:nvSpPr>
            <p:cNvPr id="18" name="Freeform 18"/>
            <p:cNvSpPr/>
            <p:nvPr/>
          </p:nvSpPr>
          <p:spPr>
            <a:xfrm>
              <a:off x="3975735" y="237363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95250"/>
                  </a:moveTo>
                  <a:lnTo>
                    <a:pt x="0" y="0"/>
                  </a:lnTo>
                  <a:lnTo>
                    <a:pt x="95250" y="0"/>
                  </a:lnTo>
                  <a:close/>
                </a:path>
              </a:pathLst>
            </a:custGeom>
            <a:solidFill>
              <a:srgbClr val="B42318"/>
            </a:solidFill>
            <a:ln>
              <a:noFill/>
            </a:ln>
          </p:spPr>
        </p:sp>
        <p:sp>
          <p:nvSpPr>
            <p:cNvPr id="19" name="Freeform 19"/>
            <p:cNvSpPr/>
            <p:nvPr/>
          </p:nvSpPr>
          <p:spPr>
            <a:xfrm>
              <a:off x="3975735" y="201549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0"/>
                  </a:moveTo>
                  <a:lnTo>
                    <a:pt x="95250" y="95250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rgbClr val="B42318"/>
            </a:solidFill>
            <a:ln>
              <a:noFill/>
            </a:ln>
          </p:spPr>
        </p:sp>
        <p:sp>
          <p:nvSpPr>
            <p:cNvPr id="20" name="Ellipse 20"/>
            <p:cNvSpPr/>
            <p:nvPr/>
          </p:nvSpPr>
          <p:spPr>
            <a:xfrm>
              <a:off x="722948" y="1778318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21" name="Ellipse 21"/>
            <p:cNvSpPr/>
            <p:nvPr/>
          </p:nvSpPr>
          <p:spPr>
            <a:xfrm>
              <a:off x="5102542" y="1778318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22" name="Ellipse 22"/>
            <p:cNvSpPr/>
            <p:nvPr/>
          </p:nvSpPr>
          <p:spPr>
            <a:xfrm>
              <a:off x="722948" y="2860357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23" name="Ellipse 23"/>
            <p:cNvSpPr/>
            <p:nvPr/>
          </p:nvSpPr>
          <p:spPr>
            <a:xfrm>
              <a:off x="5102542" y="2860357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24" name="Ellipse 24"/>
            <p:cNvSpPr/>
            <p:nvPr/>
          </p:nvSpPr>
          <p:spPr>
            <a:xfrm>
              <a:off x="1994535" y="2952750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25" name="Ellipse 25"/>
            <p:cNvSpPr/>
            <p:nvPr/>
          </p:nvSpPr>
          <p:spPr>
            <a:xfrm>
              <a:off x="4022407" y="2004060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26" name="Ellipse 26"/>
            <p:cNvSpPr/>
            <p:nvPr/>
          </p:nvSpPr>
          <p:spPr>
            <a:xfrm>
              <a:off x="2961322" y="2431732"/>
              <a:ext cx="95250" cy="95250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27" name="Ellipse 27"/>
            <p:cNvSpPr/>
            <p:nvPr/>
          </p:nvSpPr>
          <p:spPr>
            <a:xfrm>
              <a:off x="3007995" y="2860357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28" name="Ellipse 28"/>
            <p:cNvSpPr/>
            <p:nvPr/>
          </p:nvSpPr>
          <p:spPr>
            <a:xfrm>
              <a:off x="1103948" y="1778318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29" name="Ellipse 29"/>
            <p:cNvSpPr/>
            <p:nvPr/>
          </p:nvSpPr>
          <p:spPr>
            <a:xfrm>
              <a:off x="1103948" y="2860357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30" name="Ellipse 30"/>
            <p:cNvSpPr/>
            <p:nvPr/>
          </p:nvSpPr>
          <p:spPr>
            <a:xfrm>
              <a:off x="4055745" y="2478405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31" name="Ellipse 31"/>
            <p:cNvSpPr/>
            <p:nvPr/>
          </p:nvSpPr>
          <p:spPr>
            <a:xfrm>
              <a:off x="4022407" y="2004060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32" name="Ellipse 32"/>
            <p:cNvSpPr/>
            <p:nvPr/>
          </p:nvSpPr>
          <p:spPr>
            <a:xfrm>
              <a:off x="4022407" y="2478405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865149" y="223027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2769196" y="261318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y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3578821" y="231028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x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4123182" y="2151221"/>
              <a:ext cx="74210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(h/2)·sin x</a:t>
              </a:r>
            </a:p>
          </p:txBody>
        </p:sp>
      </p:grpSp>
      <p:grpSp>
        <p:nvGrpSpPr>
          <p:cNvPr id="114" name="c1-graph-2"/>
          <p:cNvGrpSpPr/>
          <p:nvPr/>
        </p:nvGrpSpPr>
        <p:grpSpPr>
          <a:xfrm>
            <a:off x="619182" y="3368992"/>
            <a:ext cx="4570019" cy="1595152"/>
            <a:chOff x="619182" y="3368992"/>
            <a:chExt cx="4570019" cy="1595152"/>
          </a:xfrm>
        </p:grpSpPr>
        <p:sp>
          <p:nvSpPr>
            <p:cNvPr id="38" name="Freeform 38"/>
            <p:cNvSpPr/>
            <p:nvPr/>
          </p:nvSpPr>
          <p:spPr>
            <a:xfrm>
              <a:off x="1020128" y="4728210"/>
              <a:ext cx="4025265" cy="9525"/>
            </a:xfrm>
            <a:custGeom>
              <a:avLst/>
              <a:gdLst/>
              <a:ahLst/>
              <a:cxnLst/>
              <a:rect l="l" t="t" r="r" b="b"/>
              <a:pathLst>
                <a:path w="4025265" h="9525">
                  <a:moveTo>
                    <a:pt x="0" y="0"/>
                  </a:moveTo>
                  <a:lnTo>
                    <a:pt x="4025265" y="0"/>
                  </a:lnTo>
                </a:path>
              </a:pathLst>
            </a:custGeom>
            <a:noFill/>
            <a:ln w="17145">
              <a:solidFill>
                <a:srgbClr val="5B6475"/>
              </a:solidFill>
            </a:ln>
          </p:spPr>
        </p:sp>
        <p:sp>
          <p:nvSpPr>
            <p:cNvPr id="39" name="Freeform 39"/>
            <p:cNvSpPr/>
            <p:nvPr/>
          </p:nvSpPr>
          <p:spPr>
            <a:xfrm>
              <a:off x="5045392" y="468058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40" name="Freeform 40"/>
            <p:cNvSpPr/>
            <p:nvPr/>
          </p:nvSpPr>
          <p:spPr>
            <a:xfrm>
              <a:off x="1009650" y="3475672"/>
              <a:ext cx="9525" cy="1242060"/>
            </a:xfrm>
            <a:custGeom>
              <a:avLst/>
              <a:gdLst/>
              <a:ahLst/>
              <a:cxnLst/>
              <a:rect l="l" t="t" r="r" b="b"/>
              <a:pathLst>
                <a:path w="9525" h="1242060">
                  <a:moveTo>
                    <a:pt x="0" y="1242060"/>
                  </a:move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5B6475"/>
              </a:solidFill>
            </a:ln>
          </p:spPr>
        </p:sp>
        <p:sp>
          <p:nvSpPr>
            <p:cNvPr id="41" name="Freeform 41"/>
            <p:cNvSpPr/>
            <p:nvPr/>
          </p:nvSpPr>
          <p:spPr>
            <a:xfrm>
              <a:off x="962025" y="3380422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0"/>
                  </a:moveTo>
                  <a:lnTo>
                    <a:pt x="95250" y="95250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42" name="Freeform 42"/>
            <p:cNvSpPr/>
            <p:nvPr/>
          </p:nvSpPr>
          <p:spPr>
            <a:xfrm>
              <a:off x="1009650" y="3521392"/>
              <a:ext cx="3904298" cy="1196340"/>
            </a:xfrm>
            <a:custGeom>
              <a:avLst/>
              <a:gdLst/>
              <a:ahLst/>
              <a:cxnLst/>
              <a:rect l="l" t="t" r="r" b="b"/>
              <a:pathLst>
                <a:path w="3904298" h="1196340">
                  <a:moveTo>
                    <a:pt x="0" y="1196340"/>
                  </a:moveTo>
                  <a:lnTo>
                    <a:pt x="0" y="0"/>
                  </a:lnTo>
                  <a:lnTo>
                    <a:pt x="3904298" y="0"/>
                  </a:lnTo>
                  <a:lnTo>
                    <a:pt x="3904298" y="1196340"/>
                  </a:lnTo>
                </a:path>
              </a:pathLst>
            </a:custGeom>
            <a:noFill/>
            <a:ln w="15240">
              <a:solidFill>
                <a:srgbClr val="2E7D4F"/>
              </a:solidFill>
            </a:ln>
          </p:spPr>
        </p:sp>
        <p:sp>
          <p:nvSpPr>
            <p:cNvPr id="43" name="Freeform 43"/>
            <p:cNvSpPr/>
            <p:nvPr/>
          </p:nvSpPr>
          <p:spPr>
            <a:xfrm>
              <a:off x="1018222" y="3883342"/>
              <a:ext cx="3887152" cy="839153"/>
            </a:xfrm>
            <a:custGeom>
              <a:avLst/>
              <a:gdLst/>
              <a:ahLst/>
              <a:cxnLst/>
              <a:rect l="l" t="t" r="r" b="b"/>
              <a:pathLst>
                <a:path w="3887152" h="839153">
                  <a:moveTo>
                    <a:pt x="0" y="839153"/>
                  </a:moveTo>
                  <a:lnTo>
                    <a:pt x="91440" y="778192"/>
                  </a:lnTo>
                  <a:lnTo>
                    <a:pt x="186690" y="712470"/>
                  </a:lnTo>
                  <a:lnTo>
                    <a:pt x="281940" y="646748"/>
                  </a:lnTo>
                  <a:lnTo>
                    <a:pt x="381952" y="582930"/>
                  </a:lnTo>
                  <a:lnTo>
                    <a:pt x="477202" y="521017"/>
                  </a:lnTo>
                  <a:lnTo>
                    <a:pt x="577215" y="461010"/>
                  </a:lnTo>
                  <a:lnTo>
                    <a:pt x="677228" y="403860"/>
                  </a:lnTo>
                  <a:lnTo>
                    <a:pt x="772478" y="348615"/>
                  </a:lnTo>
                  <a:lnTo>
                    <a:pt x="867728" y="296228"/>
                  </a:lnTo>
                  <a:lnTo>
                    <a:pt x="967740" y="247650"/>
                  </a:lnTo>
                  <a:lnTo>
                    <a:pt x="1062038" y="202883"/>
                  </a:lnTo>
                  <a:lnTo>
                    <a:pt x="1162050" y="160973"/>
                  </a:lnTo>
                  <a:lnTo>
                    <a:pt x="1262062" y="123825"/>
                  </a:lnTo>
                  <a:lnTo>
                    <a:pt x="1357312" y="92392"/>
                  </a:lnTo>
                  <a:lnTo>
                    <a:pt x="1457325" y="63817"/>
                  </a:lnTo>
                  <a:lnTo>
                    <a:pt x="1552575" y="41910"/>
                  </a:lnTo>
                  <a:lnTo>
                    <a:pt x="1652587" y="23812"/>
                  </a:lnTo>
                  <a:lnTo>
                    <a:pt x="1747837" y="10478"/>
                  </a:lnTo>
                  <a:lnTo>
                    <a:pt x="1843087" y="2858"/>
                  </a:lnTo>
                  <a:lnTo>
                    <a:pt x="1943100" y="0"/>
                  </a:lnTo>
                  <a:lnTo>
                    <a:pt x="2043112" y="2858"/>
                  </a:lnTo>
                  <a:lnTo>
                    <a:pt x="2138362" y="10478"/>
                  </a:lnTo>
                  <a:lnTo>
                    <a:pt x="2233612" y="23812"/>
                  </a:lnTo>
                  <a:lnTo>
                    <a:pt x="2333625" y="41910"/>
                  </a:lnTo>
                  <a:lnTo>
                    <a:pt x="2428875" y="63817"/>
                  </a:lnTo>
                  <a:lnTo>
                    <a:pt x="2528888" y="92392"/>
                  </a:lnTo>
                  <a:lnTo>
                    <a:pt x="2624138" y="123825"/>
                  </a:lnTo>
                  <a:lnTo>
                    <a:pt x="2724150" y="160973"/>
                  </a:lnTo>
                  <a:lnTo>
                    <a:pt x="2819400" y="202883"/>
                  </a:lnTo>
                  <a:lnTo>
                    <a:pt x="2919412" y="247650"/>
                  </a:lnTo>
                  <a:lnTo>
                    <a:pt x="3019425" y="296228"/>
                  </a:lnTo>
                  <a:lnTo>
                    <a:pt x="3114675" y="348615"/>
                  </a:lnTo>
                  <a:lnTo>
                    <a:pt x="3209925" y="403860"/>
                  </a:lnTo>
                  <a:lnTo>
                    <a:pt x="3309938" y="461010"/>
                  </a:lnTo>
                  <a:lnTo>
                    <a:pt x="3409950" y="521017"/>
                  </a:lnTo>
                  <a:lnTo>
                    <a:pt x="3505200" y="582930"/>
                  </a:lnTo>
                  <a:lnTo>
                    <a:pt x="3605212" y="646748"/>
                  </a:lnTo>
                  <a:lnTo>
                    <a:pt x="3700462" y="712470"/>
                  </a:lnTo>
                  <a:lnTo>
                    <a:pt x="3800475" y="778192"/>
                  </a:lnTo>
                  <a:lnTo>
                    <a:pt x="3887152" y="839153"/>
                  </a:lnTo>
                </a:path>
              </a:pathLst>
            </a:custGeom>
            <a:noFill/>
            <a:ln w="22860">
              <a:solidFill>
                <a:srgbClr val="F26B3A"/>
              </a:solidFill>
            </a:ln>
          </p:spPr>
        </p:sp>
        <p:sp>
          <p:nvSpPr>
            <p:cNvPr id="44" name="Freeform 44"/>
            <p:cNvSpPr/>
            <p:nvPr/>
          </p:nvSpPr>
          <p:spPr>
            <a:xfrm>
              <a:off x="1204912" y="4606290"/>
              <a:ext cx="9525" cy="111442"/>
            </a:xfrm>
            <a:custGeom>
              <a:avLst/>
              <a:gdLst/>
              <a:ahLst/>
              <a:cxnLst/>
              <a:rect l="l" t="t" r="r" b="b"/>
              <a:pathLst>
                <a:path w="9525" h="111442">
                  <a:moveTo>
                    <a:pt x="0" y="111442"/>
                  </a:moveTo>
                  <a:lnTo>
                    <a:pt x="0" y="0"/>
                  </a:lnTo>
                </a:path>
              </a:pathLst>
            </a:custGeom>
            <a:noFill/>
            <a:ln w="9525">
              <a:solidFill>
                <a:srgbClr val="F26B3A"/>
              </a:solidFill>
            </a:ln>
          </p:spPr>
        </p:sp>
        <p:sp>
          <p:nvSpPr>
            <p:cNvPr id="45" name="Freeform 45"/>
            <p:cNvSpPr/>
            <p:nvPr/>
          </p:nvSpPr>
          <p:spPr>
            <a:xfrm>
              <a:off x="1400175" y="4476750"/>
              <a:ext cx="9525" cy="240983"/>
            </a:xfrm>
            <a:custGeom>
              <a:avLst/>
              <a:gdLst/>
              <a:ahLst/>
              <a:cxnLst/>
              <a:rect l="l" t="t" r="r" b="b"/>
              <a:pathLst>
                <a:path w="9525" h="240983">
                  <a:moveTo>
                    <a:pt x="0" y="240983"/>
                  </a:moveTo>
                  <a:lnTo>
                    <a:pt x="0" y="0"/>
                  </a:lnTo>
                </a:path>
              </a:pathLst>
            </a:custGeom>
            <a:noFill/>
            <a:ln w="9525">
              <a:solidFill>
                <a:srgbClr val="F26B3A"/>
              </a:solidFill>
            </a:ln>
          </p:spPr>
        </p:sp>
        <p:sp>
          <p:nvSpPr>
            <p:cNvPr id="46" name="Freeform 46"/>
            <p:cNvSpPr/>
            <p:nvPr/>
          </p:nvSpPr>
          <p:spPr>
            <a:xfrm>
              <a:off x="1595438" y="4354830"/>
              <a:ext cx="9525" cy="362903"/>
            </a:xfrm>
            <a:custGeom>
              <a:avLst/>
              <a:gdLst/>
              <a:ahLst/>
              <a:cxnLst/>
              <a:rect l="l" t="t" r="r" b="b"/>
              <a:pathLst>
                <a:path w="9525" h="362903">
                  <a:moveTo>
                    <a:pt x="0" y="362903"/>
                  </a:moveTo>
                  <a:lnTo>
                    <a:pt x="0" y="0"/>
                  </a:lnTo>
                </a:path>
              </a:pathLst>
            </a:custGeom>
            <a:noFill/>
            <a:ln w="9525">
              <a:solidFill>
                <a:srgbClr val="F26B3A"/>
              </a:solidFill>
            </a:ln>
          </p:spPr>
        </p:sp>
        <p:sp>
          <p:nvSpPr>
            <p:cNvPr id="47" name="Freeform 47"/>
            <p:cNvSpPr/>
            <p:nvPr/>
          </p:nvSpPr>
          <p:spPr>
            <a:xfrm>
              <a:off x="1790700" y="4242435"/>
              <a:ext cx="9525" cy="475298"/>
            </a:xfrm>
            <a:custGeom>
              <a:avLst/>
              <a:gdLst/>
              <a:ahLst/>
              <a:cxnLst/>
              <a:rect l="l" t="t" r="r" b="b"/>
              <a:pathLst>
                <a:path w="9525" h="475298">
                  <a:moveTo>
                    <a:pt x="0" y="475298"/>
                  </a:moveTo>
                  <a:lnTo>
                    <a:pt x="0" y="0"/>
                  </a:lnTo>
                </a:path>
              </a:pathLst>
            </a:custGeom>
            <a:noFill/>
            <a:ln w="9525">
              <a:solidFill>
                <a:srgbClr val="F26B3A"/>
              </a:solidFill>
            </a:ln>
          </p:spPr>
        </p:sp>
        <p:sp>
          <p:nvSpPr>
            <p:cNvPr id="48" name="Freeform 48"/>
            <p:cNvSpPr/>
            <p:nvPr/>
          </p:nvSpPr>
          <p:spPr>
            <a:xfrm>
              <a:off x="1985962" y="4141470"/>
              <a:ext cx="9525" cy="576262"/>
            </a:xfrm>
            <a:custGeom>
              <a:avLst/>
              <a:gdLst/>
              <a:ahLst/>
              <a:cxnLst/>
              <a:rect l="l" t="t" r="r" b="b"/>
              <a:pathLst>
                <a:path w="9525" h="576262">
                  <a:moveTo>
                    <a:pt x="0" y="576262"/>
                  </a:moveTo>
                  <a:lnTo>
                    <a:pt x="0" y="0"/>
                  </a:lnTo>
                </a:path>
              </a:pathLst>
            </a:custGeom>
            <a:noFill/>
            <a:ln w="9525">
              <a:solidFill>
                <a:srgbClr val="F26B3A"/>
              </a:solidFill>
            </a:ln>
          </p:spPr>
        </p:sp>
        <p:sp>
          <p:nvSpPr>
            <p:cNvPr id="49" name="Freeform 49"/>
            <p:cNvSpPr/>
            <p:nvPr/>
          </p:nvSpPr>
          <p:spPr>
            <a:xfrm>
              <a:off x="2180272" y="4054792"/>
              <a:ext cx="9525" cy="662940"/>
            </a:xfrm>
            <a:custGeom>
              <a:avLst/>
              <a:gdLst/>
              <a:ahLst/>
              <a:cxnLst/>
              <a:rect l="l" t="t" r="r" b="b"/>
              <a:pathLst>
                <a:path w="9525" h="662940">
                  <a:moveTo>
                    <a:pt x="0" y="662940"/>
                  </a:moveTo>
                  <a:lnTo>
                    <a:pt x="0" y="0"/>
                  </a:lnTo>
                </a:path>
              </a:pathLst>
            </a:custGeom>
            <a:noFill/>
            <a:ln w="9525">
              <a:solidFill>
                <a:srgbClr val="F26B3A"/>
              </a:solidFill>
            </a:ln>
          </p:spPr>
        </p:sp>
        <p:sp>
          <p:nvSpPr>
            <p:cNvPr id="50" name="Freeform 50"/>
            <p:cNvSpPr/>
            <p:nvPr/>
          </p:nvSpPr>
          <p:spPr>
            <a:xfrm>
              <a:off x="2375535" y="3986212"/>
              <a:ext cx="9525" cy="731520"/>
            </a:xfrm>
            <a:custGeom>
              <a:avLst/>
              <a:gdLst/>
              <a:ahLst/>
              <a:cxnLst/>
              <a:rect l="l" t="t" r="r" b="b"/>
              <a:pathLst>
                <a:path w="9525" h="731520">
                  <a:moveTo>
                    <a:pt x="0" y="731520"/>
                  </a:moveTo>
                  <a:lnTo>
                    <a:pt x="0" y="0"/>
                  </a:lnTo>
                </a:path>
              </a:pathLst>
            </a:custGeom>
            <a:noFill/>
            <a:ln w="9525">
              <a:solidFill>
                <a:srgbClr val="F26B3A"/>
              </a:solidFill>
            </a:ln>
          </p:spPr>
        </p:sp>
        <p:sp>
          <p:nvSpPr>
            <p:cNvPr id="51" name="Freeform 51"/>
            <p:cNvSpPr/>
            <p:nvPr/>
          </p:nvSpPr>
          <p:spPr>
            <a:xfrm>
              <a:off x="2570798" y="3935730"/>
              <a:ext cx="9525" cy="782003"/>
            </a:xfrm>
            <a:custGeom>
              <a:avLst/>
              <a:gdLst/>
              <a:ahLst/>
              <a:cxnLst/>
              <a:rect l="l" t="t" r="r" b="b"/>
              <a:pathLst>
                <a:path w="9525" h="782003">
                  <a:moveTo>
                    <a:pt x="0" y="782003"/>
                  </a:moveTo>
                  <a:lnTo>
                    <a:pt x="0" y="0"/>
                  </a:lnTo>
                </a:path>
              </a:pathLst>
            </a:custGeom>
            <a:noFill/>
            <a:ln w="9525">
              <a:solidFill>
                <a:srgbClr val="F26B3A"/>
              </a:solidFill>
            </a:ln>
          </p:spPr>
        </p:sp>
        <p:sp>
          <p:nvSpPr>
            <p:cNvPr id="52" name="Freeform 52"/>
            <p:cNvSpPr/>
            <p:nvPr/>
          </p:nvSpPr>
          <p:spPr>
            <a:xfrm>
              <a:off x="2766060" y="3904298"/>
              <a:ext cx="9525" cy="813435"/>
            </a:xfrm>
            <a:custGeom>
              <a:avLst/>
              <a:gdLst/>
              <a:ahLst/>
              <a:cxnLst/>
              <a:rect l="l" t="t" r="r" b="b"/>
              <a:pathLst>
                <a:path w="9525" h="813435">
                  <a:moveTo>
                    <a:pt x="0" y="813435"/>
                  </a:moveTo>
                  <a:lnTo>
                    <a:pt x="0" y="0"/>
                  </a:lnTo>
                </a:path>
              </a:pathLst>
            </a:custGeom>
            <a:noFill/>
            <a:ln w="9525">
              <a:solidFill>
                <a:srgbClr val="F26B3A"/>
              </a:solidFill>
            </a:ln>
          </p:spPr>
        </p:sp>
        <p:sp>
          <p:nvSpPr>
            <p:cNvPr id="53" name="Freeform 53"/>
            <p:cNvSpPr/>
            <p:nvPr/>
          </p:nvSpPr>
          <p:spPr>
            <a:xfrm>
              <a:off x="2961322" y="3893820"/>
              <a:ext cx="9525" cy="823912"/>
            </a:xfrm>
            <a:custGeom>
              <a:avLst/>
              <a:gdLst/>
              <a:ahLst/>
              <a:cxnLst/>
              <a:rect l="l" t="t" r="r" b="b"/>
              <a:pathLst>
                <a:path w="9525" h="823912">
                  <a:moveTo>
                    <a:pt x="0" y="823912"/>
                  </a:moveTo>
                  <a:lnTo>
                    <a:pt x="0" y="0"/>
                  </a:lnTo>
                </a:path>
              </a:pathLst>
            </a:custGeom>
            <a:noFill/>
            <a:ln w="9525">
              <a:solidFill>
                <a:srgbClr val="F26B3A"/>
              </a:solidFill>
            </a:ln>
          </p:spPr>
        </p:sp>
        <p:sp>
          <p:nvSpPr>
            <p:cNvPr id="54" name="Freeform 54"/>
            <p:cNvSpPr/>
            <p:nvPr/>
          </p:nvSpPr>
          <p:spPr>
            <a:xfrm>
              <a:off x="3156585" y="3904298"/>
              <a:ext cx="9525" cy="813435"/>
            </a:xfrm>
            <a:custGeom>
              <a:avLst/>
              <a:gdLst/>
              <a:ahLst/>
              <a:cxnLst/>
              <a:rect l="l" t="t" r="r" b="b"/>
              <a:pathLst>
                <a:path w="9525" h="813435">
                  <a:moveTo>
                    <a:pt x="0" y="813435"/>
                  </a:moveTo>
                  <a:lnTo>
                    <a:pt x="0" y="0"/>
                  </a:lnTo>
                </a:path>
              </a:pathLst>
            </a:custGeom>
            <a:noFill/>
            <a:ln w="9525">
              <a:solidFill>
                <a:srgbClr val="F26B3A"/>
              </a:solidFill>
            </a:ln>
          </p:spPr>
        </p:sp>
        <p:sp>
          <p:nvSpPr>
            <p:cNvPr id="55" name="Freeform 55"/>
            <p:cNvSpPr/>
            <p:nvPr/>
          </p:nvSpPr>
          <p:spPr>
            <a:xfrm>
              <a:off x="3351848" y="3935730"/>
              <a:ext cx="9525" cy="782003"/>
            </a:xfrm>
            <a:custGeom>
              <a:avLst/>
              <a:gdLst/>
              <a:ahLst/>
              <a:cxnLst/>
              <a:rect l="l" t="t" r="r" b="b"/>
              <a:pathLst>
                <a:path w="9525" h="782003">
                  <a:moveTo>
                    <a:pt x="0" y="782003"/>
                  </a:moveTo>
                  <a:lnTo>
                    <a:pt x="0" y="0"/>
                  </a:lnTo>
                </a:path>
              </a:pathLst>
            </a:custGeom>
            <a:noFill/>
            <a:ln w="9525">
              <a:solidFill>
                <a:srgbClr val="F26B3A"/>
              </a:solidFill>
            </a:ln>
          </p:spPr>
        </p:sp>
        <p:sp>
          <p:nvSpPr>
            <p:cNvPr id="56" name="Freeform 56"/>
            <p:cNvSpPr/>
            <p:nvPr/>
          </p:nvSpPr>
          <p:spPr>
            <a:xfrm>
              <a:off x="3547110" y="3986212"/>
              <a:ext cx="9525" cy="731520"/>
            </a:xfrm>
            <a:custGeom>
              <a:avLst/>
              <a:gdLst/>
              <a:ahLst/>
              <a:cxnLst/>
              <a:rect l="l" t="t" r="r" b="b"/>
              <a:pathLst>
                <a:path w="9525" h="731520">
                  <a:moveTo>
                    <a:pt x="0" y="731520"/>
                  </a:moveTo>
                  <a:lnTo>
                    <a:pt x="0" y="0"/>
                  </a:lnTo>
                </a:path>
              </a:pathLst>
            </a:custGeom>
            <a:noFill/>
            <a:ln w="9525">
              <a:solidFill>
                <a:srgbClr val="F26B3A"/>
              </a:solidFill>
            </a:ln>
          </p:spPr>
        </p:sp>
        <p:sp>
          <p:nvSpPr>
            <p:cNvPr id="57" name="Freeform 57"/>
            <p:cNvSpPr/>
            <p:nvPr/>
          </p:nvSpPr>
          <p:spPr>
            <a:xfrm>
              <a:off x="3742372" y="4054792"/>
              <a:ext cx="9525" cy="662940"/>
            </a:xfrm>
            <a:custGeom>
              <a:avLst/>
              <a:gdLst/>
              <a:ahLst/>
              <a:cxnLst/>
              <a:rect l="l" t="t" r="r" b="b"/>
              <a:pathLst>
                <a:path w="9525" h="662940">
                  <a:moveTo>
                    <a:pt x="0" y="662940"/>
                  </a:moveTo>
                  <a:lnTo>
                    <a:pt x="0" y="0"/>
                  </a:lnTo>
                </a:path>
              </a:pathLst>
            </a:custGeom>
            <a:noFill/>
            <a:ln w="9525">
              <a:solidFill>
                <a:srgbClr val="F26B3A"/>
              </a:solidFill>
            </a:ln>
          </p:spPr>
        </p:sp>
        <p:sp>
          <p:nvSpPr>
            <p:cNvPr id="58" name="Freeform 58"/>
            <p:cNvSpPr/>
            <p:nvPr/>
          </p:nvSpPr>
          <p:spPr>
            <a:xfrm>
              <a:off x="3937635" y="4141470"/>
              <a:ext cx="9525" cy="576262"/>
            </a:xfrm>
            <a:custGeom>
              <a:avLst/>
              <a:gdLst/>
              <a:ahLst/>
              <a:cxnLst/>
              <a:rect l="l" t="t" r="r" b="b"/>
              <a:pathLst>
                <a:path w="9525" h="576262">
                  <a:moveTo>
                    <a:pt x="0" y="576262"/>
                  </a:moveTo>
                  <a:lnTo>
                    <a:pt x="0" y="0"/>
                  </a:lnTo>
                </a:path>
              </a:pathLst>
            </a:custGeom>
            <a:noFill/>
            <a:ln w="9525">
              <a:solidFill>
                <a:srgbClr val="F26B3A"/>
              </a:solidFill>
            </a:ln>
          </p:spPr>
        </p:sp>
        <p:sp>
          <p:nvSpPr>
            <p:cNvPr id="59" name="Freeform 59"/>
            <p:cNvSpPr/>
            <p:nvPr/>
          </p:nvSpPr>
          <p:spPr>
            <a:xfrm>
              <a:off x="4132898" y="4242435"/>
              <a:ext cx="9525" cy="475298"/>
            </a:xfrm>
            <a:custGeom>
              <a:avLst/>
              <a:gdLst/>
              <a:ahLst/>
              <a:cxnLst/>
              <a:rect l="l" t="t" r="r" b="b"/>
              <a:pathLst>
                <a:path w="9525" h="475298">
                  <a:moveTo>
                    <a:pt x="0" y="475298"/>
                  </a:moveTo>
                  <a:lnTo>
                    <a:pt x="0" y="0"/>
                  </a:lnTo>
                </a:path>
              </a:pathLst>
            </a:custGeom>
            <a:noFill/>
            <a:ln w="9525">
              <a:solidFill>
                <a:srgbClr val="F26B3A"/>
              </a:solidFill>
            </a:ln>
          </p:spPr>
        </p:sp>
        <p:sp>
          <p:nvSpPr>
            <p:cNvPr id="60" name="Freeform 60"/>
            <p:cNvSpPr/>
            <p:nvPr/>
          </p:nvSpPr>
          <p:spPr>
            <a:xfrm>
              <a:off x="4328160" y="4354830"/>
              <a:ext cx="9525" cy="362903"/>
            </a:xfrm>
            <a:custGeom>
              <a:avLst/>
              <a:gdLst/>
              <a:ahLst/>
              <a:cxnLst/>
              <a:rect l="l" t="t" r="r" b="b"/>
              <a:pathLst>
                <a:path w="9525" h="362903">
                  <a:moveTo>
                    <a:pt x="0" y="362903"/>
                  </a:moveTo>
                  <a:lnTo>
                    <a:pt x="0" y="0"/>
                  </a:lnTo>
                </a:path>
              </a:pathLst>
            </a:custGeom>
            <a:noFill/>
            <a:ln w="9525">
              <a:solidFill>
                <a:srgbClr val="F26B3A"/>
              </a:solidFill>
            </a:ln>
          </p:spPr>
        </p:sp>
        <p:sp>
          <p:nvSpPr>
            <p:cNvPr id="61" name="Freeform 61"/>
            <p:cNvSpPr/>
            <p:nvPr/>
          </p:nvSpPr>
          <p:spPr>
            <a:xfrm>
              <a:off x="4523422" y="4476750"/>
              <a:ext cx="9525" cy="240983"/>
            </a:xfrm>
            <a:custGeom>
              <a:avLst/>
              <a:gdLst/>
              <a:ahLst/>
              <a:cxnLst/>
              <a:rect l="l" t="t" r="r" b="b"/>
              <a:pathLst>
                <a:path w="9525" h="240983">
                  <a:moveTo>
                    <a:pt x="0" y="240983"/>
                  </a:moveTo>
                  <a:lnTo>
                    <a:pt x="0" y="0"/>
                  </a:lnTo>
                </a:path>
              </a:pathLst>
            </a:custGeom>
            <a:noFill/>
            <a:ln w="9525">
              <a:solidFill>
                <a:srgbClr val="F26B3A"/>
              </a:solidFill>
            </a:ln>
          </p:spPr>
        </p:sp>
        <p:sp>
          <p:nvSpPr>
            <p:cNvPr id="62" name="Freeform 62"/>
            <p:cNvSpPr/>
            <p:nvPr/>
          </p:nvSpPr>
          <p:spPr>
            <a:xfrm>
              <a:off x="4718685" y="4606290"/>
              <a:ext cx="9525" cy="111442"/>
            </a:xfrm>
            <a:custGeom>
              <a:avLst/>
              <a:gdLst/>
              <a:ahLst/>
              <a:cxnLst/>
              <a:rect l="l" t="t" r="r" b="b"/>
              <a:pathLst>
                <a:path w="9525" h="111442">
                  <a:moveTo>
                    <a:pt x="0" y="111442"/>
                  </a:moveTo>
                  <a:lnTo>
                    <a:pt x="0" y="0"/>
                  </a:lnTo>
                </a:path>
              </a:pathLst>
            </a:custGeom>
            <a:noFill/>
            <a:ln w="9525">
              <a:solidFill>
                <a:srgbClr val="F26B3A"/>
              </a:solidFill>
            </a:ln>
          </p:spPr>
        </p:sp>
        <p:sp>
          <p:nvSpPr>
            <p:cNvPr id="63" name="Ellipse 63"/>
            <p:cNvSpPr/>
            <p:nvPr/>
          </p:nvSpPr>
          <p:spPr>
            <a:xfrm>
              <a:off x="1008698" y="4727258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64" name="Ellipse 64"/>
            <p:cNvSpPr/>
            <p:nvPr/>
          </p:nvSpPr>
          <p:spPr>
            <a:xfrm>
              <a:off x="5150167" y="4727258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65" name="Ellipse 65"/>
            <p:cNvSpPr/>
            <p:nvPr/>
          </p:nvSpPr>
          <p:spPr>
            <a:xfrm>
              <a:off x="1008698" y="3368992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66" name="Ellipse 66"/>
            <p:cNvSpPr/>
            <p:nvPr/>
          </p:nvSpPr>
          <p:spPr>
            <a:xfrm>
              <a:off x="4912995" y="4727258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67" name="Ellipse 67"/>
            <p:cNvSpPr/>
            <p:nvPr/>
          </p:nvSpPr>
          <p:spPr>
            <a:xfrm>
              <a:off x="1008698" y="4727258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68" name="Ellipse 68"/>
            <p:cNvSpPr/>
            <p:nvPr/>
          </p:nvSpPr>
          <p:spPr>
            <a:xfrm>
              <a:off x="4912995" y="4727258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69" name="Ellipse 69"/>
            <p:cNvSpPr/>
            <p:nvPr/>
          </p:nvSpPr>
          <p:spPr>
            <a:xfrm>
              <a:off x="1203960" y="4727258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70" name="Ellipse 70"/>
            <p:cNvSpPr/>
            <p:nvPr/>
          </p:nvSpPr>
          <p:spPr>
            <a:xfrm>
              <a:off x="1203960" y="4594860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71" name="Ellipse 71"/>
            <p:cNvSpPr/>
            <p:nvPr/>
          </p:nvSpPr>
          <p:spPr>
            <a:xfrm>
              <a:off x="1399222" y="4727258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72" name="Ellipse 72"/>
            <p:cNvSpPr/>
            <p:nvPr/>
          </p:nvSpPr>
          <p:spPr>
            <a:xfrm>
              <a:off x="1399222" y="4465320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73" name="Ellipse 73"/>
            <p:cNvSpPr/>
            <p:nvPr/>
          </p:nvSpPr>
          <p:spPr>
            <a:xfrm>
              <a:off x="1594485" y="4727258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74" name="Ellipse 74"/>
            <p:cNvSpPr/>
            <p:nvPr/>
          </p:nvSpPr>
          <p:spPr>
            <a:xfrm>
              <a:off x="1594485" y="4343400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75" name="Ellipse 75"/>
            <p:cNvSpPr/>
            <p:nvPr/>
          </p:nvSpPr>
          <p:spPr>
            <a:xfrm>
              <a:off x="1789748" y="4727258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76" name="Ellipse 76"/>
            <p:cNvSpPr/>
            <p:nvPr/>
          </p:nvSpPr>
          <p:spPr>
            <a:xfrm>
              <a:off x="1789748" y="4231005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77" name="Ellipse 77"/>
            <p:cNvSpPr/>
            <p:nvPr/>
          </p:nvSpPr>
          <p:spPr>
            <a:xfrm>
              <a:off x="1985010" y="4727258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78" name="Ellipse 78"/>
            <p:cNvSpPr/>
            <p:nvPr/>
          </p:nvSpPr>
          <p:spPr>
            <a:xfrm>
              <a:off x="1985010" y="4130040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79" name="Ellipse 79"/>
            <p:cNvSpPr/>
            <p:nvPr/>
          </p:nvSpPr>
          <p:spPr>
            <a:xfrm>
              <a:off x="2179320" y="4727258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80" name="Ellipse 80"/>
            <p:cNvSpPr/>
            <p:nvPr/>
          </p:nvSpPr>
          <p:spPr>
            <a:xfrm>
              <a:off x="2179320" y="4043362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81" name="Ellipse 81"/>
            <p:cNvSpPr/>
            <p:nvPr/>
          </p:nvSpPr>
          <p:spPr>
            <a:xfrm>
              <a:off x="2374582" y="4727258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82" name="Ellipse 82"/>
            <p:cNvSpPr/>
            <p:nvPr/>
          </p:nvSpPr>
          <p:spPr>
            <a:xfrm>
              <a:off x="2374582" y="3974782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83" name="Ellipse 83"/>
            <p:cNvSpPr/>
            <p:nvPr/>
          </p:nvSpPr>
          <p:spPr>
            <a:xfrm>
              <a:off x="2569845" y="4727258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84" name="Ellipse 84"/>
            <p:cNvSpPr/>
            <p:nvPr/>
          </p:nvSpPr>
          <p:spPr>
            <a:xfrm>
              <a:off x="2569845" y="3924300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85" name="Ellipse 85"/>
            <p:cNvSpPr/>
            <p:nvPr/>
          </p:nvSpPr>
          <p:spPr>
            <a:xfrm>
              <a:off x="2765107" y="4727258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86" name="Ellipse 86"/>
            <p:cNvSpPr/>
            <p:nvPr/>
          </p:nvSpPr>
          <p:spPr>
            <a:xfrm>
              <a:off x="2765107" y="3892868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87" name="Ellipse 87"/>
            <p:cNvSpPr/>
            <p:nvPr/>
          </p:nvSpPr>
          <p:spPr>
            <a:xfrm>
              <a:off x="2960370" y="4727258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88" name="Ellipse 88"/>
            <p:cNvSpPr/>
            <p:nvPr/>
          </p:nvSpPr>
          <p:spPr>
            <a:xfrm>
              <a:off x="2960370" y="3882390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89" name="Ellipse 89"/>
            <p:cNvSpPr/>
            <p:nvPr/>
          </p:nvSpPr>
          <p:spPr>
            <a:xfrm>
              <a:off x="3155632" y="4727258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90" name="Ellipse 90"/>
            <p:cNvSpPr/>
            <p:nvPr/>
          </p:nvSpPr>
          <p:spPr>
            <a:xfrm>
              <a:off x="3155632" y="3892868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91" name="Ellipse 91"/>
            <p:cNvSpPr/>
            <p:nvPr/>
          </p:nvSpPr>
          <p:spPr>
            <a:xfrm>
              <a:off x="3350895" y="4727258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92" name="Ellipse 92"/>
            <p:cNvSpPr/>
            <p:nvPr/>
          </p:nvSpPr>
          <p:spPr>
            <a:xfrm>
              <a:off x="3350895" y="3924300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93" name="Ellipse 93"/>
            <p:cNvSpPr/>
            <p:nvPr/>
          </p:nvSpPr>
          <p:spPr>
            <a:xfrm>
              <a:off x="3546157" y="4727258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94" name="Ellipse 94"/>
            <p:cNvSpPr/>
            <p:nvPr/>
          </p:nvSpPr>
          <p:spPr>
            <a:xfrm>
              <a:off x="3546157" y="3974782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95" name="Ellipse 95"/>
            <p:cNvSpPr/>
            <p:nvPr/>
          </p:nvSpPr>
          <p:spPr>
            <a:xfrm>
              <a:off x="3741420" y="4727258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96" name="Ellipse 96"/>
            <p:cNvSpPr/>
            <p:nvPr/>
          </p:nvSpPr>
          <p:spPr>
            <a:xfrm>
              <a:off x="3741420" y="4043362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97" name="Ellipse 97"/>
            <p:cNvSpPr/>
            <p:nvPr/>
          </p:nvSpPr>
          <p:spPr>
            <a:xfrm>
              <a:off x="3936682" y="4727258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98" name="Ellipse 98"/>
            <p:cNvSpPr/>
            <p:nvPr/>
          </p:nvSpPr>
          <p:spPr>
            <a:xfrm>
              <a:off x="3936682" y="4130040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99" name="Ellipse 99"/>
            <p:cNvSpPr/>
            <p:nvPr/>
          </p:nvSpPr>
          <p:spPr>
            <a:xfrm>
              <a:off x="4131945" y="4727258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00" name="Ellipse 100"/>
            <p:cNvSpPr/>
            <p:nvPr/>
          </p:nvSpPr>
          <p:spPr>
            <a:xfrm>
              <a:off x="4131945" y="4231005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01" name="Ellipse 101"/>
            <p:cNvSpPr/>
            <p:nvPr/>
          </p:nvSpPr>
          <p:spPr>
            <a:xfrm>
              <a:off x="4327208" y="4727258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02" name="Ellipse 102"/>
            <p:cNvSpPr/>
            <p:nvPr/>
          </p:nvSpPr>
          <p:spPr>
            <a:xfrm>
              <a:off x="4327208" y="4343400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03" name="Ellipse 103"/>
            <p:cNvSpPr/>
            <p:nvPr/>
          </p:nvSpPr>
          <p:spPr>
            <a:xfrm>
              <a:off x="4522470" y="4727258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04" name="Ellipse 104"/>
            <p:cNvSpPr/>
            <p:nvPr/>
          </p:nvSpPr>
          <p:spPr>
            <a:xfrm>
              <a:off x="4522470" y="4465320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05" name="Ellipse 105"/>
            <p:cNvSpPr/>
            <p:nvPr/>
          </p:nvSpPr>
          <p:spPr>
            <a:xfrm>
              <a:off x="4717732" y="4727258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06" name="Ellipse 106"/>
            <p:cNvSpPr/>
            <p:nvPr/>
          </p:nvSpPr>
          <p:spPr>
            <a:xfrm>
              <a:off x="4717732" y="4594860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07" name="TextBox 107"/>
            <p:cNvSpPr txBox="1"/>
            <p:nvPr/>
          </p:nvSpPr>
          <p:spPr>
            <a:xfrm>
              <a:off x="828694" y="4765358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108" name="TextBox 108"/>
            <p:cNvSpPr txBox="1"/>
            <p:nvPr/>
          </p:nvSpPr>
          <p:spPr>
            <a:xfrm>
              <a:off x="4872714" y="4773454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9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π</a:t>
              </a:r>
            </a:p>
          </p:txBody>
        </p:sp>
        <p:sp>
          <p:nvSpPr>
            <p:cNvPr id="109" name="TextBox 109"/>
            <p:cNvSpPr txBox="1"/>
            <p:nvPr/>
          </p:nvSpPr>
          <p:spPr>
            <a:xfrm>
              <a:off x="5113039" y="4781550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x</a:t>
              </a:r>
            </a:p>
          </p:txBody>
        </p:sp>
        <p:sp>
          <p:nvSpPr>
            <p:cNvPr id="110" name="TextBox 110"/>
            <p:cNvSpPr txBox="1"/>
            <p:nvPr/>
          </p:nvSpPr>
          <p:spPr>
            <a:xfrm>
              <a:off x="619182" y="3457575"/>
              <a:ext cx="20943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d/2</a:t>
              </a:r>
            </a:p>
          </p:txBody>
        </p:sp>
        <p:sp>
          <p:nvSpPr>
            <p:cNvPr id="111" name="TextBox 111"/>
            <p:cNvSpPr txBox="1"/>
            <p:nvPr/>
          </p:nvSpPr>
          <p:spPr>
            <a:xfrm>
              <a:off x="619182" y="3819525"/>
              <a:ext cx="20943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h/2</a:t>
              </a:r>
            </a:p>
          </p:txBody>
        </p:sp>
        <p:sp>
          <p:nvSpPr>
            <p:cNvPr id="112" name="TextBox 112"/>
            <p:cNvSpPr txBox="1"/>
            <p:nvPr/>
          </p:nvSpPr>
          <p:spPr>
            <a:xfrm>
              <a:off x="2582684" y="4221004"/>
              <a:ext cx="66202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23613D"/>
                  </a:solidFill>
                  <a:latin typeface="+mn-lt"/>
                  <a:ea typeface="+mn-ea"/>
                  <a:cs typeface="+mn-cs"/>
                </a:rPr>
                <a:t>相交区域 B</a:t>
              </a:r>
            </a:p>
          </p:txBody>
        </p:sp>
        <p:sp>
          <p:nvSpPr>
            <p:cNvPr id="113" name="TextBox 113"/>
            <p:cNvSpPr txBox="1"/>
            <p:nvPr/>
          </p:nvSpPr>
          <p:spPr>
            <a:xfrm>
              <a:off x="4038242" y="3591878"/>
              <a:ext cx="60841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样本空间 A</a:t>
              </a:r>
            </a:p>
          </p:txBody>
        </p:sp>
      </p:grpSp>
      <p:grpSp>
        <p:nvGrpSpPr>
          <p:cNvPr id="126" name="c2-card-1"/>
          <p:cNvGrpSpPr/>
          <p:nvPr/>
        </p:nvGrpSpPr>
        <p:grpSpPr>
          <a:xfrm>
            <a:off x="5598795" y="1524000"/>
            <a:ext cx="6059805" cy="2343150"/>
            <a:chOff x="5598795" y="1524000"/>
            <a:chExt cx="6059805" cy="2343150"/>
          </a:xfrm>
        </p:grpSpPr>
        <p:sp>
          <p:nvSpPr>
            <p:cNvPr id="115" name="Rectangle 115"/>
            <p:cNvSpPr/>
            <p:nvPr/>
          </p:nvSpPr>
          <p:spPr>
            <a:xfrm>
              <a:off x="5598795" y="1524000"/>
              <a:ext cx="6059805" cy="2343150"/>
            </a:xfrm>
            <a:prstGeom prst="roundRect">
              <a:avLst>
                <a:gd name="adj" fmla="val 569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16" name="Rectangle 116"/>
            <p:cNvSpPr/>
            <p:nvPr/>
          </p:nvSpPr>
          <p:spPr>
            <a:xfrm>
              <a:off x="5608320" y="1657350"/>
              <a:ext cx="47625" cy="2076450"/>
            </a:xfrm>
            <a:prstGeom prst="roundRect">
              <a:avLst>
                <a:gd name="adj" fmla="val 50000"/>
              </a:avLst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17" name="Rectangle 117"/>
            <p:cNvSpPr/>
            <p:nvPr/>
          </p:nvSpPr>
          <p:spPr>
            <a:xfrm>
              <a:off x="5823585" y="1710690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118" name="TextBox 118"/>
            <p:cNvSpPr txBox="1"/>
            <p:nvPr/>
          </p:nvSpPr>
          <p:spPr>
            <a:xfrm>
              <a:off x="5916257" y="1743551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模型</a:t>
              </a:r>
            </a:p>
          </p:txBody>
        </p:sp>
        <p:sp>
          <p:nvSpPr>
            <p:cNvPr id="119" name="TextBox 119"/>
            <p:cNvSpPr txBox="1"/>
            <p:nvPr/>
          </p:nvSpPr>
          <p:spPr>
            <a:xfrm>
              <a:off x="5816727" y="2054542"/>
              <a:ext cx="5345811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平面上有间隔为 d 的平行线，任意投掷长为 h（h &lt; d）的针；y 为针中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点到最近一条线的距离，x 为针与线的夹角。</a:t>
              </a:r>
            </a:p>
          </p:txBody>
        </p:sp>
        <p:sp>
          <p:nvSpPr>
            <p:cNvPr id="120" name="Ellipse 120"/>
            <p:cNvSpPr/>
            <p:nvPr/>
          </p:nvSpPr>
          <p:spPr>
            <a:xfrm>
              <a:off x="5832158" y="2668905"/>
              <a:ext cx="59055" cy="5905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21" name="TextBox 121"/>
            <p:cNvSpPr txBox="1"/>
            <p:nvPr/>
          </p:nvSpPr>
          <p:spPr>
            <a:xfrm>
              <a:off x="5988177" y="2612708"/>
              <a:ext cx="519150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y ~ U(0, d/2)，x ~ U(0, π)，二者独立，(x, y) 在矩形 A 上均匀分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布</a:t>
              </a:r>
            </a:p>
          </p:txBody>
        </p:sp>
        <p:sp>
          <p:nvSpPr>
            <p:cNvPr id="122" name="Ellipse 122"/>
            <p:cNvSpPr/>
            <p:nvPr/>
          </p:nvSpPr>
          <p:spPr>
            <a:xfrm>
              <a:off x="5832158" y="3226118"/>
              <a:ext cx="59055" cy="5905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23" name="TextBox 123"/>
            <p:cNvSpPr txBox="1"/>
            <p:nvPr/>
          </p:nvSpPr>
          <p:spPr>
            <a:xfrm>
              <a:off x="5988177" y="3169920"/>
              <a:ext cx="38843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针与线相交 ⇔ y ≤ (h/2)·sin x，即点落入区域 B</a:t>
              </a:r>
            </a:p>
          </p:txBody>
        </p:sp>
        <p:sp>
          <p:nvSpPr>
            <p:cNvPr id="124" name="Ellipse 124"/>
            <p:cNvSpPr/>
            <p:nvPr/>
          </p:nvSpPr>
          <p:spPr>
            <a:xfrm>
              <a:off x="5832158" y="3526155"/>
              <a:ext cx="59055" cy="5905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25" name="TextBox 125"/>
            <p:cNvSpPr txBox="1"/>
            <p:nvPr/>
          </p:nvSpPr>
          <p:spPr>
            <a:xfrm>
              <a:off x="5988177" y="3469958"/>
              <a:ext cx="419049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投针 N 次、相交 m 次，用频率 m/N 近似相交概率 R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27" name="formula7"/>
              <p:cNvSpPr txBox="1">
                <a:spLocks noGrp="1"/>
              </p:cNvSpPr>
              <p:nvPr/>
            </p:nvSpPr>
            <p:spPr>
              <a:xfrm>
                <a:off x="5598795" y="4037648"/>
                <a:ext cx="6059805" cy="6134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zh-CN" sz="17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R</m:t>
                      </m:r>
                      <m:r>
                        <m:rPr>
                          <m:sty m:val="p"/>
                        </m:rPr>
                        <a:rPr lang="zh-CN" sz="17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f>
                        <m:fPr>
                          <m:type m:val="bar"/>
                          <m:ctrlP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sSub>
                            <m:e>
                              <m:r>
                                <a:rPr lang="zh-CN" sz="17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S</m:t>
                              </m:r>
                            </m:e>
                            <m:sub>
                              <m:r>
                                <a:rPr lang="zh-CN" sz="17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B</m:t>
                              </m:r>
                            </m:sub>
                          </m:sSub>
                        </m:num>
                        <m:den>
                          <m:sSub>
                            <m:e>
                              <m:r>
                                <a:rPr lang="zh-CN" sz="17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S</m:t>
                              </m:r>
                            </m:e>
                            <m:sub>
                              <m:r>
                                <a:rPr lang="zh-CN" sz="17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A</m:t>
                              </m:r>
                            </m:sub>
                          </m:sSub>
                        </m:den>
                      </m:f>
                      <m:r>
                        <m:rPr>
                          <m:sty m:val="p"/>
                        </m:rPr>
                        <a:rPr lang="zh-CN" sz="17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f>
                        <m:fPr>
                          <m:type m:val="bar"/>
                          <m:ctrlP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nary>
                            <m:naryPr>
                              <m:chr m:val="∫"/>
                              <m:limLoc m:val="subSup"/>
                              <m:grow m:val="off"/>
                              <m:subHide m:val="off"/>
                              <m:supHide m:val="off"/>
                              <m:ctrlPr>
                                <a:rPr lang="zh-CN" sz="17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naryPr>
                            <m:sub>
                              <m:r>
                                <a:rPr lang="zh-CN" sz="17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0</m:t>
                              </m:r>
                            </m:sub>
                            <m:sup>
                              <m:r>
                                <a:rPr lang="zh-CN" sz="17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π</m:t>
                              </m:r>
                            </m:sup>
                            <m:e>
                              <m:f>
                                <m:fPr>
                                  <m:type m:val="bar"/>
                                  <m:ctrlPr>
                                    <a:rPr lang="zh-CN" sz="17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fPr>
                                <m:num>
                                  <m:r>
                                    <a:rPr lang="zh-CN" sz="17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h</m:t>
                                  </m:r>
                                </m:num>
                                <m:den>
                                  <m:r>
                                    <a:rPr lang="zh-CN" sz="17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2</m:t>
                                  </m:r>
                                </m:den>
                              </m:f>
                              <m:func>
                                <m:funcPr/>
                                <m:fName>
                                  <m:r>
                                    <m:rPr>
                                      <m:sty m:val="p"/>
                                    </m:rPr>
                                    <a:rPr lang="zh-CN" sz="17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sin</m:t>
                                  </m:r>
                                </m:fName>
                                <m:e>
                                  <m:r>
                                    <a:rPr lang="zh-CN" sz="17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x</m:t>
                                  </m:r>
                                </m:e>
                              </m:func>
                              <m:r>
                                <a:rPr lang="zh-CN" sz="17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 xml:space="preserve"> </m:t>
                              </m:r>
                              <m:r>
                                <a:rPr lang="zh-CN" sz="17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dx</m:t>
                              </m:r>
                            </m:e>
                          </m:nary>
                        </m:num>
                        <m:den>
                          <m: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dπ</m:t>
                          </m:r>
                          <m:r>
                            <m:rPr>
                              <m:sty m:val="p"/>
                            </m:rP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/</m:t>
                          </m:r>
                          <m: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</m:t>
                          </m:r>
                        </m:den>
                      </m:f>
                      <m:r>
                        <m:rPr>
                          <m:sty m:val="p"/>
                        </m:rPr>
                        <a:rPr lang="zh-CN" sz="17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f>
                        <m:fPr>
                          <m:type m:val="bar"/>
                          <m:ctrlP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2h</m:t>
                          </m:r>
                        </m:num>
                        <m:den>
                          <m: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dπ</m:t>
                          </m:r>
                        </m:den>
                      </m:f>
                    </m:oMath>
                  </m:oMathPara>
                </a14:m>
              </a:p>
            </p:txBody>
          </p:sp>
        </mc:Choice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8" name="formula8"/>
              <p:cNvSpPr txBox="1">
                <a:spLocks noGrp="1"/>
              </p:cNvSpPr>
              <p:nvPr/>
            </p:nvSpPr>
            <p:spPr>
              <a:xfrm>
                <a:off x="5598795" y="4820602"/>
                <a:ext cx="6059805" cy="5915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zh-CN" sz="17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π</m:t>
                      </m:r>
                      <m:r>
                        <m:rPr>
                          <m:sty m:val="p"/>
                        </m:rPr>
                        <a:rPr lang="zh-CN" sz="17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≈</m:t>
                      </m:r>
                      <m:f>
                        <m:fPr>
                          <m:type m:val="bar"/>
                          <m:ctrlP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2hN</m:t>
                          </m:r>
                        </m:num>
                        <m:den>
                          <m: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d</m:t>
                          </m:r>
                          <m: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 xml:space="preserve"> </m:t>
                          </m:r>
                          <m: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m</m:t>
                          </m:r>
                        </m:den>
                      </m:f>
                    </m:oMath>
                  </m:oMathPara>
                </a14:m>
              </a:p>
            </p:txBody>
          </p:sp>
        </mc:Choice>
      </mc:AlternateContent>
      <p:grpSp>
        <p:nvGrpSpPr>
          <p:cNvPr id="135" name="c2-callout-4"/>
          <p:cNvGrpSpPr/>
          <p:nvPr/>
        </p:nvGrpSpPr>
        <p:grpSpPr>
          <a:xfrm>
            <a:off x="5598795" y="5582602"/>
            <a:ext cx="6059805" cy="729615"/>
            <a:chOff x="5598795" y="5582602"/>
            <a:chExt cx="6059805" cy="729615"/>
          </a:xfrm>
        </p:grpSpPr>
        <p:sp>
          <p:nvSpPr>
            <p:cNvPr id="129" name="Rectangle 129"/>
            <p:cNvSpPr/>
            <p:nvPr/>
          </p:nvSpPr>
          <p:spPr>
            <a:xfrm>
              <a:off x="5598795" y="5582602"/>
              <a:ext cx="6059805" cy="729615"/>
            </a:xfrm>
            <a:prstGeom prst="roundRect">
              <a:avLst>
                <a:gd name="adj" fmla="val 15666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133" name="Group 133"/>
            <p:cNvGrpSpPr/>
            <p:nvPr/>
          </p:nvGrpSpPr>
          <p:grpSpPr>
            <a:xfrm>
              <a:off x="5803583" y="5846445"/>
              <a:ext cx="200026" cy="200026"/>
              <a:chOff x="5803583" y="5846445"/>
              <a:chExt cx="200026" cy="200026"/>
            </a:xfrm>
          </p:grpSpPr>
          <p:sp>
            <p:nvSpPr>
              <p:cNvPr id="130" name="Freeform 130"/>
              <p:cNvSpPr/>
              <p:nvPr/>
            </p:nvSpPr>
            <p:spPr>
              <a:xfrm>
                <a:off x="5803583" y="5846445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131" name="Freeform 131"/>
              <p:cNvSpPr/>
              <p:nvPr/>
            </p:nvSpPr>
            <p:spPr>
              <a:xfrm>
                <a:off x="5903595" y="591312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132" name="Freeform 132"/>
              <p:cNvSpPr/>
              <p:nvPr/>
            </p:nvSpPr>
            <p:spPr>
              <a:xfrm>
                <a:off x="5892483" y="5946458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134" name="TextBox 134"/>
            <p:cNvSpPr txBox="1"/>
            <p:nvPr/>
          </p:nvSpPr>
          <p:spPr>
            <a:xfrm>
              <a:off x="6106287" y="5728335"/>
              <a:ext cx="5080064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左上图中针的下端越过了下方的线，此时 y ≤ (h/2)·sin x，对应左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下图正弦拱下方的点。</a:t>
              </a:r>
            </a:p>
          </p:txBody>
        </p:sp>
      </p:grpSp>
      <p:grpSp>
        <p:nvGrpSpPr>
          <p:cNvPr id="13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36" name="TextBox 136"/>
            <p:cNvSpPr txBox="1"/>
            <p:nvPr/>
          </p:nvSpPr>
          <p:spPr>
            <a:xfrm>
              <a:off x="528447" y="6581299"/>
              <a:ext cx="198882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统计计算 · 第3章 随机模拟（上）</a:t>
              </a:r>
            </a:p>
          </p:txBody>
        </p:sp>
        <p:sp>
          <p:nvSpPr>
            <p:cNvPr id="137" name="TextBox 137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175123" cy="909257"/>
            <a:chOff x="520446" y="342900"/>
            <a:chExt cx="517512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989898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9634" y="407194"/>
              <a:ext cx="289838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第3章 随机模拟（上） · 3.1 随机模拟介绍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17512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投针实验：历史数据与计算机模拟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8" name="c1-table-1"/>
          <p:cNvGrpSpPr/>
          <p:nvPr/>
        </p:nvGrpSpPr>
        <p:grpSpPr>
          <a:xfrm>
            <a:off x="527685" y="1524000"/>
            <a:ext cx="5415915" cy="2539842"/>
            <a:chOff x="527685" y="1524000"/>
            <a:chExt cx="5415915" cy="253984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448628"/>
            </a:xfrm>
            <a:prstGeom prst="rect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259053" y="1659731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实验者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2782532" y="16597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年份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3642728" y="1659731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投针次数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4833611" y="1659731"/>
              <a:ext cx="85599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π 的实验值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41223" y="2108359"/>
              <a:ext cx="9794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沃尔夫 Wolf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2765301" y="2108359"/>
              <a:ext cx="3920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1850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3797811" y="2108359"/>
              <a:ext cx="3920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5000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4970816" y="2108359"/>
              <a:ext cx="58158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3.1596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533400" y="241649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533400" y="2421255"/>
              <a:ext cx="5410200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41223" y="2556986"/>
              <a:ext cx="107882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斯密思 Smith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2765301" y="2556986"/>
              <a:ext cx="3920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1855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3797811" y="2556986"/>
              <a:ext cx="3920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3204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970816" y="2556986"/>
              <a:ext cx="58158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3.1553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533400" y="286607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41223" y="3005614"/>
              <a:ext cx="88936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福克斯 Fox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2765301" y="3005614"/>
              <a:ext cx="3920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1894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3797811" y="3005614"/>
              <a:ext cx="3920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1120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4970816" y="3005614"/>
              <a:ext cx="58158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3.1419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533400" y="3314700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533400" y="3319462"/>
              <a:ext cx="5410200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41223" y="3454241"/>
              <a:ext cx="156702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拉查里尼 Lazzarini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2765301" y="3454241"/>
              <a:ext cx="3920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1901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3797811" y="3454241"/>
              <a:ext cx="3920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3408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4828657" y="3454241"/>
              <a:ext cx="86590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3.1415929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533400" y="1524000"/>
              <a:ext cx="5410200" cy="224409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4" name="Rectangle 34"/>
            <p:cNvSpPr/>
            <p:nvPr/>
          </p:nvSpPr>
          <p:spPr>
            <a:xfrm>
              <a:off x="2508885" y="1524000"/>
              <a:ext cx="9525" cy="224409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5" name="Rectangle 35"/>
            <p:cNvSpPr/>
            <p:nvPr/>
          </p:nvSpPr>
          <p:spPr>
            <a:xfrm>
              <a:off x="3404235" y="1524000"/>
              <a:ext cx="9525" cy="224409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6" name="Rectangle 36"/>
            <p:cNvSpPr/>
            <p:nvPr/>
          </p:nvSpPr>
          <p:spPr>
            <a:xfrm>
              <a:off x="4573905" y="1524000"/>
              <a:ext cx="9525" cy="224409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527685" y="3843814"/>
              <a:ext cx="455727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拉查里尼的结果恰为 355/113，一般认为他的投针次数是事后挑选的</a:t>
              </a:r>
            </a:p>
          </p:txBody>
        </p:sp>
      </p:grpSp>
      <p:grpSp>
        <p:nvGrpSpPr>
          <p:cNvPr id="44" name="c1-card-2"/>
          <p:cNvGrpSpPr/>
          <p:nvPr/>
        </p:nvGrpSpPr>
        <p:grpSpPr>
          <a:xfrm>
            <a:off x="533400" y="4210050"/>
            <a:ext cx="5410200" cy="1887855"/>
            <a:chOff x="533400" y="4210050"/>
            <a:chExt cx="5410200" cy="1887855"/>
          </a:xfrm>
        </p:grpSpPr>
        <p:sp>
          <p:nvSpPr>
            <p:cNvPr id="39" name="Rectangle 39"/>
            <p:cNvSpPr/>
            <p:nvPr/>
          </p:nvSpPr>
          <p:spPr>
            <a:xfrm>
              <a:off x="533400" y="4210050"/>
              <a:ext cx="5410200" cy="1887855"/>
            </a:xfrm>
            <a:prstGeom prst="roundRect">
              <a:avLst>
                <a:gd name="adj" fmla="val 706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0" name="Rectangle 40"/>
            <p:cNvSpPr/>
            <p:nvPr/>
          </p:nvSpPr>
          <p:spPr>
            <a:xfrm>
              <a:off x="542925" y="4343400"/>
              <a:ext cx="47625" cy="1621155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41" name="Rectangle 41"/>
            <p:cNvSpPr/>
            <p:nvPr/>
          </p:nvSpPr>
          <p:spPr>
            <a:xfrm>
              <a:off x="781050" y="4419600"/>
              <a:ext cx="1204912" cy="257175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850557" y="4455319"/>
              <a:ext cx="1066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怎样看这些数据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773430" y="4796790"/>
              <a:ext cx="4615815" cy="11506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投针三千多次时，π 估计值的标准差约为 0.04 到 0.08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（随针长与线距之比变化），第二位小数都未必可靠。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精确到 7 位的概率极小，所以一般认为这组数据经过挑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选。</a:t>
              </a:r>
            </a:p>
          </p:txBody>
        </p:sp>
      </p:grpSp>
      <p:grpSp>
        <p:nvGrpSpPr>
          <p:cNvPr id="48" name="c2-code-1"/>
          <p:cNvGrpSpPr/>
          <p:nvPr/>
        </p:nvGrpSpPr>
        <p:grpSpPr>
          <a:xfrm>
            <a:off x="6248400" y="1524000"/>
            <a:ext cx="5410200" cy="1922145"/>
            <a:chOff x="6248400" y="1524000"/>
            <a:chExt cx="5410200" cy="1922145"/>
          </a:xfrm>
        </p:grpSpPr>
        <p:sp>
          <p:nvSpPr>
            <p:cNvPr id="45" name="Rectangle 45"/>
            <p:cNvSpPr/>
            <p:nvPr/>
          </p:nvSpPr>
          <p:spPr>
            <a:xfrm>
              <a:off x="6248400" y="1524000"/>
              <a:ext cx="5410200" cy="1922145"/>
            </a:xfrm>
            <a:prstGeom prst="roundRect">
              <a:avLst>
                <a:gd name="adj" fmla="val 4955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6376797" y="1675924"/>
              <a:ext cx="176918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R：模拟投针（h = 1，d = 2）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6376035" y="1937861"/>
              <a:ext cx="3638550" cy="14373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98"/>
                </a:lnSpc>
              </a:pP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buffon &lt;- </a:t>
              </a:r>
              <a:r>
                <a:rPr lang="en-US" sz="1120" b="1" dirty="0">
                  <a:solidFill>
                    <a:srgbClr val="2E7D4F"/>
                  </a:solidFill>
                  <a:latin typeface="Consolas"/>
                  <a:ea typeface="Consolas"/>
                  <a:cs typeface="Consolas"/>
                </a:rPr>
                <a:t>function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(N, h = 1, d = 2) {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y &lt;- runif(N, 0, d / 2)   </a:t>
              </a:r>
              <a:r>
                <a:rPr lang="zh-CN" sz="11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# 中点到最近线的距离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x &lt;- runif(N, 0, pi)      </a:t>
              </a:r>
              <a:r>
                <a:rPr lang="zh-CN" sz="11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# 针与线的夹角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m &lt;- sum(y &lt;= h / 2 * sin(x))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2 * h * N / (d * m)       </a:t>
              </a:r>
              <a:r>
                <a:rPr lang="zh-CN" sz="11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# pi 的估计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buffon(1e5)</a:t>
              </a:r>
            </a:p>
          </p:txBody>
        </p:sp>
      </p:grpSp>
      <p:grpSp>
        <p:nvGrpSpPr>
          <p:cNvPr id="55" name="c2-callout-2"/>
          <p:cNvGrpSpPr/>
          <p:nvPr/>
        </p:nvGrpSpPr>
        <p:grpSpPr>
          <a:xfrm>
            <a:off x="6248400" y="3636645"/>
            <a:ext cx="5410200" cy="782955"/>
            <a:chOff x="6248400" y="3636645"/>
            <a:chExt cx="5410200" cy="782955"/>
          </a:xfrm>
        </p:grpSpPr>
        <p:sp>
          <p:nvSpPr>
            <p:cNvPr id="49" name="Rectangle 49"/>
            <p:cNvSpPr/>
            <p:nvPr/>
          </p:nvSpPr>
          <p:spPr>
            <a:xfrm>
              <a:off x="6248400" y="3636645"/>
              <a:ext cx="5410200" cy="782955"/>
            </a:xfrm>
            <a:prstGeom prst="roundRect">
              <a:avLst>
                <a:gd name="adj" fmla="val 14599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53" name="Group 53"/>
            <p:cNvGrpSpPr/>
            <p:nvPr/>
          </p:nvGrpSpPr>
          <p:grpSpPr>
            <a:xfrm>
              <a:off x="6441129" y="3924418"/>
              <a:ext cx="224134" cy="192560"/>
              <a:chOff x="6441129" y="3924418"/>
              <a:chExt cx="224134" cy="192560"/>
            </a:xfrm>
          </p:grpSpPr>
          <p:sp>
            <p:nvSpPr>
              <p:cNvPr id="50" name="Freeform 50"/>
              <p:cNvSpPr/>
              <p:nvPr/>
            </p:nvSpPr>
            <p:spPr>
              <a:xfrm>
                <a:off x="6553200" y="3994785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51" name="Freeform 51"/>
              <p:cNvSpPr/>
              <p:nvPr/>
            </p:nvSpPr>
            <p:spPr>
              <a:xfrm>
                <a:off x="6441129" y="3924418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52" name="Freeform 52"/>
              <p:cNvSpPr/>
              <p:nvPr/>
            </p:nvSpPr>
            <p:spPr>
              <a:xfrm>
                <a:off x="6553200" y="407257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54" name="TextBox 54"/>
            <p:cNvSpPr txBox="1"/>
            <p:nvPr/>
          </p:nvSpPr>
          <p:spPr>
            <a:xfrm>
              <a:off x="6755130" y="3785235"/>
              <a:ext cx="4425315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代码里产生夹角时用到了 pi，这段模拟只用来演示频</a:t>
              </a:r>
              <a:br/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率的收敛；真实投针不需要事先知道 π。</a:t>
              </a:r>
            </a:p>
          </p:txBody>
        </p:sp>
      </p:grpSp>
      <p:grpSp>
        <p:nvGrpSpPr>
          <p:cNvPr id="61" name="c2-callout-3"/>
          <p:cNvGrpSpPr/>
          <p:nvPr/>
        </p:nvGrpSpPr>
        <p:grpSpPr>
          <a:xfrm>
            <a:off x="6248400" y="4610100"/>
            <a:ext cx="5410200" cy="782955"/>
            <a:chOff x="6248400" y="4610100"/>
            <a:chExt cx="5410200" cy="782955"/>
          </a:xfrm>
        </p:grpSpPr>
        <p:sp>
          <p:nvSpPr>
            <p:cNvPr id="56" name="Rectangle 56"/>
            <p:cNvSpPr/>
            <p:nvPr/>
          </p:nvSpPr>
          <p:spPr>
            <a:xfrm>
              <a:off x="6248400" y="4610100"/>
              <a:ext cx="5410200" cy="782955"/>
            </a:xfrm>
            <a:prstGeom prst="roundRect">
              <a:avLst>
                <a:gd name="adj" fmla="val 14599"/>
              </a:avLst>
            </a:prstGeom>
            <a:solidFill>
              <a:srgbClr val="2E7D4F"/>
            </a:solidFill>
            <a:ln>
              <a:noFill/>
            </a:ln>
          </p:spPr>
        </p:sp>
        <p:grpSp>
          <p:nvGrpSpPr>
            <p:cNvPr id="59" name="Group 59"/>
            <p:cNvGrpSpPr/>
            <p:nvPr/>
          </p:nvGrpSpPr>
          <p:grpSpPr>
            <a:xfrm>
              <a:off x="6453188" y="4901567"/>
              <a:ext cx="200023" cy="200023"/>
              <a:chOff x="6453188" y="4901567"/>
              <a:chExt cx="200023" cy="200023"/>
            </a:xfrm>
          </p:grpSpPr>
          <p:sp>
            <p:nvSpPr>
              <p:cNvPr id="57" name="Freeform 57"/>
              <p:cNvSpPr/>
              <p:nvPr/>
            </p:nvSpPr>
            <p:spPr>
              <a:xfrm>
                <a:off x="6453188" y="4901567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58" name="Freeform 58"/>
              <p:cNvSpPr/>
              <p:nvPr/>
            </p:nvSpPr>
            <p:spPr>
              <a:xfrm>
                <a:off x="6586538" y="496824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60" name="TextBox 60"/>
            <p:cNvSpPr txBox="1"/>
            <p:nvPr/>
          </p:nvSpPr>
          <p:spPr>
            <a:xfrm>
              <a:off x="6755130" y="4758690"/>
              <a:ext cx="4482465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投针的本质是用一个概率等于 2h/(dπ) 的事件的频率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去反推 π，下一页的投点法用的是同一思路。</a:t>
              </a:r>
            </a:p>
          </p:txBody>
        </p:sp>
      </p:grpSp>
      <p:grpSp>
        <p:nvGrpSpPr>
          <p:cNvPr id="6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2" name="TextBox 62"/>
            <p:cNvSpPr txBox="1"/>
            <p:nvPr/>
          </p:nvSpPr>
          <p:spPr>
            <a:xfrm>
              <a:off x="528447" y="6581299"/>
              <a:ext cx="198882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统计计算 · 第3章 随机模拟（上）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350472" cy="909257"/>
            <a:chOff x="520446" y="342900"/>
            <a:chExt cx="835047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989898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9634" y="407194"/>
              <a:ext cx="289838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第3章 随机模拟（上） · 3.1 随机模拟介绍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35047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例10.1(2) 向正方形随机投点估计 π，并算出模拟误差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5" name="c1-card-1"/>
          <p:cNvGrpSpPr/>
          <p:nvPr/>
        </p:nvGrpSpPr>
        <p:grpSpPr>
          <a:xfrm>
            <a:off x="533400" y="1524000"/>
            <a:ext cx="5410200" cy="1743075"/>
            <a:chOff x="533400" y="1524000"/>
            <a:chExt cx="5410200" cy="174307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1743075"/>
            </a:xfrm>
            <a:prstGeom prst="roundRect">
              <a:avLst>
                <a:gd name="adj" fmla="val 765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476375"/>
            </a:xfrm>
            <a:prstGeom prst="roundRect">
              <a:avLst>
                <a:gd name="adj" fmla="val 50000"/>
              </a:avLst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58190" y="1710690"/>
              <a:ext cx="707708" cy="238125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42759" y="1743551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投点模型</a:t>
              </a:r>
            </a:p>
          </p:txBody>
        </p:sp>
        <p:sp>
          <p:nvSpPr>
            <p:cNvPr id="11" name="Ellipse 11"/>
            <p:cNvSpPr/>
            <p:nvPr/>
          </p:nvSpPr>
          <p:spPr>
            <a:xfrm>
              <a:off x="766762" y="2110740"/>
              <a:ext cx="59055" cy="5905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922782" y="2054542"/>
              <a:ext cx="4428554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正方形 D = {(x, y): x ∈ [−1, 1], y ∈ [−1, 1]} 内随机等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可能投点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766762" y="2668905"/>
              <a:ext cx="59055" cy="5905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922782" y="2612708"/>
              <a:ext cx="450570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落入单位圆 C = {(x, y): x² + y² ≤ 1} 的概率为面积之比 p</a:t>
              </a:r>
              <a:br/>
              <a:r>
                <a:rPr lang="el-GR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= π/4</a:t>
              </a:r>
            </a:p>
          </p:txBody>
        </p:sp>
      </p:grpSp>
      <p:grpSp>
        <p:nvGrpSpPr>
          <p:cNvPr id="17" name="c1-text-2"/>
          <p:cNvGrpSpPr/>
          <p:nvPr/>
        </p:nvGrpSpPr>
        <p:grpSpPr>
          <a:xfrm>
            <a:off x="526542" y="3459480"/>
            <a:ext cx="4789799" cy="264033"/>
            <a:chOff x="526542" y="3459480"/>
            <a:chExt cx="4789799" cy="264033"/>
          </a:xfrm>
        </p:grpSpPr>
        <p:sp>
          <p:nvSpPr>
            <p:cNvPr id="16" name="TextBox 16"/>
            <p:cNvSpPr txBox="1"/>
            <p:nvPr/>
          </p:nvSpPr>
          <p:spPr>
            <a:xfrm>
              <a:off x="526542" y="3459480"/>
              <a:ext cx="478979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独立重复投 N 个点，落入 C 的点数为 ξ。由频率近似概率：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8" name="formula18"/>
              <p:cNvSpPr txBox="1">
                <a:spLocks noGrp="1"/>
              </p:cNvSpPr>
              <p:nvPr/>
            </p:nvSpPr>
            <p:spPr>
              <a:xfrm>
                <a:off x="533400" y="3840480"/>
                <a:ext cx="5410200" cy="5915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f>
                        <m:fPr>
                          <m:type m:val="bar"/>
                          <m:ctrlP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ξ</m:t>
                          </m:r>
                        </m:num>
                        <m:den>
                          <m: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N</m:t>
                          </m:r>
                        </m:den>
                      </m:f>
                      <m:r>
                        <m:rPr>
                          <m:sty m:val="p"/>
                        </m:rPr>
                        <a:rPr lang="zh-CN" sz="17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≈</m:t>
                      </m:r>
                      <m:f>
                        <m:fPr>
                          <m:type m:val="bar"/>
                          <m:ctrlP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π</m:t>
                          </m:r>
                        </m:num>
                        <m:den>
                          <m: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4</m:t>
                          </m:r>
                        </m:den>
                      </m:f>
                      <m:r>
                        <a:rPr lang="zh-CN" sz="17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 xml:space="preserve"> </m:t>
                      </m:r>
                      <m:r>
                        <m:rPr>
                          <m:sty m:val="p"/>
                        </m:rPr>
                        <a:rPr lang="zh-CN" sz="17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⇒</m:t>
                      </m:r>
                      <m:r>
                        <a:rPr lang="zh-CN" sz="17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 xml:space="preserve"> </m:t>
                      </m:r>
                      <m:r>
                        <a:rPr lang="zh-CN" sz="17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π</m:t>
                      </m:r>
                      <m:r>
                        <m:rPr>
                          <m:sty m:val="p"/>
                        </m:rPr>
                        <a:rPr lang="zh-CN" sz="17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≈</m:t>
                      </m:r>
                      <m:f>
                        <m:fPr>
                          <m:type m:val="bar"/>
                          <m:ctrlP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4ξ</m:t>
                          </m:r>
                        </m:num>
                        <m:den>
                          <m: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N</m:t>
                          </m:r>
                        </m:den>
                      </m:f>
                    </m:oMath>
                  </m:oMathPara>
                </a14:m>
              </a:p>
            </p:txBody>
          </p:sp>
        </mc:Choice>
      </mc:AlternateContent>
      <p:grpSp>
        <p:nvGrpSpPr>
          <p:cNvPr id="22" name="c1-code-4"/>
          <p:cNvGrpSpPr/>
          <p:nvPr/>
        </p:nvGrpSpPr>
        <p:grpSpPr>
          <a:xfrm>
            <a:off x="533400" y="4601528"/>
            <a:ext cx="5410200" cy="1384935"/>
            <a:chOff x="533400" y="4601528"/>
            <a:chExt cx="5410200" cy="1384935"/>
          </a:xfrm>
        </p:grpSpPr>
        <p:sp>
          <p:nvSpPr>
            <p:cNvPr id="19" name="Rectangle 19"/>
            <p:cNvSpPr/>
            <p:nvPr/>
          </p:nvSpPr>
          <p:spPr>
            <a:xfrm>
              <a:off x="533400" y="4601528"/>
              <a:ext cx="5410200" cy="1384935"/>
            </a:xfrm>
            <a:prstGeom prst="roundRect">
              <a:avLst>
                <a:gd name="adj" fmla="val 6878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61797" y="4753451"/>
              <a:ext cx="86779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R：投点估计 π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61797" y="5013484"/>
              <a:ext cx="1721231" cy="8955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88"/>
                </a:lnSpc>
              </a:pP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N &lt;- 1e4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x &lt;- runif(N, -1, 1)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y &lt;- runif(N, -1, 1)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xi &lt;- sum(x^2 + y^2 &lt;= 1)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4 * xi / N</a:t>
              </a:r>
            </a:p>
          </p:txBody>
        </p:sp>
      </p:grpSp>
      <p:grpSp>
        <p:nvGrpSpPr>
          <p:cNvPr id="24" name="c2-text-1"/>
          <p:cNvGrpSpPr/>
          <p:nvPr/>
        </p:nvGrpSpPr>
        <p:grpSpPr>
          <a:xfrm>
            <a:off x="6241542" y="1545907"/>
            <a:ext cx="4557141" cy="264033"/>
            <a:chOff x="6241542" y="1545907"/>
            <a:chExt cx="4557141" cy="264033"/>
          </a:xfrm>
        </p:grpSpPr>
        <p:sp>
          <p:nvSpPr>
            <p:cNvPr id="23" name="TextBox 23"/>
            <p:cNvSpPr txBox="1"/>
            <p:nvPr/>
          </p:nvSpPr>
          <p:spPr>
            <a:xfrm>
              <a:off x="6241542" y="1545907"/>
              <a:ext cx="455714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随机模拟误差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：由模拟结果的随机性导致的误差。本例中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25" name="formula19"/>
              <p:cNvSpPr txBox="1">
                <a:spLocks noGrp="1"/>
              </p:cNvSpPr>
              <p:nvPr/>
            </p:nvSpPr>
            <p:spPr>
              <a:xfrm>
                <a:off x="6248400" y="1926908"/>
                <a:ext cx="5410200" cy="56578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zh-CN" sz="16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ξ</m:t>
                      </m:r>
                      <m:r>
                        <m:rPr>
                          <m:sty m:val="p"/>
                        </m:rPr>
                        <a:rPr lang="zh-CN" sz="16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∼</m:t>
                      </m:r>
                      <m:r>
                        <a:rPr lang="zh-CN" sz="16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B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N</m:t>
                          </m:r>
                          <m:r>
                            <m:rPr>
                              <m:sty m:val="p"/>
                            </m:rP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,</m:t>
                          </m:r>
                          <m:f>
                            <m:fPr>
                              <m:type m:val="bar"/>
                              <m:ctrlP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fPr>
                            <m:num>
                              <m: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π</m:t>
                              </m:r>
                            </m:num>
                            <m:den>
                              <m: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4</m:t>
                              </m:r>
                            </m:den>
                          </m:f>
                        </m:e>
                      </m:d>
                      <m:r>
                        <m:rPr>
                          <m:sty m:val="p"/>
                        </m:rPr>
                        <a:rPr lang="zh-CN" sz="16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,</m:t>
                      </m:r>
                      <m:r>
                        <a:rPr lang="zh-CN" sz="16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 xml:space="preserve"> </m:t>
                      </m:r>
                      <m:r>
                        <m:rPr>
                          <m:sty m:val="p"/>
                        </m:rPr>
                        <a:rPr lang="zh-CN" sz="16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Var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f>
                            <m:fPr>
                              <m:type m:val="bar"/>
                              <m:ctrlP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fPr>
                            <m:num>
                              <m: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4ξ</m:t>
                              </m:r>
                            </m:num>
                            <m:den>
                              <m: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N</m:t>
                              </m:r>
                            </m:den>
                          </m:f>
                        </m:e>
                      </m:d>
                      <m:r>
                        <m:rPr>
                          <m:sty m:val="p"/>
                        </m:rPr>
                        <a:rPr lang="zh-CN" sz="16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f>
                        <m:fPr>
                          <m:type m:val="bar"/>
                          <m:ctrlP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16</m:t>
                          </m:r>
                        </m:num>
                        <m:den>
                          <m: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N</m:t>
                          </m:r>
                        </m:den>
                      </m:f>
                      <m:r>
                        <m:rPr>
                          <m:sty m:val="p"/>
                        </m:rPr>
                        <a:rPr lang="zh-CN" sz="16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⋅</m:t>
                      </m:r>
                      <m:f>
                        <m:fPr>
                          <m:type m:val="bar"/>
                          <m:ctrlP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π</m:t>
                          </m:r>
                        </m:num>
                        <m:den>
                          <m: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4</m:t>
                          </m:r>
                        </m:den>
                      </m:f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  <m:r>
                            <m:rPr>
                              <m:sty m:val="p"/>
                            </m:rP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−</m:t>
                          </m:r>
                          <m:f>
                            <m:fPr>
                              <m:type m:val="bar"/>
                              <m:ctrlP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fPr>
                            <m:num>
                              <m: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π</m:t>
                              </m:r>
                            </m:num>
                            <m:den>
                              <m: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4</m:t>
                              </m:r>
                            </m:den>
                          </m:f>
                        </m:e>
                      </m:d>
                      <m:r>
                        <m:rPr>
                          <m:sty m:val="p"/>
                        </m:rPr>
                        <a:rPr lang="zh-CN" sz="16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f>
                        <m:fPr>
                          <m:type m:val="bar"/>
                          <m:ctrlP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π</m:t>
                          </m:r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4</m:t>
                              </m:r>
                              <m:r>
                                <m:rPr>
                                  <m:sty m:val="p"/>
                                </m:rP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−</m:t>
                              </m:r>
                              <m: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π</m:t>
                              </m:r>
                            </m:e>
                          </m:d>
                        </m:num>
                        <m:den>
                          <m: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N</m:t>
                          </m:r>
                        </m:den>
                      </m:f>
                    </m:oMath>
                  </m:oMathPara>
                </a14:m>
              </a:p>
            </p:txBody>
          </p:sp>
        </mc:Choice>
      </mc:AlternateContent>
      <p:grpSp>
        <p:nvGrpSpPr>
          <p:cNvPr id="27" name="c2-text-3"/>
          <p:cNvGrpSpPr/>
          <p:nvPr/>
        </p:nvGrpSpPr>
        <p:grpSpPr>
          <a:xfrm>
            <a:off x="6241542" y="2685098"/>
            <a:ext cx="5131498" cy="529780"/>
            <a:chOff x="6241542" y="2685098"/>
            <a:chExt cx="5131498" cy="529780"/>
          </a:xfrm>
        </p:grpSpPr>
        <p:sp>
          <p:nvSpPr>
            <p:cNvPr id="26" name="TextBox 26"/>
            <p:cNvSpPr txBox="1"/>
            <p:nvPr/>
          </p:nvSpPr>
          <p:spPr>
            <a:xfrm>
              <a:off x="6241542" y="2685098"/>
              <a:ext cx="5131498" cy="5297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92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由中心极限定理，4ξ/N 近似服从 N(π, π(4 − π)/N)，所以随机模拟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误差的幅度大约在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28" name="formula20"/>
              <p:cNvSpPr txBox="1">
                <a:spLocks noGrp="1"/>
              </p:cNvSpPr>
              <p:nvPr/>
            </p:nvSpPr>
            <p:spPr>
              <a:xfrm>
                <a:off x="6248400" y="3331845"/>
                <a:ext cx="5410200" cy="5915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r>
                        <m:rPr>
                          <m:sty m:val="p"/>
                        </m:rPr>
                        <a:rPr lang="zh-CN" sz="17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±</m:t>
                      </m:r>
                      <m:r>
                        <a:rPr lang="zh-CN" sz="17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2</m:t>
                      </m:r>
                      <m:rad>
                        <m:radPr>
                          <m:degHide m:val="on"/>
                          <m:ctrlP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radPr>
                        <m:deg/>
                        <m:e>
                          <m:f>
                            <m:fPr>
                              <m:type m:val="bar"/>
                              <m:ctrlPr>
                                <a:rPr lang="zh-CN" sz="17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fPr>
                            <m:num>
                              <m:r>
                                <a:rPr lang="zh-CN" sz="17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π</m:t>
                              </m:r>
                              <m:d>
                                <m:dPr>
                                  <m:begChr m:val="("/>
                                  <m:sepChr m:val=""/>
                                  <m:endChr m:val=")"/>
                                  <m:grow m:val="on"/>
                                  <m:ctrlPr>
                                    <a:rPr lang="zh-CN" sz="17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dPr>
                                <m:e>
                                  <m:r>
                                    <a:rPr lang="zh-CN" sz="17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4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zh-CN" sz="17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−</m:t>
                                  </m:r>
                                  <m:r>
                                    <a:rPr lang="zh-CN" sz="17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π</m:t>
                                  </m:r>
                                </m:e>
                              </m:d>
                            </m:num>
                            <m:den>
                              <m:r>
                                <a:rPr lang="zh-CN" sz="17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N</m:t>
                              </m:r>
                            </m:den>
                          </m:f>
                        </m:e>
                      </m:rad>
                    </m:oMath>
                  </m:oMathPara>
                </a14:m>
              </a:p>
            </p:txBody>
          </p:sp>
        </mc:Choice>
      </mc:AlternateContent>
      <p:grpSp>
        <p:nvGrpSpPr>
          <p:cNvPr id="44" name="c2-table-5"/>
          <p:cNvGrpSpPr/>
          <p:nvPr/>
        </p:nvGrpSpPr>
        <p:grpSpPr>
          <a:xfrm>
            <a:off x="6248400" y="4092892"/>
            <a:ext cx="5410200" cy="1200150"/>
            <a:chOff x="6248400" y="4092892"/>
            <a:chExt cx="5410200" cy="1200150"/>
          </a:xfrm>
        </p:grpSpPr>
        <p:sp>
          <p:nvSpPr>
            <p:cNvPr id="29" name="Rectangle 29"/>
            <p:cNvSpPr/>
            <p:nvPr/>
          </p:nvSpPr>
          <p:spPr>
            <a:xfrm>
              <a:off x="6248400" y="4092892"/>
              <a:ext cx="5410200" cy="400050"/>
            </a:xfrm>
            <a:prstGeom prst="rect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627422" y="4214336"/>
              <a:ext cx="60593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投点数 N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982988" y="4214336"/>
              <a:ext cx="158478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标准差 √(π(4 − π)/N)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0336873" y="4214336"/>
              <a:ext cx="92323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误差幅度 ±2σ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794067" y="4614386"/>
              <a:ext cx="2726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10⁴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8520890" y="4614386"/>
              <a:ext cx="50898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0.0164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0544000" y="4614386"/>
              <a:ext cx="50898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±0.033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6248400" y="4888230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6248400" y="4892992"/>
              <a:ext cx="5410200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794067" y="5014436"/>
              <a:ext cx="2726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10⁶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8479427" y="5014436"/>
              <a:ext cx="59191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0.00164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0502537" y="5014436"/>
              <a:ext cx="59191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±0.0033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6248400" y="4092892"/>
              <a:ext cx="5410200" cy="120015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2" name="Rectangle 42"/>
            <p:cNvSpPr/>
            <p:nvPr/>
          </p:nvSpPr>
          <p:spPr>
            <a:xfrm>
              <a:off x="7607618" y="4092892"/>
              <a:ext cx="9525" cy="12001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3" name="Rectangle 43"/>
            <p:cNvSpPr/>
            <p:nvPr/>
          </p:nvSpPr>
          <p:spPr>
            <a:xfrm>
              <a:off x="9932670" y="4092892"/>
              <a:ext cx="9525" cy="12001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51" name="c2-callout-6"/>
          <p:cNvGrpSpPr/>
          <p:nvPr/>
        </p:nvGrpSpPr>
        <p:grpSpPr>
          <a:xfrm>
            <a:off x="6248400" y="5463540"/>
            <a:ext cx="5410200" cy="729615"/>
            <a:chOff x="6248400" y="5463540"/>
            <a:chExt cx="5410200" cy="729615"/>
          </a:xfrm>
        </p:grpSpPr>
        <p:sp>
          <p:nvSpPr>
            <p:cNvPr id="45" name="Rectangle 45"/>
            <p:cNvSpPr/>
            <p:nvPr/>
          </p:nvSpPr>
          <p:spPr>
            <a:xfrm>
              <a:off x="6248400" y="5463540"/>
              <a:ext cx="5410200" cy="729615"/>
            </a:xfrm>
            <a:prstGeom prst="roundRect">
              <a:avLst>
                <a:gd name="adj" fmla="val 15666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49" name="Group 49"/>
            <p:cNvGrpSpPr/>
            <p:nvPr/>
          </p:nvGrpSpPr>
          <p:grpSpPr>
            <a:xfrm>
              <a:off x="6441129" y="5724643"/>
              <a:ext cx="224134" cy="192560"/>
              <a:chOff x="6441129" y="5724643"/>
              <a:chExt cx="224134" cy="192560"/>
            </a:xfrm>
          </p:grpSpPr>
          <p:sp>
            <p:nvSpPr>
              <p:cNvPr id="46" name="Freeform 46"/>
              <p:cNvSpPr/>
              <p:nvPr/>
            </p:nvSpPr>
            <p:spPr>
              <a:xfrm>
                <a:off x="6553200" y="5795010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47" name="Freeform 47"/>
              <p:cNvSpPr/>
              <p:nvPr/>
            </p:nvSpPr>
            <p:spPr>
              <a:xfrm>
                <a:off x="6441129" y="5724643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48" name="Freeform 48"/>
              <p:cNvSpPr/>
              <p:nvPr/>
            </p:nvSpPr>
            <p:spPr>
              <a:xfrm>
                <a:off x="6553200" y="587279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50" name="TextBox 50"/>
            <p:cNvSpPr txBox="1"/>
            <p:nvPr/>
          </p:nvSpPr>
          <p:spPr>
            <a:xfrm>
              <a:off x="6755892" y="5609273"/>
              <a:ext cx="4265676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N = 10⁴ 时误差幅度约 ±0.033；想多得一位有效数字，N</a:t>
              </a:r>
              <a:br/>
              <a:r>
                <a:rPr lang="zh-CN" sz="13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要增大 100 倍。</a:t>
              </a:r>
            </a:p>
          </p:txBody>
        </p:sp>
      </p:grpSp>
      <p:grpSp>
        <p:nvGrpSpPr>
          <p:cNvPr id="5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2" name="TextBox 52"/>
            <p:cNvSpPr txBox="1"/>
            <p:nvPr/>
          </p:nvSpPr>
          <p:spPr>
            <a:xfrm>
              <a:off x="528447" y="6581299"/>
              <a:ext cx="198882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统计计算 · 第3章 随机模拟（上）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2E7D4F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5F2EA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</p:grpSp>
      <p:grpSp>
        <p:nvGrpSpPr>
          <p:cNvPr id="20" name="section-title"/>
          <p:cNvGrpSpPr/>
          <p:nvPr/>
        </p:nvGrpSpPr>
        <p:grpSpPr>
          <a:xfrm>
            <a:off x="667512" y="1835468"/>
            <a:ext cx="5440604" cy="3706177"/>
            <a:chOff x="667512" y="1835468"/>
            <a:chExt cx="5440604" cy="370617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第二部分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3936652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3.2 随机模拟积分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543069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用随机模拟解决非随机问题，也称蒙特卡洛（MC）积分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24384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双期望定理与方差分解公式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164077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3.2.1 随机投点法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143884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3.2.2 平均值法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23900" y="4951095"/>
              <a:ext cx="76200" cy="7620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06780" y="4893945"/>
              <a:ext cx="224656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3.2.3 误差评估与样本量</a:t>
              </a:r>
            </a:p>
          </p:txBody>
        </p:sp>
        <p:sp>
          <p:nvSpPr>
            <p:cNvPr id="18" name="Ellipse 18"/>
            <p:cNvSpPr/>
            <p:nvPr/>
          </p:nvSpPr>
          <p:spPr>
            <a:xfrm>
              <a:off x="723900" y="5305425"/>
              <a:ext cx="76200" cy="7620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906780" y="5248275"/>
              <a:ext cx="164077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3.2.4 高维定积分</a:t>
              </a:r>
            </a:p>
          </p:txBody>
        </p:sp>
      </p:grpSp>
      <p:grpSp>
        <p:nvGrpSpPr>
          <p:cNvPr id="2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21" name="TextBox 21"/>
            <p:cNvSpPr txBox="1"/>
            <p:nvPr/>
          </p:nvSpPr>
          <p:spPr>
            <a:xfrm>
              <a:off x="528447" y="6581299"/>
              <a:ext cx="198882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统计计算 · 第3章 随机模拟（上）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424196" cy="909257"/>
            <a:chOff x="520446" y="342900"/>
            <a:chExt cx="742419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989898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9634" y="407194"/>
              <a:ext cx="289838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第3章 随机模拟（上） · 3.2 随机模拟积分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42419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双期望定理：先按 Y 求条件期望，再对 Y 求期望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4" name="c1-card-1"/>
          <p:cNvGrpSpPr/>
          <p:nvPr/>
        </p:nvGrpSpPr>
        <p:grpSpPr>
          <a:xfrm>
            <a:off x="533400" y="1524000"/>
            <a:ext cx="4760595" cy="1815465"/>
            <a:chOff x="533400" y="1524000"/>
            <a:chExt cx="4760595" cy="181546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4760595" cy="1815465"/>
            </a:xfrm>
            <a:prstGeom prst="roundRect">
              <a:avLst>
                <a:gd name="adj" fmla="val 734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54876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69620" y="1722120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61060" y="175641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定理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352931" y="1756886"/>
              <a:ext cx="97028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双期望定理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2" name="formula35"/>
                <p:cNvSpPr txBox="1">
                  <a:spLocks noGrp="1"/>
                </p:cNvSpPr>
                <p:nvPr/>
              </p:nvSpPr>
              <p:spPr>
                <a:xfrm>
                  <a:off x="769620" y="2077402"/>
                  <a:ext cx="4326255" cy="4572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zh-CN" sz="18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E</m:t>
                        </m:r>
                        <m:d>
                          <m:dPr>
                            <m:begChr m:val="["/>
                            <m:sepChr m:val=""/>
                            <m:endChr m:val="]"/>
                            <m:grow m:val="on"/>
                            <m:ctrlPr>
                              <a:rPr lang="zh-CN" sz="18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8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E</m:t>
                            </m:r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8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8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8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∣</m:t>
                                </m:r>
                                <m:r>
                                  <a:rPr lang="zh-CN" sz="18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Y</m:t>
                                </m:r>
                              </m:e>
                            </m:d>
                          </m:e>
                        </m:d>
                        <m:r>
                          <m:rPr>
                            <m:sty m:val="p"/>
                          </m:rPr>
                          <a:rPr lang="zh-CN" sz="18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r>
                          <a:rPr lang="zh-CN" sz="18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EX</m:t>
                        </m:r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13" name="TextBox 13"/>
            <p:cNvSpPr txBox="1"/>
            <p:nvPr/>
          </p:nvSpPr>
          <p:spPr>
            <a:xfrm>
              <a:off x="762381" y="2647474"/>
              <a:ext cx="4036060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 X 按 Y 的取值分组，各组的平均值再按组的概率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加权，得到总平均值。</a:t>
              </a:r>
            </a:p>
          </p:txBody>
        </p:sp>
      </p:grpSp>
      <p:grpSp>
        <p:nvGrpSpPr>
          <p:cNvPr id="22" name="c1-card-2"/>
          <p:cNvGrpSpPr/>
          <p:nvPr/>
        </p:nvGrpSpPr>
        <p:grpSpPr>
          <a:xfrm>
            <a:off x="533400" y="3519488"/>
            <a:ext cx="4760595" cy="2592705"/>
            <a:chOff x="533400" y="3519488"/>
            <a:chExt cx="4760595" cy="2592705"/>
          </a:xfrm>
        </p:grpSpPr>
        <p:sp>
          <p:nvSpPr>
            <p:cNvPr id="15" name="Rectangle 15"/>
            <p:cNvSpPr/>
            <p:nvPr/>
          </p:nvSpPr>
          <p:spPr>
            <a:xfrm>
              <a:off x="533400" y="3519488"/>
              <a:ext cx="4760595" cy="2592705"/>
            </a:xfrm>
            <a:prstGeom prst="roundRect">
              <a:avLst>
                <a:gd name="adj" fmla="val 514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542925" y="3652838"/>
              <a:ext cx="47625" cy="2326005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769620" y="3717608"/>
              <a:ext cx="742950" cy="247650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53059" y="3751898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直观例子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62381" y="4079081"/>
              <a:ext cx="3990975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甲班 40 人平均分 80，乙班 60 人平均分 70。Y 表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示班级，X 表示分数：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0" name="formula36"/>
                <p:cNvSpPr txBox="1">
                  <a:spLocks noGrp="1"/>
                </p:cNvSpPr>
                <p:nvPr/>
              </p:nvSpPr>
              <p:spPr>
                <a:xfrm>
                  <a:off x="769620" y="4644390"/>
                  <a:ext cx="4326255" cy="4572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zh-CN" sz="18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E</m:t>
                        </m:r>
                        <m:d>
                          <m:dPr>
                            <m:begChr m:val="["/>
                            <m:sepChr m:val=""/>
                            <m:endChr m:val="]"/>
                            <m:grow m:val="on"/>
                            <m:ctrlPr>
                              <a:rPr lang="zh-CN" sz="18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8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E</m:t>
                            </m:r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8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8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8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∣</m:t>
                                </m:r>
                                <m:r>
                                  <a:rPr lang="zh-CN" sz="18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Y</m:t>
                                </m:r>
                              </m:e>
                            </m:d>
                          </m:e>
                        </m:d>
                        <m:r>
                          <m:rPr>
                            <m:sty m:val="p"/>
                          </m:rPr>
                          <a:rPr lang="zh-CN" sz="18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r>
                          <a:rPr lang="zh-CN" sz="18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0.4</m:t>
                        </m:r>
                        <m:r>
                          <m:rPr>
                            <m:sty m:val="p"/>
                          </m:rPr>
                          <a:rPr lang="zh-CN" sz="18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×</m:t>
                        </m:r>
                        <m:r>
                          <a:rPr lang="zh-CN" sz="18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80</m:t>
                        </m:r>
                        <m:r>
                          <m:rPr>
                            <m:sty m:val="p"/>
                          </m:rPr>
                          <a:rPr lang="zh-CN" sz="18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+</m:t>
                        </m:r>
                        <m:r>
                          <a:rPr lang="zh-CN" sz="18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0.6</m:t>
                        </m:r>
                        <m:r>
                          <m:rPr>
                            <m:sty m:val="p"/>
                          </m:rPr>
                          <a:rPr lang="zh-CN" sz="18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×</m:t>
                        </m:r>
                        <m:r>
                          <a:rPr lang="zh-CN" sz="18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70</m:t>
                        </m:r>
                        <m:r>
                          <m:rPr>
                            <m:sty m:val="p"/>
                          </m:rPr>
                          <a:rPr lang="zh-CN" sz="18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r>
                          <a:rPr lang="zh-CN" sz="18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74</m:t>
                        </m:r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21" name="TextBox 21"/>
            <p:cNvSpPr txBox="1"/>
            <p:nvPr/>
          </p:nvSpPr>
          <p:spPr>
            <a:xfrm>
              <a:off x="763524" y="5211128"/>
              <a:ext cx="296037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结果正好是两个班全体 100 人的平均分。</a:t>
              </a:r>
            </a:p>
          </p:txBody>
        </p:sp>
      </p:grpSp>
      <p:grpSp>
        <p:nvGrpSpPr>
          <p:cNvPr id="32" name="c2-card-1"/>
          <p:cNvGrpSpPr/>
          <p:nvPr/>
        </p:nvGrpSpPr>
        <p:grpSpPr>
          <a:xfrm>
            <a:off x="5598795" y="1524000"/>
            <a:ext cx="6059805" cy="4589145"/>
            <a:chOff x="5598795" y="1524000"/>
            <a:chExt cx="6059805" cy="4589145"/>
          </a:xfrm>
        </p:grpSpPr>
        <p:sp>
          <p:nvSpPr>
            <p:cNvPr id="23" name="Rectangle 23"/>
            <p:cNvSpPr/>
            <p:nvPr/>
          </p:nvSpPr>
          <p:spPr>
            <a:xfrm>
              <a:off x="5598795" y="1524000"/>
              <a:ext cx="6059805" cy="4589145"/>
            </a:xfrm>
            <a:prstGeom prst="roundRect">
              <a:avLst>
                <a:gd name="adj" fmla="val 2906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5796915" y="1722120"/>
              <a:ext cx="1143000" cy="24765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5868352" y="1756410"/>
              <a:ext cx="10001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证明（连续型）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6" name="formula37"/>
                <p:cNvSpPr txBox="1">
                  <a:spLocks noGrp="1"/>
                </p:cNvSpPr>
                <p:nvPr/>
              </p:nvSpPr>
              <p:spPr>
                <a:xfrm>
                  <a:off x="5796915" y="2059305"/>
                  <a:ext cx="5663565" cy="64008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l"/>
                  <a14:m>
                    <m:oMathPara xmlns:a="http://schemas.openxmlformats.org/drawingml/2006/main" xmlns:m="http://schemas.openxmlformats.org/officeDocument/2006/math">
                      <m:oMathParaPr>
                        <m:jc m:val="left"/>
                      </m:oMathParaPr>
                      <m:oMath>
                        <m:r>
                          <a:rPr lang="zh-CN" sz="18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E</m:t>
                        </m:r>
                        <m:d>
                          <m:dPr>
                            <m:begChr m:val="["/>
                            <m:sepChr m:val=""/>
                            <m:endChr m:val="]"/>
                            <m:grow m:val="on"/>
                            <m:ctrlPr>
                              <a:rPr lang="zh-CN" sz="18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8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E</m:t>
                            </m:r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8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8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8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∣</m:t>
                                </m:r>
                                <m:r>
                                  <a:rPr lang="zh-CN" sz="18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Y</m:t>
                                </m:r>
                              </m:e>
                            </m:d>
                          </m:e>
                        </m:d>
                        <m:r>
                          <m:rPr>
                            <m:sty m:val="p"/>
                          </m:rPr>
                          <a:rPr lang="zh-CN" sz="18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nary>
                          <m:naryPr>
                            <m:chr m:val="∫"/>
                            <m:limLoc m:val="subSup"/>
                            <m:grow m:val="off"/>
                            <m:subHide m:val="off"/>
                            <m:supHide m:val="off"/>
                            <m:ctrlPr>
                              <a:rPr lang="zh-CN" sz="18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naryPr>
                          <m:sub>
                            <m:r>
                              <m:rPr>
                                <m:sty m:val="p"/>
                              </m:rPr>
                              <a:rPr lang="zh-CN" sz="18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−∞</m:t>
                            </m:r>
                          </m:sub>
                          <m:sup>
                            <m:r>
                              <m:rPr>
                                <m:sty m:val="p"/>
                              </m:rPr>
                              <a:rPr lang="zh-CN" sz="18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∞</m:t>
                            </m:r>
                          </m:sup>
                          <m:e>
                            <m:r>
                              <a:rPr lang="zh-CN" sz="18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E</m:t>
                            </m:r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8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8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8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∣</m:t>
                                </m:r>
                                <m:r>
                                  <a:rPr lang="zh-CN" sz="18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Y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8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=</m:t>
                                </m:r>
                                <m:r>
                                  <a:rPr lang="zh-CN" sz="18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u</m:t>
                                </m:r>
                              </m:e>
                            </m:d>
                            <m:r>
                              <a:rPr lang="zh-CN" sz="18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 xml:space="preserve"> </m:t>
                            </m:r>
                            <m:sSub>
                              <m:e>
                                <m:r>
                                  <a:rPr lang="zh-CN" sz="18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p</m:t>
                                </m:r>
                              </m:e>
                              <m:sub>
                                <m:r>
                                  <a:rPr lang="zh-CN" sz="18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Y</m:t>
                                </m:r>
                              </m:sub>
                            </m:sSub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8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8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u</m:t>
                                </m:r>
                              </m:e>
                            </m:d>
                            <m:r>
                              <a:rPr lang="zh-CN" sz="18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 xml:space="preserve"> </m:t>
                            </m:r>
                            <m:r>
                              <a:rPr lang="zh-CN" sz="18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du</m:t>
                            </m:r>
                          </m:e>
                        </m:nary>
                      </m:oMath>
                    </m:oMathPara>
                  </a14:m>
                </a:p>
              </p:txBody>
            </p:sp>
          </mc:Choice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7" name="formula38"/>
                <p:cNvSpPr txBox="1">
                  <a:spLocks noGrp="1"/>
                </p:cNvSpPr>
                <p:nvPr/>
              </p:nvSpPr>
              <p:spPr>
                <a:xfrm>
                  <a:off x="5796915" y="2788920"/>
                  <a:ext cx="5663565" cy="64008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l"/>
                  <a14:m>
                    <m:oMathPara xmlns:a="http://schemas.openxmlformats.org/drawingml/2006/main" xmlns:m="http://schemas.openxmlformats.org/officeDocument/2006/math">
                      <m:oMathParaPr>
                        <m:jc m:val="left"/>
                      </m:oMathParaPr>
                      <m:oMath>
                        <m:r>
                          <m:rPr>
                            <m:sty m:val="p"/>
                          </m:rPr>
                          <a:rPr lang="zh-CN" sz="18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nary>
                          <m:naryPr>
                            <m:chr m:val="∫"/>
                            <m:limLoc m:val="subSup"/>
                            <m:grow m:val="off"/>
                            <m:subHide m:val="off"/>
                            <m:supHide m:val="off"/>
                            <m:ctrlPr>
                              <a:rPr lang="zh-CN" sz="18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naryPr>
                          <m:sub>
                            <m:r>
                              <m:rPr>
                                <m:sty m:val="p"/>
                              </m:rPr>
                              <a:rPr lang="zh-CN" sz="18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−∞</m:t>
                            </m:r>
                          </m:sub>
                          <m:sup>
                            <m:r>
                              <m:rPr>
                                <m:sty m:val="p"/>
                              </m:rPr>
                              <a:rPr lang="zh-CN" sz="18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∞</m:t>
                            </m:r>
                          </m:sup>
                          <m:e>
                            <m:d>
                              <m:dPr>
                                <m:begChr m:val="["/>
                                <m:sepChr m:val=""/>
                                <m:endChr m:val="]"/>
                                <m:grow m:val="on"/>
                                <m:ctrlPr>
                                  <a:rPr lang="zh-CN" sz="18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nary>
                                  <m:naryPr>
                                    <m:chr m:val="∫"/>
                                    <m:limLoc m:val="subSup"/>
                                    <m:grow m:val="off"/>
                                    <m:subHide m:val="on"/>
                                    <m:supHide m:val="on"/>
                                    <m:ctrlPr>
                                      <a:rPr lang="zh-CN" sz="18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naryPr>
                                  <m:sub/>
                                  <m:sup/>
                                  <m:e>
                                    <m:r>
                                      <a:rPr lang="zh-CN" sz="18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t</m:t>
                                    </m:r>
                                    <m:r>
                                      <a:rPr lang="zh-CN" sz="18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 xml:space="preserve"> </m:t>
                                    </m:r>
                                    <m:sSub>
                                      <m:e>
                                        <m:r>
                                          <a:rPr lang="zh-CN" sz="180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p</m:t>
                                        </m:r>
                                      </m:e>
                                      <m:sub>
                                        <m:r>
                                          <a:rPr lang="zh-CN" sz="180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X</m:t>
                                        </m:r>
                                        <m:r>
                                          <m:rPr>
                                            <m:sty m:val="p"/>
                                          </m:rPr>
                                          <a:rPr lang="zh-CN" sz="180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∣</m:t>
                                        </m:r>
                                        <m:r>
                                          <a:rPr lang="zh-CN" sz="180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Y</m:t>
                                        </m:r>
                                      </m:sub>
                                    </m:sSub>
                                    <m:d>
                                      <m:dPr>
                                        <m:begChr m:val="("/>
                                        <m:sepChr m:val=""/>
                                        <m:endChr m:val=")"/>
                                        <m:grow m:val="on"/>
                                        <m:ctrlPr>
                                          <a:rPr lang="zh-CN" sz="180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zh-CN" sz="180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t</m:t>
                                        </m:r>
                                        <m:r>
                                          <m:rPr>
                                            <m:sty m:val="p"/>
                                          </m:rPr>
                                          <a:rPr lang="zh-CN" sz="180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∣</m:t>
                                        </m:r>
                                        <m:r>
                                          <a:rPr lang="zh-CN" sz="180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u</m:t>
                                        </m:r>
                                      </m:e>
                                    </m:d>
                                    <m:r>
                                      <a:rPr lang="zh-CN" sz="18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 xml:space="preserve"> </m:t>
                                    </m:r>
                                    <m:r>
                                      <a:rPr lang="zh-CN" sz="18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dt</m:t>
                                    </m:r>
                                  </m:e>
                                </m:nary>
                              </m:e>
                            </m:d>
                            <m:sSub>
                              <m:e>
                                <m:r>
                                  <a:rPr lang="zh-CN" sz="18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p</m:t>
                                </m:r>
                              </m:e>
                              <m:sub>
                                <m:r>
                                  <a:rPr lang="zh-CN" sz="18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Y</m:t>
                                </m:r>
                              </m:sub>
                            </m:sSub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8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8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u</m:t>
                                </m:r>
                              </m:e>
                            </m:d>
                            <m:r>
                              <a:rPr lang="zh-CN" sz="18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 xml:space="preserve"> </m:t>
                            </m:r>
                            <m:r>
                              <a:rPr lang="zh-CN" sz="18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du</m:t>
                            </m:r>
                          </m:e>
                        </m:nary>
                      </m:oMath>
                    </m:oMathPara>
                  </a14:m>
                </a:p>
              </p:txBody>
            </p:sp>
          </mc:Choice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8" name="formula39"/>
                <p:cNvSpPr txBox="1">
                  <a:spLocks noGrp="1"/>
                </p:cNvSpPr>
                <p:nvPr/>
              </p:nvSpPr>
              <p:spPr>
                <a:xfrm>
                  <a:off x="5796915" y="3518535"/>
                  <a:ext cx="5663565" cy="64008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l"/>
                  <a14:m>
                    <m:oMathPara xmlns:a="http://schemas.openxmlformats.org/drawingml/2006/main" xmlns:m="http://schemas.openxmlformats.org/officeDocument/2006/math">
                      <m:oMathParaPr>
                        <m:jc m:val="left"/>
                      </m:oMathParaPr>
                      <m:oMath>
                        <m:r>
                          <m:rPr>
                            <m:sty m:val="p"/>
                          </m:rPr>
                          <a:rPr lang="zh-CN" sz="18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nary>
                          <m:naryPr>
                            <m:chr m:val="∫"/>
                            <m:limLoc m:val="subSup"/>
                            <m:grow m:val="off"/>
                            <m:subHide m:val="off"/>
                            <m:supHide m:val="off"/>
                            <m:ctrlPr>
                              <a:rPr lang="zh-CN" sz="18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naryPr>
                          <m:sub>
                            <m:r>
                              <m:rPr>
                                <m:sty m:val="p"/>
                              </m:rPr>
                              <a:rPr lang="zh-CN" sz="18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−∞</m:t>
                            </m:r>
                          </m:sub>
                          <m:sup>
                            <m:r>
                              <m:rPr>
                                <m:sty m:val="p"/>
                              </m:rPr>
                              <a:rPr lang="zh-CN" sz="18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∞</m:t>
                            </m:r>
                          </m:sup>
                          <m:e>
                            <m:r>
                              <a:rPr lang="zh-CN" sz="18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t</m:t>
                            </m:r>
                            <m:d>
                              <m:dPr>
                                <m:begChr m:val="["/>
                                <m:sepChr m:val=""/>
                                <m:endChr m:val="]"/>
                                <m:grow m:val="on"/>
                                <m:ctrlPr>
                                  <a:rPr lang="zh-CN" sz="18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nary>
                                  <m:naryPr>
                                    <m:chr m:val="∫"/>
                                    <m:limLoc m:val="subSup"/>
                                    <m:grow m:val="off"/>
                                    <m:subHide m:val="on"/>
                                    <m:supHide m:val="on"/>
                                    <m:ctrlPr>
                                      <a:rPr lang="zh-CN" sz="18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naryPr>
                                  <m:sub/>
                                  <m:sup/>
                                  <m:e>
                                    <m:sSub>
                                      <m:e>
                                        <m:r>
                                          <a:rPr lang="zh-CN" sz="180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p</m:t>
                                        </m:r>
                                      </m:e>
                                      <m:sub>
                                        <m:r>
                                          <a:rPr lang="zh-CN" sz="180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X</m:t>
                                        </m:r>
                                        <m:r>
                                          <m:rPr>
                                            <m:sty m:val="p"/>
                                          </m:rPr>
                                          <a:rPr lang="zh-CN" sz="180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∣</m:t>
                                        </m:r>
                                        <m:r>
                                          <a:rPr lang="zh-CN" sz="180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Y</m:t>
                                        </m:r>
                                      </m:sub>
                                    </m:sSub>
                                    <m:d>
                                      <m:dPr>
                                        <m:begChr m:val="("/>
                                        <m:sepChr m:val=""/>
                                        <m:endChr m:val=")"/>
                                        <m:grow m:val="on"/>
                                        <m:ctrlPr>
                                          <a:rPr lang="zh-CN" sz="180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zh-CN" sz="180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t</m:t>
                                        </m:r>
                                        <m:r>
                                          <m:rPr>
                                            <m:sty m:val="p"/>
                                          </m:rPr>
                                          <a:rPr lang="zh-CN" sz="180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∣</m:t>
                                        </m:r>
                                        <m:r>
                                          <a:rPr lang="zh-CN" sz="180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u</m:t>
                                        </m:r>
                                      </m:e>
                                    </m:d>
                                    <m:r>
                                      <a:rPr lang="zh-CN" sz="18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 xml:space="preserve"> </m:t>
                                    </m:r>
                                    <m:sSub>
                                      <m:e>
                                        <m:r>
                                          <a:rPr lang="zh-CN" sz="180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p</m:t>
                                        </m:r>
                                      </m:e>
                                      <m:sub>
                                        <m:r>
                                          <a:rPr lang="zh-CN" sz="180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Y</m:t>
                                        </m:r>
                                      </m:sub>
                                    </m:sSub>
                                    <m:d>
                                      <m:dPr>
                                        <m:begChr m:val="("/>
                                        <m:sepChr m:val=""/>
                                        <m:endChr m:val=")"/>
                                        <m:grow m:val="on"/>
                                        <m:ctrlPr>
                                          <a:rPr lang="zh-CN" sz="180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zh-CN" sz="180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u</m:t>
                                        </m:r>
                                      </m:e>
                                    </m:d>
                                    <m:r>
                                      <a:rPr lang="zh-CN" sz="18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 xml:space="preserve"> </m:t>
                                    </m:r>
                                    <m:r>
                                      <a:rPr lang="zh-CN" sz="18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du</m:t>
                                    </m:r>
                                  </m:e>
                                </m:nary>
                              </m:e>
                            </m:d>
                            <m:r>
                              <a:rPr lang="zh-CN" sz="18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dt</m:t>
                            </m:r>
                          </m:e>
                        </m:nary>
                      </m:oMath>
                    </m:oMathPara>
                  </a14:m>
                </a:p>
              </p:txBody>
            </p:sp>
          </mc:Choice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9" name="formula40"/>
                <p:cNvSpPr txBox="1">
                  <a:spLocks noGrp="1"/>
                </p:cNvSpPr>
                <p:nvPr/>
              </p:nvSpPr>
              <p:spPr>
                <a:xfrm>
                  <a:off x="5796915" y="4248150"/>
                  <a:ext cx="5663565" cy="64008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l"/>
                  <a14:m>
                    <m:oMathPara xmlns:a="http://schemas.openxmlformats.org/drawingml/2006/main" xmlns:m="http://schemas.openxmlformats.org/officeDocument/2006/math">
                      <m:oMathParaPr>
                        <m:jc m:val="left"/>
                      </m:oMathParaPr>
                      <m:oMath>
                        <m:r>
                          <m:rPr>
                            <m:sty m:val="p"/>
                          </m:rPr>
                          <a:rPr lang="zh-CN" sz="18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nary>
                          <m:naryPr>
                            <m:chr m:val="∫"/>
                            <m:limLoc m:val="subSup"/>
                            <m:grow m:val="off"/>
                            <m:subHide m:val="off"/>
                            <m:supHide m:val="off"/>
                            <m:ctrlPr>
                              <a:rPr lang="zh-CN" sz="18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naryPr>
                          <m:sub>
                            <m:r>
                              <m:rPr>
                                <m:sty m:val="p"/>
                              </m:rPr>
                              <a:rPr lang="zh-CN" sz="18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−∞</m:t>
                            </m:r>
                          </m:sub>
                          <m:sup>
                            <m:r>
                              <m:rPr>
                                <m:sty m:val="p"/>
                              </m:rPr>
                              <a:rPr lang="zh-CN" sz="18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∞</m:t>
                            </m:r>
                          </m:sup>
                          <m:e>
                            <m:r>
                              <a:rPr lang="zh-CN" sz="18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t</m:t>
                            </m:r>
                            <m:d>
                              <m:dPr>
                                <m:begChr m:val="["/>
                                <m:sepChr m:val=""/>
                                <m:endChr m:val="]"/>
                                <m:grow m:val="on"/>
                                <m:ctrlPr>
                                  <a:rPr lang="zh-CN" sz="18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nary>
                                  <m:naryPr>
                                    <m:chr m:val="∫"/>
                                    <m:limLoc m:val="subSup"/>
                                    <m:grow m:val="off"/>
                                    <m:subHide m:val="on"/>
                                    <m:supHide m:val="on"/>
                                    <m:ctrlPr>
                                      <a:rPr lang="zh-CN" sz="18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naryPr>
                                  <m:sub/>
                                  <m:sup/>
                                  <m:e>
                                    <m:sSub>
                                      <m:e>
                                        <m:r>
                                          <a:rPr lang="zh-CN" sz="180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p</m:t>
                                        </m:r>
                                      </m:e>
                                      <m:sub>
                                        <m:r>
                                          <a:rPr lang="zh-CN" sz="180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XY</m:t>
                                        </m:r>
                                      </m:sub>
                                    </m:sSub>
                                    <m:d>
                                      <m:dPr>
                                        <m:begChr m:val="("/>
                                        <m:sepChr m:val=""/>
                                        <m:endChr m:val=")"/>
                                        <m:grow m:val="on"/>
                                        <m:ctrlPr>
                                          <a:rPr lang="zh-CN" sz="180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zh-CN" sz="180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t</m:t>
                                        </m:r>
                                        <m:r>
                                          <m:rPr>
                                            <m:sty m:val="p"/>
                                          </m:rPr>
                                          <a:rPr lang="zh-CN" sz="180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,</m:t>
                                        </m:r>
                                        <m:r>
                                          <a:rPr lang="zh-CN" sz="180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u</m:t>
                                        </m:r>
                                      </m:e>
                                    </m:d>
                                    <m:r>
                                      <a:rPr lang="zh-CN" sz="18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 xml:space="preserve"> </m:t>
                                    </m:r>
                                    <m:r>
                                      <a:rPr lang="zh-CN" sz="18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du</m:t>
                                    </m:r>
                                  </m:e>
                                </m:nary>
                              </m:e>
                            </m:d>
                            <m:r>
                              <a:rPr lang="zh-CN" sz="18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dt</m:t>
                            </m:r>
                          </m:e>
                        </m:nary>
                      </m:oMath>
                    </m:oMathPara>
                  </a14:m>
                </a:p>
              </p:txBody>
            </p:sp>
          </mc:Choice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0" name="formula41"/>
                <p:cNvSpPr txBox="1">
                  <a:spLocks noGrp="1"/>
                </p:cNvSpPr>
                <p:nvPr/>
              </p:nvSpPr>
              <p:spPr>
                <a:xfrm>
                  <a:off x="5796915" y="4977765"/>
                  <a:ext cx="5663565" cy="64008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l"/>
                  <a14:m>
                    <m:oMathPara xmlns:a="http://schemas.openxmlformats.org/drawingml/2006/main" xmlns:m="http://schemas.openxmlformats.org/officeDocument/2006/math">
                      <m:oMathParaPr>
                        <m:jc m:val="left"/>
                      </m:oMathParaPr>
                      <m:oMath>
                        <m:r>
                          <m:rPr>
                            <m:sty m:val="p"/>
                          </m:rPr>
                          <a:rPr lang="zh-CN" sz="18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nary>
                          <m:naryPr>
                            <m:chr m:val="∫"/>
                            <m:limLoc m:val="subSup"/>
                            <m:grow m:val="off"/>
                            <m:subHide m:val="off"/>
                            <m:supHide m:val="off"/>
                            <m:ctrlPr>
                              <a:rPr lang="zh-CN" sz="18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naryPr>
                          <m:sub>
                            <m:r>
                              <m:rPr>
                                <m:sty m:val="p"/>
                              </m:rPr>
                              <a:rPr lang="zh-CN" sz="18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−∞</m:t>
                            </m:r>
                          </m:sub>
                          <m:sup>
                            <m:r>
                              <m:rPr>
                                <m:sty m:val="p"/>
                              </m:rPr>
                              <a:rPr lang="zh-CN" sz="18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∞</m:t>
                            </m:r>
                          </m:sup>
                          <m:e>
                            <m:r>
                              <a:rPr lang="zh-CN" sz="18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t</m:t>
                            </m:r>
                            <m:r>
                              <a:rPr lang="zh-CN" sz="18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 xml:space="preserve"> </m:t>
                            </m:r>
                            <m:sSub>
                              <m:e>
                                <m:r>
                                  <a:rPr lang="zh-CN" sz="18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p</m:t>
                                </m:r>
                              </m:e>
                              <m:sub>
                                <m:r>
                                  <a:rPr lang="zh-CN" sz="18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sub>
                            </m:sSub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8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8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t</m:t>
                                </m:r>
                              </m:e>
                            </m:d>
                            <m:r>
                              <a:rPr lang="zh-CN" sz="18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 xml:space="preserve"> </m:t>
                            </m:r>
                            <m:r>
                              <a:rPr lang="zh-CN" sz="18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dt</m:t>
                            </m:r>
                          </m:e>
                        </m:nary>
                        <m:r>
                          <m:rPr>
                            <m:sty m:val="p"/>
                          </m:rPr>
                          <a:rPr lang="zh-CN" sz="18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r>
                          <a:rPr lang="zh-CN" sz="18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EX</m:t>
                        </m:r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31" name="TextBox 31"/>
            <p:cNvSpPr txBox="1"/>
            <p:nvPr/>
          </p:nvSpPr>
          <p:spPr>
            <a:xfrm>
              <a:off x="5790819" y="5727382"/>
              <a:ext cx="50200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第三步交换积分次序，第四步用了条件密度乘边缘密度等于联合密度。</a:t>
              </a:r>
            </a:p>
          </p:txBody>
        </p:sp>
      </p:grpSp>
      <p:grpSp>
        <p:nvGrpSpPr>
          <p:cNvPr id="3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33" name="TextBox 33"/>
            <p:cNvSpPr txBox="1"/>
            <p:nvPr/>
          </p:nvSpPr>
          <p:spPr>
            <a:xfrm>
              <a:off x="528447" y="6581299"/>
              <a:ext cx="198882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统计计算 · 第3章 随机模拟（上）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9093676" cy="909257"/>
            <a:chOff x="520446" y="342900"/>
            <a:chExt cx="909367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989898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9634" y="407194"/>
              <a:ext cx="289838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第3章 随机模拟（上） · 3.2 随机模拟积分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909367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方差分解公式：总方差 = 条件方差的均值 + 条件均值的方差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5" name="c1-card-1"/>
          <p:cNvGrpSpPr/>
          <p:nvPr/>
        </p:nvGrpSpPr>
        <p:grpSpPr>
          <a:xfrm>
            <a:off x="533400" y="1524000"/>
            <a:ext cx="5410200" cy="2687002"/>
            <a:chOff x="533400" y="1524000"/>
            <a:chExt cx="5410200" cy="268700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2687002"/>
            </a:xfrm>
            <a:prstGeom prst="roundRect">
              <a:avLst>
                <a:gd name="adj" fmla="val 496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2420302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81050" y="1733550"/>
              <a:ext cx="1062990" cy="257175"/>
            </a:xfrm>
            <a:prstGeom prst="roundRect">
              <a:avLst>
                <a:gd name="adj" fmla="val 50000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54507" y="1769269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条件方差公式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1" name="formula50"/>
                <p:cNvSpPr txBox="1">
                  <a:spLocks noGrp="1"/>
                </p:cNvSpPr>
                <p:nvPr/>
              </p:nvSpPr>
              <p:spPr>
                <a:xfrm>
                  <a:off x="781050" y="2085975"/>
                  <a:ext cx="4953000" cy="4953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l"/>
                  <a14:m>
                    <m:oMathPara xmlns:a="http://schemas.openxmlformats.org/drawingml/2006/main" xmlns:m="http://schemas.openxmlformats.org/officeDocument/2006/math">
                      <m:oMathParaPr>
                        <m:jc m:val="left"/>
                      </m:oMathParaPr>
                      <m:oMath>
                        <m:r>
                          <m:rPr>
                            <m:sty m:val="p"/>
                          </m:rPr>
                          <a:rPr lang="zh-CN" sz="19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Var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9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9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  <m:r>
                              <m:rPr>
                                <m:sty m:val="p"/>
                              </m:rPr>
                              <a:rPr lang="zh-CN" sz="19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∣</m:t>
                            </m:r>
                            <m:r>
                              <a:rPr lang="zh-CN" sz="19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Y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9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r>
                          <a:rPr lang="zh-CN" sz="19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E</m:t>
                        </m:r>
                        <m:d>
                          <m:dPr>
                            <m:begChr m:val="["/>
                            <m:sepChr m:val=""/>
                            <m:endChr m:val="]"/>
                            <m:grow m:val="on"/>
                            <m:ctrlPr>
                              <a:rPr lang="zh-CN" sz="19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sSup>
                              <m:e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 m:val="on"/>
                                    <m:ctrlPr>
                                      <a:rPr lang="zh-CN" sz="19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dPr>
                                  <m:e>
                                    <m:r>
                                      <a:rPr lang="zh-CN" sz="19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X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zh-CN" sz="19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−</m:t>
                                    </m:r>
                                    <m:r>
                                      <a:rPr lang="zh-CN" sz="19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E</m:t>
                                    </m:r>
                                    <m:d>
                                      <m:dPr>
                                        <m:begChr m:val="("/>
                                        <m:sepChr m:val=""/>
                                        <m:endChr m:val=")"/>
                                        <m:grow m:val="on"/>
                                        <m:ctrlPr>
                                          <a:rPr lang="zh-CN" sz="195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zh-CN" sz="195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X</m:t>
                                        </m:r>
                                        <m:r>
                                          <m:rPr>
                                            <m:sty m:val="p"/>
                                          </m:rPr>
                                          <a:rPr lang="zh-CN" sz="195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∣</m:t>
                                        </m:r>
                                        <m:r>
                                          <a:rPr lang="zh-CN" sz="195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Y</m:t>
                                        </m:r>
                                      </m:e>
                                    </m:d>
                                  </m:e>
                                </m:d>
                              </m:e>
                              <m:sup>
                                <m:r>
                                  <a:rPr lang="zh-CN" sz="19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zh-CN" sz="19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∣</m:t>
                            </m:r>
                            <m:r>
                              <a:rPr lang="zh-CN" sz="19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Y</m:t>
                            </m:r>
                          </m:e>
                        </m:d>
                      </m:oMath>
                    </m:oMathPara>
                  </a14:m>
                </a:p>
              </p:txBody>
            </p:sp>
          </mc:Choice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2" name="formula51"/>
                <p:cNvSpPr txBox="1">
                  <a:spLocks noGrp="1"/>
                </p:cNvSpPr>
                <p:nvPr/>
              </p:nvSpPr>
              <p:spPr>
                <a:xfrm>
                  <a:off x="781050" y="2676525"/>
                  <a:ext cx="4953000" cy="4191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l"/>
                  <a14:m>
                    <m:oMathPara xmlns:a="http://schemas.openxmlformats.org/drawingml/2006/main" xmlns:m="http://schemas.openxmlformats.org/officeDocument/2006/math">
                      <m:oMathParaPr>
                        <m:jc m:val="left"/>
                      </m:oMathParaPr>
                      <m:oMath>
                        <m:r>
                          <m:rPr>
                            <m:sty m:val="p"/>
                          </m:rPr>
                          <a:rPr lang="zh-CN" sz="16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r>
                          <a:rPr lang="zh-CN" sz="16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E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  <m:sup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∣</m:t>
                            </m:r>
                            <m: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Y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6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−</m:t>
                        </m:r>
                        <m:r>
                          <a:rPr lang="zh-CN" sz="16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2E</m:t>
                        </m:r>
                        <m:d>
                          <m:dPr>
                            <m:begChr m:val="["/>
                            <m:sepChr m:val=""/>
                            <m:endChr m:val="]"/>
                            <m:grow m:val="on"/>
                            <m:ctrlP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  <m: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 xml:space="preserve"> </m:t>
                            </m:r>
                            <m: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E</m:t>
                            </m:r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∣</m:t>
                                </m:r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Y</m:t>
                                </m:r>
                              </m:e>
                            </m:d>
                            <m:r>
                              <m:rPr>
                                <m:sty m:val="p"/>
                              </m:rP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∣</m:t>
                            </m:r>
                            <m: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Y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6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+</m:t>
                        </m:r>
                        <m:sSup>
                          <m:e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E</m:t>
                                </m:r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 m:val="on"/>
                                    <m:ctrlPr>
                                      <a:rPr lang="zh-CN" sz="16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dPr>
                                  <m:e>
                                    <m:r>
                                      <a:rPr lang="zh-CN" sz="16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X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zh-CN" sz="16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∣</m:t>
                                    </m:r>
                                    <m:r>
                                      <a:rPr lang="zh-CN" sz="16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Y</m:t>
                                    </m:r>
                                  </m:e>
                                </m:d>
                              </m:e>
                            </m:d>
                          </m:e>
                          <m:sup>
                            <m: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2</m:t>
                            </m:r>
                          </m:sup>
                        </m:sSup>
                      </m:oMath>
                    </m:oMathPara>
                  </a14:m>
                </a:p>
              </p:txBody>
            </p:sp>
          </mc:Choice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3" name="formula52"/>
                <p:cNvSpPr txBox="1">
                  <a:spLocks noGrp="1"/>
                </p:cNvSpPr>
                <p:nvPr/>
              </p:nvSpPr>
              <p:spPr>
                <a:xfrm>
                  <a:off x="781050" y="3190875"/>
                  <a:ext cx="4953000" cy="4953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l"/>
                  <a14:m>
                    <m:oMathPara xmlns:a="http://schemas.openxmlformats.org/drawingml/2006/main" xmlns:m="http://schemas.openxmlformats.org/officeDocument/2006/math">
                      <m:oMathParaPr>
                        <m:jc m:val="left"/>
                      </m:oMathParaPr>
                      <m:oMath>
                        <m:r>
                          <m:rPr>
                            <m:sty m:val="p"/>
                          </m:rPr>
                          <a:rPr lang="zh-CN" sz="19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r>
                          <a:rPr lang="zh-CN" sz="19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E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9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a:rPr lang="zh-CN" sz="19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  <m:sup>
                                <m:r>
                                  <a:rPr lang="zh-CN" sz="19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zh-CN" sz="19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∣</m:t>
                            </m:r>
                            <m:r>
                              <a:rPr lang="zh-CN" sz="19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Y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9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−</m:t>
                        </m:r>
                        <m:sSup>
                          <m:e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9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9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E</m:t>
                                </m:r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 m:val="on"/>
                                    <m:ctrlPr>
                                      <a:rPr lang="zh-CN" sz="19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dPr>
                                  <m:e>
                                    <m:r>
                                      <a:rPr lang="zh-CN" sz="19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X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zh-CN" sz="19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∣</m:t>
                                    </m:r>
                                    <m:r>
                                      <a:rPr lang="zh-CN" sz="19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Y</m:t>
                                    </m:r>
                                  </m:e>
                                </m:d>
                              </m:e>
                            </m:d>
                          </m:e>
                          <m:sup>
                            <m:r>
                              <a:rPr lang="zh-CN" sz="19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2</m:t>
                            </m:r>
                          </m:sup>
                        </m:sSup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14" name="TextBox 14"/>
            <p:cNvSpPr txBox="1"/>
            <p:nvPr/>
          </p:nvSpPr>
          <p:spPr>
            <a:xfrm>
              <a:off x="774573" y="3802856"/>
              <a:ext cx="450546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在 Y 给定时 E(X|Y) 相当于常数，可以提到条件期望外面。</a:t>
              </a:r>
            </a:p>
          </p:txBody>
        </p:sp>
      </p:grpSp>
      <p:grpSp>
        <p:nvGrpSpPr>
          <p:cNvPr id="21" name="c1-card-2"/>
          <p:cNvGrpSpPr/>
          <p:nvPr/>
        </p:nvGrpSpPr>
        <p:grpSpPr>
          <a:xfrm>
            <a:off x="533400" y="4401502"/>
            <a:ext cx="5410200" cy="1449705"/>
            <a:chOff x="533400" y="4401502"/>
            <a:chExt cx="5410200" cy="1449705"/>
          </a:xfrm>
        </p:grpSpPr>
        <p:sp>
          <p:nvSpPr>
            <p:cNvPr id="16" name="Rectangle 16"/>
            <p:cNvSpPr/>
            <p:nvPr/>
          </p:nvSpPr>
          <p:spPr>
            <a:xfrm>
              <a:off x="533400" y="4401502"/>
              <a:ext cx="5410200" cy="1449705"/>
            </a:xfrm>
            <a:prstGeom prst="roundRect">
              <a:avLst>
                <a:gd name="adj" fmla="val 919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7" name="Rectangle 17"/>
            <p:cNvSpPr/>
            <p:nvPr/>
          </p:nvSpPr>
          <p:spPr>
            <a:xfrm>
              <a:off x="542925" y="4534852"/>
              <a:ext cx="47625" cy="118300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8" name="Rectangle 18"/>
            <p:cNvSpPr/>
            <p:nvPr/>
          </p:nvSpPr>
          <p:spPr>
            <a:xfrm>
              <a:off x="781050" y="4611052"/>
              <a:ext cx="1062990" cy="257175"/>
            </a:xfrm>
            <a:prstGeom prst="roundRect">
              <a:avLst>
                <a:gd name="adj" fmla="val 50000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854507" y="4646771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方差分解公式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0" name="formula53"/>
                <p:cNvSpPr txBox="1">
                  <a:spLocks noGrp="1"/>
                </p:cNvSpPr>
                <p:nvPr/>
              </p:nvSpPr>
              <p:spPr>
                <a:xfrm>
                  <a:off x="781050" y="4963478"/>
                  <a:ext cx="4953000" cy="4762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m:rPr>
                            <m:sty m:val="p"/>
                          </m:rPr>
                          <a:rPr lang="zh-CN" sz="18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Var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8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8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8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r>
                          <a:rPr lang="zh-CN" sz="18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E</m:t>
                        </m:r>
                        <m:d>
                          <m:dPr>
                            <m:begChr m:val="["/>
                            <m:sepChr m:val=""/>
                            <m:endChr m:val="]"/>
                            <m:grow m:val="on"/>
                            <m:ctrlPr>
                              <a:rPr lang="zh-CN" sz="18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zh-CN" sz="18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Var</m:t>
                            </m:r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8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8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8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∣</m:t>
                                </m:r>
                                <m:r>
                                  <a:rPr lang="zh-CN" sz="18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Y</m:t>
                                </m:r>
                              </m:e>
                            </m:d>
                          </m:e>
                        </m:d>
                        <m:r>
                          <m:rPr>
                            <m:sty m:val="p"/>
                          </m:rPr>
                          <a:rPr lang="zh-CN" sz="18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zh-CN" sz="18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Var</m:t>
                        </m:r>
                        <m:d>
                          <m:dPr>
                            <m:begChr m:val="["/>
                            <m:sepChr m:val=""/>
                            <m:endChr m:val="]"/>
                            <m:grow m:val="on"/>
                            <m:ctrlPr>
                              <a:rPr lang="zh-CN" sz="18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8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E</m:t>
                            </m:r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8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8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8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∣</m:t>
                                </m:r>
                                <m:r>
                                  <a:rPr lang="zh-CN" sz="18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Y</m:t>
                                </m:r>
                              </m:e>
                            </m:d>
                          </m:e>
                        </m:d>
                      </m:oMath>
                    </m:oMathPara>
                  </a14:m>
                </a:p>
              </p:txBody>
            </p:sp>
          </mc:Choice>
        </mc:AlternateContent>
      </p:grpSp>
      <p:grpSp>
        <p:nvGrpSpPr>
          <p:cNvPr id="30" name="c2-card-1"/>
          <p:cNvGrpSpPr/>
          <p:nvPr/>
        </p:nvGrpSpPr>
        <p:grpSpPr>
          <a:xfrm>
            <a:off x="6248400" y="1524000"/>
            <a:ext cx="5410200" cy="3353752"/>
            <a:chOff x="6248400" y="1524000"/>
            <a:chExt cx="5410200" cy="3353752"/>
          </a:xfrm>
        </p:grpSpPr>
        <p:sp>
          <p:nvSpPr>
            <p:cNvPr id="22" name="Rectangle 22"/>
            <p:cNvSpPr/>
            <p:nvPr/>
          </p:nvSpPr>
          <p:spPr>
            <a:xfrm>
              <a:off x="6248400" y="1524000"/>
              <a:ext cx="5410200" cy="3353752"/>
            </a:xfrm>
            <a:prstGeom prst="roundRect">
              <a:avLst>
                <a:gd name="adj" fmla="val 3976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3" name="Rectangle 23"/>
            <p:cNvSpPr/>
            <p:nvPr/>
          </p:nvSpPr>
          <p:spPr>
            <a:xfrm>
              <a:off x="6457950" y="1733550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548158" y="176926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证明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5" name="formula54"/>
                <p:cNvSpPr txBox="1">
                  <a:spLocks noGrp="1"/>
                </p:cNvSpPr>
                <p:nvPr/>
              </p:nvSpPr>
              <p:spPr>
                <a:xfrm>
                  <a:off x="6457950" y="2085975"/>
                  <a:ext cx="4991100" cy="4953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l"/>
                  <a14:m>
                    <m:oMathPara xmlns:a="http://schemas.openxmlformats.org/drawingml/2006/main" xmlns:m="http://schemas.openxmlformats.org/officeDocument/2006/math">
                      <m:oMathParaPr>
                        <m:jc m:val="left"/>
                      </m:oMathParaPr>
                      <m:oMath>
                        <m:r>
                          <a:rPr lang="zh-CN" sz="19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E</m:t>
                        </m:r>
                        <m:d>
                          <m:dPr>
                            <m:begChr m:val="["/>
                            <m:sepChr m:val=""/>
                            <m:endChr m:val="]"/>
                            <m:grow m:val="on"/>
                            <m:ctrlPr>
                              <a:rPr lang="zh-CN" sz="19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zh-CN" sz="19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Var</m:t>
                            </m:r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9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9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9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∣</m:t>
                                </m:r>
                                <m:r>
                                  <a:rPr lang="zh-CN" sz="19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Y</m:t>
                                </m:r>
                              </m:e>
                            </m:d>
                          </m:e>
                        </m:d>
                        <m:r>
                          <m:rPr>
                            <m:sty m:val="p"/>
                          </m:rPr>
                          <a:rPr lang="zh-CN" sz="19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zh-CN" sz="19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Var</m:t>
                        </m:r>
                        <m:d>
                          <m:dPr>
                            <m:begChr m:val="["/>
                            <m:sepChr m:val=""/>
                            <m:endChr m:val="]"/>
                            <m:grow m:val="on"/>
                            <m:ctrlPr>
                              <a:rPr lang="zh-CN" sz="19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9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E</m:t>
                            </m:r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9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9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9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∣</m:t>
                                </m:r>
                                <m:r>
                                  <a:rPr lang="zh-CN" sz="19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Y</m:t>
                                </m:r>
                              </m:e>
                            </m:d>
                          </m:e>
                        </m:d>
                      </m:oMath>
                    </m:oMathPara>
                  </a14:m>
                </a:p>
              </p:txBody>
            </p:sp>
          </mc:Choice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6" name="formula55"/>
                <p:cNvSpPr txBox="1">
                  <a:spLocks noGrp="1"/>
                </p:cNvSpPr>
                <p:nvPr/>
              </p:nvSpPr>
              <p:spPr>
                <a:xfrm>
                  <a:off x="6457950" y="2676525"/>
                  <a:ext cx="4991100" cy="4953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l"/>
                  <a14:m>
                    <m:oMathPara xmlns:a="http://schemas.openxmlformats.org/drawingml/2006/main" xmlns:m="http://schemas.openxmlformats.org/officeDocument/2006/math">
                      <m:oMathParaPr>
                        <m:jc m:val="left"/>
                      </m:oMathParaPr>
                      <m:oMath>
                        <m:r>
                          <m:rPr>
                            <m:sty m:val="p"/>
                          </m:rPr>
                          <a:rPr lang="zh-CN" sz="19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r>
                          <a:rPr lang="zh-CN" sz="19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E</m:t>
                        </m:r>
                        <m:d>
                          <m:dPr>
                            <m:begChr m:val="["/>
                            <m:sepChr m:val=""/>
                            <m:endChr m:val="]"/>
                            <m:grow m:val="on"/>
                            <m:ctrlPr>
                              <a:rPr lang="zh-CN" sz="19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9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E</m:t>
                            </m:r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9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sSup>
                                  <m:e>
                                    <m:r>
                                      <a:rPr lang="zh-CN" sz="19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X</m:t>
                                    </m:r>
                                  </m:e>
                                  <m:sup>
                                    <m:r>
                                      <a:rPr lang="zh-CN" sz="19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m:rPr>
                                    <m:sty m:val="p"/>
                                  </m:rPr>
                                  <a:rPr lang="zh-CN" sz="19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∣</m:t>
                                </m:r>
                                <m:r>
                                  <a:rPr lang="zh-CN" sz="19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Y</m:t>
                                </m:r>
                              </m:e>
                            </m:d>
                          </m:e>
                        </m:d>
                        <m:r>
                          <m:rPr>
                            <m:sty m:val="p"/>
                          </m:rPr>
                          <a:rPr lang="zh-CN" sz="19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−</m:t>
                        </m:r>
                        <m:r>
                          <a:rPr lang="zh-CN" sz="19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E</m:t>
                        </m:r>
                        <m:d>
                          <m:dPr>
                            <m:begChr m:val="["/>
                            <m:sepChr m:val=""/>
                            <m:endChr m:val="]"/>
                            <m:grow m:val="on"/>
                            <m:ctrlPr>
                              <a:rPr lang="zh-CN" sz="19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sSup>
                              <m:e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 m:val="on"/>
                                    <m:ctrlPr>
                                      <a:rPr lang="zh-CN" sz="19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dPr>
                                  <m:e>
                                    <m:r>
                                      <a:rPr lang="zh-CN" sz="19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E</m:t>
                                    </m:r>
                                    <m:d>
                                      <m:dPr>
                                        <m:begChr m:val="("/>
                                        <m:sepChr m:val=""/>
                                        <m:endChr m:val=")"/>
                                        <m:grow m:val="on"/>
                                        <m:ctrlPr>
                                          <a:rPr lang="zh-CN" sz="195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zh-CN" sz="195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X</m:t>
                                        </m:r>
                                        <m:r>
                                          <m:rPr>
                                            <m:sty m:val="p"/>
                                          </m:rPr>
                                          <a:rPr lang="zh-CN" sz="195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∣</m:t>
                                        </m:r>
                                        <m:r>
                                          <a:rPr lang="zh-CN" sz="195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Y</m:t>
                                        </m:r>
                                      </m:e>
                                    </m:d>
                                  </m:e>
                                </m:d>
                              </m:e>
                              <m:sup>
                                <m:r>
                                  <a:rPr lang="zh-CN" sz="19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sup>
                            </m:sSup>
                          </m:e>
                        </m:d>
                      </m:oMath>
                    </m:oMathPara>
                  </a14:m>
                </a:p>
              </p:txBody>
            </p:sp>
          </mc:Choice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7" name="formula56"/>
                <p:cNvSpPr txBox="1">
                  <a:spLocks noGrp="1"/>
                </p:cNvSpPr>
                <p:nvPr/>
              </p:nvSpPr>
              <p:spPr>
                <a:xfrm>
                  <a:off x="6457950" y="3267075"/>
                  <a:ext cx="4991100" cy="4953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l"/>
                  <a14:m>
                    <m:oMathPara xmlns:a="http://schemas.openxmlformats.org/drawingml/2006/main" xmlns:m="http://schemas.openxmlformats.org/officeDocument/2006/math">
                      <m:oMathParaPr>
                        <m:jc m:val="left"/>
                      </m:oMathParaPr>
                      <m:oMath>
                        <m:r>
                          <a:rPr lang="zh-CN" sz="19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 </m:t>
                        </m:r>
                        <m:r>
                          <m:rPr>
                            <m:sty m:val="p"/>
                          </m:rPr>
                          <a:rPr lang="zh-CN" sz="19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+</m:t>
                        </m:r>
                        <m:r>
                          <a:rPr lang="zh-CN" sz="19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E</m:t>
                        </m:r>
                        <m:d>
                          <m:dPr>
                            <m:begChr m:val="["/>
                            <m:sepChr m:val=""/>
                            <m:endChr m:val="]"/>
                            <m:grow m:val="on"/>
                            <m:ctrlPr>
                              <a:rPr lang="zh-CN" sz="19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sSup>
                              <m:e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 m:val="on"/>
                                    <m:ctrlPr>
                                      <a:rPr lang="zh-CN" sz="19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dPr>
                                  <m:e>
                                    <m:r>
                                      <a:rPr lang="zh-CN" sz="19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E</m:t>
                                    </m:r>
                                    <m:d>
                                      <m:dPr>
                                        <m:begChr m:val="("/>
                                        <m:sepChr m:val=""/>
                                        <m:endChr m:val=")"/>
                                        <m:grow m:val="on"/>
                                        <m:ctrlPr>
                                          <a:rPr lang="zh-CN" sz="195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zh-CN" sz="195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X</m:t>
                                        </m:r>
                                        <m:r>
                                          <m:rPr>
                                            <m:sty m:val="p"/>
                                          </m:rPr>
                                          <a:rPr lang="zh-CN" sz="195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∣</m:t>
                                        </m:r>
                                        <m:r>
                                          <a:rPr lang="zh-CN" sz="195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Y</m:t>
                                        </m:r>
                                      </m:e>
                                    </m:d>
                                  </m:e>
                                </m:d>
                              </m:e>
                              <m:sup>
                                <m:r>
                                  <a:rPr lang="zh-CN" sz="19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sup>
                            </m:sSup>
                          </m:e>
                        </m:d>
                        <m:r>
                          <m:rPr>
                            <m:sty m:val="p"/>
                          </m:rPr>
                          <a:rPr lang="zh-CN" sz="19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−</m:t>
                        </m:r>
                        <m:sSup>
                          <m:e>
                            <m:d>
                              <m:dPr>
                                <m:begChr m:val="["/>
                                <m:sepChr m:val=""/>
                                <m:endChr m:val="]"/>
                                <m:grow m:val="on"/>
                                <m:ctrlPr>
                                  <a:rPr lang="zh-CN" sz="19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9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E</m:t>
                                </m:r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 m:val="on"/>
                                    <m:ctrlPr>
                                      <a:rPr lang="zh-CN" sz="19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dPr>
                                  <m:e>
                                    <m:r>
                                      <a:rPr lang="zh-CN" sz="19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E</m:t>
                                    </m:r>
                                    <m:d>
                                      <m:dPr>
                                        <m:begChr m:val="("/>
                                        <m:sepChr m:val=""/>
                                        <m:endChr m:val=")"/>
                                        <m:grow m:val="on"/>
                                        <m:ctrlPr>
                                          <a:rPr lang="zh-CN" sz="195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zh-CN" sz="195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X</m:t>
                                        </m:r>
                                        <m:r>
                                          <m:rPr>
                                            <m:sty m:val="p"/>
                                          </m:rPr>
                                          <a:rPr lang="zh-CN" sz="195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∣</m:t>
                                        </m:r>
                                        <m:r>
                                          <a:rPr lang="zh-CN" sz="195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Y</m:t>
                                        </m:r>
                                      </m:e>
                                    </m:d>
                                  </m:e>
                                </m:d>
                              </m:e>
                            </m:d>
                          </m:e>
                          <m:sup>
                            <m:r>
                              <a:rPr lang="zh-CN" sz="19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2</m:t>
                            </m:r>
                          </m:sup>
                        </m:sSup>
                      </m:oMath>
                    </m:oMathPara>
                  </a14:m>
                </a:p>
              </p:txBody>
            </p:sp>
          </mc:Choice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8" name="formula57"/>
                <p:cNvSpPr txBox="1">
                  <a:spLocks noGrp="1"/>
                </p:cNvSpPr>
                <p:nvPr/>
              </p:nvSpPr>
              <p:spPr>
                <a:xfrm>
                  <a:off x="6457950" y="3857625"/>
                  <a:ext cx="4991100" cy="4953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l"/>
                  <a14:m>
                    <m:oMathPara xmlns:a="http://schemas.openxmlformats.org/drawingml/2006/main" xmlns:m="http://schemas.openxmlformats.org/officeDocument/2006/math">
                      <m:oMathParaPr>
                        <m:jc m:val="left"/>
                      </m:oMathParaPr>
                      <m:oMath>
                        <m:r>
                          <m:rPr>
                            <m:sty m:val="p"/>
                          </m:rPr>
                          <a:rPr lang="zh-CN" sz="19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r>
                          <a:rPr lang="zh-CN" sz="19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E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9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a:rPr lang="zh-CN" sz="19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  <m:sup>
                                <m:r>
                                  <a:rPr lang="zh-CN" sz="19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sup>
                            </m:sSup>
                          </m:e>
                        </m:d>
                        <m:r>
                          <m:rPr>
                            <m:sty m:val="p"/>
                          </m:rPr>
                          <a:rPr lang="zh-CN" sz="19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−</m:t>
                        </m:r>
                        <m:sSup>
                          <m:e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9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9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EX</m:t>
                                </m:r>
                              </m:e>
                            </m:d>
                          </m:e>
                          <m:sup>
                            <m:r>
                              <a:rPr lang="zh-CN" sz="19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zh-CN" sz="19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r>
                          <m:rPr>
                            <m:sty m:val="p"/>
                          </m:rPr>
                          <a:rPr lang="zh-CN" sz="19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Var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9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9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</m:e>
                        </m:d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29" name="TextBox 29"/>
            <p:cNvSpPr txBox="1"/>
            <p:nvPr/>
          </p:nvSpPr>
          <p:spPr>
            <a:xfrm>
              <a:off x="6451473" y="4469606"/>
              <a:ext cx="481172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两次用到双期望定理：E[E(X²|Y)] = EX²，E[E(X|Y)] = EX。</a:t>
              </a:r>
            </a:p>
          </p:txBody>
        </p:sp>
      </p:grpSp>
      <p:grpSp>
        <p:nvGrpSpPr>
          <p:cNvPr id="36" name="c2-callout-2"/>
          <p:cNvGrpSpPr/>
          <p:nvPr/>
        </p:nvGrpSpPr>
        <p:grpSpPr>
          <a:xfrm>
            <a:off x="6248400" y="5068252"/>
            <a:ext cx="5410200" cy="782955"/>
            <a:chOff x="6248400" y="5068252"/>
            <a:chExt cx="5410200" cy="782955"/>
          </a:xfrm>
        </p:grpSpPr>
        <p:sp>
          <p:nvSpPr>
            <p:cNvPr id="31" name="Rectangle 31"/>
            <p:cNvSpPr/>
            <p:nvPr/>
          </p:nvSpPr>
          <p:spPr>
            <a:xfrm>
              <a:off x="6248400" y="5068252"/>
              <a:ext cx="5410200" cy="782955"/>
            </a:xfrm>
            <a:prstGeom prst="roundRect">
              <a:avLst>
                <a:gd name="adj" fmla="val 14599"/>
              </a:avLst>
            </a:prstGeom>
            <a:solidFill>
              <a:srgbClr val="2E7D4F"/>
            </a:solidFill>
            <a:ln>
              <a:noFill/>
            </a:ln>
          </p:spPr>
        </p:sp>
        <p:grpSp>
          <p:nvGrpSpPr>
            <p:cNvPr id="34" name="Group 34"/>
            <p:cNvGrpSpPr/>
            <p:nvPr/>
          </p:nvGrpSpPr>
          <p:grpSpPr>
            <a:xfrm>
              <a:off x="6453188" y="5359720"/>
              <a:ext cx="200023" cy="200023"/>
              <a:chOff x="6453188" y="5359720"/>
              <a:chExt cx="200023" cy="200023"/>
            </a:xfrm>
          </p:grpSpPr>
          <p:sp>
            <p:nvSpPr>
              <p:cNvPr id="32" name="Freeform 32"/>
              <p:cNvSpPr/>
              <p:nvPr/>
            </p:nvSpPr>
            <p:spPr>
              <a:xfrm>
                <a:off x="6453188" y="535972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33" name="Freeform 33"/>
              <p:cNvSpPr/>
              <p:nvPr/>
            </p:nvSpPr>
            <p:spPr>
              <a:xfrm>
                <a:off x="6586538" y="542639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35" name="TextBox 35"/>
            <p:cNvSpPr txBox="1"/>
            <p:nvPr/>
          </p:nvSpPr>
          <p:spPr>
            <a:xfrm>
              <a:off x="6755130" y="5216842"/>
              <a:ext cx="405384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推论：Var[E(X|Y)] ≤ Var(X)。3.4 分层抽样和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3.5.3 条件期望法都靠这个不等式降低方差。</a:t>
              </a:r>
            </a:p>
          </p:txBody>
        </p:sp>
      </p:grpSp>
      <p:grpSp>
        <p:nvGrpSpPr>
          <p:cNvPr id="3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37" name="TextBox 37"/>
            <p:cNvSpPr txBox="1"/>
            <p:nvPr/>
          </p:nvSpPr>
          <p:spPr>
            <a:xfrm>
              <a:off x="528447" y="6581299"/>
              <a:ext cx="198882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统计计算 · 第3章 随机模拟（上）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9020728" cy="909257"/>
            <a:chOff x="520446" y="342900"/>
            <a:chExt cx="902072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989898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9634" y="407194"/>
              <a:ext cx="289838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第3章 随机模拟（上） · 3.2 随机模拟积分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902072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3.2.1 随机投点法：把积分看成面积，数落在曲线下方的点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formula70"/>
              <p:cNvSpPr txBox="1">
                <a:spLocks noGrp="1"/>
              </p:cNvSpPr>
              <p:nvPr/>
            </p:nvSpPr>
            <p:spPr>
              <a:xfrm>
                <a:off x="533400" y="1524000"/>
                <a:ext cx="4977765" cy="6134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zh-CN" sz="17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I</m:t>
                      </m:r>
                      <m:r>
                        <m:rPr>
                          <m:sty m:val="p"/>
                        </m:rPr>
                        <a:rPr lang="zh-CN" sz="17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nary>
                        <m:naryPr>
                          <m:chr m:val="∫"/>
                          <m:limLoc m:val="subSup"/>
                          <m:grow m:val="off"/>
                          <m:subHide m:val="off"/>
                          <m:supHide m:val="off"/>
                          <m:ctrlP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naryPr>
                        <m:sub>
                          <m: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a</m:t>
                          </m:r>
                        </m:sub>
                        <m:sup>
                          <m: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b</m:t>
                          </m:r>
                        </m:sup>
                        <m:e>
                          <m: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h</m:t>
                          </m:r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7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a:rPr lang="zh-CN" sz="17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x</m:t>
                              </m:r>
                            </m:e>
                          </m:d>
                          <m: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 xml:space="preserve"> </m:t>
                          </m:r>
                          <m: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dx</m:t>
                          </m:r>
                        </m:e>
                      </m:nary>
                      <m:r>
                        <m:rPr>
                          <m:sty m:val="p"/>
                        </m:rPr>
                        <a:rPr lang="zh-CN" sz="17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,</m:t>
                      </m:r>
                      <m:r>
                        <a:rPr lang="zh-CN" sz="17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 xml:space="preserve">  </m:t>
                      </m:r>
                      <m:r>
                        <a:rPr lang="zh-CN" sz="17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0</m:t>
                      </m:r>
                      <m:r>
                        <m:rPr>
                          <m:sty m:val="p"/>
                        </m:rPr>
                        <a:rPr lang="zh-CN" sz="17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≤</m:t>
                      </m:r>
                      <m:r>
                        <a:rPr lang="zh-CN" sz="17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h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x</m:t>
                          </m:r>
                        </m:e>
                      </m:d>
                      <m:r>
                        <m:rPr>
                          <m:sty m:val="p"/>
                        </m:rPr>
                        <a:rPr lang="zh-CN" sz="17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≤</m:t>
                      </m:r>
                      <m:r>
                        <a:rPr lang="zh-CN" sz="17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M</m:t>
                      </m:r>
                    </m:oMath>
                  </m:oMathPara>
                </a14:m>
              </a:p>
            </p:txBody>
          </p:sp>
        </mc:Choice>
      </mc:AlternateContent>
      <p:grpSp>
        <p:nvGrpSpPr>
          <p:cNvPr id="96" name="c1-graph-2"/>
          <p:cNvGrpSpPr/>
          <p:nvPr/>
        </p:nvGrpSpPr>
        <p:grpSpPr>
          <a:xfrm>
            <a:off x="684848" y="2445068"/>
            <a:ext cx="4727257" cy="3313461"/>
            <a:chOff x="684848" y="2445068"/>
            <a:chExt cx="4727257" cy="3313461"/>
          </a:xfrm>
        </p:grpSpPr>
        <p:sp>
          <p:nvSpPr>
            <p:cNvPr id="8" name="Freeform 8"/>
            <p:cNvSpPr/>
            <p:nvPr/>
          </p:nvSpPr>
          <p:spPr>
            <a:xfrm>
              <a:off x="742950" y="5569268"/>
              <a:ext cx="4562475" cy="9525"/>
            </a:xfrm>
            <a:custGeom>
              <a:avLst/>
              <a:gdLst/>
              <a:ahLst/>
              <a:cxnLst/>
              <a:rect l="l" t="t" r="r" b="b"/>
              <a:pathLst>
                <a:path w="4562475" h="9525">
                  <a:moveTo>
                    <a:pt x="0" y="0"/>
                  </a:moveTo>
                  <a:lnTo>
                    <a:pt x="4562475" y="0"/>
                  </a:lnTo>
                </a:path>
              </a:pathLst>
            </a:custGeom>
            <a:noFill/>
            <a:ln w="17145">
              <a:solidFill>
                <a:srgbClr val="5B6475"/>
              </a:solidFill>
            </a:ln>
          </p:spPr>
        </p:sp>
        <p:sp>
          <p:nvSpPr>
            <p:cNvPr id="9" name="Freeform 9"/>
            <p:cNvSpPr/>
            <p:nvPr/>
          </p:nvSpPr>
          <p:spPr>
            <a:xfrm>
              <a:off x="5305425" y="5521642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0" name="Freeform 10"/>
            <p:cNvSpPr/>
            <p:nvPr/>
          </p:nvSpPr>
          <p:spPr>
            <a:xfrm>
              <a:off x="732472" y="2551748"/>
              <a:ext cx="9525" cy="3007043"/>
            </a:xfrm>
            <a:custGeom>
              <a:avLst/>
              <a:gdLst/>
              <a:ahLst/>
              <a:cxnLst/>
              <a:rect l="l" t="t" r="r" b="b"/>
              <a:pathLst>
                <a:path w="9525" h="3007043">
                  <a:moveTo>
                    <a:pt x="0" y="3007043"/>
                  </a:move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5B6475"/>
              </a:solidFill>
            </a:ln>
          </p:spPr>
        </p:sp>
        <p:sp>
          <p:nvSpPr>
            <p:cNvPr id="11" name="Freeform 11"/>
            <p:cNvSpPr/>
            <p:nvPr/>
          </p:nvSpPr>
          <p:spPr>
            <a:xfrm>
              <a:off x="684848" y="2456498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0"/>
                  </a:moveTo>
                  <a:lnTo>
                    <a:pt x="95250" y="95250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2" name="Freeform 12"/>
            <p:cNvSpPr/>
            <p:nvPr/>
          </p:nvSpPr>
          <p:spPr>
            <a:xfrm>
              <a:off x="1031558" y="2511742"/>
              <a:ext cx="4081462" cy="2838450"/>
            </a:xfrm>
            <a:custGeom>
              <a:avLst/>
              <a:gdLst/>
              <a:ahLst/>
              <a:cxnLst/>
              <a:rect l="l" t="t" r="r" b="b"/>
              <a:pathLst>
                <a:path w="4081462" h="2838450">
                  <a:moveTo>
                    <a:pt x="0" y="2838450"/>
                  </a:moveTo>
                  <a:lnTo>
                    <a:pt x="0" y="0"/>
                  </a:lnTo>
                  <a:lnTo>
                    <a:pt x="4081462" y="0"/>
                  </a:lnTo>
                  <a:lnTo>
                    <a:pt x="4081462" y="2838450"/>
                  </a:lnTo>
                </a:path>
              </a:pathLst>
            </a:custGeom>
            <a:noFill/>
            <a:ln w="15240">
              <a:solidFill>
                <a:srgbClr val="2E7D4F"/>
              </a:solidFill>
            </a:ln>
          </p:spPr>
        </p:sp>
        <p:sp>
          <p:nvSpPr>
            <p:cNvPr id="13" name="Freeform 13"/>
            <p:cNvSpPr/>
            <p:nvPr/>
          </p:nvSpPr>
          <p:spPr>
            <a:xfrm>
              <a:off x="1033462" y="2724150"/>
              <a:ext cx="4069080" cy="2635568"/>
            </a:xfrm>
            <a:custGeom>
              <a:avLst/>
              <a:gdLst/>
              <a:ahLst/>
              <a:cxnLst/>
              <a:rect l="l" t="t" r="r" b="b"/>
              <a:pathLst>
                <a:path w="4069080" h="2635568">
                  <a:moveTo>
                    <a:pt x="0" y="2626043"/>
                  </a:moveTo>
                  <a:lnTo>
                    <a:pt x="101918" y="2213610"/>
                  </a:lnTo>
                  <a:lnTo>
                    <a:pt x="201930" y="1835468"/>
                  </a:lnTo>
                  <a:lnTo>
                    <a:pt x="300990" y="1495425"/>
                  </a:lnTo>
                  <a:lnTo>
                    <a:pt x="405765" y="1193482"/>
                  </a:lnTo>
                  <a:lnTo>
                    <a:pt x="505777" y="932497"/>
                  </a:lnTo>
                  <a:lnTo>
                    <a:pt x="609600" y="707708"/>
                  </a:lnTo>
                  <a:lnTo>
                    <a:pt x="714375" y="516255"/>
                  </a:lnTo>
                  <a:lnTo>
                    <a:pt x="814388" y="357188"/>
                  </a:lnTo>
                  <a:lnTo>
                    <a:pt x="913448" y="232410"/>
                  </a:lnTo>
                  <a:lnTo>
                    <a:pt x="1018222" y="135255"/>
                  </a:lnTo>
                  <a:lnTo>
                    <a:pt x="1117282" y="61912"/>
                  </a:lnTo>
                  <a:lnTo>
                    <a:pt x="1222058" y="20003"/>
                  </a:lnTo>
                  <a:lnTo>
                    <a:pt x="1326832" y="0"/>
                  </a:lnTo>
                  <a:lnTo>
                    <a:pt x="1425892" y="2858"/>
                  </a:lnTo>
                  <a:lnTo>
                    <a:pt x="1530668" y="30480"/>
                  </a:lnTo>
                  <a:lnTo>
                    <a:pt x="1630680" y="72390"/>
                  </a:lnTo>
                  <a:lnTo>
                    <a:pt x="1734503" y="135255"/>
                  </a:lnTo>
                  <a:lnTo>
                    <a:pt x="1834515" y="214312"/>
                  </a:lnTo>
                  <a:lnTo>
                    <a:pt x="1933575" y="304800"/>
                  </a:lnTo>
                  <a:lnTo>
                    <a:pt x="2038350" y="412433"/>
                  </a:lnTo>
                  <a:lnTo>
                    <a:pt x="2143125" y="526733"/>
                  </a:lnTo>
                  <a:lnTo>
                    <a:pt x="2242185" y="655320"/>
                  </a:lnTo>
                  <a:lnTo>
                    <a:pt x="2342198" y="786765"/>
                  </a:lnTo>
                  <a:lnTo>
                    <a:pt x="2446972" y="929640"/>
                  </a:lnTo>
                  <a:lnTo>
                    <a:pt x="2546032" y="1071562"/>
                  </a:lnTo>
                  <a:lnTo>
                    <a:pt x="2650808" y="1221105"/>
                  </a:lnTo>
                  <a:lnTo>
                    <a:pt x="2749868" y="1366838"/>
                  </a:lnTo>
                  <a:lnTo>
                    <a:pt x="2854642" y="1515428"/>
                  </a:lnTo>
                  <a:lnTo>
                    <a:pt x="2954655" y="1661160"/>
                  </a:lnTo>
                  <a:lnTo>
                    <a:pt x="3058478" y="1804035"/>
                  </a:lnTo>
                  <a:lnTo>
                    <a:pt x="3163252" y="1939290"/>
                  </a:lnTo>
                  <a:lnTo>
                    <a:pt x="3263265" y="2067878"/>
                  </a:lnTo>
                  <a:lnTo>
                    <a:pt x="3362325" y="2185035"/>
                  </a:lnTo>
                  <a:lnTo>
                    <a:pt x="3467100" y="2296478"/>
                  </a:lnTo>
                  <a:lnTo>
                    <a:pt x="3571875" y="2393632"/>
                  </a:lnTo>
                  <a:lnTo>
                    <a:pt x="3670935" y="2476500"/>
                  </a:lnTo>
                  <a:lnTo>
                    <a:pt x="3775710" y="2543175"/>
                  </a:lnTo>
                  <a:lnTo>
                    <a:pt x="3874770" y="2594610"/>
                  </a:lnTo>
                  <a:lnTo>
                    <a:pt x="3979545" y="2626043"/>
                  </a:lnTo>
                  <a:lnTo>
                    <a:pt x="4069080" y="2635568"/>
                  </a:lnTo>
                </a:path>
              </a:pathLst>
            </a:custGeom>
            <a:noFill/>
            <a:ln w="22860">
              <a:solidFill>
                <a:srgbClr val="F26B3A"/>
              </a:solidFill>
            </a:ln>
          </p:spPr>
        </p:sp>
        <p:sp>
          <p:nvSpPr>
            <p:cNvPr id="14" name="Ellipse 14"/>
            <p:cNvSpPr/>
            <p:nvPr/>
          </p:nvSpPr>
          <p:spPr>
            <a:xfrm>
              <a:off x="731520" y="5568315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5" name="Ellipse 15"/>
            <p:cNvSpPr/>
            <p:nvPr/>
          </p:nvSpPr>
          <p:spPr>
            <a:xfrm>
              <a:off x="5410200" y="5568315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6" name="Ellipse 16"/>
            <p:cNvSpPr/>
            <p:nvPr/>
          </p:nvSpPr>
          <p:spPr>
            <a:xfrm>
              <a:off x="731520" y="2445068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7" name="Ellipse 17"/>
            <p:cNvSpPr/>
            <p:nvPr/>
          </p:nvSpPr>
          <p:spPr>
            <a:xfrm>
              <a:off x="1030605" y="5359717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8" name="Ellipse 18"/>
            <p:cNvSpPr/>
            <p:nvPr/>
          </p:nvSpPr>
          <p:spPr>
            <a:xfrm>
              <a:off x="5112067" y="5359717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9" name="Ellipse 19"/>
            <p:cNvSpPr/>
            <p:nvPr/>
          </p:nvSpPr>
          <p:spPr>
            <a:xfrm>
              <a:off x="1030605" y="5359717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20" name="Ellipse 20"/>
            <p:cNvSpPr/>
            <p:nvPr/>
          </p:nvSpPr>
          <p:spPr>
            <a:xfrm>
              <a:off x="5112067" y="5359717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21" name="Ellipse 21"/>
            <p:cNvSpPr/>
            <p:nvPr/>
          </p:nvSpPr>
          <p:spPr>
            <a:xfrm>
              <a:off x="2325052" y="4899660"/>
              <a:ext cx="60960" cy="6096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22" name="Ellipse 22"/>
            <p:cNvSpPr/>
            <p:nvPr/>
          </p:nvSpPr>
          <p:spPr>
            <a:xfrm>
              <a:off x="3658552" y="5125402"/>
              <a:ext cx="60960" cy="6096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23" name="Ellipse 23"/>
            <p:cNvSpPr/>
            <p:nvPr/>
          </p:nvSpPr>
          <p:spPr>
            <a:xfrm>
              <a:off x="3186112" y="4289108"/>
              <a:ext cx="60960" cy="6096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24" name="Ellipse 24"/>
            <p:cNvSpPr/>
            <p:nvPr/>
          </p:nvSpPr>
          <p:spPr>
            <a:xfrm>
              <a:off x="1243012" y="3887152"/>
              <a:ext cx="53340" cy="53340"/>
            </a:xfrm>
            <a:prstGeom prst="ellipse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5" name="Ellipse 25"/>
            <p:cNvSpPr/>
            <p:nvPr/>
          </p:nvSpPr>
          <p:spPr>
            <a:xfrm>
              <a:off x="1159192" y="4098608"/>
              <a:ext cx="53340" cy="53340"/>
            </a:xfrm>
            <a:prstGeom prst="ellipse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6" name="Ellipse 26"/>
            <p:cNvSpPr/>
            <p:nvPr/>
          </p:nvSpPr>
          <p:spPr>
            <a:xfrm>
              <a:off x="1283970" y="5073015"/>
              <a:ext cx="60960" cy="6096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27" name="Ellipse 27"/>
            <p:cNvSpPr/>
            <p:nvPr/>
          </p:nvSpPr>
          <p:spPr>
            <a:xfrm>
              <a:off x="2732723" y="2974658"/>
              <a:ext cx="60960" cy="6096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28" name="Ellipse 28"/>
            <p:cNvSpPr/>
            <p:nvPr/>
          </p:nvSpPr>
          <p:spPr>
            <a:xfrm>
              <a:off x="1508760" y="4694872"/>
              <a:ext cx="60960" cy="6096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29" name="Ellipse 29"/>
            <p:cNvSpPr/>
            <p:nvPr/>
          </p:nvSpPr>
          <p:spPr>
            <a:xfrm>
              <a:off x="3563302" y="2634615"/>
              <a:ext cx="53340" cy="53340"/>
            </a:xfrm>
            <a:prstGeom prst="ellipse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0" name="Ellipse 30"/>
            <p:cNvSpPr/>
            <p:nvPr/>
          </p:nvSpPr>
          <p:spPr>
            <a:xfrm>
              <a:off x="3354705" y="4198620"/>
              <a:ext cx="60960" cy="6096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31" name="Ellipse 31"/>
            <p:cNvSpPr/>
            <p:nvPr/>
          </p:nvSpPr>
          <p:spPr>
            <a:xfrm>
              <a:off x="4991100" y="5202555"/>
              <a:ext cx="53340" cy="53340"/>
            </a:xfrm>
            <a:prstGeom prst="ellipse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2" name="Ellipse 32"/>
            <p:cNvSpPr/>
            <p:nvPr/>
          </p:nvSpPr>
          <p:spPr>
            <a:xfrm>
              <a:off x="4508182" y="4508182"/>
              <a:ext cx="53340" cy="53340"/>
            </a:xfrm>
            <a:prstGeom prst="ellipse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3" name="Ellipse 33"/>
            <p:cNvSpPr/>
            <p:nvPr/>
          </p:nvSpPr>
          <p:spPr>
            <a:xfrm>
              <a:off x="1587818" y="4993958"/>
              <a:ext cx="60960" cy="6096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34" name="Ellipse 34"/>
            <p:cNvSpPr/>
            <p:nvPr/>
          </p:nvSpPr>
          <p:spPr>
            <a:xfrm>
              <a:off x="2260282" y="3005138"/>
              <a:ext cx="60960" cy="6096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35" name="Ellipse 35"/>
            <p:cNvSpPr/>
            <p:nvPr/>
          </p:nvSpPr>
          <p:spPr>
            <a:xfrm>
              <a:off x="1737360" y="3674745"/>
              <a:ext cx="60960" cy="6096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36" name="Ellipse 36"/>
            <p:cNvSpPr/>
            <p:nvPr/>
          </p:nvSpPr>
          <p:spPr>
            <a:xfrm>
              <a:off x="3609023" y="4268152"/>
              <a:ext cx="60960" cy="6096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37" name="Ellipse 37"/>
            <p:cNvSpPr/>
            <p:nvPr/>
          </p:nvSpPr>
          <p:spPr>
            <a:xfrm>
              <a:off x="3235642" y="5150167"/>
              <a:ext cx="60960" cy="6096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38" name="Ellipse 38"/>
            <p:cNvSpPr/>
            <p:nvPr/>
          </p:nvSpPr>
          <p:spPr>
            <a:xfrm>
              <a:off x="1244918" y="4743450"/>
              <a:ext cx="60960" cy="6096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39" name="Ellipse 39"/>
            <p:cNvSpPr/>
            <p:nvPr/>
          </p:nvSpPr>
          <p:spPr>
            <a:xfrm>
              <a:off x="3777615" y="4111942"/>
              <a:ext cx="60960" cy="6096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40" name="Ellipse 40"/>
            <p:cNvSpPr/>
            <p:nvPr/>
          </p:nvSpPr>
          <p:spPr>
            <a:xfrm>
              <a:off x="2285048" y="3661410"/>
              <a:ext cx="60960" cy="6096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41" name="Ellipse 41"/>
            <p:cNvSpPr/>
            <p:nvPr/>
          </p:nvSpPr>
          <p:spPr>
            <a:xfrm>
              <a:off x="2851785" y="4476750"/>
              <a:ext cx="60960" cy="6096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42" name="Ellipse 42"/>
            <p:cNvSpPr/>
            <p:nvPr/>
          </p:nvSpPr>
          <p:spPr>
            <a:xfrm>
              <a:off x="4244340" y="3342322"/>
              <a:ext cx="53340" cy="53340"/>
            </a:xfrm>
            <a:prstGeom prst="ellipse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3" name="Ellipse 43"/>
            <p:cNvSpPr/>
            <p:nvPr/>
          </p:nvSpPr>
          <p:spPr>
            <a:xfrm>
              <a:off x="1996440" y="3695700"/>
              <a:ext cx="60960" cy="6096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44" name="Ellipse 44"/>
            <p:cNvSpPr/>
            <p:nvPr/>
          </p:nvSpPr>
          <p:spPr>
            <a:xfrm>
              <a:off x="3149918" y="2843212"/>
              <a:ext cx="53340" cy="53340"/>
            </a:xfrm>
            <a:prstGeom prst="ellipse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5" name="Ellipse 45"/>
            <p:cNvSpPr/>
            <p:nvPr/>
          </p:nvSpPr>
          <p:spPr>
            <a:xfrm>
              <a:off x="3976688" y="4511040"/>
              <a:ext cx="60960" cy="6096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46" name="Ellipse 46"/>
            <p:cNvSpPr/>
            <p:nvPr/>
          </p:nvSpPr>
          <p:spPr>
            <a:xfrm>
              <a:off x="5006340" y="4997768"/>
              <a:ext cx="53340" cy="53340"/>
            </a:xfrm>
            <a:prstGeom prst="ellipse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7" name="Ellipse 47"/>
            <p:cNvSpPr/>
            <p:nvPr/>
          </p:nvSpPr>
          <p:spPr>
            <a:xfrm>
              <a:off x="2707958" y="3175635"/>
              <a:ext cx="60960" cy="6096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48" name="Ellipse 48"/>
            <p:cNvSpPr/>
            <p:nvPr/>
          </p:nvSpPr>
          <p:spPr>
            <a:xfrm>
              <a:off x="1623060" y="3938588"/>
              <a:ext cx="60960" cy="6096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49" name="Ellipse 49"/>
            <p:cNvSpPr/>
            <p:nvPr/>
          </p:nvSpPr>
          <p:spPr>
            <a:xfrm>
              <a:off x="1163955" y="3432810"/>
              <a:ext cx="53340" cy="53340"/>
            </a:xfrm>
            <a:prstGeom prst="ellipse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0" name="Ellipse 50"/>
            <p:cNvSpPr/>
            <p:nvPr/>
          </p:nvSpPr>
          <p:spPr>
            <a:xfrm>
              <a:off x="4125277" y="3703320"/>
              <a:ext cx="53340" cy="53340"/>
            </a:xfrm>
            <a:prstGeom prst="ellipse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1" name="Ellipse 51"/>
            <p:cNvSpPr/>
            <p:nvPr/>
          </p:nvSpPr>
          <p:spPr>
            <a:xfrm>
              <a:off x="4578668" y="4438650"/>
              <a:ext cx="53340" cy="53340"/>
            </a:xfrm>
            <a:prstGeom prst="ellipse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2" name="Ellipse 52"/>
            <p:cNvSpPr/>
            <p:nvPr/>
          </p:nvSpPr>
          <p:spPr>
            <a:xfrm>
              <a:off x="3841432" y="3640455"/>
              <a:ext cx="53340" cy="53340"/>
            </a:xfrm>
            <a:prstGeom prst="ellipse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3" name="Ellipse 53"/>
            <p:cNvSpPr/>
            <p:nvPr/>
          </p:nvSpPr>
          <p:spPr>
            <a:xfrm>
              <a:off x="3369945" y="4032885"/>
              <a:ext cx="60960" cy="6096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54" name="Ellipse 54"/>
            <p:cNvSpPr/>
            <p:nvPr/>
          </p:nvSpPr>
          <p:spPr>
            <a:xfrm>
              <a:off x="4433888" y="2645092"/>
              <a:ext cx="53340" cy="53340"/>
            </a:xfrm>
            <a:prstGeom prst="ellipse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5" name="Ellipse 55"/>
            <p:cNvSpPr/>
            <p:nvPr/>
          </p:nvSpPr>
          <p:spPr>
            <a:xfrm>
              <a:off x="2936558" y="3439478"/>
              <a:ext cx="60960" cy="6096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56" name="Ellipse 56"/>
            <p:cNvSpPr/>
            <p:nvPr/>
          </p:nvSpPr>
          <p:spPr>
            <a:xfrm>
              <a:off x="1253490" y="3335655"/>
              <a:ext cx="53340" cy="53340"/>
            </a:xfrm>
            <a:prstGeom prst="ellipse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7" name="Ellipse 57"/>
            <p:cNvSpPr/>
            <p:nvPr/>
          </p:nvSpPr>
          <p:spPr>
            <a:xfrm>
              <a:off x="3647122" y="2506027"/>
              <a:ext cx="53340" cy="53340"/>
            </a:xfrm>
            <a:prstGeom prst="ellipse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8" name="Ellipse 58"/>
            <p:cNvSpPr/>
            <p:nvPr/>
          </p:nvSpPr>
          <p:spPr>
            <a:xfrm>
              <a:off x="4359592" y="4522470"/>
              <a:ext cx="53340" cy="53340"/>
            </a:xfrm>
            <a:prstGeom prst="ellipse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9" name="Ellipse 59"/>
            <p:cNvSpPr/>
            <p:nvPr/>
          </p:nvSpPr>
          <p:spPr>
            <a:xfrm>
              <a:off x="2573655" y="3425190"/>
              <a:ext cx="60960" cy="6096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60" name="Ellipse 60"/>
            <p:cNvSpPr/>
            <p:nvPr/>
          </p:nvSpPr>
          <p:spPr>
            <a:xfrm>
              <a:off x="1099185" y="4018598"/>
              <a:ext cx="53340" cy="53340"/>
            </a:xfrm>
            <a:prstGeom prst="ellipse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1" name="Ellipse 61"/>
            <p:cNvSpPr/>
            <p:nvPr/>
          </p:nvSpPr>
          <p:spPr>
            <a:xfrm>
              <a:off x="1687830" y="4996815"/>
              <a:ext cx="60960" cy="6096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62" name="Ellipse 62"/>
            <p:cNvSpPr/>
            <p:nvPr/>
          </p:nvSpPr>
          <p:spPr>
            <a:xfrm>
              <a:off x="1243012" y="3144202"/>
              <a:ext cx="53340" cy="53340"/>
            </a:xfrm>
            <a:prstGeom prst="ellipse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3" name="Ellipse 63"/>
            <p:cNvSpPr/>
            <p:nvPr/>
          </p:nvSpPr>
          <p:spPr>
            <a:xfrm>
              <a:off x="1527810" y="4626292"/>
              <a:ext cx="60960" cy="6096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64" name="Ellipse 64"/>
            <p:cNvSpPr/>
            <p:nvPr/>
          </p:nvSpPr>
          <p:spPr>
            <a:xfrm>
              <a:off x="2598420" y="2848928"/>
              <a:ext cx="60960" cy="6096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65" name="Ellipse 65"/>
            <p:cNvSpPr/>
            <p:nvPr/>
          </p:nvSpPr>
          <p:spPr>
            <a:xfrm>
              <a:off x="1332547" y="4053840"/>
              <a:ext cx="53340" cy="53340"/>
            </a:xfrm>
            <a:prstGeom prst="ellipse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6" name="Ellipse 66"/>
            <p:cNvSpPr/>
            <p:nvPr/>
          </p:nvSpPr>
          <p:spPr>
            <a:xfrm>
              <a:off x="3248977" y="2818448"/>
              <a:ext cx="53340" cy="53340"/>
            </a:xfrm>
            <a:prstGeom prst="ellipse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7" name="Ellipse 67"/>
            <p:cNvSpPr/>
            <p:nvPr/>
          </p:nvSpPr>
          <p:spPr>
            <a:xfrm>
              <a:off x="4349115" y="2873692"/>
              <a:ext cx="53340" cy="53340"/>
            </a:xfrm>
            <a:prstGeom prst="ellipse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8" name="Ellipse 68"/>
            <p:cNvSpPr/>
            <p:nvPr/>
          </p:nvSpPr>
          <p:spPr>
            <a:xfrm>
              <a:off x="2135505" y="4147185"/>
              <a:ext cx="60960" cy="6096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69" name="Ellipse 69"/>
            <p:cNvSpPr/>
            <p:nvPr/>
          </p:nvSpPr>
          <p:spPr>
            <a:xfrm>
              <a:off x="2464118" y="2810828"/>
              <a:ext cx="60960" cy="6096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70" name="Ellipse 70"/>
            <p:cNvSpPr/>
            <p:nvPr/>
          </p:nvSpPr>
          <p:spPr>
            <a:xfrm>
              <a:off x="4912042" y="4903470"/>
              <a:ext cx="53340" cy="53340"/>
            </a:xfrm>
            <a:prstGeom prst="ellipse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1" name="Ellipse 71"/>
            <p:cNvSpPr/>
            <p:nvPr/>
          </p:nvSpPr>
          <p:spPr>
            <a:xfrm>
              <a:off x="1717358" y="4671060"/>
              <a:ext cx="60960" cy="6096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72" name="Ellipse 72"/>
            <p:cNvSpPr/>
            <p:nvPr/>
          </p:nvSpPr>
          <p:spPr>
            <a:xfrm>
              <a:off x="1951672" y="3949065"/>
              <a:ext cx="60960" cy="6096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73" name="Ellipse 73"/>
            <p:cNvSpPr/>
            <p:nvPr/>
          </p:nvSpPr>
          <p:spPr>
            <a:xfrm>
              <a:off x="3405188" y="4580572"/>
              <a:ext cx="60960" cy="6096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74" name="Ellipse 74"/>
            <p:cNvSpPr/>
            <p:nvPr/>
          </p:nvSpPr>
          <p:spPr>
            <a:xfrm>
              <a:off x="1019175" y="4140518"/>
              <a:ext cx="53340" cy="53340"/>
            </a:xfrm>
            <a:prstGeom prst="ellipse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5" name="Ellipse 75"/>
            <p:cNvSpPr/>
            <p:nvPr/>
          </p:nvSpPr>
          <p:spPr>
            <a:xfrm>
              <a:off x="2508885" y="3716655"/>
              <a:ext cx="60960" cy="6096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76" name="Ellipse 76"/>
            <p:cNvSpPr/>
            <p:nvPr/>
          </p:nvSpPr>
          <p:spPr>
            <a:xfrm>
              <a:off x="4896802" y="3367088"/>
              <a:ext cx="53340" cy="53340"/>
            </a:xfrm>
            <a:prstGeom prst="ellipse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7" name="Ellipse 77"/>
            <p:cNvSpPr/>
            <p:nvPr/>
          </p:nvSpPr>
          <p:spPr>
            <a:xfrm>
              <a:off x="3106102" y="3570923"/>
              <a:ext cx="60960" cy="6096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78" name="Ellipse 78"/>
            <p:cNvSpPr/>
            <p:nvPr/>
          </p:nvSpPr>
          <p:spPr>
            <a:xfrm>
              <a:off x="3758565" y="5177790"/>
              <a:ext cx="60960" cy="6096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79" name="Ellipse 79"/>
            <p:cNvSpPr/>
            <p:nvPr/>
          </p:nvSpPr>
          <p:spPr>
            <a:xfrm>
              <a:off x="4677728" y="3113722"/>
              <a:ext cx="53340" cy="53340"/>
            </a:xfrm>
            <a:prstGeom prst="ellipse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0" name="Ellipse 80"/>
            <p:cNvSpPr/>
            <p:nvPr/>
          </p:nvSpPr>
          <p:spPr>
            <a:xfrm>
              <a:off x="4572952" y="3061335"/>
              <a:ext cx="53340" cy="53340"/>
            </a:xfrm>
            <a:prstGeom prst="ellipse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1" name="Ellipse 81"/>
            <p:cNvSpPr/>
            <p:nvPr/>
          </p:nvSpPr>
          <p:spPr>
            <a:xfrm>
              <a:off x="2603182" y="4195762"/>
              <a:ext cx="60960" cy="6096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82" name="Ellipse 82"/>
            <p:cNvSpPr/>
            <p:nvPr/>
          </p:nvSpPr>
          <p:spPr>
            <a:xfrm>
              <a:off x="1427797" y="3526155"/>
              <a:ext cx="53340" cy="53340"/>
            </a:xfrm>
            <a:prstGeom prst="ellipse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3" name="Ellipse 83"/>
            <p:cNvSpPr/>
            <p:nvPr/>
          </p:nvSpPr>
          <p:spPr>
            <a:xfrm>
              <a:off x="1254443" y="5139690"/>
              <a:ext cx="60960" cy="6096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84" name="Ellipse 84"/>
            <p:cNvSpPr/>
            <p:nvPr/>
          </p:nvSpPr>
          <p:spPr>
            <a:xfrm>
              <a:off x="1851660" y="4868228"/>
              <a:ext cx="60960" cy="6096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85" name="Ellipse 85"/>
            <p:cNvSpPr/>
            <p:nvPr/>
          </p:nvSpPr>
          <p:spPr>
            <a:xfrm>
              <a:off x="2389822" y="5180648"/>
              <a:ext cx="60960" cy="6096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86" name="Ellipse 86"/>
            <p:cNvSpPr/>
            <p:nvPr/>
          </p:nvSpPr>
          <p:spPr>
            <a:xfrm>
              <a:off x="1004888" y="4903470"/>
              <a:ext cx="53340" cy="53340"/>
            </a:xfrm>
            <a:prstGeom prst="ellipse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7" name="Ellipse 87"/>
            <p:cNvSpPr/>
            <p:nvPr/>
          </p:nvSpPr>
          <p:spPr>
            <a:xfrm>
              <a:off x="1413510" y="4295775"/>
              <a:ext cx="60960" cy="6096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88" name="Ellipse 88"/>
            <p:cNvSpPr/>
            <p:nvPr/>
          </p:nvSpPr>
          <p:spPr>
            <a:xfrm>
              <a:off x="1108710" y="2843212"/>
              <a:ext cx="53340" cy="53340"/>
            </a:xfrm>
            <a:prstGeom prst="ellipse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9" name="Ellipse 89"/>
            <p:cNvSpPr/>
            <p:nvPr/>
          </p:nvSpPr>
          <p:spPr>
            <a:xfrm>
              <a:off x="3509010" y="4907280"/>
              <a:ext cx="60960" cy="6096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90" name="Ellipse 90"/>
            <p:cNvSpPr/>
            <p:nvPr/>
          </p:nvSpPr>
          <p:spPr>
            <a:xfrm>
              <a:off x="2030730" y="4341495"/>
              <a:ext cx="60960" cy="6096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91" name="TextBox 91"/>
            <p:cNvSpPr txBox="1"/>
            <p:nvPr/>
          </p:nvSpPr>
          <p:spPr>
            <a:xfrm>
              <a:off x="990324" y="556783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92" name="TextBox 92"/>
            <p:cNvSpPr txBox="1"/>
            <p:nvPr/>
          </p:nvSpPr>
          <p:spPr>
            <a:xfrm>
              <a:off x="5071787" y="556783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93" name="TextBox 93"/>
            <p:cNvSpPr txBox="1"/>
            <p:nvPr/>
          </p:nvSpPr>
          <p:spPr>
            <a:xfrm>
              <a:off x="824789" y="2476024"/>
              <a:ext cx="11445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</a:t>
              </a:r>
            </a:p>
          </p:txBody>
        </p:sp>
        <p:sp>
          <p:nvSpPr>
            <p:cNvPr id="94" name="TextBox 94"/>
            <p:cNvSpPr txBox="1"/>
            <p:nvPr/>
          </p:nvSpPr>
          <p:spPr>
            <a:xfrm>
              <a:off x="3549966" y="3929062"/>
              <a:ext cx="33718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h(x)</a:t>
              </a:r>
            </a:p>
          </p:txBody>
        </p:sp>
        <p:sp>
          <p:nvSpPr>
            <p:cNvPr id="95" name="TextBox 95"/>
            <p:cNvSpPr txBox="1"/>
            <p:nvPr/>
          </p:nvSpPr>
          <p:spPr>
            <a:xfrm>
              <a:off x="1821995" y="4398645"/>
              <a:ext cx="1107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23613D"/>
                  </a:solidFill>
                  <a:latin typeface="+mn-lt"/>
                  <a:ea typeface="+mn-ea"/>
                  <a:cs typeface="+mn-cs"/>
                </a:rPr>
                <a:t>D</a:t>
              </a:r>
            </a:p>
          </p:txBody>
        </p:sp>
      </p:grpSp>
      <p:grpSp>
        <p:nvGrpSpPr>
          <p:cNvPr id="98" name="c1-text-3"/>
          <p:cNvGrpSpPr/>
          <p:nvPr/>
        </p:nvGrpSpPr>
        <p:grpSpPr>
          <a:xfrm>
            <a:off x="527685" y="5965031"/>
            <a:ext cx="4456430" cy="441008"/>
            <a:chOff x="527685" y="5965031"/>
            <a:chExt cx="4456430" cy="441008"/>
          </a:xfrm>
        </p:grpSpPr>
        <p:sp>
          <p:nvSpPr>
            <p:cNvPr id="97" name="TextBox 97"/>
            <p:cNvSpPr txBox="1"/>
            <p:nvPr/>
          </p:nvSpPr>
          <p:spPr>
            <a:xfrm>
              <a:off x="527685" y="5965031"/>
              <a:ext cx="4456430" cy="4410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40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 = {(x, y): 0 ≤ y ≤ h(x), a ≤ x ≤ b} 是曲线下方区域。绿色点落在 D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内（ξᵢ = 1），灰色点落在 D 外。</a:t>
              </a:r>
            </a:p>
          </p:txBody>
        </p:sp>
      </p:grpSp>
      <p:grpSp>
        <p:nvGrpSpPr>
          <p:cNvPr id="100" name="c2-text-1"/>
          <p:cNvGrpSpPr/>
          <p:nvPr/>
        </p:nvGrpSpPr>
        <p:grpSpPr>
          <a:xfrm>
            <a:off x="5809107" y="1545907"/>
            <a:ext cx="5354384" cy="529780"/>
            <a:chOff x="5809107" y="1545907"/>
            <a:chExt cx="5354384" cy="529780"/>
          </a:xfrm>
        </p:grpSpPr>
        <p:sp>
          <p:nvSpPr>
            <p:cNvPr id="99" name="TextBox 99"/>
            <p:cNvSpPr txBox="1"/>
            <p:nvPr/>
          </p:nvSpPr>
          <p:spPr>
            <a:xfrm>
              <a:off x="5809107" y="1545907"/>
              <a:ext cx="5354384" cy="5297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92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在 G = [a, b]×(0, M) 上均匀抽样 N 次，得随机点 Zᵢ = (Xᵢ, Yᵢ)，i =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1, …, N。令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01" name="formula71"/>
              <p:cNvSpPr txBox="1">
                <a:spLocks noGrp="1"/>
              </p:cNvSpPr>
              <p:nvPr/>
            </p:nvSpPr>
            <p:spPr>
              <a:xfrm>
                <a:off x="5815965" y="2192655"/>
                <a:ext cx="5842635" cy="83248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sSub>
                        <m:e>
                          <m: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ξ</m:t>
                          </m:r>
                        </m:e>
                        <m:sub>
                          <m: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i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zh-CN" sz="17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d>
                        <m:dPr>
                          <m:begChr m:val="{"/>
                          <m:sepChr m:val=""/>
                          <m:endChr m:val=""/>
                          <m:grow m:val="on"/>
                          <m:ctrlP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eqArr>
                            <m:eqArrPr>
                              <m:baseJc m:val="center"/>
                            </m:eqArrPr>
                            <m:e>
                              <m:r>
                                <a:rPr lang="zh-CN" sz="17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&amp;</m:t>
                              </m:r>
                              <m:r>
                                <a:rPr lang="zh-CN" sz="17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1</m:t>
                              </m:r>
                              <m:r>
                                <m:rPr>
                                  <m:sty m:val="p"/>
                                </m:rPr>
                                <a:rPr lang="zh-CN" sz="17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,</m:t>
                              </m:r>
                              <m:r>
                                <a:rPr lang="zh-CN" sz="17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 xml:space="preserve"> </m:t>
                              </m:r>
                              <m:sSub>
                                <m:e>
                                  <m:r>
                                    <a:rPr lang="zh-CN" sz="17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Z</m:t>
                                  </m:r>
                                </m:e>
                                <m:sub>
                                  <m:r>
                                    <a:rPr lang="zh-CN" sz="17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i</m:t>
                                  </m:r>
                                </m:sub>
                              </m:sSub>
                              <m:r>
                                <m:rPr>
                                  <m:sty m:val="p"/>
                                </m:rPr>
                                <a:rPr lang="zh-CN" sz="17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∈</m:t>
                              </m:r>
                              <m:r>
                                <a:rPr lang="zh-CN" sz="17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D</m:t>
                              </m:r>
                            </m:e>
                            <m:e>
                              <m:r>
                                <a:rPr lang="zh-CN" sz="17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&amp;</m:t>
                              </m:r>
                              <m:r>
                                <a:rPr lang="zh-CN" sz="17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0</m:t>
                              </m:r>
                              <m:r>
                                <m:rPr>
                                  <m:sty m:val="p"/>
                                </m:rPr>
                                <a:rPr lang="zh-CN" sz="17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,</m:t>
                              </m:r>
                              <m:r>
                                <a:rPr lang="zh-CN" sz="17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 xml:space="preserve"> </m:t>
                              </m:r>
                              <m:r>
                                <m:rPr>
                                  <m:nor m:val="on"/>
                                </m:rPr>
                                <a:rPr lang="zh-CN" sz="17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otherwise</m:t>
                              </m:r>
                            </m:e>
                          </m:eqArr>
                        </m:e>
                      </m:d>
                      <m:r>
                        <a:rPr lang="zh-CN" sz="17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 xml:space="preserve">  </m:t>
                      </m:r>
                      <m:d>
                        <m:dPr>
                          <m:begChr m:val="{"/>
                          <m:sepChr m:val=""/>
                          <m:endChr m:val="}"/>
                          <m:grow m:val="on"/>
                          <m:ctrlP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sSub>
                            <m:e>
                              <m:r>
                                <a:rPr lang="zh-CN" sz="17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ξ</m:t>
                              </m:r>
                            </m:e>
                            <m:sub>
                              <m:r>
                                <a:rPr lang="zh-CN" sz="17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i</m:t>
                              </m:r>
                            </m:sub>
                          </m:sSub>
                        </m:e>
                      </m:d>
                      <m:r>
                        <a:rPr lang="zh-CN" sz="17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 xml:space="preserve"> </m:t>
                      </m:r>
                      <m:r>
                        <m:rPr>
                          <m:nor m:val="on"/>
                        </m:rPr>
                        <a:rPr lang="zh-CN" sz="17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iid</m:t>
                      </m:r>
                      <m:r>
                        <m:rPr>
                          <m:sty m:val="p"/>
                        </m:rPr>
                        <a:rPr lang="zh-CN" sz="17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∼</m:t>
                      </m:r>
                      <m:r>
                        <a:rPr lang="zh-CN" sz="17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b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  <m:r>
                            <m:rPr>
                              <m:sty m:val="p"/>
                            </m:rP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,</m:t>
                          </m:r>
                          <m: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p</m:t>
                          </m:r>
                        </m:e>
                      </m:d>
                    </m:oMath>
                  </m:oMathPara>
                </a14:m>
              </a:p>
            </p:txBody>
          </p:sp>
        </mc:Choice>
      </mc:AlternateContent>
      <p:grpSp>
        <p:nvGrpSpPr>
          <p:cNvPr id="103" name="c2-text-3"/>
          <p:cNvGrpSpPr/>
          <p:nvPr/>
        </p:nvGrpSpPr>
        <p:grpSpPr>
          <a:xfrm>
            <a:off x="5809107" y="3217545"/>
            <a:ext cx="1584198" cy="264033"/>
            <a:chOff x="5809107" y="3217545"/>
            <a:chExt cx="1584198" cy="264033"/>
          </a:xfrm>
        </p:grpSpPr>
        <p:sp>
          <p:nvSpPr>
            <p:cNvPr id="102" name="TextBox 102"/>
            <p:cNvSpPr txBox="1"/>
            <p:nvPr/>
          </p:nvSpPr>
          <p:spPr>
            <a:xfrm>
              <a:off x="5809107" y="3217545"/>
              <a:ext cx="158419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V(·) 表示面积，则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04" name="formula72"/>
              <p:cNvSpPr txBox="1">
                <a:spLocks noGrp="1"/>
              </p:cNvSpPr>
              <p:nvPr/>
            </p:nvSpPr>
            <p:spPr>
              <a:xfrm>
                <a:off x="5815965" y="3598545"/>
                <a:ext cx="5842635" cy="5915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zh-CN" sz="17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p</m:t>
                      </m:r>
                      <m:r>
                        <m:rPr>
                          <m:sty m:val="p"/>
                        </m:rPr>
                        <a:rPr lang="zh-CN" sz="17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r>
                        <a:rPr lang="zh-CN" sz="17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P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sSub>
                            <m:e>
                              <m:r>
                                <a:rPr lang="zh-CN" sz="17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Z</m:t>
                              </m:r>
                            </m:e>
                            <m:sub>
                              <m:r>
                                <a:rPr lang="zh-CN" sz="17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i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∈</m:t>
                          </m:r>
                          <m: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D</m:t>
                          </m:r>
                        </m:e>
                      </m:d>
                      <m:r>
                        <m:rPr>
                          <m:sty m:val="p"/>
                        </m:rPr>
                        <a:rPr lang="zh-CN" sz="17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f>
                        <m:fPr>
                          <m:type m:val="bar"/>
                          <m:ctrlP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V</m:t>
                          </m:r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7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a:rPr lang="zh-CN" sz="17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D</m:t>
                              </m:r>
                            </m:e>
                          </m:d>
                        </m:num>
                        <m:den>
                          <m: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V</m:t>
                          </m:r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7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a:rPr lang="zh-CN" sz="17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G</m:t>
                              </m:r>
                            </m:e>
                          </m:d>
                        </m:den>
                      </m:f>
                      <m:r>
                        <m:rPr>
                          <m:sty m:val="p"/>
                        </m:rPr>
                        <a:rPr lang="zh-CN" sz="17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f>
                        <m:fPr>
                          <m:type m:val="bar"/>
                          <m:ctrlP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I</m:t>
                          </m:r>
                        </m:num>
                        <m:den>
                          <m: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M</m:t>
                          </m:r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7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a:rPr lang="zh-CN" sz="17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b</m:t>
                              </m:r>
                              <m:r>
                                <m:rPr>
                                  <m:sty m:val="p"/>
                                </m:rPr>
                                <a:rPr lang="zh-CN" sz="17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−</m:t>
                              </m:r>
                              <m:r>
                                <a:rPr lang="zh-CN" sz="17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a</m:t>
                              </m:r>
                            </m:e>
                          </m:d>
                        </m:den>
                      </m:f>
                      <m:r>
                        <a:rPr lang="zh-CN" sz="17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 xml:space="preserve">  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11.1</m:t>
                          </m:r>
                        </m:e>
                      </m:d>
                    </m:oMath>
                  </m:oMathPara>
                </a14:m>
              </a:p>
            </p:txBody>
          </p:sp>
        </mc:Choice>
      </mc:AlternateContent>
      <p:grpSp>
        <p:nvGrpSpPr>
          <p:cNvPr id="106" name="c2-text-5"/>
          <p:cNvGrpSpPr/>
          <p:nvPr/>
        </p:nvGrpSpPr>
        <p:grpSpPr>
          <a:xfrm>
            <a:off x="5809107" y="4382452"/>
            <a:ext cx="4581110" cy="264033"/>
            <a:chOff x="5809107" y="4382452"/>
            <a:chExt cx="4581110" cy="264033"/>
          </a:xfrm>
        </p:grpSpPr>
        <p:sp>
          <p:nvSpPr>
            <p:cNvPr id="105" name="TextBox 105"/>
            <p:cNvSpPr txBox="1"/>
            <p:nvPr/>
          </p:nvSpPr>
          <p:spPr>
            <a:xfrm>
              <a:off x="5809107" y="4382452"/>
              <a:ext cx="45811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 N 个点中落入 D 的比例估计 p，再由 I = pM(b − a) 得</a:t>
              </a:r>
            </a:p>
          </p:txBody>
        </p:sp>
      </p:grpSp>
      <p:grpSp>
        <p:nvGrpSpPr>
          <p:cNvPr id="111" name="c2-card-6"/>
          <p:cNvGrpSpPr/>
          <p:nvPr/>
        </p:nvGrpSpPr>
        <p:grpSpPr>
          <a:xfrm>
            <a:off x="5815965" y="4762500"/>
            <a:ext cx="5842635" cy="1435418"/>
            <a:chOff x="5815965" y="4762500"/>
            <a:chExt cx="5842635" cy="1435418"/>
          </a:xfrm>
        </p:grpSpPr>
        <p:sp>
          <p:nvSpPr>
            <p:cNvPr id="107" name="Rectangle 107"/>
            <p:cNvSpPr/>
            <p:nvPr/>
          </p:nvSpPr>
          <p:spPr>
            <a:xfrm>
              <a:off x="5815965" y="4762500"/>
              <a:ext cx="5842635" cy="1435418"/>
            </a:xfrm>
            <a:prstGeom prst="roundRect">
              <a:avLst>
                <a:gd name="adj" fmla="val 9290"/>
              </a:avLst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08" name="Rectangle 108"/>
            <p:cNvSpPr/>
            <p:nvPr/>
          </p:nvSpPr>
          <p:spPr>
            <a:xfrm>
              <a:off x="6002655" y="4949190"/>
              <a:ext cx="1617345" cy="238125"/>
            </a:xfrm>
            <a:prstGeom prst="roundRect">
              <a:avLst>
                <a:gd name="adj" fmla="val 50000"/>
              </a:avLst>
            </a:prstGeom>
            <a:solidFill>
              <a:srgbClr val="23613D"/>
            </a:solidFill>
            <a:ln>
              <a:noFill/>
            </a:ln>
          </p:spPr>
        </p:sp>
        <p:sp>
          <p:nvSpPr>
            <p:cNvPr id="109" name="TextBox 109"/>
            <p:cNvSpPr txBox="1"/>
            <p:nvPr/>
          </p:nvSpPr>
          <p:spPr>
            <a:xfrm>
              <a:off x="6060324" y="4982051"/>
              <a:ext cx="15020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随机投点法估计（11.2）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10" name="formula73"/>
                <p:cNvSpPr txBox="1">
                  <a:spLocks noGrp="1"/>
                </p:cNvSpPr>
                <p:nvPr/>
              </p:nvSpPr>
              <p:spPr>
                <a:xfrm>
                  <a:off x="6002655" y="5271135"/>
                  <a:ext cx="5469255" cy="72294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acc>
                          <m:accPr>
                            <m:chr m:val="ˆ"/>
                            <m:ctrlPr>
                              <a:rPr lang="zh-CN" sz="17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accPr>
                          <m:e>
                            <m:r>
                              <a:rPr lang="zh-CN" sz="17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p</m:t>
                            </m:r>
                          </m:e>
                        </m:acc>
                        <m:r>
                          <m:rPr>
                            <m:sty m:val="p"/>
                          </m:rPr>
                          <a:rPr lang="zh-CN" sz="172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f>
                          <m:fPr>
                            <m:type m:val="bar"/>
                            <m:ctrlPr>
                              <a:rPr lang="zh-CN" sz="17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r>
                              <a:rPr lang="zh-CN" sz="17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num>
                          <m:den>
                            <m:r>
                              <a:rPr lang="zh-CN" sz="17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N</m:t>
                            </m:r>
                          </m:den>
                        </m:f>
                        <m:nary>
                          <m:naryPr>
                            <m:chr m:val="∑"/>
                            <m:limLoc m:val="undOvr"/>
                            <m:grow m:val="off"/>
                            <m:subHide m:val="off"/>
                            <m:supHide m:val="off"/>
                            <m:ctrlPr>
                              <a:rPr lang="zh-CN" sz="17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naryPr>
                          <m:sub>
                            <m:r>
                              <a:rPr lang="zh-CN" sz="17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i</m:t>
                            </m:r>
                            <m:r>
                              <m:rPr>
                                <m:sty m:val="p"/>
                              </m:rPr>
                              <a:rPr lang="zh-CN" sz="17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=</m:t>
                            </m:r>
                            <m:r>
                              <a:rPr lang="zh-CN" sz="17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sub>
                          <m:sup>
                            <m:r>
                              <a:rPr lang="zh-CN" sz="17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N</m:t>
                            </m:r>
                          </m:sup>
                          <m:e>
                            <m:sSub>
                              <m:e>
                                <m:r>
                                  <a:rPr lang="zh-CN" sz="172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ξ</m:t>
                                </m:r>
                              </m:e>
                              <m:sub>
                                <m:r>
                                  <a:rPr lang="zh-CN" sz="172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i</m:t>
                                </m:r>
                              </m:sub>
                            </m:sSub>
                          </m:e>
                        </m:nary>
                        <m:r>
                          <m:rPr>
                            <m:sty m:val="p"/>
                          </m:rPr>
                          <a:rPr lang="zh-CN" sz="172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,</m:t>
                        </m:r>
                        <m:r>
                          <a:rPr lang="zh-CN" sz="172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  </m:t>
                        </m:r>
                        <m:acc>
                          <m:accPr>
                            <m:chr m:val="ˆ"/>
                            <m:ctrlPr>
                              <a:rPr lang="zh-CN" sz="17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accPr>
                          <m:e>
                            <m:r>
                              <a:rPr lang="zh-CN" sz="17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I</m:t>
                            </m:r>
                          </m:e>
                        </m:acc>
                        <m:r>
                          <m:rPr>
                            <m:sty m:val="p"/>
                          </m:rPr>
                          <a:rPr lang="zh-CN" sz="172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acc>
                          <m:accPr>
                            <m:chr m:val="ˆ"/>
                            <m:ctrlPr>
                              <a:rPr lang="zh-CN" sz="17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accPr>
                          <m:e>
                            <m:r>
                              <a:rPr lang="zh-CN" sz="17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p</m:t>
                            </m:r>
                          </m:e>
                        </m:acc>
                        <m:r>
                          <a:rPr lang="zh-CN" sz="172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 </m:t>
                        </m:r>
                        <m:r>
                          <a:rPr lang="zh-CN" sz="172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M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7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7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b</m:t>
                            </m:r>
                            <m:r>
                              <m:rPr>
                                <m:sty m:val="p"/>
                              </m:rPr>
                              <a:rPr lang="zh-CN" sz="17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</m:t>
                            </m:r>
                            <m:r>
                              <a:rPr lang="zh-CN" sz="17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a</m:t>
                            </m:r>
                          </m:e>
                        </m:d>
                      </m:oMath>
                    </m:oMathPara>
                  </a14:m>
                </a:p>
              </p:txBody>
            </p:sp>
          </mc:Choice>
        </mc:AlternateContent>
      </p:grpSp>
      <p:grpSp>
        <p:nvGrpSpPr>
          <p:cNvPr id="11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12" name="TextBox 112"/>
            <p:cNvSpPr txBox="1"/>
            <p:nvPr/>
          </p:nvSpPr>
          <p:spPr>
            <a:xfrm>
              <a:off x="528447" y="6581299"/>
              <a:ext cx="198882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统计计算 · 第3章 随机模拟（上）</a:t>
              </a:r>
            </a:p>
          </p:txBody>
        </p:sp>
        <p:sp>
          <p:nvSpPr>
            <p:cNvPr id="113" name="TextBox 113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3801999" cy="909257"/>
            <a:chOff x="520446" y="342900"/>
            <a:chExt cx="380199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989898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9634" y="407194"/>
              <a:ext cx="289838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第3章 随机模拟（上） · 3.2 随机模拟积分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380199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随机投点法的步骤与精度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4" name="c1-steps-1"/>
          <p:cNvGrpSpPr/>
          <p:nvPr/>
        </p:nvGrpSpPr>
        <p:grpSpPr>
          <a:xfrm>
            <a:off x="533400" y="1533525"/>
            <a:ext cx="4135069" cy="2398776"/>
            <a:chOff x="533400" y="1533525"/>
            <a:chExt cx="4135069" cy="2398776"/>
          </a:xfrm>
        </p:grpSpPr>
        <p:sp>
          <p:nvSpPr>
            <p:cNvPr id="7" name="Rectangle 7"/>
            <p:cNvSpPr/>
            <p:nvPr/>
          </p:nvSpPr>
          <p:spPr>
            <a:xfrm>
              <a:off x="666750" y="1676400"/>
              <a:ext cx="19050" cy="185070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533400" y="1533525"/>
              <a:ext cx="285750" cy="28575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27024" y="16073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533400" y="2150745"/>
              <a:ext cx="285750" cy="28575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27024" y="222456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533400" y="2767012"/>
              <a:ext cx="285750" cy="28575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627024" y="284083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533400" y="3384232"/>
              <a:ext cx="285750" cy="28575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27024" y="345805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945261" y="1566386"/>
              <a:ext cx="97028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产生随机数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946404" y="1846898"/>
              <a:ext cx="34703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独立产生 U(0,1) 随机数 uᵢ, vᵢ（i = 1, …, N）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45261" y="2183606"/>
              <a:ext cx="115054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变换到矩形 G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46404" y="2464118"/>
              <a:ext cx="364495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计算 xᵢ = a + uᵢ(b − a)，yᵢ = M·vᵢ，以及 h(xᵢ)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945261" y="2799874"/>
              <a:ext cx="39679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计数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46404" y="3080385"/>
              <a:ext cx="372206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统计满足 h(xᵢ) ≥ yᵢ 的点数，除以 N 得到 p 的估计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45261" y="3417094"/>
              <a:ext cx="7791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估计积分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46404" y="3697605"/>
              <a:ext cx="127193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 (11.2) 计算 Î</a:t>
              </a:r>
            </a:p>
          </p:txBody>
        </p:sp>
      </p:grpSp>
      <p:grpSp>
        <p:nvGrpSpPr>
          <p:cNvPr id="28" name="c1-code-2"/>
          <p:cNvGrpSpPr/>
          <p:nvPr/>
        </p:nvGrpSpPr>
        <p:grpSpPr>
          <a:xfrm>
            <a:off x="533400" y="4103370"/>
            <a:ext cx="5410200" cy="1640205"/>
            <a:chOff x="533400" y="4103370"/>
            <a:chExt cx="5410200" cy="1640205"/>
          </a:xfrm>
        </p:grpSpPr>
        <p:sp>
          <p:nvSpPr>
            <p:cNvPr id="25" name="Rectangle 25"/>
            <p:cNvSpPr/>
            <p:nvPr/>
          </p:nvSpPr>
          <p:spPr>
            <a:xfrm>
              <a:off x="533400" y="4103370"/>
              <a:ext cx="5410200" cy="1640205"/>
            </a:xfrm>
            <a:prstGeom prst="roundRect">
              <a:avLst>
                <a:gd name="adj" fmla="val 5807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61797" y="4255294"/>
              <a:ext cx="88197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R：随机投点法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61416" y="4516755"/>
              <a:ext cx="3151061" cy="11530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92"/>
                </a:lnSpc>
              </a:pP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hitmiss &lt;- </a:t>
              </a:r>
              <a:r>
                <a:rPr lang="en-US" sz="1050" b="1" dirty="0">
                  <a:solidFill>
                    <a:srgbClr val="2E7D4F"/>
                  </a:solidFill>
                  <a:latin typeface="Consolas"/>
                  <a:ea typeface="Consolas"/>
                  <a:cs typeface="Consolas"/>
                </a:rPr>
                <a:t>function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(h, a, b, M, N) {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u &lt;- runif(N); v &lt;- runif(N)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x &lt;- a + u * (b - a); y &lt;- M * v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mean(h(x) &gt;= y) * M * (b - a)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hitmiss(exp, 0, 1, exp(1), 1e4)  </a:t>
              </a:r>
              <a:r>
                <a:rPr lang="zh-CN" sz="105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# 约 1.718</a:t>
              </a:r>
            </a:p>
          </p:txBody>
        </p:sp>
      </p:grpSp>
      <p:grpSp>
        <p:nvGrpSpPr>
          <p:cNvPr id="35" name="c2-card-1"/>
          <p:cNvGrpSpPr/>
          <p:nvPr/>
        </p:nvGrpSpPr>
        <p:grpSpPr>
          <a:xfrm>
            <a:off x="6248400" y="1524000"/>
            <a:ext cx="5410200" cy="1468755"/>
            <a:chOff x="6248400" y="1524000"/>
            <a:chExt cx="5410200" cy="1468755"/>
          </a:xfrm>
        </p:grpSpPr>
        <p:sp>
          <p:nvSpPr>
            <p:cNvPr id="29" name="Rectangle 29"/>
            <p:cNvSpPr/>
            <p:nvPr/>
          </p:nvSpPr>
          <p:spPr>
            <a:xfrm>
              <a:off x="6248400" y="1524000"/>
              <a:ext cx="5410200" cy="1468755"/>
            </a:xfrm>
            <a:prstGeom prst="roundRect">
              <a:avLst>
                <a:gd name="adj" fmla="val 907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6257925" y="1657350"/>
              <a:ext cx="47625" cy="120205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6484620" y="1722120"/>
              <a:ext cx="742950" cy="247650"/>
            </a:xfrm>
            <a:prstGeom prst="roundRect">
              <a:avLst>
                <a:gd name="adj" fmla="val 50000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568059" y="1756410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强相合性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477381" y="2082641"/>
              <a:ext cx="358809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由强大数律，N → ∞ 时精度可以无限提高：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4" name="formula78"/>
                <p:cNvSpPr txBox="1">
                  <a:spLocks noGrp="1"/>
                </p:cNvSpPr>
                <p:nvPr/>
              </p:nvSpPr>
              <p:spPr>
                <a:xfrm>
                  <a:off x="6484620" y="2377440"/>
                  <a:ext cx="4975860" cy="4000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acc>
                          <m:accPr>
                            <m:chr m:val="ˆ"/>
                            <m:ctrlP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accPr>
                          <m:e>
                            <m: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p</m:t>
                            </m:r>
                          </m:e>
                        </m:acc>
                        <m:r>
                          <m:rPr>
                            <m:sty m:val="p"/>
                          </m:rPr>
                          <a:rPr lang="zh-CN" sz="15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→</m:t>
                        </m:r>
                        <m:r>
                          <a:rPr lang="zh-CN" sz="15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p</m:t>
                        </m:r>
                        <m:r>
                          <m:rPr>
                            <m:sty m:val="p"/>
                          </m:rPr>
                          <a:rPr lang="zh-CN" sz="15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,</m:t>
                        </m:r>
                        <m:r>
                          <a:rPr lang="zh-CN" sz="15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  </m:t>
                        </m:r>
                        <m:acc>
                          <m:accPr>
                            <m:chr m:val="ˆ"/>
                            <m:ctrlP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accPr>
                          <m:e>
                            <m: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I</m:t>
                            </m:r>
                          </m:e>
                        </m:acc>
                        <m:r>
                          <m:rPr>
                            <m:sty m:val="p"/>
                          </m:rPr>
                          <a:rPr lang="zh-CN" sz="15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acc>
                          <m:accPr>
                            <m:chr m:val="ˆ"/>
                            <m:ctrlP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accPr>
                          <m:e>
                            <m: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p</m:t>
                            </m:r>
                          </m:e>
                        </m:acc>
                        <m:r>
                          <a:rPr lang="zh-CN" sz="15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M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b</m:t>
                            </m:r>
                            <m:r>
                              <m:rPr>
                                <m:sty m:val="p"/>
                              </m:rP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</m:t>
                            </m:r>
                            <m: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a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5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→</m:t>
                        </m:r>
                        <m:r>
                          <a:rPr lang="zh-CN" sz="15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pM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b</m:t>
                            </m:r>
                            <m:r>
                              <m:rPr>
                                <m:sty m:val="p"/>
                              </m:rP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</m:t>
                            </m:r>
                            <m: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a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5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r>
                          <a:rPr lang="zh-CN" sz="15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I</m:t>
                        </m:r>
                        <m:r>
                          <m:rPr>
                            <m:sty m:val="p"/>
                          </m:rPr>
                          <a:rPr lang="zh-CN" sz="15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,</m:t>
                        </m:r>
                        <m:r>
                          <a:rPr lang="zh-CN" sz="15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 </m:t>
                        </m:r>
                        <m:r>
                          <m:rPr>
                            <m:nor m:val="on"/>
                          </m:rPr>
                          <a:rPr lang="zh-CN" sz="15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a.s.</m:t>
                        </m:r>
                      </m:oMath>
                    </m:oMathPara>
                  </a14:m>
                </a:p>
              </p:txBody>
            </p:sp>
          </mc:Choice>
        </mc:AlternateContent>
      </p:grpSp>
      <p:grpSp>
        <p:nvGrpSpPr>
          <p:cNvPr id="42" name="c2-card-2"/>
          <p:cNvGrpSpPr/>
          <p:nvPr/>
        </p:nvGrpSpPr>
        <p:grpSpPr>
          <a:xfrm>
            <a:off x="6248400" y="3173730"/>
            <a:ext cx="5410200" cy="1888808"/>
            <a:chOff x="6248400" y="3173730"/>
            <a:chExt cx="5410200" cy="1888808"/>
          </a:xfrm>
        </p:grpSpPr>
        <p:sp>
          <p:nvSpPr>
            <p:cNvPr id="36" name="Rectangle 36"/>
            <p:cNvSpPr/>
            <p:nvPr/>
          </p:nvSpPr>
          <p:spPr>
            <a:xfrm>
              <a:off x="6248400" y="3173730"/>
              <a:ext cx="5410200" cy="1888808"/>
            </a:xfrm>
            <a:prstGeom prst="roundRect">
              <a:avLst>
                <a:gd name="adj" fmla="val 706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7" name="Rectangle 37"/>
            <p:cNvSpPr/>
            <p:nvPr/>
          </p:nvSpPr>
          <p:spPr>
            <a:xfrm>
              <a:off x="6257925" y="3307080"/>
              <a:ext cx="47625" cy="1622108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6484620" y="3371850"/>
              <a:ext cx="1317308" cy="247650"/>
            </a:xfrm>
            <a:prstGeom prst="roundRect">
              <a:avLst>
                <a:gd name="adj" fmla="val 50000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551103" y="3406140"/>
              <a:ext cx="118529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渐近正态（11.3）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0" name="formula79"/>
                <p:cNvSpPr txBox="1">
                  <a:spLocks noGrp="1"/>
                </p:cNvSpPr>
                <p:nvPr/>
              </p:nvSpPr>
              <p:spPr>
                <a:xfrm>
                  <a:off x="6484620" y="3709035"/>
                  <a:ext cx="4975860" cy="54864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ad>
                          <m:radPr>
                            <m:degHide m:val="on"/>
                            <m:ctrlPr>
                              <a:rPr lang="zh-CN" sz="18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radPr>
                          <m:deg/>
                          <m:e>
                            <m:r>
                              <a:rPr lang="zh-CN" sz="18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N</m:t>
                            </m:r>
                          </m:e>
                        </m:rad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8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acc>
                              <m:accPr>
                                <m:chr m:val="ˆ"/>
                                <m:ctrlPr>
                                  <a:rPr lang="zh-CN" sz="18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accPr>
                              <m:e>
                                <m:r>
                                  <a:rPr lang="zh-CN" sz="18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I</m:t>
                                </m:r>
                              </m:e>
                            </m:acc>
                            <m:r>
                              <m:rPr>
                                <m:sty m:val="p"/>
                              </m:rPr>
                              <a:rPr lang="zh-CN" sz="18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</m:t>
                            </m:r>
                            <m:r>
                              <a:rPr lang="zh-CN" sz="18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I</m:t>
                            </m:r>
                          </m:e>
                        </m:d>
                        <m:groupChr>
                          <m:groupChrPr>
                            <m:chr m:val="→"/>
                            <m:pos m:val="bot"/>
                            <m:vertJc m:val="top"/>
                            <m:ctrlPr>
                              <a:rPr lang="zh-CN" sz="18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groupChrPr>
                          <m:e>
                            <m:r>
                              <a:rPr lang="zh-CN" sz="18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d</m:t>
                            </m:r>
                          </m:e>
                        </m:groupChr>
                        <m:r>
                          <a:rPr lang="zh-CN" sz="18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N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8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8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0</m:t>
                            </m:r>
                            <m:r>
                              <m:rPr>
                                <m:sty m:val="p"/>
                              </m:rPr>
                              <a:rPr lang="zh-CN" sz="18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,</m:t>
                            </m:r>
                            <m:r>
                              <a:rPr lang="zh-CN" sz="18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 xml:space="preserve"> </m:t>
                            </m:r>
                            <m:sSup>
                              <m:e>
                                <m:d>
                                  <m:dPr>
                                    <m:begChr m:val="["/>
                                    <m:sepChr m:val=""/>
                                    <m:endChr m:val="]"/>
                                    <m:grow m:val="on"/>
                                    <m:ctrlPr>
                                      <a:rPr lang="zh-CN" sz="18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dPr>
                                  <m:e>
                                    <m:r>
                                      <a:rPr lang="zh-CN" sz="18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M</m:t>
                                    </m:r>
                                    <m:d>
                                      <m:dPr>
                                        <m:begChr m:val="("/>
                                        <m:sepChr m:val=""/>
                                        <m:endChr m:val=")"/>
                                        <m:grow m:val="on"/>
                                        <m:ctrlPr>
                                          <a:rPr lang="zh-CN" sz="180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zh-CN" sz="180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b</m:t>
                                        </m:r>
                                        <m:r>
                                          <m:rPr>
                                            <m:sty m:val="p"/>
                                          </m:rPr>
                                          <a:rPr lang="zh-CN" sz="180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−</m:t>
                                        </m:r>
                                        <m:r>
                                          <a:rPr lang="zh-CN" sz="180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a</m:t>
                                        </m:r>
                                      </m:e>
                                    </m:d>
                                  </m:e>
                                </m:d>
                              </m:e>
                              <m:sup>
                                <m:r>
                                  <a:rPr lang="zh-CN" sz="18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zh-CN" sz="18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p</m:t>
                            </m:r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8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8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8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</m:t>
                                </m:r>
                                <m:r>
                                  <a:rPr lang="zh-CN" sz="18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p</m:t>
                                </m:r>
                              </m:e>
                            </m:d>
                          </m:e>
                        </m:d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41" name="TextBox 41"/>
            <p:cNvSpPr txBox="1"/>
            <p:nvPr/>
          </p:nvSpPr>
          <p:spPr>
            <a:xfrm>
              <a:off x="6477381" y="4370546"/>
              <a:ext cx="4676267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 很大时 Î 近似服从 N(I, [M(b − a)]²p(1 − p)/N)，这个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近似分布的方差称为 Î 的 </a:t>
              </a:r>
              <a:r>
                <a:rPr lang="zh-CN" sz="14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渐近方差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。</a:t>
              </a:r>
            </a:p>
          </p:txBody>
        </p:sp>
      </p:grpSp>
      <p:grpSp>
        <p:nvGrpSpPr>
          <p:cNvPr id="49" name="c2-callout-3"/>
          <p:cNvGrpSpPr/>
          <p:nvPr/>
        </p:nvGrpSpPr>
        <p:grpSpPr>
          <a:xfrm>
            <a:off x="6248400" y="5242560"/>
            <a:ext cx="5410200" cy="756285"/>
            <a:chOff x="6248400" y="5242560"/>
            <a:chExt cx="5410200" cy="756285"/>
          </a:xfrm>
        </p:grpSpPr>
        <p:sp>
          <p:nvSpPr>
            <p:cNvPr id="43" name="Rectangle 43"/>
            <p:cNvSpPr/>
            <p:nvPr/>
          </p:nvSpPr>
          <p:spPr>
            <a:xfrm>
              <a:off x="6248400" y="5242560"/>
              <a:ext cx="5410200" cy="756285"/>
            </a:xfrm>
            <a:prstGeom prst="roundRect">
              <a:avLst>
                <a:gd name="adj" fmla="val 15113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47" name="Group 47"/>
            <p:cNvGrpSpPr/>
            <p:nvPr/>
          </p:nvGrpSpPr>
          <p:grpSpPr>
            <a:xfrm>
              <a:off x="6441129" y="5516998"/>
              <a:ext cx="224134" cy="192560"/>
              <a:chOff x="6441129" y="5516998"/>
              <a:chExt cx="224134" cy="192560"/>
            </a:xfrm>
          </p:grpSpPr>
          <p:sp>
            <p:nvSpPr>
              <p:cNvPr id="44" name="Freeform 44"/>
              <p:cNvSpPr/>
              <p:nvPr/>
            </p:nvSpPr>
            <p:spPr>
              <a:xfrm>
                <a:off x="6553200" y="5587365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45" name="Freeform 45"/>
              <p:cNvSpPr/>
              <p:nvPr/>
            </p:nvSpPr>
            <p:spPr>
              <a:xfrm>
                <a:off x="6441129" y="5516998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46" name="Freeform 46"/>
              <p:cNvSpPr/>
              <p:nvPr/>
            </p:nvSpPr>
            <p:spPr>
              <a:xfrm>
                <a:off x="6553200" y="566515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48" name="TextBox 48"/>
            <p:cNvSpPr txBox="1"/>
            <p:nvPr/>
          </p:nvSpPr>
          <p:spPr>
            <a:xfrm>
              <a:off x="6755511" y="5389721"/>
              <a:ext cx="4522978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这样算出的积分带有随机性，误差中包含随机模拟误差，</a:t>
              </a:r>
              <a:br/>
              <a:r>
                <a:rPr lang="zh-CN" sz="142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只能说 Î 以约 95% 的概率落在 I 两侧 2 倍标准差之内。</a:t>
              </a:r>
            </a:p>
          </p:txBody>
        </p:sp>
      </p:grpSp>
      <p:grpSp>
        <p:nvGrpSpPr>
          <p:cNvPr id="5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0" name="TextBox 50"/>
            <p:cNvSpPr txBox="1"/>
            <p:nvPr/>
          </p:nvSpPr>
          <p:spPr>
            <a:xfrm>
              <a:off x="528447" y="6581299"/>
              <a:ext cx="198882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统计计算 · 第3章 随机模拟（上）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446785" cy="909257"/>
            <a:chOff x="520446" y="342900"/>
            <a:chExt cx="7446785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989898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9634" y="407194"/>
              <a:ext cx="289838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第3章 随机模拟（上） · 3.2 随机模拟积分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44678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3.2.2 平均值法：积分 = 区间长度 × 函数平均值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c1-text-1"/>
          <p:cNvGrpSpPr/>
          <p:nvPr/>
        </p:nvGrpSpPr>
        <p:grpSpPr>
          <a:xfrm>
            <a:off x="526161" y="1547336"/>
            <a:ext cx="1688755" cy="278702"/>
            <a:chOff x="526161" y="1547336"/>
            <a:chExt cx="1688755" cy="278702"/>
          </a:xfrm>
        </p:grpSpPr>
        <p:sp>
          <p:nvSpPr>
            <p:cNvPr id="7" name="TextBox 7"/>
            <p:cNvSpPr txBox="1"/>
            <p:nvPr/>
          </p:nvSpPr>
          <p:spPr>
            <a:xfrm>
              <a:off x="526161" y="1547336"/>
              <a:ext cx="168875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取 U ~ U(a, b)，则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formula86"/>
              <p:cNvSpPr txBox="1">
                <a:spLocks noGrp="1"/>
              </p:cNvSpPr>
              <p:nvPr/>
            </p:nvSpPr>
            <p:spPr>
              <a:xfrm>
                <a:off x="533400" y="1950720"/>
                <a:ext cx="5410200" cy="533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zh-CN" sz="15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E</m:t>
                      </m:r>
                      <m:d>
                        <m:dPr>
                          <m:begChr m:val="["/>
                          <m:sepChr m:val=""/>
                          <m:endChr m:val="]"/>
                          <m:grow m:val="on"/>
                          <m:ctrlP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h</m:t>
                          </m:r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U</m:t>
                              </m:r>
                            </m:e>
                          </m:d>
                        </m:e>
                      </m:d>
                      <m:r>
                        <m:rPr>
                          <m:sty m:val="p"/>
                        </m:rPr>
                        <a:rPr lang="zh-CN" sz="15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nary>
                        <m:naryPr>
                          <m:chr m:val="∫"/>
                          <m:limLoc m:val="subSup"/>
                          <m:grow m:val="off"/>
                          <m:subHide m:val="off"/>
                          <m:supHide m:val="off"/>
                          <m:ctrlP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naryPr>
                        <m:sub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a</m:t>
                          </m:r>
                        </m:sub>
                        <m:sup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b</m:t>
                          </m:r>
                        </m:sup>
                        <m:e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h</m:t>
                          </m:r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u</m:t>
                              </m:r>
                            </m:e>
                          </m:d>
                          <m:f>
                            <m:fPr>
                              <m:type m:val="bar"/>
                              <m:ctrlP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fPr>
                            <m:num>
                              <m: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b</m:t>
                              </m:r>
                              <m:r>
                                <m:rPr>
                                  <m:sty m:val="p"/>
                                </m:rP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−</m:t>
                              </m:r>
                              <m: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a</m:t>
                              </m:r>
                            </m:den>
                          </m:f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 xml:space="preserve"> </m:t>
                          </m:r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du</m:t>
                          </m:r>
                        </m:e>
                      </m:nary>
                      <m:r>
                        <m:rPr>
                          <m:sty m:val="p"/>
                        </m:rPr>
                        <a:rPr lang="zh-CN" sz="15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f>
                        <m:fPr>
                          <m:type m:val="bar"/>
                          <m:ctrlP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I</m:t>
                          </m:r>
                        </m:num>
                        <m:den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b</m:t>
                          </m:r>
                          <m:r>
                            <m:rPr>
                              <m:sty m:val="p"/>
                            </m:rP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−</m:t>
                          </m:r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a</m:t>
                          </m:r>
                        </m:den>
                      </m:f>
                      <m:r>
                        <m:rPr>
                          <m:sty m:val="p"/>
                        </m:rPr>
                        <a:rPr lang="zh-CN" sz="15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,</m:t>
                      </m:r>
                      <m:r>
                        <a:rPr lang="zh-CN" sz="15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 xml:space="preserve">  </m:t>
                      </m:r>
                      <m:r>
                        <a:rPr lang="zh-CN" sz="15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I</m:t>
                      </m:r>
                      <m:r>
                        <m:rPr>
                          <m:sty m:val="p"/>
                        </m:rPr>
                        <a:rPr lang="zh-CN" sz="15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b</m:t>
                          </m:r>
                          <m:r>
                            <m:rPr>
                              <m:sty m:val="p"/>
                            </m:rP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−</m:t>
                          </m:r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a</m:t>
                          </m:r>
                        </m:e>
                      </m:d>
                      <m:r>
                        <a:rPr lang="zh-CN" sz="15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 xml:space="preserve"> </m:t>
                      </m:r>
                      <m:r>
                        <a:rPr lang="zh-CN" sz="15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E</m:t>
                      </m:r>
                      <m:r>
                        <a:rPr lang="zh-CN" sz="15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 xml:space="preserve"> </m:t>
                      </m:r>
                      <m:r>
                        <a:rPr lang="zh-CN" sz="15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h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U</m:t>
                          </m:r>
                        </m:e>
                      </m:d>
                    </m:oMath>
                  </m:oMathPara>
                </a14:m>
              </a:p>
            </p:txBody>
          </p:sp>
        </mc:Choice>
      </mc:AlternateContent>
      <p:grpSp>
        <p:nvGrpSpPr>
          <p:cNvPr id="11" name="c1-text-3"/>
          <p:cNvGrpSpPr/>
          <p:nvPr/>
        </p:nvGrpSpPr>
        <p:grpSpPr>
          <a:xfrm>
            <a:off x="526161" y="2687479"/>
            <a:ext cx="5073015" cy="558736"/>
            <a:chOff x="526161" y="2687479"/>
            <a:chExt cx="5073015" cy="558736"/>
          </a:xfrm>
        </p:grpSpPr>
        <p:sp>
          <p:nvSpPr>
            <p:cNvPr id="10" name="TextBox 10"/>
            <p:cNvSpPr txBox="1"/>
            <p:nvPr/>
          </p:nvSpPr>
          <p:spPr>
            <a:xfrm>
              <a:off x="526161" y="2687479"/>
              <a:ext cx="5073015" cy="5587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05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取 {Uᵢ} iid ~ U(a, b)，则 Yᵢ = h(Uᵢ) 是 iid 随机变量列。由强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大数律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formula87"/>
              <p:cNvSpPr txBox="1">
                <a:spLocks noGrp="1"/>
              </p:cNvSpPr>
              <p:nvPr/>
            </p:nvSpPr>
            <p:spPr>
              <a:xfrm>
                <a:off x="533400" y="3370898"/>
                <a:ext cx="5410200" cy="7543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acc>
                        <m:accPr>
                          <m:chr m:val="̅"/>
                          <m:ctrlP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accPr>
                        <m:e>
                          <m: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Y</m:t>
                          </m:r>
                        </m:e>
                      </m:acc>
                      <m:r>
                        <m:rPr>
                          <m:sty m:val="p"/>
                        </m:rPr>
                        <a:rPr lang="zh-CN" sz="18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f>
                        <m:fPr>
                          <m:type m:val="bar"/>
                          <m:ctrlP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num>
                        <m:den>
                          <m: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N</m:t>
                          </m:r>
                        </m:den>
                      </m:f>
                      <m:nary>
                        <m:naryPr>
                          <m:chr m:val="∑"/>
                          <m:limLoc m:val="undOvr"/>
                          <m:grow m:val="off"/>
                          <m:subHide m:val="off"/>
                          <m:supHide m:val="off"/>
                          <m:ctrlP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naryPr>
                        <m:sub>
                          <m: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i</m:t>
                          </m:r>
                          <m:r>
                            <m:rPr>
                              <m:sty m:val="p"/>
                            </m:rP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=</m:t>
                          </m:r>
                          <m: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sub>
                        <m:sup>
                          <m: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N</m:t>
                          </m:r>
                        </m:sup>
                        <m:e>
                          <m: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h</m:t>
                          </m:r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sSub>
                                <m:e>
                                  <m:r>
                                    <a:rPr lang="zh-CN" sz="18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U</m:t>
                                  </m:r>
                                </m:e>
                                <m:sub>
                                  <m:r>
                                    <a:rPr lang="zh-CN" sz="18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i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  <m:r>
                        <m:rPr>
                          <m:sty m:val="p"/>
                        </m:rPr>
                        <a:rPr lang="zh-CN" sz="18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→</m:t>
                      </m:r>
                      <m:r>
                        <a:rPr lang="zh-CN" sz="18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E</m:t>
                      </m:r>
                      <m:r>
                        <a:rPr lang="zh-CN" sz="18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 xml:space="preserve"> </m:t>
                      </m:r>
                      <m:r>
                        <a:rPr lang="zh-CN" sz="18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h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U</m:t>
                          </m:r>
                        </m:e>
                      </m:d>
                      <m:r>
                        <m:rPr>
                          <m:sty m:val="p"/>
                        </m:rPr>
                        <a:rPr lang="zh-CN" sz="18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f>
                        <m:fPr>
                          <m:type m:val="bar"/>
                          <m:ctrlP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I</m:t>
                          </m:r>
                        </m:num>
                        <m:den>
                          <m: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b</m:t>
                          </m:r>
                          <m:r>
                            <m:rPr>
                              <m:sty m:val="p"/>
                            </m:rP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−</m:t>
                          </m:r>
                          <m: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a</m:t>
                          </m:r>
                        </m:den>
                      </m:f>
                      <m:r>
                        <m:rPr>
                          <m:sty m:val="p"/>
                        </m:rPr>
                        <a:rPr lang="zh-CN" sz="18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,</m:t>
                      </m:r>
                      <m:r>
                        <a:rPr lang="zh-CN" sz="18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 xml:space="preserve"> </m:t>
                      </m:r>
                      <m:r>
                        <m:rPr>
                          <m:nor m:val="on"/>
                        </m:rPr>
                        <a:rPr lang="zh-CN" sz="18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a.s.</m:t>
                      </m:r>
                    </m:oMath>
                  </m:oMathPara>
                </a14:m>
              </a:p>
            </p:txBody>
          </p:sp>
        </mc:Choice>
      </mc:AlternateContent>
      <p:grpSp>
        <p:nvGrpSpPr>
          <p:cNvPr id="18" name="c1-card-5"/>
          <p:cNvGrpSpPr/>
          <p:nvPr/>
        </p:nvGrpSpPr>
        <p:grpSpPr>
          <a:xfrm>
            <a:off x="533400" y="4305300"/>
            <a:ext cx="5410200" cy="1823085"/>
            <a:chOff x="533400" y="4305300"/>
            <a:chExt cx="5410200" cy="1823085"/>
          </a:xfrm>
        </p:grpSpPr>
        <p:sp>
          <p:nvSpPr>
            <p:cNvPr id="13" name="Rectangle 13"/>
            <p:cNvSpPr/>
            <p:nvPr/>
          </p:nvSpPr>
          <p:spPr>
            <a:xfrm>
              <a:off x="533400" y="4305300"/>
              <a:ext cx="5410200" cy="1823085"/>
            </a:xfrm>
            <a:prstGeom prst="roundRect">
              <a:avLst>
                <a:gd name="adj" fmla="val 7315"/>
              </a:avLst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731520" y="4503420"/>
              <a:ext cx="1584008" cy="247650"/>
            </a:xfrm>
            <a:prstGeom prst="roundRect">
              <a:avLst>
                <a:gd name="adj" fmla="val 50000"/>
              </a:avLst>
            </a:prstGeom>
            <a:solidFill>
              <a:srgbClr val="23613D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90002" y="4537710"/>
              <a:ext cx="146799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平均值法估计（11.4）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6" name="formula88"/>
                <p:cNvSpPr txBox="1">
                  <a:spLocks noGrp="1"/>
                </p:cNvSpPr>
                <p:nvPr/>
              </p:nvSpPr>
              <p:spPr>
                <a:xfrm>
                  <a:off x="731520" y="4840605"/>
                  <a:ext cx="5013960" cy="75438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acc>
                          <m:accPr>
                            <m:chr m:val="ˆ"/>
                            <m:ctrlPr>
                              <a:rPr lang="zh-CN" sz="18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accPr>
                          <m:e>
                            <m:r>
                              <a:rPr lang="zh-CN" sz="18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I</m:t>
                            </m:r>
                          </m:e>
                        </m:acc>
                        <m:r>
                          <m:rPr>
                            <m:sty m:val="p"/>
                          </m:rPr>
                          <a:rPr lang="zh-CN" sz="180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f>
                          <m:fPr>
                            <m:type m:val="bar"/>
                            <m:ctrlPr>
                              <a:rPr lang="zh-CN" sz="18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r>
                              <a:rPr lang="zh-CN" sz="18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b</m:t>
                            </m:r>
                            <m:r>
                              <m:rPr>
                                <m:sty m:val="p"/>
                              </m:rPr>
                              <a:rPr lang="zh-CN" sz="18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</m:t>
                            </m:r>
                            <m:r>
                              <a:rPr lang="zh-CN" sz="18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a</m:t>
                            </m:r>
                          </m:num>
                          <m:den>
                            <m:r>
                              <a:rPr lang="zh-CN" sz="18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N</m:t>
                            </m:r>
                          </m:den>
                        </m:f>
                        <m:nary>
                          <m:naryPr>
                            <m:chr m:val="∑"/>
                            <m:limLoc m:val="undOvr"/>
                            <m:grow m:val="off"/>
                            <m:subHide m:val="off"/>
                            <m:supHide m:val="off"/>
                            <m:ctrlPr>
                              <a:rPr lang="zh-CN" sz="18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naryPr>
                          <m:sub>
                            <m:r>
                              <a:rPr lang="zh-CN" sz="18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i</m:t>
                            </m:r>
                            <m:r>
                              <m:rPr>
                                <m:sty m:val="p"/>
                              </m:rPr>
                              <a:rPr lang="zh-CN" sz="18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=</m:t>
                            </m:r>
                            <m:r>
                              <a:rPr lang="zh-CN" sz="18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sub>
                          <m:sup>
                            <m:r>
                              <a:rPr lang="zh-CN" sz="18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N</m:t>
                            </m:r>
                          </m:sup>
                          <m:e>
                            <m:r>
                              <a:rPr lang="zh-CN" sz="18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h</m:t>
                            </m:r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8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sSub>
                                  <m:e>
                                    <m:r>
                                      <a:rPr lang="zh-CN" sz="180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U</m:t>
                                    </m:r>
                                  </m:e>
                                  <m:sub>
                                    <m:r>
                                      <a:rPr lang="zh-CN" sz="180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i</m:t>
                                    </m:r>
                                  </m:sub>
                                </m:sSub>
                              </m:e>
                            </m:d>
                          </m:e>
                        </m:nary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17" name="TextBox 17"/>
            <p:cNvSpPr txBox="1"/>
            <p:nvPr/>
          </p:nvSpPr>
          <p:spPr>
            <a:xfrm>
              <a:off x="724281" y="5707856"/>
              <a:ext cx="172554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是 I 的强相合估计。</a:t>
              </a:r>
            </a:p>
          </p:txBody>
        </p:sp>
      </p:grpSp>
      <p:grpSp>
        <p:nvGrpSpPr>
          <p:cNvPr id="32" name="c2-steps-1"/>
          <p:cNvGrpSpPr/>
          <p:nvPr/>
        </p:nvGrpSpPr>
        <p:grpSpPr>
          <a:xfrm>
            <a:off x="6248400" y="1533525"/>
            <a:ext cx="2856433" cy="1781556"/>
            <a:chOff x="6248400" y="1533525"/>
            <a:chExt cx="2856433" cy="1781556"/>
          </a:xfrm>
        </p:grpSpPr>
        <p:sp>
          <p:nvSpPr>
            <p:cNvPr id="19" name="Rectangle 19"/>
            <p:cNvSpPr/>
            <p:nvPr/>
          </p:nvSpPr>
          <p:spPr>
            <a:xfrm>
              <a:off x="6381750" y="1676400"/>
              <a:ext cx="19050" cy="123348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0" name="Ellipse 20"/>
            <p:cNvSpPr/>
            <p:nvPr/>
          </p:nvSpPr>
          <p:spPr>
            <a:xfrm>
              <a:off x="6248400" y="1533525"/>
              <a:ext cx="285750" cy="28575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342024" y="16073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2" name="Ellipse 22"/>
            <p:cNvSpPr/>
            <p:nvPr/>
          </p:nvSpPr>
          <p:spPr>
            <a:xfrm>
              <a:off x="6248400" y="2150745"/>
              <a:ext cx="285750" cy="28575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342024" y="222456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4" name="Ellipse 24"/>
            <p:cNvSpPr/>
            <p:nvPr/>
          </p:nvSpPr>
          <p:spPr>
            <a:xfrm>
              <a:off x="6248400" y="2767012"/>
              <a:ext cx="285750" cy="28575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342024" y="284083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660261" y="1566386"/>
              <a:ext cx="97028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产生随机数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661404" y="1846898"/>
              <a:ext cx="23926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独立产生 N 个 U(0,1) 随机数 uᵢ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660261" y="2183606"/>
              <a:ext cx="97028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变换并求值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661404" y="2464118"/>
              <a:ext cx="244342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计算 xᵢ = a + uᵢ(b − a) 和 h(xᵢ)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660261" y="2799874"/>
              <a:ext cx="7791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估计积分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661404" y="3080385"/>
              <a:ext cx="127193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 (11.4) 计算 Î</a:t>
              </a:r>
            </a:p>
          </p:txBody>
        </p:sp>
      </p:grpSp>
      <p:grpSp>
        <p:nvGrpSpPr>
          <p:cNvPr id="36" name="c2-code-2"/>
          <p:cNvGrpSpPr/>
          <p:nvPr/>
        </p:nvGrpSpPr>
        <p:grpSpPr>
          <a:xfrm>
            <a:off x="6248400" y="3486150"/>
            <a:ext cx="5410200" cy="1450658"/>
            <a:chOff x="6248400" y="3486150"/>
            <a:chExt cx="5410200" cy="1450658"/>
          </a:xfrm>
        </p:grpSpPr>
        <p:sp>
          <p:nvSpPr>
            <p:cNvPr id="33" name="Rectangle 33"/>
            <p:cNvSpPr/>
            <p:nvPr/>
          </p:nvSpPr>
          <p:spPr>
            <a:xfrm>
              <a:off x="6248400" y="3486150"/>
              <a:ext cx="5410200" cy="1450658"/>
            </a:xfrm>
            <a:prstGeom prst="roundRect">
              <a:avLst>
                <a:gd name="adj" fmla="val 6566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376797" y="3638074"/>
              <a:ext cx="75004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R：平均值法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376416" y="3899535"/>
              <a:ext cx="2637663" cy="9635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92"/>
                </a:lnSpc>
              </a:pP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meanval &lt;- </a:t>
              </a:r>
              <a:r>
                <a:rPr lang="en-US" sz="1050" b="1" dirty="0">
                  <a:solidFill>
                    <a:srgbClr val="2E7D4F"/>
                  </a:solidFill>
                  <a:latin typeface="Consolas"/>
                  <a:ea typeface="Consolas"/>
                  <a:cs typeface="Consolas"/>
                </a:rPr>
                <a:t>function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(h, a, b, N) {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x &lt;- runif(N, a, b)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(b - a) * mean(h(x))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meanval(exp, 0, 1, 1e4)   </a:t>
              </a:r>
              <a:r>
                <a:rPr lang="zh-CN" sz="105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# 约 1.718</a:t>
              </a:r>
            </a:p>
          </p:txBody>
        </p:sp>
      </p:grpSp>
      <p:grpSp>
        <p:nvGrpSpPr>
          <p:cNvPr id="43" name="c2-callout-3"/>
          <p:cNvGrpSpPr/>
          <p:nvPr/>
        </p:nvGrpSpPr>
        <p:grpSpPr>
          <a:xfrm>
            <a:off x="6248400" y="5117782"/>
            <a:ext cx="5410200" cy="756285"/>
            <a:chOff x="6248400" y="5117782"/>
            <a:chExt cx="5410200" cy="756285"/>
          </a:xfrm>
        </p:grpSpPr>
        <p:sp>
          <p:nvSpPr>
            <p:cNvPr id="37" name="Rectangle 37"/>
            <p:cNvSpPr/>
            <p:nvPr/>
          </p:nvSpPr>
          <p:spPr>
            <a:xfrm>
              <a:off x="6248400" y="5117782"/>
              <a:ext cx="5410200" cy="756285"/>
            </a:xfrm>
            <a:prstGeom prst="roundRect">
              <a:avLst>
                <a:gd name="adj" fmla="val 15113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41" name="Group 41"/>
            <p:cNvGrpSpPr/>
            <p:nvPr/>
          </p:nvGrpSpPr>
          <p:grpSpPr>
            <a:xfrm>
              <a:off x="6453188" y="5395913"/>
              <a:ext cx="200026" cy="200025"/>
              <a:chOff x="6453188" y="5395913"/>
              <a:chExt cx="200026" cy="200025"/>
            </a:xfrm>
          </p:grpSpPr>
          <p:sp>
            <p:nvSpPr>
              <p:cNvPr id="38" name="Freeform 38"/>
              <p:cNvSpPr/>
              <p:nvPr/>
            </p:nvSpPr>
            <p:spPr>
              <a:xfrm>
                <a:off x="6453188" y="5395913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39" name="Freeform 39"/>
              <p:cNvSpPr/>
              <p:nvPr/>
            </p:nvSpPr>
            <p:spPr>
              <a:xfrm>
                <a:off x="6492926" y="5440363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0" name="Freeform 40"/>
              <p:cNvSpPr/>
              <p:nvPr/>
            </p:nvSpPr>
            <p:spPr>
              <a:xfrm>
                <a:off x="6527642" y="5551488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42" name="TextBox 42"/>
            <p:cNvSpPr txBox="1"/>
            <p:nvPr/>
          </p:nvSpPr>
          <p:spPr>
            <a:xfrm>
              <a:off x="6755511" y="5264944"/>
              <a:ext cx="4450842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平均值法不需要上界 M，也不要求 h ≥ 0，适用范围比随</a:t>
              </a:r>
              <a:br/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机投点法宽。</a:t>
              </a:r>
            </a:p>
          </p:txBody>
        </p:sp>
      </p:grpSp>
      <p:grpSp>
        <p:nvGrpSpPr>
          <p:cNvPr id="4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4" name="TextBox 44"/>
            <p:cNvSpPr txBox="1"/>
            <p:nvPr/>
          </p:nvSpPr>
          <p:spPr>
            <a:xfrm>
              <a:off x="528447" y="6581299"/>
              <a:ext cx="198882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统计计算 · 第3章 随机模拟（上）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410142" cy="909257"/>
            <a:chOff x="520446" y="342900"/>
            <a:chExt cx="841014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989898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9634" y="407194"/>
              <a:ext cx="289838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第3章 随机模拟（上） · 3.2 随机模拟积分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41014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平均值法的误差阶是 1/√N，同样的思路可以求 E h(X)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c1-text-1"/>
          <p:cNvGrpSpPr/>
          <p:nvPr/>
        </p:nvGrpSpPr>
        <p:grpSpPr>
          <a:xfrm>
            <a:off x="525780" y="1548765"/>
            <a:ext cx="1428750" cy="293370"/>
            <a:chOff x="525780" y="1548765"/>
            <a:chExt cx="1428750" cy="293370"/>
          </a:xfrm>
        </p:grpSpPr>
        <p:sp>
          <p:nvSpPr>
            <p:cNvPr id="7" name="TextBox 7"/>
            <p:cNvSpPr txBox="1"/>
            <p:nvPr/>
          </p:nvSpPr>
          <p:spPr>
            <a:xfrm>
              <a:off x="525780" y="1548765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由中心极限定理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formula93"/>
              <p:cNvSpPr txBox="1">
                <a:spLocks noGrp="1"/>
              </p:cNvSpPr>
              <p:nvPr/>
            </p:nvSpPr>
            <p:spPr>
              <a:xfrm>
                <a:off x="533400" y="1973580"/>
                <a:ext cx="5626418" cy="594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rad>
                        <m:radPr>
                          <m:degHide m:val="on"/>
                          <m:ctrlPr>
                            <a:rPr lang="zh-CN" sz="19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radPr>
                        <m:deg/>
                        <m:e>
                          <m:r>
                            <a:rPr lang="zh-CN" sz="19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N</m:t>
                          </m:r>
                        </m:e>
                      </m:rad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9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acc>
                            <m:accPr>
                              <m:chr m:val="ˆ"/>
                              <m:ctrlPr>
                                <a:rPr lang="zh-CN" sz="19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accPr>
                            <m:e>
                              <m:r>
                                <a:rPr lang="zh-CN" sz="19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I</m:t>
                              </m:r>
                            </m:e>
                          </m:acc>
                          <m:r>
                            <m:rPr>
                              <m:sty m:val="p"/>
                            </m:rPr>
                            <a:rPr lang="zh-CN" sz="19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−</m:t>
                          </m:r>
                          <m:r>
                            <a:rPr lang="zh-CN" sz="19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I</m:t>
                          </m:r>
                        </m:e>
                      </m:d>
                      <m:groupChr>
                        <m:groupChrPr>
                          <m:chr m:val="→"/>
                          <m:pos m:val="bot"/>
                          <m:vertJc m:val="top"/>
                          <m:ctrlPr>
                            <a:rPr lang="zh-CN" sz="19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groupChrPr>
                        <m:e>
                          <m:r>
                            <a:rPr lang="zh-CN" sz="19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d</m:t>
                          </m:r>
                        </m:e>
                      </m:groupChr>
                      <m:r>
                        <a:rPr lang="zh-CN" sz="19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N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9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9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0</m:t>
                          </m:r>
                          <m:r>
                            <m:rPr>
                              <m:sty m:val="p"/>
                            </m:rPr>
                            <a:rPr lang="zh-CN" sz="19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,</m:t>
                          </m:r>
                          <m:r>
                            <a:rPr lang="zh-CN" sz="19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 xml:space="preserve"> </m:t>
                          </m:r>
                          <m:sSup>
                            <m:e>
                              <m:d>
                                <m:dPr>
                                  <m:begChr m:val="("/>
                                  <m:sepChr m:val=""/>
                                  <m:endChr m:val=")"/>
                                  <m:grow m:val="on"/>
                                  <m:ctrlPr>
                                    <a:rPr lang="zh-CN" sz="19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dPr>
                                <m:e>
                                  <m:r>
                                    <a:rPr lang="zh-CN" sz="19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b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zh-CN" sz="19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−</m:t>
                                  </m:r>
                                  <m:r>
                                    <a:rPr lang="zh-CN" sz="19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a</m:t>
                                  </m:r>
                                </m:e>
                              </m:d>
                            </m:e>
                            <m:sup>
                              <m:r>
                                <a:rPr lang="zh-CN" sz="19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2</m:t>
                              </m:r>
                            </m:sup>
                          </m:sSup>
                          <m:r>
                            <m:rPr>
                              <m:sty m:val="p"/>
                            </m:rPr>
                            <a:rPr lang="zh-CN" sz="19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Var</m:t>
                          </m:r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9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a:rPr lang="zh-CN" sz="19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h</m:t>
                              </m:r>
                              <m:d>
                                <m:dPr>
                                  <m:begChr m:val="("/>
                                  <m:sepChr m:val=""/>
                                  <m:endChr m:val=")"/>
                                  <m:grow m:val="on"/>
                                  <m:ctrlPr>
                                    <a:rPr lang="zh-CN" sz="19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dPr>
                                <m:e>
                                  <m:r>
                                    <a:rPr lang="zh-CN" sz="19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U</m:t>
                                  </m:r>
                                </m:e>
                              </m:d>
                            </m:e>
                          </m:d>
                        </m:e>
                      </m:d>
                    </m:oMath>
                  </m:oMathPara>
                </a14:m>
              </a:p>
            </p:txBody>
          </p:sp>
        </mc:Choice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formula94"/>
              <p:cNvSpPr txBox="1">
                <a:spLocks noGrp="1"/>
              </p:cNvSpPr>
              <p:nvPr/>
            </p:nvSpPr>
            <p:spPr>
              <a:xfrm>
                <a:off x="533400" y="2758440"/>
                <a:ext cx="5626418" cy="6934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r>
                        <m:rPr>
                          <m:sty m:val="p"/>
                        </m:rPr>
                        <a:rPr lang="zh-CN" sz="19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Var</m:t>
                      </m:r>
                      <m:d>
                        <m:dPr>
                          <m:begChr m:val="["/>
                          <m:sepChr m:val=""/>
                          <m:endChr m:val="]"/>
                          <m:grow m:val="on"/>
                          <m:ctrlPr>
                            <a:rPr lang="zh-CN" sz="19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9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h</m:t>
                          </m:r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9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a:rPr lang="zh-CN" sz="19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U</m:t>
                              </m:r>
                            </m:e>
                          </m:d>
                        </m:e>
                      </m:d>
                      <m:r>
                        <m:rPr>
                          <m:sty m:val="p"/>
                        </m:rPr>
                        <a:rPr lang="zh-CN" sz="19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nary>
                        <m:naryPr>
                          <m:chr m:val="∫"/>
                          <m:limLoc m:val="subSup"/>
                          <m:grow m:val="off"/>
                          <m:subHide m:val="off"/>
                          <m:supHide m:val="off"/>
                          <m:ctrlPr>
                            <a:rPr lang="zh-CN" sz="19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naryPr>
                        <m:sub>
                          <m:r>
                            <a:rPr lang="zh-CN" sz="19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a</m:t>
                          </m:r>
                        </m:sub>
                        <m:sup>
                          <m:r>
                            <a:rPr lang="zh-CN" sz="19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b</m:t>
                          </m:r>
                        </m:sup>
                        <m:e>
                          <m:sSup>
                            <m:e>
                              <m:d>
                                <m:dPr>
                                  <m:begChr m:val="["/>
                                  <m:sepChr m:val=""/>
                                  <m:endChr m:val="]"/>
                                  <m:grow m:val="on"/>
                                  <m:ctrlPr>
                                    <a:rPr lang="zh-CN" sz="19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dPr>
                                <m:e>
                                  <m:r>
                                    <a:rPr lang="zh-CN" sz="19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h</m:t>
                                  </m:r>
                                  <m:d>
                                    <m:dPr>
                                      <m:begChr m:val="("/>
                                      <m:sepChr m:val=""/>
                                      <m:endChr m:val=")"/>
                                      <m:grow m:val="on"/>
                                      <m:ctrlPr>
                                        <a:rPr lang="zh-CN" sz="195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zh-CN" sz="195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u</m:t>
                                      </m:r>
                                    </m:e>
                                  </m:d>
                                  <m:r>
                                    <m:rPr>
                                      <m:sty m:val="p"/>
                                    </m:rPr>
                                    <a:rPr lang="zh-CN" sz="19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−</m:t>
                                  </m:r>
                                  <m:r>
                                    <a:rPr lang="zh-CN" sz="19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E</m:t>
                                  </m:r>
                                  <m:r>
                                    <a:rPr lang="zh-CN" sz="19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 xml:space="preserve"> </m:t>
                                  </m:r>
                                  <m:r>
                                    <a:rPr lang="zh-CN" sz="19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h</m:t>
                                  </m:r>
                                  <m:d>
                                    <m:dPr>
                                      <m:begChr m:val="("/>
                                      <m:sepChr m:val=""/>
                                      <m:endChr m:val=")"/>
                                      <m:grow m:val="on"/>
                                      <m:ctrlPr>
                                        <a:rPr lang="zh-CN" sz="195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zh-CN" sz="195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U</m:t>
                                      </m:r>
                                    </m:e>
                                  </m:d>
                                </m:e>
                              </m:d>
                            </m:e>
                            <m:sup>
                              <m:r>
                                <a:rPr lang="zh-CN" sz="19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2</m:t>
                              </m:r>
                            </m:sup>
                          </m:sSup>
                          <m:f>
                            <m:fPr>
                              <m:type m:val="bar"/>
                              <m:ctrlPr>
                                <a:rPr lang="zh-CN" sz="19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fPr>
                            <m:num>
                              <m:r>
                                <a:rPr lang="zh-CN" sz="19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zh-CN" sz="19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b</m:t>
                              </m:r>
                              <m:r>
                                <m:rPr>
                                  <m:sty m:val="p"/>
                                </m:rPr>
                                <a:rPr lang="zh-CN" sz="19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−</m:t>
                              </m:r>
                              <m:r>
                                <a:rPr lang="zh-CN" sz="19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a</m:t>
                              </m:r>
                            </m:den>
                          </m:f>
                          <m:r>
                            <a:rPr lang="zh-CN" sz="19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 xml:space="preserve"> </m:t>
                          </m:r>
                          <m:r>
                            <a:rPr lang="zh-CN" sz="19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du</m:t>
                          </m:r>
                        </m:e>
                      </m:nary>
                    </m:oMath>
                  </m:oMathPara>
                </a14:m>
              </a:p>
            </p:txBody>
          </p:sp>
        </mc:Choice>
      </mc:AlternateContent>
      <p:grpSp>
        <p:nvGrpSpPr>
          <p:cNvPr id="12" name="c1-text-4"/>
          <p:cNvGrpSpPr/>
          <p:nvPr/>
        </p:nvGrpSpPr>
        <p:grpSpPr>
          <a:xfrm>
            <a:off x="525780" y="3667125"/>
            <a:ext cx="3798189" cy="293370"/>
            <a:chOff x="525780" y="3667125"/>
            <a:chExt cx="3798189" cy="293370"/>
          </a:xfrm>
        </p:grpSpPr>
        <p:sp>
          <p:nvSpPr>
            <p:cNvPr id="11" name="TextBox 11"/>
            <p:cNvSpPr txBox="1"/>
            <p:nvPr/>
          </p:nvSpPr>
          <p:spPr>
            <a:xfrm>
              <a:off x="525780" y="3667125"/>
              <a:ext cx="379818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Var[h(U)] 只与 h 有关，与 N 无关，所以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formula95"/>
              <p:cNvSpPr txBox="1">
                <a:spLocks noGrp="1"/>
              </p:cNvSpPr>
              <p:nvPr/>
            </p:nvSpPr>
            <p:spPr>
              <a:xfrm>
                <a:off x="533400" y="4091940"/>
                <a:ext cx="5626418" cy="66865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acc>
                        <m:accPr>
                          <m:chr m:val="ˆ"/>
                          <m:ctrlPr>
                            <a:rPr lang="zh-CN" sz="19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accPr>
                        <m:e>
                          <m:r>
                            <a:rPr lang="zh-CN" sz="19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I</m:t>
                          </m:r>
                        </m:e>
                      </m:acc>
                      <m:r>
                        <m:rPr>
                          <m:sty m:val="p"/>
                        </m:rPr>
                        <a:rPr lang="zh-CN" sz="19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−</m:t>
                      </m:r>
                      <m:r>
                        <a:rPr lang="zh-CN" sz="19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I</m:t>
                      </m:r>
                      <m:r>
                        <m:rPr>
                          <m:sty m:val="p"/>
                        </m:rPr>
                        <a:rPr lang="zh-CN" sz="19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sSub>
                        <m:e>
                          <m:r>
                            <a:rPr lang="zh-CN" sz="19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O</m:t>
                          </m:r>
                        </m:e>
                        <m:sub>
                          <m:r>
                            <a:rPr lang="zh-CN" sz="19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p</m:t>
                          </m:r>
                        </m:sub>
                      </m:sSub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9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f>
                            <m:fPr>
                              <m:type m:val="bar"/>
                              <m:ctrlPr>
                                <a:rPr lang="zh-CN" sz="19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fPr>
                            <m:num>
                              <m:r>
                                <a:rPr lang="zh-CN" sz="19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1</m:t>
                              </m:r>
                            </m:num>
                            <m:den>
                              <m:rad>
                                <m:radPr>
                                  <m:degHide m:val="on"/>
                                  <m:ctrlPr>
                                    <a:rPr lang="zh-CN" sz="19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zh-CN" sz="19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N</m:t>
                                  </m:r>
                                </m:e>
                              </m:rad>
                            </m:den>
                          </m:f>
                        </m:e>
                      </m:d>
                    </m:oMath>
                  </m:oMathPara>
                </a14:m>
              </a:p>
            </p:txBody>
          </p:sp>
        </mc:Choice>
      </mc:AlternateContent>
      <p:grpSp>
        <p:nvGrpSpPr>
          <p:cNvPr id="20" name="c1-callout-6"/>
          <p:cNvGrpSpPr/>
          <p:nvPr/>
        </p:nvGrpSpPr>
        <p:grpSpPr>
          <a:xfrm>
            <a:off x="533400" y="4951095"/>
            <a:ext cx="5626418" cy="782955"/>
            <a:chOff x="533400" y="4951095"/>
            <a:chExt cx="5626418" cy="782955"/>
          </a:xfrm>
        </p:grpSpPr>
        <p:sp>
          <p:nvSpPr>
            <p:cNvPr id="14" name="Rectangle 14"/>
            <p:cNvSpPr/>
            <p:nvPr/>
          </p:nvSpPr>
          <p:spPr>
            <a:xfrm>
              <a:off x="533400" y="4951095"/>
              <a:ext cx="5626418" cy="782955"/>
            </a:xfrm>
            <a:prstGeom prst="roundRect">
              <a:avLst>
                <a:gd name="adj" fmla="val 14599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18" name="Group 18"/>
            <p:cNvGrpSpPr/>
            <p:nvPr/>
          </p:nvGrpSpPr>
          <p:grpSpPr>
            <a:xfrm>
              <a:off x="738188" y="5242560"/>
              <a:ext cx="200026" cy="200026"/>
              <a:chOff x="738188" y="5242560"/>
              <a:chExt cx="200026" cy="200026"/>
            </a:xfrm>
          </p:grpSpPr>
          <p:sp>
            <p:nvSpPr>
              <p:cNvPr id="15" name="Freeform 15"/>
              <p:cNvSpPr/>
              <p:nvPr/>
            </p:nvSpPr>
            <p:spPr>
              <a:xfrm>
                <a:off x="738188" y="5242560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16" name="Freeform 16"/>
              <p:cNvSpPr/>
              <p:nvPr/>
            </p:nvSpPr>
            <p:spPr>
              <a:xfrm>
                <a:off x="838200" y="530923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17" name="Freeform 17"/>
              <p:cNvSpPr/>
              <p:nvPr/>
            </p:nvSpPr>
            <p:spPr>
              <a:xfrm>
                <a:off x="827088" y="5342573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19" name="TextBox 19"/>
            <p:cNvSpPr txBox="1"/>
            <p:nvPr/>
          </p:nvSpPr>
          <p:spPr>
            <a:xfrm>
              <a:off x="1040130" y="5099685"/>
              <a:ext cx="4558665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想减小误差只有两条路：加大 N，或者减小被平均的量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的方差；3.3–3.5 的方法都走第二条路。</a:t>
              </a:r>
            </a:p>
          </p:txBody>
        </p:sp>
      </p:grpSp>
      <p:grpSp>
        <p:nvGrpSpPr>
          <p:cNvPr id="27" name="c2-card-1"/>
          <p:cNvGrpSpPr/>
          <p:nvPr/>
        </p:nvGrpSpPr>
        <p:grpSpPr>
          <a:xfrm>
            <a:off x="6464618" y="1524000"/>
            <a:ext cx="5193982" cy="2849880"/>
            <a:chOff x="6464618" y="1524000"/>
            <a:chExt cx="5193982" cy="2849880"/>
          </a:xfrm>
        </p:grpSpPr>
        <p:sp>
          <p:nvSpPr>
            <p:cNvPr id="21" name="Rectangle 21"/>
            <p:cNvSpPr/>
            <p:nvPr/>
          </p:nvSpPr>
          <p:spPr>
            <a:xfrm>
              <a:off x="6464618" y="1524000"/>
              <a:ext cx="5193982" cy="2849880"/>
            </a:xfrm>
            <a:prstGeom prst="roundRect">
              <a:avLst>
                <a:gd name="adj" fmla="val 4679"/>
              </a:avLst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6674168" y="1733550"/>
              <a:ext cx="1631632" cy="257175"/>
            </a:xfrm>
            <a:prstGeom prst="roundRect">
              <a:avLst>
                <a:gd name="adj" fmla="val 50000"/>
              </a:avLst>
            </a:prstGeom>
            <a:solidFill>
              <a:srgbClr val="23613D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730873" y="1769269"/>
              <a:ext cx="15191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求随机变量函数的期望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666548" y="2110740"/>
              <a:ext cx="449199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求一般随机变量 X 的函数的期望 I = E h(X)：对 X 的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随机数 Xᵢ（i = 1, …, N）令 Yᵢ = h(Xᵢ)，同样用平均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值法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5" name="formula96"/>
                <p:cNvSpPr txBox="1">
                  <a:spLocks noGrp="1"/>
                </p:cNvSpPr>
                <p:nvPr/>
              </p:nvSpPr>
              <p:spPr>
                <a:xfrm>
                  <a:off x="6674168" y="2992755"/>
                  <a:ext cx="4774882" cy="81724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acc>
                          <m:accPr>
                            <m:chr m:val="ˆ"/>
                            <m:ctrlPr>
                              <a:rPr lang="zh-CN" sz="19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accPr>
                          <m:e>
                            <m:r>
                              <a:rPr lang="zh-CN" sz="19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I</m:t>
                            </m:r>
                          </m:e>
                        </m:acc>
                        <m:r>
                          <m:rPr>
                            <m:sty m:val="p"/>
                          </m:rPr>
                          <a:rPr lang="zh-CN" sz="195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f>
                          <m:fPr>
                            <m:type m:val="bar"/>
                            <m:ctrlPr>
                              <a:rPr lang="zh-CN" sz="19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r>
                              <a:rPr lang="zh-CN" sz="19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num>
                          <m:den>
                            <m:r>
                              <a:rPr lang="zh-CN" sz="19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N</m:t>
                            </m:r>
                          </m:den>
                        </m:f>
                        <m:nary>
                          <m:naryPr>
                            <m:chr m:val="∑"/>
                            <m:limLoc m:val="undOvr"/>
                            <m:grow m:val="off"/>
                            <m:subHide m:val="off"/>
                            <m:supHide m:val="off"/>
                            <m:ctrlPr>
                              <a:rPr lang="zh-CN" sz="19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naryPr>
                          <m:sub>
                            <m:r>
                              <a:rPr lang="zh-CN" sz="19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i</m:t>
                            </m:r>
                            <m:r>
                              <m:rPr>
                                <m:sty m:val="p"/>
                              </m:rPr>
                              <a:rPr lang="zh-CN" sz="19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=</m:t>
                            </m:r>
                            <m:r>
                              <a:rPr lang="zh-CN" sz="19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sub>
                          <m:sup>
                            <m:r>
                              <a:rPr lang="zh-CN" sz="19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N</m:t>
                            </m:r>
                          </m:sup>
                          <m:e>
                            <m:r>
                              <a:rPr lang="zh-CN" sz="19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h</m:t>
                            </m:r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95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sSub>
                                  <m:e>
                                    <m:r>
                                      <a:rPr lang="zh-CN" sz="195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X</m:t>
                                    </m:r>
                                  </m:e>
                                  <m:sub>
                                    <m:r>
                                      <a:rPr lang="zh-CN" sz="195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i</m:t>
                                    </m:r>
                                  </m:sub>
                                </m:sSub>
                              </m:e>
                            </m:d>
                          </m:e>
                        </m:nary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26" name="TextBox 26"/>
            <p:cNvSpPr txBox="1"/>
            <p:nvPr/>
          </p:nvSpPr>
          <p:spPr>
            <a:xfrm>
              <a:off x="6666548" y="3930015"/>
              <a:ext cx="30137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Î 是 I 的无偏估计和强相合估计。</a:t>
              </a:r>
            </a:p>
          </p:txBody>
        </p:sp>
      </p:grpSp>
      <p:grpSp>
        <p:nvGrpSpPr>
          <p:cNvPr id="33" name="c2-card-2"/>
          <p:cNvGrpSpPr/>
          <p:nvPr/>
        </p:nvGrpSpPr>
        <p:grpSpPr>
          <a:xfrm>
            <a:off x="6464618" y="4564380"/>
            <a:ext cx="5193982" cy="1316355"/>
            <a:chOff x="6464618" y="4564380"/>
            <a:chExt cx="5193982" cy="1316355"/>
          </a:xfrm>
        </p:grpSpPr>
        <p:sp>
          <p:nvSpPr>
            <p:cNvPr id="28" name="Rectangle 28"/>
            <p:cNvSpPr/>
            <p:nvPr/>
          </p:nvSpPr>
          <p:spPr>
            <a:xfrm>
              <a:off x="6464618" y="4564380"/>
              <a:ext cx="5193982" cy="1316355"/>
            </a:xfrm>
            <a:prstGeom prst="roundRect">
              <a:avLst>
                <a:gd name="adj" fmla="val 1013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9" name="Rectangle 29"/>
            <p:cNvSpPr/>
            <p:nvPr/>
          </p:nvSpPr>
          <p:spPr>
            <a:xfrm>
              <a:off x="6474142" y="4697730"/>
              <a:ext cx="47625" cy="104965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30" name="Rectangle 30"/>
            <p:cNvSpPr/>
            <p:nvPr/>
          </p:nvSpPr>
          <p:spPr>
            <a:xfrm>
              <a:off x="6712268" y="4773930"/>
              <a:ext cx="1489710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772923" y="4809649"/>
              <a:ext cx="13684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两个问题其实是一个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704648" y="5151120"/>
              <a:ext cx="433959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积分 ∫ₐᵇ h(x)dx 就是 X ~ U(a, b) 时的 (b − a)·E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h(X)；反过来，E h(X) 是以 X 的密度为权的积分。</a:t>
              </a:r>
            </a:p>
          </p:txBody>
        </p:sp>
      </p:grpSp>
      <p:grpSp>
        <p:nvGrpSpPr>
          <p:cNvPr id="3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34" name="TextBox 34"/>
            <p:cNvSpPr txBox="1"/>
            <p:nvPr/>
          </p:nvSpPr>
          <p:spPr>
            <a:xfrm>
              <a:off x="528447" y="6581299"/>
              <a:ext cx="198882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统计计算 · 第3章 随机模拟（上）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260361" cy="909257"/>
            <a:chOff x="520446" y="342900"/>
            <a:chExt cx="826036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989898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9634" y="407194"/>
              <a:ext cx="289838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第3章 随机模拟（上） · 3.2 随机模拟积分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26036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例11.1 用平均值法估计标准正态分布的 3/2 阶绝对矩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formula101"/>
              <p:cNvSpPr txBox="1">
                <a:spLocks noGrp="1"/>
              </p:cNvSpPr>
              <p:nvPr/>
            </p:nvSpPr>
            <p:spPr>
              <a:xfrm>
                <a:off x="533400" y="1524000"/>
                <a:ext cx="5626418" cy="457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zh-CN" sz="18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I</m:t>
                      </m:r>
                      <m:r>
                        <m:rPr>
                          <m:sty m:val="p"/>
                        </m:rPr>
                        <a:rPr lang="zh-CN" sz="18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r>
                        <a:rPr lang="zh-CN" sz="18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E</m:t>
                      </m:r>
                      <m:sSup>
                        <m:e>
                          <m:d>
                            <m:dPr>
                              <m:begChr m:val="|"/>
                              <m:sepChr m:val=""/>
                              <m:endChr m:val="|"/>
                              <m:grow m:val="on"/>
                              <m:ctrlP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X</m:t>
                              </m:r>
                            </m:e>
                          </m:d>
                        </m:e>
                        <m:sup>
                          <m: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3</m:t>
                          </m:r>
                          <m:r>
                            <m:rPr>
                              <m:sty m:val="p"/>
                            </m:rP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/</m:t>
                          </m:r>
                          <m: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</m:t>
                          </m:r>
                        </m:sup>
                      </m:sSup>
                      <m:r>
                        <m:rPr>
                          <m:sty m:val="p"/>
                        </m:rPr>
                        <a:rPr lang="zh-CN" sz="18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,</m:t>
                      </m:r>
                      <m:r>
                        <a:rPr lang="zh-CN" sz="18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 xml:space="preserve">  </m:t>
                      </m:r>
                      <m:r>
                        <a:rPr lang="zh-CN" sz="18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X</m:t>
                      </m:r>
                      <m:r>
                        <m:rPr>
                          <m:sty m:val="p"/>
                        </m:rPr>
                        <a:rPr lang="zh-CN" sz="18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∼</m:t>
                      </m:r>
                      <m:r>
                        <a:rPr lang="zh-CN" sz="18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N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0</m:t>
                          </m:r>
                          <m:r>
                            <m:rPr>
                              <m:sty m:val="p"/>
                            </m:rP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,</m:t>
                          </m:r>
                          <m: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e>
                      </m:d>
                    </m:oMath>
                  </m:oMathPara>
                </a14:m>
              </a:p>
            </p:txBody>
          </p:sp>
        </mc:Choice>
      </mc:AlternateContent>
      <p:grpSp>
        <p:nvGrpSpPr>
          <p:cNvPr id="9" name="c1-text-2"/>
          <p:cNvGrpSpPr/>
          <p:nvPr/>
        </p:nvGrpSpPr>
        <p:grpSpPr>
          <a:xfrm>
            <a:off x="526161" y="2184559"/>
            <a:ext cx="5136134" cy="558736"/>
            <a:chOff x="526161" y="2184559"/>
            <a:chExt cx="5136134" cy="558736"/>
          </a:xfrm>
        </p:grpSpPr>
        <p:sp>
          <p:nvSpPr>
            <p:cNvPr id="8" name="TextBox 8"/>
            <p:cNvSpPr txBox="1"/>
            <p:nvPr/>
          </p:nvSpPr>
          <p:spPr>
            <a:xfrm>
              <a:off x="526161" y="2184559"/>
              <a:ext cx="5136134" cy="5587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05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取 N = 10000，产生标准正态随机数 Xᵢ，令 Yᵢ 为 |Xᵢ| 的 3/2 次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方，则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formula102"/>
              <p:cNvSpPr txBox="1">
                <a:spLocks noGrp="1"/>
              </p:cNvSpPr>
              <p:nvPr/>
            </p:nvSpPr>
            <p:spPr>
              <a:xfrm>
                <a:off x="533400" y="2867978"/>
                <a:ext cx="5626418" cy="800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acc>
                        <m:accPr>
                          <m:chr m:val="ˆ"/>
                          <m:ctrlP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accPr>
                        <m:e>
                          <m: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I</m:t>
                          </m:r>
                        </m:e>
                      </m:acc>
                      <m:r>
                        <m:rPr>
                          <m:sty m:val="p"/>
                        </m:rPr>
                        <a:rPr lang="zh-CN" sz="18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acc>
                        <m:accPr>
                          <m:chr m:val="̅"/>
                          <m:ctrlP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accPr>
                        <m:e>
                          <m: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Y</m:t>
                          </m:r>
                        </m:e>
                      </m:acc>
                      <m:r>
                        <m:rPr>
                          <m:sty m:val="p"/>
                        </m:rPr>
                        <a:rPr lang="zh-CN" sz="18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f>
                        <m:fPr>
                          <m:type m:val="bar"/>
                          <m:ctrlP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num>
                        <m:den>
                          <m: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N</m:t>
                          </m:r>
                        </m:den>
                      </m:f>
                      <m:nary>
                        <m:naryPr>
                          <m:chr m:val="∑"/>
                          <m:limLoc m:val="undOvr"/>
                          <m:grow m:val="off"/>
                          <m:subHide m:val="off"/>
                          <m:supHide m:val="off"/>
                          <m:ctrlP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naryPr>
                        <m:sub>
                          <m: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i</m:t>
                          </m:r>
                          <m:r>
                            <m:rPr>
                              <m:sty m:val="p"/>
                            </m:rP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=</m:t>
                          </m:r>
                          <m: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sub>
                        <m:sup>
                          <m: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N</m:t>
                          </m:r>
                        </m:sup>
                        <m:e>
                          <m:sSup>
                            <m:e>
                              <m:d>
                                <m:dPr>
                                  <m:begChr m:val="|"/>
                                  <m:sepChr m:val=""/>
                                  <m:endChr m:val="|"/>
                                  <m:grow m:val="on"/>
                                  <m:ctrlPr>
                                    <a:rPr lang="zh-CN" sz="18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dPr>
                                <m:e>
                                  <m:sSub>
                                    <m:e>
                                      <m:r>
                                        <a:rPr lang="zh-CN" sz="180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X</m:t>
                                      </m:r>
                                    </m:e>
                                    <m:sub>
                                      <m:r>
                                        <a:rPr lang="zh-CN" sz="180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i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3</m:t>
                              </m:r>
                              <m:r>
                                <m:rPr>
                                  <m:sty m:val="p"/>
                                </m:rP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/</m:t>
                              </m:r>
                              <m: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  <m:r>
                        <m:rPr>
                          <m:sty m:val="p"/>
                        </m:rPr>
                        <a:rPr lang="zh-CN" sz="18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,</m:t>
                      </m:r>
                      <m:r>
                        <a:rPr lang="zh-CN" sz="18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 xml:space="preserve">  </m:t>
                      </m:r>
                      <m:sSubSup>
                        <m:e>
                          <m: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S</m:t>
                          </m:r>
                        </m:e>
                        <m:sub>
                          <m: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N</m:t>
                          </m:r>
                        </m:sub>
                        <m:sup>
                          <m: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</m:t>
                          </m:r>
                        </m:sup>
                      </m:sSubSup>
                      <m:r>
                        <m:rPr>
                          <m:sty m:val="p"/>
                        </m:rPr>
                        <a:rPr lang="zh-CN" sz="18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f>
                        <m:fPr>
                          <m:type m:val="bar"/>
                          <m:ctrlP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num>
                        <m:den>
                          <m: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N</m:t>
                          </m:r>
                        </m:den>
                      </m:f>
                      <m:nary>
                        <m:naryPr>
                          <m:chr m:val="∑"/>
                          <m:limLoc m:val="undOvr"/>
                          <m:grow m:val="off"/>
                          <m:subHide m:val="off"/>
                          <m:supHide m:val="off"/>
                          <m:ctrlP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naryPr>
                        <m:sub>
                          <m: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i</m:t>
                          </m:r>
                          <m:r>
                            <m:rPr>
                              <m:sty m:val="p"/>
                            </m:rP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=</m:t>
                          </m:r>
                          <m: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sub>
                        <m:sup>
                          <m: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N</m:t>
                          </m:r>
                        </m:sup>
                        <m:e>
                          <m:sSup>
                            <m:e>
                              <m:d>
                                <m:dPr>
                                  <m:begChr m:val="("/>
                                  <m:sepChr m:val=""/>
                                  <m:endChr m:val=")"/>
                                  <m:grow m:val="on"/>
                                  <m:ctrlPr>
                                    <a:rPr lang="zh-CN" sz="18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dPr>
                                <m:e>
                                  <m:sSup>
                                    <m:e>
                                      <m:d>
                                        <m:dPr>
                                          <m:begChr m:val="|"/>
                                          <m:sepChr m:val=""/>
                                          <m:endChr m:val="|"/>
                                          <m:grow m:val="on"/>
                                          <m:ctrlPr>
                                            <a:rPr lang="zh-CN" sz="180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e>
                                              <m:r>
                                                <a:rPr lang="zh-CN" sz="1800" dirty="0">
                                                  <a:solidFill>
                                                    <a:srgbClr val="1F2937"/>
                                                  </a:solidFill>
                                                  <a:latin typeface="Cambria Math"/>
                                                  <a:ea typeface="Cambria Math"/>
                                                  <a:cs typeface="Cambria Math"/>
                                                </a:rPr>
                                                <m:t>X</m:t>
                                              </m:r>
                                            </m:e>
                                            <m:sub>
                                              <m:r>
                                                <a:rPr lang="zh-CN" sz="1800" dirty="0">
                                                  <a:solidFill>
                                                    <a:srgbClr val="1F2937"/>
                                                  </a:solidFill>
                                                  <a:latin typeface="Cambria Math"/>
                                                  <a:ea typeface="Cambria Math"/>
                                                  <a:cs typeface="Cambria Math"/>
                                                </a:rPr>
                                                <m:t>i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</m:e>
                                    <m:sup>
                                      <m:r>
                                        <a:rPr lang="zh-CN" sz="180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3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a:rPr lang="zh-CN" sz="180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/</m:t>
                                      </m:r>
                                      <m:r>
                                        <a:rPr lang="zh-CN" sz="180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2</m:t>
                                      </m:r>
                                    </m:sup>
                                  </m:sSup>
                                  <m:r>
                                    <m:rPr>
                                      <m:sty m:val="p"/>
                                    </m:rPr>
                                    <a:rPr lang="zh-CN" sz="18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−</m:t>
                                  </m:r>
                                  <m:acc>
                                    <m:accPr>
                                      <m:chr m:val="ˆ"/>
                                      <m:ctrlPr>
                                        <a:rPr lang="zh-CN" sz="180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zh-CN" sz="180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I</m:t>
                                      </m:r>
                                    </m:e>
                                  </m:acc>
                                </m:e>
                              </m:d>
                            </m:e>
                            <m:sup>
                              <m: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</a:p>
            </p:txBody>
          </p:sp>
        </mc:Choice>
      </mc:AlternateContent>
      <p:grpSp>
        <p:nvGrpSpPr>
          <p:cNvPr id="27" name="c1-table-4"/>
          <p:cNvGrpSpPr/>
          <p:nvPr/>
        </p:nvGrpSpPr>
        <p:grpSpPr>
          <a:xfrm>
            <a:off x="528066" y="3849052"/>
            <a:ext cx="5631752" cy="1553147"/>
            <a:chOff x="528066" y="3849052"/>
            <a:chExt cx="5631752" cy="1553147"/>
          </a:xfrm>
        </p:grpSpPr>
        <p:sp>
          <p:nvSpPr>
            <p:cNvPr id="11" name="Rectangle 11"/>
            <p:cNvSpPr/>
            <p:nvPr/>
          </p:nvSpPr>
          <p:spPr>
            <a:xfrm>
              <a:off x="533400" y="3849052"/>
              <a:ext cx="5626418" cy="424815"/>
            </a:xfrm>
            <a:prstGeom prst="rect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235202" y="3976688"/>
              <a:ext cx="1737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量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2401634" y="3976688"/>
              <a:ext cx="146608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一次模拟（原课件）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4911280" y="3976688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理论值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266688" y="4401502"/>
              <a:ext cx="1107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Î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2862034" y="4401502"/>
              <a:ext cx="54528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0.8754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748213" y="4401502"/>
              <a:ext cx="82296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 = 0.8600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533400" y="4692968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533400" y="4697730"/>
              <a:ext cx="5626418" cy="42481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835944" y="4825365"/>
              <a:ext cx="97225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样本标准差 S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2862034" y="4825365"/>
              <a:ext cx="54528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0.9409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467187" y="4825365"/>
              <a:ext cx="138501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Y 的标准差 0.9253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33400" y="3849052"/>
              <a:ext cx="5626418" cy="1273492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2105025" y="3849052"/>
              <a:ext cx="9525" cy="127349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4154805" y="3849052"/>
              <a:ext cx="9525" cy="127349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528066" y="5196840"/>
              <a:ext cx="340309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理论值用伽马函数公式精确算出，见右侧代码最后一行</a:t>
              </a:r>
            </a:p>
          </p:txBody>
        </p:sp>
      </p:grpSp>
      <p:grpSp>
        <p:nvGrpSpPr>
          <p:cNvPr id="34" name="c1-callout-5"/>
          <p:cNvGrpSpPr/>
          <p:nvPr/>
        </p:nvGrpSpPr>
        <p:grpSpPr>
          <a:xfrm>
            <a:off x="533400" y="5540692"/>
            <a:ext cx="5626418" cy="756285"/>
            <a:chOff x="533400" y="5540692"/>
            <a:chExt cx="5626418" cy="756285"/>
          </a:xfrm>
        </p:grpSpPr>
        <p:sp>
          <p:nvSpPr>
            <p:cNvPr id="28" name="Rectangle 28"/>
            <p:cNvSpPr/>
            <p:nvPr/>
          </p:nvSpPr>
          <p:spPr>
            <a:xfrm>
              <a:off x="533400" y="5540692"/>
              <a:ext cx="5626418" cy="756285"/>
            </a:xfrm>
            <a:prstGeom prst="roundRect">
              <a:avLst>
                <a:gd name="adj" fmla="val 15113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32" name="Group 32"/>
            <p:cNvGrpSpPr/>
            <p:nvPr/>
          </p:nvGrpSpPr>
          <p:grpSpPr>
            <a:xfrm>
              <a:off x="738188" y="5818823"/>
              <a:ext cx="200026" cy="200026"/>
              <a:chOff x="738188" y="5818823"/>
              <a:chExt cx="200026" cy="200026"/>
            </a:xfrm>
          </p:grpSpPr>
          <p:sp>
            <p:nvSpPr>
              <p:cNvPr id="29" name="Freeform 29"/>
              <p:cNvSpPr/>
              <p:nvPr/>
            </p:nvSpPr>
            <p:spPr>
              <a:xfrm>
                <a:off x="738188" y="5818823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30" name="Freeform 30"/>
              <p:cNvSpPr/>
              <p:nvPr/>
            </p:nvSpPr>
            <p:spPr>
              <a:xfrm>
                <a:off x="838200" y="588549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31" name="Freeform 31"/>
              <p:cNvSpPr/>
              <p:nvPr/>
            </p:nvSpPr>
            <p:spPr>
              <a:xfrm>
                <a:off x="827088" y="5918835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33" name="TextBox 33"/>
            <p:cNvSpPr txBox="1"/>
            <p:nvPr/>
          </p:nvSpPr>
          <p:spPr>
            <a:xfrm>
              <a:off x="1040511" y="5687854"/>
              <a:ext cx="4631182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Î 比真值大 0.0154，约为标准误 0.0093 的 1.7 倍，属于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正常的随机波动。</a:t>
              </a:r>
            </a:p>
          </p:txBody>
        </p:sp>
      </p:grpSp>
      <p:grpSp>
        <p:nvGrpSpPr>
          <p:cNvPr id="38" name="c2-code-1"/>
          <p:cNvGrpSpPr/>
          <p:nvPr/>
        </p:nvGrpSpPr>
        <p:grpSpPr>
          <a:xfrm>
            <a:off x="6464618" y="1524000"/>
            <a:ext cx="5193982" cy="1829752"/>
            <a:chOff x="6464618" y="1524000"/>
            <a:chExt cx="5193982" cy="1829752"/>
          </a:xfrm>
        </p:grpSpPr>
        <p:sp>
          <p:nvSpPr>
            <p:cNvPr id="35" name="Rectangle 35"/>
            <p:cNvSpPr/>
            <p:nvPr/>
          </p:nvSpPr>
          <p:spPr>
            <a:xfrm>
              <a:off x="6464618" y="1524000"/>
              <a:ext cx="5193982" cy="1829752"/>
            </a:xfrm>
            <a:prstGeom prst="roundRect">
              <a:avLst>
                <a:gd name="adj" fmla="val 5206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593015" y="1675924"/>
              <a:ext cx="65901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R：例11.1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592634" y="1937385"/>
              <a:ext cx="3091053" cy="13426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92"/>
                </a:lnSpc>
              </a:pP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N &lt;- 10000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y &lt;- abs(rnorm(N))^1.5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I.hat &lt;- mean(y)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S.N &lt;- sqrt(mean((y - I.hat)^2))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c(I.hat, S.N)</a:t>
              </a:r>
              <a:br/>
              <a:r>
                <a:rPr lang="zh-CN" sz="105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# 理论值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2^0.75 * gamma(1.25) / sqrt(pi)   </a:t>
              </a:r>
              <a:r>
                <a:rPr lang="zh-CN" sz="1050" dirty="0">
                  <a:solidFill>
                    <a:srgbClr val="0F7A68"/>
                  </a:solidFill>
                  <a:latin typeface="Consolas"/>
                  <a:ea typeface="Consolas"/>
                  <a:cs typeface="Consolas"/>
                </a:rPr>
                <a:t># 0.8600</a:t>
              </a:r>
            </a:p>
          </p:txBody>
        </p:sp>
      </p:grpSp>
      <p:grpSp>
        <p:nvGrpSpPr>
          <p:cNvPr id="44" name="c2-card-2"/>
          <p:cNvGrpSpPr/>
          <p:nvPr/>
        </p:nvGrpSpPr>
        <p:grpSpPr>
          <a:xfrm>
            <a:off x="6464618" y="3533775"/>
            <a:ext cx="5193982" cy="2763202"/>
            <a:chOff x="6464618" y="3533775"/>
            <a:chExt cx="5193982" cy="2763202"/>
          </a:xfrm>
        </p:grpSpPr>
        <p:sp>
          <p:nvSpPr>
            <p:cNvPr id="39" name="Rectangle 39"/>
            <p:cNvSpPr/>
            <p:nvPr/>
          </p:nvSpPr>
          <p:spPr>
            <a:xfrm>
              <a:off x="6464618" y="3533775"/>
              <a:ext cx="5193982" cy="2763202"/>
            </a:xfrm>
            <a:prstGeom prst="roundRect">
              <a:avLst>
                <a:gd name="adj" fmla="val 482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0" name="Rectangle 40"/>
            <p:cNvSpPr/>
            <p:nvPr/>
          </p:nvSpPr>
          <p:spPr>
            <a:xfrm>
              <a:off x="6474142" y="3667125"/>
              <a:ext cx="47625" cy="2496502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41" name="Rectangle 41"/>
            <p:cNvSpPr/>
            <p:nvPr/>
          </p:nvSpPr>
          <p:spPr>
            <a:xfrm>
              <a:off x="6700838" y="3731895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6792278" y="3766185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6693598" y="4092416"/>
              <a:ext cx="4550029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原课件本页把样本标准差写作 0.09409，与例11.2 使用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 0.9409 不一致。Y（|X| 的 3/2 次方）的标准差理论值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为 0.9253，应为 </a:t>
              </a:r>
              <a:r>
                <a:rPr lang="zh-CN" sz="14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0.9409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。</a:t>
              </a:r>
            </a:p>
          </p:txBody>
        </p:sp>
      </p:grpSp>
      <p:grpSp>
        <p:nvGrpSpPr>
          <p:cNvPr id="4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5" name="TextBox 45"/>
            <p:cNvSpPr txBox="1"/>
            <p:nvPr/>
          </p:nvSpPr>
          <p:spPr>
            <a:xfrm>
              <a:off x="528447" y="6581299"/>
              <a:ext cx="198882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统计计算 · 第3章 随机模拟（上）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9020728" cy="909257"/>
            <a:chOff x="520446" y="342900"/>
            <a:chExt cx="902072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989898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9634" y="407194"/>
              <a:ext cx="289838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第3章 随机模拟（上） · 3.2 随机模拟积分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902072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3.2.3 误差评估：样本均值近似正态，方差用样本方差估计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c1-text-1"/>
          <p:cNvGrpSpPr/>
          <p:nvPr/>
        </p:nvGrpSpPr>
        <p:grpSpPr>
          <a:xfrm>
            <a:off x="526161" y="1547336"/>
            <a:ext cx="5063998" cy="558736"/>
            <a:chOff x="526161" y="1547336"/>
            <a:chExt cx="5063998" cy="558736"/>
          </a:xfrm>
        </p:grpSpPr>
        <p:sp>
          <p:nvSpPr>
            <p:cNvPr id="7" name="TextBox 7"/>
            <p:cNvSpPr txBox="1"/>
            <p:nvPr/>
          </p:nvSpPr>
          <p:spPr>
            <a:xfrm>
              <a:off x="526161" y="1547336"/>
              <a:ext cx="5063998" cy="5587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05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设 θ = EY，Var(Y) = σ²，来自 Y 的 N 个样本 Y₁, Y₂, … 独立同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分布。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formula113"/>
              <p:cNvSpPr txBox="1">
                <a:spLocks noGrp="1"/>
              </p:cNvSpPr>
              <p:nvPr/>
            </p:nvSpPr>
            <p:spPr>
              <a:xfrm>
                <a:off x="533400" y="2230755"/>
                <a:ext cx="5410200" cy="69151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acc>
                        <m:accPr>
                          <m:chr m:val="ˆ"/>
                          <m:ctrlP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accPr>
                        <m:e>
                          <m: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θ</m:t>
                          </m:r>
                        </m:e>
                      </m:acc>
                      <m:r>
                        <m:rPr>
                          <m:sty m:val="p"/>
                        </m:rPr>
                        <a:rPr lang="zh-CN" sz="16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sSub>
                        <m:e>
                          <m:acc>
                            <m:accPr>
                              <m:chr m:val="̅"/>
                              <m:ctrlP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accPr>
                            <m:e>
                              <m: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Y</m:t>
                              </m:r>
                            </m:e>
                          </m:acc>
                        </m:e>
                        <m:sub>
                          <m: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N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zh-CN" sz="16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f>
                        <m:fPr>
                          <m:type m:val="bar"/>
                          <m:ctrlP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num>
                        <m:den>
                          <m: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N</m:t>
                          </m:r>
                        </m:den>
                      </m:f>
                      <m:nary>
                        <m:naryPr>
                          <m:chr m:val="∑"/>
                          <m:limLoc m:val="undOvr"/>
                          <m:grow m:val="off"/>
                          <m:subHide m:val="off"/>
                          <m:supHide m:val="off"/>
                          <m:ctrlP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naryPr>
                        <m:sub>
                          <m: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i</m:t>
                          </m:r>
                          <m:r>
                            <m:rPr>
                              <m:sty m:val="p"/>
                            </m:rP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=</m:t>
                          </m:r>
                          <m: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sub>
                        <m:sup>
                          <m: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N</m:t>
                          </m:r>
                        </m:sup>
                        <m:e>
                          <m:sSub>
                            <m:e>
                              <m: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Y</m:t>
                              </m:r>
                            </m:e>
                            <m:sub>
                              <m: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i</m:t>
                              </m:r>
                            </m:sub>
                          </m:sSub>
                        </m:e>
                      </m:nary>
                      <m:r>
                        <m:rPr>
                          <m:sty m:val="p"/>
                        </m:rPr>
                        <a:rPr lang="zh-CN" sz="16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,</m:t>
                      </m:r>
                      <m:r>
                        <a:rPr lang="zh-CN" sz="16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 xml:space="preserve">  </m:t>
                      </m:r>
                      <m:sSubSup>
                        <m:e>
                          <m: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S</m:t>
                          </m:r>
                        </m:e>
                        <m:sub>
                          <m: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N</m:t>
                          </m:r>
                        </m:sub>
                        <m:sup>
                          <m: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</m:t>
                          </m:r>
                        </m:sup>
                      </m:sSubSup>
                      <m:r>
                        <m:rPr>
                          <m:sty m:val="p"/>
                        </m:rPr>
                        <a:rPr lang="zh-CN" sz="16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f>
                        <m:fPr>
                          <m:type m:val="bar"/>
                          <m:ctrlP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num>
                        <m:den>
                          <m: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N</m:t>
                          </m:r>
                        </m:den>
                      </m:f>
                      <m:nary>
                        <m:naryPr>
                          <m:chr m:val="∑"/>
                          <m:limLoc m:val="undOvr"/>
                          <m:grow m:val="off"/>
                          <m:subHide m:val="off"/>
                          <m:supHide m:val="off"/>
                          <m:ctrlP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naryPr>
                        <m:sub>
                          <m: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i</m:t>
                          </m:r>
                          <m:r>
                            <m:rPr>
                              <m:sty m:val="p"/>
                            </m:rP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=</m:t>
                          </m:r>
                          <m: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sub>
                        <m:sup>
                          <m: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N</m:t>
                          </m:r>
                        </m:sup>
                        <m:e>
                          <m:sSup>
                            <m:e>
                              <m:d>
                                <m:dPr>
                                  <m:begChr m:val="("/>
                                  <m:sepChr m:val=""/>
                                  <m:endChr m:val=")"/>
                                  <m:grow m:val="on"/>
                                  <m:ctrlPr>
                                    <a:rPr lang="zh-CN" sz="16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dPr>
                                <m:e>
                                  <m:sSub>
                                    <m:e>
                                      <m:r>
                                        <a:rPr lang="zh-CN" sz="165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Y</m:t>
                                      </m:r>
                                    </m:e>
                                    <m:sub>
                                      <m:r>
                                        <a:rPr lang="zh-CN" sz="165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i</m:t>
                                      </m:r>
                                    </m:sub>
                                  </m:sSub>
                                  <m:r>
                                    <m:rPr>
                                      <m:sty m:val="p"/>
                                    </m:rPr>
                                    <a:rPr lang="zh-CN" sz="16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−</m:t>
                                  </m:r>
                                  <m:sSub>
                                    <m:e>
                                      <m:acc>
                                        <m:accPr>
                                          <m:chr m:val="̅"/>
                                          <m:ctrlPr>
                                            <a:rPr lang="zh-CN" sz="165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zh-CN" sz="165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Y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zh-CN" sz="165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N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2</m:t>
                              </m:r>
                            </m:sup>
                          </m:sSup>
                          <m: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 xml:space="preserve">  </m:t>
                          </m:r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11.7</m:t>
                              </m:r>
                            </m:e>
                          </m:d>
                        </m:e>
                      </m:nary>
                    </m:oMath>
                  </m:oMathPara>
                </a14:m>
              </a:p>
            </p:txBody>
          </p:sp>
        </mc:Choice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formula114"/>
              <p:cNvSpPr txBox="1">
                <a:spLocks noGrp="1"/>
              </p:cNvSpPr>
              <p:nvPr/>
            </p:nvSpPr>
            <p:spPr>
              <a:xfrm>
                <a:off x="533400" y="3102292"/>
                <a:ext cx="5410200" cy="457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zh-CN" sz="18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N</m:t>
                      </m:r>
                      <m:r>
                        <m:rPr>
                          <m:sty m:val="p"/>
                        </m:rPr>
                        <a:rPr lang="zh-CN" sz="18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→∞:</m:t>
                      </m:r>
                      <m:r>
                        <a:rPr lang="zh-CN" sz="18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 xml:space="preserve"> </m:t>
                      </m:r>
                      <m:acc>
                        <m:accPr>
                          <m:chr m:val="ˆ"/>
                          <m:ctrlP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accPr>
                        <m:e>
                          <m: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θ</m:t>
                          </m:r>
                        </m:e>
                      </m:acc>
                      <m:r>
                        <m:rPr>
                          <m:sty m:val="p"/>
                        </m:rPr>
                        <a:rPr lang="zh-CN" sz="18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→</m:t>
                      </m:r>
                      <m:r>
                        <a:rPr lang="zh-CN" sz="18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θ</m:t>
                      </m:r>
                      <m:r>
                        <m:rPr>
                          <m:sty m:val="p"/>
                        </m:rPr>
                        <a:rPr lang="zh-CN" sz="18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,</m:t>
                      </m:r>
                      <m:r>
                        <a:rPr lang="zh-CN" sz="18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 xml:space="preserve"> </m:t>
                      </m:r>
                      <m:sSubSup>
                        <m:e>
                          <m: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S</m:t>
                          </m:r>
                        </m:e>
                        <m:sub>
                          <m: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N</m:t>
                          </m:r>
                        </m:sub>
                        <m:sup>
                          <m: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</m:t>
                          </m:r>
                        </m:sup>
                      </m:sSubSup>
                      <m:r>
                        <m:rPr>
                          <m:sty m:val="p"/>
                        </m:rPr>
                        <a:rPr lang="zh-CN" sz="18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→</m:t>
                      </m:r>
                      <m:sSup>
                        <m:e>
                          <m: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σ</m:t>
                          </m:r>
                        </m:e>
                        <m:sup>
                          <m: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</m:t>
                          </m:r>
                        </m:sup>
                      </m:sSup>
                      <m:r>
                        <m:rPr>
                          <m:sty m:val="p"/>
                        </m:rPr>
                        <a:rPr lang="zh-CN" sz="18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,</m:t>
                      </m:r>
                      <m:r>
                        <a:rPr lang="zh-CN" sz="18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 xml:space="preserve"> </m:t>
                      </m:r>
                      <m:r>
                        <m:rPr>
                          <m:nor m:val="on"/>
                        </m:rPr>
                        <a:rPr lang="zh-CN" sz="18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a.s.</m:t>
                      </m:r>
                    </m:oMath>
                  </m:oMathPara>
                </a14:m>
              </a:p>
            </p:txBody>
          </p:sp>
        </mc:Choice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formula115"/>
              <p:cNvSpPr txBox="1">
                <a:spLocks noGrp="1"/>
              </p:cNvSpPr>
              <p:nvPr/>
            </p:nvSpPr>
            <p:spPr>
              <a:xfrm>
                <a:off x="533400" y="3740468"/>
                <a:ext cx="5410200" cy="6172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f>
                        <m:fPr>
                          <m:type m:val="bar"/>
                          <m:ctrlP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acc>
                            <m:accPr>
                              <m:chr m:val="ˆ"/>
                              <m:ctrlP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accPr>
                            <m:e>
                              <m: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θ</m:t>
                              </m:r>
                            </m:e>
                          </m:acc>
                          <m:r>
                            <m:rPr>
                              <m:sty m:val="p"/>
                            </m:rP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−</m:t>
                          </m:r>
                          <m: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θ</m:t>
                          </m:r>
                        </m:num>
                        <m:den>
                          <m:sSub>
                            <m:e>
                              <m: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S</m:t>
                              </m:r>
                            </m:e>
                            <m:sub>
                              <m: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N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/</m:t>
                          </m:r>
                          <m:rad>
                            <m:radPr>
                              <m:degHide m:val="on"/>
                              <m:ctrlP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radPr>
                            <m:deg/>
                            <m:e>
                              <m: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N</m:t>
                              </m:r>
                            </m:e>
                          </m:rad>
                        </m:den>
                      </m:f>
                      <m:groupChr>
                        <m:groupChrPr>
                          <m:chr m:val="→"/>
                          <m:pos m:val="bot"/>
                          <m:vertJc m:val="top"/>
                          <m:ctrlP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groupChrPr>
                        <m:e>
                          <m: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d</m:t>
                          </m:r>
                        </m:e>
                      </m:groupChr>
                      <m:r>
                        <a:rPr lang="zh-CN" sz="18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N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0</m:t>
                          </m:r>
                          <m:r>
                            <m:rPr>
                              <m:sty m:val="p"/>
                            </m:rP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,</m:t>
                          </m:r>
                          <m: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e>
                      </m:d>
                    </m:oMath>
                  </m:oMathPara>
                </a14:m>
              </a:p>
            </p:txBody>
          </p:sp>
        </mc:Choice>
      </mc:AlternateContent>
      <p:grpSp>
        <p:nvGrpSpPr>
          <p:cNvPr id="13" name="c1-text-5"/>
          <p:cNvGrpSpPr/>
          <p:nvPr/>
        </p:nvGrpSpPr>
        <p:grpSpPr>
          <a:xfrm>
            <a:off x="526161" y="4561046"/>
            <a:ext cx="4681677" cy="278702"/>
            <a:chOff x="526161" y="4561046"/>
            <a:chExt cx="4681677" cy="278702"/>
          </a:xfrm>
        </p:grpSpPr>
        <p:sp>
          <p:nvSpPr>
            <p:cNvPr id="12" name="TextBox 12"/>
            <p:cNvSpPr txBox="1"/>
            <p:nvPr/>
          </p:nvSpPr>
          <p:spPr>
            <a:xfrm>
              <a:off x="526161" y="4561046"/>
              <a:ext cx="468167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所以 N 充分大时，估计量近似服从正态分布（11.8）：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formula116"/>
              <p:cNvSpPr txBox="1">
                <a:spLocks noGrp="1"/>
              </p:cNvSpPr>
              <p:nvPr/>
            </p:nvSpPr>
            <p:spPr>
              <a:xfrm>
                <a:off x="533400" y="4963478"/>
                <a:ext cx="5410200" cy="6172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acc>
                        <m:accPr>
                          <m:chr m:val="ˆ"/>
                          <m:ctrlP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accPr>
                        <m:e>
                          <m: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θ</m:t>
                          </m:r>
                        </m:e>
                      </m:acc>
                      <m:r>
                        <a:rPr lang="zh-CN" sz="18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 xml:space="preserve"> </m:t>
                      </m:r>
                      <m:r>
                        <m:rPr>
                          <m:nor m:val="on"/>
                        </m:rPr>
                        <a:rPr lang="zh-CN" sz="18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近似服从</m:t>
                      </m:r>
                      <m:r>
                        <a:rPr lang="zh-CN" sz="18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 xml:space="preserve"> </m:t>
                      </m:r>
                      <m:r>
                        <a:rPr lang="zh-CN" sz="18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N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θ</m:t>
                          </m:r>
                          <m:r>
                            <m:rPr>
                              <m:sty m:val="p"/>
                            </m:rP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,</m:t>
                          </m:r>
                          <m: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 xml:space="preserve"> </m:t>
                          </m:r>
                          <m:f>
                            <m:fPr>
                              <m:type m:val="bar"/>
                              <m:ctrlP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fPr>
                            <m:num>
                              <m:sSubSup>
                                <m:e>
                                  <m:r>
                                    <a:rPr lang="zh-CN" sz="18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S</m:t>
                                  </m:r>
                                </m:e>
                                <m:sub>
                                  <m:r>
                                    <a:rPr lang="zh-CN" sz="18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N</m:t>
                                  </m:r>
                                </m:sub>
                                <m:sup>
                                  <m:r>
                                    <a:rPr lang="zh-CN" sz="18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2</m:t>
                                  </m:r>
                                </m:sup>
                              </m:sSubSup>
                            </m:num>
                            <m:den>
                              <m: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N</m:t>
                              </m:r>
                            </m:den>
                          </m:f>
                        </m:e>
                      </m:d>
                    </m:oMath>
                  </m:oMathPara>
                </a14:m>
              </a:p>
            </p:txBody>
          </p:sp>
        </mc:Choice>
      </mc:AlternateContent>
      <p:grpSp>
        <p:nvGrpSpPr>
          <p:cNvPr id="20" name="c2-card-1"/>
          <p:cNvGrpSpPr/>
          <p:nvPr/>
        </p:nvGrpSpPr>
        <p:grpSpPr>
          <a:xfrm>
            <a:off x="6248400" y="1524000"/>
            <a:ext cx="5410200" cy="1522095"/>
            <a:chOff x="6248400" y="1524000"/>
            <a:chExt cx="5410200" cy="1522095"/>
          </a:xfrm>
        </p:grpSpPr>
        <p:sp>
          <p:nvSpPr>
            <p:cNvPr id="15" name="Rectangle 15"/>
            <p:cNvSpPr/>
            <p:nvPr/>
          </p:nvSpPr>
          <p:spPr>
            <a:xfrm>
              <a:off x="6248400" y="1524000"/>
              <a:ext cx="5410200" cy="1522095"/>
            </a:xfrm>
            <a:prstGeom prst="roundRect">
              <a:avLst>
                <a:gd name="adj" fmla="val 876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6257925" y="1657350"/>
              <a:ext cx="47625" cy="125539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6484620" y="1722120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576060" y="175641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477381" y="2082641"/>
              <a:ext cx="4712335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原课件把 (11.8) 写成"服从 N(θ, σ²/N) a.s."。中心极限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定理给出的是依分布收敛，估计量只是 </a:t>
              </a:r>
              <a:r>
                <a:rPr lang="zh-CN" sz="14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近似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服从正态分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布，不能加 a.s.。</a:t>
              </a:r>
            </a:p>
          </p:txBody>
        </p:sp>
      </p:grpSp>
      <p:grpSp>
        <p:nvGrpSpPr>
          <p:cNvPr id="27" name="c2-card-2"/>
          <p:cNvGrpSpPr/>
          <p:nvPr/>
        </p:nvGrpSpPr>
        <p:grpSpPr>
          <a:xfrm>
            <a:off x="6248400" y="3227070"/>
            <a:ext cx="5410200" cy="2185988"/>
            <a:chOff x="6248400" y="3227070"/>
            <a:chExt cx="5410200" cy="2185988"/>
          </a:xfrm>
        </p:grpSpPr>
        <p:sp>
          <p:nvSpPr>
            <p:cNvPr id="21" name="Rectangle 21"/>
            <p:cNvSpPr/>
            <p:nvPr/>
          </p:nvSpPr>
          <p:spPr>
            <a:xfrm>
              <a:off x="6248400" y="3227070"/>
              <a:ext cx="5410200" cy="2185988"/>
            </a:xfrm>
            <a:prstGeom prst="roundRect">
              <a:avLst>
                <a:gd name="adj" fmla="val 6100"/>
              </a:avLst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6446520" y="3425190"/>
              <a:ext cx="1009650" cy="247650"/>
            </a:xfrm>
            <a:prstGeom prst="roundRect">
              <a:avLst>
                <a:gd name="adj" fmla="val 50000"/>
              </a:avLst>
            </a:prstGeom>
            <a:solidFill>
              <a:srgbClr val="23613D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521958" y="3459480"/>
              <a:ext cx="858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样本量怎么定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439281" y="3785711"/>
              <a:ext cx="424471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要让估计量的标准差不超过 ε，需要 σ/√N ≤ ε，即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5" name="formula117"/>
                <p:cNvSpPr txBox="1">
                  <a:spLocks noGrp="1"/>
                </p:cNvSpPr>
                <p:nvPr/>
              </p:nvSpPr>
              <p:spPr>
                <a:xfrm>
                  <a:off x="6446520" y="4079558"/>
                  <a:ext cx="5013960" cy="61722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zh-CN" sz="180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N</m:t>
                        </m:r>
                        <m:r>
                          <m:rPr>
                            <m:sty m:val="p"/>
                          </m:rPr>
                          <a:rPr lang="zh-CN" sz="180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≥</m:t>
                        </m:r>
                        <m:f>
                          <m:fPr>
                            <m:type m:val="bar"/>
                            <m:ctrlPr>
                              <a:rPr lang="zh-CN" sz="18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zh-CN" sz="18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σ</m:t>
                                </m:r>
                              </m:e>
                              <m:sup>
                                <m:r>
                                  <a:rPr lang="zh-CN" sz="18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sSup>
                              <m:e>
                                <m:r>
                                  <a:rPr lang="zh-CN" sz="18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ε</m:t>
                                </m:r>
                              </m:e>
                              <m:sup>
                                <m:r>
                                  <a:rPr lang="zh-CN" sz="18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  <m:r>
                          <m:rPr>
                            <m:sty m:val="p"/>
                          </m:rPr>
                          <a:rPr lang="zh-CN" sz="180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≈</m:t>
                        </m:r>
                        <m:f>
                          <m:fPr>
                            <m:type m:val="bar"/>
                            <m:ctrlPr>
                              <a:rPr lang="zh-CN" sz="18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sSubSup>
                              <m:e>
                                <m:r>
                                  <a:rPr lang="zh-CN" sz="18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S</m:t>
                                </m:r>
                              </m:e>
                              <m:sub>
                                <m:sSub>
                                  <m:e>
                                    <m:r>
                                      <a:rPr lang="zh-CN" sz="180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N</m:t>
                                    </m:r>
                                  </m:e>
                                  <m:sub>
                                    <m:r>
                                      <a:rPr lang="zh-CN" sz="180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0</m:t>
                                    </m:r>
                                  </m:sub>
                                </m:sSub>
                              </m:sub>
                              <m:sup>
                                <m:r>
                                  <a:rPr lang="zh-CN" sz="18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sup>
                            </m:sSubSup>
                          </m:num>
                          <m:den>
                            <m:sSup>
                              <m:e>
                                <m:r>
                                  <a:rPr lang="zh-CN" sz="18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ε</m:t>
                                </m:r>
                              </m:e>
                              <m:sup>
                                <m:r>
                                  <a:rPr lang="zh-CN" sz="18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26" name="TextBox 26"/>
            <p:cNvSpPr txBox="1"/>
            <p:nvPr/>
          </p:nvSpPr>
          <p:spPr>
            <a:xfrm>
              <a:off x="6440424" y="4806315"/>
              <a:ext cx="4690872" cy="4556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40"/>
                </a:lnSpc>
              </a:pPr>
              <a:r>
                <a:rPr lang="zh-CN" sz="12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σ 未知时，先用较小的 N₀ 做预模拟得到 S 的值，再算正式模拟需要的</a:t>
              </a:r>
              <a:br/>
              <a:r>
                <a:rPr lang="zh-CN" sz="12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N。</a:t>
              </a:r>
            </a:p>
          </p:txBody>
        </p:sp>
      </p:grpSp>
      <p:grpSp>
        <p:nvGrpSpPr>
          <p:cNvPr id="34" name="c2-callout-3"/>
          <p:cNvGrpSpPr/>
          <p:nvPr/>
        </p:nvGrpSpPr>
        <p:grpSpPr>
          <a:xfrm>
            <a:off x="6248400" y="5593080"/>
            <a:ext cx="5410200" cy="503872"/>
            <a:chOff x="6248400" y="5593080"/>
            <a:chExt cx="5410200" cy="503872"/>
          </a:xfrm>
        </p:grpSpPr>
        <p:sp>
          <p:nvSpPr>
            <p:cNvPr id="28" name="Rectangle 28"/>
            <p:cNvSpPr/>
            <p:nvPr/>
          </p:nvSpPr>
          <p:spPr>
            <a:xfrm>
              <a:off x="6248400" y="5593080"/>
              <a:ext cx="5410200" cy="503872"/>
            </a:xfrm>
            <a:prstGeom prst="roundRect">
              <a:avLst>
                <a:gd name="adj" fmla="val 22684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32" name="Group 32"/>
            <p:cNvGrpSpPr/>
            <p:nvPr/>
          </p:nvGrpSpPr>
          <p:grpSpPr>
            <a:xfrm>
              <a:off x="6441129" y="5740836"/>
              <a:ext cx="224134" cy="192560"/>
              <a:chOff x="6441129" y="5740836"/>
              <a:chExt cx="224134" cy="192560"/>
            </a:xfrm>
          </p:grpSpPr>
          <p:sp>
            <p:nvSpPr>
              <p:cNvPr id="29" name="Freeform 29"/>
              <p:cNvSpPr/>
              <p:nvPr/>
            </p:nvSpPr>
            <p:spPr>
              <a:xfrm>
                <a:off x="6553200" y="5811203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30" name="Freeform 30"/>
              <p:cNvSpPr/>
              <p:nvPr/>
            </p:nvSpPr>
            <p:spPr>
              <a:xfrm>
                <a:off x="6441129" y="5740836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31" name="Freeform 31"/>
              <p:cNvSpPr/>
              <p:nvPr/>
            </p:nvSpPr>
            <p:spPr>
              <a:xfrm>
                <a:off x="6553200" y="5888991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33" name="TextBox 33"/>
            <p:cNvSpPr txBox="1"/>
            <p:nvPr/>
          </p:nvSpPr>
          <p:spPr>
            <a:xfrm>
              <a:off x="6755511" y="5745004"/>
              <a:ext cx="323553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精度提高 k 倍，样本量要增加 k² 倍。</a:t>
              </a:r>
            </a:p>
          </p:txBody>
        </p:sp>
      </p:grpSp>
      <p:grpSp>
        <p:nvGrpSpPr>
          <p:cNvPr id="3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35" name="TextBox 35"/>
            <p:cNvSpPr txBox="1"/>
            <p:nvPr/>
          </p:nvSpPr>
          <p:spPr>
            <a:xfrm>
              <a:off x="528447" y="6581299"/>
              <a:ext cx="198882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统计计算 · 第3章 随机模拟（上）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951214" cy="909257"/>
            <a:chOff x="520446" y="342900"/>
            <a:chExt cx="895121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989898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9634" y="407194"/>
              <a:ext cx="289838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第3章 随机模拟（上） · 3.2 随机模拟积分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95121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三种误差度量：根均方误差、平均绝对误差、平均相对误差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7" name="c1-card-1"/>
          <p:cNvGrpSpPr/>
          <p:nvPr/>
        </p:nvGrpSpPr>
        <p:grpSpPr>
          <a:xfrm>
            <a:off x="533400" y="1524000"/>
            <a:ext cx="3505200" cy="3836670"/>
            <a:chOff x="533400" y="1524000"/>
            <a:chExt cx="3505200" cy="383667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3505200" cy="3836670"/>
            </a:xfrm>
            <a:prstGeom prst="roundRect">
              <a:avLst>
                <a:gd name="adj" fmla="val 380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3569970"/>
            </a:xfrm>
            <a:prstGeom prst="roundRect">
              <a:avLst>
                <a:gd name="adj" fmla="val 50000"/>
              </a:avLst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81050" y="1733550"/>
              <a:ext cx="1181100" cy="257175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40237" y="1769269"/>
              <a:ext cx="106272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RMSE（11.9）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2068830" y="1768792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根均方误差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2" name="formula126"/>
                <p:cNvSpPr txBox="1">
                  <a:spLocks noGrp="1"/>
                </p:cNvSpPr>
                <p:nvPr/>
              </p:nvSpPr>
              <p:spPr>
                <a:xfrm>
                  <a:off x="781050" y="2105025"/>
                  <a:ext cx="3048000" cy="59436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m:rPr>
                            <m:sty m:val="p"/>
                          </m:rPr>
                          <a:rPr lang="zh-CN" sz="19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RMSE</m:t>
                        </m:r>
                        <m:r>
                          <m:rPr>
                            <m:sty m:val="p"/>
                          </m:rPr>
                          <a:rPr lang="zh-CN" sz="19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rad>
                          <m:radPr>
                            <m:degHide m:val="on"/>
                            <m:ctrlPr>
                              <a:rPr lang="zh-CN" sz="19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radPr>
                          <m:deg/>
                          <m:e>
                            <m:r>
                              <a:rPr lang="zh-CN" sz="19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E</m:t>
                            </m:r>
                            <m:sSup>
                              <m:e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 m:val="on"/>
                                    <m:ctrlPr>
                                      <a:rPr lang="zh-CN" sz="19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dPr>
                                  <m:e>
                                    <m:acc>
                                      <m:accPr>
                                        <m:chr m:val="ˆ"/>
                                        <m:ctrlPr>
                                          <a:rPr lang="zh-CN" sz="195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zh-CN" sz="195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θ</m:t>
                                        </m:r>
                                      </m:e>
                                    </m:acc>
                                    <m:r>
                                      <m:rPr>
                                        <m:sty m:val="p"/>
                                      </m:rPr>
                                      <a:rPr lang="zh-CN" sz="19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−</m:t>
                                    </m:r>
                                    <m:r>
                                      <a:rPr lang="zh-CN" sz="19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θ</m:t>
                                    </m:r>
                                  </m:e>
                                </m:d>
                              </m:e>
                              <m:sup>
                                <m:r>
                                  <a:rPr lang="zh-CN" sz="19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13" name="TextBox 13"/>
            <p:cNvSpPr txBox="1"/>
            <p:nvPr/>
          </p:nvSpPr>
          <p:spPr>
            <a:xfrm>
              <a:off x="773430" y="2819400"/>
              <a:ext cx="290131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 iid 样本均值估计 θ = EY 时估计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无偏，所以（11.10）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4" name="formula127"/>
                <p:cNvSpPr txBox="1">
                  <a:spLocks noGrp="1"/>
                </p:cNvSpPr>
                <p:nvPr/>
              </p:nvSpPr>
              <p:spPr>
                <a:xfrm>
                  <a:off x="781050" y="3415665"/>
                  <a:ext cx="3048000" cy="61722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m:rPr>
                            <m:sty m:val="p"/>
                          </m:rPr>
                          <a:rPr lang="zh-CN" sz="18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RMSE</m:t>
                        </m:r>
                        <m:r>
                          <m:rPr>
                            <m:sty m:val="p"/>
                          </m:rPr>
                          <a:rPr lang="zh-CN" sz="18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rad>
                          <m:radPr>
                            <m:degHide m:val="on"/>
                            <m:ctrlPr>
                              <a:rPr lang="zh-CN" sz="18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radPr>
                          <m:deg/>
                          <m:e>
                            <m:r>
                              <m:rPr>
                                <m:sty m:val="p"/>
                              </m:rPr>
                              <a:rPr lang="zh-CN" sz="18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Var</m:t>
                            </m:r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8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sSub>
                                  <m:e>
                                    <m:acc>
                                      <m:accPr>
                                        <m:chr m:val="̅"/>
                                        <m:ctrlPr>
                                          <a:rPr lang="zh-CN" sz="180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zh-CN" sz="180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Y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zh-CN" sz="18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N</m:t>
                                    </m:r>
                                  </m:sub>
                                </m:sSub>
                              </m:e>
                            </m:d>
                          </m:e>
                        </m:rad>
                        <m:r>
                          <m:rPr>
                            <m:sty m:val="p"/>
                          </m:rPr>
                          <a:rPr lang="zh-CN" sz="18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f>
                          <m:fPr>
                            <m:type m:val="bar"/>
                            <m:ctrlPr>
                              <a:rPr lang="zh-CN" sz="18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r>
                              <a:rPr lang="zh-CN" sz="18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σ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zh-CN" sz="18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zh-CN" sz="18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N</m:t>
                                </m:r>
                              </m:e>
                            </m:rad>
                          </m:den>
                        </m:f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15" name="TextBox 15"/>
            <p:cNvSpPr txBox="1"/>
            <p:nvPr/>
          </p:nvSpPr>
          <p:spPr>
            <a:xfrm>
              <a:off x="773430" y="4152900"/>
              <a:ext cx="6210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估计为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6" name="formula128"/>
                <p:cNvSpPr txBox="1">
                  <a:spLocks noGrp="1"/>
                </p:cNvSpPr>
                <p:nvPr/>
              </p:nvSpPr>
              <p:spPr>
                <a:xfrm>
                  <a:off x="781050" y="4463415"/>
                  <a:ext cx="3048000" cy="66865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f>
                          <m:fPr>
                            <m:type m:val="bar"/>
                            <m:ctrlPr>
                              <a:rPr lang="zh-CN" sz="19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sSub>
                              <m:e>
                                <m:r>
                                  <a:rPr lang="zh-CN" sz="19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S</m:t>
                                </m:r>
                              </m:e>
                              <m:sub>
                                <m:r>
                                  <a:rPr lang="zh-CN" sz="19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N</m:t>
                                </m:r>
                              </m:sub>
                            </m:sSub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zh-CN" sz="19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zh-CN" sz="19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N</m:t>
                                </m:r>
                              </m:e>
                            </m:rad>
                          </m:den>
                        </m:f>
                      </m:oMath>
                    </m:oMathPara>
                  </a14:m>
                </a:p>
              </p:txBody>
            </p:sp>
          </mc:Choice>
        </mc:AlternateContent>
      </p:grpSp>
      <p:grpSp>
        <p:nvGrpSpPr>
          <p:cNvPr id="28" name="c2-card-1"/>
          <p:cNvGrpSpPr/>
          <p:nvPr/>
        </p:nvGrpSpPr>
        <p:grpSpPr>
          <a:xfrm>
            <a:off x="4343400" y="1524000"/>
            <a:ext cx="3505200" cy="3836670"/>
            <a:chOff x="4343400" y="1524000"/>
            <a:chExt cx="3505200" cy="3836670"/>
          </a:xfrm>
        </p:grpSpPr>
        <p:sp>
          <p:nvSpPr>
            <p:cNvPr id="18" name="Rectangle 18"/>
            <p:cNvSpPr/>
            <p:nvPr/>
          </p:nvSpPr>
          <p:spPr>
            <a:xfrm>
              <a:off x="4343400" y="1524000"/>
              <a:ext cx="3505200" cy="3836670"/>
            </a:xfrm>
            <a:prstGeom prst="roundRect">
              <a:avLst>
                <a:gd name="adj" fmla="val 380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4352925" y="1657350"/>
              <a:ext cx="47625" cy="3569970"/>
            </a:xfrm>
            <a:prstGeom prst="roundRect">
              <a:avLst>
                <a:gd name="adj" fmla="val 50000"/>
              </a:avLst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4591050" y="1733550"/>
              <a:ext cx="1181100" cy="257175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4652701" y="1769269"/>
              <a:ext cx="105779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MAE（11.11）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5878830" y="1768792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平均绝对误差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3" name="formula129"/>
                <p:cNvSpPr txBox="1">
                  <a:spLocks noGrp="1"/>
                </p:cNvSpPr>
                <p:nvPr/>
              </p:nvSpPr>
              <p:spPr>
                <a:xfrm>
                  <a:off x="4591050" y="2105025"/>
                  <a:ext cx="3048000" cy="4953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m:rPr>
                            <m:sty m:val="p"/>
                          </m:rPr>
                          <a:rPr lang="zh-CN" sz="19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MAE</m:t>
                        </m:r>
                        <m:r>
                          <m:rPr>
                            <m:sty m:val="p"/>
                          </m:rPr>
                          <a:rPr lang="zh-CN" sz="19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r>
                          <a:rPr lang="zh-CN" sz="19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E</m:t>
                        </m:r>
                        <m:d>
                          <m:dPr>
                            <m:begChr m:val="|"/>
                            <m:sepChr m:val=""/>
                            <m:endChr m:val="|"/>
                            <m:grow m:val="on"/>
                            <m:ctrlPr>
                              <a:rPr lang="zh-CN" sz="19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acc>
                              <m:accPr>
                                <m:chr m:val="ˆ"/>
                                <m:ctrlPr>
                                  <a:rPr lang="zh-CN" sz="19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accPr>
                              <m:e>
                                <m:r>
                                  <a:rPr lang="zh-CN" sz="19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θ</m:t>
                                </m:r>
                              </m:e>
                            </m:acc>
                            <m:r>
                              <m:rPr>
                                <m:sty m:val="p"/>
                              </m:rPr>
                              <a:rPr lang="zh-CN" sz="19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</m:t>
                            </m:r>
                            <m:r>
                              <a:rPr lang="zh-CN" sz="19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θ</m:t>
                            </m:r>
                          </m:e>
                        </m:d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24" name="TextBox 24"/>
            <p:cNvSpPr txBox="1"/>
            <p:nvPr/>
          </p:nvSpPr>
          <p:spPr>
            <a:xfrm>
              <a:off x="4583430" y="2720340"/>
              <a:ext cx="238791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由近似正态分布（11.12）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5" name="formula130"/>
                <p:cNvSpPr txBox="1">
                  <a:spLocks noGrp="1"/>
                </p:cNvSpPr>
                <p:nvPr/>
              </p:nvSpPr>
              <p:spPr>
                <a:xfrm>
                  <a:off x="4591050" y="3030855"/>
                  <a:ext cx="3048000" cy="5143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m:rPr>
                            <m:sty m:val="p"/>
                          </m:rP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MAE</m:t>
                        </m:r>
                        <m:r>
                          <m:rPr>
                            <m:sty m:val="p"/>
                          </m:rP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≈</m:t>
                        </m:r>
                        <m:rad>
                          <m:radPr>
                            <m:degHide m:val="on"/>
                            <m:ctrlP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radPr>
                          <m:deg/>
                          <m:e>
                            <m:f>
                              <m:fPr>
                                <m:type m:val="bar"/>
                                <m:ctrlP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fPr>
                              <m:num>
                                <m: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num>
                              <m:den>
                                <m: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π</m:t>
                                </m:r>
                              </m:den>
                            </m:f>
                          </m:e>
                        </m:rad>
                        <m:f>
                          <m:fPr>
                            <m:type m:val="bar"/>
                            <m:ctrlP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σ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N</m:t>
                                </m:r>
                              </m:e>
                            </m:rad>
                          </m:den>
                        </m:f>
                        <m:r>
                          <m:rPr>
                            <m:sty m:val="p"/>
                          </m:rP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≈</m:t>
                        </m:r>
                        <m: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0.7979</m:t>
                        </m:r>
                        <m:f>
                          <m:fPr>
                            <m:type m:val="bar"/>
                            <m:ctrlP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σ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N</m:t>
                                </m:r>
                              </m:e>
                            </m:rad>
                          </m:den>
                        </m:f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26" name="TextBox 26"/>
            <p:cNvSpPr txBox="1"/>
            <p:nvPr/>
          </p:nvSpPr>
          <p:spPr>
            <a:xfrm>
              <a:off x="4583430" y="3665220"/>
              <a:ext cx="6210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估计为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7" name="formula131"/>
                <p:cNvSpPr txBox="1">
                  <a:spLocks noGrp="1"/>
                </p:cNvSpPr>
                <p:nvPr/>
              </p:nvSpPr>
              <p:spPr>
                <a:xfrm>
                  <a:off x="4591050" y="3975735"/>
                  <a:ext cx="3048000" cy="66865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zh-CN" sz="19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0.80</m:t>
                        </m:r>
                        <m:f>
                          <m:fPr>
                            <m:type m:val="bar"/>
                            <m:ctrlPr>
                              <a:rPr lang="zh-CN" sz="19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sSub>
                              <m:e>
                                <m:r>
                                  <a:rPr lang="zh-CN" sz="19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S</m:t>
                                </m:r>
                              </m:e>
                              <m:sub>
                                <m:r>
                                  <a:rPr lang="zh-CN" sz="19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N</m:t>
                                </m:r>
                              </m:sub>
                            </m:sSub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zh-CN" sz="19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zh-CN" sz="19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N</m:t>
                                </m:r>
                              </m:e>
                            </m:rad>
                          </m:den>
                        </m:f>
                        <m:r>
                          <m:rPr>
                            <m:sty m:val="p"/>
                          </m:rPr>
                          <a:rPr lang="zh-CN" sz="19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r>
                          <a:rPr lang="zh-CN" sz="19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0.80</m:t>
                        </m:r>
                        <m:r>
                          <a:rPr lang="zh-CN" sz="19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 </m:t>
                        </m:r>
                        <m:r>
                          <m:rPr>
                            <m:sty m:val="p"/>
                          </m:rPr>
                          <a:rPr lang="zh-CN" sz="19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RMSE</m:t>
                        </m:r>
                      </m:oMath>
                    </m:oMathPara>
                  </a14:m>
                </a:p>
              </p:txBody>
            </p:sp>
          </mc:Choice>
        </mc:AlternateContent>
      </p:grpSp>
      <p:grpSp>
        <p:nvGrpSpPr>
          <p:cNvPr id="38" name="c3-card-1"/>
          <p:cNvGrpSpPr/>
          <p:nvPr/>
        </p:nvGrpSpPr>
        <p:grpSpPr>
          <a:xfrm>
            <a:off x="8153400" y="1524000"/>
            <a:ext cx="3505200" cy="3836670"/>
            <a:chOff x="8153400" y="1524000"/>
            <a:chExt cx="3505200" cy="3836670"/>
          </a:xfrm>
        </p:grpSpPr>
        <p:sp>
          <p:nvSpPr>
            <p:cNvPr id="29" name="Rectangle 29"/>
            <p:cNvSpPr/>
            <p:nvPr/>
          </p:nvSpPr>
          <p:spPr>
            <a:xfrm>
              <a:off x="8153400" y="1524000"/>
              <a:ext cx="3505200" cy="3836670"/>
            </a:xfrm>
            <a:prstGeom prst="roundRect">
              <a:avLst>
                <a:gd name="adj" fmla="val 380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8162925" y="1657350"/>
              <a:ext cx="47625" cy="3569970"/>
            </a:xfrm>
            <a:prstGeom prst="roundRect">
              <a:avLst>
                <a:gd name="adj" fmla="val 50000"/>
              </a:avLst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8401050" y="1733550"/>
              <a:ext cx="485775" cy="257175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8483494" y="1769269"/>
              <a:ext cx="32088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MRE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8993505" y="1768792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平均相对误差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4" name="formula132"/>
                <p:cNvSpPr txBox="1">
                  <a:spLocks noGrp="1"/>
                </p:cNvSpPr>
                <p:nvPr/>
              </p:nvSpPr>
              <p:spPr>
                <a:xfrm>
                  <a:off x="8401050" y="2105025"/>
                  <a:ext cx="3048000" cy="66865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m:rPr>
                            <m:sty m:val="p"/>
                          </m:rPr>
                          <a:rPr lang="zh-CN" sz="19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MRE</m:t>
                        </m:r>
                        <m:r>
                          <m:rPr>
                            <m:sty m:val="p"/>
                          </m:rPr>
                          <a:rPr lang="zh-CN" sz="19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r>
                          <a:rPr lang="zh-CN" sz="19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E</m:t>
                        </m:r>
                        <m:d>
                          <m:dPr>
                            <m:begChr m:val="|"/>
                            <m:sepChr m:val=""/>
                            <m:endChr m:val="|"/>
                            <m:grow m:val="on"/>
                            <m:ctrlPr>
                              <a:rPr lang="zh-CN" sz="19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zh-CN" sz="19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fPr>
                              <m:num>
                                <m:acc>
                                  <m:accPr>
                                    <m:chr m:val="ˆ"/>
                                    <m:ctrlPr>
                                      <a:rPr lang="zh-CN" sz="19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accPr>
                                  <m:e>
                                    <m:r>
                                      <a:rPr lang="zh-CN" sz="19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θ</m:t>
                                    </m:r>
                                  </m:e>
                                </m:acc>
                                <m:r>
                                  <m:rPr>
                                    <m:sty m:val="p"/>
                                  </m:rPr>
                                  <a:rPr lang="zh-CN" sz="19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</m:t>
                                </m:r>
                                <m:r>
                                  <a:rPr lang="zh-CN" sz="19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θ</m:t>
                                </m:r>
                              </m:num>
                              <m:den>
                                <m:r>
                                  <a:rPr lang="zh-CN" sz="19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θ</m:t>
                                </m:r>
                              </m:den>
                            </m:f>
                          </m:e>
                        </m:d>
                        <m:r>
                          <m:rPr>
                            <m:sty m:val="p"/>
                          </m:rPr>
                          <a:rPr lang="zh-CN" sz="19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f>
                          <m:fPr>
                            <m:type m:val="bar"/>
                            <m:ctrlPr>
                              <a:rPr lang="zh-CN" sz="19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lang="zh-CN" sz="19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MAE</m:t>
                            </m:r>
                          </m:num>
                          <m:den>
                            <m:d>
                              <m:dPr>
                                <m:begChr m:val="|"/>
                                <m:sepChr m:val=""/>
                                <m:endChr m:val="|"/>
                                <m:grow m:val="on"/>
                                <m:ctrlPr>
                                  <a:rPr lang="zh-CN" sz="19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9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θ</m:t>
                                </m:r>
                              </m:e>
                            </m:d>
                          </m:den>
                        </m:f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35" name="TextBox 35"/>
            <p:cNvSpPr txBox="1"/>
            <p:nvPr/>
          </p:nvSpPr>
          <p:spPr>
            <a:xfrm>
              <a:off x="8393430" y="2893695"/>
              <a:ext cx="6210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估计为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6" name="formula133"/>
                <p:cNvSpPr txBox="1">
                  <a:spLocks noGrp="1"/>
                </p:cNvSpPr>
                <p:nvPr/>
              </p:nvSpPr>
              <p:spPr>
                <a:xfrm>
                  <a:off x="8401050" y="3204210"/>
                  <a:ext cx="3048000" cy="64293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zh-CN" sz="18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0.80</m:t>
                        </m:r>
                        <m:f>
                          <m:fPr>
                            <m:type m:val="bar"/>
                            <m:ctrlPr>
                              <a:rPr lang="zh-CN" sz="18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sSub>
                              <m:e>
                                <m:r>
                                  <a:rPr lang="zh-CN" sz="18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S</m:t>
                                </m:r>
                              </m:e>
                              <m:sub>
                                <m:r>
                                  <a:rPr lang="zh-CN" sz="18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N</m:t>
                                </m:r>
                              </m:sub>
                            </m:sSub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zh-CN" sz="18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zh-CN" sz="18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N</m:t>
                                </m:r>
                              </m:e>
                            </m:rad>
                            <m:r>
                              <a:rPr lang="zh-CN" sz="18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 xml:space="preserve"> </m:t>
                            </m:r>
                            <m:d>
                              <m:dPr>
                                <m:begChr m:val="|"/>
                                <m:sepChr m:val=""/>
                                <m:endChr m:val="|"/>
                                <m:grow m:val="on"/>
                                <m:ctrlPr>
                                  <a:rPr lang="zh-CN" sz="18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acc>
                                  <m:accPr>
                                    <m:chr m:val="ˆ"/>
                                    <m:ctrlPr>
                                      <a:rPr lang="zh-CN" sz="18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accPr>
                                  <m:e>
                                    <m:r>
                                      <a:rPr lang="zh-CN" sz="18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θ</m:t>
                                    </m:r>
                                  </m:e>
                                </m:acc>
                              </m:e>
                            </m:d>
                          </m:den>
                        </m:f>
                        <m:r>
                          <m:rPr>
                            <m:sty m:val="p"/>
                          </m:rPr>
                          <a:rPr lang="zh-CN" sz="18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r>
                          <a:rPr lang="zh-CN" sz="18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0.80</m:t>
                        </m:r>
                        <m:f>
                          <m:fPr>
                            <m:type m:val="bar"/>
                            <m:ctrlPr>
                              <a:rPr lang="zh-CN" sz="18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lang="zh-CN" sz="18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RMSE</m:t>
                            </m:r>
                          </m:num>
                          <m:den>
                            <m:d>
                              <m:dPr>
                                <m:begChr m:val="|"/>
                                <m:sepChr m:val=""/>
                                <m:endChr m:val="|"/>
                                <m:grow m:val="on"/>
                                <m:ctrlPr>
                                  <a:rPr lang="zh-CN" sz="18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acc>
                                  <m:accPr>
                                    <m:chr m:val="ˆ"/>
                                    <m:ctrlPr>
                                      <a:rPr lang="zh-CN" sz="18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accPr>
                                  <m:e>
                                    <m:r>
                                      <a:rPr lang="zh-CN" sz="18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θ</m:t>
                                    </m:r>
                                  </m:e>
                                </m:acc>
                              </m:e>
                            </m:d>
                          </m:den>
                        </m:f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37" name="TextBox 37"/>
            <p:cNvSpPr txBox="1"/>
            <p:nvPr/>
          </p:nvSpPr>
          <p:spPr>
            <a:xfrm>
              <a:off x="8394573" y="3963829"/>
              <a:ext cx="2874010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原课件 MRE 的编号也写作 (11.11)，与</a:t>
              </a:r>
              <a:br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MAE 重复。</a:t>
              </a:r>
            </a:p>
          </p:txBody>
        </p:sp>
      </p:grpSp>
      <p:grpSp>
        <p:nvGrpSpPr>
          <p:cNvPr id="45" name="takeaway"/>
          <p:cNvGrpSpPr/>
          <p:nvPr/>
        </p:nvGrpSpPr>
        <p:grpSpPr>
          <a:xfrm>
            <a:off x="533400" y="5829300"/>
            <a:ext cx="11125200" cy="533400"/>
            <a:chOff x="533400" y="5829300"/>
            <a:chExt cx="11125200" cy="533400"/>
          </a:xfrm>
        </p:grpSpPr>
        <p:sp>
          <p:nvSpPr>
            <p:cNvPr id="39" name="Rectangle 39"/>
            <p:cNvSpPr/>
            <p:nvPr/>
          </p:nvSpPr>
          <p:spPr>
            <a:xfrm>
              <a:off x="533400" y="5829300"/>
              <a:ext cx="11125200" cy="533400"/>
            </a:xfrm>
            <a:prstGeom prst="roundRect">
              <a:avLst>
                <a:gd name="adj" fmla="val 21429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43" name="Group 43"/>
            <p:cNvGrpSpPr/>
            <p:nvPr/>
          </p:nvGrpSpPr>
          <p:grpSpPr>
            <a:xfrm>
              <a:off x="738188" y="5995988"/>
              <a:ext cx="200026" cy="200025"/>
              <a:chOff x="738188" y="5995988"/>
              <a:chExt cx="200026" cy="200025"/>
            </a:xfrm>
          </p:grpSpPr>
          <p:sp>
            <p:nvSpPr>
              <p:cNvPr id="40" name="Freeform 40"/>
              <p:cNvSpPr/>
              <p:nvPr/>
            </p:nvSpPr>
            <p:spPr>
              <a:xfrm>
                <a:off x="738188" y="599598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1" name="Freeform 41"/>
              <p:cNvSpPr/>
              <p:nvPr/>
            </p:nvSpPr>
            <p:spPr>
              <a:xfrm>
                <a:off x="777926" y="604043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2" name="Freeform 42"/>
              <p:cNvSpPr/>
              <p:nvPr/>
            </p:nvSpPr>
            <p:spPr>
              <a:xfrm>
                <a:off x="812642" y="615156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44" name="TextBox 44"/>
            <p:cNvSpPr txBox="1"/>
            <p:nvPr/>
          </p:nvSpPr>
          <p:spPr>
            <a:xfrm>
              <a:off x="1040130" y="5991225"/>
              <a:ext cx="1031481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0.7979 的来历：估计误差除以 σ/√N 后近似服从标准正态分布，而标准正态变量 Z 满足 E|Z| = √(2/π) ≈ 0.7979。</a:t>
              </a:r>
            </a:p>
          </p:txBody>
        </p:sp>
      </p:grpSp>
      <p:grpSp>
        <p:nvGrpSpPr>
          <p:cNvPr id="4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6" name="TextBox 46"/>
            <p:cNvSpPr txBox="1"/>
            <p:nvPr/>
          </p:nvSpPr>
          <p:spPr>
            <a:xfrm>
              <a:off x="528447" y="6581299"/>
              <a:ext cx="198882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统计计算 · 第3章 随机模拟（上）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977348" cy="909257"/>
            <a:chOff x="520446" y="342900"/>
            <a:chExt cx="697734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989898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9634" y="407194"/>
              <a:ext cx="289838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第3章 随机模拟（上） · 3.2 随机模拟积分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97734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例11.2 对例11.1 的平均值法估计做误差分析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c1-text-1"/>
          <p:cNvGrpSpPr/>
          <p:nvPr/>
        </p:nvGrpSpPr>
        <p:grpSpPr>
          <a:xfrm>
            <a:off x="526542" y="1545907"/>
            <a:ext cx="5020056" cy="529780"/>
            <a:chOff x="526542" y="1545907"/>
            <a:chExt cx="5020056" cy="529780"/>
          </a:xfrm>
        </p:grpSpPr>
        <p:sp>
          <p:nvSpPr>
            <p:cNvPr id="7" name="TextBox 7"/>
            <p:cNvSpPr txBox="1"/>
            <p:nvPr/>
          </p:nvSpPr>
          <p:spPr>
            <a:xfrm>
              <a:off x="526542" y="1545907"/>
              <a:ext cx="5020056" cy="5297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92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取 N = 10000 个样本点，一次模拟得到 Î = 0.8754，样本标准差 S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= 0.9409。</a:t>
              </a:r>
            </a:p>
          </p:txBody>
        </p:sp>
      </p:grpSp>
      <p:grpSp>
        <p:nvGrpSpPr>
          <p:cNvPr id="28" name="c1-table-2"/>
          <p:cNvGrpSpPr/>
          <p:nvPr/>
        </p:nvGrpSpPr>
        <p:grpSpPr>
          <a:xfrm>
            <a:off x="533400" y="2192655"/>
            <a:ext cx="5410200" cy="1600200"/>
            <a:chOff x="533400" y="2192655"/>
            <a:chExt cx="5410200" cy="1600200"/>
          </a:xfrm>
        </p:grpSpPr>
        <p:sp>
          <p:nvSpPr>
            <p:cNvPr id="9" name="Rectangle 9"/>
            <p:cNvSpPr/>
            <p:nvPr/>
          </p:nvSpPr>
          <p:spPr>
            <a:xfrm>
              <a:off x="533400" y="2192655"/>
              <a:ext cx="5410200" cy="400050"/>
            </a:xfrm>
            <a:prstGeom prst="rect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972223" y="231409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度量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3136303" y="231409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计算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5246091" y="231409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结果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922268" y="2714149"/>
              <a:ext cx="41288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RMSE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821180" y="2714149"/>
              <a:ext cx="142131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S/√N = 0.9409/100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5148087" y="2714149"/>
              <a:ext cx="50898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0.0094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533400" y="298799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533400" y="2992755"/>
              <a:ext cx="5410200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968269" y="3114199"/>
              <a:ext cx="32088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MAE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821180" y="3114199"/>
              <a:ext cx="217006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0.80 × RMSE = 0.80 × 0.0094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5148087" y="3114199"/>
              <a:ext cx="50898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0.0075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533400" y="338804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968269" y="3514249"/>
              <a:ext cx="32088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MRE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821180" y="3514249"/>
              <a:ext cx="180365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MAE/Î = 0.0075/0.8754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5135648" y="3514249"/>
              <a:ext cx="53386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0.0086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533400" y="2192655"/>
              <a:ext cx="5410200" cy="160020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26" name="Rectangle 26"/>
            <p:cNvSpPr/>
            <p:nvPr/>
          </p:nvSpPr>
          <p:spPr>
            <a:xfrm>
              <a:off x="1719262" y="2192655"/>
              <a:ext cx="9525" cy="16002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4856798" y="2192655"/>
              <a:ext cx="9525" cy="16002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34" name="c1-card-3"/>
          <p:cNvGrpSpPr/>
          <p:nvPr/>
        </p:nvGrpSpPr>
        <p:grpSpPr>
          <a:xfrm>
            <a:off x="533400" y="3963352"/>
            <a:ext cx="5410200" cy="2232660"/>
            <a:chOff x="533400" y="3963352"/>
            <a:chExt cx="5410200" cy="2232660"/>
          </a:xfrm>
        </p:grpSpPr>
        <p:sp>
          <p:nvSpPr>
            <p:cNvPr id="29" name="Rectangle 29"/>
            <p:cNvSpPr/>
            <p:nvPr/>
          </p:nvSpPr>
          <p:spPr>
            <a:xfrm>
              <a:off x="533400" y="3963352"/>
              <a:ext cx="5410200" cy="2232660"/>
            </a:xfrm>
            <a:prstGeom prst="roundRect">
              <a:avLst>
                <a:gd name="adj" fmla="val 597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542925" y="4096702"/>
              <a:ext cx="47625" cy="1965960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758190" y="4150042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850862" y="4182904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51332" y="4493895"/>
              <a:ext cx="4311110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原课件把 MRE 算作 0.0087。按 0.0075/0.8754 计算为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0.00857，四舍五入应为 </a:t>
              </a:r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0.0086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；用未舍入的 0.7979 ×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0.009409/0.8754 结果相同。</a:t>
              </a:r>
            </a:p>
          </p:txBody>
        </p:sp>
      </p:grpSp>
      <p:grpSp>
        <p:nvGrpSpPr>
          <p:cNvPr id="41" name="c2-card-1"/>
          <p:cNvGrpSpPr/>
          <p:nvPr/>
        </p:nvGrpSpPr>
        <p:grpSpPr>
          <a:xfrm>
            <a:off x="6248400" y="1524000"/>
            <a:ext cx="5410200" cy="1864995"/>
            <a:chOff x="6248400" y="1524000"/>
            <a:chExt cx="5410200" cy="1864995"/>
          </a:xfrm>
        </p:grpSpPr>
        <p:sp>
          <p:nvSpPr>
            <p:cNvPr id="35" name="Rectangle 35"/>
            <p:cNvSpPr/>
            <p:nvPr/>
          </p:nvSpPr>
          <p:spPr>
            <a:xfrm>
              <a:off x="6248400" y="1524000"/>
              <a:ext cx="5410200" cy="1864995"/>
            </a:xfrm>
            <a:prstGeom prst="roundRect">
              <a:avLst>
                <a:gd name="adj" fmla="val 7150"/>
              </a:avLst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36" name="Rectangle 36"/>
            <p:cNvSpPr/>
            <p:nvPr/>
          </p:nvSpPr>
          <p:spPr>
            <a:xfrm>
              <a:off x="6435090" y="1710690"/>
              <a:ext cx="1081088" cy="238125"/>
            </a:xfrm>
            <a:prstGeom prst="roundRect">
              <a:avLst>
                <a:gd name="adj" fmla="val 50000"/>
              </a:avLst>
            </a:prstGeom>
            <a:solidFill>
              <a:srgbClr val="23613D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6508458" y="1743551"/>
              <a:ext cx="9333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需要多大样本量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428232" y="2054542"/>
              <a:ext cx="382539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若要求 RMSE ≤ 0.001，由上一页的样本量公式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9" name="formula137"/>
                <p:cNvSpPr txBox="1">
                  <a:spLocks noGrp="1"/>
                </p:cNvSpPr>
                <p:nvPr/>
              </p:nvSpPr>
              <p:spPr>
                <a:xfrm>
                  <a:off x="6435090" y="2332672"/>
                  <a:ext cx="5036820" cy="59150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zh-CN" sz="172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N</m:t>
                        </m:r>
                        <m:r>
                          <m:rPr>
                            <m:sty m:val="p"/>
                          </m:rPr>
                          <a:rPr lang="zh-CN" sz="172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≥</m:t>
                        </m:r>
                        <m:sSup>
                          <m:e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72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type m:val="bar"/>
                                    <m:ctrlPr>
                                      <a:rPr lang="zh-CN" sz="172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fPr>
                                  <m:num>
                                    <m:r>
                                      <a:rPr lang="zh-CN" sz="172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0.9409</m:t>
                                    </m:r>
                                  </m:num>
                                  <m:den>
                                    <m:r>
                                      <a:rPr lang="zh-CN" sz="172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0.001</m:t>
                                    </m:r>
                                  </m:den>
                                </m:f>
                              </m:e>
                            </m:d>
                          </m:e>
                          <m:sup>
                            <m:r>
                              <a:rPr lang="zh-CN" sz="17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zh-CN" sz="172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≈</m:t>
                        </m:r>
                        <m:r>
                          <a:rPr lang="zh-CN" sz="172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8.85</m:t>
                        </m:r>
                        <m:r>
                          <m:rPr>
                            <m:sty m:val="p"/>
                          </m:rPr>
                          <a:rPr lang="zh-CN" sz="172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×</m:t>
                        </m:r>
                        <m:r>
                          <a:rPr lang="zh-CN" sz="172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1</m:t>
                        </m:r>
                        <m:sSup>
                          <m:e>
                            <m:r>
                              <a:rPr lang="zh-CN" sz="17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0</m:t>
                            </m:r>
                          </m:e>
                          <m:sup>
                            <m:r>
                              <a:rPr lang="zh-CN" sz="17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5</m:t>
                            </m:r>
                          </m:sup>
                        </m:sSup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40" name="TextBox 40"/>
            <p:cNvSpPr txBox="1"/>
            <p:nvPr/>
          </p:nvSpPr>
          <p:spPr>
            <a:xfrm>
              <a:off x="6429375" y="3026569"/>
              <a:ext cx="467035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误差要从 0.0094 降到 0.001（约 9.4 倍），样本量要增加约 88 倍。</a:t>
              </a:r>
            </a:p>
          </p:txBody>
        </p:sp>
      </p:grpSp>
      <p:grpSp>
        <p:nvGrpSpPr>
          <p:cNvPr id="45" name="c2-code-2"/>
          <p:cNvGrpSpPr/>
          <p:nvPr/>
        </p:nvGrpSpPr>
        <p:grpSpPr>
          <a:xfrm>
            <a:off x="6248400" y="3559492"/>
            <a:ext cx="5410200" cy="1737360"/>
            <a:chOff x="6248400" y="3559492"/>
            <a:chExt cx="5410200" cy="1737360"/>
          </a:xfrm>
        </p:grpSpPr>
        <p:sp>
          <p:nvSpPr>
            <p:cNvPr id="42" name="Rectangle 42"/>
            <p:cNvSpPr/>
            <p:nvPr/>
          </p:nvSpPr>
          <p:spPr>
            <a:xfrm>
              <a:off x="6248400" y="3559492"/>
              <a:ext cx="5410200" cy="1737360"/>
            </a:xfrm>
            <a:prstGeom prst="roundRect">
              <a:avLst>
                <a:gd name="adj" fmla="val 5482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6376797" y="3711416"/>
              <a:ext cx="154161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R：三种误差度量与样本量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6376797" y="3971449"/>
              <a:ext cx="3202305" cy="12479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88"/>
                </a:lnSpc>
              </a:pP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N &lt;- 1e4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y &lt;- abs(rnorm(N))^1.5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I.hat &lt;- mean(y)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S &lt;- sqrt(mean((y - I.hat)^2))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rmse &lt;- S / sqrt(N)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c(rmse, 0.80 * rmse, 0.80 * rmse / I.hat)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ceiling((S / 0.001)^2) 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# RMSE &lt;= 0.001 所需 N</a:t>
              </a:r>
            </a:p>
          </p:txBody>
        </p:sp>
      </p:grpSp>
      <p:grpSp>
        <p:nvGrpSpPr>
          <p:cNvPr id="52" name="c2-callout-3"/>
          <p:cNvGrpSpPr/>
          <p:nvPr/>
        </p:nvGrpSpPr>
        <p:grpSpPr>
          <a:xfrm>
            <a:off x="6248400" y="5466398"/>
            <a:ext cx="5410200" cy="729615"/>
            <a:chOff x="6248400" y="5466398"/>
            <a:chExt cx="5410200" cy="729615"/>
          </a:xfrm>
        </p:grpSpPr>
        <p:sp>
          <p:nvSpPr>
            <p:cNvPr id="46" name="Rectangle 46"/>
            <p:cNvSpPr/>
            <p:nvPr/>
          </p:nvSpPr>
          <p:spPr>
            <a:xfrm>
              <a:off x="6248400" y="5466398"/>
              <a:ext cx="5410200" cy="729615"/>
            </a:xfrm>
            <a:prstGeom prst="roundRect">
              <a:avLst>
                <a:gd name="adj" fmla="val 15666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50" name="Group 50"/>
            <p:cNvGrpSpPr/>
            <p:nvPr/>
          </p:nvGrpSpPr>
          <p:grpSpPr>
            <a:xfrm>
              <a:off x="6453188" y="5730240"/>
              <a:ext cx="200026" cy="200025"/>
              <a:chOff x="6453188" y="5730240"/>
              <a:chExt cx="200026" cy="200025"/>
            </a:xfrm>
          </p:grpSpPr>
          <p:sp>
            <p:nvSpPr>
              <p:cNvPr id="47" name="Freeform 47"/>
              <p:cNvSpPr/>
              <p:nvPr/>
            </p:nvSpPr>
            <p:spPr>
              <a:xfrm>
                <a:off x="6453188" y="5730240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8" name="Freeform 48"/>
              <p:cNvSpPr/>
              <p:nvPr/>
            </p:nvSpPr>
            <p:spPr>
              <a:xfrm>
                <a:off x="6492926" y="5774690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9" name="Freeform 49"/>
              <p:cNvSpPr/>
              <p:nvPr/>
            </p:nvSpPr>
            <p:spPr>
              <a:xfrm>
                <a:off x="6527642" y="5885816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51" name="TextBox 51"/>
            <p:cNvSpPr txBox="1"/>
            <p:nvPr/>
          </p:nvSpPr>
          <p:spPr>
            <a:xfrm>
              <a:off x="6755892" y="5612130"/>
              <a:ext cx="3717036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报告模拟结果时连同误差一起写，例如 0.8754 ±</a:t>
              </a:r>
              <a:br/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0.0094；真值 0.8600 落在 ±2 RMSE 的范围内。</a:t>
              </a:r>
            </a:p>
          </p:txBody>
        </p:sp>
      </p:grpSp>
      <p:grpSp>
        <p:nvGrpSpPr>
          <p:cNvPr id="5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3" name="TextBox 53"/>
            <p:cNvSpPr txBox="1"/>
            <p:nvPr/>
          </p:nvSpPr>
          <p:spPr>
            <a:xfrm>
              <a:off x="528447" y="6581299"/>
              <a:ext cx="198882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统计计算 · 第3章 随机模拟（上）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085482" cy="909257"/>
            <a:chOff x="520446" y="342900"/>
            <a:chExt cx="708548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989898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9634" y="407194"/>
              <a:ext cx="289838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第3章 随机模拟（上） · 3.2 随机模拟积分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08548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3.2.4 高维定积分：随机投点法推广到 d+1 维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c1-text-1"/>
          <p:cNvGrpSpPr/>
          <p:nvPr/>
        </p:nvGrpSpPr>
        <p:grpSpPr>
          <a:xfrm>
            <a:off x="526161" y="1547336"/>
            <a:ext cx="4820539" cy="558736"/>
            <a:chOff x="526161" y="1547336"/>
            <a:chExt cx="4820539" cy="558736"/>
          </a:xfrm>
        </p:grpSpPr>
        <p:sp>
          <p:nvSpPr>
            <p:cNvPr id="7" name="TextBox 7"/>
            <p:cNvSpPr txBox="1"/>
            <p:nvPr/>
          </p:nvSpPr>
          <p:spPr>
            <a:xfrm>
              <a:off x="526161" y="1547336"/>
              <a:ext cx="4820539" cy="5587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05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 元函数 h(x) 的自变量 x 有 d 个分量，定义域为超矩形 C =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{aᵢ ≤ xᵢ ≤ bᵢ, i = 1, …, d}，且 0 ≤ h ≤ M。计算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formula150"/>
              <p:cNvSpPr txBox="1">
                <a:spLocks noGrp="1"/>
              </p:cNvSpPr>
              <p:nvPr/>
            </p:nvSpPr>
            <p:spPr>
              <a:xfrm>
                <a:off x="533400" y="2230755"/>
                <a:ext cx="5410200" cy="640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zh-CN" sz="18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I</m:t>
                      </m:r>
                      <m:r>
                        <m:rPr>
                          <m:sty m:val="p"/>
                        </m:rPr>
                        <a:rPr lang="zh-CN" sz="18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nary>
                        <m:naryPr>
                          <m:chr m:val="∫"/>
                          <m:limLoc m:val="subSup"/>
                          <m:grow m:val="off"/>
                          <m:subHide m:val="off"/>
                          <m:supHide m:val="off"/>
                          <m:ctrlP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naryPr>
                        <m:sub>
                          <m:sSub>
                            <m:e>
                              <m: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a</m:t>
                              </m:r>
                            </m:e>
                            <m:sub>
                              <m: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d</m:t>
                              </m:r>
                            </m:sub>
                          </m:sSub>
                        </m:sub>
                        <m:sup>
                          <m:sSub>
                            <m:e>
                              <m: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b</m:t>
                              </m:r>
                            </m:e>
                            <m:sub>
                              <m: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d</m:t>
                              </m:r>
                            </m:sub>
                          </m:sSub>
                        </m:sup>
                        <m:e>
                          <m:r>
                            <m:rPr>
                              <m:sty m:val="p"/>
                            </m:rP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⋯</m:t>
                          </m:r>
                          <m:nary>
                            <m:naryPr>
                              <m:chr m:val="∫"/>
                              <m:limLoc m:val="subSup"/>
                              <m:grow m:val="off"/>
                              <m:subHide m:val="off"/>
                              <m:supHide m:val="off"/>
                              <m:ctrlP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naryPr>
                            <m:sub>
                              <m:sSub>
                                <m:e>
                                  <m:r>
                                    <a:rPr lang="zh-CN" sz="18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a</m:t>
                                  </m:r>
                                </m:e>
                                <m:sub>
                                  <m:r>
                                    <a:rPr lang="zh-CN" sz="18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1</m:t>
                                  </m:r>
                                </m:sub>
                              </m:sSub>
                            </m:sub>
                            <m:sup>
                              <m:sSub>
                                <m:e>
                                  <m:r>
                                    <a:rPr lang="zh-CN" sz="18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b</m:t>
                                  </m:r>
                                </m:e>
                                <m:sub>
                                  <m:r>
                                    <a:rPr lang="zh-CN" sz="18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1</m:t>
                                  </m:r>
                                </m:sub>
                              </m:sSub>
                            </m:sup>
                            <m:e>
                              <m: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h</m:t>
                              </m:r>
                              <m:d>
                                <m:dPr>
                                  <m:begChr m:val="("/>
                                  <m:sepChr m:val=""/>
                                  <m:endChr m:val=")"/>
                                  <m:grow m:val="on"/>
                                  <m:ctrlPr>
                                    <a:rPr lang="zh-CN" sz="18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dPr>
                                <m:e>
                                  <m:sSub>
                                    <m:e>
                                      <m:r>
                                        <a:rPr lang="zh-CN" sz="180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x</m:t>
                                      </m:r>
                                    </m:e>
                                    <m:sub>
                                      <m:r>
                                        <a:rPr lang="zh-CN" sz="180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1</m:t>
                                      </m:r>
                                    </m:sub>
                                  </m:sSub>
                                  <m:r>
                                    <m:rPr>
                                      <m:sty m:val="p"/>
                                    </m:rPr>
                                    <a:rPr lang="zh-CN" sz="18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,…,</m:t>
                                  </m:r>
                                  <m:sSub>
                                    <m:e>
                                      <m:r>
                                        <a:rPr lang="zh-CN" sz="180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x</m:t>
                                      </m:r>
                                    </m:e>
                                    <m:sub>
                                      <m:r>
                                        <a:rPr lang="zh-CN" sz="180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d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 xml:space="preserve"> </m:t>
                              </m:r>
                              <m: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d</m:t>
                              </m:r>
                              <m:sSub>
                                <m:e>
                                  <m:r>
                                    <a:rPr lang="zh-CN" sz="18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x</m:t>
                                  </m:r>
                                </m:e>
                                <m:sub>
                                  <m:r>
                                    <a:rPr lang="zh-CN" sz="18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m:rPr>
                                  <m:sty m:val="p"/>
                                </m:rP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⋯</m:t>
                              </m:r>
                              <m: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d</m:t>
                              </m:r>
                              <m:sSub>
                                <m:e>
                                  <m:r>
                                    <a:rPr lang="zh-CN" sz="18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x</m:t>
                                  </m:r>
                                </m:e>
                                <m:sub>
                                  <m:r>
                                    <a:rPr lang="zh-CN" sz="18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d</m:t>
                                  </m:r>
                                </m:sub>
                              </m:sSub>
                              <m: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 xml:space="preserve">  </m:t>
                              </m:r>
                              <m:d>
                                <m:dPr>
                                  <m:begChr m:val="("/>
                                  <m:sepChr m:val=""/>
                                  <m:endChr m:val=")"/>
                                  <m:grow m:val="on"/>
                                  <m:ctrlPr>
                                    <a:rPr lang="zh-CN" sz="18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dPr>
                                <m:e>
                                  <m:r>
                                    <a:rPr lang="zh-CN" sz="18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11.19</m:t>
                                  </m:r>
                                </m:e>
                              </m:d>
                            </m:e>
                          </m:nary>
                        </m:e>
                      </m:nary>
                    </m:oMath>
                  </m:oMathPara>
                </a14:m>
              </a:p>
            </p:txBody>
          </p:sp>
        </mc:Choice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formula151"/>
              <p:cNvSpPr txBox="1">
                <a:spLocks noGrp="1"/>
              </p:cNvSpPr>
              <p:nvPr/>
            </p:nvSpPr>
            <p:spPr>
              <a:xfrm>
                <a:off x="533400" y="3050858"/>
                <a:ext cx="5410200" cy="457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zh-CN" sz="18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D</m:t>
                      </m:r>
                      <m:r>
                        <m:rPr>
                          <m:sty m:val="p"/>
                        </m:rPr>
                        <a:rPr lang="zh-CN" sz="18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d>
                        <m:dPr>
                          <m:begChr m:val="{"/>
                          <m:sepChr m:val=""/>
                          <m:endChr m:val="}"/>
                          <m:grow m:val="on"/>
                          <m:ctrlP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b"/>
                                </m:rP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x</m:t>
                              </m:r>
                              <m:r>
                                <m:rPr>
                                  <m:sty m:val="p"/>
                                </m:rP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,</m:t>
                              </m:r>
                              <m: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y</m:t>
                              </m:r>
                            </m:e>
                          </m:d>
                          <m:r>
                            <m:rPr>
                              <m:sty m:val="p"/>
                            </m:rP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:</m:t>
                          </m:r>
                          <m:r>
                            <m:rPr>
                              <m:sty m:val="b"/>
                            </m:rP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x</m:t>
                          </m:r>
                          <m:r>
                            <m:rPr>
                              <m:sty m:val="p"/>
                            </m:rP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∈</m:t>
                          </m:r>
                          <m: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C</m:t>
                          </m:r>
                          <m:r>
                            <m:rPr>
                              <m:sty m:val="p"/>
                            </m:rP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,</m:t>
                          </m:r>
                          <m: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 xml:space="preserve"> </m:t>
                          </m:r>
                          <m: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0</m:t>
                          </m:r>
                          <m:r>
                            <m:rPr>
                              <m:sty m:val="p"/>
                            </m:rP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≤</m:t>
                          </m:r>
                          <m: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y</m:t>
                          </m:r>
                          <m:r>
                            <m:rPr>
                              <m:sty m:val="p"/>
                            </m:rP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≤</m:t>
                          </m:r>
                          <m: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h</m:t>
                          </m:r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b"/>
                                </m:rP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x</m:t>
                              </m:r>
                            </m:e>
                          </m:d>
                        </m:e>
                      </m:d>
                    </m:oMath>
                  </m:oMathPara>
                </a14:m>
              </a:p>
            </p:txBody>
          </p:sp>
        </mc:Choice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formula152"/>
              <p:cNvSpPr txBox="1">
                <a:spLocks noGrp="1"/>
              </p:cNvSpPr>
              <p:nvPr/>
            </p:nvSpPr>
            <p:spPr>
              <a:xfrm>
                <a:off x="533400" y="3688080"/>
                <a:ext cx="5410200" cy="457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zh-CN" sz="18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G</m:t>
                      </m:r>
                      <m:r>
                        <m:rPr>
                          <m:sty m:val="p"/>
                        </m:rPr>
                        <a:rPr lang="zh-CN" sz="18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d>
                        <m:dPr>
                          <m:begChr m:val="{"/>
                          <m:sepChr m:val=""/>
                          <m:endChr m:val="}"/>
                          <m:grow m:val="on"/>
                          <m:ctrlP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b"/>
                                </m:rP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x</m:t>
                              </m:r>
                              <m:r>
                                <m:rPr>
                                  <m:sty m:val="p"/>
                                </m:rP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,</m:t>
                              </m:r>
                              <m: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y</m:t>
                              </m:r>
                            </m:e>
                          </m:d>
                          <m:r>
                            <m:rPr>
                              <m:sty m:val="p"/>
                            </m:rP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:</m:t>
                          </m:r>
                          <m:r>
                            <m:rPr>
                              <m:sty m:val="b"/>
                            </m:rP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x</m:t>
                          </m:r>
                          <m:r>
                            <m:rPr>
                              <m:sty m:val="p"/>
                            </m:rP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∈</m:t>
                          </m:r>
                          <m: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C</m:t>
                          </m:r>
                          <m:r>
                            <m:rPr>
                              <m:sty m:val="p"/>
                            </m:rP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,</m:t>
                          </m:r>
                          <m: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 xml:space="preserve"> </m:t>
                          </m:r>
                          <m: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0</m:t>
                          </m:r>
                          <m:r>
                            <m:rPr>
                              <m:sty m:val="p"/>
                            </m:rP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≤</m:t>
                          </m:r>
                          <m: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y</m:t>
                          </m:r>
                          <m:r>
                            <m:rPr>
                              <m:sty m:val="p"/>
                            </m:rP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≤</m:t>
                          </m:r>
                          <m: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M</m:t>
                          </m:r>
                        </m:e>
                      </m:d>
                    </m:oMath>
                  </m:oMathPara>
                </a14:m>
              </a:p>
            </p:txBody>
          </p:sp>
        </mc:Choice>
      </mc:AlternateContent>
      <p:grpSp>
        <p:nvGrpSpPr>
          <p:cNvPr id="13" name="c1-text-5"/>
          <p:cNvGrpSpPr/>
          <p:nvPr/>
        </p:nvGrpSpPr>
        <p:grpSpPr>
          <a:xfrm>
            <a:off x="526161" y="4349591"/>
            <a:ext cx="4937760" cy="838772"/>
            <a:chOff x="526161" y="4349591"/>
            <a:chExt cx="4937760" cy="838772"/>
          </a:xfrm>
        </p:grpSpPr>
        <p:sp>
          <p:nvSpPr>
            <p:cNvPr id="12" name="TextBox 12"/>
            <p:cNvSpPr txBox="1"/>
            <p:nvPr/>
          </p:nvSpPr>
          <p:spPr>
            <a:xfrm>
              <a:off x="526161" y="4349591"/>
              <a:ext cx="4937760" cy="8387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05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Z₁, Z₂, … 是 d+1 维超矩形 G 内均匀分布的 N 个独立抽样，令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ξᵢ = 1（Zᵢ ∈ D），ξᵢ = 0（Zᵢ ∈ G − D），则 ξᵢ iid ~ b(1,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p)。</a:t>
              </a:r>
            </a:p>
          </p:txBody>
        </p:sp>
      </p:grpSp>
      <p:grpSp>
        <p:nvGrpSpPr>
          <p:cNvPr id="20" name="c1-callout-6"/>
          <p:cNvGrpSpPr/>
          <p:nvPr/>
        </p:nvGrpSpPr>
        <p:grpSpPr>
          <a:xfrm>
            <a:off x="533400" y="5313045"/>
            <a:ext cx="5410200" cy="756285"/>
            <a:chOff x="533400" y="5313045"/>
            <a:chExt cx="5410200" cy="756285"/>
          </a:xfrm>
        </p:grpSpPr>
        <p:sp>
          <p:nvSpPr>
            <p:cNvPr id="14" name="Rectangle 14"/>
            <p:cNvSpPr/>
            <p:nvPr/>
          </p:nvSpPr>
          <p:spPr>
            <a:xfrm>
              <a:off x="533400" y="5313045"/>
              <a:ext cx="5410200" cy="756285"/>
            </a:xfrm>
            <a:prstGeom prst="roundRect">
              <a:avLst>
                <a:gd name="adj" fmla="val 15113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18" name="Group 18"/>
            <p:cNvGrpSpPr/>
            <p:nvPr/>
          </p:nvGrpSpPr>
          <p:grpSpPr>
            <a:xfrm>
              <a:off x="738188" y="5591175"/>
              <a:ext cx="200026" cy="200026"/>
              <a:chOff x="738188" y="5591175"/>
              <a:chExt cx="200026" cy="200026"/>
            </a:xfrm>
          </p:grpSpPr>
          <p:sp>
            <p:nvSpPr>
              <p:cNvPr id="15" name="Freeform 15"/>
              <p:cNvSpPr/>
              <p:nvPr/>
            </p:nvSpPr>
            <p:spPr>
              <a:xfrm>
                <a:off x="738188" y="5591175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16" name="Freeform 16"/>
              <p:cNvSpPr/>
              <p:nvPr/>
            </p:nvSpPr>
            <p:spPr>
              <a:xfrm>
                <a:off x="838200" y="565785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17" name="Freeform 17"/>
              <p:cNvSpPr/>
              <p:nvPr/>
            </p:nvSpPr>
            <p:spPr>
              <a:xfrm>
                <a:off x="827088" y="5691188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19" name="TextBox 19"/>
            <p:cNvSpPr txBox="1"/>
            <p:nvPr/>
          </p:nvSpPr>
          <p:spPr>
            <a:xfrm>
              <a:off x="1040511" y="5461159"/>
              <a:ext cx="4513961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 = 1 就是 3.2.1 的随机投点法：C 是区间 [a, b]，G 是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矩形，D 是曲线 y = h(x) 下方的区域。</a:t>
              </a:r>
            </a:p>
          </p:txBody>
        </p:sp>
      </p:grpSp>
      <p:grpSp>
        <p:nvGrpSpPr>
          <p:cNvPr id="22" name="c2-text-1"/>
          <p:cNvGrpSpPr/>
          <p:nvPr/>
        </p:nvGrpSpPr>
        <p:grpSpPr>
          <a:xfrm>
            <a:off x="6241161" y="1547336"/>
            <a:ext cx="1715445" cy="278702"/>
            <a:chOff x="6241161" y="1547336"/>
            <a:chExt cx="1715445" cy="278702"/>
          </a:xfrm>
        </p:grpSpPr>
        <p:sp>
          <p:nvSpPr>
            <p:cNvPr id="21" name="TextBox 21"/>
            <p:cNvSpPr txBox="1"/>
            <p:nvPr/>
          </p:nvSpPr>
          <p:spPr>
            <a:xfrm>
              <a:off x="6241161" y="1547336"/>
              <a:ext cx="171544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 表示区域体积，则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23" name="formula153"/>
              <p:cNvSpPr txBox="1">
                <a:spLocks noGrp="1"/>
              </p:cNvSpPr>
              <p:nvPr/>
            </p:nvSpPr>
            <p:spPr>
              <a:xfrm>
                <a:off x="6248400" y="1950720"/>
                <a:ext cx="5410200" cy="7543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zh-CN" sz="18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p</m:t>
                      </m:r>
                      <m:r>
                        <m:rPr>
                          <m:sty m:val="p"/>
                        </m:rPr>
                        <a:rPr lang="zh-CN" sz="18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r>
                        <a:rPr lang="zh-CN" sz="18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P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sSub>
                            <m:e>
                              <m:r>
                                <m:rPr>
                                  <m:sty m:val="b"/>
                                </m:rP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Z</m:t>
                              </m:r>
                            </m:e>
                            <m:sub>
                              <m: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i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∈</m:t>
                          </m:r>
                          <m: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D</m:t>
                          </m:r>
                        </m:e>
                      </m:d>
                      <m:r>
                        <m:rPr>
                          <m:sty m:val="p"/>
                        </m:rPr>
                        <a:rPr lang="zh-CN" sz="18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f>
                        <m:fPr>
                          <m:type m:val="bar"/>
                          <m:ctrlP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V</m:t>
                          </m:r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D</m:t>
                              </m:r>
                            </m:e>
                          </m:d>
                        </m:num>
                        <m:den>
                          <m: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V</m:t>
                          </m:r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G</m:t>
                              </m:r>
                            </m:e>
                          </m:d>
                        </m:den>
                      </m:f>
                      <m:r>
                        <m:rPr>
                          <m:sty m:val="p"/>
                        </m:rPr>
                        <a:rPr lang="zh-CN" sz="18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f>
                        <m:fPr>
                          <m:type m:val="bar"/>
                          <m:ctrlP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I</m:t>
                          </m:r>
                        </m:num>
                        <m:den>
                          <m: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M</m:t>
                          </m:r>
                          <m: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 xml:space="preserve"> </m:t>
                          </m:r>
                          <m: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V</m:t>
                          </m:r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C</m:t>
                              </m:r>
                            </m:e>
                          </m:d>
                        </m:den>
                      </m:f>
                      <m:r>
                        <m:rPr>
                          <m:sty m:val="p"/>
                        </m:rPr>
                        <a:rPr lang="zh-CN" sz="18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f>
                        <m:fPr>
                          <m:type m:val="bar"/>
                          <m:ctrlP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I</m:t>
                          </m:r>
                        </m:num>
                        <m:den>
                          <m: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M</m:t>
                          </m:r>
                          <m:nary>
                            <m:naryPr>
                              <m:chr m:val="∏"/>
                              <m:limLoc m:val="undOvr"/>
                              <m:grow m:val="off"/>
                              <m:subHide m:val="off"/>
                              <m:supHide m:val="off"/>
                              <m:ctrlP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naryPr>
                            <m:sub>
                              <m: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j</m:t>
                              </m:r>
                              <m:r>
                                <m:rPr>
                                  <m:sty m:val="p"/>
                                </m:rP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=</m:t>
                              </m:r>
                              <m: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d</m:t>
                              </m:r>
                            </m:sup>
                            <m:e>
                              <m:d>
                                <m:dPr>
                                  <m:begChr m:val="("/>
                                  <m:sepChr m:val=""/>
                                  <m:endChr m:val=")"/>
                                  <m:grow m:val="on"/>
                                  <m:ctrlPr>
                                    <a:rPr lang="zh-CN" sz="18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dPr>
                                <m:e>
                                  <m:sSub>
                                    <m:e>
                                      <m:r>
                                        <a:rPr lang="zh-CN" sz="180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b</m:t>
                                      </m:r>
                                    </m:e>
                                    <m:sub>
                                      <m:r>
                                        <a:rPr lang="zh-CN" sz="180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j</m:t>
                                      </m:r>
                                    </m:sub>
                                  </m:sSub>
                                  <m:r>
                                    <m:rPr>
                                      <m:sty m:val="p"/>
                                    </m:rPr>
                                    <a:rPr lang="zh-CN" sz="18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−</m:t>
                                  </m:r>
                                  <m:sSub>
                                    <m:e>
                                      <m:r>
                                        <a:rPr lang="zh-CN" sz="180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a</m:t>
                                      </m:r>
                                    </m:e>
                                    <m:sub>
                                      <m:r>
                                        <a:rPr lang="zh-CN" sz="180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j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nary>
                        </m:den>
                      </m:f>
                    </m:oMath>
                  </m:oMathPara>
                </a14:m>
              </a:p>
            </p:txBody>
          </p:sp>
        </mc:Choice>
      </mc:AlternateContent>
      <p:grpSp>
        <p:nvGrpSpPr>
          <p:cNvPr id="29" name="c2-card-3"/>
          <p:cNvGrpSpPr/>
          <p:nvPr/>
        </p:nvGrpSpPr>
        <p:grpSpPr>
          <a:xfrm>
            <a:off x="6248400" y="2885122"/>
            <a:ext cx="5410200" cy="1823085"/>
            <a:chOff x="6248400" y="2885122"/>
            <a:chExt cx="5410200" cy="1823085"/>
          </a:xfrm>
        </p:grpSpPr>
        <p:sp>
          <p:nvSpPr>
            <p:cNvPr id="24" name="Rectangle 24"/>
            <p:cNvSpPr/>
            <p:nvPr/>
          </p:nvSpPr>
          <p:spPr>
            <a:xfrm>
              <a:off x="6248400" y="2885122"/>
              <a:ext cx="5410200" cy="1823085"/>
            </a:xfrm>
            <a:prstGeom prst="roundRect">
              <a:avLst>
                <a:gd name="adj" fmla="val 7315"/>
              </a:avLst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6446520" y="3083242"/>
              <a:ext cx="1794510" cy="247650"/>
            </a:xfrm>
            <a:prstGeom prst="roundRect">
              <a:avLst>
                <a:gd name="adj" fmla="val 50000"/>
              </a:avLst>
            </a:prstGeom>
            <a:solidFill>
              <a:srgbClr val="23613D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498286" y="3117532"/>
              <a:ext cx="169097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随机投点法估计（11.20）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7" name="formula154"/>
                <p:cNvSpPr txBox="1">
                  <a:spLocks noGrp="1"/>
                </p:cNvSpPr>
                <p:nvPr/>
              </p:nvSpPr>
              <p:spPr>
                <a:xfrm>
                  <a:off x="6446520" y="3420428"/>
                  <a:ext cx="5013960" cy="75438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sSub>
                          <m:e>
                            <m:acc>
                              <m:accPr>
                                <m:chr m:val="ˆ"/>
                                <m:ctrlPr>
                                  <a:rPr lang="zh-CN" sz="18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accPr>
                              <m:e>
                                <m:r>
                                  <a:rPr lang="zh-CN" sz="18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I</m:t>
                                </m:r>
                              </m:e>
                            </m:acc>
                          </m:e>
                          <m:sub>
                            <m:r>
                              <a:rPr lang="zh-CN" sz="18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zh-CN" sz="180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acc>
                          <m:accPr>
                            <m:chr m:val="ˆ"/>
                            <m:ctrlPr>
                              <a:rPr lang="zh-CN" sz="18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accPr>
                          <m:e>
                            <m:r>
                              <a:rPr lang="zh-CN" sz="18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p</m:t>
                            </m:r>
                          </m:e>
                        </m:acc>
                        <m:r>
                          <a:rPr lang="zh-CN" sz="180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 </m:t>
                        </m:r>
                        <m:r>
                          <a:rPr lang="zh-CN" sz="180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V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8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8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G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80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acc>
                          <m:accPr>
                            <m:chr m:val="ˆ"/>
                            <m:ctrlPr>
                              <a:rPr lang="zh-CN" sz="18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accPr>
                          <m:e>
                            <m:r>
                              <a:rPr lang="zh-CN" sz="18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p</m:t>
                            </m:r>
                          </m:e>
                        </m:acc>
                        <m:r>
                          <m:rPr>
                            <m:sty m:val="p"/>
                          </m:rPr>
                          <a:rPr lang="zh-CN" sz="180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⋅</m:t>
                        </m:r>
                        <m:r>
                          <a:rPr lang="zh-CN" sz="180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M</m:t>
                        </m:r>
                        <m:nary>
                          <m:naryPr>
                            <m:chr m:val="∏"/>
                            <m:limLoc m:val="undOvr"/>
                            <m:grow m:val="off"/>
                            <m:subHide m:val="off"/>
                            <m:supHide m:val="off"/>
                            <m:ctrlPr>
                              <a:rPr lang="zh-CN" sz="18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naryPr>
                          <m:sub>
                            <m:r>
                              <a:rPr lang="zh-CN" sz="18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j</m:t>
                            </m:r>
                            <m:r>
                              <m:rPr>
                                <m:sty m:val="p"/>
                              </m:rPr>
                              <a:rPr lang="zh-CN" sz="18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=</m:t>
                            </m:r>
                            <m:r>
                              <a:rPr lang="zh-CN" sz="18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sub>
                          <m:sup>
                            <m:r>
                              <a:rPr lang="zh-CN" sz="18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d</m:t>
                            </m:r>
                          </m:sup>
                          <m:e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8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sSub>
                                  <m:e>
                                    <m:r>
                                      <a:rPr lang="zh-CN" sz="180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b</m:t>
                                    </m:r>
                                  </m:e>
                                  <m:sub>
                                    <m:r>
                                      <a:rPr lang="zh-CN" sz="180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j</m:t>
                                    </m:r>
                                  </m:sub>
                                </m:sSub>
                                <m:r>
                                  <m:rPr>
                                    <m:sty m:val="p"/>
                                  </m:rPr>
                                  <a:rPr lang="zh-CN" sz="18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</m:t>
                                </m:r>
                                <m:sSub>
                                  <m:e>
                                    <m:r>
                                      <a:rPr lang="zh-CN" sz="180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a</m:t>
                                    </m:r>
                                  </m:e>
                                  <m:sub>
                                    <m:r>
                                      <a:rPr lang="zh-CN" sz="180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j</m:t>
                                    </m:r>
                                  </m:sub>
                                </m:sSub>
                              </m:e>
                            </m:d>
                          </m:e>
                        </m:nary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28" name="TextBox 28"/>
            <p:cNvSpPr txBox="1"/>
            <p:nvPr/>
          </p:nvSpPr>
          <p:spPr>
            <a:xfrm>
              <a:off x="6439281" y="4287679"/>
              <a:ext cx="268134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是 I 的无偏估计和强相合估计。</a:t>
              </a:r>
            </a:p>
          </p:txBody>
        </p:sp>
      </p:grpSp>
      <p:grpSp>
        <p:nvGrpSpPr>
          <p:cNvPr id="31" name="c2-text-4"/>
          <p:cNvGrpSpPr/>
          <p:nvPr/>
        </p:nvGrpSpPr>
        <p:grpSpPr>
          <a:xfrm>
            <a:off x="6241161" y="4912519"/>
            <a:ext cx="3407575" cy="278702"/>
            <a:chOff x="6241161" y="4912519"/>
            <a:chExt cx="3407575" cy="278702"/>
          </a:xfrm>
        </p:grpSpPr>
        <p:sp>
          <p:nvSpPr>
            <p:cNvPr id="30" name="TextBox 30"/>
            <p:cNvSpPr txBox="1"/>
            <p:nvPr/>
          </p:nvSpPr>
          <p:spPr>
            <a:xfrm>
              <a:off x="6241161" y="4912519"/>
              <a:ext cx="340757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由中心极限定理，渐近方差为（11.21）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32" name="formula155"/>
              <p:cNvSpPr txBox="1">
                <a:spLocks noGrp="1"/>
              </p:cNvSpPr>
              <p:nvPr/>
            </p:nvSpPr>
            <p:spPr>
              <a:xfrm>
                <a:off x="6248400" y="5314950"/>
                <a:ext cx="5410200" cy="800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f>
                        <m:fPr>
                          <m:type m:val="bar"/>
                          <m:ctrlP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sSup>
                            <m:e>
                              <m:d>
                                <m:dPr>
                                  <m:begChr m:val="("/>
                                  <m:sepChr m:val=""/>
                                  <m:endChr m:val=")"/>
                                  <m:grow m:val="on"/>
                                  <m:ctrlPr>
                                    <a:rPr lang="zh-CN" sz="18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dPr>
                                <m:e>
                                  <m:r>
                                    <a:rPr lang="zh-CN" sz="18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M</m:t>
                                  </m:r>
                                  <m:nary>
                                    <m:naryPr>
                                      <m:chr m:val="∏"/>
                                      <m:limLoc m:val="undOvr"/>
                                      <m:grow m:val="off"/>
                                      <m:subHide m:val="off"/>
                                      <m:supHide m:val="off"/>
                                      <m:ctrlPr>
                                        <a:rPr lang="zh-CN" sz="180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</m:ctrlPr>
                                    </m:naryPr>
                                    <m:sub>
                                      <m:r>
                                        <a:rPr lang="zh-CN" sz="180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j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a:rPr lang="zh-CN" sz="180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=</m:t>
                                      </m:r>
                                      <m:r>
                                        <a:rPr lang="zh-CN" sz="180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1</m:t>
                                      </m:r>
                                    </m:sub>
                                    <m:sup>
                                      <m:r>
                                        <a:rPr lang="zh-CN" sz="180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d</m:t>
                                      </m:r>
                                    </m:sup>
                                    <m:e>
                                      <m:d>
                                        <m:dPr>
                                          <m:begChr m:val="("/>
                                          <m:sepChr m:val=""/>
                                          <m:endChr m:val=")"/>
                                          <m:grow m:val="on"/>
                                          <m:ctrlPr>
                                            <a:rPr lang="zh-CN" sz="180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e>
                                              <m:r>
                                                <a:rPr lang="zh-CN" sz="1800" dirty="0">
                                                  <a:solidFill>
                                                    <a:srgbClr val="1F2937"/>
                                                  </a:solidFill>
                                                  <a:latin typeface="Cambria Math"/>
                                                  <a:ea typeface="Cambria Math"/>
                                                  <a:cs typeface="Cambria Math"/>
                                                </a:rPr>
                                                <m:t>b</m:t>
                                              </m:r>
                                            </m:e>
                                            <m:sub>
                                              <m:r>
                                                <a:rPr lang="zh-CN" sz="1800" dirty="0">
                                                  <a:solidFill>
                                                    <a:srgbClr val="1F2937"/>
                                                  </a:solidFill>
                                                  <a:latin typeface="Cambria Math"/>
                                                  <a:ea typeface="Cambria Math"/>
                                                  <a:cs typeface="Cambria Math"/>
                                                </a:rPr>
                                                <m:t>j</m:t>
                                              </m:r>
                                            </m:sub>
                                          </m:sSub>
                                          <m:r>
                                            <m:rPr>
                                              <m:sty m:val="p"/>
                                            </m:rPr>
                                            <a:rPr lang="zh-CN" sz="180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−</m:t>
                                          </m:r>
                                          <m:sSub>
                                            <m:e>
                                              <m:r>
                                                <a:rPr lang="zh-CN" sz="1800" dirty="0">
                                                  <a:solidFill>
                                                    <a:srgbClr val="1F2937"/>
                                                  </a:solidFill>
                                                  <a:latin typeface="Cambria Math"/>
                                                  <a:ea typeface="Cambria Math"/>
                                                  <a:cs typeface="Cambria Math"/>
                                                </a:rPr>
                                                <m:t>a</m:t>
                                              </m:r>
                                            </m:e>
                                            <m:sub>
                                              <m:r>
                                                <a:rPr lang="zh-CN" sz="1800" dirty="0">
                                                  <a:solidFill>
                                                    <a:srgbClr val="1F2937"/>
                                                  </a:solidFill>
                                                  <a:latin typeface="Cambria Math"/>
                                                  <a:ea typeface="Cambria Math"/>
                                                  <a:cs typeface="Cambria Math"/>
                                                </a:rPr>
                                                <m:t>j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</m:e>
                                  </m:nary>
                                </m:e>
                              </m:d>
                            </m:e>
                            <m:sup>
                              <m: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2</m:t>
                              </m:r>
                            </m:sup>
                          </m:sSup>
                          <m: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p</m:t>
                          </m:r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1</m:t>
                              </m:r>
                              <m:r>
                                <m:rPr>
                                  <m:sty m:val="p"/>
                                </m:rP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−</m:t>
                              </m:r>
                              <m: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p</m:t>
                              </m:r>
                            </m:e>
                          </m:d>
                        </m:num>
                        <m:den>
                          <m: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N</m:t>
                          </m:r>
                        </m:den>
                      </m:f>
                    </m:oMath>
                  </m:oMathPara>
                </a14:m>
              </a:p>
            </p:txBody>
          </p:sp>
        </mc:Choice>
      </mc:AlternateContent>
      <p:grpSp>
        <p:nvGrpSpPr>
          <p:cNvPr id="3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33" name="TextBox 33"/>
            <p:cNvSpPr txBox="1"/>
            <p:nvPr/>
          </p:nvSpPr>
          <p:spPr>
            <a:xfrm>
              <a:off x="528447" y="6581299"/>
              <a:ext cx="198882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统计计算 · 第3章 随机模拟（上）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4145280" cy="909257"/>
            <a:chOff x="520446" y="342900"/>
            <a:chExt cx="4145280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989898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9634" y="407194"/>
              <a:ext cx="289838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第3章 随机模拟（上） · 3.2 随机模拟积分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414528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多重积分随机投点法的算法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0" name="c1-code-1"/>
          <p:cNvGrpSpPr/>
          <p:nvPr/>
        </p:nvGrpSpPr>
        <p:grpSpPr>
          <a:xfrm>
            <a:off x="533400" y="1524000"/>
            <a:ext cx="5410200" cy="2207895"/>
            <a:chOff x="533400" y="1524000"/>
            <a:chExt cx="5410200" cy="220789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2207895"/>
            </a:xfrm>
            <a:prstGeom prst="roundRect">
              <a:avLst>
                <a:gd name="adj" fmla="val 4314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61797" y="1675924"/>
              <a:ext cx="198882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伪代码：单位立方体上的随机投点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61416" y="1937385"/>
              <a:ext cx="3544443" cy="17217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92"/>
                </a:lnSpc>
              </a:pPr>
              <a:r>
                <a:rPr lang="zh-CN" sz="105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>输入：总试验次数 N，函数 f，0 &lt;= f &lt;= 1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>m &lt;- 0                      # 成功次数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for n in 1..N: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 xml:space="preserve">    产生 k+1 个独立 U(0,1) 随机数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xi = (xi_1, ..., xi_k), eta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if eta &lt;= f(xi_1, ..., xi_k):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 xml:space="preserve">        m &lt;- m + 1          # 点落入区域，试验成功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theta1 &lt;- m / N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>返回 theta1                  # 即 I 的估计</a:t>
              </a:r>
            </a:p>
          </p:txBody>
        </p:sp>
      </p:grpSp>
      <p:grpSp>
        <p:nvGrpSpPr>
          <p:cNvPr id="12" name="c1-text-2"/>
          <p:cNvGrpSpPr/>
          <p:nvPr/>
        </p:nvGrpSpPr>
        <p:grpSpPr>
          <a:xfrm>
            <a:off x="527304" y="3931920"/>
            <a:ext cx="5049012" cy="470916"/>
            <a:chOff x="527304" y="3931920"/>
            <a:chExt cx="5049012" cy="470916"/>
          </a:xfrm>
        </p:grpSpPr>
        <p:sp>
          <p:nvSpPr>
            <p:cNvPr id="11" name="TextBox 11"/>
            <p:cNvSpPr txBox="1"/>
            <p:nvPr/>
          </p:nvSpPr>
          <p:spPr>
            <a:xfrm>
              <a:off x="527304" y="3931920"/>
              <a:ext cx="5049012" cy="470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6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原课件用 ①–⑤ 带转移的写法（赋初值、投点、判断 n ≤ N、检验、计算 θ₁ =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m/N），与上面的循环等价。</a:t>
              </a:r>
            </a:p>
          </p:txBody>
        </p:sp>
      </p:grpSp>
      <p:grpSp>
        <p:nvGrpSpPr>
          <p:cNvPr id="21" name="c1-kv-3"/>
          <p:cNvGrpSpPr/>
          <p:nvPr/>
        </p:nvGrpSpPr>
        <p:grpSpPr>
          <a:xfrm>
            <a:off x="526161" y="4560094"/>
            <a:ext cx="5417439" cy="1646492"/>
            <a:chOff x="526161" y="4560094"/>
            <a:chExt cx="5417439" cy="1646492"/>
          </a:xfrm>
        </p:grpSpPr>
        <p:sp>
          <p:nvSpPr>
            <p:cNvPr id="13" name="TextBox 13"/>
            <p:cNvSpPr txBox="1"/>
            <p:nvPr/>
          </p:nvSpPr>
          <p:spPr>
            <a:xfrm>
              <a:off x="526161" y="4560094"/>
              <a:ext cx="161305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产生 k+1 个随机数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2344484" y="4560094"/>
              <a:ext cx="3107309" cy="54635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matrix(runif(N * k), N, k) 给出 ξ；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runif(N) 给出 η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533400" y="513111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526161" y="5243989"/>
              <a:ext cx="123981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判断 η ≤ f(ξ)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2344484" y="5243989"/>
              <a:ext cx="3098292" cy="54635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apply(U, 1, f) 对每行算一次 f，再与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eta 逐个比较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533400" y="581501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526161" y="5927884"/>
              <a:ext cx="84055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计算 m/N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2344484" y="5927884"/>
              <a:ext cx="322597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mean(eta &lt;= ...) 直接给出成功比例</a:t>
              </a:r>
            </a:p>
          </p:txBody>
        </p:sp>
      </p:grpSp>
      <p:grpSp>
        <p:nvGrpSpPr>
          <p:cNvPr id="28" name="c2-card-1"/>
          <p:cNvGrpSpPr/>
          <p:nvPr/>
        </p:nvGrpSpPr>
        <p:grpSpPr>
          <a:xfrm>
            <a:off x="6248400" y="1524000"/>
            <a:ext cx="5410200" cy="1750695"/>
            <a:chOff x="6248400" y="1524000"/>
            <a:chExt cx="5410200" cy="1750695"/>
          </a:xfrm>
        </p:grpSpPr>
        <p:sp>
          <p:nvSpPr>
            <p:cNvPr id="22" name="Rectangle 22"/>
            <p:cNvSpPr/>
            <p:nvPr/>
          </p:nvSpPr>
          <p:spPr>
            <a:xfrm>
              <a:off x="6248400" y="1524000"/>
              <a:ext cx="5410200" cy="1750695"/>
            </a:xfrm>
            <a:prstGeom prst="roundRect">
              <a:avLst>
                <a:gd name="adj" fmla="val 761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6257925" y="1657350"/>
              <a:ext cx="47625" cy="1483995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6484620" y="1722120"/>
              <a:ext cx="1577340" cy="247650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538486" y="1756410"/>
              <a:ext cx="146960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为什么结果直接是 m/N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477381" y="2082641"/>
              <a:ext cx="4550029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这里积分区域已是单位立方体 [0, 1]ᵏ，且 0 ≤ f ≤ 1，所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以 V(G) = 1，I = p ≈ m/N。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478524" y="2667952"/>
              <a:ext cx="4668012" cy="4556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40"/>
                </a:lnSpc>
              </a:pPr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一般区域先作变换 xⱼ = aⱼ + (bⱼ − aⱼ)uⱼ，并把 h 除以 M；最后结果</a:t>
              </a:r>
              <a:br/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乘回 M∏(bⱼ − aⱼ)。</a:t>
              </a:r>
            </a:p>
          </p:txBody>
        </p:sp>
      </p:grpSp>
      <p:grpSp>
        <p:nvGrpSpPr>
          <p:cNvPr id="32" name="c2-code-2"/>
          <p:cNvGrpSpPr/>
          <p:nvPr/>
        </p:nvGrpSpPr>
        <p:grpSpPr>
          <a:xfrm>
            <a:off x="6248400" y="3454718"/>
            <a:ext cx="5410200" cy="1829752"/>
            <a:chOff x="6248400" y="3454718"/>
            <a:chExt cx="5410200" cy="1829752"/>
          </a:xfrm>
        </p:grpSpPr>
        <p:sp>
          <p:nvSpPr>
            <p:cNvPr id="29" name="Rectangle 29"/>
            <p:cNvSpPr/>
            <p:nvPr/>
          </p:nvSpPr>
          <p:spPr>
            <a:xfrm>
              <a:off x="6248400" y="3454718"/>
              <a:ext cx="5410200" cy="1829752"/>
            </a:xfrm>
            <a:prstGeom prst="roundRect">
              <a:avLst>
                <a:gd name="adj" fmla="val 5206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376797" y="3606641"/>
              <a:ext cx="113164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R：k 维随机投点法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376416" y="3868102"/>
              <a:ext cx="2430971" cy="13426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92"/>
                </a:lnSpc>
              </a:pP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hitmiss_d &lt;- </a:t>
              </a:r>
              <a:r>
                <a:rPr lang="en-US" sz="1050" b="1" dirty="0">
                  <a:solidFill>
                    <a:srgbClr val="2E7D4F"/>
                  </a:solidFill>
                  <a:latin typeface="Consolas"/>
                  <a:ea typeface="Consolas"/>
                  <a:cs typeface="Consolas"/>
                </a:rPr>
                <a:t>function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(f, k, N) {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U &lt;- matrix(runif(N * k), N, k)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eta &lt;- runif(N)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mean(eta &lt;= apply(U, 1, f))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f &lt;- </a:t>
              </a:r>
              <a:r>
                <a:rPr lang="en-US" sz="1050" b="1" dirty="0">
                  <a:solidFill>
                    <a:srgbClr val="2E7D4F"/>
                  </a:solidFill>
                  <a:latin typeface="Consolas"/>
                  <a:ea typeface="Consolas"/>
                  <a:cs typeface="Consolas"/>
                </a:rPr>
                <a:t>function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(x) prod(x^2)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hitmiss_d(f, 8, 65536)</a:t>
              </a:r>
            </a:p>
          </p:txBody>
        </p:sp>
      </p:grpSp>
      <p:grpSp>
        <p:nvGrpSpPr>
          <p:cNvPr id="3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33" name="TextBox 33"/>
            <p:cNvSpPr txBox="1"/>
            <p:nvPr/>
          </p:nvSpPr>
          <p:spPr>
            <a:xfrm>
              <a:off x="528447" y="6581299"/>
              <a:ext cx="198882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统计计算 · 第3章 随机模拟（上）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619478" cy="909257"/>
            <a:chOff x="520446" y="342900"/>
            <a:chExt cx="661947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989898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9634" y="407194"/>
              <a:ext cx="289838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第3章 随机模拟（上） · 3.2 随机模拟积分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61947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高维平均值法：误差阶同样不受维数 d 影响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c1-text-1"/>
          <p:cNvGrpSpPr/>
          <p:nvPr/>
        </p:nvGrpSpPr>
        <p:grpSpPr>
          <a:xfrm>
            <a:off x="525780" y="1548765"/>
            <a:ext cx="4987290" cy="588645"/>
            <a:chOff x="525780" y="1548765"/>
            <a:chExt cx="4987290" cy="588645"/>
          </a:xfrm>
        </p:grpSpPr>
        <p:sp>
          <p:nvSpPr>
            <p:cNvPr id="7" name="TextBox 7"/>
            <p:cNvSpPr txBox="1"/>
            <p:nvPr/>
          </p:nvSpPr>
          <p:spPr>
            <a:xfrm>
              <a:off x="525780" y="1548765"/>
              <a:ext cx="4987290" cy="5886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325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设 Uᵢ iid ~ U(C)（i = 1, …, N），则 h(Uᵢ) 是 iid 随机变量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列，且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formula159"/>
              <p:cNvSpPr txBox="1">
                <a:spLocks noGrp="1"/>
              </p:cNvSpPr>
              <p:nvPr/>
            </p:nvSpPr>
            <p:spPr>
              <a:xfrm>
                <a:off x="533400" y="2268855"/>
                <a:ext cx="5410200" cy="7543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zh-CN" sz="18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E</m:t>
                      </m:r>
                      <m:r>
                        <a:rPr lang="zh-CN" sz="18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 xml:space="preserve"> </m:t>
                      </m:r>
                      <m:r>
                        <a:rPr lang="zh-CN" sz="18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h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sSub>
                            <m:e>
                              <m:r>
                                <m:rPr>
                                  <m:sty m:val="b"/>
                                </m:rP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U</m:t>
                              </m:r>
                            </m:e>
                            <m:sub>
                              <m: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i</m:t>
                              </m:r>
                            </m:sub>
                          </m:sSub>
                        </m:e>
                      </m:d>
                      <m:r>
                        <m:rPr>
                          <m:sty m:val="p"/>
                        </m:rPr>
                        <a:rPr lang="zh-CN" sz="18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nary>
                        <m:naryPr>
                          <m:chr m:val="∫"/>
                          <m:limLoc m:val="subSup"/>
                          <m:grow m:val="off"/>
                          <m:subHide m:val="off"/>
                          <m:supHide m:val="on"/>
                          <m:ctrlP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naryPr>
                        <m:sub>
                          <m: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C</m:t>
                          </m:r>
                        </m:sub>
                        <m:sup/>
                        <m:e>
                          <m: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h</m:t>
                          </m:r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b"/>
                                </m:rP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u</m:t>
                              </m:r>
                            </m:e>
                          </m:d>
                          <m:f>
                            <m:fPr>
                              <m:type m:val="bar"/>
                              <m:ctrlP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fPr>
                            <m:num>
                              <m: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1</m:t>
                              </m:r>
                            </m:num>
                            <m:den>
                              <m:nary>
                                <m:naryPr>
                                  <m:chr m:val="∏"/>
                                  <m:limLoc m:val="undOvr"/>
                                  <m:grow m:val="off"/>
                                  <m:subHide m:val="off"/>
                                  <m:supHide m:val="off"/>
                                  <m:ctrlPr>
                                    <a:rPr lang="zh-CN" sz="18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naryPr>
                                <m:sub>
                                  <m:r>
                                    <a:rPr lang="zh-CN" sz="18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j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zh-CN" sz="18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=</m:t>
                                  </m:r>
                                  <m:r>
                                    <a:rPr lang="zh-CN" sz="18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zh-CN" sz="18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d</m:t>
                                  </m:r>
                                </m:sup>
                                <m:e>
                                  <m:d>
                                    <m:dPr>
                                      <m:begChr m:val="("/>
                                      <m:sepChr m:val=""/>
                                      <m:endChr m:val=")"/>
                                      <m:grow m:val="on"/>
                                      <m:ctrlPr>
                                        <a:rPr lang="zh-CN" sz="180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e>
                                          <m:r>
                                            <a:rPr lang="zh-CN" sz="180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b</m:t>
                                          </m:r>
                                        </m:e>
                                        <m:sub>
                                          <m:r>
                                            <a:rPr lang="zh-CN" sz="180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j</m:t>
                                          </m:r>
                                        </m:sub>
                                      </m:sSub>
                                      <m:r>
                                        <m:rPr>
                                          <m:sty m:val="p"/>
                                        </m:rPr>
                                        <a:rPr lang="zh-CN" sz="180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−</m:t>
                                      </m:r>
                                      <m:sSub>
                                        <m:e>
                                          <m:r>
                                            <a:rPr lang="zh-CN" sz="180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a</m:t>
                                          </m:r>
                                        </m:e>
                                        <m:sub>
                                          <m:r>
                                            <a:rPr lang="zh-CN" sz="180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j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</m:nary>
                            </m:den>
                          </m:f>
                          <m: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 xml:space="preserve"> </m:t>
                          </m:r>
                          <m: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d</m:t>
                          </m:r>
                          <m:r>
                            <m:rPr>
                              <m:sty m:val="b"/>
                            </m:rP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u</m:t>
                          </m:r>
                        </m:e>
                      </m:nary>
                      <m:r>
                        <m:rPr>
                          <m:sty m:val="p"/>
                        </m:rPr>
                        <a:rPr lang="zh-CN" sz="18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f>
                        <m:fPr>
                          <m:type m:val="bar"/>
                          <m:ctrlP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I</m:t>
                          </m:r>
                        </m:num>
                        <m:den>
                          <m:nary>
                            <m:naryPr>
                              <m:chr m:val="∏"/>
                              <m:limLoc m:val="undOvr"/>
                              <m:grow m:val="off"/>
                              <m:subHide m:val="off"/>
                              <m:supHide m:val="off"/>
                              <m:ctrlP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naryPr>
                            <m:sub>
                              <m: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j</m:t>
                              </m:r>
                              <m:r>
                                <m:rPr>
                                  <m:sty m:val="p"/>
                                </m:rP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=</m:t>
                              </m:r>
                              <m: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d</m:t>
                              </m:r>
                            </m:sup>
                            <m:e>
                              <m:d>
                                <m:dPr>
                                  <m:begChr m:val="("/>
                                  <m:sepChr m:val=""/>
                                  <m:endChr m:val=")"/>
                                  <m:grow m:val="on"/>
                                  <m:ctrlPr>
                                    <a:rPr lang="zh-CN" sz="18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dPr>
                                <m:e>
                                  <m:sSub>
                                    <m:e>
                                      <m:r>
                                        <a:rPr lang="zh-CN" sz="180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b</m:t>
                                      </m:r>
                                    </m:e>
                                    <m:sub>
                                      <m:r>
                                        <a:rPr lang="zh-CN" sz="180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j</m:t>
                                      </m:r>
                                    </m:sub>
                                  </m:sSub>
                                  <m:r>
                                    <m:rPr>
                                      <m:sty m:val="p"/>
                                    </m:rPr>
                                    <a:rPr lang="zh-CN" sz="18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−</m:t>
                                  </m:r>
                                  <m:sSub>
                                    <m:e>
                                      <m:r>
                                        <a:rPr lang="zh-CN" sz="180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a</m:t>
                                      </m:r>
                                    </m:e>
                                    <m:sub>
                                      <m:r>
                                        <a:rPr lang="zh-CN" sz="180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j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nary>
                        </m:den>
                      </m:f>
                    </m:oMath>
                  </m:oMathPara>
                </a14:m>
              </a:p>
            </p:txBody>
          </p:sp>
        </mc:Choice>
      </mc:AlternateContent>
      <p:grpSp>
        <p:nvGrpSpPr>
          <p:cNvPr id="14" name="c1-card-3"/>
          <p:cNvGrpSpPr/>
          <p:nvPr/>
        </p:nvGrpSpPr>
        <p:grpSpPr>
          <a:xfrm>
            <a:off x="533400" y="3213735"/>
            <a:ext cx="5410200" cy="1607820"/>
            <a:chOff x="533400" y="3213735"/>
            <a:chExt cx="5410200" cy="1607820"/>
          </a:xfrm>
        </p:grpSpPr>
        <p:sp>
          <p:nvSpPr>
            <p:cNvPr id="10" name="Rectangle 10"/>
            <p:cNvSpPr/>
            <p:nvPr/>
          </p:nvSpPr>
          <p:spPr>
            <a:xfrm>
              <a:off x="533400" y="3213735"/>
              <a:ext cx="5410200" cy="1607820"/>
            </a:xfrm>
            <a:prstGeom prst="roundRect">
              <a:avLst>
                <a:gd name="adj" fmla="val 8294"/>
              </a:avLst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742950" y="3423285"/>
              <a:ext cx="1758315" cy="257175"/>
            </a:xfrm>
            <a:prstGeom prst="roundRect">
              <a:avLst>
                <a:gd name="adj" fmla="val 50000"/>
              </a:avLst>
            </a:prstGeom>
            <a:solidFill>
              <a:srgbClr val="23613D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95614" y="3459004"/>
              <a:ext cx="165298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平均值法估计（11.22）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3" name="formula160"/>
                <p:cNvSpPr txBox="1">
                  <a:spLocks noGrp="1"/>
                </p:cNvSpPr>
                <p:nvPr/>
              </p:nvSpPr>
              <p:spPr>
                <a:xfrm>
                  <a:off x="742950" y="3775710"/>
                  <a:ext cx="4991100" cy="81724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sSub>
                          <m:e>
                            <m:acc>
                              <m:accPr>
                                <m:chr m:val="ˆ"/>
                                <m:ctrlPr>
                                  <a:rPr lang="zh-CN" sz="195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accPr>
                              <m:e>
                                <m:r>
                                  <a:rPr lang="zh-CN" sz="195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I</m:t>
                                </m:r>
                              </m:e>
                            </m:acc>
                          </m:e>
                          <m:sub>
                            <m:r>
                              <a:rPr lang="zh-CN" sz="19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2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zh-CN" sz="195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nary>
                          <m:naryPr>
                            <m:chr m:val="∏"/>
                            <m:limLoc m:val="undOvr"/>
                            <m:grow m:val="off"/>
                            <m:subHide m:val="off"/>
                            <m:supHide m:val="off"/>
                            <m:ctrlPr>
                              <a:rPr lang="zh-CN" sz="19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naryPr>
                          <m:sub>
                            <m:r>
                              <a:rPr lang="zh-CN" sz="19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j</m:t>
                            </m:r>
                            <m:r>
                              <m:rPr>
                                <m:sty m:val="p"/>
                              </m:rPr>
                              <a:rPr lang="zh-CN" sz="19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=</m:t>
                            </m:r>
                            <m:r>
                              <a:rPr lang="zh-CN" sz="19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sub>
                          <m:sup>
                            <m:r>
                              <a:rPr lang="zh-CN" sz="19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d</m:t>
                            </m:r>
                          </m:sup>
                          <m:e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95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sSub>
                                  <m:e>
                                    <m:r>
                                      <a:rPr lang="zh-CN" sz="195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b</m:t>
                                    </m:r>
                                  </m:e>
                                  <m:sub>
                                    <m:r>
                                      <a:rPr lang="zh-CN" sz="195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j</m:t>
                                    </m:r>
                                  </m:sub>
                                </m:sSub>
                                <m:r>
                                  <m:rPr>
                                    <m:sty m:val="p"/>
                                  </m:rPr>
                                  <a:rPr lang="zh-CN" sz="195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</m:t>
                                </m:r>
                                <m:sSub>
                                  <m:e>
                                    <m:r>
                                      <a:rPr lang="zh-CN" sz="195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a</m:t>
                                    </m:r>
                                  </m:e>
                                  <m:sub>
                                    <m:r>
                                      <a:rPr lang="zh-CN" sz="195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j</m:t>
                                    </m:r>
                                  </m:sub>
                                </m:sSub>
                              </m:e>
                            </m:d>
                          </m:e>
                        </m:nary>
                        <m:r>
                          <m:rPr>
                            <m:sty m:val="p"/>
                          </m:rPr>
                          <a:rPr lang="zh-CN" sz="195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⋅</m:t>
                        </m:r>
                        <m:f>
                          <m:fPr>
                            <m:type m:val="bar"/>
                            <m:ctrlPr>
                              <a:rPr lang="zh-CN" sz="19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r>
                              <a:rPr lang="zh-CN" sz="19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num>
                          <m:den>
                            <m:r>
                              <a:rPr lang="zh-CN" sz="19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N</m:t>
                            </m:r>
                          </m:den>
                        </m:f>
                        <m:nary>
                          <m:naryPr>
                            <m:chr m:val="∑"/>
                            <m:limLoc m:val="undOvr"/>
                            <m:grow m:val="off"/>
                            <m:subHide m:val="off"/>
                            <m:supHide m:val="off"/>
                            <m:ctrlPr>
                              <a:rPr lang="zh-CN" sz="19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naryPr>
                          <m:sub>
                            <m:r>
                              <a:rPr lang="zh-CN" sz="19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i</m:t>
                            </m:r>
                            <m:r>
                              <m:rPr>
                                <m:sty m:val="p"/>
                              </m:rPr>
                              <a:rPr lang="zh-CN" sz="19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=</m:t>
                            </m:r>
                            <m:r>
                              <a:rPr lang="zh-CN" sz="19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sub>
                          <m:sup>
                            <m:r>
                              <a:rPr lang="zh-CN" sz="19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N</m:t>
                            </m:r>
                          </m:sup>
                          <m:e>
                            <m:r>
                              <a:rPr lang="zh-CN" sz="19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h</m:t>
                            </m:r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95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sSub>
                                  <m:e>
                                    <m:r>
                                      <m:rPr>
                                        <m:sty m:val="b"/>
                                      </m:rPr>
                                      <a:rPr lang="zh-CN" sz="195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U</m:t>
                                    </m:r>
                                  </m:e>
                                  <m:sub>
                                    <m:r>
                                      <a:rPr lang="zh-CN" sz="195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i</m:t>
                                    </m:r>
                                  </m:sub>
                                </m:sSub>
                              </m:e>
                            </m:d>
                          </m:e>
                        </m:nary>
                      </m:oMath>
                    </m:oMathPara>
                  </a14:m>
                </a:p>
              </p:txBody>
            </p:sp>
          </mc:Choice>
        </mc:AlternateContent>
      </p:grpSp>
      <p:grpSp>
        <p:nvGrpSpPr>
          <p:cNvPr id="16" name="c1-text-4"/>
          <p:cNvGrpSpPr/>
          <p:nvPr/>
        </p:nvGrpSpPr>
        <p:grpSpPr>
          <a:xfrm>
            <a:off x="525780" y="5036820"/>
            <a:ext cx="4306538" cy="293370"/>
            <a:chOff x="525780" y="5036820"/>
            <a:chExt cx="4306538" cy="293370"/>
          </a:xfrm>
        </p:grpSpPr>
        <p:sp>
          <p:nvSpPr>
            <p:cNvPr id="15" name="TextBox 15"/>
            <p:cNvSpPr txBox="1"/>
            <p:nvPr/>
          </p:nvSpPr>
          <p:spPr>
            <a:xfrm>
              <a:off x="525780" y="5036820"/>
              <a:ext cx="430653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由强大数律 Î₂ → I a.s.；渐近方差为（11.23）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7" name="formula161"/>
              <p:cNvSpPr txBox="1">
                <a:spLocks noGrp="1"/>
              </p:cNvSpPr>
              <p:nvPr/>
            </p:nvSpPr>
            <p:spPr>
              <a:xfrm>
                <a:off x="533400" y="5461635"/>
                <a:ext cx="5410200" cy="76676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f>
                        <m:fPr>
                          <m:type m:val="bar"/>
                          <m:ctrlP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sSup>
                            <m:e>
                              <m:d>
                                <m:dPr>
                                  <m:begChr m:val="("/>
                                  <m:sepChr m:val=""/>
                                  <m:endChr m:val=")"/>
                                  <m:grow m:val="on"/>
                                  <m:ctrlPr>
                                    <a:rPr lang="zh-CN" sz="17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dPr>
                                <m:e>
                                  <m:r>
                                    <a:rPr lang="zh-CN" sz="17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V</m:t>
                                  </m:r>
                                  <m:d>
                                    <m:dPr>
                                      <m:begChr m:val="("/>
                                      <m:sepChr m:val=""/>
                                      <m:endChr m:val=")"/>
                                      <m:grow m:val="on"/>
                                      <m:ctrlPr>
                                        <a:rPr lang="zh-CN" sz="172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zh-CN" sz="172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C</m:t>
                                      </m:r>
                                    </m:e>
                                  </m:d>
                                </m:e>
                              </m:d>
                            </m:e>
                            <m:sup>
                              <m:r>
                                <a:rPr lang="zh-CN" sz="17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2</m:t>
                              </m:r>
                            </m:sup>
                          </m:sSup>
                          <m: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 xml:space="preserve"> </m:t>
                          </m:r>
                          <m:r>
                            <m:rPr>
                              <m:sty m:val="p"/>
                            </m:rP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Var</m:t>
                          </m:r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7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a:rPr lang="zh-CN" sz="17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h</m:t>
                              </m:r>
                              <m:d>
                                <m:dPr>
                                  <m:begChr m:val="("/>
                                  <m:sepChr m:val=""/>
                                  <m:endChr m:val=")"/>
                                  <m:grow m:val="on"/>
                                  <m:ctrlPr>
                                    <a:rPr lang="zh-CN" sz="17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sty m:val="b"/>
                                    </m:rPr>
                                    <a:rPr lang="zh-CN" sz="17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U</m:t>
                                  </m:r>
                                </m:e>
                              </m:d>
                            </m:e>
                          </m:d>
                        </m:num>
                        <m:den>
                          <m: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N</m:t>
                          </m:r>
                        </m:den>
                      </m:f>
                      <m:r>
                        <m:rPr>
                          <m:sty m:val="p"/>
                        </m:rPr>
                        <a:rPr lang="zh-CN" sz="17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f>
                        <m:fPr>
                          <m:type m:val="bar"/>
                          <m:ctrlP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sSup>
                            <m:e>
                              <m:d>
                                <m:dPr>
                                  <m:begChr m:val="("/>
                                  <m:sepChr m:val=""/>
                                  <m:endChr m:val=")"/>
                                  <m:grow m:val="on"/>
                                  <m:ctrlPr>
                                    <a:rPr lang="zh-CN" sz="17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dPr>
                                <m:e>
                                  <m:nary>
                                    <m:naryPr>
                                      <m:chr m:val="∏"/>
                                      <m:limLoc m:val="undOvr"/>
                                      <m:grow m:val="off"/>
                                      <m:subHide m:val="off"/>
                                      <m:supHide m:val="off"/>
                                      <m:ctrlPr>
                                        <a:rPr lang="zh-CN" sz="172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</m:ctrlPr>
                                    </m:naryPr>
                                    <m:sub>
                                      <m:r>
                                        <a:rPr lang="zh-CN" sz="172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j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a:rPr lang="zh-CN" sz="172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=</m:t>
                                      </m:r>
                                      <m:r>
                                        <a:rPr lang="zh-CN" sz="172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1</m:t>
                                      </m:r>
                                    </m:sub>
                                    <m:sup>
                                      <m:r>
                                        <a:rPr lang="zh-CN" sz="172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d</m:t>
                                      </m:r>
                                    </m:sup>
                                    <m:e>
                                      <m:d>
                                        <m:dPr>
                                          <m:begChr m:val="("/>
                                          <m:sepChr m:val=""/>
                                          <m:endChr m:val=")"/>
                                          <m:grow m:val="on"/>
                                          <m:ctrlPr>
                                            <a:rPr lang="zh-CN" sz="172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e>
                                              <m:r>
                                                <a:rPr lang="zh-CN" sz="1720" dirty="0">
                                                  <a:solidFill>
                                                    <a:srgbClr val="1F2937"/>
                                                  </a:solidFill>
                                                  <a:latin typeface="Cambria Math"/>
                                                  <a:ea typeface="Cambria Math"/>
                                                  <a:cs typeface="Cambria Math"/>
                                                </a:rPr>
                                                <m:t>b</m:t>
                                              </m:r>
                                            </m:e>
                                            <m:sub>
                                              <m:r>
                                                <a:rPr lang="zh-CN" sz="1720" dirty="0">
                                                  <a:solidFill>
                                                    <a:srgbClr val="1F2937"/>
                                                  </a:solidFill>
                                                  <a:latin typeface="Cambria Math"/>
                                                  <a:ea typeface="Cambria Math"/>
                                                  <a:cs typeface="Cambria Math"/>
                                                </a:rPr>
                                                <m:t>j</m:t>
                                              </m:r>
                                            </m:sub>
                                          </m:sSub>
                                          <m:r>
                                            <m:rPr>
                                              <m:sty m:val="p"/>
                                            </m:rPr>
                                            <a:rPr lang="zh-CN" sz="172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−</m:t>
                                          </m:r>
                                          <m:sSub>
                                            <m:e>
                                              <m:r>
                                                <a:rPr lang="zh-CN" sz="1720" dirty="0">
                                                  <a:solidFill>
                                                    <a:srgbClr val="1F2937"/>
                                                  </a:solidFill>
                                                  <a:latin typeface="Cambria Math"/>
                                                  <a:ea typeface="Cambria Math"/>
                                                  <a:cs typeface="Cambria Math"/>
                                                </a:rPr>
                                                <m:t>a</m:t>
                                              </m:r>
                                            </m:e>
                                            <m:sub>
                                              <m:r>
                                                <a:rPr lang="zh-CN" sz="1720" dirty="0">
                                                  <a:solidFill>
                                                    <a:srgbClr val="1F2937"/>
                                                  </a:solidFill>
                                                  <a:latin typeface="Cambria Math"/>
                                                  <a:ea typeface="Cambria Math"/>
                                                  <a:cs typeface="Cambria Math"/>
                                                </a:rPr>
                                                <m:t>j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</m:e>
                                  </m:nary>
                                </m:e>
                              </m:d>
                            </m:e>
                            <m:sup>
                              <m:r>
                                <a:rPr lang="zh-CN" sz="17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2</m:t>
                              </m:r>
                            </m:sup>
                          </m:sSup>
                          <m:r>
                            <m:rPr>
                              <m:sty m:val="p"/>
                            </m:rP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Var</m:t>
                          </m:r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7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a:rPr lang="zh-CN" sz="17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h</m:t>
                              </m:r>
                              <m:d>
                                <m:dPr>
                                  <m:begChr m:val="("/>
                                  <m:sepChr m:val=""/>
                                  <m:endChr m:val=")"/>
                                  <m:grow m:val="on"/>
                                  <m:ctrlPr>
                                    <a:rPr lang="zh-CN" sz="17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sty m:val="b"/>
                                    </m:rPr>
                                    <a:rPr lang="zh-CN" sz="17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U</m:t>
                                  </m:r>
                                </m:e>
                              </m:d>
                            </m:e>
                          </m:d>
                        </m:num>
                        <m:den>
                          <m: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N</m:t>
                          </m:r>
                        </m:den>
                      </m:f>
                    </m:oMath>
                  </m:oMathPara>
                </a14:m>
              </a:p>
            </p:txBody>
          </p:sp>
        </mc:Choice>
      </mc:AlternateContent>
      <p:grpSp>
        <p:nvGrpSpPr>
          <p:cNvPr id="21" name="c2-card-1"/>
          <p:cNvGrpSpPr/>
          <p:nvPr/>
        </p:nvGrpSpPr>
        <p:grpSpPr>
          <a:xfrm>
            <a:off x="6248400" y="1524000"/>
            <a:ext cx="5410200" cy="1249680"/>
            <a:chOff x="6248400" y="1524000"/>
            <a:chExt cx="5410200" cy="1249680"/>
          </a:xfrm>
        </p:grpSpPr>
        <p:sp>
          <p:nvSpPr>
            <p:cNvPr id="18" name="Rectangle 18"/>
            <p:cNvSpPr/>
            <p:nvPr/>
          </p:nvSpPr>
          <p:spPr>
            <a:xfrm>
              <a:off x="6248400" y="1524000"/>
              <a:ext cx="5410200" cy="1249680"/>
            </a:xfrm>
            <a:prstGeom prst="roundRect">
              <a:avLst>
                <a:gd name="adj" fmla="val 1067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6257925" y="1657350"/>
              <a:ext cx="47625" cy="982980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488430" y="1758315"/>
              <a:ext cx="472059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维数与误差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：两种随机方法的标准差都是 O(1/√N)，阶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数与 d 无关。网格点法每维取 n 个点共需 N = nᵈ 个点，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 较大时点数急剧增长。</a:t>
              </a:r>
            </a:p>
          </p:txBody>
        </p:sp>
      </p:grpSp>
      <p:grpSp>
        <p:nvGrpSpPr>
          <p:cNvPr id="25" name="c2-code-2"/>
          <p:cNvGrpSpPr/>
          <p:nvPr/>
        </p:nvGrpSpPr>
        <p:grpSpPr>
          <a:xfrm>
            <a:off x="6248400" y="2964180"/>
            <a:ext cx="5410200" cy="2327910"/>
            <a:chOff x="6248400" y="2964180"/>
            <a:chExt cx="5410200" cy="2327910"/>
          </a:xfrm>
        </p:grpSpPr>
        <p:sp>
          <p:nvSpPr>
            <p:cNvPr id="22" name="Rectangle 22"/>
            <p:cNvSpPr/>
            <p:nvPr/>
          </p:nvSpPr>
          <p:spPr>
            <a:xfrm>
              <a:off x="6248400" y="2964180"/>
              <a:ext cx="5410200" cy="2327910"/>
            </a:xfrm>
            <a:prstGeom prst="roundRect">
              <a:avLst>
                <a:gd name="adj" fmla="val 4092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376797" y="3116104"/>
              <a:ext cx="242099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伪代码：积分区域 D 不规则时的平均值法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376035" y="3378041"/>
              <a:ext cx="2906014" cy="1843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98"/>
                </a:lnSpc>
              </a:pP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m &lt;- 0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for n in 1..N: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 xml:space="preserve">    产生 [a,b]^k 上的均匀点 xi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 xml:space="preserve">    if xi 属于 D: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m &lt;- m + 1; eta_m &lt;- xi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 xml:space="preserve">        计算 f(eta_m)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V_D  ~ (m/N) * (b-a)^k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E[f | D] ~ (1/m) * sum f(eta_i)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I ~ (b-a)^k / N * sum_{i&lt;=m} f(eta_i)</a:t>
              </a:r>
            </a:p>
          </p:txBody>
        </p:sp>
      </p:grpSp>
      <p:grpSp>
        <p:nvGrpSpPr>
          <p:cNvPr id="27" name="c2-text-3"/>
          <p:cNvGrpSpPr/>
          <p:nvPr/>
        </p:nvGrpSpPr>
        <p:grpSpPr>
          <a:xfrm>
            <a:off x="6241923" y="5504021"/>
            <a:ext cx="4204238" cy="249364"/>
            <a:chOff x="6241923" y="5504021"/>
            <a:chExt cx="4204238" cy="249364"/>
          </a:xfrm>
        </p:grpSpPr>
        <p:sp>
          <p:nvSpPr>
            <p:cNvPr id="26" name="TextBox 26"/>
            <p:cNvSpPr txBox="1"/>
            <p:nvPr/>
          </p:nvSpPr>
          <p:spPr>
            <a:xfrm>
              <a:off x="6241923" y="5504021"/>
              <a:ext cx="420423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最后一行等于体积 V(D) 的估计乘以 D 内 f 的平均值。</a:t>
              </a:r>
            </a:p>
          </p:txBody>
        </p:sp>
      </p:grpSp>
      <p:grpSp>
        <p:nvGrpSpPr>
          <p:cNvPr id="3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28" name="TextBox 28"/>
            <p:cNvSpPr txBox="1"/>
            <p:nvPr/>
          </p:nvSpPr>
          <p:spPr>
            <a:xfrm>
              <a:off x="528447" y="6581299"/>
              <a:ext cx="198882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统计计算 · 第3章 随机模拟（上）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175123" cy="909257"/>
            <a:chOff x="520446" y="342900"/>
            <a:chExt cx="517512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989898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9634" y="407194"/>
              <a:ext cx="289838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第3章 随机模拟（上） · 3.2 随机模拟积分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17512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平均值法的方差不超过随机投点法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c1-text-1"/>
          <p:cNvGrpSpPr/>
          <p:nvPr/>
        </p:nvGrpSpPr>
        <p:grpSpPr>
          <a:xfrm>
            <a:off x="525780" y="1548765"/>
            <a:ext cx="5968365" cy="588645"/>
            <a:chOff x="525780" y="1548765"/>
            <a:chExt cx="5968365" cy="588645"/>
          </a:xfrm>
        </p:grpSpPr>
        <p:sp>
          <p:nvSpPr>
            <p:cNvPr id="7" name="TextBox 7"/>
            <p:cNvSpPr txBox="1"/>
            <p:nvPr/>
          </p:nvSpPr>
          <p:spPr>
            <a:xfrm>
              <a:off x="525780" y="1548765"/>
              <a:ext cx="5968365" cy="5886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325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不妨设上界 M = 1。令 Xᵢ iid ~ U(C)，ηᵢ = h(Xᵢ)；Yᵢ iid ~ U(0,1) 且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与 {Xᵢ} 独立，ξᵢ = 1（Yᵢ ≤ h(Xᵢ)），否则为 0。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formula166"/>
              <p:cNvSpPr txBox="1">
                <a:spLocks noGrp="1"/>
              </p:cNvSpPr>
              <p:nvPr/>
            </p:nvSpPr>
            <p:spPr>
              <a:xfrm>
                <a:off x="533400" y="2268855"/>
                <a:ext cx="6276022" cy="81724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sSub>
                        <m:e>
                          <m:acc>
                            <m:accPr>
                              <m:chr m:val="ˆ"/>
                              <m:ctrlPr>
                                <a:rPr lang="zh-CN" sz="19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accPr>
                            <m:e>
                              <m:r>
                                <a:rPr lang="zh-CN" sz="19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I</m:t>
                              </m:r>
                            </m:e>
                          </m:acc>
                        </m:e>
                        <m:sub>
                          <m:r>
                            <a:rPr lang="zh-CN" sz="19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zh-CN" sz="19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r>
                        <a:rPr lang="zh-CN" sz="19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V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9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9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C</m:t>
                          </m:r>
                        </m:e>
                      </m:d>
                      <m:f>
                        <m:fPr>
                          <m:type m:val="bar"/>
                          <m:ctrlPr>
                            <a:rPr lang="zh-CN" sz="19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zh-CN" sz="19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num>
                        <m:den>
                          <m:r>
                            <a:rPr lang="zh-CN" sz="19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N</m:t>
                          </m:r>
                        </m:den>
                      </m:f>
                      <m:nary>
                        <m:naryPr>
                          <m:chr m:val="∑"/>
                          <m:limLoc m:val="undOvr"/>
                          <m:grow m:val="off"/>
                          <m:subHide m:val="off"/>
                          <m:supHide m:val="off"/>
                          <m:ctrlPr>
                            <a:rPr lang="zh-CN" sz="19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naryPr>
                        <m:sub>
                          <m:r>
                            <a:rPr lang="zh-CN" sz="19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i</m:t>
                          </m:r>
                          <m:r>
                            <m:rPr>
                              <m:sty m:val="p"/>
                            </m:rPr>
                            <a:rPr lang="zh-CN" sz="19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=</m:t>
                          </m:r>
                          <m:r>
                            <a:rPr lang="zh-CN" sz="19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sub>
                        <m:sup>
                          <m:r>
                            <a:rPr lang="zh-CN" sz="19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N</m:t>
                          </m:r>
                        </m:sup>
                        <m:e>
                          <m:sSub>
                            <m:e>
                              <m:r>
                                <a:rPr lang="zh-CN" sz="19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ξ</m:t>
                              </m:r>
                            </m:e>
                            <m:sub>
                              <m:r>
                                <a:rPr lang="zh-CN" sz="19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i</m:t>
                              </m:r>
                            </m:sub>
                          </m:sSub>
                        </m:e>
                      </m:nary>
                      <m:r>
                        <m:rPr>
                          <m:sty m:val="p"/>
                        </m:rPr>
                        <a:rPr lang="zh-CN" sz="19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,</m:t>
                      </m:r>
                      <m:r>
                        <a:rPr lang="zh-CN" sz="19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 xml:space="preserve">  </m:t>
                      </m:r>
                      <m:sSub>
                        <m:e>
                          <m:acc>
                            <m:accPr>
                              <m:chr m:val="ˆ"/>
                              <m:ctrlPr>
                                <a:rPr lang="zh-CN" sz="19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accPr>
                            <m:e>
                              <m:r>
                                <a:rPr lang="zh-CN" sz="19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I</m:t>
                              </m:r>
                            </m:e>
                          </m:acc>
                        </m:e>
                        <m:sub>
                          <m:r>
                            <a:rPr lang="zh-CN" sz="19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zh-CN" sz="19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r>
                        <a:rPr lang="zh-CN" sz="19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V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9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9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C</m:t>
                          </m:r>
                        </m:e>
                      </m:d>
                      <m:f>
                        <m:fPr>
                          <m:type m:val="bar"/>
                          <m:ctrlPr>
                            <a:rPr lang="zh-CN" sz="19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zh-CN" sz="19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num>
                        <m:den>
                          <m:r>
                            <a:rPr lang="zh-CN" sz="19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N</m:t>
                          </m:r>
                        </m:den>
                      </m:f>
                      <m:nary>
                        <m:naryPr>
                          <m:chr m:val="∑"/>
                          <m:limLoc m:val="undOvr"/>
                          <m:grow m:val="off"/>
                          <m:subHide m:val="off"/>
                          <m:supHide m:val="off"/>
                          <m:ctrlPr>
                            <a:rPr lang="zh-CN" sz="19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naryPr>
                        <m:sub>
                          <m:r>
                            <a:rPr lang="zh-CN" sz="19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i</m:t>
                          </m:r>
                          <m:r>
                            <m:rPr>
                              <m:sty m:val="p"/>
                            </m:rPr>
                            <a:rPr lang="zh-CN" sz="19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=</m:t>
                          </m:r>
                          <m:r>
                            <a:rPr lang="zh-CN" sz="19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sub>
                        <m:sup>
                          <m:r>
                            <a:rPr lang="zh-CN" sz="19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N</m:t>
                          </m:r>
                        </m:sup>
                        <m:e>
                          <m:sSub>
                            <m:e>
                              <m:r>
                                <a:rPr lang="zh-CN" sz="19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η</m:t>
                              </m:r>
                            </m:e>
                            <m:sub>
                              <m:r>
                                <a:rPr lang="zh-CN" sz="19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i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</a:p>
            </p:txBody>
          </p:sp>
        </mc:Choice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formula167"/>
              <p:cNvSpPr txBox="1">
                <a:spLocks noGrp="1"/>
              </p:cNvSpPr>
              <p:nvPr/>
            </p:nvSpPr>
            <p:spPr>
              <a:xfrm>
                <a:off x="533400" y="3276600"/>
                <a:ext cx="6276022" cy="66865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r>
                        <m:rPr>
                          <m:sty m:val="p"/>
                        </m:rPr>
                        <a:rPr lang="zh-CN" sz="19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Var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9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sSub>
                            <m:e>
                              <m:acc>
                                <m:accPr>
                                  <m:chr m:val="ˆ"/>
                                  <m:ctrlPr>
                                    <a:rPr lang="zh-CN" sz="19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accPr>
                                <m:e>
                                  <m:r>
                                    <a:rPr lang="zh-CN" sz="19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I</m:t>
                                  </m:r>
                                </m:e>
                              </m:acc>
                            </m:e>
                            <m:sub>
                              <m:r>
                                <a:rPr lang="zh-CN" sz="19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m:rPr>
                          <m:sty m:val="p"/>
                        </m:rPr>
                        <a:rPr lang="zh-CN" sz="19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f>
                        <m:fPr>
                          <m:type m:val="bar"/>
                          <m:ctrlPr>
                            <a:rPr lang="zh-CN" sz="19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zh-CN" sz="19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num>
                        <m:den>
                          <m:r>
                            <a:rPr lang="zh-CN" sz="19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N</m:t>
                          </m:r>
                        </m:den>
                      </m:f>
                      <m:sSup>
                        <m:e>
                          <m:r>
                            <a:rPr lang="zh-CN" sz="19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V</m:t>
                          </m:r>
                        </m:e>
                        <m:sup>
                          <m:r>
                            <a:rPr lang="zh-CN" sz="19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</m:t>
                          </m:r>
                        </m:sup>
                      </m:sSup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9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9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C</m:t>
                          </m:r>
                        </m:e>
                      </m:d>
                      <m:r>
                        <m:rPr>
                          <m:sty m:val="p"/>
                        </m:rPr>
                        <a:rPr lang="zh-CN" sz="19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⋅</m:t>
                      </m:r>
                      <m:f>
                        <m:fPr>
                          <m:type m:val="bar"/>
                          <m:ctrlPr>
                            <a:rPr lang="zh-CN" sz="19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zh-CN" sz="19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I</m:t>
                          </m:r>
                        </m:num>
                        <m:den>
                          <m:r>
                            <a:rPr lang="zh-CN" sz="19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V</m:t>
                          </m:r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9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a:rPr lang="zh-CN" sz="19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C</m:t>
                              </m:r>
                            </m:e>
                          </m:d>
                        </m:den>
                      </m:f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9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9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  <m:r>
                            <m:rPr>
                              <m:sty m:val="p"/>
                            </m:rPr>
                            <a:rPr lang="zh-CN" sz="19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−</m:t>
                          </m:r>
                          <m:f>
                            <m:fPr>
                              <m:type m:val="bar"/>
                              <m:ctrlPr>
                                <a:rPr lang="zh-CN" sz="19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fPr>
                            <m:num>
                              <m:r>
                                <a:rPr lang="zh-CN" sz="19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I</m:t>
                              </m:r>
                            </m:num>
                            <m:den>
                              <m:r>
                                <a:rPr lang="zh-CN" sz="19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V</m:t>
                              </m:r>
                              <m:d>
                                <m:dPr>
                                  <m:begChr m:val="("/>
                                  <m:sepChr m:val=""/>
                                  <m:endChr m:val=")"/>
                                  <m:grow m:val="on"/>
                                  <m:ctrlPr>
                                    <a:rPr lang="zh-CN" sz="19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dPr>
                                <m:e>
                                  <m:r>
                                    <a:rPr lang="zh-CN" sz="19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C</m:t>
                                  </m:r>
                                </m:e>
                              </m:d>
                            </m:den>
                          </m:f>
                        </m:e>
                      </m:d>
                    </m:oMath>
                  </m:oMathPara>
                </a14:m>
              </a:p>
            </p:txBody>
          </p:sp>
        </mc:Choice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formula168"/>
              <p:cNvSpPr txBox="1">
                <a:spLocks noGrp="1"/>
              </p:cNvSpPr>
              <p:nvPr/>
            </p:nvSpPr>
            <p:spPr>
              <a:xfrm>
                <a:off x="533400" y="4135755"/>
                <a:ext cx="6276022" cy="6934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r>
                        <m:rPr>
                          <m:sty m:val="p"/>
                        </m:rPr>
                        <a:rPr lang="zh-CN" sz="19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Var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9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sSub>
                            <m:e>
                              <m:acc>
                                <m:accPr>
                                  <m:chr m:val="ˆ"/>
                                  <m:ctrlPr>
                                    <a:rPr lang="zh-CN" sz="19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accPr>
                                <m:e>
                                  <m:r>
                                    <a:rPr lang="zh-CN" sz="19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I</m:t>
                                  </m:r>
                                </m:e>
                              </m:acc>
                            </m:e>
                            <m:sub>
                              <m:r>
                                <a:rPr lang="zh-CN" sz="19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m:rPr>
                          <m:sty m:val="p"/>
                        </m:rPr>
                        <a:rPr lang="zh-CN" sz="19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f>
                        <m:fPr>
                          <m:type m:val="bar"/>
                          <m:ctrlPr>
                            <a:rPr lang="zh-CN" sz="19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zh-CN" sz="19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num>
                        <m:den>
                          <m:r>
                            <a:rPr lang="zh-CN" sz="19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N</m:t>
                          </m:r>
                        </m:den>
                      </m:f>
                      <m:sSup>
                        <m:e>
                          <m:r>
                            <a:rPr lang="zh-CN" sz="19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V</m:t>
                          </m:r>
                        </m:e>
                        <m:sup>
                          <m:r>
                            <a:rPr lang="zh-CN" sz="19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</m:t>
                          </m:r>
                        </m:sup>
                      </m:sSup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9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9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C</m:t>
                          </m:r>
                        </m:e>
                      </m:d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9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f>
                            <m:fPr>
                              <m:type m:val="bar"/>
                              <m:ctrlPr>
                                <a:rPr lang="zh-CN" sz="19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fPr>
                            <m:num>
                              <m:r>
                                <a:rPr lang="zh-CN" sz="19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zh-CN" sz="19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V</m:t>
                              </m:r>
                              <m:d>
                                <m:dPr>
                                  <m:begChr m:val="("/>
                                  <m:sepChr m:val=""/>
                                  <m:endChr m:val=")"/>
                                  <m:grow m:val="on"/>
                                  <m:ctrlPr>
                                    <a:rPr lang="zh-CN" sz="19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dPr>
                                <m:e>
                                  <m:r>
                                    <a:rPr lang="zh-CN" sz="19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C</m:t>
                                  </m:r>
                                </m:e>
                              </m:d>
                            </m:den>
                          </m:f>
                          <m:nary>
                            <m:naryPr>
                              <m:chr m:val="∫"/>
                              <m:limLoc m:val="subSup"/>
                              <m:grow m:val="off"/>
                              <m:subHide m:val="off"/>
                              <m:supHide m:val="on"/>
                              <m:ctrlPr>
                                <a:rPr lang="zh-CN" sz="19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naryPr>
                            <m:sub>
                              <m:r>
                                <a:rPr lang="zh-CN" sz="19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C</m:t>
                              </m:r>
                            </m:sub>
                            <m:sup/>
                            <m:e>
                              <m:sSup>
                                <m:e>
                                  <m:r>
                                    <a:rPr lang="zh-CN" sz="19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h</m:t>
                                  </m:r>
                                </m:e>
                                <m:sup>
                                  <m:r>
                                    <a:rPr lang="zh-CN" sz="19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2</m:t>
                                  </m:r>
                                </m:sup>
                              </m:sSup>
                              <m:d>
                                <m:dPr>
                                  <m:begChr m:val="("/>
                                  <m:sepChr m:val=""/>
                                  <m:endChr m:val=")"/>
                                  <m:grow m:val="on"/>
                                  <m:ctrlPr>
                                    <a:rPr lang="zh-CN" sz="19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sty m:val="b"/>
                                    </m:rPr>
                                    <a:rPr lang="zh-CN" sz="19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x</m:t>
                                  </m:r>
                                </m:e>
                              </m:d>
                              <m:r>
                                <a:rPr lang="zh-CN" sz="19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 xml:space="preserve"> </m:t>
                              </m:r>
                              <m:r>
                                <a:rPr lang="zh-CN" sz="19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d</m:t>
                              </m:r>
                              <m:r>
                                <m:rPr>
                                  <m:sty m:val="b"/>
                                </m:rPr>
                                <a:rPr lang="zh-CN" sz="19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x</m:t>
                              </m:r>
                            </m:e>
                          </m:nary>
                          <m:r>
                            <m:rPr>
                              <m:sty m:val="p"/>
                            </m:rPr>
                            <a:rPr lang="zh-CN" sz="19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−</m:t>
                          </m:r>
                          <m:sSup>
                            <m:e>
                              <m:d>
                                <m:dPr>
                                  <m:begChr m:val="("/>
                                  <m:sepChr m:val=""/>
                                  <m:endChr m:val=")"/>
                                  <m:grow m:val="on"/>
                                  <m:ctrlPr>
                                    <a:rPr lang="zh-CN" sz="19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type m:val="bar"/>
                                      <m:ctrlPr>
                                        <a:rPr lang="zh-CN" sz="195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zh-CN" sz="195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I</m:t>
                                      </m:r>
                                    </m:num>
                                    <m:den>
                                      <m:r>
                                        <a:rPr lang="zh-CN" sz="195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V</m:t>
                                      </m:r>
                                      <m:d>
                                        <m:dPr>
                                          <m:begChr m:val="("/>
                                          <m:sepChr m:val=""/>
                                          <m:endChr m:val=")"/>
                                          <m:grow m:val="on"/>
                                          <m:ctrlPr>
                                            <a:rPr lang="zh-CN" sz="195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zh-CN" sz="195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C</m:t>
                                          </m:r>
                                        </m:e>
                                      </m:d>
                                    </m:den>
                                  </m:f>
                                </m:e>
                              </m:d>
                            </m:e>
                            <m:sup>
                              <m:r>
                                <a:rPr lang="zh-CN" sz="19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</a:p>
            </p:txBody>
          </p:sp>
        </mc:Choice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formula169"/>
              <p:cNvSpPr txBox="1">
                <a:spLocks noGrp="1"/>
              </p:cNvSpPr>
              <p:nvPr/>
            </p:nvSpPr>
            <p:spPr>
              <a:xfrm>
                <a:off x="533400" y="5019675"/>
                <a:ext cx="6276022" cy="6934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r>
                        <m:rPr>
                          <m:sty m:val="p"/>
                        </m:rPr>
                        <a:rPr lang="zh-CN" sz="19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Var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9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sSub>
                            <m:e>
                              <m:acc>
                                <m:accPr>
                                  <m:chr m:val="ˆ"/>
                                  <m:ctrlPr>
                                    <a:rPr lang="zh-CN" sz="19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accPr>
                                <m:e>
                                  <m:r>
                                    <a:rPr lang="zh-CN" sz="19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I</m:t>
                                  </m:r>
                                </m:e>
                              </m:acc>
                            </m:e>
                            <m:sub>
                              <m:r>
                                <a:rPr lang="zh-CN" sz="19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m:rPr>
                          <m:sty m:val="p"/>
                        </m:rPr>
                        <a:rPr lang="zh-CN" sz="19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−</m:t>
                      </m:r>
                      <m:r>
                        <m:rPr>
                          <m:sty m:val="p"/>
                        </m:rPr>
                        <a:rPr lang="zh-CN" sz="19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Var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9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sSub>
                            <m:e>
                              <m:acc>
                                <m:accPr>
                                  <m:chr m:val="ˆ"/>
                                  <m:ctrlPr>
                                    <a:rPr lang="zh-CN" sz="19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accPr>
                                <m:e>
                                  <m:r>
                                    <a:rPr lang="zh-CN" sz="19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I</m:t>
                                  </m:r>
                                </m:e>
                              </m:acc>
                            </m:e>
                            <m:sub>
                              <m:r>
                                <a:rPr lang="zh-CN" sz="19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m:rPr>
                          <m:sty m:val="p"/>
                        </m:rPr>
                        <a:rPr lang="zh-CN" sz="19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f>
                        <m:fPr>
                          <m:type m:val="bar"/>
                          <m:ctrlPr>
                            <a:rPr lang="zh-CN" sz="19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zh-CN" sz="19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V</m:t>
                          </m:r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9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a:rPr lang="zh-CN" sz="19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C</m:t>
                              </m:r>
                            </m:e>
                          </m:d>
                        </m:num>
                        <m:den>
                          <m:r>
                            <a:rPr lang="zh-CN" sz="19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N</m:t>
                          </m:r>
                        </m:den>
                      </m:f>
                      <m:nary>
                        <m:naryPr>
                          <m:chr m:val="∫"/>
                          <m:limLoc m:val="subSup"/>
                          <m:grow m:val="off"/>
                          <m:subHide m:val="off"/>
                          <m:supHide m:val="on"/>
                          <m:ctrlPr>
                            <a:rPr lang="zh-CN" sz="19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naryPr>
                        <m:sub>
                          <m:r>
                            <a:rPr lang="zh-CN" sz="19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C</m:t>
                          </m:r>
                        </m:sub>
                        <m:sup/>
                        <m:e>
                          <m:d>
                            <m:dPr>
                              <m:begChr m:val="{"/>
                              <m:sepChr m:val=""/>
                              <m:endChr m:val="}"/>
                              <m:grow m:val="on"/>
                              <m:ctrlPr>
                                <a:rPr lang="zh-CN" sz="19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a:rPr lang="zh-CN" sz="19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h</m:t>
                              </m:r>
                              <m:d>
                                <m:dPr>
                                  <m:begChr m:val="("/>
                                  <m:sepChr m:val=""/>
                                  <m:endChr m:val=")"/>
                                  <m:grow m:val="on"/>
                                  <m:ctrlPr>
                                    <a:rPr lang="zh-CN" sz="19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sty m:val="b"/>
                                    </m:rPr>
                                    <a:rPr lang="zh-CN" sz="19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x</m:t>
                                  </m:r>
                                </m:e>
                              </m:d>
                              <m:r>
                                <m:rPr>
                                  <m:sty m:val="p"/>
                                </m:rPr>
                                <a:rPr lang="zh-CN" sz="19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−</m:t>
                              </m:r>
                              <m:sSup>
                                <m:e>
                                  <m:r>
                                    <a:rPr lang="zh-CN" sz="19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h</m:t>
                                  </m:r>
                                </m:e>
                                <m:sup>
                                  <m:r>
                                    <a:rPr lang="zh-CN" sz="19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2</m:t>
                                  </m:r>
                                </m:sup>
                              </m:sSup>
                              <m:d>
                                <m:dPr>
                                  <m:begChr m:val="("/>
                                  <m:sepChr m:val=""/>
                                  <m:endChr m:val=")"/>
                                  <m:grow m:val="on"/>
                                  <m:ctrlPr>
                                    <a:rPr lang="zh-CN" sz="19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sty m:val="b"/>
                                    </m:rPr>
                                    <a:rPr lang="zh-CN" sz="19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x</m:t>
                                  </m:r>
                                </m:e>
                              </m:d>
                            </m:e>
                          </m:d>
                          <m:r>
                            <a:rPr lang="zh-CN" sz="19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d</m:t>
                          </m:r>
                          <m:r>
                            <m:rPr>
                              <m:sty m:val="b"/>
                            </m:rPr>
                            <a:rPr lang="zh-CN" sz="19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x</m:t>
                          </m:r>
                        </m:e>
                      </m:nary>
                      <m:r>
                        <m:rPr>
                          <m:sty m:val="p"/>
                        </m:rPr>
                        <a:rPr lang="zh-CN" sz="19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≥</m:t>
                      </m:r>
                      <m:r>
                        <a:rPr lang="zh-CN" sz="19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0</m:t>
                      </m:r>
                    </m:oMath>
                  </m:oMathPara>
                </a14:m>
              </a:p>
            </p:txBody>
          </p:sp>
        </mc:Choice>
      </mc:AlternateContent>
      <p:grpSp>
        <p:nvGrpSpPr>
          <p:cNvPr id="17" name="c2-card-1"/>
          <p:cNvGrpSpPr/>
          <p:nvPr/>
        </p:nvGrpSpPr>
        <p:grpSpPr>
          <a:xfrm>
            <a:off x="7114222" y="1524000"/>
            <a:ext cx="4544378" cy="1316355"/>
            <a:chOff x="7114222" y="1524000"/>
            <a:chExt cx="4544378" cy="1316355"/>
          </a:xfrm>
        </p:grpSpPr>
        <p:sp>
          <p:nvSpPr>
            <p:cNvPr id="13" name="Rectangle 13"/>
            <p:cNvSpPr/>
            <p:nvPr/>
          </p:nvSpPr>
          <p:spPr>
            <a:xfrm>
              <a:off x="7114222" y="1524000"/>
              <a:ext cx="4544378" cy="1316355"/>
            </a:xfrm>
            <a:prstGeom prst="roundRect">
              <a:avLst>
                <a:gd name="adj" fmla="val 10130"/>
              </a:avLst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7323772" y="1733550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23613D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413981" y="176926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结论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316152" y="2110740"/>
              <a:ext cx="379666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 ≤ h ≤ 1 时 h − h² ≥ 0，所以平均值法精度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更高；只有 h 只取 0、1 两个值时两者相同。</a:t>
              </a:r>
            </a:p>
          </p:txBody>
        </p:sp>
      </p:grpSp>
      <p:grpSp>
        <p:nvGrpSpPr>
          <p:cNvPr id="25" name="c2-card-2"/>
          <p:cNvGrpSpPr/>
          <p:nvPr/>
        </p:nvGrpSpPr>
        <p:grpSpPr>
          <a:xfrm>
            <a:off x="7114222" y="3030855"/>
            <a:ext cx="4544378" cy="2682240"/>
            <a:chOff x="7114222" y="3030855"/>
            <a:chExt cx="4544378" cy="2682240"/>
          </a:xfrm>
        </p:grpSpPr>
        <p:sp>
          <p:nvSpPr>
            <p:cNvPr id="18" name="Rectangle 18"/>
            <p:cNvSpPr/>
            <p:nvPr/>
          </p:nvSpPr>
          <p:spPr>
            <a:xfrm>
              <a:off x="7114222" y="3030855"/>
              <a:ext cx="4544378" cy="2682240"/>
            </a:xfrm>
            <a:prstGeom prst="roundRect">
              <a:avLst>
                <a:gd name="adj" fmla="val 4972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7123748" y="3164205"/>
              <a:ext cx="47625" cy="2415540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7361872" y="3240405"/>
              <a:ext cx="1204912" cy="257175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430427" y="3276124"/>
              <a:ext cx="1066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用方差分解来看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354252" y="3617595"/>
              <a:ext cx="369189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el-GR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E(ξᵢ | Xᵢ) = P(Yᵢ ≤ h(Xᵢ) | Xᵢ) = h(Xᵢ) =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ηᵢ。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354252" y="4238625"/>
              <a:ext cx="379666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平均值法相当于把投点法里 Yᵢ 的随机性积分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掉，由 Var[E(ξ|X)] ≤ Var(ξ) 得方差更小。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355396" y="4856321"/>
              <a:ext cx="265796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这正是 3.5.3 条件期望法的思想。</a:t>
              </a:r>
            </a:p>
          </p:txBody>
        </p:sp>
      </p:grpSp>
      <p:grpSp>
        <p:nvGrpSpPr>
          <p:cNvPr id="2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26" name="TextBox 26"/>
            <p:cNvSpPr txBox="1"/>
            <p:nvPr/>
          </p:nvSpPr>
          <p:spPr>
            <a:xfrm>
              <a:off x="528447" y="6581299"/>
              <a:ext cx="198882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统计计算 · 第3章 随机模拟（上）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368495" cy="909257"/>
            <a:chOff x="520446" y="342900"/>
            <a:chExt cx="8368495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989898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9634" y="407194"/>
              <a:ext cx="289838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第3章 随机模拟（上） · 3.2 随机模拟积分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36849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例11.3 d = 8 时比较网格点法、随机投点法与平均值法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formula179"/>
              <p:cNvSpPr txBox="1">
                <a:spLocks noGrp="1"/>
              </p:cNvSpPr>
              <p:nvPr/>
            </p:nvSpPr>
            <p:spPr>
              <a:xfrm>
                <a:off x="533400" y="1524000"/>
                <a:ext cx="5626418" cy="6134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zh-CN" sz="17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I</m:t>
                      </m:r>
                      <m:r>
                        <m:rPr>
                          <m:sty m:val="p"/>
                        </m:rPr>
                        <a:rPr lang="zh-CN" sz="17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nary>
                        <m:naryPr>
                          <m:chr m:val="∫"/>
                          <m:limLoc m:val="subSup"/>
                          <m:grow m:val="off"/>
                          <m:subHide m:val="off"/>
                          <m:supHide m:val="off"/>
                          <m:ctrlP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naryPr>
                        <m:sub>
                          <m: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0</m:t>
                          </m:r>
                        </m:sub>
                        <m:sup>
                          <m: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sup>
                        <m:e>
                          <m:r>
                            <m:rPr>
                              <m:sty m:val="p"/>
                            </m:rP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⋯</m:t>
                          </m:r>
                          <m:nary>
                            <m:naryPr>
                              <m:chr m:val="∫"/>
                              <m:limLoc m:val="subSup"/>
                              <m:grow m:val="off"/>
                              <m:subHide m:val="off"/>
                              <m:supHide m:val="off"/>
                              <m:ctrlPr>
                                <a:rPr lang="zh-CN" sz="17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naryPr>
                            <m:sub>
                              <m:r>
                                <a:rPr lang="zh-CN" sz="17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0</m:t>
                              </m:r>
                            </m:sub>
                            <m:sup>
                              <m:r>
                                <a:rPr lang="zh-CN" sz="17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1</m:t>
                              </m:r>
                            </m:sup>
                            <m:e>
                              <m:sSubSup>
                                <m:e>
                                  <m:r>
                                    <a:rPr lang="zh-CN" sz="17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x</m:t>
                                  </m:r>
                                </m:e>
                                <m:sub>
                                  <m:r>
                                    <a:rPr lang="zh-CN" sz="17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zh-CN" sz="17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2</m:t>
                                  </m:r>
                                </m:sup>
                              </m:sSubSup>
                              <m:sSubSup>
                                <m:e>
                                  <m:r>
                                    <a:rPr lang="zh-CN" sz="17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x</m:t>
                                  </m:r>
                                </m:e>
                                <m:sub>
                                  <m:r>
                                    <a:rPr lang="zh-CN" sz="17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2</m:t>
                                  </m:r>
                                </m:sub>
                                <m:sup>
                                  <m:r>
                                    <a:rPr lang="zh-CN" sz="17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2</m:t>
                                  </m:r>
                                </m:sup>
                              </m:sSubSup>
                              <m:r>
                                <m:rPr>
                                  <m:sty m:val="p"/>
                                </m:rPr>
                                <a:rPr lang="zh-CN" sz="17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⋯</m:t>
                              </m:r>
                              <m:sSubSup>
                                <m:e>
                                  <m:r>
                                    <a:rPr lang="zh-CN" sz="17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x</m:t>
                                  </m:r>
                                </m:e>
                                <m:sub>
                                  <m:r>
                                    <a:rPr lang="zh-CN" sz="17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8</m:t>
                                  </m:r>
                                </m:sub>
                                <m:sup>
                                  <m:r>
                                    <a:rPr lang="zh-CN" sz="17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2</m:t>
                                  </m:r>
                                </m:sup>
                              </m:sSubSup>
                              <m:r>
                                <a:rPr lang="zh-CN" sz="17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 xml:space="preserve"> </m:t>
                              </m:r>
                              <m:r>
                                <a:rPr lang="zh-CN" sz="17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d</m:t>
                              </m:r>
                              <m:sSub>
                                <m:e>
                                  <m:r>
                                    <a:rPr lang="zh-CN" sz="17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x</m:t>
                                  </m:r>
                                </m:e>
                                <m:sub>
                                  <m:r>
                                    <a:rPr lang="zh-CN" sz="17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m:rPr>
                                  <m:sty m:val="p"/>
                                </m:rPr>
                                <a:rPr lang="zh-CN" sz="17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⋯</m:t>
                              </m:r>
                              <m:r>
                                <a:rPr lang="zh-CN" sz="17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d</m:t>
                              </m:r>
                              <m:sSub>
                                <m:e>
                                  <m:r>
                                    <a:rPr lang="zh-CN" sz="17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x</m:t>
                                  </m:r>
                                </m:e>
                                <m:sub>
                                  <m:r>
                                    <a:rPr lang="zh-CN" sz="17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8</m:t>
                                  </m:r>
                                </m:sub>
                              </m:sSub>
                            </m:e>
                          </m:nary>
                        </m:e>
                      </m:nary>
                      <m:r>
                        <m:rPr>
                          <m:sty m:val="p"/>
                        </m:rPr>
                        <a:rPr lang="zh-CN" sz="17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sSup>
                        <m:e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7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f>
                                <m:fPr>
                                  <m:type m:val="bar"/>
                                  <m:ctrlPr>
                                    <a:rPr lang="zh-CN" sz="17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fPr>
                                <m:num>
                                  <m:r>
                                    <a:rPr lang="zh-CN" sz="17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zh-CN" sz="17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3</m:t>
                                  </m:r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8</m:t>
                          </m:r>
                        </m:sup>
                      </m:sSup>
                      <m:r>
                        <m:rPr>
                          <m:sty m:val="p"/>
                        </m:rPr>
                        <a:rPr lang="zh-CN" sz="17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≈</m:t>
                      </m:r>
                      <m:r>
                        <a:rPr lang="zh-CN" sz="17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1.524</m:t>
                      </m:r>
                      <m:r>
                        <m:rPr>
                          <m:sty m:val="p"/>
                        </m:rPr>
                        <a:rPr lang="zh-CN" sz="17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×</m:t>
                      </m:r>
                      <m:r>
                        <a:rPr lang="zh-CN" sz="17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1</m:t>
                      </m:r>
                      <m:sSup>
                        <m:e>
                          <m: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0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−</m:t>
                          </m:r>
                          <m: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4</m:t>
                          </m:r>
                        </m:sup>
                      </m:sSup>
                    </m:oMath>
                  </m:oMathPara>
                </a14:m>
              </a:p>
            </p:txBody>
          </p:sp>
        </mc:Choice>
      </mc:AlternateContent>
      <p:grpSp>
        <p:nvGrpSpPr>
          <p:cNvPr id="9" name="c1-text-2"/>
          <p:cNvGrpSpPr/>
          <p:nvPr/>
        </p:nvGrpSpPr>
        <p:grpSpPr>
          <a:xfrm>
            <a:off x="526542" y="2329815"/>
            <a:ext cx="3584162" cy="264033"/>
            <a:chOff x="526542" y="2329815"/>
            <a:chExt cx="3584162" cy="264033"/>
          </a:xfrm>
        </p:grpSpPr>
        <p:sp>
          <p:nvSpPr>
            <p:cNvPr id="8" name="TextBox 8"/>
            <p:cNvSpPr txBox="1"/>
            <p:nvPr/>
          </p:nvSpPr>
          <p:spPr>
            <a:xfrm>
              <a:off x="526542" y="2329815"/>
              <a:ext cx="358416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网格点法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：每维取 n 个中点，共 N = nᵈ 个点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formula180"/>
              <p:cNvSpPr txBox="1">
                <a:spLocks noGrp="1"/>
              </p:cNvSpPr>
              <p:nvPr/>
            </p:nvSpPr>
            <p:spPr>
              <a:xfrm>
                <a:off x="533400" y="2710815"/>
                <a:ext cx="5626418" cy="76676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sSub>
                        <m:e>
                          <m: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I</m:t>
                          </m:r>
                        </m:e>
                        <m:sub>
                          <m: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0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zh-CN" sz="17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f>
                        <m:fPr>
                          <m:type m:val="bar"/>
                          <m:ctrlP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num>
                        <m:den>
                          <m: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N</m:t>
                          </m:r>
                        </m:den>
                      </m:f>
                      <m:nary>
                        <m:naryPr>
                          <m:chr m:val="∑"/>
                          <m:limLoc m:val="undOvr"/>
                          <m:grow m:val="off"/>
                          <m:subHide m:val="off"/>
                          <m:supHide m:val="off"/>
                          <m:ctrlP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naryPr>
                        <m:sub>
                          <m:sSub>
                            <m:e>
                              <m:r>
                                <a:rPr lang="zh-CN" sz="17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i</m:t>
                              </m:r>
                            </m:e>
                            <m:sub>
                              <m:r>
                                <a:rPr lang="zh-CN" sz="17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1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=</m:t>
                          </m:r>
                          <m: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sub>
                        <m:sup>
                          <m: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n</m:t>
                          </m:r>
                        </m:sup>
                        <m:e>
                          <m:r>
                            <m:rPr>
                              <m:sty m:val="p"/>
                            </m:rP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⋯</m:t>
                          </m:r>
                          <m:nary>
                            <m:naryPr>
                              <m:chr m:val="∑"/>
                              <m:limLoc m:val="undOvr"/>
                              <m:grow m:val="off"/>
                              <m:subHide m:val="off"/>
                              <m:supHide m:val="off"/>
                              <m:ctrlPr>
                                <a:rPr lang="zh-CN" sz="17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naryPr>
                            <m:sub>
                              <m:sSub>
                                <m:e>
                                  <m:r>
                                    <a:rPr lang="zh-CN" sz="17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i</m:t>
                                  </m:r>
                                </m:e>
                                <m:sub>
                                  <m:r>
                                    <a:rPr lang="zh-CN" sz="17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d</m:t>
                                  </m:r>
                                </m:sub>
                              </m:sSub>
                              <m:r>
                                <m:rPr>
                                  <m:sty m:val="p"/>
                                </m:rPr>
                                <a:rPr lang="zh-CN" sz="17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=</m:t>
                              </m:r>
                              <m:r>
                                <a:rPr lang="zh-CN" sz="17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zh-CN" sz="17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n</m:t>
                              </m:r>
                            </m:sup>
                            <m:e>
                              <m:r>
                                <a:rPr lang="zh-CN" sz="17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f</m:t>
                              </m:r>
                              <m:d>
                                <m:dPr>
                                  <m:begChr m:val="("/>
                                  <m:sepChr m:val=""/>
                                  <m:endChr m:val=")"/>
                                  <m:grow m:val="on"/>
                                  <m:ctrlPr>
                                    <a:rPr lang="zh-CN" sz="17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type m:val="bar"/>
                                      <m:ctrlPr>
                                        <a:rPr lang="zh-CN" sz="172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zh-CN" sz="172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2</m:t>
                                      </m:r>
                                      <m:sSub>
                                        <m:e>
                                          <m:r>
                                            <a:rPr lang="zh-CN" sz="172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i</m:t>
                                          </m:r>
                                        </m:e>
                                        <m:sub>
                                          <m:r>
                                            <a:rPr lang="zh-CN" sz="172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  <m:r>
                                        <m:rPr>
                                          <m:sty m:val="p"/>
                                        </m:rPr>
                                        <a:rPr lang="zh-CN" sz="172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−</m:t>
                                      </m:r>
                                      <m:r>
                                        <a:rPr lang="zh-CN" sz="172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1</m:t>
                                      </m:r>
                                    </m:num>
                                    <m:den>
                                      <m:r>
                                        <a:rPr lang="zh-CN" sz="172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2n</m:t>
                                      </m:r>
                                    </m:den>
                                  </m:f>
                                  <m:r>
                                    <m:rPr>
                                      <m:sty m:val="p"/>
                                    </m:rPr>
                                    <a:rPr lang="zh-CN" sz="17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,…,</m:t>
                                  </m:r>
                                  <m:f>
                                    <m:fPr>
                                      <m:type m:val="bar"/>
                                      <m:ctrlPr>
                                        <a:rPr lang="zh-CN" sz="172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zh-CN" sz="172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2</m:t>
                                      </m:r>
                                      <m:sSub>
                                        <m:e>
                                          <m:r>
                                            <a:rPr lang="zh-CN" sz="172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i</m:t>
                                          </m:r>
                                        </m:e>
                                        <m:sub>
                                          <m:r>
                                            <a:rPr lang="zh-CN" sz="172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d</m:t>
                                          </m:r>
                                        </m:sub>
                                      </m:sSub>
                                      <m:r>
                                        <m:rPr>
                                          <m:sty m:val="p"/>
                                        </m:rPr>
                                        <a:rPr lang="zh-CN" sz="172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−</m:t>
                                      </m:r>
                                      <m:r>
                                        <a:rPr lang="zh-CN" sz="172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1</m:t>
                                      </m:r>
                                    </m:num>
                                    <m:den>
                                      <m:r>
                                        <a:rPr lang="zh-CN" sz="172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2n</m:t>
                                      </m:r>
                                    </m:den>
                                  </m:f>
                                </m:e>
                              </m:d>
                            </m:e>
                          </m:nary>
                        </m:e>
                      </m:nary>
                    </m:oMath>
                  </m:oMathPara>
                </a14:m>
              </a:p>
            </p:txBody>
          </p:sp>
        </mc:Choice>
      </mc:AlternateContent>
      <p:grpSp>
        <p:nvGrpSpPr>
          <p:cNvPr id="12" name="c1-text-4"/>
          <p:cNvGrpSpPr/>
          <p:nvPr/>
        </p:nvGrpSpPr>
        <p:grpSpPr>
          <a:xfrm>
            <a:off x="526542" y="3669030"/>
            <a:ext cx="4977194" cy="529780"/>
            <a:chOff x="526542" y="3669030"/>
            <a:chExt cx="4977194" cy="529780"/>
          </a:xfrm>
        </p:grpSpPr>
        <p:sp>
          <p:nvSpPr>
            <p:cNvPr id="11" name="TextBox 11"/>
            <p:cNvSpPr txBox="1"/>
            <p:nvPr/>
          </p:nvSpPr>
          <p:spPr>
            <a:xfrm>
              <a:off x="526542" y="3669030"/>
              <a:ext cx="4977194" cy="5297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92"/>
                </a:lnSpc>
              </a:pPr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随机投点法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：在 (0,1)ᵈ × (0,1) 上均匀抽样 (ξᵢ⁽¹⁾, …, ξᵢ⁽ᵈ⁾,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yᵢ)，Î₁ 为 yᵢ ≤ f(ξᵢ⁽¹⁾, …, ξᵢ⁽ᵈ⁾) 成立的比例。</a:t>
              </a:r>
            </a:p>
          </p:txBody>
        </p:sp>
      </p:grpSp>
      <p:grpSp>
        <p:nvGrpSpPr>
          <p:cNvPr id="14" name="c1-text-5"/>
          <p:cNvGrpSpPr/>
          <p:nvPr/>
        </p:nvGrpSpPr>
        <p:grpSpPr>
          <a:xfrm>
            <a:off x="526542" y="4338638"/>
            <a:ext cx="922401" cy="264033"/>
            <a:chOff x="526542" y="4338638"/>
            <a:chExt cx="922401" cy="264033"/>
          </a:xfrm>
        </p:grpSpPr>
        <p:sp>
          <p:nvSpPr>
            <p:cNvPr id="13" name="TextBox 13"/>
            <p:cNvSpPr txBox="1"/>
            <p:nvPr/>
          </p:nvSpPr>
          <p:spPr>
            <a:xfrm>
              <a:off x="526542" y="4338638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平均值法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：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formula181"/>
              <p:cNvSpPr txBox="1">
                <a:spLocks noGrp="1"/>
              </p:cNvSpPr>
              <p:nvPr/>
            </p:nvSpPr>
            <p:spPr>
              <a:xfrm>
                <a:off x="533400" y="4718685"/>
                <a:ext cx="5626418" cy="76676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sSub>
                        <m:e>
                          <m:acc>
                            <m:accPr>
                              <m:chr m:val="ˆ"/>
                              <m:ctrlPr>
                                <a:rPr lang="zh-CN" sz="17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accPr>
                            <m:e>
                              <m:r>
                                <a:rPr lang="zh-CN" sz="17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I</m:t>
                              </m:r>
                            </m:e>
                          </m:acc>
                        </m:e>
                        <m:sub>
                          <m: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zh-CN" sz="17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f>
                        <m:fPr>
                          <m:type m:val="bar"/>
                          <m:ctrlP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num>
                        <m:den>
                          <m: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N</m:t>
                          </m:r>
                        </m:den>
                      </m:f>
                      <m:nary>
                        <m:naryPr>
                          <m:chr m:val="∑"/>
                          <m:limLoc m:val="undOvr"/>
                          <m:grow m:val="off"/>
                          <m:subHide m:val="off"/>
                          <m:supHide m:val="off"/>
                          <m:ctrlP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naryPr>
                        <m:sub>
                          <m: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i</m:t>
                          </m:r>
                          <m:r>
                            <m:rPr>
                              <m:sty m:val="p"/>
                            </m:rP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=</m:t>
                          </m:r>
                          <m: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sub>
                        <m:sup>
                          <m: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N</m:t>
                          </m:r>
                        </m:sup>
                        <m:e>
                          <m: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f</m:t>
                          </m:r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7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sSubSup>
                                <m:e>
                                  <m:r>
                                    <a:rPr lang="zh-CN" sz="17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ξ</m:t>
                                  </m:r>
                                </m:e>
                                <m:sub>
                                  <m:r>
                                    <a:rPr lang="zh-CN" sz="17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i</m:t>
                                  </m:r>
                                </m:sub>
                                <m:sup>
                                  <m:d>
                                    <m:dPr>
                                      <m:begChr m:val="("/>
                                      <m:sepChr m:val=""/>
                                      <m:endChr m:val=")"/>
                                      <m:grow m:val="on"/>
                                      <m:ctrlPr>
                                        <a:rPr lang="zh-CN" sz="172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zh-CN" sz="172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1</m:t>
                                      </m:r>
                                    </m:e>
                                  </m:d>
                                </m:sup>
                              </m:sSubSup>
                              <m:r>
                                <m:rPr>
                                  <m:sty m:val="p"/>
                                </m:rPr>
                                <a:rPr lang="zh-CN" sz="17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,…,</m:t>
                              </m:r>
                              <m:sSubSup>
                                <m:e>
                                  <m:r>
                                    <a:rPr lang="zh-CN" sz="17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ξ</m:t>
                                  </m:r>
                                </m:e>
                                <m:sub>
                                  <m:r>
                                    <a:rPr lang="zh-CN" sz="17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i</m:t>
                                  </m:r>
                                </m:sub>
                                <m:sup>
                                  <m:d>
                                    <m:dPr>
                                      <m:begChr m:val="("/>
                                      <m:sepChr m:val=""/>
                                      <m:endChr m:val=")"/>
                                      <m:grow m:val="on"/>
                                      <m:ctrlPr>
                                        <a:rPr lang="zh-CN" sz="172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zh-CN" sz="172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d</m:t>
                                      </m:r>
                                    </m:e>
                                  </m:d>
                                </m:sup>
                              </m:sSubSup>
                            </m:e>
                          </m:d>
                        </m:e>
                      </m:nary>
                    </m:oMath>
                  </m:oMathPara>
                </a14:m>
              </a:p>
            </p:txBody>
          </p:sp>
        </mc:Choice>
      </mc:AlternateContent>
      <p:grpSp>
        <p:nvGrpSpPr>
          <p:cNvPr id="31" name="c2-table-1"/>
          <p:cNvGrpSpPr/>
          <p:nvPr/>
        </p:nvGrpSpPr>
        <p:grpSpPr>
          <a:xfrm>
            <a:off x="6464618" y="1524000"/>
            <a:ext cx="5193982" cy="1600200"/>
            <a:chOff x="6464618" y="1524000"/>
            <a:chExt cx="5193982" cy="1600200"/>
          </a:xfrm>
        </p:grpSpPr>
        <p:sp>
          <p:nvSpPr>
            <p:cNvPr id="16" name="Rectangle 16"/>
            <p:cNvSpPr/>
            <p:nvPr/>
          </p:nvSpPr>
          <p:spPr>
            <a:xfrm>
              <a:off x="6464618" y="1524000"/>
              <a:ext cx="5193982" cy="400050"/>
            </a:xfrm>
            <a:prstGeom prst="rect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294918" y="164544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方法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156151" y="1645444"/>
              <a:ext cx="17854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N = 4⁸ = 65536 时的误差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561772" y="2045494"/>
              <a:ext cx="15504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网格点法（每维 4 点）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8535352" y="2045494"/>
              <a:ext cx="221273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偏差 −1.80×10⁻⁵，相对 −11.8%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6464618" y="2319338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6464618" y="2324100"/>
              <a:ext cx="5193982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561772" y="2445544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随机投点法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535352" y="2445544"/>
              <a:ext cx="219765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标准差 4.82×10⁻⁵，相对 31.6%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6464618" y="2719388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6474142" y="2733675"/>
              <a:ext cx="1954530" cy="381000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561772" y="2845594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平均值法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8535352" y="2845594"/>
              <a:ext cx="211473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标准差 6.22×10⁻⁶，相对 4.1%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6464618" y="1524000"/>
              <a:ext cx="5193982" cy="160020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8433435" y="1524000"/>
              <a:ext cx="9525" cy="16002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33" name="c2-text-2"/>
          <p:cNvGrpSpPr/>
          <p:nvPr/>
        </p:nvGrpSpPr>
        <p:grpSpPr>
          <a:xfrm>
            <a:off x="6458902" y="3312319"/>
            <a:ext cx="4833366" cy="441008"/>
            <a:chOff x="6458902" y="3312319"/>
            <a:chExt cx="4833366" cy="441008"/>
          </a:xfrm>
        </p:grpSpPr>
        <p:sp>
          <p:nvSpPr>
            <p:cNvPr id="32" name="TextBox 32"/>
            <p:cNvSpPr txBox="1"/>
            <p:nvPr/>
          </p:nvSpPr>
          <p:spPr>
            <a:xfrm>
              <a:off x="6458902" y="3312319"/>
              <a:ext cx="4833366" cy="4410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40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投点法标准差 √(I(1 − I)/N)；平均值法标准差 √(((1/5)⁸ − I²)/N)；网格值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I₀ = (0.328125)⁸ = 1.344×10⁻⁴。</a:t>
              </a:r>
            </a:p>
          </p:txBody>
        </p:sp>
      </p:grpSp>
      <p:grpSp>
        <p:nvGrpSpPr>
          <p:cNvPr id="39" name="c2-card-3"/>
          <p:cNvGrpSpPr/>
          <p:nvPr/>
        </p:nvGrpSpPr>
        <p:grpSpPr>
          <a:xfrm>
            <a:off x="6464618" y="3879532"/>
            <a:ext cx="5193982" cy="1185862"/>
            <a:chOff x="6464618" y="3879532"/>
            <a:chExt cx="5193982" cy="1185862"/>
          </a:xfrm>
        </p:grpSpPr>
        <p:sp>
          <p:nvSpPr>
            <p:cNvPr id="34" name="Rectangle 34"/>
            <p:cNvSpPr/>
            <p:nvPr/>
          </p:nvSpPr>
          <p:spPr>
            <a:xfrm>
              <a:off x="6464618" y="3879532"/>
              <a:ext cx="5193982" cy="1185862"/>
            </a:xfrm>
            <a:prstGeom prst="roundRect">
              <a:avLst>
                <a:gd name="adj" fmla="val 1124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5" name="Rectangle 35"/>
            <p:cNvSpPr/>
            <p:nvPr/>
          </p:nvSpPr>
          <p:spPr>
            <a:xfrm>
              <a:off x="6474142" y="4012882"/>
              <a:ext cx="47625" cy="919162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36" name="Rectangle 36"/>
            <p:cNvSpPr/>
            <p:nvPr/>
          </p:nvSpPr>
          <p:spPr>
            <a:xfrm>
              <a:off x="6689408" y="4066222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6782079" y="4099084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说明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682549" y="4411028"/>
              <a:ext cx="447141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原课件只列出三种估计的公式，没有给出数值。表中数值由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上面的方差公式算出，并用 Python 模拟复核。</a:t>
              </a:r>
            </a:p>
          </p:txBody>
        </p:sp>
      </p:grpSp>
      <p:grpSp>
        <p:nvGrpSpPr>
          <p:cNvPr id="45" name="c2-callout-4"/>
          <p:cNvGrpSpPr/>
          <p:nvPr/>
        </p:nvGrpSpPr>
        <p:grpSpPr>
          <a:xfrm>
            <a:off x="6464618" y="5235892"/>
            <a:ext cx="5193982" cy="978218"/>
            <a:chOff x="6464618" y="5235892"/>
            <a:chExt cx="5193982" cy="978218"/>
          </a:xfrm>
        </p:grpSpPr>
        <p:sp>
          <p:nvSpPr>
            <p:cNvPr id="40" name="Rectangle 40"/>
            <p:cNvSpPr/>
            <p:nvPr/>
          </p:nvSpPr>
          <p:spPr>
            <a:xfrm>
              <a:off x="6464618" y="5235892"/>
              <a:ext cx="5193982" cy="978218"/>
            </a:xfrm>
            <a:prstGeom prst="roundRect">
              <a:avLst>
                <a:gd name="adj" fmla="val 11685"/>
              </a:avLst>
            </a:prstGeom>
            <a:solidFill>
              <a:srgbClr val="2E7D4F"/>
            </a:solidFill>
            <a:ln>
              <a:noFill/>
            </a:ln>
          </p:spPr>
        </p:sp>
        <p:grpSp>
          <p:nvGrpSpPr>
            <p:cNvPr id="43" name="Group 43"/>
            <p:cNvGrpSpPr/>
            <p:nvPr/>
          </p:nvGrpSpPr>
          <p:grpSpPr>
            <a:xfrm>
              <a:off x="6669405" y="5624515"/>
              <a:ext cx="200023" cy="200023"/>
              <a:chOff x="6669405" y="5624515"/>
              <a:chExt cx="200023" cy="200023"/>
            </a:xfrm>
          </p:grpSpPr>
          <p:sp>
            <p:nvSpPr>
              <p:cNvPr id="41" name="Freeform 41"/>
              <p:cNvSpPr/>
              <p:nvPr/>
            </p:nvSpPr>
            <p:spPr>
              <a:xfrm>
                <a:off x="6669405" y="5624515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42" name="Freeform 42"/>
              <p:cNvSpPr/>
              <p:nvPr/>
            </p:nvSpPr>
            <p:spPr>
              <a:xfrm>
                <a:off x="6802755" y="569118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44" name="TextBox 44"/>
            <p:cNvSpPr txBox="1"/>
            <p:nvPr/>
          </p:nvSpPr>
          <p:spPr>
            <a:xfrm>
              <a:off x="6972110" y="5381625"/>
              <a:ext cx="4171378" cy="7612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平均值法最准；投点法多了 0/1 判定的随机性，相对误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差最大。网格法误差是确定性偏差，加密网格时点数按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n⁸ 增长。</a:t>
              </a:r>
            </a:p>
          </p:txBody>
        </p:sp>
      </p:grpSp>
      <p:grpSp>
        <p:nvGrpSpPr>
          <p:cNvPr id="4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6" name="TextBox 46"/>
            <p:cNvSpPr txBox="1"/>
            <p:nvPr/>
          </p:nvSpPr>
          <p:spPr>
            <a:xfrm>
              <a:off x="528447" y="6581299"/>
              <a:ext cx="198882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统计计算 · 第3章 随机模拟（上）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2E7D4F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5F2EA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</p:grpSp>
      <p:grpSp>
        <p:nvGrpSpPr>
          <p:cNvPr id="20" name="section-title"/>
          <p:cNvGrpSpPr/>
          <p:nvPr/>
        </p:nvGrpSpPr>
        <p:grpSpPr>
          <a:xfrm>
            <a:off x="667512" y="1835468"/>
            <a:ext cx="4691253" cy="3706177"/>
            <a:chOff x="667512" y="1835468"/>
            <a:chExt cx="4691253" cy="370617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第三部分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3452020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3.3 重要抽样法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468134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在被积函数取值大的地方多抽点，再用权重纠正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22364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试投密度与重要抽样估计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求随机变量函数的期望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224656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3.3.1 标准化重要抽样法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23900" y="4951095"/>
              <a:ext cx="76200" cy="7620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06780" y="4893945"/>
              <a:ext cx="305428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3.3.2 带有舍选控制的重要抽样法</a:t>
              </a:r>
            </a:p>
          </p:txBody>
        </p:sp>
        <p:sp>
          <p:nvSpPr>
            <p:cNvPr id="18" name="Ellipse 18"/>
            <p:cNvSpPr/>
            <p:nvPr/>
          </p:nvSpPr>
          <p:spPr>
            <a:xfrm>
              <a:off x="723900" y="5305425"/>
              <a:ext cx="76200" cy="7620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906780" y="5248275"/>
              <a:ext cx="157010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例12.1 与例12.2</a:t>
              </a:r>
            </a:p>
          </p:txBody>
        </p:sp>
      </p:grpSp>
      <p:grpSp>
        <p:nvGrpSpPr>
          <p:cNvPr id="2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21" name="TextBox 21"/>
            <p:cNvSpPr txBox="1"/>
            <p:nvPr/>
          </p:nvSpPr>
          <p:spPr>
            <a:xfrm>
              <a:off x="528447" y="6581299"/>
              <a:ext cx="198882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统计计算 · 第3章 随机模拟（上）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906976" cy="909257"/>
            <a:chOff x="520446" y="342900"/>
            <a:chExt cx="690697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847975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3583" y="407194"/>
              <a:ext cx="27476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第3章 随机模拟（上） · 3.3 重要抽样法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90697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重要抽样：从形状与 |h| 相近的密度 g 中抽样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c1-text-1"/>
          <p:cNvGrpSpPr/>
          <p:nvPr/>
        </p:nvGrpSpPr>
        <p:grpSpPr>
          <a:xfrm>
            <a:off x="525780" y="1548765"/>
            <a:ext cx="5730240" cy="883920"/>
            <a:chOff x="525780" y="1548765"/>
            <a:chExt cx="5730240" cy="883920"/>
          </a:xfrm>
        </p:grpSpPr>
        <p:sp>
          <p:nvSpPr>
            <p:cNvPr id="7" name="TextBox 7"/>
            <p:cNvSpPr txBox="1"/>
            <p:nvPr/>
          </p:nvSpPr>
          <p:spPr>
            <a:xfrm>
              <a:off x="525780" y="1548765"/>
              <a:ext cx="5730240" cy="8839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325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计算 I = ∫ h(x)dx（积分区域 C）时，C 可能形状任意甚至无界，h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在 C 内各处取值差异可能很大。均匀抽样会把许多点浪费在 h ≈ 0 的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地方，于是改用 </a:t>
              </a:r>
              <a:r>
                <a:rPr lang="zh-CN" sz="15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非均匀抽样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。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formula184"/>
              <p:cNvSpPr txBox="1">
                <a:spLocks noGrp="1"/>
              </p:cNvSpPr>
              <p:nvPr/>
            </p:nvSpPr>
            <p:spPr>
              <a:xfrm>
                <a:off x="533400" y="2564130"/>
                <a:ext cx="6059805" cy="6934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sSub>
                        <m:e>
                          <m:r>
                            <m:rPr>
                              <m:sty m:val="b"/>
                            </m:rPr>
                            <a:rPr lang="zh-CN" sz="19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X</m:t>
                          </m:r>
                        </m:e>
                        <m:sub>
                          <m:r>
                            <a:rPr lang="zh-CN" sz="19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i</m:t>
                          </m:r>
                        </m:sub>
                      </m:sSub>
                      <m:r>
                        <a:rPr lang="zh-CN" sz="19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 xml:space="preserve"> </m:t>
                      </m:r>
                      <m:r>
                        <m:rPr>
                          <m:nor m:val="on"/>
                        </m:rPr>
                        <a:rPr lang="zh-CN" sz="19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iid</m:t>
                      </m:r>
                      <m:r>
                        <m:rPr>
                          <m:sty m:val="p"/>
                        </m:rPr>
                        <a:rPr lang="zh-CN" sz="19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∼</m:t>
                      </m:r>
                      <m:r>
                        <a:rPr lang="zh-CN" sz="19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g</m:t>
                      </m:r>
                      <m:r>
                        <m:rPr>
                          <m:sty m:val="p"/>
                        </m:rPr>
                        <a:rPr lang="zh-CN" sz="19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,</m:t>
                      </m:r>
                      <m:r>
                        <a:rPr lang="zh-CN" sz="19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 xml:space="preserve"> </m:t>
                      </m:r>
                      <m:sSub>
                        <m:e>
                          <m:r>
                            <a:rPr lang="zh-CN" sz="19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η</m:t>
                          </m:r>
                        </m:e>
                        <m:sub>
                          <m:r>
                            <a:rPr lang="zh-CN" sz="19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i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zh-CN" sz="19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f>
                        <m:fPr>
                          <m:type m:val="bar"/>
                          <m:ctrlPr>
                            <a:rPr lang="zh-CN" sz="19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zh-CN" sz="19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h</m:t>
                          </m:r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9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sSub>
                                <m:e>
                                  <m:r>
                                    <m:rPr>
                                      <m:sty m:val="b"/>
                                    </m:rPr>
                                    <a:rPr lang="zh-CN" sz="19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X</m:t>
                                  </m:r>
                                </m:e>
                                <m:sub>
                                  <m:r>
                                    <a:rPr lang="zh-CN" sz="19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i</m:t>
                                  </m:r>
                                </m:sub>
                              </m:sSub>
                            </m:e>
                          </m:d>
                        </m:num>
                        <m:den>
                          <m:r>
                            <a:rPr lang="zh-CN" sz="19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g</m:t>
                          </m:r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9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sSub>
                                <m:e>
                                  <m:r>
                                    <m:rPr>
                                      <m:sty m:val="b"/>
                                    </m:rPr>
                                    <a:rPr lang="zh-CN" sz="19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X</m:t>
                                  </m:r>
                                </m:e>
                                <m:sub>
                                  <m:r>
                                    <a:rPr lang="zh-CN" sz="19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i</m:t>
                                  </m:r>
                                </m:sub>
                              </m:sSub>
                            </m:e>
                          </m:d>
                        </m:den>
                      </m:f>
                      <m:r>
                        <m:rPr>
                          <m:sty m:val="p"/>
                        </m:rPr>
                        <a:rPr lang="zh-CN" sz="19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,</m:t>
                      </m:r>
                      <m:r>
                        <a:rPr lang="zh-CN" sz="19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 xml:space="preserve"> </m:t>
                      </m:r>
                      <m:r>
                        <a:rPr lang="zh-CN" sz="19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Eη</m:t>
                      </m:r>
                      <m:r>
                        <m:rPr>
                          <m:sty m:val="p"/>
                        </m:rPr>
                        <a:rPr lang="zh-CN" sz="19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nary>
                        <m:naryPr>
                          <m:chr m:val="∫"/>
                          <m:limLoc m:val="subSup"/>
                          <m:grow m:val="off"/>
                          <m:subHide m:val="off"/>
                          <m:supHide m:val="on"/>
                          <m:ctrlPr>
                            <a:rPr lang="zh-CN" sz="19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naryPr>
                        <m:sub>
                          <m:r>
                            <a:rPr lang="zh-CN" sz="19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C</m:t>
                          </m:r>
                        </m:sub>
                        <m:sup/>
                        <m:e>
                          <m:f>
                            <m:fPr>
                              <m:type m:val="bar"/>
                              <m:ctrlPr>
                                <a:rPr lang="zh-CN" sz="19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fPr>
                            <m:num>
                              <m:r>
                                <a:rPr lang="zh-CN" sz="19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h</m:t>
                              </m:r>
                              <m:d>
                                <m:dPr>
                                  <m:begChr m:val="("/>
                                  <m:sepChr m:val=""/>
                                  <m:endChr m:val=")"/>
                                  <m:grow m:val="on"/>
                                  <m:ctrlPr>
                                    <a:rPr lang="zh-CN" sz="19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sty m:val="b"/>
                                    </m:rPr>
                                    <a:rPr lang="zh-CN" sz="19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x</m:t>
                                  </m:r>
                                </m:e>
                              </m:d>
                            </m:num>
                            <m:den>
                              <m:r>
                                <a:rPr lang="zh-CN" sz="19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g</m:t>
                              </m:r>
                              <m:d>
                                <m:dPr>
                                  <m:begChr m:val="("/>
                                  <m:sepChr m:val=""/>
                                  <m:endChr m:val=")"/>
                                  <m:grow m:val="on"/>
                                  <m:ctrlPr>
                                    <a:rPr lang="zh-CN" sz="19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sty m:val="b"/>
                                    </m:rPr>
                                    <a:rPr lang="zh-CN" sz="19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x</m:t>
                                  </m:r>
                                </m:e>
                              </m:d>
                            </m:den>
                          </m:f>
                          <m:r>
                            <a:rPr lang="zh-CN" sz="19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g</m:t>
                          </m:r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9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b"/>
                                </m:rPr>
                                <a:rPr lang="zh-CN" sz="19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x</m:t>
                              </m:r>
                            </m:e>
                          </m:d>
                          <m:r>
                            <a:rPr lang="zh-CN" sz="19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 xml:space="preserve"> </m:t>
                          </m:r>
                          <m:r>
                            <a:rPr lang="zh-CN" sz="19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d</m:t>
                          </m:r>
                          <m:r>
                            <m:rPr>
                              <m:sty m:val="b"/>
                            </m:rPr>
                            <a:rPr lang="zh-CN" sz="19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x</m:t>
                          </m:r>
                        </m:e>
                      </m:nary>
                      <m:r>
                        <m:rPr>
                          <m:sty m:val="p"/>
                        </m:rPr>
                        <a:rPr lang="zh-CN" sz="19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r>
                        <a:rPr lang="zh-CN" sz="19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I</m:t>
                      </m:r>
                    </m:oMath>
                  </m:oMathPara>
                </a14:m>
              </a:p>
            </p:txBody>
          </p:sp>
        </mc:Choice>
      </mc:AlternateContent>
      <p:grpSp>
        <p:nvGrpSpPr>
          <p:cNvPr id="15" name="c1-card-3"/>
          <p:cNvGrpSpPr/>
          <p:nvPr/>
        </p:nvGrpSpPr>
        <p:grpSpPr>
          <a:xfrm>
            <a:off x="533400" y="3448050"/>
            <a:ext cx="6059805" cy="1925955"/>
            <a:chOff x="533400" y="3448050"/>
            <a:chExt cx="6059805" cy="1925955"/>
          </a:xfrm>
        </p:grpSpPr>
        <p:sp>
          <p:nvSpPr>
            <p:cNvPr id="10" name="Rectangle 10"/>
            <p:cNvSpPr/>
            <p:nvPr/>
          </p:nvSpPr>
          <p:spPr>
            <a:xfrm>
              <a:off x="533400" y="3448050"/>
              <a:ext cx="6059805" cy="1925955"/>
            </a:xfrm>
            <a:prstGeom prst="roundRect">
              <a:avLst>
                <a:gd name="adj" fmla="val 6924"/>
              </a:avLst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742950" y="3657600"/>
              <a:ext cx="2288858" cy="257175"/>
            </a:xfrm>
            <a:prstGeom prst="roundRect">
              <a:avLst>
                <a:gd name="adj" fmla="val 50000"/>
              </a:avLst>
            </a:prstGeom>
            <a:solidFill>
              <a:srgbClr val="23613D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79979" y="3693319"/>
              <a:ext cx="221575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重要抽样估计（12.1）（12.2）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3" name="formula185"/>
                <p:cNvSpPr txBox="1">
                  <a:spLocks noGrp="1"/>
                </p:cNvSpPr>
                <p:nvPr/>
              </p:nvSpPr>
              <p:spPr>
                <a:xfrm>
                  <a:off x="742950" y="4010025"/>
                  <a:ext cx="5640705" cy="8001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sSub>
                          <m:e>
                            <m:acc>
                              <m:accPr>
                                <m:chr m:val="ˆ"/>
                                <m:ctrlPr>
                                  <a:rPr lang="zh-CN" sz="18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accPr>
                              <m:e>
                                <m:r>
                                  <a:rPr lang="zh-CN" sz="18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I</m:t>
                                </m:r>
                              </m:e>
                            </m:acc>
                          </m:e>
                          <m:sub>
                            <m:r>
                              <a:rPr lang="zh-CN" sz="18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3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zh-CN" sz="180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acc>
                          <m:accPr>
                            <m:chr m:val="̅"/>
                            <m:ctrlPr>
                              <a:rPr lang="zh-CN" sz="18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accPr>
                          <m:e>
                            <m:r>
                              <a:rPr lang="zh-CN" sz="18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η</m:t>
                            </m:r>
                          </m:e>
                        </m:acc>
                        <m:r>
                          <m:rPr>
                            <m:sty m:val="p"/>
                          </m:rPr>
                          <a:rPr lang="zh-CN" sz="180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f>
                          <m:fPr>
                            <m:type m:val="bar"/>
                            <m:ctrlPr>
                              <a:rPr lang="zh-CN" sz="18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r>
                              <a:rPr lang="zh-CN" sz="18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num>
                          <m:den>
                            <m:r>
                              <a:rPr lang="zh-CN" sz="18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N</m:t>
                            </m:r>
                          </m:den>
                        </m:f>
                        <m:nary>
                          <m:naryPr>
                            <m:chr m:val="∑"/>
                            <m:limLoc m:val="undOvr"/>
                            <m:grow m:val="off"/>
                            <m:subHide m:val="off"/>
                            <m:supHide m:val="off"/>
                            <m:ctrlPr>
                              <a:rPr lang="zh-CN" sz="18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naryPr>
                          <m:sub>
                            <m:r>
                              <a:rPr lang="zh-CN" sz="18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i</m:t>
                            </m:r>
                            <m:r>
                              <m:rPr>
                                <m:sty m:val="p"/>
                              </m:rPr>
                              <a:rPr lang="zh-CN" sz="18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=</m:t>
                            </m:r>
                            <m:r>
                              <a:rPr lang="zh-CN" sz="18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sub>
                          <m:sup>
                            <m:r>
                              <a:rPr lang="zh-CN" sz="18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N</m:t>
                            </m:r>
                          </m:sup>
                          <m:e>
                            <m:f>
                              <m:fPr>
                                <m:type m:val="bar"/>
                                <m:ctrlPr>
                                  <a:rPr lang="zh-CN" sz="18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fPr>
                              <m:num>
                                <m:r>
                                  <a:rPr lang="zh-CN" sz="18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h</m:t>
                                </m:r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 m:val="on"/>
                                    <m:ctrlPr>
                                      <a:rPr lang="zh-CN" sz="180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dPr>
                                  <m:e>
                                    <m:sSub>
                                      <m:e>
                                        <m:r>
                                          <m:rPr>
                                            <m:sty m:val="b"/>
                                          </m:rPr>
                                          <a:rPr lang="zh-CN" sz="1800" dirty="0">
                                            <a:solidFill>
                                              <a:srgbClr val="FFFFFF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X</m:t>
                                        </m:r>
                                      </m:e>
                                      <m:sub>
                                        <m:r>
                                          <a:rPr lang="zh-CN" sz="1800" dirty="0">
                                            <a:solidFill>
                                              <a:srgbClr val="FFFFFF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i</m:t>
                                        </m:r>
                                      </m:sub>
                                    </m:sSub>
                                  </m:e>
                                </m:d>
                              </m:num>
                              <m:den>
                                <m:r>
                                  <a:rPr lang="zh-CN" sz="18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g</m:t>
                                </m:r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 m:val="on"/>
                                    <m:ctrlPr>
                                      <a:rPr lang="zh-CN" sz="180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dPr>
                                  <m:e>
                                    <m:sSub>
                                      <m:e>
                                        <m:r>
                                          <m:rPr>
                                            <m:sty m:val="b"/>
                                          </m:rPr>
                                          <a:rPr lang="zh-CN" sz="1800" dirty="0">
                                            <a:solidFill>
                                              <a:srgbClr val="FFFFFF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X</m:t>
                                        </m:r>
                                      </m:e>
                                      <m:sub>
                                        <m:r>
                                          <a:rPr lang="zh-CN" sz="1800" dirty="0">
                                            <a:solidFill>
                                              <a:srgbClr val="FFFFFF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i</m:t>
                                        </m:r>
                                      </m:sub>
                                    </m:sSub>
                                  </m:e>
                                </m:d>
                              </m:den>
                            </m:f>
                          </m:e>
                        </m:nary>
                        <m:r>
                          <m:rPr>
                            <m:sty m:val="p"/>
                          </m:rPr>
                          <a:rPr lang="zh-CN" sz="180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,</m:t>
                        </m:r>
                        <m:r>
                          <a:rPr lang="zh-CN" sz="180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  </m:t>
                        </m:r>
                        <m:r>
                          <m:rPr>
                            <m:sty m:val="p"/>
                          </m:rPr>
                          <a:rPr lang="zh-CN" sz="180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Var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8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sSub>
                              <m:e>
                                <m:acc>
                                  <m:accPr>
                                    <m:chr m:val="ˆ"/>
                                    <m:ctrlPr>
                                      <a:rPr lang="zh-CN" sz="180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accPr>
                                  <m:e>
                                    <m:r>
                                      <a:rPr lang="zh-CN" sz="180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I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zh-CN" sz="18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3</m:t>
                                </m:r>
                              </m:sub>
                            </m:sSub>
                          </m:e>
                        </m:d>
                        <m:r>
                          <m:rPr>
                            <m:sty m:val="p"/>
                          </m:rPr>
                          <a:rPr lang="zh-CN" sz="180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r>
                          <m:rPr>
                            <m:sty m:val="p"/>
                          </m:rPr>
                          <a:rPr lang="zh-CN" sz="180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Var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8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zh-CN" sz="18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fPr>
                              <m:num>
                                <m:r>
                                  <a:rPr lang="zh-CN" sz="18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h</m:t>
                                </m:r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 m:val="on"/>
                                    <m:ctrlPr>
                                      <a:rPr lang="zh-CN" sz="180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dPr>
                                  <m:e>
                                    <m:r>
                                      <m:rPr>
                                        <m:sty m:val="b"/>
                                      </m:rPr>
                                      <a:rPr lang="zh-CN" sz="180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X</m:t>
                                    </m:r>
                                  </m:e>
                                </m:d>
                              </m:num>
                              <m:den>
                                <m:r>
                                  <a:rPr lang="zh-CN" sz="18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g</m:t>
                                </m:r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 m:val="on"/>
                                    <m:ctrlPr>
                                      <a:rPr lang="zh-CN" sz="180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dPr>
                                  <m:e>
                                    <m:r>
                                      <m:rPr>
                                        <m:sty m:val="b"/>
                                      </m:rPr>
                                      <a:rPr lang="zh-CN" sz="180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X</m:t>
                                    </m:r>
                                  </m:e>
                                </m:d>
                              </m:den>
                            </m:f>
                          </m:e>
                        </m:d>
                        <m:f>
                          <m:fPr>
                            <m:type m:val="bar"/>
                            <m:ctrlPr>
                              <a:rPr lang="zh-CN" sz="18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r>
                              <a:rPr lang="zh-CN" sz="18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num>
                          <m:den>
                            <m:r>
                              <a:rPr lang="zh-CN" sz="18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N</m:t>
                            </m:r>
                          </m:den>
                        </m:f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14" name="TextBox 14"/>
            <p:cNvSpPr txBox="1"/>
            <p:nvPr/>
          </p:nvSpPr>
          <p:spPr>
            <a:xfrm>
              <a:off x="735330" y="4930140"/>
              <a:ext cx="474954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Î₃ 是 I 的无偏估计和强相合估计，方差为 O(1/N)。</a:t>
              </a:r>
            </a:p>
          </p:txBody>
        </p:sp>
      </p:grpSp>
      <p:grpSp>
        <p:nvGrpSpPr>
          <p:cNvPr id="22" name="c1-callout-4"/>
          <p:cNvGrpSpPr/>
          <p:nvPr/>
        </p:nvGrpSpPr>
        <p:grpSpPr>
          <a:xfrm>
            <a:off x="533400" y="5564505"/>
            <a:ext cx="6059805" cy="782955"/>
            <a:chOff x="533400" y="5564505"/>
            <a:chExt cx="6059805" cy="782955"/>
          </a:xfrm>
        </p:grpSpPr>
        <p:sp>
          <p:nvSpPr>
            <p:cNvPr id="16" name="Rectangle 16"/>
            <p:cNvSpPr/>
            <p:nvPr/>
          </p:nvSpPr>
          <p:spPr>
            <a:xfrm>
              <a:off x="533400" y="5564505"/>
              <a:ext cx="6059805" cy="782955"/>
            </a:xfrm>
            <a:prstGeom prst="roundRect">
              <a:avLst>
                <a:gd name="adj" fmla="val 14599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20" name="Group 20"/>
            <p:cNvGrpSpPr/>
            <p:nvPr/>
          </p:nvGrpSpPr>
          <p:grpSpPr>
            <a:xfrm>
              <a:off x="738188" y="5855970"/>
              <a:ext cx="200026" cy="200025"/>
              <a:chOff x="738188" y="5855970"/>
              <a:chExt cx="200026" cy="200025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738188" y="5855970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18" name="Freeform 18"/>
              <p:cNvSpPr/>
              <p:nvPr/>
            </p:nvSpPr>
            <p:spPr>
              <a:xfrm>
                <a:off x="777926" y="5900420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19" name="Freeform 19"/>
              <p:cNvSpPr/>
              <p:nvPr/>
            </p:nvSpPr>
            <p:spPr>
              <a:xfrm>
                <a:off x="812642" y="6011546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21" name="TextBox 21"/>
            <p:cNvSpPr txBox="1"/>
            <p:nvPr/>
          </p:nvSpPr>
          <p:spPr>
            <a:xfrm>
              <a:off x="1040130" y="5713095"/>
              <a:ext cx="4844415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h ≥ 0 时若取 g = h/I，则 h/g ≡ I，方差为 0。这个 g 要用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到未知的 I，实际只能找形状尽量接近 h 的 g。</a:t>
              </a:r>
            </a:p>
          </p:txBody>
        </p:sp>
      </p:grpSp>
      <p:grpSp>
        <p:nvGrpSpPr>
          <p:cNvPr id="33" name="c2-card-1"/>
          <p:cNvGrpSpPr/>
          <p:nvPr/>
        </p:nvGrpSpPr>
        <p:grpSpPr>
          <a:xfrm>
            <a:off x="6898005" y="1524000"/>
            <a:ext cx="4760595" cy="1986915"/>
            <a:chOff x="6898005" y="1524000"/>
            <a:chExt cx="4760595" cy="1986915"/>
          </a:xfrm>
        </p:grpSpPr>
        <p:sp>
          <p:nvSpPr>
            <p:cNvPr id="23" name="Rectangle 23"/>
            <p:cNvSpPr/>
            <p:nvPr/>
          </p:nvSpPr>
          <p:spPr>
            <a:xfrm>
              <a:off x="6898005" y="1524000"/>
              <a:ext cx="4760595" cy="1986915"/>
            </a:xfrm>
            <a:prstGeom prst="roundRect">
              <a:avLst>
                <a:gd name="adj" fmla="val 671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6907530" y="1657350"/>
              <a:ext cx="47625" cy="1720215"/>
            </a:xfrm>
            <a:prstGeom prst="roundRect">
              <a:avLst>
                <a:gd name="adj" fmla="val 50000"/>
              </a:avLst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7145655" y="1733550"/>
              <a:ext cx="1804035" cy="257175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7196103" y="1769269"/>
              <a:ext cx="17012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试投密度 / 重要抽样密度</a:t>
              </a:r>
            </a:p>
          </p:txBody>
        </p:sp>
        <p:sp>
          <p:nvSpPr>
            <p:cNvPr id="27" name="Ellipse 27"/>
            <p:cNvSpPr/>
            <p:nvPr/>
          </p:nvSpPr>
          <p:spPr>
            <a:xfrm>
              <a:off x="7151370" y="2173605"/>
              <a:ext cx="64770" cy="6477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309485" y="2110740"/>
              <a:ext cx="379666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g(x)（x ∈ C）是一个密度，形状与 |h(x)| 相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近</a:t>
              </a:r>
            </a:p>
          </p:txBody>
        </p:sp>
        <p:sp>
          <p:nvSpPr>
            <p:cNvPr id="29" name="Ellipse 29"/>
            <p:cNvSpPr/>
            <p:nvPr/>
          </p:nvSpPr>
          <p:spPr>
            <a:xfrm>
              <a:off x="7151370" y="2794635"/>
              <a:ext cx="64770" cy="6477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309485" y="2731770"/>
              <a:ext cx="217589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当 g(x) = 0 时 h(x) = 0</a:t>
              </a:r>
            </a:p>
          </p:txBody>
        </p:sp>
        <p:sp>
          <p:nvSpPr>
            <p:cNvPr id="31" name="Ellipse 31"/>
            <p:cNvSpPr/>
            <p:nvPr/>
          </p:nvSpPr>
          <p:spPr>
            <a:xfrm>
              <a:off x="7151370" y="3129915"/>
              <a:ext cx="64770" cy="6477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7309485" y="3067050"/>
              <a:ext cx="273119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当 ‖x‖ → ∞ 时 h(x) = o(g(x))</a:t>
              </a:r>
            </a:p>
          </p:txBody>
        </p:sp>
      </p:grpSp>
      <p:grpSp>
        <p:nvGrpSpPr>
          <p:cNvPr id="36" name="c2-image-2"/>
          <p:cNvGrpSpPr/>
          <p:nvPr/>
        </p:nvGrpSpPr>
        <p:grpSpPr>
          <a:xfrm>
            <a:off x="6898005" y="3701415"/>
            <a:ext cx="4760595" cy="2686527"/>
            <a:chOff x="6898005" y="3701415"/>
            <a:chExt cx="4760595" cy="2686527"/>
          </a:xfrm>
        </p:grpSpPr>
        <p:pic>
          <p:nvPicPr>
            <p:cNvPr id="34" name="Image 34"/>
            <p:cNvPicPr>
              <a:picLocks noChangeAspect="1"/>
            </p:cNvPicPr>
            <p:nvPr/>
          </p:nvPicPr>
          <p:blipFill>
            <a:blip r:embed="rId2"/>
            <a:srcRect l="0" t="16786" r="0" b="16787"/>
            <a:stretch>
              <a:fillRect/>
            </a:stretch>
          </p:blipFill>
          <p:spPr>
            <a:xfrm>
              <a:off x="6898005" y="3701415"/>
              <a:ext cx="4760595" cy="2371725"/>
            </a:xfrm>
            <a:prstGeom prst="roundRect">
              <a:avLst>
                <a:gd name="adj" fmla="val 5622"/>
              </a:avLst>
            </a:prstGeom>
          </p:spPr>
        </p:pic>
        <p:sp>
          <p:nvSpPr>
            <p:cNvPr id="35" name="TextBox 35"/>
            <p:cNvSpPr txBox="1"/>
            <p:nvPr/>
          </p:nvSpPr>
          <p:spPr>
            <a:xfrm>
              <a:off x="7376599" y="6167914"/>
              <a:ext cx="380340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勘探时把钻孔集中在矿脉附近，抽样点多落在 h 大的地方</a:t>
              </a:r>
            </a:p>
          </p:txBody>
        </p:sp>
      </p:grpSp>
      <p:grpSp>
        <p:nvGrpSpPr>
          <p:cNvPr id="3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37" name="TextBox 37"/>
            <p:cNvSpPr txBox="1"/>
            <p:nvPr/>
          </p:nvSpPr>
          <p:spPr>
            <a:xfrm>
              <a:off x="528447" y="6581299"/>
              <a:ext cx="198882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统计计算 · 第3章 随机模拟（上）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782390" cy="909257"/>
            <a:chOff x="520446" y="342900"/>
            <a:chExt cx="5782390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847975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3583" y="407194"/>
              <a:ext cx="27476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第3章 随机模拟（上） · 3.3 重要抽样法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78239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求 E h(Y)：乘上重要性权重 W = f/g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c1-text-1"/>
          <p:cNvGrpSpPr/>
          <p:nvPr/>
        </p:nvGrpSpPr>
        <p:grpSpPr>
          <a:xfrm>
            <a:off x="525780" y="1548765"/>
            <a:ext cx="4596765" cy="588645"/>
            <a:chOff x="525780" y="1548765"/>
            <a:chExt cx="4596765" cy="588645"/>
          </a:xfrm>
        </p:grpSpPr>
        <p:sp>
          <p:nvSpPr>
            <p:cNvPr id="7" name="TextBox 7"/>
            <p:cNvSpPr txBox="1"/>
            <p:nvPr/>
          </p:nvSpPr>
          <p:spPr>
            <a:xfrm>
              <a:off x="525780" y="1548765"/>
              <a:ext cx="4596765" cy="5886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325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设 Y ~ f(y)，求 E h(Y) = ∫ h(y)f(y)dy。找试投密度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g，从 g 产生 N 个随机数 X₁, X₂, …，则（12.4）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formula190"/>
              <p:cNvSpPr txBox="1">
                <a:spLocks noGrp="1"/>
              </p:cNvSpPr>
              <p:nvPr/>
            </p:nvSpPr>
            <p:spPr>
              <a:xfrm>
                <a:off x="533400" y="2268855"/>
                <a:ext cx="5193982" cy="81724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sSub>
                        <m:e>
                          <m:acc>
                            <m:accPr>
                              <m:chr m:val="ˆ"/>
                              <m:ctrlPr>
                                <a:rPr lang="zh-CN" sz="19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accPr>
                            <m:e>
                              <m:r>
                                <a:rPr lang="zh-CN" sz="19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I</m:t>
                              </m:r>
                            </m:e>
                          </m:acc>
                        </m:e>
                        <m:sub>
                          <m:r>
                            <a:rPr lang="zh-CN" sz="19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3.1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zh-CN" sz="19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f>
                        <m:fPr>
                          <m:type m:val="bar"/>
                          <m:ctrlPr>
                            <a:rPr lang="zh-CN" sz="19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zh-CN" sz="19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num>
                        <m:den>
                          <m:r>
                            <a:rPr lang="zh-CN" sz="19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N</m:t>
                          </m:r>
                        </m:den>
                      </m:f>
                      <m:nary>
                        <m:naryPr>
                          <m:chr m:val="∑"/>
                          <m:limLoc m:val="undOvr"/>
                          <m:grow m:val="off"/>
                          <m:subHide m:val="off"/>
                          <m:supHide m:val="off"/>
                          <m:ctrlPr>
                            <a:rPr lang="zh-CN" sz="19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naryPr>
                        <m:sub>
                          <m:r>
                            <a:rPr lang="zh-CN" sz="19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i</m:t>
                          </m:r>
                          <m:r>
                            <m:rPr>
                              <m:sty m:val="p"/>
                            </m:rPr>
                            <a:rPr lang="zh-CN" sz="19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=</m:t>
                          </m:r>
                          <m:r>
                            <a:rPr lang="zh-CN" sz="19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sub>
                        <m:sup>
                          <m:r>
                            <a:rPr lang="zh-CN" sz="19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N</m:t>
                          </m:r>
                        </m:sup>
                        <m:e>
                          <m:r>
                            <a:rPr lang="zh-CN" sz="19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h</m:t>
                          </m:r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9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sSub>
                                <m:e>
                                  <m:r>
                                    <m:rPr>
                                      <m:sty m:val="b"/>
                                    </m:rPr>
                                    <a:rPr lang="zh-CN" sz="19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X</m:t>
                                  </m:r>
                                </m:e>
                                <m:sub>
                                  <m:r>
                                    <a:rPr lang="zh-CN" sz="19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i</m:t>
                                  </m:r>
                                </m:sub>
                              </m:sSub>
                            </m:e>
                          </m:d>
                          <m:f>
                            <m:fPr>
                              <m:type m:val="bar"/>
                              <m:ctrlPr>
                                <a:rPr lang="zh-CN" sz="19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fPr>
                            <m:num>
                              <m:r>
                                <a:rPr lang="zh-CN" sz="19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f</m:t>
                              </m:r>
                              <m:d>
                                <m:dPr>
                                  <m:begChr m:val="("/>
                                  <m:sepChr m:val=""/>
                                  <m:endChr m:val=")"/>
                                  <m:grow m:val="on"/>
                                  <m:ctrlPr>
                                    <a:rPr lang="zh-CN" sz="19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dPr>
                                <m:e>
                                  <m:sSub>
                                    <m:e>
                                      <m:r>
                                        <m:rPr>
                                          <m:sty m:val="b"/>
                                        </m:rPr>
                                        <a:rPr lang="zh-CN" sz="195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X</m:t>
                                      </m:r>
                                    </m:e>
                                    <m:sub>
                                      <m:r>
                                        <a:rPr lang="zh-CN" sz="195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i</m:t>
                                      </m:r>
                                    </m:sub>
                                  </m:sSub>
                                </m:e>
                              </m:d>
                            </m:num>
                            <m:den>
                              <m:r>
                                <a:rPr lang="zh-CN" sz="19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g</m:t>
                              </m:r>
                              <m:d>
                                <m:dPr>
                                  <m:begChr m:val="("/>
                                  <m:sepChr m:val=""/>
                                  <m:endChr m:val=")"/>
                                  <m:grow m:val="on"/>
                                  <m:ctrlPr>
                                    <a:rPr lang="zh-CN" sz="19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dPr>
                                <m:e>
                                  <m:sSub>
                                    <m:e>
                                      <m:r>
                                        <m:rPr>
                                          <m:sty m:val="b"/>
                                        </m:rPr>
                                        <a:rPr lang="zh-CN" sz="195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X</m:t>
                                      </m:r>
                                    </m:e>
                                    <m:sub>
                                      <m:r>
                                        <a:rPr lang="zh-CN" sz="195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i</m:t>
                                      </m:r>
                                    </m:sub>
                                  </m:sSub>
                                </m:e>
                              </m:d>
                            </m:den>
                          </m:f>
                        </m:e>
                      </m:nary>
                    </m:oMath>
                  </m:oMathPara>
                </a14:m>
              </a:p>
            </p:txBody>
          </p:sp>
        </mc:Choice>
      </mc:AlternateContent>
      <p:grpSp>
        <p:nvGrpSpPr>
          <p:cNvPr id="11" name="c1-text-3"/>
          <p:cNvGrpSpPr/>
          <p:nvPr/>
        </p:nvGrpSpPr>
        <p:grpSpPr>
          <a:xfrm>
            <a:off x="525780" y="3301365"/>
            <a:ext cx="3486798" cy="293370"/>
            <a:chOff x="525780" y="3301365"/>
            <a:chExt cx="3486798" cy="293370"/>
          </a:xfrm>
        </p:grpSpPr>
        <p:sp>
          <p:nvSpPr>
            <p:cNvPr id="10" name="TextBox 10"/>
            <p:cNvSpPr txBox="1"/>
            <p:nvPr/>
          </p:nvSpPr>
          <p:spPr>
            <a:xfrm>
              <a:off x="525780" y="3301365"/>
              <a:ext cx="348679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易见 E Î₃.₁ = E h(Y)。记 </a:t>
              </a:r>
              <a:r>
                <a:rPr lang="zh-CN" sz="15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重要性权重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formula191"/>
              <p:cNvSpPr txBox="1">
                <a:spLocks noGrp="1"/>
              </p:cNvSpPr>
              <p:nvPr/>
            </p:nvSpPr>
            <p:spPr>
              <a:xfrm>
                <a:off x="533400" y="3726180"/>
                <a:ext cx="5193982" cy="66865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sSub>
                        <m:e>
                          <m:r>
                            <a:rPr lang="zh-CN" sz="19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W</m:t>
                          </m:r>
                        </m:e>
                        <m:sub>
                          <m:r>
                            <a:rPr lang="zh-CN" sz="19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i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zh-CN" sz="19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f>
                        <m:fPr>
                          <m:type m:val="bar"/>
                          <m:ctrlPr>
                            <a:rPr lang="zh-CN" sz="19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zh-CN" sz="19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f</m:t>
                          </m:r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9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sSub>
                                <m:e>
                                  <m:r>
                                    <m:rPr>
                                      <m:sty m:val="b"/>
                                    </m:rPr>
                                    <a:rPr lang="zh-CN" sz="19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X</m:t>
                                  </m:r>
                                </m:e>
                                <m:sub>
                                  <m:r>
                                    <a:rPr lang="zh-CN" sz="19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i</m:t>
                                  </m:r>
                                </m:sub>
                              </m:sSub>
                            </m:e>
                          </m:d>
                        </m:num>
                        <m:den>
                          <m:r>
                            <a:rPr lang="zh-CN" sz="19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g</m:t>
                          </m:r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9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sSub>
                                <m:e>
                                  <m:r>
                                    <m:rPr>
                                      <m:sty m:val="b"/>
                                    </m:rPr>
                                    <a:rPr lang="zh-CN" sz="19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X</m:t>
                                  </m:r>
                                </m:e>
                                <m:sub>
                                  <m:r>
                                    <a:rPr lang="zh-CN" sz="19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i</m:t>
                                  </m:r>
                                </m:sub>
                              </m:sSub>
                            </m:e>
                          </m:d>
                        </m:den>
                      </m:f>
                    </m:oMath>
                  </m:oMathPara>
                </a14:m>
              </a:p>
            </p:txBody>
          </p:sp>
        </mc:Choice>
      </mc:AlternateContent>
      <p:grpSp>
        <p:nvGrpSpPr>
          <p:cNvPr id="17" name="c1-card-5"/>
          <p:cNvGrpSpPr/>
          <p:nvPr/>
        </p:nvGrpSpPr>
        <p:grpSpPr>
          <a:xfrm>
            <a:off x="533400" y="4585335"/>
            <a:ext cx="5193982" cy="1607820"/>
            <a:chOff x="533400" y="4585335"/>
            <a:chExt cx="5193982" cy="1607820"/>
          </a:xfrm>
        </p:grpSpPr>
        <p:sp>
          <p:nvSpPr>
            <p:cNvPr id="13" name="Rectangle 13"/>
            <p:cNvSpPr/>
            <p:nvPr/>
          </p:nvSpPr>
          <p:spPr>
            <a:xfrm>
              <a:off x="533400" y="4585335"/>
              <a:ext cx="5193982" cy="1607820"/>
            </a:xfrm>
            <a:prstGeom prst="roundRect">
              <a:avLst>
                <a:gd name="adj" fmla="val 8294"/>
              </a:avLst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742950" y="4794885"/>
              <a:ext cx="1676400" cy="257175"/>
            </a:xfrm>
            <a:prstGeom prst="roundRect">
              <a:avLst>
                <a:gd name="adj" fmla="val 50000"/>
              </a:avLst>
            </a:prstGeom>
            <a:solidFill>
              <a:srgbClr val="23613D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98193" y="4830604"/>
              <a:ext cx="156591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带权重的写法（12.5）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6" name="formula192"/>
                <p:cNvSpPr txBox="1">
                  <a:spLocks noGrp="1"/>
                </p:cNvSpPr>
                <p:nvPr/>
              </p:nvSpPr>
              <p:spPr>
                <a:xfrm>
                  <a:off x="742950" y="5147310"/>
                  <a:ext cx="4774882" cy="81724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sSub>
                          <m:e>
                            <m:acc>
                              <m:accPr>
                                <m:chr m:val="ˆ"/>
                                <m:ctrlPr>
                                  <a:rPr lang="zh-CN" sz="195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accPr>
                              <m:e>
                                <m:r>
                                  <a:rPr lang="zh-CN" sz="195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I</m:t>
                                </m:r>
                              </m:e>
                            </m:acc>
                          </m:e>
                          <m:sub>
                            <m:r>
                              <a:rPr lang="zh-CN" sz="19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3.1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zh-CN" sz="195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f>
                          <m:fPr>
                            <m:type m:val="bar"/>
                            <m:ctrlPr>
                              <a:rPr lang="zh-CN" sz="19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r>
                              <a:rPr lang="zh-CN" sz="19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num>
                          <m:den>
                            <m:r>
                              <a:rPr lang="zh-CN" sz="19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N</m:t>
                            </m:r>
                          </m:den>
                        </m:f>
                        <m:nary>
                          <m:naryPr>
                            <m:chr m:val="∑"/>
                            <m:limLoc m:val="undOvr"/>
                            <m:grow m:val="off"/>
                            <m:subHide m:val="off"/>
                            <m:supHide m:val="off"/>
                            <m:ctrlPr>
                              <a:rPr lang="zh-CN" sz="19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naryPr>
                          <m:sub>
                            <m:r>
                              <a:rPr lang="zh-CN" sz="19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i</m:t>
                            </m:r>
                            <m:r>
                              <m:rPr>
                                <m:sty m:val="p"/>
                              </m:rPr>
                              <a:rPr lang="zh-CN" sz="19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=</m:t>
                            </m:r>
                            <m:r>
                              <a:rPr lang="zh-CN" sz="19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sub>
                          <m:sup>
                            <m:r>
                              <a:rPr lang="zh-CN" sz="19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N</m:t>
                            </m:r>
                          </m:sup>
                          <m:e>
                            <m:sSub>
                              <m:e>
                                <m:r>
                                  <a:rPr lang="zh-CN" sz="195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W</m:t>
                                </m:r>
                              </m:e>
                              <m:sub>
                                <m:r>
                                  <a:rPr lang="zh-CN" sz="195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i</m:t>
                                </m:r>
                              </m:sub>
                            </m:sSub>
                            <m:r>
                              <a:rPr lang="zh-CN" sz="19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 xml:space="preserve"> </m:t>
                            </m:r>
                            <m:r>
                              <a:rPr lang="zh-CN" sz="19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h</m:t>
                            </m:r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95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sSub>
                                  <m:e>
                                    <m:r>
                                      <m:rPr>
                                        <m:sty m:val="b"/>
                                      </m:rPr>
                                      <a:rPr lang="zh-CN" sz="195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X</m:t>
                                    </m:r>
                                  </m:e>
                                  <m:sub>
                                    <m:r>
                                      <a:rPr lang="zh-CN" sz="195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i</m:t>
                                    </m:r>
                                  </m:sub>
                                </m:sSub>
                              </m:e>
                            </m:d>
                          </m:e>
                        </m:nary>
                      </m:oMath>
                    </m:oMathPara>
                  </a14:m>
                </a:p>
              </p:txBody>
            </p:sp>
          </mc:Choice>
        </mc:AlternateContent>
      </p:grpSp>
      <p:grpSp>
        <p:nvGrpSpPr>
          <p:cNvPr id="27" name="c2-card-1"/>
          <p:cNvGrpSpPr/>
          <p:nvPr/>
        </p:nvGrpSpPr>
        <p:grpSpPr>
          <a:xfrm>
            <a:off x="6032182" y="1524000"/>
            <a:ext cx="5626418" cy="2744152"/>
            <a:chOff x="6032182" y="1524000"/>
            <a:chExt cx="5626418" cy="2744152"/>
          </a:xfrm>
        </p:grpSpPr>
        <p:sp>
          <p:nvSpPr>
            <p:cNvPr id="18" name="Rectangle 18"/>
            <p:cNvSpPr/>
            <p:nvPr/>
          </p:nvSpPr>
          <p:spPr>
            <a:xfrm>
              <a:off x="6032182" y="1524000"/>
              <a:ext cx="5626418" cy="2744152"/>
            </a:xfrm>
            <a:prstGeom prst="roundRect">
              <a:avLst>
                <a:gd name="adj" fmla="val 485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6041708" y="1657350"/>
              <a:ext cx="47625" cy="2477452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6279832" y="1733550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361189" y="1769269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补充例子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164705" y="1768792"/>
              <a:ext cx="335508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估计小概率 P(Y &gt; 3)，Y ~ N(0, 1)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272212" y="2129790"/>
              <a:ext cx="494919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真值 0.00135。h(y) = 1（y &gt; 3），取 g = N(3, 1)，权重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W = φ(x)/φ(x − 3) = exp(4.5 − 3x)。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6279832" y="2726055"/>
              <a:ext cx="5169218" cy="1313498"/>
            </a:xfrm>
            <a:prstGeom prst="roundRect">
              <a:avLst>
                <a:gd name="adj" fmla="val 7252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408230" y="2877979"/>
              <a:ext cx="904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R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407467" y="3139916"/>
              <a:ext cx="3517646" cy="8286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98"/>
                </a:lnSpc>
              </a:pP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N &lt;- 10000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x &lt;- rnorm(N, mean = 3)          </a:t>
              </a:r>
              <a:r>
                <a:rPr lang="zh-CN" sz="11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# 从 g 抽样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w &lt;- dnorm(x) / dnorm(x, mean = 3)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mean((x &gt; 3) * w)                </a:t>
              </a:r>
              <a:r>
                <a:rPr lang="zh-CN" sz="11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# 约 0.00135</a:t>
              </a:r>
            </a:p>
          </p:txBody>
        </p:sp>
      </p:grpSp>
      <p:grpSp>
        <p:nvGrpSpPr>
          <p:cNvPr id="45" name="c2-table-2"/>
          <p:cNvGrpSpPr/>
          <p:nvPr/>
        </p:nvGrpSpPr>
        <p:grpSpPr>
          <a:xfrm>
            <a:off x="6026467" y="4458652"/>
            <a:ext cx="5632133" cy="1642587"/>
            <a:chOff x="6026467" y="4458652"/>
            <a:chExt cx="5632133" cy="1642587"/>
          </a:xfrm>
        </p:grpSpPr>
        <p:sp>
          <p:nvSpPr>
            <p:cNvPr id="28" name="Rectangle 28"/>
            <p:cNvSpPr/>
            <p:nvPr/>
          </p:nvSpPr>
          <p:spPr>
            <a:xfrm>
              <a:off x="6032182" y="4458652"/>
              <a:ext cx="5626418" cy="448628"/>
            </a:xfrm>
            <a:prstGeom prst="rect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591498" y="4594384"/>
              <a:ext cx="134263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方法（N = 10⁴）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9059075" y="4594384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标准误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0555973" y="4594384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相对误差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140006" y="5043011"/>
              <a:ext cx="172627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平均值法（直接抽 Y）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8601266" y="5043011"/>
              <a:ext cx="77113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3.7×10⁻⁴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0262425" y="5043011"/>
              <a:ext cx="33173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27%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6032182" y="5351145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6" name="Rectangle 36"/>
            <p:cNvSpPr/>
            <p:nvPr/>
          </p:nvSpPr>
          <p:spPr>
            <a:xfrm>
              <a:off x="6032182" y="5355908"/>
              <a:ext cx="5626418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6140006" y="5491639"/>
              <a:ext cx="174408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重要抽样 g = N(3, 1)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8502968" y="5365432"/>
              <a:ext cx="1642110" cy="429578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8601266" y="5491639"/>
              <a:ext cx="77113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2.5×10⁻⁵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0262425" y="5491639"/>
              <a:ext cx="42650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1.8%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6032182" y="4458652"/>
              <a:ext cx="5626418" cy="134683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2" name="Rectangle 42"/>
            <p:cNvSpPr/>
            <p:nvPr/>
          </p:nvSpPr>
          <p:spPr>
            <a:xfrm>
              <a:off x="8488680" y="4458652"/>
              <a:ext cx="9525" cy="134683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3" name="Rectangle 43"/>
            <p:cNvSpPr/>
            <p:nvPr/>
          </p:nvSpPr>
          <p:spPr>
            <a:xfrm>
              <a:off x="10149840" y="4458652"/>
              <a:ext cx="9525" cy="134683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6026467" y="5881211"/>
              <a:ext cx="317015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每个样本的方差之比约 218，均由精确积分算出</a:t>
              </a:r>
            </a:p>
          </p:txBody>
        </p:sp>
      </p:grpSp>
      <p:grpSp>
        <p:nvGrpSpPr>
          <p:cNvPr id="4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6" name="TextBox 46"/>
            <p:cNvSpPr txBox="1"/>
            <p:nvPr/>
          </p:nvSpPr>
          <p:spPr>
            <a:xfrm>
              <a:off x="528447" y="6581299"/>
              <a:ext cx="198882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统计计算 · 第3章 随机模拟（上）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647604" cy="909257"/>
            <a:chOff x="520446" y="342900"/>
            <a:chExt cx="764760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847975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3583" y="407194"/>
              <a:ext cx="27476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第3章 随机模拟（上） · 3.3 重要抽样法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64760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3.3.1 标准化重要抽样：密度只知道到一个常数倍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c1-text-1"/>
          <p:cNvGrpSpPr/>
          <p:nvPr/>
        </p:nvGrpSpPr>
        <p:grpSpPr>
          <a:xfrm>
            <a:off x="525780" y="1548765"/>
            <a:ext cx="5187315" cy="883920"/>
            <a:chOff x="525780" y="1548765"/>
            <a:chExt cx="5187315" cy="883920"/>
          </a:xfrm>
        </p:grpSpPr>
        <p:sp>
          <p:nvSpPr>
            <p:cNvPr id="7" name="TextBox 7"/>
            <p:cNvSpPr txBox="1"/>
            <p:nvPr/>
          </p:nvSpPr>
          <p:spPr>
            <a:xfrm>
              <a:off x="525780" y="1548765"/>
              <a:ext cx="5187315" cy="8839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325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Y ~ f(·) 很难直接抽样，或者 f 本身未知，只知道 f 的一个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常数倍（非归一化密度），常数 c 未知且计算困难。定义重要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性权重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formula195"/>
              <p:cNvSpPr txBox="1">
                <a:spLocks noGrp="1"/>
              </p:cNvSpPr>
              <p:nvPr/>
            </p:nvSpPr>
            <p:spPr>
              <a:xfrm>
                <a:off x="533400" y="2564130"/>
                <a:ext cx="5410200" cy="66865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acc>
                        <m:accPr>
                          <m:chr m:val="˜"/>
                          <m:ctrlPr>
                            <a:rPr lang="zh-CN" sz="19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accPr>
                        <m:e>
                          <m:r>
                            <a:rPr lang="zh-CN" sz="19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f</m:t>
                          </m:r>
                        </m:e>
                      </m:acc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9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m:rPr>
                              <m:sty m:val="b"/>
                            </m:rPr>
                            <a:rPr lang="zh-CN" sz="19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x</m:t>
                          </m:r>
                        </m:e>
                      </m:d>
                      <m:r>
                        <m:rPr>
                          <m:sty m:val="p"/>
                        </m:rPr>
                        <a:rPr lang="zh-CN" sz="19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r>
                        <a:rPr lang="zh-CN" sz="19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c</m:t>
                      </m:r>
                      <m:r>
                        <a:rPr lang="zh-CN" sz="19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 xml:space="preserve"> </m:t>
                      </m:r>
                      <m:r>
                        <a:rPr lang="zh-CN" sz="19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f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9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m:rPr>
                              <m:sty m:val="b"/>
                            </m:rPr>
                            <a:rPr lang="zh-CN" sz="19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x</m:t>
                          </m:r>
                        </m:e>
                      </m:d>
                      <m:r>
                        <m:rPr>
                          <m:sty m:val="p"/>
                        </m:rPr>
                        <a:rPr lang="zh-CN" sz="19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,</m:t>
                      </m:r>
                      <m:r>
                        <a:rPr lang="zh-CN" sz="19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 xml:space="preserve">  </m:t>
                      </m:r>
                      <m:sSub>
                        <m:e>
                          <m:r>
                            <a:rPr lang="zh-CN" sz="19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W</m:t>
                          </m:r>
                        </m:e>
                        <m:sub>
                          <m:r>
                            <a:rPr lang="zh-CN" sz="19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i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zh-CN" sz="19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f>
                        <m:fPr>
                          <m:type m:val="bar"/>
                          <m:ctrlPr>
                            <a:rPr lang="zh-CN" sz="19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acc>
                            <m:accPr>
                              <m:chr m:val="˜"/>
                              <m:ctrlPr>
                                <a:rPr lang="zh-CN" sz="19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accPr>
                            <m:e>
                              <m:r>
                                <a:rPr lang="zh-CN" sz="19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f</m:t>
                              </m:r>
                            </m:e>
                          </m:acc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9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sSub>
                                <m:e>
                                  <m:r>
                                    <m:rPr>
                                      <m:sty m:val="b"/>
                                    </m:rPr>
                                    <a:rPr lang="zh-CN" sz="19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X</m:t>
                                  </m:r>
                                </m:e>
                                <m:sub>
                                  <m:r>
                                    <a:rPr lang="zh-CN" sz="19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i</m:t>
                                  </m:r>
                                </m:sub>
                              </m:sSub>
                            </m:e>
                          </m:d>
                        </m:num>
                        <m:den>
                          <m:r>
                            <a:rPr lang="zh-CN" sz="19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g</m:t>
                          </m:r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9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sSub>
                                <m:e>
                                  <m:r>
                                    <m:rPr>
                                      <m:sty m:val="b"/>
                                    </m:rPr>
                                    <a:rPr lang="zh-CN" sz="19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X</m:t>
                                  </m:r>
                                </m:e>
                                <m:sub>
                                  <m:r>
                                    <a:rPr lang="zh-CN" sz="19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i</m:t>
                                  </m:r>
                                </m:sub>
                              </m:sSub>
                            </m:e>
                          </m:d>
                        </m:den>
                      </m:f>
                    </m:oMath>
                  </m:oMathPara>
                </a14:m>
              </a:p>
            </p:txBody>
          </p:sp>
        </mc:Choice>
      </mc:AlternateContent>
      <p:grpSp>
        <p:nvGrpSpPr>
          <p:cNvPr id="14" name="c1-card-3"/>
          <p:cNvGrpSpPr/>
          <p:nvPr/>
        </p:nvGrpSpPr>
        <p:grpSpPr>
          <a:xfrm>
            <a:off x="533400" y="3423285"/>
            <a:ext cx="5410200" cy="1607820"/>
            <a:chOff x="533400" y="3423285"/>
            <a:chExt cx="5410200" cy="1607820"/>
          </a:xfrm>
        </p:grpSpPr>
        <p:sp>
          <p:nvSpPr>
            <p:cNvPr id="10" name="Rectangle 10"/>
            <p:cNvSpPr/>
            <p:nvPr/>
          </p:nvSpPr>
          <p:spPr>
            <a:xfrm>
              <a:off x="533400" y="3423285"/>
              <a:ext cx="5410200" cy="1607820"/>
            </a:xfrm>
            <a:prstGeom prst="roundRect">
              <a:avLst>
                <a:gd name="adj" fmla="val 8294"/>
              </a:avLst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742950" y="3632835"/>
              <a:ext cx="2103120" cy="257175"/>
            </a:xfrm>
            <a:prstGeom prst="roundRect">
              <a:avLst>
                <a:gd name="adj" fmla="val 50000"/>
              </a:avLst>
            </a:prstGeom>
            <a:solidFill>
              <a:srgbClr val="23613D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85391" y="3668554"/>
              <a:ext cx="201823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标准化重要抽样估计（12.7）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3" name="formula196"/>
                <p:cNvSpPr txBox="1">
                  <a:spLocks noGrp="1"/>
                </p:cNvSpPr>
                <p:nvPr/>
              </p:nvSpPr>
              <p:spPr>
                <a:xfrm>
                  <a:off x="742950" y="3985260"/>
                  <a:ext cx="4991100" cy="81724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sSub>
                          <m:e>
                            <m:acc>
                              <m:accPr>
                                <m:chr m:val="ˆ"/>
                                <m:ctrlPr>
                                  <a:rPr lang="zh-CN" sz="195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accPr>
                              <m:e>
                                <m:r>
                                  <a:rPr lang="zh-CN" sz="195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I</m:t>
                                </m:r>
                              </m:e>
                            </m:acc>
                          </m:e>
                          <m:sub>
                            <m:r>
                              <a:rPr lang="zh-CN" sz="19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4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zh-CN" sz="195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f>
                          <m:fPr>
                            <m:type m:val="bar"/>
                            <m:ctrlPr>
                              <a:rPr lang="zh-CN" sz="19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nary>
                              <m:naryPr>
                                <m:chr m:val="∑"/>
                                <m:limLoc m:val="undOvr"/>
                                <m:grow m:val="off"/>
                                <m:subHide m:val="off"/>
                                <m:supHide m:val="off"/>
                                <m:ctrlPr>
                                  <a:rPr lang="zh-CN" sz="195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naryPr>
                              <m:sub>
                                <m:r>
                                  <a:rPr lang="zh-CN" sz="195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i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95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=</m:t>
                                </m:r>
                                <m:r>
                                  <a:rPr lang="zh-CN" sz="195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sub>
                              <m:sup>
                                <m:r>
                                  <a:rPr lang="zh-CN" sz="195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N</m:t>
                                </m:r>
                              </m:sup>
                              <m:e>
                                <m:sSub>
                                  <m:e>
                                    <m:r>
                                      <a:rPr lang="zh-CN" sz="195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W</m:t>
                                    </m:r>
                                  </m:e>
                                  <m:sub>
                                    <m:r>
                                      <a:rPr lang="zh-CN" sz="195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i</m:t>
                                    </m:r>
                                  </m:sub>
                                </m:sSub>
                                <m:r>
                                  <a:rPr lang="zh-CN" sz="195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 xml:space="preserve"> </m:t>
                                </m:r>
                                <m:r>
                                  <a:rPr lang="zh-CN" sz="195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h</m:t>
                                </m:r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 m:val="on"/>
                                    <m:ctrlPr>
                                      <a:rPr lang="zh-CN" sz="195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dPr>
                                  <m:e>
                                    <m:sSub>
                                      <m:e>
                                        <m:r>
                                          <m:rPr>
                                            <m:sty m:val="b"/>
                                          </m:rPr>
                                          <a:rPr lang="zh-CN" sz="1950" dirty="0">
                                            <a:solidFill>
                                              <a:srgbClr val="FFFFFF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X</m:t>
                                        </m:r>
                                      </m:e>
                                      <m:sub>
                                        <m:r>
                                          <a:rPr lang="zh-CN" sz="1950" dirty="0">
                                            <a:solidFill>
                                              <a:srgbClr val="FFFFFF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i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</m:nary>
                          </m:num>
                          <m:den>
                            <m:nary>
                              <m:naryPr>
                                <m:chr m:val="∑"/>
                                <m:limLoc m:val="undOvr"/>
                                <m:grow m:val="off"/>
                                <m:subHide m:val="off"/>
                                <m:supHide m:val="off"/>
                                <m:ctrlPr>
                                  <a:rPr lang="zh-CN" sz="195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naryPr>
                              <m:sub>
                                <m:r>
                                  <a:rPr lang="zh-CN" sz="195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i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95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=</m:t>
                                </m:r>
                                <m:r>
                                  <a:rPr lang="zh-CN" sz="195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sub>
                              <m:sup>
                                <m:r>
                                  <a:rPr lang="zh-CN" sz="195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N</m:t>
                                </m:r>
                              </m:sup>
                              <m:e>
                                <m:sSub>
                                  <m:e>
                                    <m:r>
                                      <a:rPr lang="zh-CN" sz="195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W</m:t>
                                    </m:r>
                                  </m:e>
                                  <m:sub>
                                    <m:r>
                                      <a:rPr lang="zh-CN" sz="195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i</m:t>
                                    </m:r>
                                  </m:sub>
                                </m:sSub>
                              </m:e>
                            </m:nary>
                          </m:den>
                        </m:f>
                      </m:oMath>
                    </m:oMathPara>
                  </a14:m>
                </a:p>
              </p:txBody>
            </p:sp>
          </mc:Choice>
        </mc:AlternateContent>
      </p:grpSp>
      <p:grpSp>
        <p:nvGrpSpPr>
          <p:cNvPr id="16" name="c1-text-4"/>
          <p:cNvGrpSpPr/>
          <p:nvPr/>
        </p:nvGrpSpPr>
        <p:grpSpPr>
          <a:xfrm>
            <a:off x="525780" y="5246370"/>
            <a:ext cx="5111115" cy="588645"/>
            <a:chOff x="525780" y="5246370"/>
            <a:chExt cx="5111115" cy="588645"/>
          </a:xfrm>
        </p:grpSpPr>
        <p:sp>
          <p:nvSpPr>
            <p:cNvPr id="15" name="TextBox 15"/>
            <p:cNvSpPr txBox="1"/>
            <p:nvPr/>
          </p:nvSpPr>
          <p:spPr>
            <a:xfrm>
              <a:off x="525780" y="5246370"/>
              <a:ext cx="5111115" cy="5886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325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分子、分母同除以 N 后分别收敛到 c·E h(Y) 和 c，未知常数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c 被约掉。Î₄ 是 E h(Y) 的强相合估计，但 </a:t>
              </a:r>
              <a:r>
                <a:rPr lang="zh-CN" sz="15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不是无偏的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。</a:t>
              </a:r>
            </a:p>
          </p:txBody>
        </p:sp>
      </p:grpSp>
      <p:grpSp>
        <p:nvGrpSpPr>
          <p:cNvPr id="20" name="c2-code-1"/>
          <p:cNvGrpSpPr/>
          <p:nvPr/>
        </p:nvGrpSpPr>
        <p:grpSpPr>
          <a:xfrm>
            <a:off x="6248400" y="1524000"/>
            <a:ext cx="5410200" cy="1516380"/>
            <a:chOff x="6248400" y="1524000"/>
            <a:chExt cx="5410200" cy="1516380"/>
          </a:xfrm>
        </p:grpSpPr>
        <p:sp>
          <p:nvSpPr>
            <p:cNvPr id="17" name="Rectangle 17"/>
            <p:cNvSpPr/>
            <p:nvPr/>
          </p:nvSpPr>
          <p:spPr>
            <a:xfrm>
              <a:off x="6248400" y="1524000"/>
              <a:ext cx="5410200" cy="1516380"/>
            </a:xfrm>
            <a:prstGeom prst="roundRect">
              <a:avLst>
                <a:gd name="adj" fmla="val 6281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376797" y="1675924"/>
              <a:ext cx="254244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R：只知道密度的核 exp(−x²/2)，求 E X²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376035" y="1937861"/>
              <a:ext cx="4570222" cy="103155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98"/>
                </a:lnSpc>
              </a:pP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N &lt;- 10000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x &lt;- rnorm(N, 0, 2)          </a:t>
              </a:r>
              <a:r>
                <a:rPr lang="zh-CN" sz="11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# 试投密度 N(0, 2^2)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w &lt;- exp(-x^2 / 2) / dnorm(x, 0, 2)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sum(w * x^2) / sum(w)        </a:t>
              </a:r>
              <a:r>
                <a:rPr lang="zh-CN" sz="11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# 约 1，真值 E X^2 = 1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mean(w)                      </a:t>
              </a:r>
              <a:r>
                <a:rPr lang="zh-CN" sz="11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# 约 2.51，估计 c = sqrt(2*pi)</a:t>
              </a:r>
            </a:p>
          </p:txBody>
        </p:sp>
      </p:grpSp>
      <p:grpSp>
        <p:nvGrpSpPr>
          <p:cNvPr id="41" name="c2-table-2"/>
          <p:cNvGrpSpPr/>
          <p:nvPr/>
        </p:nvGrpSpPr>
        <p:grpSpPr>
          <a:xfrm>
            <a:off x="6242685" y="3230880"/>
            <a:ext cx="5415915" cy="2091214"/>
            <a:chOff x="6242685" y="3230880"/>
            <a:chExt cx="5415915" cy="2091214"/>
          </a:xfrm>
        </p:grpSpPr>
        <p:sp>
          <p:nvSpPr>
            <p:cNvPr id="21" name="Rectangle 21"/>
            <p:cNvSpPr/>
            <p:nvPr/>
          </p:nvSpPr>
          <p:spPr>
            <a:xfrm>
              <a:off x="6248400" y="3230880"/>
              <a:ext cx="5410200" cy="448628"/>
            </a:xfrm>
            <a:prstGeom prst="rect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610629" y="336661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对照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517726" y="3366611"/>
              <a:ext cx="178950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普通重要抽样（12.5）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595650" y="3366611"/>
              <a:ext cx="196182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标准化重要抽样（12.7）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356223" y="3815239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需要知道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438263" y="3815239"/>
              <a:ext cx="102098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完整的密度 f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9602343" y="3815239"/>
              <a:ext cx="119330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 的常数倍即可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6248400" y="412337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6248400" y="4128135"/>
              <a:ext cx="5410200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356223" y="4263866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无偏性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438263" y="4263866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无偏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9602343" y="4263866"/>
              <a:ext cx="156637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有偏，偏差 O(1/N)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6248400" y="457295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356223" y="4712494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相合性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7438263" y="4712494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强相合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9602343" y="4712494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强相合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6248400" y="3230880"/>
              <a:ext cx="5410200" cy="1795462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8" name="Rectangle 38"/>
            <p:cNvSpPr/>
            <p:nvPr/>
          </p:nvSpPr>
          <p:spPr>
            <a:xfrm>
              <a:off x="7325678" y="3230880"/>
              <a:ext cx="9525" cy="179546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9" name="Rectangle 39"/>
            <p:cNvSpPr/>
            <p:nvPr/>
          </p:nvSpPr>
          <p:spPr>
            <a:xfrm>
              <a:off x="9489758" y="3230880"/>
              <a:ext cx="9525" cy="179546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6242685" y="5102066"/>
              <a:ext cx="42547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偏差 O(1/N) 比标准差 O(1/√N) 小一个量级，N 大时可以忽略</a:t>
              </a:r>
            </a:p>
          </p:txBody>
        </p:sp>
      </p:grpSp>
      <p:grpSp>
        <p:nvGrpSpPr>
          <p:cNvPr id="48" name="c2-callout-3"/>
          <p:cNvGrpSpPr/>
          <p:nvPr/>
        </p:nvGrpSpPr>
        <p:grpSpPr>
          <a:xfrm>
            <a:off x="6248400" y="5468302"/>
            <a:ext cx="5410200" cy="782955"/>
            <a:chOff x="6248400" y="5468302"/>
            <a:chExt cx="5410200" cy="782955"/>
          </a:xfrm>
        </p:grpSpPr>
        <p:sp>
          <p:nvSpPr>
            <p:cNvPr id="42" name="Rectangle 42"/>
            <p:cNvSpPr/>
            <p:nvPr/>
          </p:nvSpPr>
          <p:spPr>
            <a:xfrm>
              <a:off x="6248400" y="5468302"/>
              <a:ext cx="5410200" cy="782955"/>
            </a:xfrm>
            <a:prstGeom prst="roundRect">
              <a:avLst>
                <a:gd name="adj" fmla="val 14599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46" name="Group 46"/>
            <p:cNvGrpSpPr/>
            <p:nvPr/>
          </p:nvGrpSpPr>
          <p:grpSpPr>
            <a:xfrm>
              <a:off x="6441129" y="5756076"/>
              <a:ext cx="224134" cy="192560"/>
              <a:chOff x="6441129" y="5756076"/>
              <a:chExt cx="224134" cy="192560"/>
            </a:xfrm>
          </p:grpSpPr>
          <p:sp>
            <p:nvSpPr>
              <p:cNvPr id="43" name="Freeform 43"/>
              <p:cNvSpPr/>
              <p:nvPr/>
            </p:nvSpPr>
            <p:spPr>
              <a:xfrm>
                <a:off x="6553200" y="5826443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44" name="Freeform 44"/>
              <p:cNvSpPr/>
              <p:nvPr/>
            </p:nvSpPr>
            <p:spPr>
              <a:xfrm>
                <a:off x="6441129" y="5756076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45" name="Freeform 45"/>
              <p:cNvSpPr/>
              <p:nvPr/>
            </p:nvSpPr>
            <p:spPr>
              <a:xfrm>
                <a:off x="6553200" y="5904231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47" name="TextBox 47"/>
            <p:cNvSpPr txBox="1"/>
            <p:nvPr/>
          </p:nvSpPr>
          <p:spPr>
            <a:xfrm>
              <a:off x="6755130" y="5616892"/>
              <a:ext cx="4425315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g 的尾部要比 f 厚。若 g 尾部过薄，少数点的权重会</a:t>
              </a:r>
              <a:br/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极大，估计值忽高忽低。</a:t>
              </a:r>
            </a:p>
          </p:txBody>
        </p:sp>
      </p:grpSp>
      <p:grpSp>
        <p:nvGrpSpPr>
          <p:cNvPr id="5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9" name="TextBox 49"/>
            <p:cNvSpPr txBox="1"/>
            <p:nvPr/>
          </p:nvSpPr>
          <p:spPr>
            <a:xfrm>
              <a:off x="528447" y="6581299"/>
              <a:ext cx="198882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统计计算 · 第3章 随机模拟（上）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578090" cy="909257"/>
            <a:chOff x="520446" y="342900"/>
            <a:chExt cx="7578090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847975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3583" y="407194"/>
              <a:ext cx="27476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第3章 随机模拟（上） · 3.3 重要抽样法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57809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适当加权抽样：权重满足什么条件，加权平均才对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5" name="c1-card-1"/>
          <p:cNvGrpSpPr/>
          <p:nvPr/>
        </p:nvGrpSpPr>
        <p:grpSpPr>
          <a:xfrm>
            <a:off x="533400" y="1524000"/>
            <a:ext cx="5410200" cy="2469832"/>
            <a:chOff x="533400" y="1524000"/>
            <a:chExt cx="5410200" cy="246983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2469832"/>
            </a:xfrm>
            <a:prstGeom prst="roundRect">
              <a:avLst>
                <a:gd name="adj" fmla="val 539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2203132"/>
            </a:xfrm>
            <a:prstGeom prst="roundRect">
              <a:avLst>
                <a:gd name="adj" fmla="val 50000"/>
              </a:avLst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81050" y="1733550"/>
              <a:ext cx="822960" cy="257175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61896" y="1769269"/>
              <a:ext cx="66126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定义12.1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710690" y="1768792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适当加权抽样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73430" y="2129790"/>
              <a:ext cx="458724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随机变量序列 {(Xᵢ, Wᵢ), i = 1, …, N} 称为关于密度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f(·) 的适当加权抽样，如果对任何平方可积函数 h(·)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都有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3" name="formula199"/>
                <p:cNvSpPr txBox="1">
                  <a:spLocks noGrp="1"/>
                </p:cNvSpPr>
                <p:nvPr/>
              </p:nvSpPr>
              <p:spPr>
                <a:xfrm>
                  <a:off x="781050" y="3011805"/>
                  <a:ext cx="4953000" cy="4572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zh-CN" sz="18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E</m:t>
                        </m:r>
                        <m:d>
                          <m:dPr>
                            <m:begChr m:val="["/>
                            <m:sepChr m:val=""/>
                            <m:endChr m:val="]"/>
                            <m:grow m:val="on"/>
                            <m:ctrlPr>
                              <a:rPr lang="zh-CN" sz="18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8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h</m:t>
                            </m:r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8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sSub>
                                  <m:e>
                                    <m:r>
                                      <m:rPr>
                                        <m:sty m:val="b"/>
                                      </m:rPr>
                                      <a:rPr lang="zh-CN" sz="18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X</m:t>
                                    </m:r>
                                  </m:e>
                                  <m:sub>
                                    <m:r>
                                      <a:rPr lang="zh-CN" sz="18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i</m:t>
                                    </m:r>
                                  </m:sub>
                                </m:sSub>
                              </m:e>
                            </m:d>
                            <m:sSub>
                              <m:e>
                                <m:r>
                                  <a:rPr lang="zh-CN" sz="18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W</m:t>
                                </m:r>
                              </m:e>
                              <m:sub>
                                <m:r>
                                  <a:rPr lang="zh-CN" sz="18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i</m:t>
                                </m:r>
                              </m:sub>
                            </m:sSub>
                          </m:e>
                        </m:d>
                        <m:r>
                          <m:rPr>
                            <m:sty m:val="p"/>
                          </m:rPr>
                          <a:rPr lang="zh-CN" sz="18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r>
                          <a:rPr lang="zh-CN" sz="18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c</m:t>
                        </m:r>
                        <m:r>
                          <a:rPr lang="zh-CN" sz="18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 </m:t>
                        </m:r>
                        <m:sSub>
                          <m:e>
                            <m:r>
                              <a:rPr lang="zh-CN" sz="18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E</m:t>
                            </m:r>
                          </m:e>
                          <m:sub>
                            <m:r>
                              <a:rPr lang="zh-CN" sz="18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f</m:t>
                            </m:r>
                          </m:sub>
                        </m:sSub>
                        <m:d>
                          <m:dPr>
                            <m:begChr m:val="["/>
                            <m:sepChr m:val=""/>
                            <m:endChr m:val="]"/>
                            <m:grow m:val="on"/>
                            <m:ctrlPr>
                              <a:rPr lang="zh-CN" sz="18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8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h</m:t>
                            </m:r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8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m:rPr>
                                    <m:sty m:val="b"/>
                                  </m:rPr>
                                  <a:rPr lang="zh-CN" sz="18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</m:d>
                          </m:e>
                        </m:d>
                        <m:r>
                          <m:rPr>
                            <m:sty m:val="p"/>
                          </m:rPr>
                          <a:rPr lang="zh-CN" sz="18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r>
                          <a:rPr lang="zh-CN" sz="18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c</m:t>
                        </m:r>
                        <m:nary>
                          <m:naryPr>
                            <m:chr m:val="∫"/>
                            <m:limLoc m:val="subSup"/>
                            <m:grow m:val="off"/>
                            <m:subHide m:val="on"/>
                            <m:supHide m:val="on"/>
                            <m:ctrlPr>
                              <a:rPr lang="zh-CN" sz="18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naryPr>
                          <m:sub/>
                          <m:sup/>
                          <m:e>
                            <m:r>
                              <a:rPr lang="zh-CN" sz="18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h</m:t>
                            </m:r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8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m:rPr>
                                    <m:sty m:val="b"/>
                                  </m:rPr>
                                  <a:rPr lang="zh-CN" sz="18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</m:d>
                            <m:r>
                              <a:rPr lang="zh-CN" sz="18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f</m:t>
                            </m:r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8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m:rPr>
                                    <m:sty m:val="b"/>
                                  </m:rPr>
                                  <a:rPr lang="zh-CN" sz="18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</m:d>
                            <m:r>
                              <a:rPr lang="zh-CN" sz="18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 xml:space="preserve"> </m:t>
                            </m:r>
                            <m:r>
                              <a:rPr lang="zh-CN" sz="18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d</m:t>
                            </m:r>
                            <m:r>
                              <m:rPr>
                                <m:sty m:val="b"/>
                              </m:rPr>
                              <a:rPr lang="zh-CN" sz="18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</m:e>
                        </m:nary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14" name="TextBox 14"/>
            <p:cNvSpPr txBox="1"/>
            <p:nvPr/>
          </p:nvSpPr>
          <p:spPr>
            <a:xfrm>
              <a:off x="774573" y="3585686"/>
              <a:ext cx="303283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其中 c 是归一化常数，i = 1, 2, …, N。</a:t>
              </a:r>
            </a:p>
          </p:txBody>
        </p:sp>
      </p:grpSp>
      <p:grpSp>
        <p:nvGrpSpPr>
          <p:cNvPr id="20" name="c1-card-2"/>
          <p:cNvGrpSpPr/>
          <p:nvPr/>
        </p:nvGrpSpPr>
        <p:grpSpPr>
          <a:xfrm>
            <a:off x="533400" y="4184332"/>
            <a:ext cx="5410200" cy="1602105"/>
            <a:chOff x="533400" y="4184332"/>
            <a:chExt cx="5410200" cy="1602105"/>
          </a:xfrm>
        </p:grpSpPr>
        <p:sp>
          <p:nvSpPr>
            <p:cNvPr id="16" name="Rectangle 16"/>
            <p:cNvSpPr/>
            <p:nvPr/>
          </p:nvSpPr>
          <p:spPr>
            <a:xfrm>
              <a:off x="533400" y="4184332"/>
              <a:ext cx="5410200" cy="1602105"/>
            </a:xfrm>
            <a:prstGeom prst="roundRect">
              <a:avLst>
                <a:gd name="adj" fmla="val 8323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742950" y="4393882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33158" y="442960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推导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35330" y="4771072"/>
              <a:ext cx="470154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E[h(X)W] = ∫ h(x)·E(W|x)·g(x)dx。要对所有 h 都等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于 c∫h(x)f(x)dx，必须 E(W|x)·g(x) = c·f(x)；取 h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≡ 1 得 c = E(W)。</a:t>
              </a:r>
            </a:p>
          </p:txBody>
        </p:sp>
      </p:grpSp>
      <p:grpSp>
        <p:nvGrpSpPr>
          <p:cNvPr id="28" name="c2-card-1"/>
          <p:cNvGrpSpPr/>
          <p:nvPr/>
        </p:nvGrpSpPr>
        <p:grpSpPr>
          <a:xfrm>
            <a:off x="6248400" y="1524000"/>
            <a:ext cx="5410200" cy="2611755"/>
            <a:chOff x="6248400" y="1524000"/>
            <a:chExt cx="5410200" cy="2611755"/>
          </a:xfrm>
        </p:grpSpPr>
        <p:sp>
          <p:nvSpPr>
            <p:cNvPr id="21" name="Rectangle 21"/>
            <p:cNvSpPr/>
            <p:nvPr/>
          </p:nvSpPr>
          <p:spPr>
            <a:xfrm>
              <a:off x="6248400" y="1524000"/>
              <a:ext cx="5410200" cy="2611755"/>
            </a:xfrm>
            <a:prstGeom prst="roundRect">
              <a:avLst>
                <a:gd name="adj" fmla="val 510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6257925" y="1657350"/>
              <a:ext cx="47625" cy="234505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23" name="Rectangle 23"/>
            <p:cNvSpPr/>
            <p:nvPr/>
          </p:nvSpPr>
          <p:spPr>
            <a:xfrm>
              <a:off x="6496050" y="1733550"/>
              <a:ext cx="1062990" cy="257175"/>
            </a:xfrm>
            <a:prstGeom prst="roundRect">
              <a:avLst>
                <a:gd name="adj" fmla="val 50000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569507" y="1769269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充分必要条件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488430" y="2110740"/>
              <a:ext cx="47396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设 (X, W) 的联合密度为 g(x, w)，则 (X, W) 的样本是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f(·) 的适当加权抽样的充分必要条件是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6" name="formula200"/>
                <p:cNvSpPr txBox="1">
                  <a:spLocks noGrp="1"/>
                </p:cNvSpPr>
                <p:nvPr/>
              </p:nvSpPr>
              <p:spPr>
                <a:xfrm>
                  <a:off x="6496050" y="2707005"/>
                  <a:ext cx="4953000" cy="66865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sSub>
                          <m:e>
                            <m:r>
                              <a:rPr lang="zh-CN" sz="19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E</m:t>
                            </m:r>
                          </m:e>
                          <m:sub>
                            <m:r>
                              <a:rPr lang="zh-CN" sz="19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g</m:t>
                            </m:r>
                          </m:sub>
                        </m:sSub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9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9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W</m:t>
                            </m:r>
                            <m:r>
                              <m:rPr>
                                <m:sty m:val="p"/>
                              </m:rPr>
                              <a:rPr lang="zh-CN" sz="19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∣</m:t>
                            </m:r>
                            <m:r>
                              <m:rPr>
                                <m:sty m:val="b"/>
                              </m:rPr>
                              <a:rPr lang="zh-CN" sz="19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9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sSub>
                          <m:e>
                            <m:r>
                              <a:rPr lang="zh-CN" sz="19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E</m:t>
                            </m:r>
                          </m:e>
                          <m:sub>
                            <m:r>
                              <a:rPr lang="zh-CN" sz="19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g</m:t>
                            </m:r>
                          </m:sub>
                        </m:sSub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9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9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W</m:t>
                            </m:r>
                          </m:e>
                        </m:d>
                        <m:f>
                          <m:fPr>
                            <m:type m:val="bar"/>
                            <m:ctrlPr>
                              <a:rPr lang="zh-CN" sz="19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r>
                              <a:rPr lang="zh-CN" sz="19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f</m:t>
                            </m:r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9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m:rPr>
                                    <m:sty m:val="b"/>
                                  </m:rPr>
                                  <a:rPr lang="zh-CN" sz="19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</m:d>
                          </m:num>
                          <m:den>
                            <m:r>
                              <a:rPr lang="zh-CN" sz="19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g</m:t>
                            </m:r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9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m:rPr>
                                    <m:sty m:val="b"/>
                                  </m:rPr>
                                  <a:rPr lang="zh-CN" sz="19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</m:d>
                          </m:den>
                        </m:f>
                        <m:r>
                          <m:rPr>
                            <m:sty m:val="p"/>
                          </m:rPr>
                          <a:rPr lang="zh-CN" sz="19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,</m:t>
                        </m:r>
                        <m:r>
                          <a:rPr lang="zh-CN" sz="19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 </m:t>
                        </m:r>
                        <m:r>
                          <m:rPr>
                            <m:sty m:val="p"/>
                          </m:rPr>
                          <a:rPr lang="zh-CN" sz="19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∀</m:t>
                        </m:r>
                        <m:r>
                          <a:rPr lang="zh-CN" sz="19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 </m:t>
                        </m:r>
                        <m:r>
                          <m:rPr>
                            <m:sty m:val="b"/>
                          </m:rPr>
                          <a:rPr lang="zh-CN" sz="19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x</m:t>
                        </m:r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27" name="TextBox 27"/>
            <p:cNvSpPr txBox="1"/>
            <p:nvPr/>
          </p:nvSpPr>
          <p:spPr>
            <a:xfrm>
              <a:off x="6489573" y="3492341"/>
              <a:ext cx="4719066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下标 g 表示在联合密度 g 下求期望；g(x) 指 X 的边缘密度；条件</a:t>
              </a:r>
              <a:br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期望在 X = x 处取值。</a:t>
              </a:r>
            </a:p>
          </p:txBody>
        </p:sp>
      </p:grpSp>
      <p:grpSp>
        <p:nvGrpSpPr>
          <p:cNvPr id="34" name="c2-callout-2"/>
          <p:cNvGrpSpPr/>
          <p:nvPr/>
        </p:nvGrpSpPr>
        <p:grpSpPr>
          <a:xfrm>
            <a:off x="6248400" y="4326255"/>
            <a:ext cx="5410200" cy="1059180"/>
            <a:chOff x="6248400" y="4326255"/>
            <a:chExt cx="5410200" cy="1059180"/>
          </a:xfrm>
        </p:grpSpPr>
        <p:sp>
          <p:nvSpPr>
            <p:cNvPr id="29" name="Rectangle 29"/>
            <p:cNvSpPr/>
            <p:nvPr/>
          </p:nvSpPr>
          <p:spPr>
            <a:xfrm>
              <a:off x="6248400" y="4326255"/>
              <a:ext cx="5410200" cy="1059180"/>
            </a:xfrm>
            <a:prstGeom prst="roundRect">
              <a:avLst>
                <a:gd name="adj" fmla="val 10791"/>
              </a:avLst>
            </a:prstGeom>
            <a:solidFill>
              <a:srgbClr val="2E7D4F"/>
            </a:solidFill>
            <a:ln>
              <a:noFill/>
            </a:ln>
          </p:spPr>
        </p:sp>
        <p:grpSp>
          <p:nvGrpSpPr>
            <p:cNvPr id="32" name="Group 32"/>
            <p:cNvGrpSpPr/>
            <p:nvPr/>
          </p:nvGrpSpPr>
          <p:grpSpPr>
            <a:xfrm>
              <a:off x="6453188" y="4755835"/>
              <a:ext cx="200023" cy="200023"/>
              <a:chOff x="6453188" y="4755835"/>
              <a:chExt cx="200023" cy="200023"/>
            </a:xfrm>
          </p:grpSpPr>
          <p:sp>
            <p:nvSpPr>
              <p:cNvPr id="30" name="Freeform 30"/>
              <p:cNvSpPr/>
              <p:nvPr/>
            </p:nvSpPr>
            <p:spPr>
              <a:xfrm>
                <a:off x="6453188" y="4755835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31" name="Freeform 31"/>
              <p:cNvSpPr/>
              <p:nvPr/>
            </p:nvSpPr>
            <p:spPr>
              <a:xfrm>
                <a:off x="6586538" y="482250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33" name="TextBox 33"/>
            <p:cNvSpPr txBox="1"/>
            <p:nvPr/>
          </p:nvSpPr>
          <p:spPr>
            <a:xfrm>
              <a:off x="6755130" y="4474845"/>
              <a:ext cx="4434840" cy="8458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例：Xᵢ ~ g，权重取非归一化密度 c·f 与 g 之比时，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E(W|x) = c·f(x)/g(x) 且 E(W) = c，满足条件，所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以（12.7）的做法是适当加权抽样。</a:t>
              </a:r>
            </a:p>
          </p:txBody>
        </p:sp>
      </p:grpSp>
      <p:grpSp>
        <p:nvGrpSpPr>
          <p:cNvPr id="3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35" name="TextBox 35"/>
            <p:cNvSpPr txBox="1"/>
            <p:nvPr/>
          </p:nvSpPr>
          <p:spPr>
            <a:xfrm>
              <a:off x="528447" y="6581299"/>
              <a:ext cx="198882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统计计算 · 第3章 随机模拟（上）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990885" cy="909257"/>
            <a:chOff x="520446" y="342900"/>
            <a:chExt cx="7990885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847975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3583" y="407194"/>
              <a:ext cx="27476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第3章 随机模拟（上） · 3.3 重要抽样法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99088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3.3.2 带有舍选控制的重要抽样：去掉权重太小的点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c1-text-1"/>
          <p:cNvGrpSpPr/>
          <p:nvPr/>
        </p:nvGrpSpPr>
        <p:grpSpPr>
          <a:xfrm>
            <a:off x="526542" y="1545907"/>
            <a:ext cx="5131498" cy="529780"/>
            <a:chOff x="526542" y="1545907"/>
            <a:chExt cx="5131498" cy="529780"/>
          </a:xfrm>
        </p:grpSpPr>
        <p:sp>
          <p:nvSpPr>
            <p:cNvPr id="7" name="TextBox 7"/>
            <p:cNvSpPr txBox="1"/>
            <p:nvPr/>
          </p:nvSpPr>
          <p:spPr>
            <a:xfrm>
              <a:off x="526542" y="1545907"/>
              <a:ext cx="5131498" cy="5297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92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舍弃权重太小的样本点，重新抽样替换。预先选定权重阈值 c，一个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点最终被接受的概率为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formula207"/>
              <p:cNvSpPr txBox="1">
                <a:spLocks noGrp="1"/>
              </p:cNvSpPr>
              <p:nvPr/>
            </p:nvSpPr>
            <p:spPr>
              <a:xfrm>
                <a:off x="533400" y="2192655"/>
                <a:ext cx="5410200" cy="54006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sSub>
                        <m:e>
                          <m: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p</m:t>
                          </m:r>
                        </m:e>
                        <m:sub>
                          <m: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c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zh-CN" sz="15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nary>
                        <m:naryPr>
                          <m:chr m:val="∫"/>
                          <m:limLoc m:val="subSup"/>
                          <m:grow m:val="off"/>
                          <m:subHide m:val="on"/>
                          <m:supHide m:val="on"/>
                          <m:ctrlP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naryPr>
                        <m:sub/>
                        <m:sup/>
                        <m:e>
                          <m:func>
                            <m:funcPr/>
                            <m:fName>
                              <m:r>
                                <m:rPr>
                                  <m:sty m:val="p"/>
                                </m:rP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min</m:t>
                              </m:r>
                            </m:fName>
                            <m:e>
                              <m:d>
                                <m:dPr>
                                  <m:begChr m:val="{"/>
                                  <m:sepChr m:val=""/>
                                  <m:endChr m:val="}"/>
                                  <m:grow m:val="on"/>
                                  <m:ctrlPr>
                                    <a:rPr lang="zh-CN" sz="15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dPr>
                                <m:e>
                                  <m:r>
                                    <a:rPr lang="zh-CN" sz="15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1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zh-CN" sz="15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,</m:t>
                                  </m:r>
                                  <m:f>
                                    <m:fPr>
                                      <m:type m:val="bar"/>
                                      <m:ctrlPr>
                                        <a:rPr lang="zh-CN" sz="158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zh-CN" sz="158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f</m:t>
                                      </m:r>
                                      <m:d>
                                        <m:dPr>
                                          <m:begChr m:val="("/>
                                          <m:sepChr m:val=""/>
                                          <m:endChr m:val=")"/>
                                          <m:grow m:val="on"/>
                                          <m:ctrlPr>
                                            <a:rPr lang="zh-CN" sz="158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m:rPr>
                                              <m:sty m:val="b"/>
                                            </m:rPr>
                                            <a:rPr lang="zh-CN" sz="158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x</m:t>
                                          </m:r>
                                        </m:e>
                                      </m:d>
                                    </m:num>
                                    <m:den>
                                      <m:r>
                                        <a:rPr lang="zh-CN" sz="158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c</m:t>
                                      </m:r>
                                      <m:r>
                                        <a:rPr lang="zh-CN" sz="158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 xml:space="preserve"> </m:t>
                                      </m:r>
                                      <m:r>
                                        <a:rPr lang="zh-CN" sz="158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g</m:t>
                                      </m:r>
                                      <m:d>
                                        <m:dPr>
                                          <m:begChr m:val="("/>
                                          <m:sepChr m:val=""/>
                                          <m:endChr m:val=")"/>
                                          <m:grow m:val="on"/>
                                          <m:ctrlPr>
                                            <a:rPr lang="zh-CN" sz="158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m:rPr>
                                              <m:sty m:val="b"/>
                                            </m:rPr>
                                            <a:rPr lang="zh-CN" sz="158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x</m:t>
                                          </m:r>
                                        </m:e>
                                      </m:d>
                                    </m:den>
                                  </m:f>
                                </m:e>
                              </m:d>
                            </m:e>
                          </m:func>
                          <m: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g</m:t>
                          </m:r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b"/>
                                </m:rP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x</m:t>
                              </m:r>
                            </m:e>
                          </m:d>
                          <m: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 xml:space="preserve"> </m:t>
                          </m:r>
                          <m: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d</m:t>
                          </m:r>
                          <m:r>
                            <m:rPr>
                              <m:sty m:val="b"/>
                            </m:rP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x</m:t>
                          </m:r>
                        </m:e>
                      </m:nary>
                      <m:r>
                        <m:rPr>
                          <m:sty m:val="p"/>
                        </m:rPr>
                        <a:rPr lang="zh-CN" sz="15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nary>
                        <m:naryPr>
                          <m:chr m:val="∫"/>
                          <m:limLoc m:val="subSup"/>
                          <m:grow m:val="off"/>
                          <m:subHide m:val="on"/>
                          <m:supHide m:val="on"/>
                          <m:ctrlP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naryPr>
                        <m:sub/>
                        <m:sup/>
                        <m:e>
                          <m:func>
                            <m:funcPr/>
                            <m:fName>
                              <m:r>
                                <m:rPr>
                                  <m:sty m:val="p"/>
                                </m:rP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min</m:t>
                              </m:r>
                            </m:fName>
                            <m:e>
                              <m:d>
                                <m:dPr>
                                  <m:begChr m:val="{"/>
                                  <m:sepChr m:val=""/>
                                  <m:endChr m:val="}"/>
                                  <m:grow m:val="on"/>
                                  <m:ctrlPr>
                                    <a:rPr lang="zh-CN" sz="15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dPr>
                                <m:e>
                                  <m:r>
                                    <a:rPr lang="zh-CN" sz="15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g</m:t>
                                  </m:r>
                                  <m:d>
                                    <m:dPr>
                                      <m:begChr m:val="("/>
                                      <m:sepChr m:val=""/>
                                      <m:endChr m:val=")"/>
                                      <m:grow m:val="on"/>
                                      <m:ctrlPr>
                                        <a:rPr lang="zh-CN" sz="158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</m:ctrlPr>
                                    </m:dPr>
                                    <m:e>
                                      <m:r>
                                        <m:rPr>
                                          <m:sty m:val="b"/>
                                        </m:rPr>
                                        <a:rPr lang="zh-CN" sz="158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x</m:t>
                                      </m:r>
                                    </m:e>
                                  </m:d>
                                  <m:r>
                                    <m:rPr>
                                      <m:sty m:val="p"/>
                                    </m:rPr>
                                    <a:rPr lang="zh-CN" sz="15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,</m:t>
                                  </m:r>
                                  <m:f>
                                    <m:fPr>
                                      <m:type m:val="bar"/>
                                      <m:ctrlPr>
                                        <a:rPr lang="zh-CN" sz="158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zh-CN" sz="158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f</m:t>
                                      </m:r>
                                      <m:d>
                                        <m:dPr>
                                          <m:begChr m:val="("/>
                                          <m:sepChr m:val=""/>
                                          <m:endChr m:val=")"/>
                                          <m:grow m:val="on"/>
                                          <m:ctrlPr>
                                            <a:rPr lang="zh-CN" sz="158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m:rPr>
                                              <m:sty m:val="b"/>
                                            </m:rPr>
                                            <a:rPr lang="zh-CN" sz="158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x</m:t>
                                          </m:r>
                                        </m:e>
                                      </m:d>
                                    </m:num>
                                    <m:den>
                                      <m:r>
                                        <a:rPr lang="zh-CN" sz="158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c</m:t>
                                      </m:r>
                                    </m:den>
                                  </m:f>
                                </m:e>
                              </m:d>
                            </m:e>
                          </m:func>
                          <m: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d</m:t>
                          </m:r>
                          <m:r>
                            <m:rPr>
                              <m:sty m:val="b"/>
                            </m:rP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x</m:t>
                          </m:r>
                        </m:e>
                      </m:nary>
                    </m:oMath>
                  </m:oMathPara>
                </a14:m>
              </a:p>
            </p:txBody>
          </p:sp>
        </mc:Choice>
      </mc:AlternateContent>
      <p:grpSp>
        <p:nvGrpSpPr>
          <p:cNvPr id="27" name="c1-steps-3"/>
          <p:cNvGrpSpPr/>
          <p:nvPr/>
        </p:nvGrpSpPr>
        <p:grpSpPr>
          <a:xfrm>
            <a:off x="533400" y="2912745"/>
            <a:ext cx="4695998" cy="2267427"/>
            <a:chOff x="533400" y="2912745"/>
            <a:chExt cx="4695998" cy="2267427"/>
          </a:xfrm>
        </p:grpSpPr>
        <p:sp>
          <p:nvSpPr>
            <p:cNvPr id="10" name="Rectangle 10"/>
            <p:cNvSpPr/>
            <p:nvPr/>
          </p:nvSpPr>
          <p:spPr>
            <a:xfrm>
              <a:off x="666750" y="3055620"/>
              <a:ext cx="19050" cy="174879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1" name="Ellipse 11"/>
            <p:cNvSpPr/>
            <p:nvPr/>
          </p:nvSpPr>
          <p:spPr>
            <a:xfrm>
              <a:off x="533400" y="2912745"/>
              <a:ext cx="285750" cy="28575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627024" y="298656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533400" y="3495675"/>
              <a:ext cx="285750" cy="28575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627024" y="356949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533400" y="4078605"/>
              <a:ext cx="285750" cy="28575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27024" y="415242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7" name="Ellipse 17"/>
            <p:cNvSpPr/>
            <p:nvPr/>
          </p:nvSpPr>
          <p:spPr>
            <a:xfrm>
              <a:off x="533400" y="4661535"/>
              <a:ext cx="285750" cy="28575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27024" y="473535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45642" y="2944177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抽样算权重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946785" y="3211354"/>
              <a:ext cx="26843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从 g 抽取 Xᵢ，计算 Wᵢ = f(Xᵢ)/g(Xᵢ)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45642" y="352710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权重够大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46785" y="3794284"/>
              <a:ext cx="319035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Wᵢ ≥ c 时接受该点，新权重取接受概率乘以 Wᵢ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45642" y="411003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权重太小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46785" y="4377214"/>
              <a:ext cx="428261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Wᵢ &lt; c 时仅以概率 Wᵢ/c 接受，接受时新权重取接受概率乘以 c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45642" y="46929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未被接受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946785" y="4960144"/>
              <a:ext cx="108946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重新从 g 中抽取</a:t>
              </a:r>
            </a:p>
          </p:txBody>
        </p:sp>
      </p:grpSp>
      <p:grpSp>
        <p:nvGrpSpPr>
          <p:cNvPr id="34" name="c1-callout-4"/>
          <p:cNvGrpSpPr/>
          <p:nvPr/>
        </p:nvGrpSpPr>
        <p:grpSpPr>
          <a:xfrm>
            <a:off x="533400" y="5344478"/>
            <a:ext cx="5410200" cy="729615"/>
            <a:chOff x="533400" y="5344478"/>
            <a:chExt cx="5410200" cy="729615"/>
          </a:xfrm>
        </p:grpSpPr>
        <p:sp>
          <p:nvSpPr>
            <p:cNvPr id="28" name="Rectangle 28"/>
            <p:cNvSpPr/>
            <p:nvPr/>
          </p:nvSpPr>
          <p:spPr>
            <a:xfrm>
              <a:off x="533400" y="5344478"/>
              <a:ext cx="5410200" cy="729615"/>
            </a:xfrm>
            <a:prstGeom prst="roundRect">
              <a:avLst>
                <a:gd name="adj" fmla="val 15666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32" name="Group 32"/>
            <p:cNvGrpSpPr/>
            <p:nvPr/>
          </p:nvGrpSpPr>
          <p:grpSpPr>
            <a:xfrm>
              <a:off x="738188" y="5609273"/>
              <a:ext cx="200026" cy="200026"/>
              <a:chOff x="738188" y="5609273"/>
              <a:chExt cx="200026" cy="200026"/>
            </a:xfrm>
          </p:grpSpPr>
          <p:sp>
            <p:nvSpPr>
              <p:cNvPr id="29" name="Freeform 29"/>
              <p:cNvSpPr/>
              <p:nvPr/>
            </p:nvSpPr>
            <p:spPr>
              <a:xfrm>
                <a:off x="738188" y="5609273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30" name="Freeform 30"/>
              <p:cNvSpPr/>
              <p:nvPr/>
            </p:nvSpPr>
            <p:spPr>
              <a:xfrm>
                <a:off x="838200" y="567594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31" name="Freeform 31"/>
              <p:cNvSpPr/>
              <p:nvPr/>
            </p:nvSpPr>
            <p:spPr>
              <a:xfrm>
                <a:off x="827088" y="5709285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33" name="TextBox 33"/>
            <p:cNvSpPr txBox="1"/>
            <p:nvPr/>
          </p:nvSpPr>
          <p:spPr>
            <a:xfrm>
              <a:off x="1040892" y="5490210"/>
              <a:ext cx="4497134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阈值 c 取得越大，被舍弃的小权重点越多，留下的点权重越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接近，但平均每得到一个点要抽更多次。</a:t>
              </a:r>
            </a:p>
          </p:txBody>
        </p:sp>
      </p:grpSp>
      <p:grpSp>
        <p:nvGrpSpPr>
          <p:cNvPr id="38" name="c2-code-1"/>
          <p:cNvGrpSpPr/>
          <p:nvPr/>
        </p:nvGrpSpPr>
        <p:grpSpPr>
          <a:xfrm>
            <a:off x="6248400" y="1524000"/>
            <a:ext cx="5410200" cy="2791778"/>
            <a:chOff x="6248400" y="1524000"/>
            <a:chExt cx="5410200" cy="2791778"/>
          </a:xfrm>
        </p:grpSpPr>
        <p:sp>
          <p:nvSpPr>
            <p:cNvPr id="35" name="Rectangle 35"/>
            <p:cNvSpPr/>
            <p:nvPr/>
          </p:nvSpPr>
          <p:spPr>
            <a:xfrm>
              <a:off x="6248400" y="1524000"/>
              <a:ext cx="5410200" cy="2791778"/>
            </a:xfrm>
            <a:prstGeom prst="roundRect">
              <a:avLst>
                <a:gd name="adj" fmla="val 3412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376797" y="1675924"/>
              <a:ext cx="132166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算法（R 风格伪代码）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376797" y="1935956"/>
              <a:ext cx="2748026" cy="2305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88"/>
                </a:lnSpc>
              </a:pPr>
              <a:r>
                <a:rPr lang="en-US" sz="980" b="1" dirty="0">
                  <a:solidFill>
                    <a:srgbClr val="2E7D4F"/>
                  </a:solidFill>
                  <a:latin typeface="Consolas"/>
                  <a:ea typeface="Consolas"/>
                  <a:cs typeface="Consolas"/>
                </a:rPr>
                <a:t>for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(i </a:t>
              </a:r>
              <a:r>
                <a:rPr lang="en-US" sz="980" b="1" dirty="0">
                  <a:solidFill>
                    <a:srgbClr val="2E7D4F"/>
                  </a:solidFill>
                  <a:latin typeface="Consolas"/>
                  <a:ea typeface="Consolas"/>
                  <a:cs typeface="Consolas"/>
                </a:rPr>
                <a:t>in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1:N) {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</a:t>
              </a:r>
              <a:r>
                <a:rPr lang="en-US" sz="980" b="1" dirty="0">
                  <a:solidFill>
                    <a:srgbClr val="2E7D4F"/>
                  </a:solidFill>
                  <a:latin typeface="Consolas"/>
                  <a:ea typeface="Consolas"/>
                  <a:cs typeface="Consolas"/>
                </a:rPr>
                <a:t>repeat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{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 xml:space="preserve">    xi &lt;- 从 g 抽取一个点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W  &lt;- f(xi) / g(xi)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2E7D4F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(W &gt;= c) {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X[i] &lt;- xi; Ws[i] &lt;- pc * W; </a:t>
              </a:r>
              <a:r>
                <a:rPr lang="en-US" sz="980" b="1" dirty="0">
                  <a:solidFill>
                    <a:srgbClr val="2E7D4F"/>
                  </a:solidFill>
                  <a:latin typeface="Consolas"/>
                  <a:ea typeface="Consolas"/>
                  <a:cs typeface="Consolas"/>
                </a:rPr>
                <a:t>break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2E7D4F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(runif(1) &lt; W / c) {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X[i] &lt;- xi; Ws[i] &lt;- pc * c; </a:t>
              </a:r>
              <a:r>
                <a:rPr lang="en-US" sz="980" b="1" dirty="0">
                  <a:solidFill>
                    <a:srgbClr val="2E7D4F"/>
                  </a:solidFill>
                  <a:latin typeface="Consolas"/>
                  <a:ea typeface="Consolas"/>
                  <a:cs typeface="Consolas"/>
                </a:rPr>
                <a:t>break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>输出 (X[i], Ws[i]), i = 1..N</a:t>
              </a:r>
            </a:p>
          </p:txBody>
        </p:sp>
      </p:grpSp>
      <p:grpSp>
        <p:nvGrpSpPr>
          <p:cNvPr id="44" name="c2-card-2"/>
          <p:cNvGrpSpPr/>
          <p:nvPr/>
        </p:nvGrpSpPr>
        <p:grpSpPr>
          <a:xfrm>
            <a:off x="6248400" y="4486275"/>
            <a:ext cx="5410200" cy="1758315"/>
            <a:chOff x="6248400" y="4486275"/>
            <a:chExt cx="5410200" cy="1758315"/>
          </a:xfrm>
        </p:grpSpPr>
        <p:sp>
          <p:nvSpPr>
            <p:cNvPr id="39" name="Rectangle 39"/>
            <p:cNvSpPr/>
            <p:nvPr/>
          </p:nvSpPr>
          <p:spPr>
            <a:xfrm>
              <a:off x="6248400" y="4486275"/>
              <a:ext cx="5410200" cy="1758315"/>
            </a:xfrm>
            <a:prstGeom prst="roundRect">
              <a:avLst>
                <a:gd name="adj" fmla="val 7584"/>
              </a:avLst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6435090" y="4672965"/>
              <a:ext cx="1329690" cy="238125"/>
            </a:xfrm>
            <a:prstGeom prst="roundRect">
              <a:avLst>
                <a:gd name="adj" fmla="val 50000"/>
              </a:avLst>
            </a:prstGeom>
            <a:solidFill>
              <a:srgbClr val="23613D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6501308" y="4705826"/>
              <a:ext cx="119725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为什么仍是适当加权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6428232" y="5016818"/>
              <a:ext cx="4257104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被接受点的密度与新权重相乘，恰好还原成 g(x)W(x) =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f(x)：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3" name="formula208"/>
                <p:cNvSpPr txBox="1">
                  <a:spLocks noGrp="1"/>
                </p:cNvSpPr>
                <p:nvPr/>
              </p:nvSpPr>
              <p:spPr>
                <a:xfrm>
                  <a:off x="6435090" y="5552122"/>
                  <a:ext cx="5036820" cy="48863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f>
                          <m:fPr>
                            <m:type m:val="bar"/>
                            <m:ctrlPr>
                              <a:rPr lang="zh-CN" sz="14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r>
                              <a:rPr lang="zh-CN" sz="14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g</m:t>
                            </m:r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42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m:rPr>
                                    <m:sty m:val="b"/>
                                  </m:rPr>
                                  <a:rPr lang="zh-CN" sz="142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</m:d>
                            <m:func>
                              <m:funcPr/>
                              <m:fName>
                                <m:r>
                                  <m:rPr>
                                    <m:sty m:val="p"/>
                                  </m:rPr>
                                  <a:rPr lang="zh-CN" sz="142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min</m:t>
                                </m:r>
                              </m:fName>
                              <m:e>
                                <m:d>
                                  <m:dPr>
                                    <m:begChr m:val="{"/>
                                    <m:sepChr m:val=""/>
                                    <m:endChr m:val="}"/>
                                    <m:grow m:val="on"/>
                                    <m:ctrlPr>
                                      <a:rPr lang="zh-CN" sz="142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dPr>
                                  <m:e>
                                    <m:r>
                                      <a:rPr lang="zh-CN" sz="142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1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zh-CN" sz="142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,</m:t>
                                    </m:r>
                                    <m:r>
                                      <a:rPr lang="zh-CN" sz="142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W</m:t>
                                    </m:r>
                                    <m:d>
                                      <m:dPr>
                                        <m:begChr m:val="("/>
                                        <m:sepChr m:val=""/>
                                        <m:endChr m:val=")"/>
                                        <m:grow m:val="on"/>
                                        <m:ctrlPr>
                                          <a:rPr lang="zh-CN" sz="1420" dirty="0">
                                            <a:solidFill>
                                              <a:srgbClr val="FFFFFF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m:rPr>
                                            <m:sty m:val="b"/>
                                          </m:rPr>
                                          <a:rPr lang="zh-CN" sz="1420" dirty="0">
                                            <a:solidFill>
                                              <a:srgbClr val="FFFFFF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x</m:t>
                                        </m:r>
                                      </m:e>
                                    </m:d>
                                    <m:r>
                                      <m:rPr>
                                        <m:sty m:val="p"/>
                                      </m:rPr>
                                      <a:rPr lang="zh-CN" sz="142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/</m:t>
                                    </m:r>
                                    <m:r>
                                      <a:rPr lang="zh-CN" sz="142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c</m:t>
                                    </m:r>
                                  </m:e>
                                </m:d>
                              </m:e>
                            </m:func>
                          </m:num>
                          <m:den>
                            <m:sSub>
                              <m:e>
                                <m:r>
                                  <a:rPr lang="zh-CN" sz="142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p</m:t>
                                </m:r>
                              </m:e>
                              <m:sub>
                                <m:r>
                                  <a:rPr lang="zh-CN" sz="142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c</m:t>
                                </m:r>
                              </m:sub>
                            </m:sSub>
                          </m:den>
                        </m:f>
                        <m:r>
                          <m:rPr>
                            <m:sty m:val="p"/>
                          </m:rPr>
                          <a:rPr lang="zh-CN" sz="142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⋅</m:t>
                        </m:r>
                        <m:sSub>
                          <m:e>
                            <m:r>
                              <a:rPr lang="zh-CN" sz="14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p</m:t>
                            </m:r>
                          </m:e>
                          <m:sub>
                            <m:r>
                              <a:rPr lang="zh-CN" sz="14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c</m:t>
                            </m:r>
                          </m:sub>
                        </m:sSub>
                        <m:func>
                          <m:funcPr/>
                          <m:fName>
                            <m:r>
                              <m:rPr>
                                <m:sty m:val="p"/>
                              </m:rPr>
                              <a:rPr lang="zh-CN" sz="14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max</m:t>
                            </m:r>
                          </m:fName>
                          <m:e>
                            <m:d>
                              <m:dPr>
                                <m:begChr m:val="{"/>
                                <m:sepChr m:val=""/>
                                <m:endChr m:val="}"/>
                                <m:grow m:val="on"/>
                                <m:ctrlPr>
                                  <a:rPr lang="zh-CN" sz="142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42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W</m:t>
                                </m:r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 m:val="on"/>
                                    <m:ctrlPr>
                                      <a:rPr lang="zh-CN" sz="142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dPr>
                                  <m:e>
                                    <m:r>
                                      <m:rPr>
                                        <m:sty m:val="b"/>
                                      </m:rPr>
                                      <a:rPr lang="zh-CN" sz="142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x</m:t>
                                    </m:r>
                                  </m:e>
                                </m:d>
                                <m:r>
                                  <m:rPr>
                                    <m:sty m:val="p"/>
                                  </m:rPr>
                                  <a:rPr lang="zh-CN" sz="142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,</m:t>
                                </m:r>
                                <m:r>
                                  <a:rPr lang="zh-CN" sz="142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c</m:t>
                                </m:r>
                              </m:e>
                            </m:d>
                          </m:e>
                        </m:func>
                        <m:r>
                          <m:rPr>
                            <m:sty m:val="p"/>
                          </m:rPr>
                          <a:rPr lang="zh-CN" sz="142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r>
                          <a:rPr lang="zh-CN" sz="142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g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4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m:rPr>
                                <m:sty m:val="b"/>
                              </m:rPr>
                              <a:rPr lang="zh-CN" sz="14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</m:e>
                        </m:d>
                        <m:r>
                          <a:rPr lang="zh-CN" sz="142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W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4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m:rPr>
                                <m:sty m:val="b"/>
                              </m:rPr>
                              <a:rPr lang="zh-CN" sz="14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</m:e>
                        </m:d>
                      </m:oMath>
                    </m:oMathPara>
                  </a14:m>
                </a:p>
              </p:txBody>
            </p:sp>
          </mc:Choice>
        </mc:AlternateContent>
      </p:grpSp>
      <p:grpSp>
        <p:nvGrpSpPr>
          <p:cNvPr id="4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5" name="TextBox 45"/>
            <p:cNvSpPr txBox="1"/>
            <p:nvPr/>
          </p:nvSpPr>
          <p:spPr>
            <a:xfrm>
              <a:off x="528447" y="6581299"/>
              <a:ext cx="198882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统计计算 · 第3章 随机模拟（上）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385383" cy="909257"/>
            <a:chOff x="520446" y="342900"/>
            <a:chExt cx="538538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847975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3583" y="407194"/>
              <a:ext cx="27476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第3章 随机模拟（上） · 3.3 重要抽样法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38538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例12.1 用重要抽样计算 ∫₀¹ eˣ dx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formula215"/>
              <p:cNvSpPr txBox="1">
                <a:spLocks noGrp="1"/>
              </p:cNvSpPr>
              <p:nvPr/>
            </p:nvSpPr>
            <p:spPr>
              <a:xfrm>
                <a:off x="533400" y="1524000"/>
                <a:ext cx="5626418" cy="640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zh-CN" sz="18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I</m:t>
                      </m:r>
                      <m:r>
                        <m:rPr>
                          <m:sty m:val="p"/>
                        </m:rPr>
                        <a:rPr lang="zh-CN" sz="18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nary>
                        <m:naryPr>
                          <m:chr m:val="∫"/>
                          <m:limLoc m:val="subSup"/>
                          <m:grow m:val="off"/>
                          <m:subHide m:val="off"/>
                          <m:supHide m:val="off"/>
                          <m:ctrlP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naryPr>
                        <m:sub>
                          <m: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0</m:t>
                          </m:r>
                        </m:sub>
                        <m:sup>
                          <m: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sup>
                        <m:e>
                          <m:sSup>
                            <m:e>
                              <m: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e</m:t>
                              </m:r>
                            </m:e>
                            <m:sup>
                              <m: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x</m:t>
                              </m:r>
                            </m:sup>
                          </m:sSup>
                          <m: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 xml:space="preserve"> </m:t>
                          </m:r>
                          <m: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dx</m:t>
                          </m:r>
                        </m:e>
                      </m:nary>
                      <m:r>
                        <m:rPr>
                          <m:sty m:val="p"/>
                        </m:rPr>
                        <a:rPr lang="zh-CN" sz="18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r>
                        <a:rPr lang="zh-CN" sz="18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e</m:t>
                      </m:r>
                      <m:r>
                        <m:rPr>
                          <m:sty m:val="p"/>
                        </m:rPr>
                        <a:rPr lang="zh-CN" sz="18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−</m:t>
                      </m:r>
                      <m:r>
                        <a:rPr lang="zh-CN" sz="18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1</m:t>
                      </m:r>
                      <m:r>
                        <m:rPr>
                          <m:sty m:val="p"/>
                        </m:rPr>
                        <a:rPr lang="zh-CN" sz="18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≈</m:t>
                      </m:r>
                      <m:r>
                        <a:rPr lang="zh-CN" sz="18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1.718</m:t>
                      </m:r>
                    </m:oMath>
                  </m:oMathPara>
                </a14:m>
              </a:p>
            </p:txBody>
          </p:sp>
        </mc:Choice>
      </mc:AlternateContent>
      <p:grpSp>
        <p:nvGrpSpPr>
          <p:cNvPr id="21" name="c1-steps-2"/>
          <p:cNvGrpSpPr/>
          <p:nvPr/>
        </p:nvGrpSpPr>
        <p:grpSpPr>
          <a:xfrm>
            <a:off x="533400" y="2353628"/>
            <a:ext cx="5594695" cy="2003488"/>
            <a:chOff x="533400" y="2353628"/>
            <a:chExt cx="5594695" cy="2003488"/>
          </a:xfrm>
        </p:grpSpPr>
        <p:sp>
          <p:nvSpPr>
            <p:cNvPr id="8" name="Rectangle 8"/>
            <p:cNvSpPr/>
            <p:nvPr/>
          </p:nvSpPr>
          <p:spPr>
            <a:xfrm>
              <a:off x="666750" y="2496502"/>
              <a:ext cx="19050" cy="145446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9" name="Ellipse 9"/>
            <p:cNvSpPr/>
            <p:nvPr/>
          </p:nvSpPr>
          <p:spPr>
            <a:xfrm>
              <a:off x="533400" y="2353628"/>
              <a:ext cx="285750" cy="28575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627024" y="242744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1" name="Ellipse 11"/>
            <p:cNvSpPr/>
            <p:nvPr/>
          </p:nvSpPr>
          <p:spPr>
            <a:xfrm>
              <a:off x="533400" y="3191828"/>
              <a:ext cx="285750" cy="28575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627024" y="326564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533400" y="3808095"/>
              <a:ext cx="285750" cy="28575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627024" y="388191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945261" y="2386489"/>
              <a:ext cx="97028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选试投密度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946404" y="2667000"/>
              <a:ext cx="4812792" cy="4556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4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泰勒展开 eˣ = 1 + x + x²/2! + ⋯，取前两项 g(x) = c(1 + x)，由 ∫₀¹ g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= 1 得 c = 2/3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945261" y="3224689"/>
              <a:ext cx="116144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逆变换法抽样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46404" y="3505200"/>
              <a:ext cx="518169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G(x) = (2/3)(x + x²/2) = y，解得 G⁻¹(y) = √(1 + 3y) − 1，0 &lt; y &lt; 1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45261" y="3841909"/>
              <a:ext cx="97028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产生随机数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946404" y="4122420"/>
              <a:ext cx="4029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Uᵢ iid ~ U(0,1)，令 Xᵢ = √(1 + 3Uᵢ) − 1，i = 1, …, N</a:t>
              </a:r>
            </a:p>
          </p:txBody>
        </p:sp>
      </p:grpSp>
      <p:grpSp>
        <p:nvGrpSpPr>
          <p:cNvPr id="26" name="c1-card-3"/>
          <p:cNvGrpSpPr/>
          <p:nvPr/>
        </p:nvGrpSpPr>
        <p:grpSpPr>
          <a:xfrm>
            <a:off x="533400" y="4528185"/>
            <a:ext cx="5626418" cy="1809750"/>
            <a:chOff x="533400" y="4528185"/>
            <a:chExt cx="5626418" cy="1809750"/>
          </a:xfrm>
        </p:grpSpPr>
        <p:sp>
          <p:nvSpPr>
            <p:cNvPr id="22" name="Rectangle 22"/>
            <p:cNvSpPr/>
            <p:nvPr/>
          </p:nvSpPr>
          <p:spPr>
            <a:xfrm>
              <a:off x="533400" y="4528185"/>
              <a:ext cx="5626418" cy="1809750"/>
            </a:xfrm>
            <a:prstGeom prst="roundRect">
              <a:avLst>
                <a:gd name="adj" fmla="val 7368"/>
              </a:avLst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23" name="Rectangle 23"/>
            <p:cNvSpPr/>
            <p:nvPr/>
          </p:nvSpPr>
          <p:spPr>
            <a:xfrm>
              <a:off x="731520" y="4726305"/>
              <a:ext cx="1009650" cy="247650"/>
            </a:xfrm>
            <a:prstGeom prst="roundRect">
              <a:avLst>
                <a:gd name="adj" fmla="val 50000"/>
              </a:avLst>
            </a:prstGeom>
            <a:solidFill>
              <a:srgbClr val="23613D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806958" y="4760595"/>
              <a:ext cx="858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重要抽样估计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5" name="formula216"/>
                <p:cNvSpPr txBox="1">
                  <a:spLocks noGrp="1"/>
                </p:cNvSpPr>
                <p:nvPr/>
              </p:nvSpPr>
              <p:spPr>
                <a:xfrm>
                  <a:off x="731520" y="5063490"/>
                  <a:ext cx="5230178" cy="75438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sSub>
                          <m:e>
                            <m:acc>
                              <m:accPr>
                                <m:chr m:val="ˆ"/>
                                <m:ctrlPr>
                                  <a:rPr lang="zh-CN" sz="18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accPr>
                              <m:e>
                                <m:r>
                                  <a:rPr lang="zh-CN" sz="18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I</m:t>
                                </m:r>
                              </m:e>
                            </m:acc>
                          </m:e>
                          <m:sub>
                            <m:r>
                              <a:rPr lang="zh-CN" sz="18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3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zh-CN" sz="180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f>
                          <m:fPr>
                            <m:type m:val="bar"/>
                            <m:ctrlPr>
                              <a:rPr lang="zh-CN" sz="18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r>
                              <a:rPr lang="zh-CN" sz="18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num>
                          <m:den>
                            <m:r>
                              <a:rPr lang="zh-CN" sz="18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N</m:t>
                            </m:r>
                          </m:den>
                        </m:f>
                        <m:nary>
                          <m:naryPr>
                            <m:chr m:val="∑"/>
                            <m:limLoc m:val="undOvr"/>
                            <m:grow m:val="off"/>
                            <m:subHide m:val="off"/>
                            <m:supHide m:val="off"/>
                            <m:ctrlPr>
                              <a:rPr lang="zh-CN" sz="18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naryPr>
                          <m:sub>
                            <m:r>
                              <a:rPr lang="zh-CN" sz="18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i</m:t>
                            </m:r>
                            <m:r>
                              <m:rPr>
                                <m:sty m:val="p"/>
                              </m:rPr>
                              <a:rPr lang="zh-CN" sz="18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=</m:t>
                            </m:r>
                            <m:r>
                              <a:rPr lang="zh-CN" sz="18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sub>
                          <m:sup>
                            <m:r>
                              <a:rPr lang="zh-CN" sz="18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N</m:t>
                            </m:r>
                          </m:sup>
                          <m:e>
                            <m:f>
                              <m:fPr>
                                <m:type m:val="bar"/>
                                <m:ctrlPr>
                                  <a:rPr lang="zh-CN" sz="18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fPr>
                              <m:num>
                                <m:sSup>
                                  <m:e>
                                    <m:r>
                                      <a:rPr lang="zh-CN" sz="180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e</m:t>
                                    </m:r>
                                  </m:e>
                                  <m:sup>
                                    <m:sSub>
                                      <m:e>
                                        <m:r>
                                          <a:rPr lang="zh-CN" sz="1800" dirty="0">
                                            <a:solidFill>
                                              <a:srgbClr val="FFFFFF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X</m:t>
                                        </m:r>
                                      </m:e>
                                      <m:sub>
                                        <m:r>
                                          <a:rPr lang="zh-CN" sz="1800" dirty="0">
                                            <a:solidFill>
                                              <a:srgbClr val="FFFFFF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i</m:t>
                                        </m:r>
                                      </m:sub>
                                    </m:sSub>
                                  </m:sup>
                                </m:sSup>
                              </m:num>
                              <m:den>
                                <m:f>
                                  <m:fPr>
                                    <m:type m:val="bar"/>
                                    <m:ctrlPr>
                                      <a:rPr lang="zh-CN" sz="180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fPr>
                                  <m:num>
                                    <m:r>
                                      <a:rPr lang="zh-CN" sz="180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2</m:t>
                                    </m:r>
                                  </m:num>
                                  <m:den>
                                    <m:r>
                                      <a:rPr lang="zh-CN" sz="180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3</m:t>
                                    </m:r>
                                  </m:den>
                                </m:f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 m:val="on"/>
                                    <m:ctrlPr>
                                      <a:rPr lang="zh-CN" sz="180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dPr>
                                  <m:e>
                                    <m:r>
                                      <a:rPr lang="zh-CN" sz="180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1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zh-CN" sz="180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+</m:t>
                                    </m:r>
                                    <m:sSub>
                                      <m:e>
                                        <m:r>
                                          <a:rPr lang="zh-CN" sz="1800" dirty="0">
                                            <a:solidFill>
                                              <a:srgbClr val="FFFFFF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X</m:t>
                                        </m:r>
                                      </m:e>
                                      <m:sub>
                                        <m:r>
                                          <a:rPr lang="zh-CN" sz="1800" dirty="0">
                                            <a:solidFill>
                                              <a:srgbClr val="FFFFFF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i</m:t>
                                        </m:r>
                                      </m:sub>
                                    </m:sSub>
                                  </m:e>
                                </m:d>
                              </m:den>
                            </m:f>
                          </m:e>
                        </m:nary>
                      </m:oMath>
                    </m:oMathPara>
                  </a14:m>
                </a:p>
              </p:txBody>
            </p:sp>
          </mc:Choice>
        </mc:AlternateContent>
      </p:grpSp>
      <p:grpSp>
        <p:nvGrpSpPr>
          <p:cNvPr id="28" name="c2-text-1"/>
          <p:cNvGrpSpPr/>
          <p:nvPr/>
        </p:nvGrpSpPr>
        <p:grpSpPr>
          <a:xfrm>
            <a:off x="6457379" y="1547336"/>
            <a:ext cx="779120" cy="278702"/>
            <a:chOff x="6457379" y="1547336"/>
            <a:chExt cx="779120" cy="278702"/>
          </a:xfrm>
        </p:grpSpPr>
        <p:sp>
          <p:nvSpPr>
            <p:cNvPr id="27" name="TextBox 27"/>
            <p:cNvSpPr txBox="1"/>
            <p:nvPr/>
          </p:nvSpPr>
          <p:spPr>
            <a:xfrm>
              <a:off x="6457379" y="1547336"/>
              <a:ext cx="7791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渐近方差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29" name="formula217"/>
              <p:cNvSpPr txBox="1">
                <a:spLocks noGrp="1"/>
              </p:cNvSpPr>
              <p:nvPr/>
            </p:nvSpPr>
            <p:spPr>
              <a:xfrm>
                <a:off x="6464618" y="1950720"/>
                <a:ext cx="5193982" cy="640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r>
                        <m:rPr>
                          <m:sty m:val="p"/>
                        </m:rPr>
                        <a:rPr lang="zh-CN" sz="18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Var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sSub>
                            <m:e>
                              <m:acc>
                                <m:accPr>
                                  <m:chr m:val="ˆ"/>
                                  <m:ctrlPr>
                                    <a:rPr lang="zh-CN" sz="18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accPr>
                                <m:e>
                                  <m:r>
                                    <a:rPr lang="zh-CN" sz="18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I</m:t>
                                  </m:r>
                                </m:e>
                              </m:acc>
                            </m:e>
                            <m:sub>
                              <m: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  <m:r>
                        <m:rPr>
                          <m:sty m:val="p"/>
                        </m:rPr>
                        <a:rPr lang="zh-CN" sz="18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f>
                        <m:fPr>
                          <m:type m:val="bar"/>
                          <m:ctrlP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num>
                        <m:den>
                          <m: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N</m:t>
                          </m:r>
                        </m:den>
                      </m:f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f>
                            <m:fPr>
                              <m:type m:val="bar"/>
                              <m:ctrlP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fPr>
                            <m:num>
                              <m: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3</m:t>
                              </m:r>
                            </m:num>
                            <m:den>
                              <m: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2</m:t>
                              </m:r>
                            </m:den>
                          </m:f>
                          <m:nary>
                            <m:naryPr>
                              <m:chr m:val="∫"/>
                              <m:limLoc m:val="subSup"/>
                              <m:grow m:val="off"/>
                              <m:subHide m:val="off"/>
                              <m:supHide m:val="off"/>
                              <m:ctrlP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naryPr>
                            <m:sub>
                              <m: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0</m:t>
                              </m:r>
                            </m:sub>
                            <m:sup>
                              <m: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1</m:t>
                              </m:r>
                            </m:sup>
                            <m:e>
                              <m:f>
                                <m:fPr>
                                  <m:type m:val="bar"/>
                                  <m:ctrlPr>
                                    <a:rPr lang="zh-CN" sz="18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fPr>
                                <m:num>
                                  <m:sSup>
                                    <m:e>
                                      <m:r>
                                        <a:rPr lang="zh-CN" sz="180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e</m:t>
                                      </m:r>
                                    </m:e>
                                    <m:sup>
                                      <m:r>
                                        <a:rPr lang="zh-CN" sz="180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2x</m:t>
                                      </m:r>
                                    </m:sup>
                                  </m:sSup>
                                </m:num>
                                <m:den>
                                  <m:r>
                                    <a:rPr lang="zh-CN" sz="18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1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zh-CN" sz="18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+</m:t>
                                  </m:r>
                                  <m:r>
                                    <a:rPr lang="zh-CN" sz="18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x</m:t>
                                  </m:r>
                                </m:den>
                              </m:f>
                              <m: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 xml:space="preserve"> </m:t>
                              </m:r>
                              <m: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dx</m:t>
                              </m:r>
                            </m:e>
                          </m:nary>
                          <m:r>
                            <m:rPr>
                              <m:sty m:val="p"/>
                            </m:rP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−</m:t>
                          </m:r>
                          <m:sSup>
                            <m:e>
                              <m: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I</m:t>
                              </m:r>
                            </m:e>
                            <m:sup>
                              <m: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r>
                        <m:rPr>
                          <m:sty m:val="p"/>
                        </m:rPr>
                        <a:rPr lang="zh-CN" sz="18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≈</m:t>
                      </m:r>
                      <m:f>
                        <m:fPr>
                          <m:type m:val="bar"/>
                          <m:ctrlP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0.02691</m:t>
                          </m:r>
                        </m:num>
                        <m:den>
                          <m: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N</m:t>
                          </m:r>
                        </m:den>
                      </m:f>
                    </m:oMath>
                  </m:oMathPara>
                </a14:m>
              </a:p>
            </p:txBody>
          </p:sp>
        </mc:Choice>
      </mc:AlternateContent>
      <p:grpSp>
        <p:nvGrpSpPr>
          <p:cNvPr id="33" name="c2-code-3"/>
          <p:cNvGrpSpPr/>
          <p:nvPr/>
        </p:nvGrpSpPr>
        <p:grpSpPr>
          <a:xfrm>
            <a:off x="6464618" y="2770822"/>
            <a:ext cx="5193982" cy="1450658"/>
            <a:chOff x="6464618" y="2770822"/>
            <a:chExt cx="5193982" cy="1450658"/>
          </a:xfrm>
        </p:grpSpPr>
        <p:sp>
          <p:nvSpPr>
            <p:cNvPr id="30" name="Rectangle 30"/>
            <p:cNvSpPr/>
            <p:nvPr/>
          </p:nvSpPr>
          <p:spPr>
            <a:xfrm>
              <a:off x="6464618" y="2770822"/>
              <a:ext cx="5193982" cy="1450658"/>
            </a:xfrm>
            <a:prstGeom prst="roundRect">
              <a:avLst>
                <a:gd name="adj" fmla="val 6566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593015" y="2922746"/>
              <a:ext cx="12282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R：例12.1 重要抽样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592634" y="3184208"/>
              <a:ext cx="2284286" cy="9635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92"/>
                </a:lnSpc>
              </a:pP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N &lt;- 10000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x &lt;- sqrt(1 + 3 * runif(N)) - 1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eta &lt;- exp(x) / (2/3 * (1 + x))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mean(eta)      </a:t>
              </a:r>
              <a:r>
                <a:rPr lang="zh-CN" sz="105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# 约 1.718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var(eta)       </a:t>
              </a:r>
              <a:r>
                <a:rPr lang="zh-CN" sz="105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# 约 0.027</a:t>
              </a:r>
            </a:p>
          </p:txBody>
        </p:sp>
      </p:grpSp>
      <p:grpSp>
        <p:nvGrpSpPr>
          <p:cNvPr id="59" name="c2-table-4"/>
          <p:cNvGrpSpPr/>
          <p:nvPr/>
        </p:nvGrpSpPr>
        <p:grpSpPr>
          <a:xfrm>
            <a:off x="6459284" y="4401502"/>
            <a:ext cx="5199316" cy="1977962"/>
            <a:chOff x="6459284" y="4401502"/>
            <a:chExt cx="5199316" cy="1977962"/>
          </a:xfrm>
        </p:grpSpPr>
        <p:sp>
          <p:nvSpPr>
            <p:cNvPr id="34" name="Rectangle 34"/>
            <p:cNvSpPr/>
            <p:nvPr/>
          </p:nvSpPr>
          <p:spPr>
            <a:xfrm>
              <a:off x="6464618" y="4401502"/>
              <a:ext cx="5193982" cy="424815"/>
            </a:xfrm>
            <a:prstGeom prst="rect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972898" y="453009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x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8136880" y="4530090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eˣ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9341846" y="4530090"/>
              <a:ext cx="38535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g(x)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0588748" y="4530090"/>
              <a:ext cx="66523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eˣ/g(x)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972898" y="4954905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8008048" y="4954905"/>
              <a:ext cx="45643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1.000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9306306" y="4954905"/>
              <a:ext cx="45643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0.667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0693146" y="4954905"/>
              <a:ext cx="45643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1.500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6464618" y="5245418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4" name="Rectangle 44"/>
            <p:cNvSpPr/>
            <p:nvPr/>
          </p:nvSpPr>
          <p:spPr>
            <a:xfrm>
              <a:off x="6464618" y="5250180"/>
              <a:ext cx="5193982" cy="42481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6879607" y="5378767"/>
              <a:ext cx="29206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0.5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8008048" y="5378767"/>
              <a:ext cx="45643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1.649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9306306" y="5378767"/>
              <a:ext cx="45643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1.000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10693146" y="5378767"/>
              <a:ext cx="45643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1.649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6464618" y="5670232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6972898" y="5803582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8008048" y="5803582"/>
              <a:ext cx="45643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2.718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9306306" y="5803582"/>
              <a:ext cx="45643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1.333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10693146" y="5803582"/>
              <a:ext cx="45643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2.039</a:t>
              </a:r>
            </a:p>
          </p:txBody>
        </p:sp>
        <p:sp>
          <p:nvSpPr>
            <p:cNvPr id="54" name="Rectangle 54"/>
            <p:cNvSpPr/>
            <p:nvPr/>
          </p:nvSpPr>
          <p:spPr>
            <a:xfrm>
              <a:off x="6464618" y="4401502"/>
              <a:ext cx="5193982" cy="169735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55" name="Rectangle 55"/>
            <p:cNvSpPr/>
            <p:nvPr/>
          </p:nvSpPr>
          <p:spPr>
            <a:xfrm>
              <a:off x="7582852" y="4401502"/>
              <a:ext cx="9525" cy="169735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6" name="Rectangle 56"/>
            <p:cNvSpPr/>
            <p:nvPr/>
          </p:nvSpPr>
          <p:spPr>
            <a:xfrm>
              <a:off x="8881110" y="4401502"/>
              <a:ext cx="9525" cy="169735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7" name="Rectangle 57"/>
            <p:cNvSpPr/>
            <p:nvPr/>
          </p:nvSpPr>
          <p:spPr>
            <a:xfrm>
              <a:off x="10179368" y="4401502"/>
              <a:ext cx="9525" cy="169735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6459284" y="6174105"/>
              <a:ext cx="490848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比值只从 1.50 变到 2.04，比 eˣ 本身（从 1 到 2.72）平坦得多，方差自然小</a:t>
              </a:r>
            </a:p>
          </p:txBody>
        </p:sp>
      </p:grpSp>
      <p:grpSp>
        <p:nvGrpSpPr>
          <p:cNvPr id="6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0" name="TextBox 60"/>
            <p:cNvSpPr txBox="1"/>
            <p:nvPr/>
          </p:nvSpPr>
          <p:spPr>
            <a:xfrm>
              <a:off x="528447" y="6581299"/>
              <a:ext cx="198882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统计计算 · 第3章 随机模拟（上）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762798" cy="909257"/>
            <a:chOff x="520446" y="342900"/>
            <a:chExt cx="676279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847975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3583" y="407194"/>
              <a:ext cx="27476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第3章 随机模拟（上） · 3.3 重要抽样法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76279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例12.1 续：三种方法的方差相差两个数量级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c1-text-1"/>
          <p:cNvGrpSpPr/>
          <p:nvPr/>
        </p:nvGrpSpPr>
        <p:grpSpPr>
          <a:xfrm>
            <a:off x="526161" y="1547336"/>
            <a:ext cx="2993051" cy="278702"/>
            <a:chOff x="526161" y="1547336"/>
            <a:chExt cx="2993051" cy="278702"/>
          </a:xfrm>
        </p:grpSpPr>
        <p:sp>
          <p:nvSpPr>
            <p:cNvPr id="7" name="TextBox 7"/>
            <p:cNvSpPr txBox="1"/>
            <p:nvPr/>
          </p:nvSpPr>
          <p:spPr>
            <a:xfrm>
              <a:off x="526161" y="1547336"/>
              <a:ext cx="299305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平均值法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：Î₂ = (1/N)·Σ exp(Uᵢ)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formula222"/>
              <p:cNvSpPr txBox="1">
                <a:spLocks noGrp="1"/>
              </p:cNvSpPr>
              <p:nvPr/>
            </p:nvSpPr>
            <p:spPr>
              <a:xfrm>
                <a:off x="533400" y="1950720"/>
                <a:ext cx="5626418" cy="640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r>
                        <m:rPr>
                          <m:sty m:val="p"/>
                        </m:rPr>
                        <a:rPr lang="zh-CN" sz="18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Var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sSub>
                            <m:e>
                              <m:acc>
                                <m:accPr>
                                  <m:chr m:val="ˆ"/>
                                  <m:ctrlPr>
                                    <a:rPr lang="zh-CN" sz="18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accPr>
                                <m:e>
                                  <m:r>
                                    <a:rPr lang="zh-CN" sz="18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I</m:t>
                                  </m:r>
                                </m:e>
                              </m:acc>
                            </m:e>
                            <m:sub>
                              <m: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m:rPr>
                          <m:sty m:val="p"/>
                        </m:rPr>
                        <a:rPr lang="zh-CN" sz="18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f>
                        <m:fPr>
                          <m:type m:val="bar"/>
                          <m:ctrlP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num>
                        <m:den>
                          <m: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N</m:t>
                          </m:r>
                        </m:den>
                      </m:f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nary>
                            <m:naryPr>
                              <m:chr m:val="∫"/>
                              <m:limLoc m:val="subSup"/>
                              <m:grow m:val="off"/>
                              <m:subHide m:val="off"/>
                              <m:supHide m:val="off"/>
                              <m:ctrlP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naryPr>
                            <m:sub>
                              <m: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0</m:t>
                              </m:r>
                            </m:sub>
                            <m:sup>
                              <m: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1</m:t>
                              </m:r>
                            </m:sup>
                            <m:e>
                              <m:sSup>
                                <m:e>
                                  <m:r>
                                    <a:rPr lang="zh-CN" sz="18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e</m:t>
                                  </m:r>
                                </m:e>
                                <m:sup>
                                  <m:r>
                                    <a:rPr lang="zh-CN" sz="18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2x</m:t>
                                  </m:r>
                                </m:sup>
                              </m:sSup>
                              <m: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 xml:space="preserve"> </m:t>
                              </m:r>
                              <m: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dx</m:t>
                              </m:r>
                            </m:e>
                          </m:nary>
                          <m:r>
                            <m:rPr>
                              <m:sty m:val="p"/>
                            </m:rP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−</m:t>
                          </m:r>
                          <m:sSup>
                            <m:e>
                              <m: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I</m:t>
                              </m:r>
                            </m:e>
                            <m:sup>
                              <m: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r>
                        <m:rPr>
                          <m:sty m:val="p"/>
                        </m:rPr>
                        <a:rPr lang="zh-CN" sz="18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≈</m:t>
                      </m:r>
                      <m:f>
                        <m:fPr>
                          <m:type m:val="bar"/>
                          <m:ctrlP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0.2420</m:t>
                          </m:r>
                        </m:num>
                        <m:den>
                          <m: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N</m:t>
                          </m:r>
                        </m:den>
                      </m:f>
                    </m:oMath>
                  </m:oMathPara>
                </a14:m>
              </a:p>
            </p:txBody>
          </p:sp>
        </mc:Choice>
      </mc:AlternateContent>
      <p:grpSp>
        <p:nvGrpSpPr>
          <p:cNvPr id="11" name="c1-text-3"/>
          <p:cNvGrpSpPr/>
          <p:nvPr/>
        </p:nvGrpSpPr>
        <p:grpSpPr>
          <a:xfrm>
            <a:off x="526161" y="2794159"/>
            <a:ext cx="5208270" cy="838772"/>
            <a:chOff x="526161" y="2794159"/>
            <a:chExt cx="5208270" cy="838772"/>
          </a:xfrm>
        </p:grpSpPr>
        <p:sp>
          <p:nvSpPr>
            <p:cNvPr id="10" name="TextBox 10"/>
            <p:cNvSpPr txBox="1"/>
            <p:nvPr/>
          </p:nvSpPr>
          <p:spPr>
            <a:xfrm>
              <a:off x="526161" y="2794159"/>
              <a:ext cx="5208270" cy="8387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05"/>
                </a:lnSpc>
              </a:pPr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随机投点法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：h(x) = eˣ ≤ e（0 &lt; x &lt; 1），取上界 M = e，向 [0,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1]×[0, M] 投点，落到曲线下方的概率 p = I/(M(b − a)) = (e −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1)/e。设频率为 p 的估计，则 Î₁ = e × 频率。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formula223"/>
              <p:cNvSpPr txBox="1">
                <a:spLocks noGrp="1"/>
              </p:cNvSpPr>
              <p:nvPr/>
            </p:nvSpPr>
            <p:spPr>
              <a:xfrm>
                <a:off x="533400" y="3757612"/>
                <a:ext cx="5626418" cy="6172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r>
                        <m:rPr>
                          <m:sty m:val="p"/>
                        </m:rPr>
                        <a:rPr lang="zh-CN" sz="18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Var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sSub>
                            <m:e>
                              <m:acc>
                                <m:accPr>
                                  <m:chr m:val="ˆ"/>
                                  <m:ctrlPr>
                                    <a:rPr lang="zh-CN" sz="18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accPr>
                                <m:e>
                                  <m:r>
                                    <a:rPr lang="zh-CN" sz="18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I</m:t>
                                  </m:r>
                                </m:e>
                              </m:acc>
                            </m:e>
                            <m:sub>
                              <m: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m:rPr>
                          <m:sty m:val="p"/>
                        </m:rPr>
                        <a:rPr lang="zh-CN" sz="18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f>
                        <m:fPr>
                          <m:type m:val="bar"/>
                          <m:ctrlP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sSup>
                            <m:e>
                              <m: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e</m:t>
                              </m:r>
                            </m:e>
                            <m:sup>
                              <m: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2</m:t>
                              </m:r>
                            </m:sup>
                          </m:sSup>
                          <m: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p</m:t>
                          </m:r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1</m:t>
                              </m:r>
                              <m:r>
                                <m:rPr>
                                  <m:sty m:val="p"/>
                                </m:rP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−</m:t>
                              </m:r>
                              <m: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p</m:t>
                              </m:r>
                            </m:e>
                          </m:d>
                        </m:num>
                        <m:den>
                          <m: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N</m:t>
                          </m:r>
                        </m:den>
                      </m:f>
                      <m:r>
                        <m:rPr>
                          <m:sty m:val="p"/>
                        </m:rPr>
                        <a:rPr lang="zh-CN" sz="18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f>
                        <m:fPr>
                          <m:type m:val="bar"/>
                          <m:ctrlP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e</m:t>
                          </m:r>
                          <m:r>
                            <m:rPr>
                              <m:sty m:val="p"/>
                            </m:rP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−</m:t>
                          </m:r>
                          <m: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num>
                        <m:den>
                          <m: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N</m:t>
                          </m:r>
                        </m:den>
                      </m:f>
                      <m:r>
                        <m:rPr>
                          <m:sty m:val="p"/>
                        </m:rPr>
                        <a:rPr lang="zh-CN" sz="18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≈</m:t>
                      </m:r>
                      <m:f>
                        <m:fPr>
                          <m:type m:val="bar"/>
                          <m:ctrlP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1.718</m:t>
                          </m:r>
                        </m:num>
                        <m:den>
                          <m: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N</m:t>
                          </m:r>
                        </m:den>
                      </m:f>
                    </m:oMath>
                  </m:oMathPara>
                </a14:m>
              </a:p>
            </p:txBody>
          </p:sp>
        </mc:Choice>
      </mc:AlternateContent>
      <p:grpSp>
        <p:nvGrpSpPr>
          <p:cNvPr id="16" name="c1-code-5"/>
          <p:cNvGrpSpPr/>
          <p:nvPr/>
        </p:nvGrpSpPr>
        <p:grpSpPr>
          <a:xfrm>
            <a:off x="533400" y="4555808"/>
            <a:ext cx="5626418" cy="1640205"/>
            <a:chOff x="533400" y="4555808"/>
            <a:chExt cx="5626418" cy="1640205"/>
          </a:xfrm>
        </p:grpSpPr>
        <p:sp>
          <p:nvSpPr>
            <p:cNvPr id="13" name="Rectangle 13"/>
            <p:cNvSpPr/>
            <p:nvPr/>
          </p:nvSpPr>
          <p:spPr>
            <a:xfrm>
              <a:off x="533400" y="4555808"/>
              <a:ext cx="5626418" cy="1640205"/>
            </a:xfrm>
            <a:prstGeom prst="roundRect">
              <a:avLst>
                <a:gd name="adj" fmla="val 5807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661797" y="4707731"/>
              <a:ext cx="127775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R：三种方法各估一次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61416" y="4969192"/>
              <a:ext cx="3017711" cy="11530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92"/>
                </a:lnSpc>
              </a:pP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N &lt;- 1e4; U &lt;- runif(N); V &lt;- runif(N)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I1 &lt;- exp(1) * mean(exp(1) * V &lt;= exp(U))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I2 &lt;- mean(exp(U))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X  &lt;- sqrt(1 + 3 * U) - 1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I3 &lt;- mean(exp(X) / (2/3 * (1 + X)))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c(I1, I2, I3)      </a:t>
              </a:r>
              <a:r>
                <a:rPr lang="zh-CN" sz="105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# 都在 1.718 附近</a:t>
              </a:r>
            </a:p>
          </p:txBody>
        </p:sp>
      </p:grpSp>
      <p:grpSp>
        <p:nvGrpSpPr>
          <p:cNvPr id="37" name="c2-table-1"/>
          <p:cNvGrpSpPr/>
          <p:nvPr/>
        </p:nvGrpSpPr>
        <p:grpSpPr>
          <a:xfrm>
            <a:off x="6464618" y="1524000"/>
            <a:ext cx="5193982" cy="1697355"/>
            <a:chOff x="6464618" y="1524000"/>
            <a:chExt cx="5193982" cy="1697355"/>
          </a:xfrm>
        </p:grpSpPr>
        <p:sp>
          <p:nvSpPr>
            <p:cNvPr id="17" name="Rectangle 17"/>
            <p:cNvSpPr/>
            <p:nvPr/>
          </p:nvSpPr>
          <p:spPr>
            <a:xfrm>
              <a:off x="6464618" y="1524000"/>
              <a:ext cx="5193982" cy="424815"/>
            </a:xfrm>
            <a:prstGeom prst="rect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234238" y="1652588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方法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8777348" y="1652588"/>
              <a:ext cx="63995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方差 × N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0266807" y="1652588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是重要抽样的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567106" y="2076450"/>
              <a:ext cx="107082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随机投点法 Î₁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869108" y="2076450"/>
              <a:ext cx="45643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1.718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0468737" y="2076450"/>
              <a:ext cx="57759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63.9 倍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6464618" y="2367915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6464618" y="2372678"/>
              <a:ext cx="5193982" cy="42481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567106" y="2501265"/>
              <a:ext cx="90927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平均值法 Î₂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824684" y="2501265"/>
              <a:ext cx="54528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0.2420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0513162" y="2501265"/>
              <a:ext cx="48874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9.0 倍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6464618" y="2792730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567106" y="2926080"/>
              <a:ext cx="90927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重要抽样 Î₃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8347710" y="2807018"/>
              <a:ext cx="1499235" cy="405765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8780259" y="2926080"/>
              <a:ext cx="6341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0.02691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0707014" y="2926080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6464618" y="1524000"/>
              <a:ext cx="5193982" cy="169735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5" name="Rectangle 35"/>
            <p:cNvSpPr/>
            <p:nvPr/>
          </p:nvSpPr>
          <p:spPr>
            <a:xfrm>
              <a:off x="8333422" y="1524000"/>
              <a:ext cx="9525" cy="169735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6" name="Rectangle 36"/>
            <p:cNvSpPr/>
            <p:nvPr/>
          </p:nvSpPr>
          <p:spPr>
            <a:xfrm>
              <a:off x="9851708" y="1524000"/>
              <a:ext cx="9525" cy="169735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43" name="c2-card-2"/>
          <p:cNvGrpSpPr/>
          <p:nvPr/>
        </p:nvGrpSpPr>
        <p:grpSpPr>
          <a:xfrm>
            <a:off x="6464618" y="3402330"/>
            <a:ext cx="5193982" cy="1522095"/>
            <a:chOff x="6464618" y="3402330"/>
            <a:chExt cx="5193982" cy="1522095"/>
          </a:xfrm>
        </p:grpSpPr>
        <p:sp>
          <p:nvSpPr>
            <p:cNvPr id="38" name="Rectangle 38"/>
            <p:cNvSpPr/>
            <p:nvPr/>
          </p:nvSpPr>
          <p:spPr>
            <a:xfrm>
              <a:off x="6464618" y="3402330"/>
              <a:ext cx="5193982" cy="1522095"/>
            </a:xfrm>
            <a:prstGeom prst="roundRect">
              <a:avLst>
                <a:gd name="adj" fmla="val 876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9" name="Rectangle 39"/>
            <p:cNvSpPr/>
            <p:nvPr/>
          </p:nvSpPr>
          <p:spPr>
            <a:xfrm>
              <a:off x="6474142" y="3535680"/>
              <a:ext cx="47625" cy="125539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6700838" y="3600450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6792278" y="363474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6693598" y="3960971"/>
              <a:ext cx="4541012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原课件写 Var(Î₁) ≈ 64.8 × Var(Î₃)，结论为"只需随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机投点法 1/65 的样本量"。按 1.718/0.02691 计算应为</a:t>
              </a:r>
              <a:br/>
              <a:r>
                <a:rPr lang="zh-CN" sz="14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63.9 倍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，即约需 1/64 的样本量。</a:t>
              </a:r>
            </a:p>
          </p:txBody>
        </p:sp>
      </p:grpSp>
      <p:grpSp>
        <p:nvGrpSpPr>
          <p:cNvPr id="49" name="c2-callout-3"/>
          <p:cNvGrpSpPr/>
          <p:nvPr/>
        </p:nvGrpSpPr>
        <p:grpSpPr>
          <a:xfrm>
            <a:off x="6464618" y="5104448"/>
            <a:ext cx="5193982" cy="756285"/>
            <a:chOff x="6464618" y="5104448"/>
            <a:chExt cx="5193982" cy="756285"/>
          </a:xfrm>
        </p:grpSpPr>
        <p:sp>
          <p:nvSpPr>
            <p:cNvPr id="44" name="Rectangle 44"/>
            <p:cNvSpPr/>
            <p:nvPr/>
          </p:nvSpPr>
          <p:spPr>
            <a:xfrm>
              <a:off x="6464618" y="5104448"/>
              <a:ext cx="5193982" cy="756285"/>
            </a:xfrm>
            <a:prstGeom prst="roundRect">
              <a:avLst>
                <a:gd name="adj" fmla="val 15113"/>
              </a:avLst>
            </a:prstGeom>
            <a:solidFill>
              <a:srgbClr val="2E7D4F"/>
            </a:solidFill>
            <a:ln>
              <a:noFill/>
            </a:ln>
          </p:spPr>
        </p:sp>
        <p:grpSp>
          <p:nvGrpSpPr>
            <p:cNvPr id="47" name="Group 47"/>
            <p:cNvGrpSpPr/>
            <p:nvPr/>
          </p:nvGrpSpPr>
          <p:grpSpPr>
            <a:xfrm>
              <a:off x="6669405" y="5382580"/>
              <a:ext cx="200023" cy="200023"/>
              <a:chOff x="6669405" y="5382580"/>
              <a:chExt cx="200023" cy="200023"/>
            </a:xfrm>
          </p:grpSpPr>
          <p:sp>
            <p:nvSpPr>
              <p:cNvPr id="45" name="Freeform 45"/>
              <p:cNvSpPr/>
              <p:nvPr/>
            </p:nvSpPr>
            <p:spPr>
              <a:xfrm>
                <a:off x="6669405" y="538258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46" name="Freeform 46"/>
              <p:cNvSpPr/>
              <p:nvPr/>
            </p:nvSpPr>
            <p:spPr>
              <a:xfrm>
                <a:off x="6802755" y="544925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48" name="TextBox 48"/>
            <p:cNvSpPr txBox="1"/>
            <p:nvPr/>
          </p:nvSpPr>
          <p:spPr>
            <a:xfrm>
              <a:off x="6971729" y="5251609"/>
              <a:ext cx="4162298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达到同样精度所需的样本量之比等于方差之比：平均</a:t>
              </a:r>
              <a:br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值法约需重要抽样的 9 倍样本。</a:t>
              </a:r>
            </a:p>
          </p:txBody>
        </p:sp>
      </p:grpSp>
      <p:grpSp>
        <p:nvGrpSpPr>
          <p:cNvPr id="5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0" name="TextBox 50"/>
            <p:cNvSpPr txBox="1"/>
            <p:nvPr/>
          </p:nvSpPr>
          <p:spPr>
            <a:xfrm>
              <a:off x="528447" y="6581299"/>
              <a:ext cx="198882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统计计算 · 第3章 随机模拟（上）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076236" cy="909257"/>
            <a:chOff x="520446" y="342900"/>
            <a:chExt cx="607623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847975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3583" y="407194"/>
              <a:ext cx="27476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第3章 随机模拟（上） · 3.3 重要抽样法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07623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例12.2 二重积分：被积函数有两个尖峰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formula239"/>
              <p:cNvSpPr txBox="1">
                <a:spLocks noGrp="1"/>
              </p:cNvSpPr>
              <p:nvPr/>
            </p:nvSpPr>
            <p:spPr>
              <a:xfrm>
                <a:off x="533400" y="1524000"/>
                <a:ext cx="5410200" cy="6134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zh-CN" sz="17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I</m:t>
                      </m:r>
                      <m:r>
                        <m:rPr>
                          <m:sty m:val="p"/>
                        </m:rPr>
                        <a:rPr lang="zh-CN" sz="17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nary>
                        <m:naryPr>
                          <m:chr m:val="∫"/>
                          <m:limLoc m:val="subSup"/>
                          <m:grow m:val="off"/>
                          <m:subHide m:val="off"/>
                          <m:supHide m:val="off"/>
                          <m:ctrlP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naryPr>
                        <m:sub>
                          <m:r>
                            <m:rPr>
                              <m:sty m:val="p"/>
                            </m:rP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−</m:t>
                          </m:r>
                          <m: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sub>
                        <m:sup>
                          <m: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sup>
                        <m:e>
                          <m:nary>
                            <m:naryPr>
                              <m:chr m:val="∫"/>
                              <m:limLoc m:val="subSup"/>
                              <m:grow m:val="off"/>
                              <m:subHide m:val="off"/>
                              <m:supHide m:val="off"/>
                              <m:ctrlPr>
                                <a:rPr lang="zh-CN" sz="17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naryPr>
                            <m:sub>
                              <m:r>
                                <m:rPr>
                                  <m:sty m:val="p"/>
                                </m:rPr>
                                <a:rPr lang="zh-CN" sz="17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−</m:t>
                              </m:r>
                              <m:r>
                                <a:rPr lang="zh-CN" sz="17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zh-CN" sz="17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1</m:t>
                              </m:r>
                            </m:sup>
                            <m:e>
                              <m:r>
                                <a:rPr lang="zh-CN" sz="17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f</m:t>
                              </m:r>
                              <m:d>
                                <m:dPr>
                                  <m:begChr m:val="("/>
                                  <m:sepChr m:val=""/>
                                  <m:endChr m:val=")"/>
                                  <m:grow m:val="on"/>
                                  <m:ctrlPr>
                                    <a:rPr lang="zh-CN" sz="17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dPr>
                                <m:e>
                                  <m:r>
                                    <a:rPr lang="zh-CN" sz="17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x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zh-CN" sz="17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,</m:t>
                                  </m:r>
                                  <m:r>
                                    <a:rPr lang="zh-CN" sz="17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y</m:t>
                                  </m:r>
                                </m:e>
                              </m:d>
                              <m:r>
                                <a:rPr lang="zh-CN" sz="17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 xml:space="preserve"> </m:t>
                              </m:r>
                              <m:r>
                                <a:rPr lang="zh-CN" sz="17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dx</m:t>
                              </m:r>
                              <m:r>
                                <a:rPr lang="zh-CN" sz="17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 xml:space="preserve"> </m:t>
                              </m:r>
                              <m:r>
                                <a:rPr lang="zh-CN" sz="17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dy</m:t>
                              </m:r>
                            </m:e>
                          </m:nary>
                        </m:e>
                      </m:nary>
                    </m:oMath>
                  </m:oMathPara>
                </a14:m>
              </a:p>
            </p:txBody>
          </p:sp>
        </mc:Choice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formula240"/>
              <p:cNvSpPr txBox="1">
                <a:spLocks noGrp="1"/>
              </p:cNvSpPr>
              <p:nvPr/>
            </p:nvSpPr>
            <p:spPr>
              <a:xfrm>
                <a:off x="533400" y="2306955"/>
                <a:ext cx="5410200" cy="56959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eqArr>
                        <m:eqArrPr>
                          <m:baseJc m:val="center"/>
                        </m:eqArrPr>
                        <m:e>
                          <m: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f</m:t>
                          </m:r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7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a:rPr lang="zh-CN" sz="17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x</m:t>
                              </m:r>
                              <m:r>
                                <m:rPr>
                                  <m:sty m:val="p"/>
                                </m:rPr>
                                <a:rPr lang="zh-CN" sz="17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,</m:t>
                              </m:r>
                              <m:r>
                                <a:rPr lang="zh-CN" sz="17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y</m:t>
                              </m:r>
                            </m:e>
                          </m:d>
                          <m:r>
                            <m:rPr>
                              <m:sty m:val="p"/>
                            </m:rP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=</m:t>
                          </m:r>
                          <m: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 xml:space="preserve"> </m:t>
                          </m:r>
                          <m: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&amp;</m:t>
                          </m:r>
                          <m:func>
                            <m:funcPr/>
                            <m:fName>
                              <m:r>
                                <m:rPr>
                                  <m:sty m:val="p"/>
                                </m:rPr>
                                <a:rPr lang="zh-CN" sz="17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exp</m:t>
                              </m:r>
                            </m:fName>
                            <m:e>
                              <m:d>
                                <m:dPr>
                                  <m:begChr m:val="{"/>
                                  <m:sepChr m:val=""/>
                                  <m:endChr m:val="}"/>
                                  <m:grow m:val="on"/>
                                  <m:ctrlPr>
                                    <a:rPr lang="zh-CN" sz="17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sty m:val="p"/>
                                    </m:rPr>
                                    <a:rPr lang="zh-CN" sz="17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−</m:t>
                                  </m:r>
                                  <m:r>
                                    <a:rPr lang="zh-CN" sz="17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45</m:t>
                                  </m:r>
                                  <m:sSup>
                                    <m:e>
                                      <m:d>
                                        <m:dPr>
                                          <m:begChr m:val="("/>
                                          <m:sepChr m:val=""/>
                                          <m:endChr m:val=")"/>
                                          <m:grow m:val="on"/>
                                          <m:ctrlPr>
                                            <a:rPr lang="zh-CN" sz="172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zh-CN" sz="172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x</m:t>
                                          </m:r>
                                          <m:r>
                                            <m:rPr>
                                              <m:sty m:val="p"/>
                                            </m:rPr>
                                            <a:rPr lang="zh-CN" sz="172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+</m:t>
                                          </m:r>
                                          <m:r>
                                            <a:rPr lang="zh-CN" sz="172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0.4</m:t>
                                          </m:r>
                                        </m:e>
                                      </m:d>
                                    </m:e>
                                    <m:sup>
                                      <m:r>
                                        <a:rPr lang="zh-CN" sz="172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2</m:t>
                                      </m:r>
                                    </m:sup>
                                  </m:sSup>
                                  <m:r>
                                    <m:rPr>
                                      <m:sty m:val="p"/>
                                    </m:rPr>
                                    <a:rPr lang="zh-CN" sz="17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−</m:t>
                                  </m:r>
                                  <m:r>
                                    <a:rPr lang="zh-CN" sz="17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60</m:t>
                                  </m:r>
                                  <m:sSup>
                                    <m:e>
                                      <m:d>
                                        <m:dPr>
                                          <m:begChr m:val="("/>
                                          <m:sepChr m:val=""/>
                                          <m:endChr m:val=")"/>
                                          <m:grow m:val="on"/>
                                          <m:ctrlPr>
                                            <a:rPr lang="zh-CN" sz="172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zh-CN" sz="172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y</m:t>
                                          </m:r>
                                          <m:r>
                                            <m:rPr>
                                              <m:sty m:val="p"/>
                                            </m:rPr>
                                            <a:rPr lang="zh-CN" sz="172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−</m:t>
                                          </m:r>
                                          <m:r>
                                            <a:rPr lang="zh-CN" sz="172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0.5</m:t>
                                          </m:r>
                                        </m:e>
                                      </m:d>
                                    </m:e>
                                    <m:sup>
                                      <m:r>
                                        <a:rPr lang="zh-CN" sz="172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d>
                            </m:e>
                          </m:func>
                        </m:e>
                        <m:e>
                          <m: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&amp;</m:t>
                          </m:r>
                          <m:r>
                            <m:rPr>
                              <m:sty m:val="p"/>
                            </m:rP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+</m:t>
                          </m:r>
                          <m: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0.5</m:t>
                          </m:r>
                          <m:func>
                            <m:funcPr/>
                            <m:fName>
                              <m:r>
                                <m:rPr>
                                  <m:sty m:val="p"/>
                                </m:rPr>
                                <a:rPr lang="zh-CN" sz="17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exp</m:t>
                              </m:r>
                            </m:fName>
                            <m:e>
                              <m:d>
                                <m:dPr>
                                  <m:begChr m:val="{"/>
                                  <m:sepChr m:val=""/>
                                  <m:endChr m:val="}"/>
                                  <m:grow m:val="on"/>
                                  <m:ctrlPr>
                                    <a:rPr lang="zh-CN" sz="17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sty m:val="p"/>
                                    </m:rPr>
                                    <a:rPr lang="zh-CN" sz="17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−</m:t>
                                  </m:r>
                                  <m:r>
                                    <a:rPr lang="zh-CN" sz="17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90</m:t>
                                  </m:r>
                                  <m:sSup>
                                    <m:e>
                                      <m:d>
                                        <m:dPr>
                                          <m:begChr m:val="("/>
                                          <m:sepChr m:val=""/>
                                          <m:endChr m:val=")"/>
                                          <m:grow m:val="on"/>
                                          <m:ctrlPr>
                                            <a:rPr lang="zh-CN" sz="172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zh-CN" sz="172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x</m:t>
                                          </m:r>
                                          <m:r>
                                            <m:rPr>
                                              <m:sty m:val="p"/>
                                            </m:rPr>
                                            <a:rPr lang="zh-CN" sz="172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−</m:t>
                                          </m:r>
                                          <m:r>
                                            <a:rPr lang="zh-CN" sz="172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0.5</m:t>
                                          </m:r>
                                        </m:e>
                                      </m:d>
                                    </m:e>
                                    <m:sup>
                                      <m:r>
                                        <a:rPr lang="zh-CN" sz="172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2</m:t>
                                      </m:r>
                                    </m:sup>
                                  </m:sSup>
                                  <m:r>
                                    <m:rPr>
                                      <m:sty m:val="p"/>
                                    </m:rPr>
                                    <a:rPr lang="zh-CN" sz="17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−</m:t>
                                  </m:r>
                                  <m:r>
                                    <a:rPr lang="zh-CN" sz="17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45</m:t>
                                  </m:r>
                                  <m:sSup>
                                    <m:e>
                                      <m:d>
                                        <m:dPr>
                                          <m:begChr m:val="("/>
                                          <m:sepChr m:val=""/>
                                          <m:endChr m:val=")"/>
                                          <m:grow m:val="on"/>
                                          <m:ctrlPr>
                                            <a:rPr lang="zh-CN" sz="172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zh-CN" sz="172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y</m:t>
                                          </m:r>
                                          <m:r>
                                            <m:rPr>
                                              <m:sty m:val="p"/>
                                            </m:rPr>
                                            <a:rPr lang="zh-CN" sz="172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+</m:t>
                                          </m:r>
                                          <m:r>
                                            <a:rPr lang="zh-CN" sz="172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0.1</m:t>
                                          </m:r>
                                        </m:e>
                                      </m:d>
                                    </m:e>
                                    <m:sup>
                                      <m:r>
                                        <a:rPr lang="zh-CN" sz="172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4</m:t>
                                      </m:r>
                                    </m:sup>
                                  </m:sSup>
                                </m:e>
                              </m:d>
                            </m:e>
                          </m:func>
                        </m:e>
                      </m:eqArr>
                    </m:oMath>
                  </m:oMathPara>
                </a14:m>
              </a:p>
            </p:txBody>
          </p:sp>
        </mc:Choice>
      </mc:AlternateContent>
      <p:grpSp>
        <p:nvGrpSpPr>
          <p:cNvPr id="10" name="c1-text-3"/>
          <p:cNvGrpSpPr/>
          <p:nvPr/>
        </p:nvGrpSpPr>
        <p:grpSpPr>
          <a:xfrm>
            <a:off x="526542" y="3068955"/>
            <a:ext cx="5071491" cy="529780"/>
            <a:chOff x="526542" y="3068955"/>
            <a:chExt cx="5071491" cy="529780"/>
          </a:xfrm>
        </p:grpSpPr>
        <p:sp>
          <p:nvSpPr>
            <p:cNvPr id="9" name="TextBox 9"/>
            <p:cNvSpPr txBox="1"/>
            <p:nvPr/>
          </p:nvSpPr>
          <p:spPr>
            <a:xfrm>
              <a:off x="526542" y="3068955"/>
              <a:ext cx="5071491" cy="5297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92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 只在 (−0.4, 0.5) 和 (0.5, −0.1) 附近明显大于 0，均匀抽样时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大部分点落在 f ≈ 0 的地方。</a:t>
              </a:r>
            </a:p>
          </p:txBody>
        </p:sp>
      </p:grpSp>
      <p:grpSp>
        <p:nvGrpSpPr>
          <p:cNvPr id="12" name="c1-text-4"/>
          <p:cNvGrpSpPr/>
          <p:nvPr/>
        </p:nvGrpSpPr>
        <p:grpSpPr>
          <a:xfrm>
            <a:off x="526542" y="3737610"/>
            <a:ext cx="5088636" cy="529780"/>
            <a:chOff x="526542" y="3737610"/>
            <a:chExt cx="5088636" cy="529780"/>
          </a:xfrm>
        </p:grpSpPr>
        <p:sp>
          <p:nvSpPr>
            <p:cNvPr id="11" name="TextBox 11"/>
            <p:cNvSpPr txBox="1"/>
            <p:nvPr/>
          </p:nvSpPr>
          <p:spPr>
            <a:xfrm>
              <a:off x="526542" y="3737610"/>
              <a:ext cx="5088636" cy="5297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92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解：把第二项里的 (y + 0.1)⁴ 换成可以直接抽样的二次项，取试投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密度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formula241"/>
              <p:cNvSpPr txBox="1">
                <a:spLocks noGrp="1"/>
              </p:cNvSpPr>
              <p:nvPr/>
            </p:nvSpPr>
            <p:spPr>
              <a:xfrm>
                <a:off x="533400" y="4384358"/>
                <a:ext cx="5410200" cy="56959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eqArr>
                        <m:eqArrPr>
                          <m:baseJc m:val="center"/>
                        </m:eqArrPr>
                        <m:e>
                          <m:acc>
                            <m:accPr>
                              <m:chr m:val="˜"/>
                              <m:ctrlPr>
                                <a:rPr lang="zh-CN" sz="17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accPr>
                            <m:e>
                              <m:r>
                                <a:rPr lang="zh-CN" sz="17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g</m:t>
                              </m:r>
                            </m:e>
                          </m:acc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7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a:rPr lang="zh-CN" sz="17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x</m:t>
                              </m:r>
                              <m:r>
                                <m:rPr>
                                  <m:sty m:val="p"/>
                                </m:rPr>
                                <a:rPr lang="zh-CN" sz="17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,</m:t>
                              </m:r>
                              <m:r>
                                <a:rPr lang="zh-CN" sz="17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y</m:t>
                              </m:r>
                            </m:e>
                          </m:d>
                          <m:r>
                            <m:rPr>
                              <m:sty m:val="p"/>
                            </m:rP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=</m:t>
                          </m:r>
                          <m: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 xml:space="preserve"> </m:t>
                          </m:r>
                          <m: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&amp;</m:t>
                          </m:r>
                          <m:func>
                            <m:funcPr/>
                            <m:fName>
                              <m:r>
                                <m:rPr>
                                  <m:sty m:val="p"/>
                                </m:rPr>
                                <a:rPr lang="zh-CN" sz="17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exp</m:t>
                              </m:r>
                            </m:fName>
                            <m:e>
                              <m:d>
                                <m:dPr>
                                  <m:begChr m:val="{"/>
                                  <m:sepChr m:val=""/>
                                  <m:endChr m:val="}"/>
                                  <m:grow m:val="on"/>
                                  <m:ctrlPr>
                                    <a:rPr lang="zh-CN" sz="17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sty m:val="p"/>
                                    </m:rPr>
                                    <a:rPr lang="zh-CN" sz="17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−</m:t>
                                  </m:r>
                                  <m:r>
                                    <a:rPr lang="zh-CN" sz="17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45</m:t>
                                  </m:r>
                                  <m:sSup>
                                    <m:e>
                                      <m:d>
                                        <m:dPr>
                                          <m:begChr m:val="("/>
                                          <m:sepChr m:val=""/>
                                          <m:endChr m:val=")"/>
                                          <m:grow m:val="on"/>
                                          <m:ctrlPr>
                                            <a:rPr lang="zh-CN" sz="172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zh-CN" sz="172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x</m:t>
                                          </m:r>
                                          <m:r>
                                            <m:rPr>
                                              <m:sty m:val="p"/>
                                            </m:rPr>
                                            <a:rPr lang="zh-CN" sz="172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+</m:t>
                                          </m:r>
                                          <m:r>
                                            <a:rPr lang="zh-CN" sz="172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0.4</m:t>
                                          </m:r>
                                        </m:e>
                                      </m:d>
                                    </m:e>
                                    <m:sup>
                                      <m:r>
                                        <a:rPr lang="zh-CN" sz="172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2</m:t>
                                      </m:r>
                                    </m:sup>
                                  </m:sSup>
                                  <m:r>
                                    <m:rPr>
                                      <m:sty m:val="p"/>
                                    </m:rPr>
                                    <a:rPr lang="zh-CN" sz="17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−</m:t>
                                  </m:r>
                                  <m:r>
                                    <a:rPr lang="zh-CN" sz="17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60</m:t>
                                  </m:r>
                                  <m:sSup>
                                    <m:e>
                                      <m:d>
                                        <m:dPr>
                                          <m:begChr m:val="("/>
                                          <m:sepChr m:val=""/>
                                          <m:endChr m:val=")"/>
                                          <m:grow m:val="on"/>
                                          <m:ctrlPr>
                                            <a:rPr lang="zh-CN" sz="172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zh-CN" sz="172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y</m:t>
                                          </m:r>
                                          <m:r>
                                            <m:rPr>
                                              <m:sty m:val="p"/>
                                            </m:rPr>
                                            <a:rPr lang="zh-CN" sz="172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−</m:t>
                                          </m:r>
                                          <m:r>
                                            <a:rPr lang="zh-CN" sz="172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0.5</m:t>
                                          </m:r>
                                        </m:e>
                                      </m:d>
                                    </m:e>
                                    <m:sup>
                                      <m:r>
                                        <a:rPr lang="zh-CN" sz="172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d>
                            </m:e>
                          </m:func>
                        </m:e>
                        <m:e>
                          <m: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&amp;</m:t>
                          </m:r>
                          <m:r>
                            <m:rPr>
                              <m:sty m:val="p"/>
                            </m:rP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+</m:t>
                          </m:r>
                          <m: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0.5</m:t>
                          </m:r>
                          <m:func>
                            <m:funcPr/>
                            <m:fName>
                              <m:r>
                                <m:rPr>
                                  <m:sty m:val="p"/>
                                </m:rPr>
                                <a:rPr lang="zh-CN" sz="17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exp</m:t>
                              </m:r>
                            </m:fName>
                            <m:e>
                              <m:d>
                                <m:dPr>
                                  <m:begChr m:val="{"/>
                                  <m:sepChr m:val=""/>
                                  <m:endChr m:val="}"/>
                                  <m:grow m:val="on"/>
                                  <m:ctrlPr>
                                    <a:rPr lang="zh-CN" sz="17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sty m:val="p"/>
                                    </m:rPr>
                                    <a:rPr lang="zh-CN" sz="17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−</m:t>
                                  </m:r>
                                  <m:r>
                                    <a:rPr lang="zh-CN" sz="17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90</m:t>
                                  </m:r>
                                  <m:sSup>
                                    <m:e>
                                      <m:d>
                                        <m:dPr>
                                          <m:begChr m:val="("/>
                                          <m:sepChr m:val=""/>
                                          <m:endChr m:val=")"/>
                                          <m:grow m:val="on"/>
                                          <m:ctrlPr>
                                            <a:rPr lang="zh-CN" sz="172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zh-CN" sz="172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x</m:t>
                                          </m:r>
                                          <m:r>
                                            <m:rPr>
                                              <m:sty m:val="p"/>
                                            </m:rPr>
                                            <a:rPr lang="zh-CN" sz="172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−</m:t>
                                          </m:r>
                                          <m:r>
                                            <a:rPr lang="zh-CN" sz="172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0.5</m:t>
                                          </m:r>
                                        </m:e>
                                      </m:d>
                                    </m:e>
                                    <m:sup>
                                      <m:r>
                                        <a:rPr lang="zh-CN" sz="172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2</m:t>
                                      </m:r>
                                    </m:sup>
                                  </m:sSup>
                                  <m:r>
                                    <m:rPr>
                                      <m:sty m:val="p"/>
                                    </m:rPr>
                                    <a:rPr lang="zh-CN" sz="17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−</m:t>
                                  </m:r>
                                  <m:r>
                                    <a:rPr lang="zh-CN" sz="17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10</m:t>
                                  </m:r>
                                  <m:sSup>
                                    <m:e>
                                      <m:d>
                                        <m:dPr>
                                          <m:begChr m:val="("/>
                                          <m:sepChr m:val=""/>
                                          <m:endChr m:val=")"/>
                                          <m:grow m:val="on"/>
                                          <m:ctrlPr>
                                            <a:rPr lang="zh-CN" sz="172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zh-CN" sz="172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y</m:t>
                                          </m:r>
                                          <m:r>
                                            <m:rPr>
                                              <m:sty m:val="p"/>
                                            </m:rPr>
                                            <a:rPr lang="zh-CN" sz="172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+</m:t>
                                          </m:r>
                                          <m:r>
                                            <a:rPr lang="zh-CN" sz="172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0.1</m:t>
                                          </m:r>
                                        </m:e>
                                      </m:d>
                                    </m:e>
                                    <m:sup>
                                      <m:r>
                                        <a:rPr lang="zh-CN" sz="172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d>
                            </m:e>
                          </m:func>
                        </m:e>
                      </m:eqArr>
                    </m:oMath>
                  </m:oMathPara>
                </a14:m>
              </a:p>
            </p:txBody>
          </p:sp>
        </mc:Choice>
      </mc:AlternateContent>
      <p:grpSp>
        <p:nvGrpSpPr>
          <p:cNvPr id="15" name="c1-text-6"/>
          <p:cNvGrpSpPr/>
          <p:nvPr/>
        </p:nvGrpSpPr>
        <p:grpSpPr>
          <a:xfrm>
            <a:off x="527685" y="5143024"/>
            <a:ext cx="2016730" cy="220028"/>
            <a:chOff x="527685" y="5143024"/>
            <a:chExt cx="2016730" cy="220028"/>
          </a:xfrm>
        </p:grpSpPr>
        <p:sp>
          <p:nvSpPr>
            <p:cNvPr id="14" name="TextBox 14"/>
            <p:cNvSpPr txBox="1"/>
            <p:nvPr/>
          </p:nvSpPr>
          <p:spPr>
            <a:xfrm>
              <a:off x="527685" y="5143024"/>
              <a:ext cx="201673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这里 −∞ &lt; x &lt; ∞，−∞ &lt; y &lt; ∞。</a:t>
              </a:r>
            </a:p>
          </p:txBody>
        </p:sp>
      </p:grpSp>
      <p:grpSp>
        <p:nvGrpSpPr>
          <p:cNvPr id="17" name="c2-text-1"/>
          <p:cNvGrpSpPr/>
          <p:nvPr/>
        </p:nvGrpSpPr>
        <p:grpSpPr>
          <a:xfrm>
            <a:off x="6241542" y="1545907"/>
            <a:ext cx="4702874" cy="529780"/>
            <a:chOff x="6241542" y="1545907"/>
            <a:chExt cx="4702874" cy="529780"/>
          </a:xfrm>
        </p:grpSpPr>
        <p:sp>
          <p:nvSpPr>
            <p:cNvPr id="16" name="TextBox 16"/>
            <p:cNvSpPr txBox="1"/>
            <p:nvPr/>
          </p:nvSpPr>
          <p:spPr>
            <a:xfrm>
              <a:off x="6241542" y="1545907"/>
              <a:ext cx="4702874" cy="5297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92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记 N(μ, σ²) 的密度为 f(x; μ, σ²)。由 exp{−a(x − μ)²} = √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(π/a)·f(x; μ, 1/(2a))，对 g 的非归一化形式积分得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8" name="formula242"/>
              <p:cNvSpPr txBox="1">
                <a:spLocks noGrp="1"/>
              </p:cNvSpPr>
              <p:nvPr/>
            </p:nvSpPr>
            <p:spPr>
              <a:xfrm>
                <a:off x="6248400" y="2192655"/>
                <a:ext cx="5410200" cy="7334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eqArr>
                        <m:eqArrPr>
                          <m:baseJc m:val="center"/>
                        </m:eqArrPr>
                        <m:e>
                          <m:nary>
                            <m:naryPr>
                              <m:chr m:val="∬"/>
                              <m:limLoc m:val="subSup"/>
                              <m:grow m:val="off"/>
                              <m:subHide m:val="on"/>
                              <m:supHide m:val="on"/>
                              <m:ctrlP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naryPr>
                            <m:sub/>
                            <m:sup/>
                            <m:e>
                              <m:acc>
                                <m:accPr>
                                  <m:chr m:val="˜"/>
                                  <m:ctrlPr>
                                    <a:rPr lang="zh-CN" sz="15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accPr>
                                <m:e>
                                  <m:r>
                                    <a:rPr lang="zh-CN" sz="15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g</m:t>
                                  </m:r>
                                </m:e>
                              </m:acc>
                              <m: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 xml:space="preserve"> </m:t>
                              </m:r>
                              <m: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dx</m:t>
                              </m:r>
                              <m: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 xml:space="preserve"> </m:t>
                              </m:r>
                              <m: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dy</m:t>
                              </m:r>
                            </m:e>
                          </m:nary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&amp;</m:t>
                          </m:r>
                          <m:r>
                            <m:rPr>
                              <m:sty m:val="p"/>
                            </m:rP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=</m:t>
                          </m:r>
                          <m:rad>
                            <m:radPr>
                              <m:degHide m:val="on"/>
                              <m:ctrlP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radPr>
                            <m:deg/>
                            <m:e>
                              <m: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2π</m:t>
                              </m:r>
                              <m:r>
                                <m:rPr>
                                  <m:sty m:val="p"/>
                                </m:rP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/</m:t>
                              </m:r>
                              <m: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90</m:t>
                              </m:r>
                            </m:e>
                          </m:rad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 xml:space="preserve"> </m:t>
                          </m:r>
                          <m:rad>
                            <m:radPr>
                              <m:degHide m:val="on"/>
                              <m:ctrlP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radPr>
                            <m:deg/>
                            <m:e>
                              <m: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2π</m:t>
                              </m:r>
                              <m:r>
                                <m:rPr>
                                  <m:sty m:val="p"/>
                                </m:rP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/</m:t>
                              </m:r>
                              <m: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120</m:t>
                              </m:r>
                            </m:e>
                          </m:rad>
                          <m:r>
                            <m:rPr>
                              <m:sty m:val="p"/>
                            </m:rP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+</m:t>
                          </m:r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0.5</m:t>
                          </m:r>
                          <m:rad>
                            <m:radPr>
                              <m:degHide m:val="on"/>
                              <m:ctrlP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radPr>
                            <m:deg/>
                            <m:e>
                              <m: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2π</m:t>
                              </m:r>
                              <m:r>
                                <m:rPr>
                                  <m:sty m:val="p"/>
                                </m:rP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/</m:t>
                              </m:r>
                              <m: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180</m:t>
                              </m:r>
                            </m:e>
                          </m:rad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 xml:space="preserve"> </m:t>
                          </m:r>
                          <m:rad>
                            <m:radPr>
                              <m:degHide m:val="on"/>
                              <m:ctrlP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radPr>
                            <m:deg/>
                            <m:e>
                              <m: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2π</m:t>
                              </m:r>
                              <m:r>
                                <m:rPr>
                                  <m:sty m:val="p"/>
                                </m:rP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/</m:t>
                              </m:r>
                              <m: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20</m:t>
                              </m:r>
                            </m:e>
                          </m:rad>
                        </m:e>
                        <m:e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&amp;</m:t>
                          </m:r>
                          <m:r>
                            <m:rPr>
                              <m:sty m:val="p"/>
                            </m:rP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≈</m:t>
                          </m:r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0.1128199</m:t>
                          </m:r>
                        </m:e>
                      </m:eqArr>
                    </m:oMath>
                  </m:oMathPara>
                </a14:m>
              </a:p>
            </p:txBody>
          </p:sp>
        </mc:Choice>
      </mc:AlternateContent>
      <p:grpSp>
        <p:nvGrpSpPr>
          <p:cNvPr id="20" name="c2-text-3"/>
          <p:cNvGrpSpPr/>
          <p:nvPr/>
        </p:nvGrpSpPr>
        <p:grpSpPr>
          <a:xfrm>
            <a:off x="6241542" y="3118485"/>
            <a:ext cx="5356784" cy="264033"/>
            <a:chOff x="6241542" y="3118485"/>
            <a:chExt cx="5356784" cy="264033"/>
          </a:xfrm>
        </p:grpSpPr>
        <p:sp>
          <p:nvSpPr>
            <p:cNvPr id="19" name="TextBox 19"/>
            <p:cNvSpPr txBox="1"/>
            <p:nvPr/>
          </p:nvSpPr>
          <p:spPr>
            <a:xfrm>
              <a:off x="6241542" y="3118485"/>
              <a:ext cx="535678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除以 0.1128199 得到试投密度 g，它是两个二元正态乘积的混合：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21" name="formula243"/>
              <p:cNvSpPr txBox="1">
                <a:spLocks noGrp="1"/>
              </p:cNvSpPr>
              <p:nvPr/>
            </p:nvSpPr>
            <p:spPr>
              <a:xfrm>
                <a:off x="6248400" y="3499485"/>
                <a:ext cx="5410200" cy="47053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eqArr>
                        <m:eqArrPr>
                          <m:baseJc m:val="center"/>
                        </m:eqArrPr>
                        <m:e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g</m:t>
                          </m:r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x</m:t>
                              </m:r>
                              <m:r>
                                <m:rPr>
                                  <m:sty m:val="p"/>
                                </m:rP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,</m:t>
                              </m:r>
                              <m: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y</m:t>
                              </m:r>
                            </m:e>
                          </m:d>
                          <m:r>
                            <m:rPr>
                              <m:sty m:val="p"/>
                            </m:rP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=</m:t>
                          </m:r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 xml:space="preserve"> </m:t>
                          </m:r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&amp;</m:t>
                          </m:r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0.5358984</m:t>
                          </m:r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 xml:space="preserve"> </m:t>
                          </m:r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f</m:t>
                          </m:r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x</m:t>
                              </m:r>
                              <m:r>
                                <m:rPr>
                                  <m:sty m:val="p"/>
                                </m:rP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;−</m:t>
                              </m:r>
                              <m: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0.4</m:t>
                              </m:r>
                              <m:r>
                                <m:rPr>
                                  <m:sty m:val="p"/>
                                </m:rP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,</m:t>
                              </m:r>
                              <m: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9</m:t>
                              </m:r>
                              <m:sSup>
                                <m:e>
                                  <m:r>
                                    <a:rPr lang="zh-CN" sz="14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0</m:t>
                                  </m:r>
                                </m:e>
                                <m:sup>
                                  <m:r>
                                    <m:rPr>
                                      <m:sty m:val="p"/>
                                    </m:rPr>
                                    <a:rPr lang="zh-CN" sz="14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−</m:t>
                                  </m:r>
                                  <m:r>
                                    <a:rPr lang="zh-CN" sz="14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1</m:t>
                                  </m:r>
                                </m:sup>
                              </m:sSup>
                            </m:e>
                          </m:d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 xml:space="preserve"> </m:t>
                          </m:r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f</m:t>
                          </m:r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y</m:t>
                              </m:r>
                              <m:r>
                                <m:rPr>
                                  <m:sty m:val="p"/>
                                </m:rP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;</m:t>
                              </m:r>
                              <m: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0.5</m:t>
                              </m:r>
                              <m:r>
                                <m:rPr>
                                  <m:sty m:val="p"/>
                                </m:rP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,</m:t>
                              </m:r>
                              <m: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12</m:t>
                              </m:r>
                              <m:sSup>
                                <m:e>
                                  <m:r>
                                    <a:rPr lang="zh-CN" sz="14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0</m:t>
                                  </m:r>
                                </m:e>
                                <m:sup>
                                  <m:r>
                                    <m:rPr>
                                      <m:sty m:val="p"/>
                                    </m:rPr>
                                    <a:rPr lang="zh-CN" sz="14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−</m:t>
                                  </m:r>
                                  <m:r>
                                    <a:rPr lang="zh-CN" sz="14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1</m:t>
                                  </m:r>
                                </m:sup>
                              </m:sSup>
                            </m:e>
                          </m:d>
                        </m:e>
                        <m:e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&amp;</m:t>
                          </m:r>
                          <m:r>
                            <m:rPr>
                              <m:sty m:val="p"/>
                            </m:rP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+</m:t>
                          </m:r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0.4641016</m:t>
                          </m:r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 xml:space="preserve"> </m:t>
                          </m:r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f</m:t>
                          </m:r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x</m:t>
                              </m:r>
                              <m:r>
                                <m:rPr>
                                  <m:sty m:val="p"/>
                                </m:rP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;</m:t>
                              </m:r>
                              <m: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0.5</m:t>
                              </m:r>
                              <m:r>
                                <m:rPr>
                                  <m:sty m:val="p"/>
                                </m:rP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,</m:t>
                              </m:r>
                              <m: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18</m:t>
                              </m:r>
                              <m:sSup>
                                <m:e>
                                  <m:r>
                                    <a:rPr lang="zh-CN" sz="14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0</m:t>
                                  </m:r>
                                </m:e>
                                <m:sup>
                                  <m:r>
                                    <m:rPr>
                                      <m:sty m:val="p"/>
                                    </m:rPr>
                                    <a:rPr lang="zh-CN" sz="14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−</m:t>
                                  </m:r>
                                  <m:r>
                                    <a:rPr lang="zh-CN" sz="14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1</m:t>
                                  </m:r>
                                </m:sup>
                              </m:sSup>
                            </m:e>
                          </m:d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 xml:space="preserve"> </m:t>
                          </m:r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f</m:t>
                          </m:r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y</m:t>
                              </m:r>
                              <m:r>
                                <m:rPr>
                                  <m:sty m:val="p"/>
                                </m:rP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;−</m:t>
                              </m:r>
                              <m: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0.1</m:t>
                              </m:r>
                              <m:r>
                                <m:rPr>
                                  <m:sty m:val="p"/>
                                </m:rP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,</m:t>
                              </m:r>
                              <m: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2</m:t>
                              </m:r>
                              <m:sSup>
                                <m:e>
                                  <m:r>
                                    <a:rPr lang="zh-CN" sz="14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0</m:t>
                                  </m:r>
                                </m:e>
                                <m:sup>
                                  <m:r>
                                    <m:rPr>
                                      <m:sty m:val="p"/>
                                    </m:rPr>
                                    <a:rPr lang="zh-CN" sz="14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−</m:t>
                                  </m:r>
                                  <m:r>
                                    <a:rPr lang="zh-CN" sz="14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1</m:t>
                                  </m:r>
                                </m:sup>
                              </m:sSup>
                            </m:e>
                          </m:d>
                        </m:e>
                      </m:eqArr>
                    </m:oMath>
                  </m:oMathPara>
                </a14:m>
              </a:p>
            </p:txBody>
          </p:sp>
        </mc:Choice>
      </mc:AlternateContent>
      <p:grpSp>
        <p:nvGrpSpPr>
          <p:cNvPr id="28" name="c2-card-5"/>
          <p:cNvGrpSpPr/>
          <p:nvPr/>
        </p:nvGrpSpPr>
        <p:grpSpPr>
          <a:xfrm>
            <a:off x="6248400" y="4139565"/>
            <a:ext cx="5410200" cy="1743075"/>
            <a:chOff x="6248400" y="4139565"/>
            <a:chExt cx="5410200" cy="1743075"/>
          </a:xfrm>
        </p:grpSpPr>
        <p:sp>
          <p:nvSpPr>
            <p:cNvPr id="22" name="Rectangle 22"/>
            <p:cNvSpPr/>
            <p:nvPr/>
          </p:nvSpPr>
          <p:spPr>
            <a:xfrm>
              <a:off x="6248400" y="4139565"/>
              <a:ext cx="5410200" cy="1743075"/>
            </a:xfrm>
            <a:prstGeom prst="roundRect">
              <a:avLst>
                <a:gd name="adj" fmla="val 765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6257925" y="4272915"/>
              <a:ext cx="47625" cy="1476375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6473190" y="4326255"/>
              <a:ext cx="1827848" cy="238125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524155" y="4359116"/>
              <a:ext cx="172496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换成二次项之后权重仍然有界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466332" y="4671060"/>
              <a:ext cx="464286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两式第一项完全相同；第二项之比为 exp{10t² − 45t⁴}（t =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y + 0.1），在 t² = 1/9 处最大，值为 exp(5/9) ≈ 1.74。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466332" y="5228273"/>
              <a:ext cx="4565714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所以权重 f/g 不超过 1.74 × 0.1128 ≈ 0.20，不会出现少数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点权重极大的情况。</a:t>
              </a:r>
            </a:p>
          </p:txBody>
        </p:sp>
      </p:grpSp>
      <p:grpSp>
        <p:nvGrpSpPr>
          <p:cNvPr id="3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29" name="TextBox 29"/>
            <p:cNvSpPr txBox="1"/>
            <p:nvPr/>
          </p:nvSpPr>
          <p:spPr>
            <a:xfrm>
              <a:off x="528447" y="6581299"/>
              <a:ext cx="198882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统计计算 · 第3章 随机模拟（上）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725895" cy="909257"/>
            <a:chOff x="520446" y="342900"/>
            <a:chExt cx="6725895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847975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3583" y="407194"/>
              <a:ext cx="27476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第3章 随机模拟（上） · 3.3 重要抽样法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72589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例12.2 续：复合抽样法抽 g，再做重要抽样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0" name="c1-code-1"/>
          <p:cNvGrpSpPr/>
          <p:nvPr/>
        </p:nvGrpSpPr>
        <p:grpSpPr>
          <a:xfrm>
            <a:off x="533400" y="1524000"/>
            <a:ext cx="6059805" cy="2966085"/>
            <a:chOff x="533400" y="1524000"/>
            <a:chExt cx="6059805" cy="296608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6059805" cy="2966085"/>
            </a:xfrm>
            <a:prstGeom prst="roundRect">
              <a:avLst>
                <a:gd name="adj" fmla="val 3211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61797" y="1675924"/>
              <a:ext cx="143705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R：复合抽样 + 重要抽样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61416" y="1937385"/>
              <a:ext cx="5144643" cy="24799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92"/>
                </a:lnSpc>
              </a:pP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f &lt;- </a:t>
              </a:r>
              <a:r>
                <a:rPr lang="en-US" sz="1050" b="1" dirty="0">
                  <a:solidFill>
                    <a:srgbClr val="2E7D4F"/>
                  </a:solidFill>
                  <a:latin typeface="Consolas"/>
                  <a:ea typeface="Consolas"/>
                  <a:cs typeface="Consolas"/>
                </a:rPr>
                <a:t>function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(x, y) exp(-45*(x+0.4)^2 - 60*(y-0.5)^2) +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0.5 * exp(-90*(x-0.5)^2 - 45*(y+0.1)^4)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w1 &lt;- 0.5358984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g &lt;- </a:t>
              </a:r>
              <a:r>
                <a:rPr lang="en-US" sz="1050" b="1" dirty="0">
                  <a:solidFill>
                    <a:srgbClr val="2E7D4F"/>
                  </a:solidFill>
                  <a:latin typeface="Consolas"/>
                  <a:ea typeface="Consolas"/>
                  <a:cs typeface="Consolas"/>
                </a:rPr>
                <a:t>function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(x, y)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w1 * dnorm(x, -0.4, sqrt(1/90)) * dnorm(y, 0.5, sqrt(1/120)) +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(1 - w1) * dnorm(x, 0.5, sqrt(1/180)) * dnorm(y, -0.1, sqrt(1/20))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N &lt;- 10000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k &lt;- runif(N) &lt; w1                  </a:t>
              </a:r>
              <a:r>
                <a:rPr lang="zh-CN" sz="105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# 选混合分量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x &lt;- ifelse(k, rnorm(N, -0.4, sqrt(1/90)), rnorm(N, 0.5, sqrt(1/180)))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y &lt;- ifelse(k, rnorm(N, 0.5, sqrt(1/120)), rnorm(N, -0.1, sqrt(1/20)))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inside &lt;- abs(x) &lt;= 1 &amp; abs(y) &lt;= 1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eta &lt;- ifelse(inside, f(x, y) / g(x, y), 0)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c(mean(eta), sd(eta) / sqrt(N))</a:t>
              </a:r>
            </a:p>
          </p:txBody>
        </p:sp>
      </p:grpSp>
      <p:grpSp>
        <p:nvGrpSpPr>
          <p:cNvPr id="17" name="c1-callout-2"/>
          <p:cNvGrpSpPr/>
          <p:nvPr/>
        </p:nvGrpSpPr>
        <p:grpSpPr>
          <a:xfrm>
            <a:off x="533400" y="4670108"/>
            <a:ext cx="6059805" cy="756285"/>
            <a:chOff x="533400" y="4670108"/>
            <a:chExt cx="6059805" cy="756285"/>
          </a:xfrm>
        </p:grpSpPr>
        <p:sp>
          <p:nvSpPr>
            <p:cNvPr id="11" name="Rectangle 11"/>
            <p:cNvSpPr/>
            <p:nvPr/>
          </p:nvSpPr>
          <p:spPr>
            <a:xfrm>
              <a:off x="533400" y="4670108"/>
              <a:ext cx="6059805" cy="756285"/>
            </a:xfrm>
            <a:prstGeom prst="roundRect">
              <a:avLst>
                <a:gd name="adj" fmla="val 15113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15" name="Group 15"/>
            <p:cNvGrpSpPr/>
            <p:nvPr/>
          </p:nvGrpSpPr>
          <p:grpSpPr>
            <a:xfrm>
              <a:off x="726129" y="4944546"/>
              <a:ext cx="224134" cy="192560"/>
              <a:chOff x="726129" y="4944546"/>
              <a:chExt cx="224134" cy="192560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838200" y="5014913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726129" y="4944546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14" name="Freeform 14"/>
              <p:cNvSpPr/>
              <p:nvPr/>
            </p:nvSpPr>
            <p:spPr>
              <a:xfrm>
                <a:off x="838200" y="5092701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16" name="TextBox 16"/>
            <p:cNvSpPr txBox="1"/>
            <p:nvPr/>
          </p:nvSpPr>
          <p:spPr>
            <a:xfrm>
              <a:off x="1040511" y="4817269"/>
              <a:ext cx="5009896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g 定义在整个平面上，落在 [−1, 1]² 之外的点令 ηᵢ = 0，但仍</a:t>
              </a:r>
              <a:br/>
              <a:r>
                <a:rPr lang="zh-CN" sz="142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要计入分母 N。</a:t>
              </a:r>
            </a:p>
          </p:txBody>
        </p:sp>
      </p:grpSp>
      <p:grpSp>
        <p:nvGrpSpPr>
          <p:cNvPr id="31" name="c2-steps-1"/>
          <p:cNvGrpSpPr/>
          <p:nvPr/>
        </p:nvGrpSpPr>
        <p:grpSpPr>
          <a:xfrm>
            <a:off x="6898005" y="1533525"/>
            <a:ext cx="4524756" cy="2002536"/>
            <a:chOff x="6898005" y="1533525"/>
            <a:chExt cx="4524756" cy="2002536"/>
          </a:xfrm>
        </p:grpSpPr>
        <p:sp>
          <p:nvSpPr>
            <p:cNvPr id="18" name="Rectangle 18"/>
            <p:cNvSpPr/>
            <p:nvPr/>
          </p:nvSpPr>
          <p:spPr>
            <a:xfrm>
              <a:off x="7031355" y="1676400"/>
              <a:ext cx="19050" cy="145446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9" name="Ellipse 19"/>
            <p:cNvSpPr/>
            <p:nvPr/>
          </p:nvSpPr>
          <p:spPr>
            <a:xfrm>
              <a:off x="6898005" y="1533525"/>
              <a:ext cx="285750" cy="28575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991629" y="16073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1" name="Ellipse 21"/>
            <p:cNvSpPr/>
            <p:nvPr/>
          </p:nvSpPr>
          <p:spPr>
            <a:xfrm>
              <a:off x="6898005" y="2150745"/>
              <a:ext cx="285750" cy="28575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991629" y="222456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3" name="Ellipse 23"/>
            <p:cNvSpPr/>
            <p:nvPr/>
          </p:nvSpPr>
          <p:spPr>
            <a:xfrm>
              <a:off x="6898005" y="2987992"/>
              <a:ext cx="285750" cy="28575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991629" y="306181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309866" y="1566386"/>
              <a:ext cx="58795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选分量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311009" y="1846898"/>
              <a:ext cx="327538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以概率 0.5359 取第 1 个分量，否则取第 2 个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309866" y="2183606"/>
              <a:ext cx="97028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分量内抽样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311009" y="2464118"/>
              <a:ext cx="4111752" cy="4556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4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分量 1：x ~ N(−0.4, 1/90)，y ~ N(0.5, 1/120)；分量 2：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 ~ N(0.5, 1/180)，y ~ N(−0.1, 1/20)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309866" y="3020854"/>
              <a:ext cx="58795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求平均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311009" y="3301365"/>
              <a:ext cx="371616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ηᵢ = f(Xᵢ, Yᵢ)/g(Xᵢ, Yᵢ)，I 的估计取 ηᵢ 的平均</a:t>
              </a:r>
            </a:p>
          </p:txBody>
        </p:sp>
      </p:grpSp>
      <p:grpSp>
        <p:nvGrpSpPr>
          <p:cNvPr id="49" name="c2-table-2"/>
          <p:cNvGrpSpPr/>
          <p:nvPr/>
        </p:nvGrpSpPr>
        <p:grpSpPr>
          <a:xfrm>
            <a:off x="6892671" y="3707130"/>
            <a:ext cx="4765929" cy="1739837"/>
            <a:chOff x="6892671" y="3707130"/>
            <a:chExt cx="4765929" cy="1739837"/>
          </a:xfrm>
        </p:grpSpPr>
        <p:sp>
          <p:nvSpPr>
            <p:cNvPr id="32" name="Rectangle 32"/>
            <p:cNvSpPr/>
            <p:nvPr/>
          </p:nvSpPr>
          <p:spPr>
            <a:xfrm>
              <a:off x="6898005" y="3707130"/>
              <a:ext cx="4760595" cy="424815"/>
            </a:xfrm>
            <a:prstGeom prst="rect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00409" y="3835718"/>
              <a:ext cx="61258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N = 10⁴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9330880" y="3835718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估计值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0702480" y="3835718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标准误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000494" y="4260532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重要抽样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9018842" y="4260532"/>
              <a:ext cx="54528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0.1257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10252710" y="4141470"/>
              <a:ext cx="1396365" cy="405765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10345674" y="4260532"/>
              <a:ext cx="6341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0.00026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6898005" y="4551998"/>
              <a:ext cx="476059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1" name="Rectangle 41"/>
            <p:cNvSpPr/>
            <p:nvPr/>
          </p:nvSpPr>
          <p:spPr>
            <a:xfrm>
              <a:off x="6898005" y="4556760"/>
              <a:ext cx="4760595" cy="42481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7000494" y="4684395"/>
              <a:ext cx="13045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均匀抽样平均值法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9018842" y="4684395"/>
              <a:ext cx="54528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0.1239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0345674" y="4684395"/>
              <a:ext cx="54528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0.0042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6898005" y="3707130"/>
              <a:ext cx="4760595" cy="1273492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6" name="Rectangle 46"/>
            <p:cNvSpPr/>
            <p:nvPr/>
          </p:nvSpPr>
          <p:spPr>
            <a:xfrm>
              <a:off x="8911590" y="3707130"/>
              <a:ext cx="9525" cy="127349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7" name="Rectangle 47"/>
            <p:cNvSpPr/>
            <p:nvPr/>
          </p:nvSpPr>
          <p:spPr>
            <a:xfrm>
              <a:off x="10238422" y="3707130"/>
              <a:ext cx="9525" cy="127349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6892671" y="5054918"/>
              <a:ext cx="4224528" cy="3920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70"/>
                </a:lnSpc>
              </a:pPr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数值积分得真值 I ≈ 0.12584；原课件未给数值，这是按本页做法的一次</a:t>
              </a:r>
              <a:br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Python 模拟</a:t>
              </a:r>
            </a:p>
          </p:txBody>
        </p:sp>
      </p:grpSp>
      <p:grpSp>
        <p:nvGrpSpPr>
          <p:cNvPr id="55" name="c2-callout-3"/>
          <p:cNvGrpSpPr/>
          <p:nvPr/>
        </p:nvGrpSpPr>
        <p:grpSpPr>
          <a:xfrm>
            <a:off x="6898005" y="5586412"/>
            <a:ext cx="4760595" cy="756285"/>
            <a:chOff x="6898005" y="5586412"/>
            <a:chExt cx="4760595" cy="756285"/>
          </a:xfrm>
        </p:grpSpPr>
        <p:sp>
          <p:nvSpPr>
            <p:cNvPr id="50" name="Rectangle 50"/>
            <p:cNvSpPr/>
            <p:nvPr/>
          </p:nvSpPr>
          <p:spPr>
            <a:xfrm>
              <a:off x="6898005" y="5586412"/>
              <a:ext cx="4760595" cy="756285"/>
            </a:xfrm>
            <a:prstGeom prst="roundRect">
              <a:avLst>
                <a:gd name="adj" fmla="val 15113"/>
              </a:avLst>
            </a:prstGeom>
            <a:solidFill>
              <a:srgbClr val="2E7D4F"/>
            </a:solidFill>
            <a:ln>
              <a:noFill/>
            </a:ln>
          </p:spPr>
        </p:sp>
        <p:grpSp>
          <p:nvGrpSpPr>
            <p:cNvPr id="53" name="Group 53"/>
            <p:cNvGrpSpPr/>
            <p:nvPr/>
          </p:nvGrpSpPr>
          <p:grpSpPr>
            <a:xfrm>
              <a:off x="7102793" y="5864545"/>
              <a:ext cx="200023" cy="200023"/>
              <a:chOff x="7102793" y="5864545"/>
              <a:chExt cx="200023" cy="200023"/>
            </a:xfrm>
          </p:grpSpPr>
          <p:sp>
            <p:nvSpPr>
              <p:cNvPr id="51" name="Freeform 51"/>
              <p:cNvSpPr/>
              <p:nvPr/>
            </p:nvSpPr>
            <p:spPr>
              <a:xfrm>
                <a:off x="7102793" y="5864545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52" name="Freeform 52"/>
              <p:cNvSpPr/>
              <p:nvPr/>
            </p:nvSpPr>
            <p:spPr>
              <a:xfrm>
                <a:off x="7236143" y="593121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54" name="TextBox 54"/>
            <p:cNvSpPr txBox="1"/>
            <p:nvPr/>
          </p:nvSpPr>
          <p:spPr>
            <a:xfrm>
              <a:off x="7405116" y="5733574"/>
              <a:ext cx="3819652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每个样本的方差之比约 266：重要抽样 1 万个点</a:t>
              </a:r>
              <a:br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的精度，均匀抽样要约 266 万个点。</a:t>
              </a:r>
            </a:p>
          </p:txBody>
        </p:sp>
      </p:grpSp>
      <p:grpSp>
        <p:nvGrpSpPr>
          <p:cNvPr id="5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6" name="TextBox 56"/>
            <p:cNvSpPr txBox="1"/>
            <p:nvPr/>
          </p:nvSpPr>
          <p:spPr>
            <a:xfrm>
              <a:off x="528447" y="6581299"/>
              <a:ext cx="198882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统计计算 · 第3章 随机模拟（上）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2E7D4F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5F2EA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04</a:t>
              </a:r>
            </a:p>
          </p:txBody>
        </p:sp>
      </p:grpSp>
      <p:grpSp>
        <p:nvGrpSpPr>
          <p:cNvPr id="18" name="section-title"/>
          <p:cNvGrpSpPr/>
          <p:nvPr/>
        </p:nvGrpSpPr>
        <p:grpSpPr>
          <a:xfrm>
            <a:off x="667512" y="1835468"/>
            <a:ext cx="6057309" cy="3351847"/>
            <a:chOff x="667512" y="1835468"/>
            <a:chExt cx="6057309" cy="335184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第四部分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3452020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3.4 分层抽样法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604740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把积分区域切成几块，让每块里 h 变化不大，分块估计再相加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247878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例13.1：带跳变的被积函数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26403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分层估计与样本量的最优分配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24384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按离散随机变量分层求期望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23900" y="4951095"/>
              <a:ext cx="76200" cy="7620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06780" y="4893945"/>
              <a:ext cx="194367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例13.2：等分成 m 层</a:t>
              </a:r>
            </a:p>
          </p:txBody>
        </p:sp>
      </p:grpSp>
      <p:grpSp>
        <p:nvGrpSpPr>
          <p:cNvPr id="2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9" name="TextBox 19"/>
            <p:cNvSpPr txBox="1"/>
            <p:nvPr/>
          </p:nvSpPr>
          <p:spPr>
            <a:xfrm>
              <a:off x="528447" y="6581299"/>
              <a:ext cx="198882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统计计算 · 第3章 随机模拟（上）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548247" cy="909257"/>
            <a:chOff x="520446" y="342900"/>
            <a:chExt cx="654824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847975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3583" y="407194"/>
              <a:ext cx="27476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第3章 随机模拟（上） · 3.4 分层抽样法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54824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分层抽样：在每个子集上分别估计，再求和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3" name="c1-card-1"/>
          <p:cNvGrpSpPr/>
          <p:nvPr/>
        </p:nvGrpSpPr>
        <p:grpSpPr>
          <a:xfrm>
            <a:off x="533400" y="1524000"/>
            <a:ext cx="5842635" cy="2173605"/>
            <a:chOff x="533400" y="1524000"/>
            <a:chExt cx="5842635" cy="217360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842635" cy="2173605"/>
            </a:xfrm>
            <a:prstGeom prst="roundRect">
              <a:avLst>
                <a:gd name="adj" fmla="val 613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906905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81050" y="1733550"/>
              <a:ext cx="680085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65846" y="1769269"/>
              <a:ext cx="51049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例13.1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1" name="formula245"/>
                <p:cNvSpPr txBox="1">
                  <a:spLocks noGrp="1"/>
                </p:cNvSpPr>
                <p:nvPr/>
              </p:nvSpPr>
              <p:spPr>
                <a:xfrm>
                  <a:off x="781050" y="2085975"/>
                  <a:ext cx="5385435" cy="10477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I</m:t>
                        </m:r>
                        <m:r>
                          <m:rPr>
                            <m:sty m:val="p"/>
                          </m:rP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nary>
                          <m:naryPr>
                            <m:chr m:val="∫"/>
                            <m:limLoc m:val="subSup"/>
                            <m:grow m:val="off"/>
                            <m:subHide m:val="off"/>
                            <m:supHide m:val="off"/>
                            <m:ctrlP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naryPr>
                          <m:sub>
                            <m: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0</m:t>
                            </m:r>
                          </m:sub>
                          <m:sup>
                            <m: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sup>
                          <m:e>
                            <m: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h</m:t>
                            </m:r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</m:d>
                            <m: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 xml:space="preserve"> </m:t>
                            </m:r>
                            <m: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dx</m:t>
                            </m:r>
                          </m:e>
                        </m:nary>
                        <m:r>
                          <m:rPr>
                            <m:sty m:val="p"/>
                          </m:rP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,</m:t>
                        </m:r>
                        <m: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  </m:t>
                        </m:r>
                        <m: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h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d>
                          <m:dPr>
                            <m:begChr m:val="{"/>
                            <m:sepChr m:val=""/>
                            <m:endChr m:val=""/>
                            <m:grow m:val="on"/>
                            <m:ctrlP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eqArr>
                              <m:eqArrPr>
                                <m:baseJc m:val="center"/>
                              </m:eqArrPr>
                              <m:e>
                                <m: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&amp;</m:t>
                                </m:r>
                                <m: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+</m:t>
                                </m:r>
                                <m:f>
                                  <m:fPr>
                                    <m:type m:val="bar"/>
                                    <m:ctrlPr>
                                      <a:rPr lang="zh-CN" sz="15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fPr>
                                  <m:num>
                                    <m:r>
                                      <a:rPr lang="zh-CN" sz="15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x</m:t>
                                    </m:r>
                                  </m:num>
                                  <m:den>
                                    <m:r>
                                      <a:rPr lang="zh-CN" sz="15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10</m:t>
                                    </m:r>
                                  </m:den>
                                </m:f>
                                <m:r>
                                  <m:rPr>
                                    <m:sty m:val="p"/>
                                  </m:rP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,</m:t>
                                </m:r>
                                <m: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 xml:space="preserve"> </m:t>
                                </m:r>
                                <m: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0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≤</m:t>
                                </m:r>
                                <m: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≤</m:t>
                                </m:r>
                                <m: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0.5</m:t>
                                </m:r>
                              </m:e>
                              <m:e>
                                <m: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&amp;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</m:t>
                                </m:r>
                                <m: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+</m:t>
                                </m:r>
                                <m:f>
                                  <m:fPr>
                                    <m:type m:val="bar"/>
                                    <m:ctrlPr>
                                      <a:rPr lang="zh-CN" sz="15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fPr>
                                  <m:num>
                                    <m:r>
                                      <a:rPr lang="zh-CN" sz="15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x</m:t>
                                    </m:r>
                                  </m:num>
                                  <m:den>
                                    <m:r>
                                      <a:rPr lang="zh-CN" sz="15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10</m:t>
                                    </m:r>
                                  </m:den>
                                </m:f>
                                <m:r>
                                  <m:rPr>
                                    <m:sty m:val="p"/>
                                  </m:rP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,</m:t>
                                </m:r>
                                <m: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 xml:space="preserve"> </m:t>
                                </m:r>
                                <m: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0.5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&lt;</m:t>
                                </m:r>
                                <m: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≤</m:t>
                                </m:r>
                                <m: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e>
                            </m:eqArr>
                          </m:e>
                        </m:d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12" name="TextBox 12"/>
            <p:cNvSpPr txBox="1"/>
            <p:nvPr/>
          </p:nvSpPr>
          <p:spPr>
            <a:xfrm>
              <a:off x="773430" y="3253740"/>
              <a:ext cx="475945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精确值 I = 0.5 + 0.0125 − 0.5 + 0.0375 = 0.05。</a:t>
              </a:r>
            </a:p>
          </p:txBody>
        </p:sp>
      </p:grpSp>
      <p:grpSp>
        <p:nvGrpSpPr>
          <p:cNvPr id="38" name="c1-graph-2"/>
          <p:cNvGrpSpPr/>
          <p:nvPr/>
        </p:nvGrpSpPr>
        <p:grpSpPr>
          <a:xfrm>
            <a:off x="765810" y="3970020"/>
            <a:ext cx="5435917" cy="1503045"/>
            <a:chOff x="765810" y="3970020"/>
            <a:chExt cx="5435917" cy="1503045"/>
          </a:xfrm>
        </p:grpSpPr>
        <p:sp>
          <p:nvSpPr>
            <p:cNvPr id="14" name="Freeform 14"/>
            <p:cNvSpPr/>
            <p:nvPr/>
          </p:nvSpPr>
          <p:spPr>
            <a:xfrm>
              <a:off x="777240" y="4721542"/>
              <a:ext cx="5317808" cy="9525"/>
            </a:xfrm>
            <a:custGeom>
              <a:avLst/>
              <a:gdLst/>
              <a:ahLst/>
              <a:cxnLst/>
              <a:rect l="l" t="t" r="r" b="b"/>
              <a:pathLst>
                <a:path w="5317808" h="9525">
                  <a:moveTo>
                    <a:pt x="0" y="0"/>
                  </a:moveTo>
                  <a:lnTo>
                    <a:pt x="5317808" y="0"/>
                  </a:lnTo>
                </a:path>
              </a:pathLst>
            </a:custGeom>
            <a:noFill/>
            <a:ln w="17145">
              <a:solidFill>
                <a:srgbClr val="5B6475"/>
              </a:solidFill>
            </a:ln>
          </p:spPr>
        </p:sp>
        <p:sp>
          <p:nvSpPr>
            <p:cNvPr id="15" name="Freeform 15"/>
            <p:cNvSpPr/>
            <p:nvPr/>
          </p:nvSpPr>
          <p:spPr>
            <a:xfrm>
              <a:off x="6095048" y="4673918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6" name="Freeform 16"/>
            <p:cNvSpPr/>
            <p:nvPr/>
          </p:nvSpPr>
          <p:spPr>
            <a:xfrm>
              <a:off x="1234440" y="4077652"/>
              <a:ext cx="9525" cy="1383982"/>
            </a:xfrm>
            <a:custGeom>
              <a:avLst/>
              <a:gdLst/>
              <a:ahLst/>
              <a:cxnLst/>
              <a:rect l="l" t="t" r="r" b="b"/>
              <a:pathLst>
                <a:path w="9525" h="1383982">
                  <a:moveTo>
                    <a:pt x="0" y="1383982"/>
                  </a:move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5B6475"/>
              </a:solidFill>
            </a:ln>
          </p:spPr>
        </p:sp>
        <p:sp>
          <p:nvSpPr>
            <p:cNvPr id="17" name="Freeform 17"/>
            <p:cNvSpPr/>
            <p:nvPr/>
          </p:nvSpPr>
          <p:spPr>
            <a:xfrm>
              <a:off x="1186815" y="3982402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0"/>
                  </a:moveTo>
                  <a:lnTo>
                    <a:pt x="95250" y="95250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8" name="Freeform 18"/>
            <p:cNvSpPr/>
            <p:nvPr/>
          </p:nvSpPr>
          <p:spPr>
            <a:xfrm>
              <a:off x="1282065" y="4091940"/>
              <a:ext cx="2279332" cy="28575"/>
            </a:xfrm>
            <a:custGeom>
              <a:avLst/>
              <a:gdLst/>
              <a:ahLst/>
              <a:cxnLst/>
              <a:rect l="l" t="t" r="r" b="b"/>
              <a:pathLst>
                <a:path w="2279332" h="28575">
                  <a:moveTo>
                    <a:pt x="0" y="28575"/>
                  </a:moveTo>
                  <a:lnTo>
                    <a:pt x="2279332" y="0"/>
                  </a:lnTo>
                </a:path>
              </a:pathLst>
            </a:custGeom>
            <a:noFill/>
            <a:ln w="28575">
              <a:solidFill>
                <a:srgbClr val="2E7D4F"/>
              </a:solidFill>
            </a:ln>
          </p:spPr>
        </p:sp>
        <p:sp>
          <p:nvSpPr>
            <p:cNvPr id="19" name="Freeform 19"/>
            <p:cNvSpPr/>
            <p:nvPr/>
          </p:nvSpPr>
          <p:spPr>
            <a:xfrm>
              <a:off x="3582352" y="5262562"/>
              <a:ext cx="2279332" cy="28575"/>
            </a:xfrm>
            <a:custGeom>
              <a:avLst/>
              <a:gdLst/>
              <a:ahLst/>
              <a:cxnLst/>
              <a:rect l="l" t="t" r="r" b="b"/>
              <a:pathLst>
                <a:path w="2279332" h="28575">
                  <a:moveTo>
                    <a:pt x="0" y="28575"/>
                  </a:moveTo>
                  <a:lnTo>
                    <a:pt x="2279332" y="0"/>
                  </a:lnTo>
                </a:path>
              </a:pathLst>
            </a:custGeom>
            <a:noFill/>
            <a:ln w="28575">
              <a:solidFill>
                <a:srgbClr val="2E7D4F"/>
              </a:solidFill>
            </a:ln>
          </p:spPr>
        </p:sp>
        <p:sp>
          <p:nvSpPr>
            <p:cNvPr id="20" name="Freeform 20"/>
            <p:cNvSpPr/>
            <p:nvPr/>
          </p:nvSpPr>
          <p:spPr>
            <a:xfrm>
              <a:off x="3571875" y="4031932"/>
              <a:ext cx="9525" cy="1379220"/>
            </a:xfrm>
            <a:custGeom>
              <a:avLst/>
              <a:gdLst/>
              <a:ahLst/>
              <a:cxnLst/>
              <a:rect l="l" t="t" r="r" b="b"/>
              <a:pathLst>
                <a:path w="9525" h="1379220">
                  <a:moveTo>
                    <a:pt x="0" y="0"/>
                  </a:moveTo>
                  <a:lnTo>
                    <a:pt x="0" y="1379220"/>
                  </a:lnTo>
                </a:path>
              </a:pathLst>
            </a:custGeom>
            <a:noFill/>
            <a:ln w="15240">
              <a:solidFill>
                <a:srgbClr val="F26B3A"/>
              </a:solidFill>
              <a:custDash>
                <a:ds d="375000" sp="250000"/>
              </a:custDash>
            </a:ln>
          </p:spPr>
        </p:sp>
        <p:sp>
          <p:nvSpPr>
            <p:cNvPr id="21" name="Ellipse 21"/>
            <p:cNvSpPr/>
            <p:nvPr/>
          </p:nvSpPr>
          <p:spPr>
            <a:xfrm>
              <a:off x="765810" y="4720590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22" name="Ellipse 22"/>
            <p:cNvSpPr/>
            <p:nvPr/>
          </p:nvSpPr>
          <p:spPr>
            <a:xfrm>
              <a:off x="6199822" y="4720590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23" name="Ellipse 23"/>
            <p:cNvSpPr/>
            <p:nvPr/>
          </p:nvSpPr>
          <p:spPr>
            <a:xfrm>
              <a:off x="1233488" y="5471160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24" name="Ellipse 24"/>
            <p:cNvSpPr/>
            <p:nvPr/>
          </p:nvSpPr>
          <p:spPr>
            <a:xfrm>
              <a:off x="1233488" y="3970020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25" name="Ellipse 25"/>
            <p:cNvSpPr/>
            <p:nvPr/>
          </p:nvSpPr>
          <p:spPr>
            <a:xfrm>
              <a:off x="1196340" y="4083368"/>
              <a:ext cx="76200" cy="7620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26" name="Ellipse 26"/>
            <p:cNvSpPr/>
            <p:nvPr/>
          </p:nvSpPr>
          <p:spPr>
            <a:xfrm>
              <a:off x="3570922" y="4090988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27" name="Ellipse 27"/>
            <p:cNvSpPr/>
            <p:nvPr/>
          </p:nvSpPr>
          <p:spPr>
            <a:xfrm>
              <a:off x="3570922" y="5290185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28" name="Ellipse 28"/>
            <p:cNvSpPr/>
            <p:nvPr/>
          </p:nvSpPr>
          <p:spPr>
            <a:xfrm>
              <a:off x="5871210" y="5223510"/>
              <a:ext cx="76200" cy="7620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29" name="Ellipse 29"/>
            <p:cNvSpPr/>
            <p:nvPr/>
          </p:nvSpPr>
          <p:spPr>
            <a:xfrm>
              <a:off x="3570922" y="4020502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30" name="Ellipse 30"/>
            <p:cNvSpPr/>
            <p:nvPr/>
          </p:nvSpPr>
          <p:spPr>
            <a:xfrm>
              <a:off x="3570922" y="5420678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3683289" y="4741545"/>
              <a:ext cx="24389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0.5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5865104" y="4741545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956872" y="4741545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2088732" y="4200049"/>
              <a:ext cx="628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23613D"/>
                  </a:solidFill>
                  <a:latin typeface="+mn-lt"/>
                  <a:ea typeface="+mn-ea"/>
                  <a:cs typeface="+mn-cs"/>
                </a:rPr>
                <a:t>1 + x/10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4382631" y="4966811"/>
              <a:ext cx="7159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23613D"/>
                  </a:solidFill>
                  <a:latin typeface="+mn-lt"/>
                  <a:ea typeface="+mn-ea"/>
                  <a:cs typeface="+mn-cs"/>
                </a:rPr>
                <a:t>−1 + x/10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2217601" y="4441508"/>
              <a:ext cx="37111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第1层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4555036" y="4741545"/>
              <a:ext cx="37111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第2层</a:t>
              </a:r>
            </a:p>
          </p:txBody>
        </p:sp>
      </p:grpSp>
      <p:grpSp>
        <p:nvGrpSpPr>
          <p:cNvPr id="48" name="c2-bullets-1"/>
          <p:cNvGrpSpPr/>
          <p:nvPr/>
        </p:nvGrpSpPr>
        <p:grpSpPr>
          <a:xfrm>
            <a:off x="6680835" y="1535430"/>
            <a:ext cx="4556760" cy="996315"/>
            <a:chOff x="6680835" y="1535430"/>
            <a:chExt cx="4556760" cy="996315"/>
          </a:xfrm>
        </p:grpSpPr>
        <p:sp>
          <p:nvSpPr>
            <p:cNvPr id="39" name="Ellipse 39"/>
            <p:cNvSpPr/>
            <p:nvPr/>
          </p:nvSpPr>
          <p:spPr>
            <a:xfrm>
              <a:off x="6680835" y="1535430"/>
              <a:ext cx="213360" cy="21336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6742684" y="1577721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981825" y="1548765"/>
              <a:ext cx="369341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 C 上的积分分解为若干个子集上的积分</a:t>
              </a:r>
            </a:p>
          </p:txBody>
        </p:sp>
        <p:sp>
          <p:nvSpPr>
            <p:cNvPr id="42" name="Ellipse 42"/>
            <p:cNvSpPr/>
            <p:nvPr/>
          </p:nvSpPr>
          <p:spPr>
            <a:xfrm>
              <a:off x="6680835" y="1880235"/>
              <a:ext cx="213360" cy="21336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6742684" y="1922526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6981825" y="1893570"/>
              <a:ext cx="340766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划分时使 h(x) 在每个子集上变化不大</a:t>
              </a:r>
            </a:p>
          </p:txBody>
        </p:sp>
        <p:sp>
          <p:nvSpPr>
            <p:cNvPr id="45" name="Ellipse 45"/>
            <p:cNvSpPr/>
            <p:nvPr/>
          </p:nvSpPr>
          <p:spPr>
            <a:xfrm>
              <a:off x="6680835" y="2225040"/>
              <a:ext cx="213360" cy="21336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6742684" y="2267331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6981825" y="2238375"/>
              <a:ext cx="42557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分别计算各子集上的积分再求和，提高估计精度</a:t>
              </a:r>
            </a:p>
          </p:txBody>
        </p:sp>
      </p:grpSp>
      <p:grpSp>
        <p:nvGrpSpPr>
          <p:cNvPr id="51" name="c2-image-2"/>
          <p:cNvGrpSpPr/>
          <p:nvPr/>
        </p:nvGrpSpPr>
        <p:grpSpPr>
          <a:xfrm>
            <a:off x="6680835" y="2663190"/>
            <a:ext cx="4977765" cy="3724752"/>
            <a:chOff x="6680835" y="2663190"/>
            <a:chExt cx="4977765" cy="3724752"/>
          </a:xfrm>
        </p:grpSpPr>
        <p:pic>
          <p:nvPicPr>
            <p:cNvPr id="49" name="Image 49"/>
            <p:cNvPicPr>
              <a:picLocks noChangeAspect="1"/>
            </p:cNvPicPr>
            <p:nvPr/>
          </p:nvPicPr>
          <p:blipFill>
            <a:blip r:embed="rId2"/>
            <a:srcRect l="0" t="4331" r="0" b="4331"/>
            <a:stretch>
              <a:fillRect/>
            </a:stretch>
          </p:blipFill>
          <p:spPr>
            <a:xfrm>
              <a:off x="6680835" y="2663190"/>
              <a:ext cx="4977765" cy="3409950"/>
            </a:xfrm>
            <a:prstGeom prst="roundRect">
              <a:avLst>
                <a:gd name="adj" fmla="val 3910"/>
              </a:avLst>
            </a:prstGeom>
          </p:spPr>
        </p:pic>
        <p:sp>
          <p:nvSpPr>
            <p:cNvPr id="50" name="TextBox 50"/>
            <p:cNvSpPr txBox="1"/>
            <p:nvPr/>
          </p:nvSpPr>
          <p:spPr>
            <a:xfrm>
              <a:off x="7203935" y="6167914"/>
              <a:ext cx="393156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按层取样：每层都取到，层内差异小，合起来的估计更稳定</a:t>
              </a:r>
            </a:p>
          </p:txBody>
        </p:sp>
      </p:grpSp>
      <p:grpSp>
        <p:nvGrpSpPr>
          <p:cNvPr id="5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2" name="TextBox 52"/>
            <p:cNvSpPr txBox="1"/>
            <p:nvPr/>
          </p:nvSpPr>
          <p:spPr>
            <a:xfrm>
              <a:off x="528447" y="6581299"/>
              <a:ext cx="198882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统计计算 · 第3章 随机模拟（上）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055639" cy="909257"/>
            <a:chOff x="520446" y="342900"/>
            <a:chExt cx="605563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847975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3583" y="407194"/>
              <a:ext cx="27476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第3章 随机模拟（上） · 3.4 分层抽样法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05563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例13.1 续：分层后方差缩小约 4564 倍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c1-text-1"/>
          <p:cNvGrpSpPr/>
          <p:nvPr/>
        </p:nvGrpSpPr>
        <p:grpSpPr>
          <a:xfrm>
            <a:off x="525780" y="1548765"/>
            <a:ext cx="5133023" cy="293370"/>
            <a:chOff x="525780" y="1548765"/>
            <a:chExt cx="5133023" cy="293370"/>
          </a:xfrm>
        </p:grpSpPr>
        <p:sp>
          <p:nvSpPr>
            <p:cNvPr id="7" name="TextBox 7"/>
            <p:cNvSpPr txBox="1"/>
            <p:nvPr/>
          </p:nvSpPr>
          <p:spPr>
            <a:xfrm>
              <a:off x="525780" y="1548765"/>
              <a:ext cx="513302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不分层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：在 (0, 1) 随机抽 N 个点用平均值法得 Î₂，其中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formula252"/>
              <p:cNvSpPr txBox="1">
                <a:spLocks noGrp="1"/>
              </p:cNvSpPr>
              <p:nvPr/>
            </p:nvSpPr>
            <p:spPr>
              <a:xfrm>
                <a:off x="533400" y="1973580"/>
                <a:ext cx="5626418" cy="66865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zh-CN" sz="19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E</m:t>
                      </m:r>
                      <m:r>
                        <a:rPr lang="zh-CN" sz="19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 xml:space="preserve"> </m:t>
                      </m:r>
                      <m:sSup>
                        <m:e>
                          <m:r>
                            <a:rPr lang="zh-CN" sz="19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h</m:t>
                          </m:r>
                        </m:e>
                        <m:sup>
                          <m:r>
                            <a:rPr lang="zh-CN" sz="19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</m:t>
                          </m:r>
                        </m:sup>
                      </m:sSup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9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9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U</m:t>
                          </m:r>
                        </m:e>
                      </m:d>
                      <m:r>
                        <m:rPr>
                          <m:sty m:val="p"/>
                        </m:rPr>
                        <a:rPr lang="zh-CN" sz="19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f>
                        <m:fPr>
                          <m:type m:val="bar"/>
                          <m:ctrlPr>
                            <a:rPr lang="zh-CN" sz="19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zh-CN" sz="19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143</m:t>
                          </m:r>
                        </m:num>
                        <m:den>
                          <m:r>
                            <a:rPr lang="zh-CN" sz="19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150</m:t>
                          </m:r>
                        </m:den>
                      </m:f>
                      <m:r>
                        <m:rPr>
                          <m:sty m:val="p"/>
                        </m:rPr>
                        <a:rPr lang="zh-CN" sz="19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≈</m:t>
                      </m:r>
                      <m:r>
                        <a:rPr lang="zh-CN" sz="19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0.9533</m:t>
                      </m:r>
                    </m:oMath>
                  </m:oMathPara>
                </a14:m>
              </a:p>
            </p:txBody>
          </p:sp>
        </mc:Choice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formula253"/>
              <p:cNvSpPr txBox="1">
                <a:spLocks noGrp="1"/>
              </p:cNvSpPr>
              <p:nvPr/>
            </p:nvSpPr>
            <p:spPr>
              <a:xfrm>
                <a:off x="533400" y="2832735"/>
                <a:ext cx="5626418" cy="64293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r>
                        <m:rPr>
                          <m:sty m:val="p"/>
                        </m:rPr>
                        <a:rPr lang="zh-CN" sz="18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Var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8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sSub>
                            <m:e>
                              <m:acc>
                                <m:accPr>
                                  <m:chr m:val="ˆ"/>
                                  <m:ctrlPr>
                                    <a:rPr lang="zh-CN" sz="18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accPr>
                                <m:e>
                                  <m:r>
                                    <a:rPr lang="zh-CN" sz="18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I</m:t>
                                  </m:r>
                                </m:e>
                              </m:acc>
                            </m:e>
                            <m:sub>
                              <m:r>
                                <a:rPr lang="zh-CN" sz="18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m:rPr>
                          <m:sty m:val="p"/>
                        </m:rPr>
                        <a:rPr lang="zh-CN" sz="18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f>
                        <m:fPr>
                          <m:type m:val="bar"/>
                          <m:ctrlPr>
                            <a:rPr lang="zh-CN" sz="18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zh-CN" sz="18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E</m:t>
                          </m:r>
                          <m:r>
                            <a:rPr lang="zh-CN" sz="18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 xml:space="preserve"> </m:t>
                          </m:r>
                          <m:sSup>
                            <m:e>
                              <m:r>
                                <a:rPr lang="zh-CN" sz="18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h</m:t>
                              </m:r>
                            </m:e>
                            <m:sup>
                              <m:r>
                                <a:rPr lang="zh-CN" sz="18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2</m:t>
                              </m:r>
                            </m:sup>
                          </m:sSup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8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a:rPr lang="zh-CN" sz="18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U</m:t>
                              </m:r>
                            </m:e>
                          </m:d>
                          <m:r>
                            <m:rPr>
                              <m:sty m:val="p"/>
                            </m:rPr>
                            <a:rPr lang="zh-CN" sz="18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−</m:t>
                          </m:r>
                          <m:sSup>
                            <m:e>
                              <m:r>
                                <a:rPr lang="zh-CN" sz="18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I</m:t>
                              </m:r>
                            </m:e>
                            <m:sup>
                              <m:r>
                                <a:rPr lang="zh-CN" sz="18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zh-CN" sz="18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N</m:t>
                          </m:r>
                        </m:den>
                      </m:f>
                      <m:r>
                        <m:rPr>
                          <m:sty m:val="p"/>
                        </m:rPr>
                        <a:rPr lang="zh-CN" sz="18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f>
                        <m:fPr>
                          <m:type m:val="bar"/>
                          <m:ctrlPr>
                            <a:rPr lang="zh-CN" sz="18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zh-CN" sz="18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1141</m:t>
                          </m:r>
                          <m:r>
                            <m:rPr>
                              <m:sty m:val="p"/>
                            </m:rPr>
                            <a:rPr lang="zh-CN" sz="18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/</m:t>
                          </m:r>
                          <m:r>
                            <a:rPr lang="zh-CN" sz="18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1200</m:t>
                          </m:r>
                        </m:num>
                        <m:den>
                          <m:r>
                            <a:rPr lang="zh-CN" sz="18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N</m:t>
                          </m:r>
                        </m:den>
                      </m:f>
                      <m:r>
                        <m:rPr>
                          <m:sty m:val="p"/>
                        </m:rPr>
                        <a:rPr lang="zh-CN" sz="18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≈</m:t>
                      </m:r>
                      <m:f>
                        <m:fPr>
                          <m:type m:val="bar"/>
                          <m:ctrlPr>
                            <a:rPr lang="zh-CN" sz="18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zh-CN" sz="18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0.9508</m:t>
                          </m:r>
                        </m:num>
                        <m:den>
                          <m:r>
                            <a:rPr lang="zh-CN" sz="18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N</m:t>
                          </m:r>
                        </m:den>
                      </m:f>
                    </m:oMath>
                  </m:oMathPara>
                </a14:m>
              </a:p>
            </p:txBody>
          </p:sp>
        </mc:Choice>
      </mc:AlternateContent>
      <p:grpSp>
        <p:nvGrpSpPr>
          <p:cNvPr id="12" name="c1-text-4"/>
          <p:cNvGrpSpPr/>
          <p:nvPr/>
        </p:nvGrpSpPr>
        <p:grpSpPr>
          <a:xfrm>
            <a:off x="525780" y="3690938"/>
            <a:ext cx="5330190" cy="588645"/>
            <a:chOff x="525780" y="3690938"/>
            <a:chExt cx="5330190" cy="588645"/>
          </a:xfrm>
        </p:grpSpPr>
        <p:sp>
          <p:nvSpPr>
            <p:cNvPr id="11" name="TextBox 11"/>
            <p:cNvSpPr txBox="1"/>
            <p:nvPr/>
          </p:nvSpPr>
          <p:spPr>
            <a:xfrm>
              <a:off x="525780" y="3690938"/>
              <a:ext cx="5330190" cy="5886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325"/>
                </a:lnSpc>
              </a:pPr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分层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：I = a + b，a 为 [0, 0.5] 上的积分，b 为 [0.5, 1] 上的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积分，各用 N/2 个点做平均值法：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formula254"/>
              <p:cNvSpPr txBox="1">
                <a:spLocks noGrp="1"/>
              </p:cNvSpPr>
              <p:nvPr/>
            </p:nvSpPr>
            <p:spPr>
              <a:xfrm>
                <a:off x="533400" y="4411028"/>
                <a:ext cx="5626418" cy="81724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acc>
                        <m:accPr>
                          <m:chr m:val="ˆ"/>
                          <m:ctrlPr>
                            <a:rPr lang="zh-CN" sz="19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accPr>
                        <m:e>
                          <m:r>
                            <a:rPr lang="zh-CN" sz="19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a</m:t>
                          </m:r>
                        </m:e>
                      </m:acc>
                      <m:r>
                        <m:rPr>
                          <m:sty m:val="p"/>
                        </m:rPr>
                        <a:rPr lang="zh-CN" sz="19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f>
                        <m:fPr>
                          <m:type m:val="bar"/>
                          <m:ctrlPr>
                            <a:rPr lang="zh-CN" sz="19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zh-CN" sz="19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0.5</m:t>
                          </m:r>
                        </m:num>
                        <m:den>
                          <m:r>
                            <a:rPr lang="zh-CN" sz="19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N</m:t>
                          </m:r>
                          <m:r>
                            <m:rPr>
                              <m:sty m:val="p"/>
                            </m:rPr>
                            <a:rPr lang="zh-CN" sz="19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/</m:t>
                          </m:r>
                          <m:r>
                            <a:rPr lang="zh-CN" sz="19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</m:t>
                          </m:r>
                        </m:den>
                      </m:f>
                      <m:nary>
                        <m:naryPr>
                          <m:chr m:val="∑"/>
                          <m:limLoc m:val="undOvr"/>
                          <m:grow m:val="off"/>
                          <m:subHide m:val="off"/>
                          <m:supHide m:val="off"/>
                          <m:ctrlPr>
                            <a:rPr lang="zh-CN" sz="19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naryPr>
                        <m:sub>
                          <m:r>
                            <a:rPr lang="zh-CN" sz="19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i</m:t>
                          </m:r>
                          <m:r>
                            <m:rPr>
                              <m:sty m:val="p"/>
                            </m:rPr>
                            <a:rPr lang="zh-CN" sz="19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=</m:t>
                          </m:r>
                          <m:r>
                            <a:rPr lang="zh-CN" sz="19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sub>
                        <m:sup>
                          <m:r>
                            <a:rPr lang="zh-CN" sz="19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N</m:t>
                          </m:r>
                          <m:r>
                            <m:rPr>
                              <m:sty m:val="p"/>
                            </m:rPr>
                            <a:rPr lang="zh-CN" sz="19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/</m:t>
                          </m:r>
                          <m:r>
                            <a:rPr lang="zh-CN" sz="19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</m:t>
                          </m:r>
                        </m:sup>
                        <m:e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9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a:rPr lang="zh-CN" sz="19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1</m:t>
                              </m:r>
                              <m:r>
                                <m:rPr>
                                  <m:sty m:val="p"/>
                                </m:rPr>
                                <a:rPr lang="zh-CN" sz="19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+</m:t>
                              </m:r>
                              <m:r>
                                <a:rPr lang="zh-CN" sz="19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0.05</m:t>
                              </m:r>
                              <m:sSub>
                                <m:e>
                                  <m:r>
                                    <a:rPr lang="zh-CN" sz="19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U</m:t>
                                  </m:r>
                                </m:e>
                                <m:sub>
                                  <m:r>
                                    <a:rPr lang="zh-CN" sz="19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i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</m:oMath>
                  </m:oMathPara>
                </a14:m>
              </a:p>
            </p:txBody>
          </p:sp>
        </mc:Choice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formula255"/>
              <p:cNvSpPr txBox="1">
                <a:spLocks noGrp="1"/>
              </p:cNvSpPr>
              <p:nvPr/>
            </p:nvSpPr>
            <p:spPr>
              <a:xfrm>
                <a:off x="533400" y="5418772"/>
                <a:ext cx="5626418" cy="81724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acc>
                        <m:accPr>
                          <m:chr m:val="ˆ"/>
                          <m:ctrlPr>
                            <a:rPr lang="zh-CN" sz="19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accPr>
                        <m:e>
                          <m:r>
                            <a:rPr lang="zh-CN" sz="19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b</m:t>
                          </m:r>
                        </m:e>
                      </m:acc>
                      <m:r>
                        <m:rPr>
                          <m:sty m:val="p"/>
                        </m:rPr>
                        <a:rPr lang="zh-CN" sz="19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f>
                        <m:fPr>
                          <m:type m:val="bar"/>
                          <m:ctrlPr>
                            <a:rPr lang="zh-CN" sz="19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zh-CN" sz="19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0.5</m:t>
                          </m:r>
                        </m:num>
                        <m:den>
                          <m:r>
                            <a:rPr lang="zh-CN" sz="19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N</m:t>
                          </m:r>
                          <m:r>
                            <m:rPr>
                              <m:sty m:val="p"/>
                            </m:rPr>
                            <a:rPr lang="zh-CN" sz="19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/</m:t>
                          </m:r>
                          <m:r>
                            <a:rPr lang="zh-CN" sz="19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</m:t>
                          </m:r>
                        </m:den>
                      </m:f>
                      <m:nary>
                        <m:naryPr>
                          <m:chr m:val="∑"/>
                          <m:limLoc m:val="undOvr"/>
                          <m:grow m:val="off"/>
                          <m:subHide m:val="off"/>
                          <m:supHide m:val="off"/>
                          <m:ctrlPr>
                            <a:rPr lang="zh-CN" sz="19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naryPr>
                        <m:sub>
                          <m:r>
                            <a:rPr lang="zh-CN" sz="19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i</m:t>
                          </m:r>
                          <m:r>
                            <m:rPr>
                              <m:sty m:val="p"/>
                            </m:rPr>
                            <a:rPr lang="zh-CN" sz="19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=</m:t>
                          </m:r>
                          <m:r>
                            <a:rPr lang="zh-CN" sz="19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N</m:t>
                          </m:r>
                          <m:r>
                            <m:rPr>
                              <m:sty m:val="p"/>
                            </m:rPr>
                            <a:rPr lang="zh-CN" sz="19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/</m:t>
                          </m:r>
                          <m:r>
                            <a:rPr lang="zh-CN" sz="19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</m:t>
                          </m:r>
                          <m:r>
                            <m:rPr>
                              <m:sty m:val="p"/>
                            </m:rPr>
                            <a:rPr lang="zh-CN" sz="19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+</m:t>
                          </m:r>
                          <m:r>
                            <a:rPr lang="zh-CN" sz="19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sub>
                        <m:sup>
                          <m:r>
                            <a:rPr lang="zh-CN" sz="19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N</m:t>
                          </m:r>
                        </m:sup>
                        <m:e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9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zh-CN" sz="19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−</m:t>
                              </m:r>
                              <m:r>
                                <a:rPr lang="zh-CN" sz="19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0.95</m:t>
                              </m:r>
                              <m:r>
                                <m:rPr>
                                  <m:sty m:val="p"/>
                                </m:rPr>
                                <a:rPr lang="zh-CN" sz="19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+</m:t>
                              </m:r>
                              <m:r>
                                <a:rPr lang="zh-CN" sz="19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0.05</m:t>
                              </m:r>
                              <m:sSub>
                                <m:e>
                                  <m:r>
                                    <a:rPr lang="zh-CN" sz="19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U</m:t>
                                  </m:r>
                                </m:e>
                                <m:sub>
                                  <m:r>
                                    <a:rPr lang="zh-CN" sz="19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i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</m:oMath>
                  </m:oMathPara>
                </a14:m>
              </a:p>
            </p:txBody>
          </p:sp>
        </mc:Choice>
      </mc:AlternateContent>
      <p:grpSp>
        <p:nvGrpSpPr>
          <p:cNvPr id="16" name="c2-text-1"/>
          <p:cNvGrpSpPr/>
          <p:nvPr/>
        </p:nvGrpSpPr>
        <p:grpSpPr>
          <a:xfrm>
            <a:off x="6456998" y="1548765"/>
            <a:ext cx="5172456" cy="293370"/>
            <a:chOff x="6456998" y="1548765"/>
            <a:chExt cx="5172456" cy="293370"/>
          </a:xfrm>
        </p:grpSpPr>
        <p:sp>
          <p:nvSpPr>
            <p:cNvPr id="15" name="TextBox 15"/>
            <p:cNvSpPr txBox="1"/>
            <p:nvPr/>
          </p:nvSpPr>
          <p:spPr>
            <a:xfrm>
              <a:off x="6456998" y="1548765"/>
              <a:ext cx="517245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两层内的被积函数都只剩 0.05U 的变化，方差相同，于是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7" name="formula256"/>
              <p:cNvSpPr txBox="1">
                <a:spLocks noGrp="1"/>
              </p:cNvSpPr>
              <p:nvPr/>
            </p:nvSpPr>
            <p:spPr>
              <a:xfrm>
                <a:off x="6464618" y="1973580"/>
                <a:ext cx="5193982" cy="66865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r>
                        <m:rPr>
                          <m:sty m:val="p"/>
                        </m:rPr>
                        <a:rPr lang="zh-CN" sz="19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Var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9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sSub>
                            <m:e>
                              <m:acc>
                                <m:accPr>
                                  <m:chr m:val="ˆ"/>
                                  <m:ctrlPr>
                                    <a:rPr lang="zh-CN" sz="19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accPr>
                                <m:e>
                                  <m:r>
                                    <a:rPr lang="zh-CN" sz="19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I</m:t>
                                  </m:r>
                                </m:e>
                              </m:acc>
                            </m:e>
                            <m:sub>
                              <m:r>
                                <a:rPr lang="zh-CN" sz="19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5</m:t>
                              </m:r>
                            </m:sub>
                          </m:sSub>
                        </m:e>
                      </m:d>
                      <m:r>
                        <m:rPr>
                          <m:sty m:val="p"/>
                        </m:rPr>
                        <a:rPr lang="zh-CN" sz="19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r>
                        <a:rPr lang="zh-CN" sz="19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2</m:t>
                      </m:r>
                      <m:r>
                        <m:rPr>
                          <m:sty m:val="p"/>
                        </m:rPr>
                        <a:rPr lang="zh-CN" sz="19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×</m:t>
                      </m:r>
                      <m:r>
                        <a:rPr lang="zh-CN" sz="19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0.25</m:t>
                      </m:r>
                      <m:r>
                        <a:rPr lang="zh-CN" sz="19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 xml:space="preserve"> </m:t>
                      </m:r>
                      <m:f>
                        <m:fPr>
                          <m:type m:val="bar"/>
                          <m:ctrlPr>
                            <a:rPr lang="zh-CN" sz="19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zh-CN" sz="19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Var</m:t>
                          </m:r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9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a:rPr lang="zh-CN" sz="19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0.05U</m:t>
                              </m:r>
                            </m:e>
                          </m:d>
                        </m:num>
                        <m:den>
                          <m:r>
                            <a:rPr lang="zh-CN" sz="19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N</m:t>
                          </m:r>
                          <m:r>
                            <m:rPr>
                              <m:sty m:val="p"/>
                            </m:rPr>
                            <a:rPr lang="zh-CN" sz="19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/</m:t>
                          </m:r>
                          <m:r>
                            <a:rPr lang="zh-CN" sz="19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</m:t>
                          </m:r>
                        </m:den>
                      </m:f>
                      <m:r>
                        <m:rPr>
                          <m:sty m:val="p"/>
                        </m:rPr>
                        <a:rPr lang="zh-CN" sz="19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f>
                        <m:fPr>
                          <m:type m:val="bar"/>
                          <m:ctrlPr>
                            <a:rPr lang="zh-CN" sz="19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zh-CN" sz="19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  <m:r>
                            <m:rPr>
                              <m:sty m:val="p"/>
                            </m:rPr>
                            <a:rPr lang="zh-CN" sz="19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/</m:t>
                          </m:r>
                          <m:r>
                            <a:rPr lang="zh-CN" sz="19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4800</m:t>
                          </m:r>
                        </m:num>
                        <m:den>
                          <m:r>
                            <a:rPr lang="zh-CN" sz="19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N</m:t>
                          </m:r>
                        </m:den>
                      </m:f>
                    </m:oMath>
                  </m:oMathPara>
                </a14:m>
              </a:p>
            </p:txBody>
          </p:sp>
        </mc:Choice>
      </mc:AlternateContent>
      <p:grpSp>
        <p:nvGrpSpPr>
          <p:cNvPr id="24" name="c2-card-3"/>
          <p:cNvGrpSpPr/>
          <p:nvPr/>
        </p:nvGrpSpPr>
        <p:grpSpPr>
          <a:xfrm>
            <a:off x="6464618" y="2832735"/>
            <a:ext cx="5193982" cy="2223135"/>
            <a:chOff x="6464618" y="2832735"/>
            <a:chExt cx="5193982" cy="2223135"/>
          </a:xfrm>
        </p:grpSpPr>
        <p:sp>
          <p:nvSpPr>
            <p:cNvPr id="18" name="Rectangle 18"/>
            <p:cNvSpPr/>
            <p:nvPr/>
          </p:nvSpPr>
          <p:spPr>
            <a:xfrm>
              <a:off x="6464618" y="2832735"/>
              <a:ext cx="5193982" cy="2223135"/>
            </a:xfrm>
            <a:prstGeom prst="roundRect">
              <a:avLst>
                <a:gd name="adj" fmla="val 599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6474142" y="2966085"/>
              <a:ext cx="47625" cy="195643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6712268" y="3042285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803428" y="307800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704648" y="3419475"/>
              <a:ext cx="4463415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原课件写 Var(Î₂) = 143/(150N) ≈ 0.9533/N，这是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 h²(U)，漏减了 I² = 0.0025。正确值为</a:t>
              </a:r>
              <a:br/>
              <a:r>
                <a:rPr lang="en-US" sz="15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0.9508/N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。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704648" y="4326255"/>
              <a:ext cx="436816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方差之比为 0.9508 × 4800 ≈ 4564，原课件"节省样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本量约 4500 倍"的结论仍然成立。</a:t>
              </a:r>
            </a:p>
          </p:txBody>
        </p:sp>
      </p:grpSp>
      <p:grpSp>
        <p:nvGrpSpPr>
          <p:cNvPr id="30" name="c2-callout-4"/>
          <p:cNvGrpSpPr/>
          <p:nvPr/>
        </p:nvGrpSpPr>
        <p:grpSpPr>
          <a:xfrm>
            <a:off x="6464618" y="5246370"/>
            <a:ext cx="5193982" cy="1059180"/>
            <a:chOff x="6464618" y="5246370"/>
            <a:chExt cx="5193982" cy="1059180"/>
          </a:xfrm>
        </p:grpSpPr>
        <p:sp>
          <p:nvSpPr>
            <p:cNvPr id="25" name="Rectangle 25"/>
            <p:cNvSpPr/>
            <p:nvPr/>
          </p:nvSpPr>
          <p:spPr>
            <a:xfrm>
              <a:off x="6464618" y="5246370"/>
              <a:ext cx="5193982" cy="1059180"/>
            </a:xfrm>
            <a:prstGeom prst="roundRect">
              <a:avLst>
                <a:gd name="adj" fmla="val 10791"/>
              </a:avLst>
            </a:prstGeom>
            <a:solidFill>
              <a:srgbClr val="2E7D4F"/>
            </a:solidFill>
            <a:ln>
              <a:noFill/>
            </a:ln>
          </p:spPr>
        </p:sp>
        <p:grpSp>
          <p:nvGrpSpPr>
            <p:cNvPr id="28" name="Group 28"/>
            <p:cNvGrpSpPr/>
            <p:nvPr/>
          </p:nvGrpSpPr>
          <p:grpSpPr>
            <a:xfrm>
              <a:off x="6669405" y="5675950"/>
              <a:ext cx="200023" cy="200023"/>
              <a:chOff x="6669405" y="5675950"/>
              <a:chExt cx="200023" cy="200023"/>
            </a:xfrm>
          </p:grpSpPr>
          <p:sp>
            <p:nvSpPr>
              <p:cNvPr id="26" name="Freeform 26"/>
              <p:cNvSpPr/>
              <p:nvPr/>
            </p:nvSpPr>
            <p:spPr>
              <a:xfrm>
                <a:off x="6669405" y="567595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27" name="Freeform 27"/>
              <p:cNvSpPr/>
              <p:nvPr/>
            </p:nvSpPr>
            <p:spPr>
              <a:xfrm>
                <a:off x="6802755" y="574262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29" name="TextBox 29"/>
            <p:cNvSpPr txBox="1"/>
            <p:nvPr/>
          </p:nvSpPr>
          <p:spPr>
            <a:xfrm>
              <a:off x="6971348" y="5394960"/>
              <a:ext cx="4225290" cy="8458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不分层时方差几乎全部来自 h 在 0.5 处从 +1 跳到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−1；分层后每层内只剩 0.05U 的微小变化，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Var(0.05U) = 0.0025/12。</a:t>
              </a:r>
            </a:p>
          </p:txBody>
        </p:sp>
      </p:grpSp>
      <p:grpSp>
        <p:nvGrpSpPr>
          <p:cNvPr id="3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31" name="TextBox 31"/>
            <p:cNvSpPr txBox="1"/>
            <p:nvPr/>
          </p:nvSpPr>
          <p:spPr>
            <a:xfrm>
              <a:off x="528447" y="6581299"/>
              <a:ext cx="198882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统计计算 · 第3章 随机模拟（上）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548247" cy="909257"/>
            <a:chOff x="520446" y="342900"/>
            <a:chExt cx="654824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847975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3583" y="407194"/>
              <a:ext cx="27476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第3章 随机模拟（上） · 3.4 分层抽样法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54824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一般的分层估计，以及样本量怎样分配最好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c1-text-1"/>
          <p:cNvGrpSpPr/>
          <p:nvPr/>
        </p:nvGrpSpPr>
        <p:grpSpPr>
          <a:xfrm>
            <a:off x="526161" y="1547336"/>
            <a:ext cx="3674478" cy="278702"/>
            <a:chOff x="526161" y="1547336"/>
            <a:chExt cx="3674478" cy="278702"/>
          </a:xfrm>
        </p:grpSpPr>
        <p:sp>
          <p:nvSpPr>
            <p:cNvPr id="7" name="TextBox 7"/>
            <p:cNvSpPr txBox="1"/>
            <p:nvPr/>
          </p:nvSpPr>
          <p:spPr>
            <a:xfrm>
              <a:off x="526161" y="1547336"/>
              <a:ext cx="367447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积分可分解为 m 个不交子集 Cⱼ 上的积分：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formula265"/>
              <p:cNvSpPr txBox="1">
                <a:spLocks noGrp="1"/>
              </p:cNvSpPr>
              <p:nvPr/>
            </p:nvSpPr>
            <p:spPr>
              <a:xfrm>
                <a:off x="533400" y="1950720"/>
                <a:ext cx="5410200" cy="640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zh-CN" sz="18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I</m:t>
                      </m:r>
                      <m:r>
                        <m:rPr>
                          <m:sty m:val="p"/>
                        </m:rPr>
                        <a:rPr lang="zh-CN" sz="18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nary>
                        <m:naryPr>
                          <m:chr m:val="∫"/>
                          <m:limLoc m:val="subSup"/>
                          <m:grow m:val="off"/>
                          <m:subHide m:val="off"/>
                          <m:supHide m:val="on"/>
                          <m:ctrlP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naryPr>
                        <m:sub>
                          <m: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C</m:t>
                          </m:r>
                        </m:sub>
                        <m:sup/>
                        <m:e>
                          <m: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h</m:t>
                          </m:r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b"/>
                                </m:rP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x</m:t>
                              </m:r>
                            </m:e>
                          </m:d>
                          <m: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 xml:space="preserve"> </m:t>
                          </m:r>
                          <m: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d</m:t>
                          </m:r>
                          <m:r>
                            <m:rPr>
                              <m:sty m:val="b"/>
                            </m:rP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x</m:t>
                          </m:r>
                        </m:e>
                      </m:nary>
                      <m:r>
                        <m:rPr>
                          <m:sty m:val="p"/>
                        </m:rPr>
                        <a:rPr lang="zh-CN" sz="18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nary>
                        <m:naryPr>
                          <m:chr m:val="∫"/>
                          <m:limLoc m:val="subSup"/>
                          <m:grow m:val="off"/>
                          <m:subHide m:val="off"/>
                          <m:supHide m:val="on"/>
                          <m:ctrlP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naryPr>
                        <m:sub>
                          <m:sSub>
                            <m:e>
                              <m: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C</m:t>
                              </m:r>
                            </m:e>
                            <m:sub>
                              <m: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1</m:t>
                              </m:r>
                            </m:sub>
                          </m:sSub>
                        </m:sub>
                        <m:sup/>
                        <m:e>
                          <m: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h</m:t>
                          </m:r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b"/>
                                </m:rP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x</m:t>
                              </m:r>
                            </m:e>
                          </m:d>
                          <m: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 xml:space="preserve"> </m:t>
                          </m:r>
                          <m: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d</m:t>
                          </m:r>
                          <m:r>
                            <m:rPr>
                              <m:sty m:val="b"/>
                            </m:rP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x</m:t>
                          </m:r>
                        </m:e>
                      </m:nary>
                      <m:r>
                        <m:rPr>
                          <m:sty m:val="p"/>
                        </m:rPr>
                        <a:rPr lang="zh-CN" sz="18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+⋯+</m:t>
                      </m:r>
                      <m:nary>
                        <m:naryPr>
                          <m:chr m:val="∫"/>
                          <m:limLoc m:val="subSup"/>
                          <m:grow m:val="off"/>
                          <m:subHide m:val="off"/>
                          <m:supHide m:val="on"/>
                          <m:ctrlP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naryPr>
                        <m:sub>
                          <m:sSub>
                            <m:e>
                              <m: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C</m:t>
                              </m:r>
                            </m:e>
                            <m:sub>
                              <m: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m</m:t>
                              </m:r>
                            </m:sub>
                          </m:sSub>
                        </m:sub>
                        <m:sup/>
                        <m:e>
                          <m: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h</m:t>
                          </m:r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b"/>
                                </m:rP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x</m:t>
                              </m:r>
                            </m:e>
                          </m:d>
                          <m: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 xml:space="preserve"> </m:t>
                          </m:r>
                          <m: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d</m:t>
                          </m:r>
                          <m:r>
                            <m:rPr>
                              <m:sty m:val="b"/>
                            </m:rP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x</m:t>
                          </m:r>
                        </m:e>
                      </m:nary>
                    </m:oMath>
                  </m:oMathPara>
                </a14:m>
              </a:p>
            </p:txBody>
          </p:sp>
        </mc:Choice>
      </mc:AlternateContent>
      <p:grpSp>
        <p:nvGrpSpPr>
          <p:cNvPr id="11" name="c1-text-3"/>
          <p:cNvGrpSpPr/>
          <p:nvPr/>
        </p:nvGrpSpPr>
        <p:grpSpPr>
          <a:xfrm>
            <a:off x="526161" y="2794159"/>
            <a:ext cx="5496453" cy="278702"/>
            <a:chOff x="526161" y="2794159"/>
            <a:chExt cx="5496453" cy="278702"/>
          </a:xfrm>
        </p:grpSpPr>
        <p:sp>
          <p:nvSpPr>
            <p:cNvPr id="10" name="TextBox 10"/>
            <p:cNvSpPr txBox="1"/>
            <p:nvPr/>
          </p:nvSpPr>
          <p:spPr>
            <a:xfrm>
              <a:off x="526161" y="2794159"/>
              <a:ext cx="549645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在 Cⱼ 中投 nⱼ 个随机点 Xⱼᵢ ~ U(Cⱼ)，各部分分别用平均值法：</a:t>
              </a:r>
            </a:p>
          </p:txBody>
        </p:sp>
      </p:grpSp>
      <p:grpSp>
        <p:nvGrpSpPr>
          <p:cNvPr id="16" name="c1-card-4"/>
          <p:cNvGrpSpPr/>
          <p:nvPr/>
        </p:nvGrpSpPr>
        <p:grpSpPr>
          <a:xfrm>
            <a:off x="533400" y="3196590"/>
            <a:ext cx="5410200" cy="1505902"/>
            <a:chOff x="533400" y="3196590"/>
            <a:chExt cx="5410200" cy="1505902"/>
          </a:xfrm>
        </p:grpSpPr>
        <p:sp>
          <p:nvSpPr>
            <p:cNvPr id="12" name="Rectangle 12"/>
            <p:cNvSpPr/>
            <p:nvPr/>
          </p:nvSpPr>
          <p:spPr>
            <a:xfrm>
              <a:off x="533400" y="3196590"/>
              <a:ext cx="5410200" cy="1505902"/>
            </a:xfrm>
            <a:prstGeom prst="roundRect">
              <a:avLst>
                <a:gd name="adj" fmla="val 8855"/>
              </a:avLst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731520" y="3394710"/>
              <a:ext cx="742950" cy="247650"/>
            </a:xfrm>
            <a:prstGeom prst="roundRect">
              <a:avLst>
                <a:gd name="adj" fmla="val 50000"/>
              </a:avLst>
            </a:prstGeom>
            <a:solidFill>
              <a:srgbClr val="23613D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814959" y="3429000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分层估计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5" name="formula266"/>
                <p:cNvSpPr txBox="1">
                  <a:spLocks noGrp="1"/>
                </p:cNvSpPr>
                <p:nvPr/>
              </p:nvSpPr>
              <p:spPr>
                <a:xfrm>
                  <a:off x="731520" y="3731895"/>
                  <a:ext cx="5013960" cy="75438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sSub>
                          <m:e>
                            <m:acc>
                              <m:accPr>
                                <m:chr m:val="ˆ"/>
                                <m:ctrlPr>
                                  <a:rPr lang="zh-CN" sz="18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accPr>
                              <m:e>
                                <m:r>
                                  <a:rPr lang="zh-CN" sz="18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I</m:t>
                                </m:r>
                              </m:e>
                            </m:acc>
                          </m:e>
                          <m:sub>
                            <m:r>
                              <a:rPr lang="zh-CN" sz="18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5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zh-CN" sz="180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nary>
                          <m:naryPr>
                            <m:chr m:val="∑"/>
                            <m:limLoc m:val="undOvr"/>
                            <m:grow m:val="off"/>
                            <m:subHide m:val="off"/>
                            <m:supHide m:val="off"/>
                            <m:ctrlPr>
                              <a:rPr lang="zh-CN" sz="18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naryPr>
                          <m:sub>
                            <m:r>
                              <a:rPr lang="zh-CN" sz="18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j</m:t>
                            </m:r>
                            <m:r>
                              <m:rPr>
                                <m:sty m:val="p"/>
                              </m:rPr>
                              <a:rPr lang="zh-CN" sz="18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=</m:t>
                            </m:r>
                            <m:r>
                              <a:rPr lang="zh-CN" sz="18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sub>
                          <m:sup>
                            <m:r>
                              <a:rPr lang="zh-CN" sz="18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m</m:t>
                            </m:r>
                          </m:sup>
                          <m:e>
                            <m:f>
                              <m:fPr>
                                <m:type m:val="bar"/>
                                <m:ctrlPr>
                                  <a:rPr lang="zh-CN" sz="18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fPr>
                              <m:num>
                                <m:r>
                                  <a:rPr lang="zh-CN" sz="18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V</m:t>
                                </m:r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 m:val="on"/>
                                    <m:ctrlPr>
                                      <a:rPr lang="zh-CN" sz="180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dPr>
                                  <m:e>
                                    <m:sSub>
                                      <m:e>
                                        <m:r>
                                          <a:rPr lang="zh-CN" sz="1800" dirty="0">
                                            <a:solidFill>
                                              <a:srgbClr val="FFFFFF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C</m:t>
                                        </m:r>
                                      </m:e>
                                      <m:sub>
                                        <m:r>
                                          <a:rPr lang="zh-CN" sz="1800" dirty="0">
                                            <a:solidFill>
                                              <a:srgbClr val="FFFFFF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j</m:t>
                                        </m:r>
                                      </m:sub>
                                    </m:sSub>
                                  </m:e>
                                </m:d>
                              </m:num>
                              <m:den>
                                <m:sSub>
                                  <m:e>
                                    <m:r>
                                      <a:rPr lang="zh-CN" sz="180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n</m:t>
                                    </m:r>
                                  </m:e>
                                  <m:sub>
                                    <m:r>
                                      <a:rPr lang="zh-CN" sz="180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j</m:t>
                                    </m:r>
                                  </m:sub>
                                </m:sSub>
                              </m:den>
                            </m:f>
                            <m:nary>
                              <m:naryPr>
                                <m:chr m:val="∑"/>
                                <m:limLoc m:val="undOvr"/>
                                <m:grow m:val="off"/>
                                <m:subHide m:val="off"/>
                                <m:supHide m:val="off"/>
                                <m:ctrlPr>
                                  <a:rPr lang="zh-CN" sz="18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naryPr>
                              <m:sub>
                                <m:r>
                                  <a:rPr lang="zh-CN" sz="18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i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8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=</m:t>
                                </m:r>
                                <m:r>
                                  <a:rPr lang="zh-CN" sz="18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sub>
                              <m:sup>
                                <m:sSub>
                                  <m:e>
                                    <m:r>
                                      <a:rPr lang="zh-CN" sz="180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n</m:t>
                                    </m:r>
                                  </m:e>
                                  <m:sub>
                                    <m:r>
                                      <a:rPr lang="zh-CN" sz="180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j</m:t>
                                    </m:r>
                                  </m:sub>
                                </m:sSub>
                              </m:sup>
                              <m:e>
                                <m:r>
                                  <a:rPr lang="zh-CN" sz="18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h</m:t>
                                </m:r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 m:val="on"/>
                                    <m:ctrlPr>
                                      <a:rPr lang="zh-CN" sz="180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dPr>
                                  <m:e>
                                    <m:sSub>
                                      <m:e>
                                        <m:r>
                                          <m:rPr>
                                            <m:sty m:val="b"/>
                                          </m:rPr>
                                          <a:rPr lang="zh-CN" sz="1800" dirty="0">
                                            <a:solidFill>
                                              <a:srgbClr val="FFFFFF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X</m:t>
                                        </m:r>
                                      </m:e>
                                      <m:sub>
                                        <m:r>
                                          <a:rPr lang="zh-CN" sz="1800" dirty="0">
                                            <a:solidFill>
                                              <a:srgbClr val="FFFFFF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ji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</m:nary>
                          </m:e>
                        </m:nary>
                      </m:oMath>
                    </m:oMathPara>
                  </a14:m>
                </a:p>
              </p:txBody>
            </p:sp>
          </mc:Choice>
        </mc:AlternateContent>
      </p:grpSp>
      <p:grpSp>
        <p:nvGrpSpPr>
          <p:cNvPr id="18" name="c1-text-5"/>
          <p:cNvGrpSpPr/>
          <p:nvPr/>
        </p:nvGrpSpPr>
        <p:grpSpPr>
          <a:xfrm>
            <a:off x="526161" y="4906804"/>
            <a:ext cx="2370079" cy="278702"/>
            <a:chOff x="526161" y="4906804"/>
            <a:chExt cx="2370079" cy="278702"/>
          </a:xfrm>
        </p:grpSpPr>
        <p:sp>
          <p:nvSpPr>
            <p:cNvPr id="17" name="TextBox 17"/>
            <p:cNvSpPr txBox="1"/>
            <p:nvPr/>
          </p:nvSpPr>
          <p:spPr>
            <a:xfrm>
              <a:off x="526161" y="4906804"/>
              <a:ext cx="237007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记 σⱼ² = Var(h(Xⱼ₁))，则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9" name="formula267"/>
              <p:cNvSpPr txBox="1">
                <a:spLocks noGrp="1"/>
              </p:cNvSpPr>
              <p:nvPr/>
            </p:nvSpPr>
            <p:spPr>
              <a:xfrm>
                <a:off x="533400" y="5309235"/>
                <a:ext cx="5410200" cy="7543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r>
                        <m:rPr>
                          <m:sty m:val="p"/>
                        </m:rPr>
                        <a:rPr lang="zh-CN" sz="18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Var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sSub>
                            <m:e>
                              <m:acc>
                                <m:accPr>
                                  <m:chr m:val="ˆ"/>
                                  <m:ctrlPr>
                                    <a:rPr lang="zh-CN" sz="18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accPr>
                                <m:e>
                                  <m:r>
                                    <a:rPr lang="zh-CN" sz="18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I</m:t>
                                  </m:r>
                                </m:e>
                              </m:acc>
                            </m:e>
                            <m:sub>
                              <m: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5</m:t>
                              </m:r>
                            </m:sub>
                          </m:sSub>
                        </m:e>
                      </m:d>
                      <m:r>
                        <m:rPr>
                          <m:sty m:val="p"/>
                        </m:rPr>
                        <a:rPr lang="zh-CN" sz="18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grow m:val="off"/>
                          <m:subHide m:val="off"/>
                          <m:supHide m:val="off"/>
                          <m:ctrlP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naryPr>
                        <m:sub>
                          <m: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j</m:t>
                          </m:r>
                          <m:r>
                            <m:rPr>
                              <m:sty m:val="p"/>
                            </m:rP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=</m:t>
                          </m:r>
                          <m: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sub>
                        <m:sup>
                          <m: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m</m:t>
                          </m:r>
                        </m:sup>
                        <m:e>
                          <m:f>
                            <m:fPr>
                              <m:type m:val="bar"/>
                              <m:ctrlP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fPr>
                            <m:num>
                              <m:sSup>
                                <m:e>
                                  <m:r>
                                    <a:rPr lang="zh-CN" sz="18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V</m:t>
                                  </m:r>
                                </m:e>
                                <m:sup>
                                  <m:r>
                                    <a:rPr lang="zh-CN" sz="18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2</m:t>
                                  </m:r>
                                </m:sup>
                              </m:sSup>
                              <m:d>
                                <m:dPr>
                                  <m:begChr m:val="("/>
                                  <m:sepChr m:val=""/>
                                  <m:endChr m:val=")"/>
                                  <m:grow m:val="on"/>
                                  <m:ctrlPr>
                                    <a:rPr lang="zh-CN" sz="18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dPr>
                                <m:e>
                                  <m:sSub>
                                    <m:e>
                                      <m:r>
                                        <a:rPr lang="zh-CN" sz="180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C</m:t>
                                      </m:r>
                                    </m:e>
                                    <m:sub>
                                      <m:r>
                                        <a:rPr lang="zh-CN" sz="180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j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 xml:space="preserve"> </m:t>
                              </m:r>
                              <m:sSubSup>
                                <m:e>
                                  <m:r>
                                    <a:rPr lang="zh-CN" sz="18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σ</m:t>
                                  </m:r>
                                </m:e>
                                <m:sub>
                                  <m:r>
                                    <a:rPr lang="zh-CN" sz="18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j</m:t>
                                  </m:r>
                                </m:sub>
                                <m:sup>
                                  <m:r>
                                    <a:rPr lang="zh-CN" sz="18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2</m:t>
                                  </m:r>
                                </m:sup>
                              </m:sSubSup>
                            </m:num>
                            <m:den>
                              <m:sSub>
                                <m:e>
                                  <m:r>
                                    <a:rPr lang="zh-CN" sz="18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n</m:t>
                                  </m:r>
                                </m:e>
                                <m:sub>
                                  <m:r>
                                    <a:rPr lang="zh-CN" sz="18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j</m:t>
                                  </m:r>
                                </m:sub>
                              </m:sSub>
                            </m:den>
                          </m:f>
                        </m:e>
                      </m:nary>
                    </m:oMath>
                  </m:oMathPara>
                </a14:m>
              </a:p>
            </p:txBody>
          </p:sp>
        </mc:Choice>
      </mc:AlternateContent>
      <p:grpSp>
        <p:nvGrpSpPr>
          <p:cNvPr id="26" name="c2-card-1"/>
          <p:cNvGrpSpPr/>
          <p:nvPr/>
        </p:nvGrpSpPr>
        <p:grpSpPr>
          <a:xfrm>
            <a:off x="6248400" y="1524000"/>
            <a:ext cx="5410200" cy="2094548"/>
            <a:chOff x="6248400" y="1524000"/>
            <a:chExt cx="5410200" cy="2094548"/>
          </a:xfrm>
        </p:grpSpPr>
        <p:sp>
          <p:nvSpPr>
            <p:cNvPr id="20" name="Rectangle 20"/>
            <p:cNvSpPr/>
            <p:nvPr/>
          </p:nvSpPr>
          <p:spPr>
            <a:xfrm>
              <a:off x="6248400" y="1524000"/>
              <a:ext cx="5410200" cy="2094548"/>
            </a:xfrm>
            <a:prstGeom prst="roundRect">
              <a:avLst>
                <a:gd name="adj" fmla="val 636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1" name="Rectangle 21"/>
            <p:cNvSpPr/>
            <p:nvPr/>
          </p:nvSpPr>
          <p:spPr>
            <a:xfrm>
              <a:off x="6257925" y="1657350"/>
              <a:ext cx="47625" cy="1827848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6484620" y="1722120"/>
              <a:ext cx="1317308" cy="247650"/>
            </a:xfrm>
            <a:prstGeom prst="roundRect">
              <a:avLst>
                <a:gd name="adj" fmla="val 50000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551103" y="1756410"/>
              <a:ext cx="118529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最优分配（13.1）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477381" y="2082641"/>
              <a:ext cx="4495927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若 σⱼ² 可估计，在所有满足 n₁ + n₂ + ⋯ + nₘ = N 的取法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中，使渐近方差最小的是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5" name="formula268"/>
                <p:cNvSpPr txBox="1">
                  <a:spLocks noGrp="1"/>
                </p:cNvSpPr>
                <p:nvPr/>
              </p:nvSpPr>
              <p:spPr>
                <a:xfrm>
                  <a:off x="6484620" y="2648902"/>
                  <a:ext cx="4975860" cy="75438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sSub>
                          <m:e>
                            <m:r>
                              <a:rPr lang="zh-CN" sz="18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n</m:t>
                            </m:r>
                          </m:e>
                          <m:sub>
                            <m:r>
                              <a:rPr lang="zh-CN" sz="18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j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zh-CN" sz="18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∝</m:t>
                        </m:r>
                        <m:r>
                          <a:rPr lang="zh-CN" sz="18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V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8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sSub>
                              <m:e>
                                <m:r>
                                  <a:rPr lang="zh-CN" sz="18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C</m:t>
                                </m:r>
                              </m:e>
                              <m:sub>
                                <m:r>
                                  <a:rPr lang="zh-CN" sz="18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j</m:t>
                                </m:r>
                              </m:sub>
                            </m:sSub>
                          </m:e>
                        </m:d>
                        <m:r>
                          <a:rPr lang="zh-CN" sz="18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 </m:t>
                        </m:r>
                        <m:sSub>
                          <m:e>
                            <m:r>
                              <a:rPr lang="zh-CN" sz="18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σ</m:t>
                            </m:r>
                          </m:e>
                          <m:sub>
                            <m:r>
                              <a:rPr lang="zh-CN" sz="18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j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zh-CN" sz="18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,</m:t>
                        </m:r>
                        <m:r>
                          <a:rPr lang="zh-CN" sz="18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  </m:t>
                        </m:r>
                        <m:sSub>
                          <m:e>
                            <m:r>
                              <a:rPr lang="zh-CN" sz="18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n</m:t>
                            </m:r>
                          </m:e>
                          <m:sub>
                            <m:r>
                              <a:rPr lang="zh-CN" sz="18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j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zh-CN" sz="18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r>
                          <a:rPr lang="zh-CN" sz="18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N</m:t>
                        </m:r>
                        <m:f>
                          <m:fPr>
                            <m:type m:val="bar"/>
                            <m:ctrlPr>
                              <a:rPr lang="zh-CN" sz="18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r>
                              <a:rPr lang="zh-CN" sz="18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V</m:t>
                            </m:r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8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sSub>
                                  <m:e>
                                    <m:r>
                                      <a:rPr lang="zh-CN" sz="18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C</m:t>
                                    </m:r>
                                  </m:e>
                                  <m:sub>
                                    <m:r>
                                      <a:rPr lang="zh-CN" sz="18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j</m:t>
                                    </m:r>
                                  </m:sub>
                                </m:sSub>
                              </m:e>
                            </m:d>
                            <m:r>
                              <a:rPr lang="zh-CN" sz="18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 xml:space="preserve"> </m:t>
                            </m:r>
                            <m:sSub>
                              <m:e>
                                <m:r>
                                  <a:rPr lang="zh-CN" sz="18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σ</m:t>
                                </m:r>
                              </m:e>
                              <m:sub>
                                <m:r>
                                  <a:rPr lang="zh-CN" sz="18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j</m:t>
                                </m:r>
                              </m:sub>
                            </m:sSub>
                          </m:num>
                          <m:den>
                            <m:nary>
                              <m:naryPr>
                                <m:chr m:val="∑"/>
                                <m:limLoc m:val="undOvr"/>
                                <m:grow m:val="off"/>
                                <m:subHide m:val="off"/>
                                <m:supHide m:val="off"/>
                                <m:ctrlPr>
                                  <a:rPr lang="zh-CN" sz="18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naryPr>
                              <m:sub>
                                <m:r>
                                  <a:rPr lang="zh-CN" sz="18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k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8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=</m:t>
                                </m:r>
                                <m:r>
                                  <a:rPr lang="zh-CN" sz="18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sub>
                              <m:sup>
                                <m:r>
                                  <a:rPr lang="zh-CN" sz="18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m</m:t>
                                </m:r>
                              </m:sup>
                              <m:e>
                                <m:r>
                                  <a:rPr lang="zh-CN" sz="18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V</m:t>
                                </m:r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 m:val="on"/>
                                    <m:ctrlPr>
                                      <a:rPr lang="zh-CN" sz="18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dPr>
                                  <m:e>
                                    <m:sSub>
                                      <m:e>
                                        <m:r>
                                          <a:rPr lang="zh-CN" sz="180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C</m:t>
                                        </m:r>
                                      </m:e>
                                      <m:sub>
                                        <m:r>
                                          <a:rPr lang="zh-CN" sz="180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k</m:t>
                                        </m:r>
                                      </m:sub>
                                    </m:sSub>
                                  </m:e>
                                </m:d>
                                <m:r>
                                  <a:rPr lang="zh-CN" sz="18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 xml:space="preserve"> </m:t>
                                </m:r>
                                <m:sSub>
                                  <m:e>
                                    <m:r>
                                      <a:rPr lang="zh-CN" sz="18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σ</m:t>
                                    </m:r>
                                  </m:e>
                                  <m:sub>
                                    <m:r>
                                      <a:rPr lang="zh-CN" sz="18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k</m:t>
                                    </m:r>
                                  </m:sub>
                                </m:sSub>
                              </m:e>
                            </m:nary>
                          </m:den>
                        </m:f>
                      </m:oMath>
                    </m:oMathPara>
                  </a14:m>
                </a:p>
              </p:txBody>
            </p:sp>
          </mc:Choice>
        </mc:AlternateContent>
      </p:grpSp>
      <p:grpSp>
        <p:nvGrpSpPr>
          <p:cNvPr id="31" name="c2-card-2"/>
          <p:cNvGrpSpPr/>
          <p:nvPr/>
        </p:nvGrpSpPr>
        <p:grpSpPr>
          <a:xfrm>
            <a:off x="6248400" y="3799522"/>
            <a:ext cx="5410200" cy="1250632"/>
            <a:chOff x="6248400" y="3799522"/>
            <a:chExt cx="5410200" cy="1250632"/>
          </a:xfrm>
        </p:grpSpPr>
        <p:sp>
          <p:nvSpPr>
            <p:cNvPr id="27" name="Rectangle 27"/>
            <p:cNvSpPr/>
            <p:nvPr/>
          </p:nvSpPr>
          <p:spPr>
            <a:xfrm>
              <a:off x="6248400" y="3799522"/>
              <a:ext cx="5410200" cy="1250632"/>
            </a:xfrm>
            <a:prstGeom prst="roundRect">
              <a:avLst>
                <a:gd name="adj" fmla="val 10663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6446520" y="3997642"/>
              <a:ext cx="742950" cy="24765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529959" y="4031932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推导思路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439281" y="4358164"/>
              <a:ext cx="4829556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在约束 Σnⱼ = N 下最小化 Σ V²(Cⱼ)σⱼ²/nⱼ。用拉格朗日乘子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法对 nⱼ 求导得 V²(Cⱼ)σⱼ²/nⱼ² = λ，所以 nⱼ ∝ V(Cⱼ)σⱼ。</a:t>
              </a:r>
            </a:p>
          </p:txBody>
        </p:sp>
      </p:grpSp>
      <p:grpSp>
        <p:nvGrpSpPr>
          <p:cNvPr id="38" name="c2-callout-3"/>
          <p:cNvGrpSpPr/>
          <p:nvPr/>
        </p:nvGrpSpPr>
        <p:grpSpPr>
          <a:xfrm>
            <a:off x="6248400" y="5230178"/>
            <a:ext cx="5410200" cy="756285"/>
            <a:chOff x="6248400" y="5230178"/>
            <a:chExt cx="5410200" cy="756285"/>
          </a:xfrm>
        </p:grpSpPr>
        <p:sp>
          <p:nvSpPr>
            <p:cNvPr id="32" name="Rectangle 32"/>
            <p:cNvSpPr/>
            <p:nvPr/>
          </p:nvSpPr>
          <p:spPr>
            <a:xfrm>
              <a:off x="6248400" y="5230178"/>
              <a:ext cx="5410200" cy="756285"/>
            </a:xfrm>
            <a:prstGeom prst="roundRect">
              <a:avLst>
                <a:gd name="adj" fmla="val 15113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36" name="Group 36"/>
            <p:cNvGrpSpPr/>
            <p:nvPr/>
          </p:nvGrpSpPr>
          <p:grpSpPr>
            <a:xfrm>
              <a:off x="6453188" y="5508308"/>
              <a:ext cx="200026" cy="200025"/>
              <a:chOff x="6453188" y="5508308"/>
              <a:chExt cx="200026" cy="200025"/>
            </a:xfrm>
          </p:grpSpPr>
          <p:sp>
            <p:nvSpPr>
              <p:cNvPr id="33" name="Freeform 33"/>
              <p:cNvSpPr/>
              <p:nvPr/>
            </p:nvSpPr>
            <p:spPr>
              <a:xfrm>
                <a:off x="6453188" y="550830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34" name="Freeform 34"/>
              <p:cNvSpPr/>
              <p:nvPr/>
            </p:nvSpPr>
            <p:spPr>
              <a:xfrm>
                <a:off x="6492926" y="555275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35" name="Freeform 35"/>
              <p:cNvSpPr/>
              <p:nvPr/>
            </p:nvSpPr>
            <p:spPr>
              <a:xfrm>
                <a:off x="6527642" y="566388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37" name="TextBox 37"/>
            <p:cNvSpPr txBox="1"/>
            <p:nvPr/>
          </p:nvSpPr>
          <p:spPr>
            <a:xfrm>
              <a:off x="6755511" y="5377339"/>
              <a:ext cx="4414774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层的体积越大、层内波动越大，分到的点越多；σⱼ 未知</a:t>
              </a:r>
              <a:br/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时先做小规模预模拟估计。</a:t>
              </a:r>
            </a:p>
          </p:txBody>
        </p:sp>
      </p:grpSp>
      <p:grpSp>
        <p:nvGrpSpPr>
          <p:cNvPr id="4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39" name="TextBox 39"/>
            <p:cNvSpPr txBox="1"/>
            <p:nvPr/>
          </p:nvSpPr>
          <p:spPr>
            <a:xfrm>
              <a:off x="528447" y="6581299"/>
              <a:ext cx="198882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统计计算 · 第3章 随机模拟（上）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114742" cy="909257"/>
            <a:chOff x="520446" y="342900"/>
            <a:chExt cx="711474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847975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3583" y="407194"/>
              <a:ext cx="27476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第3章 随机模拟（上） · 3.4 分层抽样法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11474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按离散随机变量分层求 E h(X)：去掉层间方差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c1-text-1"/>
          <p:cNvGrpSpPr/>
          <p:nvPr/>
        </p:nvGrpSpPr>
        <p:grpSpPr>
          <a:xfrm>
            <a:off x="526161" y="1547336"/>
            <a:ext cx="5244338" cy="558736"/>
            <a:chOff x="526161" y="1547336"/>
            <a:chExt cx="5244338" cy="558736"/>
          </a:xfrm>
        </p:grpSpPr>
        <p:sp>
          <p:nvSpPr>
            <p:cNvPr id="7" name="TextBox 7"/>
            <p:cNvSpPr txBox="1"/>
            <p:nvPr/>
          </p:nvSpPr>
          <p:spPr>
            <a:xfrm>
              <a:off x="526161" y="1547336"/>
              <a:ext cx="5244338" cy="5587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05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设离散型随机变量 Y 满足 pⱼ = P(Y = yⱼ)，j = 1, …, m，并且在 Y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= yⱼ 条件下可以从 X 的条件分布抽样。由双期望定理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formula275"/>
              <p:cNvSpPr txBox="1">
                <a:spLocks noGrp="1"/>
              </p:cNvSpPr>
              <p:nvPr/>
            </p:nvSpPr>
            <p:spPr>
              <a:xfrm>
                <a:off x="533400" y="2230755"/>
                <a:ext cx="5626418" cy="76676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zh-CN" sz="17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E</m:t>
                      </m:r>
                      <m:d>
                        <m:dPr>
                          <m:begChr m:val="["/>
                          <m:sepChr m:val=""/>
                          <m:endChr m:val="]"/>
                          <m:grow m:val="on"/>
                          <m:ctrlP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h</m:t>
                          </m:r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7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a:rPr lang="zh-CN" sz="17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X</m:t>
                              </m:r>
                            </m:e>
                          </m:d>
                        </m:e>
                      </m:d>
                      <m:r>
                        <m:rPr>
                          <m:sty m:val="p"/>
                        </m:rPr>
                        <a:rPr lang="zh-CN" sz="17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r>
                        <a:rPr lang="zh-CN" sz="17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E</m:t>
                      </m:r>
                      <m:d>
                        <m:dPr>
                          <m:begChr m:val="{"/>
                          <m:sepChr m:val=""/>
                          <m:endChr m:val="}"/>
                          <m:grow m:val="on"/>
                          <m:ctrlP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E</m:t>
                          </m:r>
                          <m:d>
                            <m:dPr>
                              <m:begChr m:val="["/>
                              <m:sepChr m:val=""/>
                              <m:endChr m:val="]"/>
                              <m:grow m:val="on"/>
                              <m:ctrlPr>
                                <a:rPr lang="zh-CN" sz="17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a:rPr lang="zh-CN" sz="17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h</m:t>
                              </m:r>
                              <m:d>
                                <m:dPr>
                                  <m:begChr m:val="("/>
                                  <m:sepChr m:val=""/>
                                  <m:endChr m:val=")"/>
                                  <m:grow m:val="on"/>
                                  <m:ctrlPr>
                                    <a:rPr lang="zh-CN" sz="17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dPr>
                                <m:e>
                                  <m:r>
                                    <a:rPr lang="zh-CN" sz="17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X</m:t>
                                  </m:r>
                                </m:e>
                              </m:d>
                              <m:r>
                                <m:rPr>
                                  <m:sty m:val="p"/>
                                </m:rPr>
                                <a:rPr lang="zh-CN" sz="17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∣</m:t>
                              </m:r>
                              <m:r>
                                <a:rPr lang="zh-CN" sz="17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Y</m:t>
                              </m:r>
                            </m:e>
                          </m:d>
                        </m:e>
                      </m:d>
                      <m:r>
                        <m:rPr>
                          <m:sty m:val="p"/>
                        </m:rPr>
                        <a:rPr lang="zh-CN" sz="17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grow m:val="off"/>
                          <m:subHide m:val="off"/>
                          <m:supHide m:val="off"/>
                          <m:ctrlP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naryPr>
                        <m:sub>
                          <m: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j</m:t>
                          </m:r>
                          <m:r>
                            <m:rPr>
                              <m:sty m:val="p"/>
                            </m:rP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=</m:t>
                          </m:r>
                          <m: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sub>
                        <m:sup>
                          <m: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m</m:t>
                          </m:r>
                        </m:sup>
                        <m:e>
                          <m: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E</m:t>
                          </m:r>
                          <m:d>
                            <m:dPr>
                              <m:begChr m:val="["/>
                              <m:sepChr m:val=""/>
                              <m:endChr m:val="]"/>
                              <m:grow m:val="on"/>
                              <m:ctrlPr>
                                <a:rPr lang="zh-CN" sz="17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a:rPr lang="zh-CN" sz="17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h</m:t>
                              </m:r>
                              <m:d>
                                <m:dPr>
                                  <m:begChr m:val="("/>
                                  <m:sepChr m:val=""/>
                                  <m:endChr m:val=")"/>
                                  <m:grow m:val="on"/>
                                  <m:ctrlPr>
                                    <a:rPr lang="zh-CN" sz="17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dPr>
                                <m:e>
                                  <m:r>
                                    <a:rPr lang="zh-CN" sz="17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X</m:t>
                                  </m:r>
                                </m:e>
                              </m:d>
                              <m:r>
                                <m:rPr>
                                  <m:sty m:val="p"/>
                                </m:rPr>
                                <a:rPr lang="zh-CN" sz="17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∣</m:t>
                              </m:r>
                              <m:r>
                                <a:rPr lang="zh-CN" sz="17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Y</m:t>
                              </m:r>
                              <m:r>
                                <m:rPr>
                                  <m:sty m:val="p"/>
                                </m:rPr>
                                <a:rPr lang="zh-CN" sz="17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=</m:t>
                              </m:r>
                              <m:sSub>
                                <m:e>
                                  <m:r>
                                    <a:rPr lang="zh-CN" sz="17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y</m:t>
                                  </m:r>
                                </m:e>
                                <m:sub>
                                  <m:r>
                                    <a:rPr lang="zh-CN" sz="17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j</m:t>
                                  </m:r>
                                </m:sub>
                              </m:sSub>
                            </m:e>
                          </m:d>
                          <m:sSub>
                            <m:e>
                              <m:r>
                                <a:rPr lang="zh-CN" sz="17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p</m:t>
                              </m:r>
                            </m:e>
                            <m:sub>
                              <m:r>
                                <a:rPr lang="zh-CN" sz="17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j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</a:p>
            </p:txBody>
          </p:sp>
        </mc:Choice>
      </mc:AlternateContent>
      <p:grpSp>
        <p:nvGrpSpPr>
          <p:cNvPr id="11" name="c1-text-3"/>
          <p:cNvGrpSpPr/>
          <p:nvPr/>
        </p:nvGrpSpPr>
        <p:grpSpPr>
          <a:xfrm>
            <a:off x="526161" y="3200876"/>
            <a:ext cx="5262372" cy="558736"/>
            <a:chOff x="526161" y="3200876"/>
            <a:chExt cx="5262372" cy="558736"/>
          </a:xfrm>
        </p:grpSpPr>
        <p:sp>
          <p:nvSpPr>
            <p:cNvPr id="10" name="TextBox 10"/>
            <p:cNvSpPr txBox="1"/>
            <p:nvPr/>
          </p:nvSpPr>
          <p:spPr>
            <a:xfrm>
              <a:off x="526161" y="3200876"/>
              <a:ext cx="5262372" cy="5587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05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在 Y = yⱼ 条件下生成 X 的 Nⱼ = Npⱼ 个抽样值 Xᵢ⁽ʲ⁾，用它们的平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均估计 E[h(X)|Y = yⱼ]：</a:t>
              </a:r>
            </a:p>
          </p:txBody>
        </p:sp>
      </p:grpSp>
      <p:grpSp>
        <p:nvGrpSpPr>
          <p:cNvPr id="16" name="c1-card-4"/>
          <p:cNvGrpSpPr/>
          <p:nvPr/>
        </p:nvGrpSpPr>
        <p:grpSpPr>
          <a:xfrm>
            <a:off x="533400" y="3884295"/>
            <a:ext cx="5626418" cy="2238375"/>
            <a:chOff x="533400" y="3884295"/>
            <a:chExt cx="5626418" cy="2238375"/>
          </a:xfrm>
        </p:grpSpPr>
        <p:sp>
          <p:nvSpPr>
            <p:cNvPr id="12" name="Rectangle 12"/>
            <p:cNvSpPr/>
            <p:nvPr/>
          </p:nvSpPr>
          <p:spPr>
            <a:xfrm>
              <a:off x="533400" y="3884295"/>
              <a:ext cx="5626418" cy="2238375"/>
            </a:xfrm>
            <a:prstGeom prst="roundRect">
              <a:avLst>
                <a:gd name="adj" fmla="val 5957"/>
              </a:avLst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731520" y="4082415"/>
              <a:ext cx="1317308" cy="247650"/>
            </a:xfrm>
            <a:prstGeom prst="roundRect">
              <a:avLst>
                <a:gd name="adj" fmla="val 50000"/>
              </a:avLst>
            </a:prstGeom>
            <a:solidFill>
              <a:srgbClr val="23613D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798003" y="4116705"/>
              <a:ext cx="118529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分层估计（13.2）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5" name="formula276"/>
                <p:cNvSpPr txBox="1">
                  <a:spLocks noGrp="1"/>
                </p:cNvSpPr>
                <p:nvPr/>
              </p:nvSpPr>
              <p:spPr>
                <a:xfrm>
                  <a:off x="731520" y="4419600"/>
                  <a:ext cx="5230178" cy="8001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acc>
                          <m:accPr>
                            <m:chr m:val="ˆ"/>
                            <m:ctrlPr>
                              <a:rPr lang="zh-CN" sz="18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accPr>
                          <m:e>
                            <m:r>
                              <a:rPr lang="zh-CN" sz="18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θ</m:t>
                            </m:r>
                          </m:e>
                        </m:acc>
                        <m:r>
                          <m:rPr>
                            <m:sty m:val="p"/>
                          </m:rPr>
                          <a:rPr lang="zh-CN" sz="180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nary>
                          <m:naryPr>
                            <m:chr m:val="∑"/>
                            <m:limLoc m:val="undOvr"/>
                            <m:grow m:val="off"/>
                            <m:subHide m:val="off"/>
                            <m:supHide m:val="off"/>
                            <m:ctrlPr>
                              <a:rPr lang="zh-CN" sz="18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naryPr>
                          <m:sub>
                            <m:r>
                              <a:rPr lang="zh-CN" sz="18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j</m:t>
                            </m:r>
                            <m:r>
                              <m:rPr>
                                <m:sty m:val="p"/>
                              </m:rPr>
                              <a:rPr lang="zh-CN" sz="18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=</m:t>
                            </m:r>
                            <m:r>
                              <a:rPr lang="zh-CN" sz="18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sub>
                          <m:sup>
                            <m:r>
                              <a:rPr lang="zh-CN" sz="18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m</m:t>
                            </m:r>
                          </m:sup>
                          <m:e>
                            <m:f>
                              <m:fPr>
                                <m:type m:val="bar"/>
                                <m:ctrlPr>
                                  <a:rPr lang="zh-CN" sz="18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fPr>
                              <m:num>
                                <m:r>
                                  <a:rPr lang="zh-CN" sz="18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num>
                              <m:den>
                                <m:sSub>
                                  <m:e>
                                    <m:r>
                                      <a:rPr lang="zh-CN" sz="180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N</m:t>
                                    </m:r>
                                  </m:e>
                                  <m:sub>
                                    <m:r>
                                      <a:rPr lang="zh-CN" sz="180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j</m:t>
                                    </m:r>
                                  </m:sub>
                                </m:sSub>
                              </m:den>
                            </m:f>
                            <m:nary>
                              <m:naryPr>
                                <m:chr m:val="∑"/>
                                <m:limLoc m:val="undOvr"/>
                                <m:grow m:val="off"/>
                                <m:subHide m:val="off"/>
                                <m:supHide m:val="off"/>
                                <m:ctrlPr>
                                  <a:rPr lang="zh-CN" sz="18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naryPr>
                              <m:sub>
                                <m:r>
                                  <a:rPr lang="zh-CN" sz="18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i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8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=</m:t>
                                </m:r>
                                <m:r>
                                  <a:rPr lang="zh-CN" sz="18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sub>
                              <m:sup>
                                <m:sSub>
                                  <m:e>
                                    <m:r>
                                      <a:rPr lang="zh-CN" sz="180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N</m:t>
                                    </m:r>
                                  </m:e>
                                  <m:sub>
                                    <m:r>
                                      <a:rPr lang="zh-CN" sz="180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j</m:t>
                                    </m:r>
                                  </m:sub>
                                </m:sSub>
                              </m:sup>
                              <m:e>
                                <m:r>
                                  <a:rPr lang="zh-CN" sz="18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h</m:t>
                                </m:r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 m:val="on"/>
                                    <m:ctrlPr>
                                      <a:rPr lang="zh-CN" sz="180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dPr>
                                  <m:e>
                                    <m:sSubSup>
                                      <m:e>
                                        <m:r>
                                          <a:rPr lang="zh-CN" sz="1800" dirty="0">
                                            <a:solidFill>
                                              <a:srgbClr val="FFFFFF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X</m:t>
                                        </m:r>
                                      </m:e>
                                      <m:sub>
                                        <m:r>
                                          <a:rPr lang="zh-CN" sz="1800" dirty="0">
                                            <a:solidFill>
                                              <a:srgbClr val="FFFFFF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i</m:t>
                                        </m:r>
                                      </m:sub>
                                      <m:sup>
                                        <m:d>
                                          <m:dPr>
                                            <m:begChr m:val="("/>
                                            <m:sepChr m:val=""/>
                                            <m:endChr m:val=")"/>
                                            <m:grow m:val="on"/>
                                            <m:ctrlPr>
                                              <a:rPr lang="zh-CN" sz="1800" dirty="0">
                                                <a:solidFill>
                                                  <a:srgbClr val="FFFFFF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a:rPr lang="zh-CN" sz="1800" dirty="0">
                                                <a:solidFill>
                                                  <a:srgbClr val="FFFFFF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  <m:t>j</m:t>
                                            </m:r>
                                          </m:e>
                                        </m:d>
                                      </m:sup>
                                    </m:sSubSup>
                                  </m:e>
                                </m:d>
                                <m:sSub>
                                  <m:e>
                                    <m:r>
                                      <a:rPr lang="zh-CN" sz="180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p</m:t>
                                    </m:r>
                                  </m:e>
                                  <m:sub>
                                    <m:r>
                                      <a:rPr lang="zh-CN" sz="180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j</m:t>
                                    </m:r>
                                  </m:sub>
                                </m:sSub>
                              </m:e>
                            </m:nary>
                          </m:e>
                        </m:nary>
                        <m:r>
                          <m:rPr>
                            <m:sty m:val="p"/>
                          </m:rPr>
                          <a:rPr lang="zh-CN" sz="180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f>
                          <m:fPr>
                            <m:type m:val="bar"/>
                            <m:ctrlPr>
                              <a:rPr lang="zh-CN" sz="18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r>
                              <a:rPr lang="zh-CN" sz="18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num>
                          <m:den>
                            <m:r>
                              <a:rPr lang="zh-CN" sz="18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N</m:t>
                            </m:r>
                          </m:den>
                        </m:f>
                        <m:nary>
                          <m:naryPr>
                            <m:chr m:val="∑"/>
                            <m:limLoc m:val="undOvr"/>
                            <m:grow m:val="off"/>
                            <m:subHide m:val="off"/>
                            <m:supHide m:val="off"/>
                            <m:ctrlPr>
                              <a:rPr lang="zh-CN" sz="18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naryPr>
                          <m:sub>
                            <m:r>
                              <a:rPr lang="zh-CN" sz="18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j</m:t>
                            </m:r>
                            <m:r>
                              <m:rPr>
                                <m:sty m:val="p"/>
                              </m:rPr>
                              <a:rPr lang="zh-CN" sz="18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=</m:t>
                            </m:r>
                            <m:r>
                              <a:rPr lang="zh-CN" sz="18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sub>
                          <m:sup>
                            <m:r>
                              <a:rPr lang="zh-CN" sz="18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m</m:t>
                            </m:r>
                          </m:sup>
                          <m:e>
                            <m:nary>
                              <m:naryPr>
                                <m:chr m:val="∑"/>
                                <m:limLoc m:val="undOvr"/>
                                <m:grow m:val="off"/>
                                <m:subHide m:val="off"/>
                                <m:supHide m:val="off"/>
                                <m:ctrlPr>
                                  <a:rPr lang="zh-CN" sz="18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naryPr>
                              <m:sub>
                                <m:r>
                                  <a:rPr lang="zh-CN" sz="18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i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8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=</m:t>
                                </m:r>
                                <m:r>
                                  <a:rPr lang="zh-CN" sz="18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sub>
                              <m:sup>
                                <m:r>
                                  <a:rPr lang="zh-CN" sz="18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N</m:t>
                                </m:r>
                                <m:sSub>
                                  <m:e>
                                    <m:r>
                                      <a:rPr lang="zh-CN" sz="180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p</m:t>
                                    </m:r>
                                  </m:e>
                                  <m:sub>
                                    <m:r>
                                      <a:rPr lang="zh-CN" sz="180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j</m:t>
                                    </m:r>
                                  </m:sub>
                                </m:sSub>
                              </m:sup>
                              <m:e>
                                <m:r>
                                  <a:rPr lang="zh-CN" sz="18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h</m:t>
                                </m:r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 m:val="on"/>
                                    <m:ctrlPr>
                                      <a:rPr lang="zh-CN" sz="180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dPr>
                                  <m:e>
                                    <m:sSubSup>
                                      <m:e>
                                        <m:r>
                                          <a:rPr lang="zh-CN" sz="1800" dirty="0">
                                            <a:solidFill>
                                              <a:srgbClr val="FFFFFF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X</m:t>
                                        </m:r>
                                      </m:e>
                                      <m:sub>
                                        <m:r>
                                          <a:rPr lang="zh-CN" sz="1800" dirty="0">
                                            <a:solidFill>
                                              <a:srgbClr val="FFFFFF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i</m:t>
                                        </m:r>
                                      </m:sub>
                                      <m:sup>
                                        <m:d>
                                          <m:dPr>
                                            <m:begChr m:val="("/>
                                            <m:sepChr m:val=""/>
                                            <m:endChr m:val=")"/>
                                            <m:grow m:val="on"/>
                                            <m:ctrlPr>
                                              <a:rPr lang="zh-CN" sz="1800" dirty="0">
                                                <a:solidFill>
                                                  <a:srgbClr val="FFFFFF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a:rPr lang="zh-CN" sz="1800" dirty="0">
                                                <a:solidFill>
                                                  <a:srgbClr val="FFFFFF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  <m:t>j</m:t>
                                            </m:r>
                                          </m:e>
                                        </m:d>
                                      </m:sup>
                                    </m:sSubSup>
                                  </m:e>
                                </m:d>
                              </m:e>
                            </m:nary>
                          </m:e>
                        </m:nary>
                      </m:oMath>
                    </m:oMathPara>
                  </a14:m>
                </a:p>
              </p:txBody>
            </p:sp>
          </mc:Choice>
        </mc:AlternateContent>
      </p:grpSp>
      <p:grpSp>
        <p:nvGrpSpPr>
          <p:cNvPr id="18" name="c2-text-1"/>
          <p:cNvGrpSpPr/>
          <p:nvPr/>
        </p:nvGrpSpPr>
        <p:grpSpPr>
          <a:xfrm>
            <a:off x="6457379" y="1547336"/>
            <a:ext cx="4286913" cy="278702"/>
            <a:chOff x="6457379" y="1547336"/>
            <a:chExt cx="4286913" cy="278702"/>
          </a:xfrm>
        </p:grpSpPr>
        <p:sp>
          <p:nvSpPr>
            <p:cNvPr id="17" name="TextBox 17"/>
            <p:cNvSpPr txBox="1"/>
            <p:nvPr/>
          </p:nvSpPr>
          <p:spPr>
            <a:xfrm>
              <a:off x="6457379" y="1547336"/>
              <a:ext cx="428691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这是 θ 的无偏和强相合估计，估计方差为（13.3）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9" name="formula277"/>
              <p:cNvSpPr txBox="1">
                <a:spLocks noGrp="1"/>
              </p:cNvSpPr>
              <p:nvPr/>
            </p:nvSpPr>
            <p:spPr>
              <a:xfrm>
                <a:off x="6464618" y="1950720"/>
                <a:ext cx="5193982" cy="12344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eqArr>
                        <m:eqArrPr>
                          <m:baseJc m:val="center"/>
                        </m:eqArrPr>
                        <m:e>
                          <m:r>
                            <m:rPr>
                              <m:sty m:val="p"/>
                            </m:rP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Var</m:t>
                          </m:r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ˆ"/>
                                  <m:ctrlPr>
                                    <a:rPr lang="zh-CN" sz="18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accPr>
                                <m:e>
                                  <m:r>
                                    <a:rPr lang="zh-CN" sz="18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θ</m:t>
                                  </m:r>
                                </m:e>
                              </m:acc>
                            </m:e>
                          </m:d>
                          <m: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&amp;</m:t>
                          </m:r>
                          <m:r>
                            <m:rPr>
                              <m:sty m:val="p"/>
                            </m:rP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=</m:t>
                          </m:r>
                          <m:f>
                            <m:fPr>
                              <m:type m:val="bar"/>
                              <m:ctrlP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fPr>
                            <m:num>
                              <m: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1</m:t>
                              </m:r>
                            </m:num>
                            <m:den>
                              <m:sSup>
                                <m:e>
                                  <m:r>
                                    <a:rPr lang="zh-CN" sz="18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N</m:t>
                                  </m:r>
                                </m:e>
                                <m:sup>
                                  <m:r>
                                    <a:rPr lang="zh-CN" sz="18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  <m:nary>
                            <m:naryPr>
                              <m:chr m:val="∑"/>
                              <m:limLoc m:val="undOvr"/>
                              <m:grow m:val="off"/>
                              <m:subHide m:val="off"/>
                              <m:supHide m:val="off"/>
                              <m:ctrlP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naryPr>
                            <m:sub>
                              <m: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j</m:t>
                              </m:r>
                              <m:r>
                                <m:rPr>
                                  <m:sty m:val="p"/>
                                </m:rP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=</m:t>
                              </m:r>
                              <m: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m</m:t>
                              </m:r>
                            </m:sup>
                            <m:e>
                              <m: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N</m:t>
                              </m:r>
                              <m:sSub>
                                <m:e>
                                  <m:r>
                                    <a:rPr lang="zh-CN" sz="18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p</m:t>
                                  </m:r>
                                </m:e>
                                <m:sub>
                                  <m:r>
                                    <a:rPr lang="zh-CN" sz="18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j</m:t>
                                  </m:r>
                                </m:sub>
                              </m:sSub>
                              <m: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 xml:space="preserve"> </m:t>
                              </m:r>
                              <m:r>
                                <m:rPr>
                                  <m:sty m:val="p"/>
                                </m:rP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Var</m:t>
                              </m:r>
                              <m:d>
                                <m:dPr>
                                  <m:begChr m:val="["/>
                                  <m:sepChr m:val=""/>
                                  <m:endChr m:val="]"/>
                                  <m:grow m:val="on"/>
                                  <m:ctrlPr>
                                    <a:rPr lang="zh-CN" sz="18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dPr>
                                <m:e>
                                  <m:r>
                                    <a:rPr lang="zh-CN" sz="18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h</m:t>
                                  </m:r>
                                  <m:d>
                                    <m:dPr>
                                      <m:begChr m:val="("/>
                                      <m:sepChr m:val=""/>
                                      <m:endChr m:val=")"/>
                                      <m:grow m:val="on"/>
                                      <m:ctrlPr>
                                        <a:rPr lang="zh-CN" sz="180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zh-CN" sz="180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X</m:t>
                                      </m:r>
                                    </m:e>
                                  </m:d>
                                  <m:r>
                                    <m:rPr>
                                      <m:sty m:val="p"/>
                                    </m:rPr>
                                    <a:rPr lang="zh-CN" sz="18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∣</m:t>
                                  </m:r>
                                  <m:r>
                                    <a:rPr lang="zh-CN" sz="18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Y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zh-CN" sz="18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=</m:t>
                                  </m:r>
                                  <m:sSub>
                                    <m:e>
                                      <m:r>
                                        <a:rPr lang="zh-CN" sz="180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y</m:t>
                                      </m:r>
                                    </m:e>
                                    <m:sub>
                                      <m:r>
                                        <a:rPr lang="zh-CN" sz="180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j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nary>
                        </m:e>
                        <m:e>
                          <m: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&amp;</m:t>
                          </m:r>
                          <m:r>
                            <m:rPr>
                              <m:sty m:val="p"/>
                            </m:rP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=</m:t>
                          </m:r>
                          <m:f>
                            <m:fPr>
                              <m:type m:val="bar"/>
                              <m:ctrlP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fPr>
                            <m:num>
                              <m: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N</m:t>
                              </m:r>
                            </m:den>
                          </m:f>
                          <m: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E</m:t>
                          </m:r>
                          <m:d>
                            <m:dPr>
                              <m:begChr m:val="{"/>
                              <m:sepChr m:val=""/>
                              <m:endChr m:val="}"/>
                              <m:grow m:val="on"/>
                              <m:ctrlP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Var</m:t>
                              </m:r>
                              <m:d>
                                <m:dPr>
                                  <m:begChr m:val="["/>
                                  <m:sepChr m:val=""/>
                                  <m:endChr m:val="]"/>
                                  <m:grow m:val="on"/>
                                  <m:ctrlPr>
                                    <a:rPr lang="zh-CN" sz="18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dPr>
                                <m:e>
                                  <m:r>
                                    <a:rPr lang="zh-CN" sz="18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h</m:t>
                                  </m:r>
                                  <m:d>
                                    <m:dPr>
                                      <m:begChr m:val="("/>
                                      <m:sepChr m:val=""/>
                                      <m:endChr m:val=")"/>
                                      <m:grow m:val="on"/>
                                      <m:ctrlPr>
                                        <a:rPr lang="zh-CN" sz="180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zh-CN" sz="180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X</m:t>
                                      </m:r>
                                    </m:e>
                                  </m:d>
                                  <m:r>
                                    <m:rPr>
                                      <m:sty m:val="p"/>
                                    </m:rPr>
                                    <a:rPr lang="zh-CN" sz="18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∣</m:t>
                                  </m:r>
                                  <m:r>
                                    <a:rPr lang="zh-CN" sz="18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Y</m:t>
                                  </m:r>
                                </m:e>
                              </m:d>
                            </m:e>
                          </m:d>
                          <m:r>
                            <m:rPr>
                              <m:sty m:val="p"/>
                            </m:rP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≤</m:t>
                          </m:r>
                          <m:f>
                            <m:fPr>
                              <m:type m:val="bar"/>
                              <m:ctrlP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fPr>
                            <m:num>
                              <m: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N</m:t>
                              </m:r>
                            </m:den>
                          </m:f>
                          <m:r>
                            <m:rPr>
                              <m:sty m:val="p"/>
                            </m:rP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Var</m:t>
                          </m:r>
                          <m:d>
                            <m:dPr>
                              <m:begChr m:val="["/>
                              <m:sepChr m:val=""/>
                              <m:endChr m:val="]"/>
                              <m:grow m:val="on"/>
                              <m:ctrlP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h</m:t>
                              </m:r>
                              <m:d>
                                <m:dPr>
                                  <m:begChr m:val="("/>
                                  <m:sepChr m:val=""/>
                                  <m:endChr m:val=")"/>
                                  <m:grow m:val="on"/>
                                  <m:ctrlPr>
                                    <a:rPr lang="zh-CN" sz="18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dPr>
                                <m:e>
                                  <m:r>
                                    <a:rPr lang="zh-CN" sz="18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X</m:t>
                                  </m:r>
                                </m:e>
                              </m:d>
                            </m:e>
                          </m:d>
                        </m:e>
                      </m:eqArr>
                    </m:oMath>
                  </m:oMathPara>
                </a14:m>
              </a:p>
            </p:txBody>
          </p:sp>
        </mc:Choice>
      </mc:AlternateContent>
      <p:grpSp>
        <p:nvGrpSpPr>
          <p:cNvPr id="25" name="c2-callout-3"/>
          <p:cNvGrpSpPr/>
          <p:nvPr/>
        </p:nvGrpSpPr>
        <p:grpSpPr>
          <a:xfrm>
            <a:off x="6464618" y="3365182"/>
            <a:ext cx="5193982" cy="1281112"/>
            <a:chOff x="6464618" y="3365182"/>
            <a:chExt cx="5193982" cy="1281112"/>
          </a:xfrm>
        </p:grpSpPr>
        <p:sp>
          <p:nvSpPr>
            <p:cNvPr id="20" name="Rectangle 20"/>
            <p:cNvSpPr/>
            <p:nvPr/>
          </p:nvSpPr>
          <p:spPr>
            <a:xfrm>
              <a:off x="6464618" y="3365182"/>
              <a:ext cx="5193982" cy="1281112"/>
            </a:xfrm>
            <a:prstGeom prst="roundRect">
              <a:avLst>
                <a:gd name="adj" fmla="val 8922"/>
              </a:avLst>
            </a:prstGeom>
            <a:solidFill>
              <a:srgbClr val="2E7D4F"/>
            </a:solidFill>
            <a:ln>
              <a:noFill/>
            </a:ln>
          </p:spPr>
        </p:sp>
        <p:grpSp>
          <p:nvGrpSpPr>
            <p:cNvPr id="23" name="Group 23"/>
            <p:cNvGrpSpPr/>
            <p:nvPr/>
          </p:nvGrpSpPr>
          <p:grpSpPr>
            <a:xfrm>
              <a:off x="6669405" y="3905252"/>
              <a:ext cx="200023" cy="200023"/>
              <a:chOff x="6669405" y="3905252"/>
              <a:chExt cx="200023" cy="200023"/>
            </a:xfrm>
          </p:grpSpPr>
          <p:sp>
            <p:nvSpPr>
              <p:cNvPr id="21" name="Freeform 21"/>
              <p:cNvSpPr/>
              <p:nvPr/>
            </p:nvSpPr>
            <p:spPr>
              <a:xfrm>
                <a:off x="6669405" y="3905252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22" name="Freeform 22"/>
              <p:cNvSpPr/>
              <p:nvPr/>
            </p:nvSpPr>
            <p:spPr>
              <a:xfrm>
                <a:off x="6802755" y="397192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24" name="TextBox 24"/>
            <p:cNvSpPr txBox="1"/>
            <p:nvPr/>
          </p:nvSpPr>
          <p:spPr>
            <a:xfrm>
              <a:off x="6971729" y="3512344"/>
              <a:ext cx="4297553" cy="10673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不等号来自方差分解：Var h(X) = E[Var(h(X)|Y)] +</a:t>
              </a:r>
              <a:br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Var[E(h(X)|Y)]。按比例分层把层间方差</a:t>
              </a:r>
              <a:br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Var[E(h(X)|Y)] 整个去掉了，所以方差比直接用平均</a:t>
              </a:r>
              <a:br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值法小。</a:t>
              </a:r>
            </a:p>
          </p:txBody>
        </p:sp>
      </p:grpSp>
      <p:grpSp>
        <p:nvGrpSpPr>
          <p:cNvPr id="34" name="c2-card-4"/>
          <p:cNvGrpSpPr/>
          <p:nvPr/>
        </p:nvGrpSpPr>
        <p:grpSpPr>
          <a:xfrm>
            <a:off x="6464618" y="4826318"/>
            <a:ext cx="5193982" cy="1297305"/>
            <a:chOff x="6464618" y="4826318"/>
            <a:chExt cx="5193982" cy="1297305"/>
          </a:xfrm>
        </p:grpSpPr>
        <p:sp>
          <p:nvSpPr>
            <p:cNvPr id="26" name="Rectangle 26"/>
            <p:cNvSpPr/>
            <p:nvPr/>
          </p:nvSpPr>
          <p:spPr>
            <a:xfrm>
              <a:off x="6464618" y="4826318"/>
              <a:ext cx="5193982" cy="1297305"/>
            </a:xfrm>
            <a:prstGeom prst="roundRect">
              <a:avLst>
                <a:gd name="adj" fmla="val 1027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7" name="Rectangle 27"/>
            <p:cNvSpPr/>
            <p:nvPr/>
          </p:nvSpPr>
          <p:spPr>
            <a:xfrm>
              <a:off x="6474142" y="4959668"/>
              <a:ext cx="47625" cy="1030605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6700838" y="5024438"/>
              <a:ext cx="1676400" cy="247650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756273" y="5058728"/>
              <a:ext cx="156552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样本量还能再分得好一些</a:t>
              </a:r>
            </a:p>
          </p:txBody>
        </p:sp>
        <p:sp>
          <p:nvSpPr>
            <p:cNvPr id="30" name="Ellipse 30"/>
            <p:cNvSpPr/>
            <p:nvPr/>
          </p:nvSpPr>
          <p:spPr>
            <a:xfrm>
              <a:off x="6708458" y="5445442"/>
              <a:ext cx="60960" cy="6096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865048" y="5384959"/>
              <a:ext cx="455688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按比例分配 Nⱼ = Npⱼ：方差 (1/N)·Σ pⱼσⱼ²，即上式</a:t>
              </a:r>
            </a:p>
          </p:txBody>
        </p:sp>
        <p:sp>
          <p:nvSpPr>
            <p:cNvPr id="32" name="Ellipse 32"/>
            <p:cNvSpPr/>
            <p:nvPr/>
          </p:nvSpPr>
          <p:spPr>
            <a:xfrm>
              <a:off x="6708458" y="5762625"/>
              <a:ext cx="60960" cy="6096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865048" y="5703094"/>
              <a:ext cx="435057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最优分配 Nⱼ ∝ pⱼσⱼ：方差 (1/N)·(Σ pⱼσⱼ)² 更小</a:t>
              </a:r>
            </a:p>
          </p:txBody>
        </p:sp>
      </p:grpSp>
      <p:grpSp>
        <p:nvGrpSpPr>
          <p:cNvPr id="3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35" name="TextBox 35"/>
            <p:cNvSpPr txBox="1"/>
            <p:nvPr/>
          </p:nvSpPr>
          <p:spPr>
            <a:xfrm>
              <a:off x="528447" y="6581299"/>
              <a:ext cx="198882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统计计算 · 第3章 随机模拟（上）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263130" cy="909257"/>
            <a:chOff x="520446" y="342900"/>
            <a:chExt cx="7263130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847975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3583" y="407194"/>
              <a:ext cx="27476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第3章 随机模拟（上） · 3.4 分层抽样法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26313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例13.2 把 (0, 1) 等分成 m 层，每层抽 1 个点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c1-text-1"/>
          <p:cNvGrpSpPr/>
          <p:nvPr/>
        </p:nvGrpSpPr>
        <p:grpSpPr>
          <a:xfrm>
            <a:off x="526161" y="1547336"/>
            <a:ext cx="5407501" cy="278702"/>
            <a:chOff x="526161" y="1547336"/>
            <a:chExt cx="5407501" cy="278702"/>
          </a:xfrm>
        </p:grpSpPr>
        <p:sp>
          <p:nvSpPr>
            <p:cNvPr id="7" name="TextBox 7"/>
            <p:cNvSpPr txBox="1"/>
            <p:nvPr/>
          </p:nvSpPr>
          <p:spPr>
            <a:xfrm>
              <a:off x="526161" y="1547336"/>
              <a:ext cx="540750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设 U ~ U(0,1)，用分层抽样法估计 θ = E h(U) = ∫₀¹ h(x)dx。</a:t>
              </a:r>
            </a:p>
          </p:txBody>
        </p:sp>
      </p:grpSp>
      <p:grpSp>
        <p:nvGrpSpPr>
          <p:cNvPr id="26" name="c1-steps-2"/>
          <p:cNvGrpSpPr/>
          <p:nvPr/>
        </p:nvGrpSpPr>
        <p:grpSpPr>
          <a:xfrm>
            <a:off x="533400" y="1960245"/>
            <a:ext cx="5324856" cy="2840736"/>
            <a:chOff x="533400" y="1960245"/>
            <a:chExt cx="5324856" cy="2840736"/>
          </a:xfrm>
        </p:grpSpPr>
        <p:sp>
          <p:nvSpPr>
            <p:cNvPr id="9" name="Rectangle 9"/>
            <p:cNvSpPr/>
            <p:nvPr/>
          </p:nvSpPr>
          <p:spPr>
            <a:xfrm>
              <a:off x="666750" y="2103120"/>
              <a:ext cx="19050" cy="229266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0" name="Ellipse 10"/>
            <p:cNvSpPr/>
            <p:nvPr/>
          </p:nvSpPr>
          <p:spPr>
            <a:xfrm>
              <a:off x="533400" y="1960245"/>
              <a:ext cx="285750" cy="28575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27024" y="203406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533400" y="2797492"/>
              <a:ext cx="285750" cy="28575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627024" y="287131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533400" y="3414712"/>
              <a:ext cx="285750" cy="28575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27024" y="348853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533400" y="4251960"/>
              <a:ext cx="285750" cy="28575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27024" y="432577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45261" y="1993106"/>
              <a:ext cx="116144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定义分层变量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46404" y="2273618"/>
              <a:ext cx="4911852" cy="4556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4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令 Y = ceiling(mU)，即当且仅当 (j−1)/m &lt; U ≤ j/m 时 Y = j，P(Y = j) =</a:t>
              </a:r>
              <a:br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1/m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945261" y="2830354"/>
              <a:ext cx="83185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按 Y 分解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46404" y="3110865"/>
              <a:ext cx="411014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θ = Σ E[h(U)|Y = j]·P(Y = j) = (1/m)·Σ E[h(U)|Y = j]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45261" y="3447574"/>
              <a:ext cx="7791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条件分布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46404" y="3728085"/>
              <a:ext cx="4599432" cy="4556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4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Y = j 条件下 U 服从 ((j−1)/m, j/m) 上的均匀分布，可写成 (j − 1 +</a:t>
              </a:r>
              <a:br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Uⱼ)/m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45261" y="4285774"/>
              <a:ext cx="124540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每层取 Nⱼ = 1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46404" y="4566285"/>
              <a:ext cx="418109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 m 个独立的 U(0,1) 随机数 U₁, …, Uₘ 得到下面的估计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27" name="formula280"/>
              <p:cNvSpPr txBox="1">
                <a:spLocks noGrp="1"/>
              </p:cNvSpPr>
              <p:nvPr/>
            </p:nvSpPr>
            <p:spPr>
              <a:xfrm>
                <a:off x="533400" y="4972050"/>
                <a:ext cx="5626418" cy="800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acc>
                        <m:accPr>
                          <m:chr m:val="ˆ"/>
                          <m:ctrlP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accPr>
                        <m:e>
                          <m: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θ</m:t>
                          </m:r>
                        </m:e>
                      </m:acc>
                      <m:r>
                        <m:rPr>
                          <m:sty m:val="p"/>
                        </m:rPr>
                        <a:rPr lang="zh-CN" sz="18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f>
                        <m:fPr>
                          <m:type m:val="bar"/>
                          <m:ctrlP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num>
                        <m:den>
                          <m: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m</m:t>
                          </m:r>
                        </m:den>
                      </m:f>
                      <m:nary>
                        <m:naryPr>
                          <m:chr m:val="∑"/>
                          <m:limLoc m:val="undOvr"/>
                          <m:grow m:val="off"/>
                          <m:subHide m:val="off"/>
                          <m:supHide m:val="off"/>
                          <m:ctrlP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naryPr>
                        <m:sub>
                          <m: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j</m:t>
                          </m:r>
                          <m:r>
                            <m:rPr>
                              <m:sty m:val="p"/>
                            </m:rP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=</m:t>
                          </m:r>
                          <m: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sub>
                        <m:sup>
                          <m: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m</m:t>
                          </m:r>
                        </m:sup>
                        <m:e>
                          <m: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h</m:t>
                          </m:r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f>
                                <m:fPr>
                                  <m:type m:val="bar"/>
                                  <m:ctrlPr>
                                    <a:rPr lang="zh-CN" sz="18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fPr>
                                <m:num>
                                  <m:r>
                                    <a:rPr lang="zh-CN" sz="18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j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zh-CN" sz="18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−</m:t>
                                  </m:r>
                                  <m:r>
                                    <a:rPr lang="zh-CN" sz="18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1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zh-CN" sz="18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+</m:t>
                                  </m:r>
                                  <m:sSub>
                                    <m:e>
                                      <m:r>
                                        <a:rPr lang="zh-CN" sz="180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U</m:t>
                                      </m:r>
                                    </m:e>
                                    <m:sub>
                                      <m:r>
                                        <a:rPr lang="zh-CN" sz="180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j</m:t>
                                      </m:r>
                                    </m:sub>
                                  </m:sSub>
                                </m:num>
                                <m:den>
                                  <m:r>
                                    <a:rPr lang="zh-CN" sz="18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m</m:t>
                                  </m:r>
                                </m:den>
                              </m:f>
                            </m:e>
                          </m:d>
                        </m:e>
                      </m:nary>
                    </m:oMath>
                  </m:oMathPara>
                </a14:m>
              </a:p>
            </p:txBody>
          </p:sp>
        </mc:Choice>
      </mc:AlternateContent>
      <p:grpSp>
        <p:nvGrpSpPr>
          <p:cNvPr id="46" name="c2-card-1"/>
          <p:cNvGrpSpPr/>
          <p:nvPr/>
        </p:nvGrpSpPr>
        <p:grpSpPr>
          <a:xfrm>
            <a:off x="6464618" y="1524000"/>
            <a:ext cx="5193982" cy="2321242"/>
            <a:chOff x="6464618" y="1524000"/>
            <a:chExt cx="5193982" cy="2321242"/>
          </a:xfrm>
        </p:grpSpPr>
        <p:sp>
          <p:nvSpPr>
            <p:cNvPr id="28" name="Rectangle 28"/>
            <p:cNvSpPr/>
            <p:nvPr/>
          </p:nvSpPr>
          <p:spPr>
            <a:xfrm>
              <a:off x="6464618" y="1524000"/>
              <a:ext cx="5193982" cy="2321242"/>
            </a:xfrm>
            <a:prstGeom prst="roundRect">
              <a:avLst>
                <a:gd name="adj" fmla="val 574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9" name="Rectangle 29"/>
            <p:cNvSpPr/>
            <p:nvPr/>
          </p:nvSpPr>
          <p:spPr>
            <a:xfrm>
              <a:off x="6474142" y="1657350"/>
              <a:ext cx="47625" cy="2054542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30" name="Rectangle 30"/>
            <p:cNvSpPr/>
            <p:nvPr/>
          </p:nvSpPr>
          <p:spPr>
            <a:xfrm>
              <a:off x="6700838" y="1722120"/>
              <a:ext cx="1276350" cy="247650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768274" y="1756410"/>
              <a:ext cx="114147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数值对比（补充）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8084248" y="1756886"/>
              <a:ext cx="338033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h(x) = eˣ，m = 10，共用 10 个随机数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6700838" y="2077402"/>
              <a:ext cx="4759642" cy="424815"/>
            </a:xfrm>
            <a:prstGeom prst="rect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7792402" y="2205990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方法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9929431" y="2205990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估计量方差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803326" y="2629852"/>
              <a:ext cx="154201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平均值法（10 个点）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9320784" y="2629852"/>
              <a:ext cx="153070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0.2420/10 = 0.0242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6700838" y="2921318"/>
              <a:ext cx="475964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9" name="Rectangle 39"/>
            <p:cNvSpPr/>
            <p:nvPr/>
          </p:nvSpPr>
          <p:spPr>
            <a:xfrm>
              <a:off x="6700838" y="2926080"/>
              <a:ext cx="4759642" cy="42481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6803326" y="3054668"/>
              <a:ext cx="189862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分层抽样（10 层各 1 点）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9227820" y="2935605"/>
              <a:ext cx="2223135" cy="405765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9320784" y="3054668"/>
              <a:ext cx="72298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0.000266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6700838" y="2077402"/>
              <a:ext cx="4759642" cy="1273492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4" name="Rectangle 44"/>
            <p:cNvSpPr/>
            <p:nvPr/>
          </p:nvSpPr>
          <p:spPr>
            <a:xfrm>
              <a:off x="9213532" y="2077402"/>
              <a:ext cx="9525" cy="127349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6694742" y="3459480"/>
              <a:ext cx="36792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方差缩小约 91 倍（按每层的条件方差精确计算）。</a:t>
              </a:r>
            </a:p>
          </p:txBody>
        </p:sp>
      </p:grpSp>
      <p:grpSp>
        <p:nvGrpSpPr>
          <p:cNvPr id="50" name="c2-code-2"/>
          <p:cNvGrpSpPr/>
          <p:nvPr/>
        </p:nvGrpSpPr>
        <p:grpSpPr>
          <a:xfrm>
            <a:off x="6464618" y="4025265"/>
            <a:ext cx="5193982" cy="1072515"/>
            <a:chOff x="6464618" y="4025265"/>
            <a:chExt cx="5193982" cy="1072515"/>
          </a:xfrm>
        </p:grpSpPr>
        <p:sp>
          <p:nvSpPr>
            <p:cNvPr id="47" name="Rectangle 47"/>
            <p:cNvSpPr/>
            <p:nvPr/>
          </p:nvSpPr>
          <p:spPr>
            <a:xfrm>
              <a:off x="6464618" y="4025265"/>
              <a:ext cx="5193982" cy="1072515"/>
            </a:xfrm>
            <a:prstGeom prst="roundRect">
              <a:avLst>
                <a:gd name="adj" fmla="val 8881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6593015" y="4177189"/>
              <a:ext cx="65901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R：例13.2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6592634" y="4438650"/>
              <a:ext cx="3151061" cy="58445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92"/>
                </a:lnSpc>
              </a:pP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m &lt;- 10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U &lt;- runif(m)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mean(exp(((1:m) - 1 + U) / m))   </a:t>
              </a:r>
              <a:r>
                <a:rPr lang="zh-CN" sz="105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# 约 1.718</a:t>
              </a:r>
            </a:p>
          </p:txBody>
        </p:sp>
      </p:grpSp>
      <p:grpSp>
        <p:nvGrpSpPr>
          <p:cNvPr id="57" name="c2-callout-3"/>
          <p:cNvGrpSpPr/>
          <p:nvPr/>
        </p:nvGrpSpPr>
        <p:grpSpPr>
          <a:xfrm>
            <a:off x="6464618" y="5277802"/>
            <a:ext cx="5193982" cy="1018222"/>
            <a:chOff x="6464618" y="5277802"/>
            <a:chExt cx="5193982" cy="1018222"/>
          </a:xfrm>
        </p:grpSpPr>
        <p:sp>
          <p:nvSpPr>
            <p:cNvPr id="51" name="Rectangle 51"/>
            <p:cNvSpPr/>
            <p:nvPr/>
          </p:nvSpPr>
          <p:spPr>
            <a:xfrm>
              <a:off x="6464618" y="5277802"/>
              <a:ext cx="5193982" cy="1018222"/>
            </a:xfrm>
            <a:prstGeom prst="roundRect">
              <a:avLst>
                <a:gd name="adj" fmla="val 11225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55" name="Group 55"/>
            <p:cNvGrpSpPr/>
            <p:nvPr/>
          </p:nvGrpSpPr>
          <p:grpSpPr>
            <a:xfrm>
              <a:off x="6657347" y="5683686"/>
              <a:ext cx="224134" cy="192560"/>
              <a:chOff x="6657347" y="5683686"/>
              <a:chExt cx="224134" cy="192560"/>
            </a:xfrm>
          </p:grpSpPr>
          <p:sp>
            <p:nvSpPr>
              <p:cNvPr id="52" name="Freeform 52"/>
              <p:cNvSpPr/>
              <p:nvPr/>
            </p:nvSpPr>
            <p:spPr>
              <a:xfrm>
                <a:off x="6769418" y="5754053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53" name="Freeform 53"/>
              <p:cNvSpPr/>
              <p:nvPr/>
            </p:nvSpPr>
            <p:spPr>
              <a:xfrm>
                <a:off x="6657347" y="5683686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54" name="Freeform 54"/>
              <p:cNvSpPr/>
              <p:nvPr/>
            </p:nvSpPr>
            <p:spPr>
              <a:xfrm>
                <a:off x="6769418" y="5831841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56" name="TextBox 56"/>
            <p:cNvSpPr txBox="1"/>
            <p:nvPr/>
          </p:nvSpPr>
          <p:spPr>
            <a:xfrm>
              <a:off x="6971729" y="5424964"/>
              <a:ext cx="4189349" cy="8044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每层只有 1 个点时无法在层内估计方差。需要误差估</a:t>
              </a:r>
              <a:br/>
              <a:r>
                <a:rPr lang="zh-CN" sz="142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计时，每层至少取 2 个点，或把整个分层估计独立重</a:t>
              </a:r>
              <a:br/>
              <a:r>
                <a:rPr lang="zh-CN" sz="142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复多次。</a:t>
              </a:r>
            </a:p>
          </p:txBody>
        </p:sp>
      </p:grpSp>
      <p:grpSp>
        <p:nvGrpSpPr>
          <p:cNvPr id="6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8" name="TextBox 58"/>
            <p:cNvSpPr txBox="1"/>
            <p:nvPr/>
          </p:nvSpPr>
          <p:spPr>
            <a:xfrm>
              <a:off x="528447" y="6581299"/>
              <a:ext cx="198882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统计计算 · 第3章 随机模拟（上）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2E7D4F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5F2EA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05</a:t>
              </a:r>
            </a:p>
          </p:txBody>
        </p:sp>
      </p:grpSp>
      <p:grpSp>
        <p:nvGrpSpPr>
          <p:cNvPr id="18" name="section-title"/>
          <p:cNvGrpSpPr/>
          <p:nvPr/>
        </p:nvGrpSpPr>
        <p:grpSpPr>
          <a:xfrm>
            <a:off x="667512" y="1835468"/>
            <a:ext cx="3936652" cy="3351847"/>
            <a:chOff x="667512" y="1835468"/>
            <a:chExt cx="3936652" cy="335184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第五部分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3936652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3.5 方差缩减技术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334860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计算量不变，让估计量的方差更小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164077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3.5.1 控制变量法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164077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3.5.2 对立变量法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164077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3.5.3 条件期望法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23900" y="4951095"/>
              <a:ext cx="76200" cy="7620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06780" y="4893945"/>
              <a:ext cx="164077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3.5.4 随机数复用</a:t>
              </a:r>
            </a:p>
          </p:txBody>
        </p:sp>
      </p:grpSp>
      <p:grpSp>
        <p:nvGrpSpPr>
          <p:cNvPr id="2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9" name="TextBox 19"/>
            <p:cNvSpPr txBox="1"/>
            <p:nvPr/>
          </p:nvSpPr>
          <p:spPr>
            <a:xfrm>
              <a:off x="528447" y="6581299"/>
              <a:ext cx="198882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统计计算 · 第3章 随机模拟（上）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446882" cy="909257"/>
            <a:chOff x="520446" y="342900"/>
            <a:chExt cx="644688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989898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9634" y="407194"/>
              <a:ext cx="289838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第3章 随机模拟（上） · 3.5 方差缩减技术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44688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方差缩减：降低 θ = EX 估计量的渐近方差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3" name="c1-compare-1"/>
          <p:cNvGrpSpPr/>
          <p:nvPr/>
        </p:nvGrpSpPr>
        <p:grpSpPr>
          <a:xfrm>
            <a:off x="533400" y="1524000"/>
            <a:ext cx="4760596" cy="1367790"/>
            <a:chOff x="533400" y="1524000"/>
            <a:chExt cx="4760596" cy="136779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2208848" cy="1367790"/>
            </a:xfrm>
            <a:prstGeom prst="roundRect">
              <a:avLst>
                <a:gd name="adj" fmla="val 974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101090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773430" y="1758315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随机模拟的优点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86765" y="2175510"/>
              <a:ext cx="64770" cy="6477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44880" y="211264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适用性广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86765" y="2510790"/>
              <a:ext cx="64770" cy="6477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44880" y="244792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方法简单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3085148" y="1524000"/>
              <a:ext cx="2208848" cy="1367790"/>
            </a:xfrm>
            <a:prstGeom prst="roundRect">
              <a:avLst>
                <a:gd name="adj" fmla="val 974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5" name="Rectangle 15"/>
            <p:cNvSpPr/>
            <p:nvPr/>
          </p:nvSpPr>
          <p:spPr>
            <a:xfrm>
              <a:off x="3094672" y="1657350"/>
              <a:ext cx="47625" cy="1101090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3325177" y="1758315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随机模拟的缺点</a:t>
              </a:r>
            </a:p>
          </p:txBody>
        </p:sp>
        <p:sp>
          <p:nvSpPr>
            <p:cNvPr id="17" name="Ellipse 17"/>
            <p:cNvSpPr/>
            <p:nvPr/>
          </p:nvSpPr>
          <p:spPr>
            <a:xfrm>
              <a:off x="3338512" y="2175510"/>
              <a:ext cx="64770" cy="6477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3496627" y="2112645"/>
              <a:ext cx="6210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精度低</a:t>
              </a:r>
            </a:p>
          </p:txBody>
        </p:sp>
        <p:sp>
          <p:nvSpPr>
            <p:cNvPr id="19" name="Ellipse 19"/>
            <p:cNvSpPr/>
            <p:nvPr/>
          </p:nvSpPr>
          <p:spPr>
            <a:xfrm>
              <a:off x="3338512" y="2510790"/>
              <a:ext cx="64770" cy="6477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3496627" y="244792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计算量大</a:t>
              </a:r>
            </a:p>
          </p:txBody>
        </p:sp>
        <p:sp>
          <p:nvSpPr>
            <p:cNvPr id="21" name="Ellipse 21"/>
            <p:cNvSpPr/>
            <p:nvPr/>
          </p:nvSpPr>
          <p:spPr>
            <a:xfrm>
              <a:off x="2751772" y="2045970"/>
              <a:ext cx="323850" cy="323850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2822113" y="2142172"/>
              <a:ext cx="1831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VS</a:t>
              </a:r>
            </a:p>
          </p:txBody>
        </p:sp>
      </p:grpSp>
      <p:grpSp>
        <p:nvGrpSpPr>
          <p:cNvPr id="25" name="c1-text-2"/>
          <p:cNvGrpSpPr/>
          <p:nvPr/>
        </p:nvGrpSpPr>
        <p:grpSpPr>
          <a:xfrm>
            <a:off x="525780" y="3107055"/>
            <a:ext cx="4406265" cy="588645"/>
            <a:chOff x="525780" y="3107055"/>
            <a:chExt cx="4406265" cy="588645"/>
          </a:xfrm>
        </p:grpSpPr>
        <p:sp>
          <p:nvSpPr>
            <p:cNvPr id="24" name="TextBox 24"/>
            <p:cNvSpPr txBox="1"/>
            <p:nvPr/>
          </p:nvSpPr>
          <p:spPr>
            <a:xfrm>
              <a:off x="525780" y="3107055"/>
              <a:ext cx="4406265" cy="5886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325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基本做法：从 X 中抽取 N 个独立样本 X₁, X₂, …，用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样本平均值估计 θ = EX，方差为 Var(X)/N。</a:t>
              </a:r>
            </a:p>
          </p:txBody>
        </p:sp>
      </p:grpSp>
      <p:grpSp>
        <p:nvGrpSpPr>
          <p:cNvPr id="31" name="c1-callout-3"/>
          <p:cNvGrpSpPr/>
          <p:nvPr/>
        </p:nvGrpSpPr>
        <p:grpSpPr>
          <a:xfrm>
            <a:off x="533400" y="3827145"/>
            <a:ext cx="4760595" cy="782955"/>
            <a:chOff x="533400" y="3827145"/>
            <a:chExt cx="4760595" cy="782955"/>
          </a:xfrm>
        </p:grpSpPr>
        <p:sp>
          <p:nvSpPr>
            <p:cNvPr id="26" name="Rectangle 26"/>
            <p:cNvSpPr/>
            <p:nvPr/>
          </p:nvSpPr>
          <p:spPr>
            <a:xfrm>
              <a:off x="533400" y="3827145"/>
              <a:ext cx="4760595" cy="782955"/>
            </a:xfrm>
            <a:prstGeom prst="roundRect">
              <a:avLst>
                <a:gd name="adj" fmla="val 14599"/>
              </a:avLst>
            </a:prstGeom>
            <a:solidFill>
              <a:srgbClr val="2E7D4F"/>
            </a:solidFill>
            <a:ln>
              <a:noFill/>
            </a:ln>
          </p:spPr>
        </p:sp>
        <p:grpSp>
          <p:nvGrpSpPr>
            <p:cNvPr id="29" name="Group 29"/>
            <p:cNvGrpSpPr/>
            <p:nvPr/>
          </p:nvGrpSpPr>
          <p:grpSpPr>
            <a:xfrm>
              <a:off x="738188" y="4118612"/>
              <a:ext cx="200023" cy="200023"/>
              <a:chOff x="738188" y="4118612"/>
              <a:chExt cx="200023" cy="200023"/>
            </a:xfrm>
          </p:grpSpPr>
          <p:sp>
            <p:nvSpPr>
              <p:cNvPr id="27" name="Freeform 27"/>
              <p:cNvSpPr/>
              <p:nvPr/>
            </p:nvSpPr>
            <p:spPr>
              <a:xfrm>
                <a:off x="738188" y="4118612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28" name="Freeform 28"/>
              <p:cNvSpPr/>
              <p:nvPr/>
            </p:nvSpPr>
            <p:spPr>
              <a:xfrm>
                <a:off x="871538" y="418528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30" name="TextBox 30"/>
            <p:cNvSpPr txBox="1"/>
            <p:nvPr/>
          </p:nvSpPr>
          <p:spPr>
            <a:xfrm>
              <a:off x="1040130" y="3975735"/>
              <a:ext cx="3815715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方差降为原来的 1/k，达到同样精度所需的样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本量也约降为 1/k，模拟时间随之节省。</a:t>
              </a:r>
            </a:p>
          </p:txBody>
        </p:sp>
      </p:grpSp>
      <p:grpSp>
        <p:nvGrpSpPr>
          <p:cNvPr id="56" name="c2-table-1"/>
          <p:cNvGrpSpPr/>
          <p:nvPr/>
        </p:nvGrpSpPr>
        <p:grpSpPr>
          <a:xfrm>
            <a:off x="5598795" y="1524000"/>
            <a:ext cx="6059805" cy="3150870"/>
            <a:chOff x="5598795" y="1524000"/>
            <a:chExt cx="6059805" cy="3150870"/>
          </a:xfrm>
        </p:grpSpPr>
        <p:sp>
          <p:nvSpPr>
            <p:cNvPr id="32" name="Rectangle 32"/>
            <p:cNvSpPr/>
            <p:nvPr/>
          </p:nvSpPr>
          <p:spPr>
            <a:xfrm>
              <a:off x="5598795" y="1524000"/>
              <a:ext cx="6059805" cy="448628"/>
            </a:xfrm>
            <a:prstGeom prst="rect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086754" y="16597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方法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8087004" y="16597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做法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0450157" y="16597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前提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5706618" y="2108359"/>
              <a:ext cx="1021232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3.5.1 控制变</a:t>
              </a:r>
              <a:br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量法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040118" y="2108359"/>
              <a:ext cx="2280666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加上 b·Y，Y 期望已知且与 X 相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关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9706166" y="2221706"/>
              <a:ext cx="120159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能找到这样的 Y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5598795" y="2643188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5598795" y="2647950"/>
              <a:ext cx="6059805" cy="675322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5706618" y="2783681"/>
              <a:ext cx="1021232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3.5.2 对立变</a:t>
              </a:r>
              <a:br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量法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7040118" y="2897029"/>
              <a:ext cx="229204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 U 和 1 − U 成对抽样取平均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9706166" y="2897029"/>
              <a:ext cx="141097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 是 U 的单调函数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5598795" y="3319462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5706618" y="3459004"/>
              <a:ext cx="1021232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3.5.3 条件期</a:t>
              </a:r>
              <a:br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望法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7040118" y="3572351"/>
              <a:ext cx="192075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 E(X|Z) 代替 X 求平均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9706166" y="3572351"/>
              <a:ext cx="139146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条件期望有解析式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5598795" y="3994785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9" name="Rectangle 49"/>
            <p:cNvSpPr/>
            <p:nvPr/>
          </p:nvSpPr>
          <p:spPr>
            <a:xfrm>
              <a:off x="5598795" y="3999548"/>
              <a:ext cx="6059805" cy="675322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5706618" y="4134326"/>
              <a:ext cx="1021232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3.5.4 随机数</a:t>
              </a:r>
              <a:br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复用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7040118" y="4247674"/>
              <a:ext cx="24253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比较两个系统时用同一组随机数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9706166" y="4247674"/>
              <a:ext cx="139146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两系统输出正相关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5598795" y="1524000"/>
              <a:ext cx="6059805" cy="315087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54" name="Rectangle 54"/>
            <p:cNvSpPr/>
            <p:nvPr/>
          </p:nvSpPr>
          <p:spPr>
            <a:xfrm>
              <a:off x="6927532" y="1524000"/>
              <a:ext cx="9525" cy="315087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5" name="Rectangle 55"/>
            <p:cNvSpPr/>
            <p:nvPr/>
          </p:nvSpPr>
          <p:spPr>
            <a:xfrm>
              <a:off x="9593580" y="1524000"/>
              <a:ext cx="9525" cy="315087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63" name="c2-callout-2"/>
          <p:cNvGrpSpPr/>
          <p:nvPr/>
        </p:nvGrpSpPr>
        <p:grpSpPr>
          <a:xfrm>
            <a:off x="5598795" y="4865370"/>
            <a:ext cx="6059805" cy="782955"/>
            <a:chOff x="5598795" y="4865370"/>
            <a:chExt cx="6059805" cy="782955"/>
          </a:xfrm>
        </p:grpSpPr>
        <p:sp>
          <p:nvSpPr>
            <p:cNvPr id="57" name="Rectangle 57"/>
            <p:cNvSpPr/>
            <p:nvPr/>
          </p:nvSpPr>
          <p:spPr>
            <a:xfrm>
              <a:off x="5598795" y="4865370"/>
              <a:ext cx="6059805" cy="782955"/>
            </a:xfrm>
            <a:prstGeom prst="roundRect">
              <a:avLst>
                <a:gd name="adj" fmla="val 14599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61" name="Group 61"/>
            <p:cNvGrpSpPr/>
            <p:nvPr/>
          </p:nvGrpSpPr>
          <p:grpSpPr>
            <a:xfrm>
              <a:off x="5791524" y="5153143"/>
              <a:ext cx="224134" cy="192560"/>
              <a:chOff x="5791524" y="5153143"/>
              <a:chExt cx="224134" cy="192560"/>
            </a:xfrm>
          </p:grpSpPr>
          <p:sp>
            <p:nvSpPr>
              <p:cNvPr id="58" name="Freeform 58"/>
              <p:cNvSpPr/>
              <p:nvPr/>
            </p:nvSpPr>
            <p:spPr>
              <a:xfrm>
                <a:off x="5903595" y="5223510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59" name="Freeform 59"/>
              <p:cNvSpPr/>
              <p:nvPr/>
            </p:nvSpPr>
            <p:spPr>
              <a:xfrm>
                <a:off x="5791524" y="5153143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60" name="Freeform 60"/>
              <p:cNvSpPr/>
              <p:nvPr/>
            </p:nvSpPr>
            <p:spPr>
              <a:xfrm>
                <a:off x="5903595" y="530129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62" name="TextBox 62"/>
            <p:cNvSpPr txBox="1"/>
            <p:nvPr/>
          </p:nvSpPr>
          <p:spPr>
            <a:xfrm>
              <a:off x="6105525" y="5013960"/>
              <a:ext cx="515874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比较方法时要按相同计算量算：对立变量法一对样本要算两次</a:t>
              </a:r>
              <a:br/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函数值，重要抽样还要额外计算密度 g。</a:t>
              </a:r>
            </a:p>
          </p:txBody>
        </p:sp>
      </p:grpSp>
      <p:grpSp>
        <p:nvGrpSpPr>
          <p:cNvPr id="6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4" name="TextBox 64"/>
            <p:cNvSpPr txBox="1"/>
            <p:nvPr/>
          </p:nvSpPr>
          <p:spPr>
            <a:xfrm>
              <a:off x="528447" y="6581299"/>
              <a:ext cx="198882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统计计算 · 第3章 随机模拟（上）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334166" cy="909257"/>
            <a:chOff x="520446" y="342900"/>
            <a:chExt cx="833416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989898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9634" y="407194"/>
              <a:ext cx="289838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第3章 随机模拟（上） · 3.5 方差缩减技术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33416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3.5.1 控制变量法：借助期望已知的相关变量抵消波动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c1-text-1"/>
          <p:cNvGrpSpPr/>
          <p:nvPr/>
        </p:nvGrpSpPr>
        <p:grpSpPr>
          <a:xfrm>
            <a:off x="526542" y="1545907"/>
            <a:ext cx="4625721" cy="529780"/>
            <a:chOff x="526542" y="1545907"/>
            <a:chExt cx="4625721" cy="529780"/>
          </a:xfrm>
        </p:grpSpPr>
        <p:sp>
          <p:nvSpPr>
            <p:cNvPr id="7" name="TextBox 7"/>
            <p:cNvSpPr txBox="1"/>
            <p:nvPr/>
          </p:nvSpPr>
          <p:spPr>
            <a:xfrm>
              <a:off x="526542" y="1545907"/>
              <a:ext cx="4625721" cy="5297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92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设随机变量 Y 满足 EY = 0，Cov(X, Y) &lt; 0。令 Z = X + Y，则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E(Z) = θ，且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formula296"/>
              <p:cNvSpPr txBox="1">
                <a:spLocks noGrp="1"/>
              </p:cNvSpPr>
              <p:nvPr/>
            </p:nvSpPr>
            <p:spPr>
              <a:xfrm>
                <a:off x="533400" y="2192655"/>
                <a:ext cx="4977765" cy="4381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r>
                        <m:rPr>
                          <m:sty m:val="p"/>
                        </m:rPr>
                        <a:rPr lang="zh-CN" sz="17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Var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Z</m:t>
                          </m:r>
                        </m:e>
                      </m:d>
                      <m:r>
                        <m:rPr>
                          <m:sty m:val="p"/>
                        </m:rPr>
                        <a:rPr lang="zh-CN" sz="17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r>
                        <m:rPr>
                          <m:sty m:val="p"/>
                        </m:rPr>
                        <a:rPr lang="zh-CN" sz="17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Var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X</m:t>
                          </m:r>
                        </m:e>
                      </m:d>
                      <m:r>
                        <m:rPr>
                          <m:sty m:val="p"/>
                        </m:rPr>
                        <a:rPr lang="zh-CN" sz="17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+</m:t>
                      </m:r>
                      <m:r>
                        <m:rPr>
                          <m:sty m:val="p"/>
                        </m:rPr>
                        <a:rPr lang="zh-CN" sz="17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Var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Y</m:t>
                          </m:r>
                        </m:e>
                      </m:d>
                      <m:r>
                        <m:rPr>
                          <m:sty m:val="p"/>
                        </m:rPr>
                        <a:rPr lang="zh-CN" sz="17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+</m:t>
                      </m:r>
                      <m:r>
                        <a:rPr lang="zh-CN" sz="17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2</m:t>
                      </m:r>
                      <m:r>
                        <m:rPr>
                          <m:sty m:val="p"/>
                        </m:rPr>
                        <a:rPr lang="zh-CN" sz="17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Cov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X</m:t>
                          </m:r>
                          <m:r>
                            <m:rPr>
                              <m:sty m:val="p"/>
                            </m:rP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,</m:t>
                          </m:r>
                          <m: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Y</m:t>
                          </m:r>
                        </m:e>
                      </m:d>
                    </m:oMath>
                  </m:oMathPara>
                </a14:m>
              </a:p>
            </p:txBody>
          </p:sp>
        </mc:Choice>
      </mc:AlternateContent>
      <p:grpSp>
        <p:nvGrpSpPr>
          <p:cNvPr id="11" name="c1-text-3"/>
          <p:cNvGrpSpPr/>
          <p:nvPr/>
        </p:nvGrpSpPr>
        <p:grpSpPr>
          <a:xfrm>
            <a:off x="526542" y="2823210"/>
            <a:ext cx="4801714" cy="264033"/>
            <a:chOff x="526542" y="2823210"/>
            <a:chExt cx="4801714" cy="264033"/>
          </a:xfrm>
        </p:grpSpPr>
        <p:sp>
          <p:nvSpPr>
            <p:cNvPr id="10" name="TextBox 10"/>
            <p:cNvSpPr txBox="1"/>
            <p:nvPr/>
          </p:nvSpPr>
          <p:spPr>
            <a:xfrm>
              <a:off x="526542" y="2823210"/>
              <a:ext cx="480171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只要 Var(Y) + 2Cov(X, Y) &lt; 0，就有 Var(Z) &lt; Var(X)。</a:t>
              </a:r>
            </a:p>
          </p:txBody>
        </p:sp>
      </p:grpSp>
      <p:grpSp>
        <p:nvGrpSpPr>
          <p:cNvPr id="18" name="c1-callout-4"/>
          <p:cNvGrpSpPr/>
          <p:nvPr/>
        </p:nvGrpSpPr>
        <p:grpSpPr>
          <a:xfrm>
            <a:off x="533400" y="3204210"/>
            <a:ext cx="4977765" cy="729615"/>
            <a:chOff x="533400" y="3204210"/>
            <a:chExt cx="4977765" cy="729615"/>
          </a:xfrm>
        </p:grpSpPr>
        <p:sp>
          <p:nvSpPr>
            <p:cNvPr id="12" name="Rectangle 12"/>
            <p:cNvSpPr/>
            <p:nvPr/>
          </p:nvSpPr>
          <p:spPr>
            <a:xfrm>
              <a:off x="533400" y="3204210"/>
              <a:ext cx="4977765" cy="729615"/>
            </a:xfrm>
            <a:prstGeom prst="roundRect">
              <a:avLst>
                <a:gd name="adj" fmla="val 15666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16" name="Group 16"/>
            <p:cNvGrpSpPr/>
            <p:nvPr/>
          </p:nvGrpSpPr>
          <p:grpSpPr>
            <a:xfrm>
              <a:off x="738188" y="3469005"/>
              <a:ext cx="200026" cy="200025"/>
              <a:chOff x="738188" y="3469005"/>
              <a:chExt cx="200026" cy="200025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738188" y="3469005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14" name="Freeform 14"/>
              <p:cNvSpPr/>
              <p:nvPr/>
            </p:nvSpPr>
            <p:spPr>
              <a:xfrm>
                <a:off x="777926" y="3513455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15" name="Freeform 15"/>
              <p:cNvSpPr/>
              <p:nvPr/>
            </p:nvSpPr>
            <p:spPr>
              <a:xfrm>
                <a:off x="812642" y="3624581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17" name="TextBox 17"/>
            <p:cNvSpPr txBox="1"/>
            <p:nvPr/>
          </p:nvSpPr>
          <p:spPr>
            <a:xfrm>
              <a:off x="1040892" y="3349942"/>
              <a:ext cx="3957066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加上的 Y 期望为 0，不改变均值；X 偏大时 Y 倾向偏</a:t>
              </a:r>
              <a:br/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小，二者相加后波动变小。</a:t>
              </a:r>
            </a:p>
          </p:txBody>
        </p:sp>
      </p:grpSp>
      <p:grpSp>
        <p:nvGrpSpPr>
          <p:cNvPr id="39" name="c1-table-5"/>
          <p:cNvGrpSpPr/>
          <p:nvPr/>
        </p:nvGrpSpPr>
        <p:grpSpPr>
          <a:xfrm>
            <a:off x="528447" y="4103370"/>
            <a:ext cx="4982718" cy="1863756"/>
            <a:chOff x="528447" y="4103370"/>
            <a:chExt cx="4982718" cy="1863756"/>
          </a:xfrm>
        </p:grpSpPr>
        <p:sp>
          <p:nvSpPr>
            <p:cNvPr id="19" name="Rectangle 19"/>
            <p:cNvSpPr/>
            <p:nvPr/>
          </p:nvSpPr>
          <p:spPr>
            <a:xfrm>
              <a:off x="533400" y="4103370"/>
              <a:ext cx="4977765" cy="400050"/>
            </a:xfrm>
            <a:prstGeom prst="rect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54215" y="4224814"/>
              <a:ext cx="121762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相关系数的绝对值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2417420" y="4224814"/>
              <a:ext cx="1066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方差变为原来的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3925900" y="4224814"/>
              <a:ext cx="13684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相当于样本量的倍数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226704" y="4624864"/>
              <a:ext cx="2726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0.5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2779278" y="4624864"/>
              <a:ext cx="3431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0.75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4479996" y="4624864"/>
              <a:ext cx="2602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1.3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533400" y="4898708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533400" y="4903470"/>
              <a:ext cx="4977765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1226704" y="5024914"/>
              <a:ext cx="2726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0.9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2779278" y="5024914"/>
              <a:ext cx="3431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0.19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4479996" y="5024914"/>
              <a:ext cx="2602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5.3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533400" y="5298758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1096096" y="5424964"/>
              <a:ext cx="53386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0.9918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2696352" y="5424964"/>
              <a:ext cx="50898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0.0163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4521459" y="5424964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61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533400" y="4103370"/>
              <a:ext cx="4977765" cy="160020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2187892" y="4103370"/>
              <a:ext cx="9525" cy="16002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3704272" y="4103370"/>
              <a:ext cx="9525" cy="16002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528447" y="5776436"/>
              <a:ext cx="333403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最后一行是例14.1 里 X = exp(U) 与 Y = U − 1/2 的情形</a:t>
              </a:r>
            </a:p>
          </p:txBody>
        </p:sp>
      </p:grpSp>
      <p:grpSp>
        <p:nvGrpSpPr>
          <p:cNvPr id="41" name="c2-text-1"/>
          <p:cNvGrpSpPr/>
          <p:nvPr/>
        </p:nvGrpSpPr>
        <p:grpSpPr>
          <a:xfrm>
            <a:off x="5809107" y="1545907"/>
            <a:ext cx="4211704" cy="264033"/>
            <a:chOff x="5809107" y="1545907"/>
            <a:chExt cx="4211704" cy="264033"/>
          </a:xfrm>
        </p:grpSpPr>
        <p:sp>
          <p:nvSpPr>
            <p:cNvPr id="40" name="TextBox 40"/>
            <p:cNvSpPr txBox="1"/>
            <p:nvPr/>
          </p:nvSpPr>
          <p:spPr>
            <a:xfrm>
              <a:off x="5809107" y="1545907"/>
              <a:ext cx="421170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为充分利用 Y 与 X 的相关性，令 Z(b) = X + bY，则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42" name="formula297"/>
              <p:cNvSpPr txBox="1">
                <a:spLocks noGrp="1"/>
              </p:cNvSpPr>
              <p:nvPr/>
            </p:nvSpPr>
            <p:spPr>
              <a:xfrm>
                <a:off x="5815965" y="1926908"/>
                <a:ext cx="5842635" cy="4381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zh-CN" sz="17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EZ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b</m:t>
                          </m:r>
                        </m:e>
                      </m:d>
                      <m:r>
                        <m:rPr>
                          <m:sty m:val="p"/>
                        </m:rPr>
                        <a:rPr lang="zh-CN" sz="17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r>
                        <a:rPr lang="zh-CN" sz="17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EX</m:t>
                      </m:r>
                      <m:r>
                        <m:rPr>
                          <m:sty m:val="p"/>
                        </m:rPr>
                        <a:rPr lang="zh-CN" sz="17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r>
                        <a:rPr lang="zh-CN" sz="17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θ</m:t>
                      </m:r>
                    </m:oMath>
                  </m:oMathPara>
                </a14:m>
              </a:p>
            </p:txBody>
          </p:sp>
        </mc:Choice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3" name="formula298"/>
              <p:cNvSpPr txBox="1">
                <a:spLocks noGrp="1"/>
              </p:cNvSpPr>
              <p:nvPr/>
            </p:nvSpPr>
            <p:spPr>
              <a:xfrm>
                <a:off x="5815965" y="2535555"/>
                <a:ext cx="5842635" cy="4381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r>
                        <m:rPr>
                          <m:sty m:val="p"/>
                        </m:rPr>
                        <a:rPr lang="zh-CN" sz="17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Var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Z</m:t>
                          </m:r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7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a:rPr lang="zh-CN" sz="17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b</m:t>
                              </m:r>
                            </m:e>
                          </m:d>
                        </m:e>
                      </m:d>
                      <m:r>
                        <m:rPr>
                          <m:sty m:val="p"/>
                        </m:rPr>
                        <a:rPr lang="zh-CN" sz="17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r>
                        <m:rPr>
                          <m:sty m:val="p"/>
                        </m:rPr>
                        <a:rPr lang="zh-CN" sz="17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Var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X</m:t>
                          </m:r>
                        </m:e>
                      </m:d>
                      <m:r>
                        <m:rPr>
                          <m:sty m:val="p"/>
                        </m:rPr>
                        <a:rPr lang="zh-CN" sz="17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+</m:t>
                      </m:r>
                      <m:r>
                        <a:rPr lang="zh-CN" sz="17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2b</m:t>
                      </m:r>
                      <m:r>
                        <a:rPr lang="zh-CN" sz="17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 xml:space="preserve"> </m:t>
                      </m:r>
                      <m:r>
                        <m:rPr>
                          <m:sty m:val="p"/>
                        </m:rPr>
                        <a:rPr lang="zh-CN" sz="17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Cov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X</m:t>
                          </m:r>
                          <m:r>
                            <m:rPr>
                              <m:sty m:val="p"/>
                            </m:rP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,</m:t>
                          </m:r>
                          <m: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Y</m:t>
                          </m:r>
                        </m:e>
                      </m:d>
                      <m:r>
                        <m:rPr>
                          <m:sty m:val="p"/>
                        </m:rPr>
                        <a:rPr lang="zh-CN" sz="17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+</m:t>
                      </m:r>
                      <m:sSup>
                        <m:e>
                          <m: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b</m:t>
                          </m:r>
                        </m:e>
                        <m:sup>
                          <m: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</m:t>
                          </m:r>
                        </m:sup>
                      </m:sSup>
                      <m:r>
                        <m:rPr>
                          <m:sty m:val="p"/>
                        </m:rPr>
                        <a:rPr lang="zh-CN" sz="17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Var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Y</m:t>
                          </m:r>
                        </m:e>
                      </m:d>
                    </m:oMath>
                  </m:oMathPara>
                </a14:m>
              </a:p>
            </p:txBody>
          </p:sp>
        </mc:Choice>
      </mc:AlternateContent>
      <p:grpSp>
        <p:nvGrpSpPr>
          <p:cNvPr id="45" name="c2-text-4"/>
          <p:cNvGrpSpPr/>
          <p:nvPr/>
        </p:nvGrpSpPr>
        <p:grpSpPr>
          <a:xfrm>
            <a:off x="5809107" y="3165158"/>
            <a:ext cx="3071561" cy="264033"/>
            <a:chOff x="5809107" y="3165158"/>
            <a:chExt cx="3071561" cy="264033"/>
          </a:xfrm>
        </p:grpSpPr>
        <p:sp>
          <p:nvSpPr>
            <p:cNvPr id="44" name="TextBox 44"/>
            <p:cNvSpPr txBox="1"/>
            <p:nvPr/>
          </p:nvSpPr>
          <p:spPr>
            <a:xfrm>
              <a:off x="5809107" y="3165158"/>
              <a:ext cx="307156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求 Var(Z(b)) 关于 b 的最小值点，得</a:t>
              </a:r>
            </a:p>
          </p:txBody>
        </p:sp>
      </p:grpSp>
      <p:grpSp>
        <p:nvGrpSpPr>
          <p:cNvPr id="51" name="c2-card-5"/>
          <p:cNvGrpSpPr/>
          <p:nvPr/>
        </p:nvGrpSpPr>
        <p:grpSpPr>
          <a:xfrm>
            <a:off x="5815965" y="3546158"/>
            <a:ext cx="5842635" cy="1825942"/>
            <a:chOff x="5815965" y="3546158"/>
            <a:chExt cx="5842635" cy="1825942"/>
          </a:xfrm>
        </p:grpSpPr>
        <p:sp>
          <p:nvSpPr>
            <p:cNvPr id="46" name="Rectangle 46"/>
            <p:cNvSpPr/>
            <p:nvPr/>
          </p:nvSpPr>
          <p:spPr>
            <a:xfrm>
              <a:off x="5815965" y="3546158"/>
              <a:ext cx="5842635" cy="1825942"/>
            </a:xfrm>
            <a:prstGeom prst="roundRect">
              <a:avLst>
                <a:gd name="adj" fmla="val 7303"/>
              </a:avLst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47" name="Rectangle 47"/>
            <p:cNvSpPr/>
            <p:nvPr/>
          </p:nvSpPr>
          <p:spPr>
            <a:xfrm>
              <a:off x="6002655" y="3732848"/>
              <a:ext cx="707708" cy="238125"/>
            </a:xfrm>
            <a:prstGeom prst="roundRect">
              <a:avLst>
                <a:gd name="adj" fmla="val 50000"/>
              </a:avLst>
            </a:prstGeom>
            <a:solidFill>
              <a:srgbClr val="23613D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6087224" y="3765709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最优系数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9" name="formula299"/>
                <p:cNvSpPr txBox="1">
                  <a:spLocks noGrp="1"/>
                </p:cNvSpPr>
                <p:nvPr/>
              </p:nvSpPr>
              <p:spPr>
                <a:xfrm>
                  <a:off x="6002655" y="4054792"/>
                  <a:ext cx="5469255" cy="59150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zh-CN" sz="172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b</m:t>
                        </m:r>
                        <m:r>
                          <m:rPr>
                            <m:sty m:val="p"/>
                          </m:rPr>
                          <a:rPr lang="zh-CN" sz="172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=−</m:t>
                        </m:r>
                        <m:f>
                          <m:fPr>
                            <m:type m:val="bar"/>
                            <m:ctrlPr>
                              <a:rPr lang="zh-CN" sz="17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lang="zh-CN" sz="17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Cov</m:t>
                            </m:r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72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72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72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,</m:t>
                                </m:r>
                                <m:r>
                                  <a:rPr lang="zh-CN" sz="172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Y</m:t>
                                </m:r>
                              </m:e>
                            </m:d>
                          </m:num>
                          <m:den>
                            <m:r>
                              <m:rPr>
                                <m:sty m:val="p"/>
                              </m:rPr>
                              <a:rPr lang="zh-CN" sz="17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Var</m:t>
                            </m:r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72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72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Y</m:t>
                                </m:r>
                              </m:e>
                            </m:d>
                          </m:den>
                        </m:f>
                        <m:r>
                          <m:rPr>
                            <m:sty m:val="p"/>
                          </m:rPr>
                          <a:rPr lang="zh-CN" sz="172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=−</m:t>
                        </m:r>
                        <m:sSub>
                          <m:e>
                            <m:r>
                              <a:rPr lang="zh-CN" sz="17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ρ</m:t>
                            </m:r>
                          </m:e>
                          <m:sub>
                            <m:r>
                              <a:rPr lang="zh-CN" sz="17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  <m:r>
                              <m:rPr>
                                <m:sty m:val="p"/>
                              </m:rPr>
                              <a:rPr lang="zh-CN" sz="17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,</m:t>
                            </m:r>
                            <m:r>
                              <a:rPr lang="zh-CN" sz="17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Y</m:t>
                            </m:r>
                          </m:sub>
                        </m:sSub>
                        <m:rad>
                          <m:radPr>
                            <m:degHide m:val="on"/>
                            <m:ctrlPr>
                              <a:rPr lang="zh-CN" sz="17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radPr>
                          <m:deg/>
                          <m:e>
                            <m:f>
                              <m:fPr>
                                <m:type m:val="bar"/>
                                <m:ctrlPr>
                                  <a:rPr lang="zh-CN" sz="172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fPr>
                              <m:num>
                                <m:r>
                                  <m:rPr>
                                    <m:sty m:val="p"/>
                                  </m:rPr>
                                  <a:rPr lang="zh-CN" sz="172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Var</m:t>
                                </m:r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 m:val="on"/>
                                    <m:ctrlPr>
                                      <a:rPr lang="zh-CN" sz="172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dPr>
                                  <m:e>
                                    <m:r>
                                      <a:rPr lang="zh-CN" sz="172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X</m:t>
                                    </m:r>
                                  </m:e>
                                </m:d>
                              </m:num>
                              <m:den>
                                <m:r>
                                  <m:rPr>
                                    <m:sty m:val="p"/>
                                  </m:rPr>
                                  <a:rPr lang="zh-CN" sz="172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Var</m:t>
                                </m:r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 m:val="on"/>
                                    <m:ctrlPr>
                                      <a:rPr lang="zh-CN" sz="172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dPr>
                                  <m:e>
                                    <m:r>
                                      <a:rPr lang="zh-CN" sz="172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Y</m:t>
                                    </m:r>
                                  </m:e>
                                </m:d>
                              </m:den>
                            </m:f>
                          </m:e>
                        </m:rad>
                      </m:oMath>
                    </m:oMathPara>
                  </a14:m>
                </a:p>
              </p:txBody>
            </p:sp>
          </mc:Choice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0" name="formula300"/>
                <p:cNvSpPr txBox="1">
                  <a:spLocks noGrp="1"/>
                </p:cNvSpPr>
                <p:nvPr/>
              </p:nvSpPr>
              <p:spPr>
                <a:xfrm>
                  <a:off x="6002655" y="4730115"/>
                  <a:ext cx="5469255" cy="4381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m:rPr>
                            <m:sty m:val="p"/>
                          </m:rPr>
                          <a:rPr lang="zh-CN" sz="172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Var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7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7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Z</m:t>
                            </m:r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72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72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b</m:t>
                                </m:r>
                              </m:e>
                            </m:d>
                          </m:e>
                        </m:d>
                        <m:r>
                          <m:rPr>
                            <m:sty m:val="p"/>
                          </m:rPr>
                          <a:rPr lang="zh-CN" sz="172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7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7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zh-CN" sz="17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</m:t>
                            </m:r>
                            <m:sSubSup>
                              <m:e>
                                <m:r>
                                  <a:rPr lang="zh-CN" sz="172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ρ</m:t>
                                </m:r>
                              </m:e>
                              <m:sub>
                                <m:r>
                                  <a:rPr lang="zh-CN" sz="172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72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,</m:t>
                                </m:r>
                                <m:r>
                                  <a:rPr lang="zh-CN" sz="172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Y</m:t>
                                </m:r>
                              </m:sub>
                              <m:sup>
                                <m:r>
                                  <a:rPr lang="zh-CN" sz="172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sup>
                            </m:sSubSup>
                          </m:e>
                        </m:d>
                        <m:r>
                          <a:rPr lang="zh-CN" sz="172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 </m:t>
                        </m:r>
                        <m:r>
                          <m:rPr>
                            <m:sty m:val="p"/>
                          </m:rPr>
                          <a:rPr lang="zh-CN" sz="172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Var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7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7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72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≤</m:t>
                        </m:r>
                        <m:r>
                          <m:rPr>
                            <m:sty m:val="p"/>
                          </m:rPr>
                          <a:rPr lang="zh-CN" sz="172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Var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7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7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</m:e>
                        </m:d>
                      </m:oMath>
                    </m:oMathPara>
                  </a14:m>
                </a:p>
              </p:txBody>
            </p:sp>
          </mc:Choice>
        </mc:AlternateContent>
      </p:grpSp>
      <p:grpSp>
        <p:nvGrpSpPr>
          <p:cNvPr id="58" name="c2-callout-6"/>
          <p:cNvGrpSpPr/>
          <p:nvPr/>
        </p:nvGrpSpPr>
        <p:grpSpPr>
          <a:xfrm>
            <a:off x="5815965" y="5541645"/>
            <a:ext cx="5842635" cy="729615"/>
            <a:chOff x="5815965" y="5541645"/>
            <a:chExt cx="5842635" cy="729615"/>
          </a:xfrm>
        </p:grpSpPr>
        <p:sp>
          <p:nvSpPr>
            <p:cNvPr id="52" name="Rectangle 52"/>
            <p:cNvSpPr/>
            <p:nvPr/>
          </p:nvSpPr>
          <p:spPr>
            <a:xfrm>
              <a:off x="5815965" y="5541645"/>
              <a:ext cx="5842635" cy="729615"/>
            </a:xfrm>
            <a:prstGeom prst="roundRect">
              <a:avLst>
                <a:gd name="adj" fmla="val 15666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56" name="Group 56"/>
            <p:cNvGrpSpPr/>
            <p:nvPr/>
          </p:nvGrpSpPr>
          <p:grpSpPr>
            <a:xfrm>
              <a:off x="6020753" y="5806440"/>
              <a:ext cx="200026" cy="200026"/>
              <a:chOff x="6020753" y="5806440"/>
              <a:chExt cx="200026" cy="200026"/>
            </a:xfrm>
          </p:grpSpPr>
          <p:sp>
            <p:nvSpPr>
              <p:cNvPr id="53" name="Freeform 53"/>
              <p:cNvSpPr/>
              <p:nvPr/>
            </p:nvSpPr>
            <p:spPr>
              <a:xfrm>
                <a:off x="6020753" y="5806440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54" name="Freeform 54"/>
              <p:cNvSpPr/>
              <p:nvPr/>
            </p:nvSpPr>
            <p:spPr>
              <a:xfrm>
                <a:off x="6120765" y="587311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55" name="Freeform 55"/>
              <p:cNvSpPr/>
              <p:nvPr/>
            </p:nvSpPr>
            <p:spPr>
              <a:xfrm>
                <a:off x="6109653" y="5906453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57" name="TextBox 57"/>
            <p:cNvSpPr txBox="1"/>
            <p:nvPr/>
          </p:nvSpPr>
          <p:spPr>
            <a:xfrm>
              <a:off x="6323457" y="5688330"/>
              <a:ext cx="4925759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用最优 b 时不再要求 Cov &lt; 0，b 的符号会自动与相关方向相反；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|ρ| 越接近 1 效果越好。</a:t>
              </a:r>
            </a:p>
          </p:txBody>
        </p:sp>
      </p:grpSp>
      <p:grpSp>
        <p:nvGrpSpPr>
          <p:cNvPr id="6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9" name="TextBox 59"/>
            <p:cNvSpPr txBox="1"/>
            <p:nvPr/>
          </p:nvSpPr>
          <p:spPr>
            <a:xfrm>
              <a:off x="528447" y="6581299"/>
              <a:ext cx="198882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统计计算 · 第3章 随机模拟（上）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689462" cy="909257"/>
            <a:chOff x="520446" y="342900"/>
            <a:chExt cx="868946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989898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9634" y="407194"/>
              <a:ext cx="289838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第3章 随机模拟（上） · 3.5 方差缩减技术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68946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例14.1 用控制变量法估计 ∫₀¹ eᵗ dt，方差降为约 1/61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c1-text-1"/>
          <p:cNvGrpSpPr/>
          <p:nvPr/>
        </p:nvGrpSpPr>
        <p:grpSpPr>
          <a:xfrm>
            <a:off x="526542" y="1545907"/>
            <a:ext cx="4402943" cy="264033"/>
            <a:chOff x="526542" y="1545907"/>
            <a:chExt cx="4402943" cy="264033"/>
          </a:xfrm>
        </p:grpSpPr>
        <p:sp>
          <p:nvSpPr>
            <p:cNvPr id="7" name="TextBox 7"/>
            <p:cNvSpPr txBox="1"/>
            <p:nvPr/>
          </p:nvSpPr>
          <p:spPr>
            <a:xfrm>
              <a:off x="526542" y="1545907"/>
              <a:ext cx="440294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设 U ~ U(0,1)，X = exp(U)，则 I = E exp(U) = EX。</a:t>
              </a:r>
            </a:p>
          </p:txBody>
        </p:sp>
      </p:grpSp>
      <p:grpSp>
        <p:nvGrpSpPr>
          <p:cNvPr id="14" name="c1-card-2"/>
          <p:cNvGrpSpPr/>
          <p:nvPr/>
        </p:nvGrpSpPr>
        <p:grpSpPr>
          <a:xfrm>
            <a:off x="533400" y="1926908"/>
            <a:ext cx="5410200" cy="1604010"/>
            <a:chOff x="533400" y="1926908"/>
            <a:chExt cx="5410200" cy="1604010"/>
          </a:xfrm>
        </p:grpSpPr>
        <p:sp>
          <p:nvSpPr>
            <p:cNvPr id="9" name="Rectangle 9"/>
            <p:cNvSpPr/>
            <p:nvPr/>
          </p:nvSpPr>
          <p:spPr>
            <a:xfrm>
              <a:off x="533400" y="1926908"/>
              <a:ext cx="5410200" cy="1604010"/>
            </a:xfrm>
            <a:prstGeom prst="roundRect">
              <a:avLst>
                <a:gd name="adj" fmla="val 8314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0" name="Rectangle 10"/>
            <p:cNvSpPr/>
            <p:nvPr/>
          </p:nvSpPr>
          <p:spPr>
            <a:xfrm>
              <a:off x="720090" y="2113598"/>
              <a:ext cx="942975" cy="238125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797933" y="2146459"/>
              <a:ext cx="78728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法1 平均值法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13232" y="2458402"/>
              <a:ext cx="343671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直接用 Î₁ = (1/N)·Σ exp(Uᵢ) 估计 I，则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3" name="formula322"/>
                <p:cNvSpPr txBox="1">
                  <a:spLocks noGrp="1"/>
                </p:cNvSpPr>
                <p:nvPr/>
              </p:nvSpPr>
              <p:spPr>
                <a:xfrm>
                  <a:off x="720090" y="2735580"/>
                  <a:ext cx="5036820" cy="59150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m:rPr>
                            <m:sty m:val="p"/>
                          </m:rPr>
                          <a:rPr lang="zh-CN" sz="17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Var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7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sSub>
                              <m:e>
                                <m:acc>
                                  <m:accPr>
                                    <m:chr m:val="ˆ"/>
                                    <m:ctrlPr>
                                      <a:rPr lang="zh-CN" sz="17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accPr>
                                  <m:e>
                                    <m:r>
                                      <a:rPr lang="zh-CN" sz="17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I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zh-CN" sz="17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sub>
                            </m:sSub>
                          </m:e>
                        </m:d>
                        <m:r>
                          <m:rPr>
                            <m:sty m:val="p"/>
                          </m:rPr>
                          <a:rPr lang="zh-CN" sz="17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f>
                          <m:fPr>
                            <m:type m:val="bar"/>
                            <m:ctrlPr>
                              <a:rPr lang="zh-CN" sz="17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r>
                              <a:rPr lang="zh-CN" sz="17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num>
                          <m:den>
                            <m:r>
                              <a:rPr lang="zh-CN" sz="17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N</m:t>
                            </m:r>
                          </m:den>
                        </m:f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7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zh-CN" sz="17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</m:t>
                            </m:r>
                            <m:f>
                              <m:fPr>
                                <m:type m:val="bar"/>
                                <m:ctrlPr>
                                  <a:rPr lang="zh-CN" sz="17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fPr>
                              <m:num>
                                <m:r>
                                  <a:rPr lang="zh-CN" sz="17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zh-CN" sz="17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den>
                            </m:f>
                            <m:sSup>
                              <m:e>
                                <m:r>
                                  <a:rPr lang="zh-CN" sz="17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e</m:t>
                                </m:r>
                              </m:e>
                              <m:sup>
                                <m:r>
                                  <a:rPr lang="zh-CN" sz="17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zh-CN" sz="17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+</m:t>
                            </m:r>
                            <m:r>
                              <a:rPr lang="zh-CN" sz="17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2e</m:t>
                            </m:r>
                            <m:r>
                              <m:rPr>
                                <m:sty m:val="p"/>
                              </m:rPr>
                              <a:rPr lang="zh-CN" sz="17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</m:t>
                            </m:r>
                            <m:f>
                              <m:fPr>
                                <m:type m:val="bar"/>
                                <m:ctrlPr>
                                  <a:rPr lang="zh-CN" sz="17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fPr>
                              <m:num>
                                <m:r>
                                  <a:rPr lang="zh-CN" sz="17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3</m:t>
                                </m:r>
                              </m:num>
                              <m:den>
                                <m:r>
                                  <a:rPr lang="zh-CN" sz="17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  <m:r>
                          <m:rPr>
                            <m:sty m:val="p"/>
                          </m:rPr>
                          <a:rPr lang="zh-CN" sz="17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≈</m:t>
                        </m:r>
                        <m:f>
                          <m:fPr>
                            <m:type m:val="bar"/>
                            <m:ctrlPr>
                              <a:rPr lang="zh-CN" sz="17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r>
                              <a:rPr lang="zh-CN" sz="17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0.2420</m:t>
                            </m:r>
                          </m:num>
                          <m:den>
                            <m:r>
                              <a:rPr lang="zh-CN" sz="17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N</m:t>
                            </m:r>
                          </m:den>
                        </m:f>
                      </m:oMath>
                    </m:oMathPara>
                  </a14:m>
                </a:p>
              </p:txBody>
            </p:sp>
          </mc:Choice>
        </mc:AlternateContent>
      </p:grpSp>
      <p:grpSp>
        <p:nvGrpSpPr>
          <p:cNvPr id="22" name="c1-card-3"/>
          <p:cNvGrpSpPr/>
          <p:nvPr/>
        </p:nvGrpSpPr>
        <p:grpSpPr>
          <a:xfrm>
            <a:off x="533400" y="3700462"/>
            <a:ext cx="5410200" cy="2459355"/>
            <a:chOff x="533400" y="3700462"/>
            <a:chExt cx="5410200" cy="2459355"/>
          </a:xfrm>
        </p:grpSpPr>
        <p:sp>
          <p:nvSpPr>
            <p:cNvPr id="15" name="Rectangle 15"/>
            <p:cNvSpPr/>
            <p:nvPr/>
          </p:nvSpPr>
          <p:spPr>
            <a:xfrm>
              <a:off x="533400" y="3700462"/>
              <a:ext cx="5410200" cy="2459355"/>
            </a:xfrm>
            <a:prstGeom prst="roundRect">
              <a:avLst>
                <a:gd name="adj" fmla="val 5422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542925" y="3833812"/>
              <a:ext cx="47625" cy="2192655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758190" y="3887152"/>
              <a:ext cx="1067752" cy="23812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31982" y="3920014"/>
              <a:ext cx="91921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法2 控制变量法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51332" y="4231958"/>
              <a:ext cx="4754308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令 Y = U − 1/2，则 EY = 0，X 与 Y 正相关，且 E[U·exp(U)] =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1：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0" name="formula323"/>
                <p:cNvSpPr txBox="1">
                  <a:spLocks noGrp="1"/>
                </p:cNvSpPr>
                <p:nvPr/>
              </p:nvSpPr>
              <p:spPr>
                <a:xfrm>
                  <a:off x="758190" y="4767262"/>
                  <a:ext cx="4998720" cy="5143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m:rPr>
                            <m:sty m:val="p"/>
                          </m:rP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Cov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  <m:r>
                              <m:rPr>
                                <m:sty m:val="p"/>
                              </m:rP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,</m:t>
                            </m:r>
                            <m: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Y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e</m:t>
                            </m:r>
                            <m:r>
                              <m:rPr>
                                <m:sty m:val="p"/>
                              </m:rP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</m:t>
                            </m:r>
                            <m: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num>
                          <m:den>
                            <m: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≈</m:t>
                        </m:r>
                        <m: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0.14086</m:t>
                        </m:r>
                        <m:r>
                          <m:rPr>
                            <m:sty m:val="p"/>
                          </m:rP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,</m:t>
                        </m:r>
                        <m: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  </m:t>
                        </m:r>
                        <m:r>
                          <m:rPr>
                            <m:sty m:val="p"/>
                          </m:rP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Var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Y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f>
                          <m:fPr>
                            <m:type m:val="bar"/>
                            <m:ctrlP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num>
                          <m:den>
                            <m: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12</m:t>
                            </m:r>
                          </m:den>
                        </m:f>
                      </m:oMath>
                    </m:oMathPara>
                  </a14:m>
                </a:p>
              </p:txBody>
            </p:sp>
          </mc:Choice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1" name="formula324"/>
                <p:cNvSpPr txBox="1">
                  <a:spLocks noGrp="1"/>
                </p:cNvSpPr>
                <p:nvPr/>
              </p:nvSpPr>
              <p:spPr>
                <a:xfrm>
                  <a:off x="758190" y="5365432"/>
                  <a:ext cx="4998720" cy="59150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zh-CN" sz="17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b</m:t>
                        </m:r>
                        <m:r>
                          <m:rPr>
                            <m:sty m:val="p"/>
                          </m:rPr>
                          <a:rPr lang="zh-CN" sz="17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=−</m:t>
                        </m:r>
                        <m:f>
                          <m:fPr>
                            <m:type m:val="bar"/>
                            <m:ctrlPr>
                              <a:rPr lang="zh-CN" sz="17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lang="zh-CN" sz="17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Cov</m:t>
                            </m:r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7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7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7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,</m:t>
                                </m:r>
                                <m:r>
                                  <a:rPr lang="zh-CN" sz="17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Y</m:t>
                                </m:r>
                              </m:e>
                            </m:d>
                          </m:num>
                          <m:den>
                            <m:r>
                              <m:rPr>
                                <m:sty m:val="p"/>
                              </m:rPr>
                              <a:rPr lang="zh-CN" sz="17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Var</m:t>
                            </m:r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7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7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Y</m:t>
                                </m:r>
                              </m:e>
                            </m:d>
                          </m:den>
                        </m:f>
                        <m:r>
                          <m:rPr>
                            <m:sty m:val="p"/>
                          </m:rPr>
                          <a:rPr lang="zh-CN" sz="17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=−</m:t>
                        </m:r>
                        <m:f>
                          <m:fPr>
                            <m:type m:val="bar"/>
                            <m:ctrlPr>
                              <a:rPr lang="zh-CN" sz="17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r>
                              <a:rPr lang="zh-CN" sz="17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0.14086</m:t>
                            </m:r>
                          </m:num>
                          <m:den>
                            <m:r>
                              <a:rPr lang="zh-CN" sz="17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zh-CN" sz="17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/</m:t>
                            </m:r>
                            <m:r>
                              <a:rPr lang="zh-CN" sz="17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zh-CN" sz="17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≈−</m:t>
                        </m:r>
                        <m:r>
                          <a:rPr lang="zh-CN" sz="17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1.690</m:t>
                        </m:r>
                      </m:oMath>
                    </m:oMathPara>
                  </a14:m>
                </a:p>
              </p:txBody>
            </p:sp>
          </mc:Choice>
        </mc:AlternateContent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23" name="formula325"/>
              <p:cNvSpPr txBox="1">
                <a:spLocks noGrp="1"/>
              </p:cNvSpPr>
              <p:nvPr/>
            </p:nvSpPr>
            <p:spPr>
              <a:xfrm>
                <a:off x="6248400" y="1524000"/>
                <a:ext cx="5410200" cy="76676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sSub>
                        <m:e>
                          <m:acc>
                            <m:accPr>
                              <m:chr m:val="ˆ"/>
                              <m:ctrlPr>
                                <a:rPr lang="zh-CN" sz="17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accPr>
                            <m:e>
                              <m:r>
                                <a:rPr lang="zh-CN" sz="17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I</m:t>
                              </m:r>
                            </m:e>
                          </m:acc>
                        </m:e>
                        <m:sub>
                          <m: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zh-CN" sz="17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f>
                        <m:fPr>
                          <m:type m:val="bar"/>
                          <m:ctrlP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num>
                        <m:den>
                          <m: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N</m:t>
                          </m:r>
                        </m:den>
                      </m:f>
                      <m:nary>
                        <m:naryPr>
                          <m:chr m:val="∑"/>
                          <m:limLoc m:val="undOvr"/>
                          <m:grow m:val="off"/>
                          <m:subHide m:val="off"/>
                          <m:supHide m:val="off"/>
                          <m:ctrlP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naryPr>
                        <m:sub>
                          <m: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i</m:t>
                          </m:r>
                          <m:r>
                            <m:rPr>
                              <m:sty m:val="p"/>
                            </m:rP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=</m:t>
                          </m:r>
                          <m: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sub>
                        <m:sup>
                          <m: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N</m:t>
                          </m:r>
                        </m:sup>
                        <m:e>
                          <m:d>
                            <m:dPr>
                              <m:begChr m:val="["/>
                              <m:sepChr m:val=""/>
                              <m:endChr m:val="]"/>
                              <m:grow m:val="on"/>
                              <m:ctrlPr>
                                <a:rPr lang="zh-CN" sz="17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sSup>
                                <m:e>
                                  <m:r>
                                    <a:rPr lang="zh-CN" sz="17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e</m:t>
                                  </m:r>
                                </m:e>
                                <m:sup>
                                  <m:sSub>
                                    <m:e>
                                      <m:r>
                                        <a:rPr lang="zh-CN" sz="172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U</m:t>
                                      </m:r>
                                    </m:e>
                                    <m:sub>
                                      <m:r>
                                        <a:rPr lang="zh-CN" sz="172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i</m:t>
                                      </m:r>
                                    </m:sub>
                                  </m:sSub>
                                </m:sup>
                              </m:sSup>
                              <m:r>
                                <m:rPr>
                                  <m:sty m:val="p"/>
                                </m:rPr>
                                <a:rPr lang="zh-CN" sz="17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−</m:t>
                              </m:r>
                              <m:r>
                                <a:rPr lang="zh-CN" sz="17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1.690</m:t>
                              </m:r>
                              <m:d>
                                <m:dPr>
                                  <m:begChr m:val="("/>
                                  <m:sepChr m:val=""/>
                                  <m:endChr m:val=")"/>
                                  <m:grow m:val="on"/>
                                  <m:ctrlPr>
                                    <a:rPr lang="zh-CN" sz="17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dPr>
                                <m:e>
                                  <m:sSub>
                                    <m:e>
                                      <m:r>
                                        <a:rPr lang="zh-CN" sz="172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U</m:t>
                                      </m:r>
                                    </m:e>
                                    <m:sub>
                                      <m:r>
                                        <a:rPr lang="zh-CN" sz="172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i</m:t>
                                      </m:r>
                                    </m:sub>
                                  </m:sSub>
                                  <m:r>
                                    <m:rPr>
                                      <m:sty m:val="p"/>
                                    </m:rPr>
                                    <a:rPr lang="zh-CN" sz="17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−</m:t>
                                  </m:r>
                                  <m:f>
                                    <m:fPr>
                                      <m:type m:val="bar"/>
                                      <m:ctrlPr>
                                        <a:rPr lang="zh-CN" sz="172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zh-CN" sz="172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1</m:t>
                                      </m:r>
                                    </m:num>
                                    <m:den>
                                      <m:r>
                                        <a:rPr lang="zh-CN" sz="172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2</m:t>
                                      </m:r>
                                    </m:den>
                                  </m:f>
                                </m:e>
                              </m:d>
                            </m:e>
                          </m:d>
                        </m:e>
                      </m:nary>
                    </m:oMath>
                  </m:oMathPara>
                </a14:m>
              </a:p>
            </p:txBody>
          </p:sp>
        </mc:Choice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4" name="formula326"/>
              <p:cNvSpPr txBox="1">
                <a:spLocks noGrp="1"/>
              </p:cNvSpPr>
              <p:nvPr/>
            </p:nvSpPr>
            <p:spPr>
              <a:xfrm>
                <a:off x="6248400" y="2460308"/>
                <a:ext cx="5410200" cy="4381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l"/>
                <a14:m>
                  <m:oMathPara xmlns:a="http://schemas.openxmlformats.org/drawingml/2006/main" xmlns:m="http://schemas.openxmlformats.org/officeDocument/2006/math">
                    <m:oMathParaPr>
                      <m:jc m:val="left"/>
                    </m:oMathParaPr>
                    <m:oMath>
                      <m:r>
                        <m:rPr>
                          <m:sty m:val="p"/>
                        </m:rPr>
                        <a:rPr lang="zh-CN" sz="17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Var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Z</m:t>
                          </m:r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7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a:rPr lang="zh-CN" sz="17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b</m:t>
                              </m:r>
                            </m:e>
                          </m:d>
                        </m:e>
                      </m:d>
                      <m:r>
                        <m:rPr>
                          <m:sty m:val="p"/>
                        </m:rPr>
                        <a:rPr lang="zh-CN" sz="17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  <m:r>
                            <m:rPr>
                              <m:sty m:val="p"/>
                            </m:rP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−</m:t>
                          </m:r>
                          <m:sSubSup>
                            <m:e>
                              <m:r>
                                <a:rPr lang="zh-CN" sz="17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ρ</m:t>
                              </m:r>
                            </m:e>
                            <m:sub>
                              <m:r>
                                <a:rPr lang="zh-CN" sz="17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X</m:t>
                              </m:r>
                              <m:r>
                                <m:rPr>
                                  <m:sty m:val="p"/>
                                </m:rPr>
                                <a:rPr lang="zh-CN" sz="17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,</m:t>
                              </m:r>
                              <m:r>
                                <a:rPr lang="zh-CN" sz="17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Y</m:t>
                              </m:r>
                            </m:sub>
                            <m:sup>
                              <m:r>
                                <a:rPr lang="zh-CN" sz="17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2</m:t>
                              </m:r>
                            </m:sup>
                          </m:sSubSup>
                        </m:e>
                      </m:d>
                      <m:r>
                        <a:rPr lang="zh-CN" sz="17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 xml:space="preserve"> </m:t>
                      </m:r>
                      <m:r>
                        <m:rPr>
                          <m:sty m:val="p"/>
                        </m:rPr>
                        <a:rPr lang="zh-CN" sz="17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Var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X</m:t>
                          </m:r>
                        </m:e>
                      </m:d>
                    </m:oMath>
                  </m:oMathPara>
                </a14:m>
              </a:p>
            </p:txBody>
          </p:sp>
        </mc:Choice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5" name="formula327"/>
              <p:cNvSpPr txBox="1">
                <a:spLocks noGrp="1"/>
              </p:cNvSpPr>
              <p:nvPr/>
            </p:nvSpPr>
            <p:spPr>
              <a:xfrm>
                <a:off x="6248400" y="3068955"/>
                <a:ext cx="5410200" cy="4381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l"/>
                <a14:m>
                  <m:oMathPara xmlns:a="http://schemas.openxmlformats.org/drawingml/2006/main" xmlns:m="http://schemas.openxmlformats.org/officeDocument/2006/math">
                    <m:oMathParaPr>
                      <m:jc m:val="left"/>
                    </m:oMathParaPr>
                    <m:oMath>
                      <m:r>
                        <m:rPr>
                          <m:sty m:val="p"/>
                        </m:rPr>
                        <a:rPr lang="zh-CN" sz="17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  <m:r>
                            <m:rPr>
                              <m:sty m:val="p"/>
                            </m:rP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−</m:t>
                          </m:r>
                          <m: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0.991</m:t>
                          </m:r>
                          <m:sSup>
                            <m:e>
                              <m:r>
                                <a:rPr lang="zh-CN" sz="17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8</m:t>
                              </m:r>
                            </m:e>
                            <m:sup>
                              <m:r>
                                <a:rPr lang="zh-CN" sz="17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r>
                        <m:rPr>
                          <m:sty m:val="p"/>
                        </m:rPr>
                        <a:rPr lang="zh-CN" sz="17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×</m:t>
                      </m:r>
                      <m:r>
                        <a:rPr lang="zh-CN" sz="17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0.2420</m:t>
                      </m:r>
                      <m:r>
                        <m:rPr>
                          <m:sty m:val="p"/>
                        </m:rPr>
                        <a:rPr lang="zh-CN" sz="17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≈</m:t>
                      </m:r>
                      <m:r>
                        <a:rPr lang="zh-CN" sz="17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0.0039</m:t>
                      </m:r>
                    </m:oMath>
                  </m:oMathPara>
                </a14:m>
              </a:p>
            </p:txBody>
          </p:sp>
        </mc:Choice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6" name="formula328"/>
              <p:cNvSpPr txBox="1">
                <a:spLocks noGrp="1"/>
              </p:cNvSpPr>
              <p:nvPr/>
            </p:nvSpPr>
            <p:spPr>
              <a:xfrm>
                <a:off x="6248400" y="3676650"/>
                <a:ext cx="5410200" cy="5915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r>
                        <m:rPr>
                          <m:sty m:val="p"/>
                        </m:rPr>
                        <a:rPr lang="zh-CN" sz="17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Var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sSub>
                            <m:e>
                              <m:acc>
                                <m:accPr>
                                  <m:chr m:val="ˆ"/>
                                  <m:ctrlPr>
                                    <a:rPr lang="zh-CN" sz="17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accPr>
                                <m:e>
                                  <m:r>
                                    <a:rPr lang="zh-CN" sz="17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I</m:t>
                                  </m:r>
                                </m:e>
                              </m:acc>
                            </m:e>
                            <m:sub>
                              <m:r>
                                <a:rPr lang="zh-CN" sz="17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m:rPr>
                          <m:sty m:val="p"/>
                        </m:rPr>
                        <a:rPr lang="zh-CN" sz="17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f>
                        <m:fPr>
                          <m:type m:val="bar"/>
                          <m:ctrlP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num>
                        <m:den>
                          <m: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N</m:t>
                          </m:r>
                        </m:den>
                      </m:f>
                      <m:r>
                        <m:rPr>
                          <m:sty m:val="p"/>
                        </m:rPr>
                        <a:rPr lang="zh-CN" sz="17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Var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Z</m:t>
                          </m:r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7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a:rPr lang="zh-CN" sz="17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b</m:t>
                              </m:r>
                            </m:e>
                          </m:d>
                        </m:e>
                      </m:d>
                      <m:r>
                        <m:rPr>
                          <m:sty m:val="p"/>
                        </m:rPr>
                        <a:rPr lang="zh-CN" sz="17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≈</m:t>
                      </m:r>
                      <m:f>
                        <m:fPr>
                          <m:type m:val="bar"/>
                          <m:ctrlP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0.0039</m:t>
                          </m:r>
                        </m:num>
                        <m:den>
                          <m: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N</m:t>
                          </m:r>
                        </m:den>
                      </m:f>
                    </m:oMath>
                  </m:oMathPara>
                </a14:m>
              </a:p>
            </p:txBody>
          </p:sp>
        </mc:Choice>
      </mc:AlternateContent>
      <p:grpSp>
        <p:nvGrpSpPr>
          <p:cNvPr id="30" name="c2-code-5"/>
          <p:cNvGrpSpPr/>
          <p:nvPr/>
        </p:nvGrpSpPr>
        <p:grpSpPr>
          <a:xfrm>
            <a:off x="6248400" y="4438650"/>
            <a:ext cx="5410200" cy="1384935"/>
            <a:chOff x="6248400" y="4438650"/>
            <a:chExt cx="5410200" cy="1384935"/>
          </a:xfrm>
        </p:grpSpPr>
        <p:sp>
          <p:nvSpPr>
            <p:cNvPr id="27" name="Rectangle 27"/>
            <p:cNvSpPr/>
            <p:nvPr/>
          </p:nvSpPr>
          <p:spPr>
            <a:xfrm>
              <a:off x="6248400" y="4438650"/>
              <a:ext cx="5410200" cy="1384935"/>
            </a:xfrm>
            <a:prstGeom prst="roundRect">
              <a:avLst>
                <a:gd name="adj" fmla="val 6878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376797" y="4590574"/>
              <a:ext cx="65901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R：例14.1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376797" y="4850606"/>
              <a:ext cx="3065399" cy="8955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88"/>
                </a:lnSpc>
              </a:pP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N &lt;- 10000; U &lt;- runif(N)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X &lt;- exp(U); Y &lt;- U - 1/2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b &lt;- -cov(X, Y) / var(Y)   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# 约 -1.690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Z &lt;- X + b * Y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c(mean(Z), var(X) / var(Z))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# 约 1.718 与 61</a:t>
              </a:r>
            </a:p>
          </p:txBody>
        </p:sp>
      </p:grpSp>
      <p:grpSp>
        <p:nvGrpSpPr>
          <p:cNvPr id="3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31" name="TextBox 31"/>
            <p:cNvSpPr txBox="1"/>
            <p:nvPr/>
          </p:nvSpPr>
          <p:spPr>
            <a:xfrm>
              <a:off x="528447" y="6581299"/>
              <a:ext cx="198882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统计计算 · 第3章 随机模拟（上）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419517" cy="909257"/>
            <a:chOff x="520446" y="342900"/>
            <a:chExt cx="641951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989898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9634" y="407194"/>
              <a:ext cx="289838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第3章 随机模拟（上） · 3.5 方差缩减技术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41951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例14.2 系统可靠性：结构函数与两种估计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7" name="c1-card-1"/>
          <p:cNvGrpSpPr/>
          <p:nvPr/>
        </p:nvGrpSpPr>
        <p:grpSpPr>
          <a:xfrm>
            <a:off x="533400" y="1524000"/>
            <a:ext cx="5410200" cy="2272665"/>
            <a:chOff x="533400" y="1524000"/>
            <a:chExt cx="5410200" cy="227266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2272665"/>
            </a:xfrm>
            <a:prstGeom prst="roundRect">
              <a:avLst>
                <a:gd name="adj" fmla="val 586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2005965"/>
            </a:xfrm>
            <a:prstGeom prst="roundRect">
              <a:avLst>
                <a:gd name="adj" fmla="val 50000"/>
              </a:avLst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81050" y="1733550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71258" y="176926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模型</a:t>
              </a:r>
            </a:p>
          </p:txBody>
        </p:sp>
        <p:sp>
          <p:nvSpPr>
            <p:cNvPr id="11" name="Ellipse 11"/>
            <p:cNvSpPr/>
            <p:nvPr/>
          </p:nvSpPr>
          <p:spPr>
            <a:xfrm>
              <a:off x="786765" y="2173605"/>
              <a:ext cx="64770" cy="6477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944880" y="2110740"/>
              <a:ext cx="455866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 个部件组成一个系统，Sᵢ = 1 表示第 i 个部件正常工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作，0 表示失效；Sᵢ ~ B(1, pᵢ) 且相互独立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786765" y="2794635"/>
              <a:ext cx="64770" cy="6477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944880" y="2731770"/>
              <a:ext cx="43586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系统状态 Y = φ(S₁, …, Sₙ)，1 表示正常、0 表示失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效；φ 关于每个 Sᵢ 单调不减，称为 </a:t>
              </a:r>
              <a:r>
                <a:rPr lang="zh-CN" sz="15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结构函数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786765" y="3415665"/>
              <a:ext cx="64770" cy="6477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944880" y="3352800"/>
              <a:ext cx="438999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R = P(Y = 1) = Eφ(S₁, …, Sₙ) 称为 </a:t>
              </a:r>
              <a:r>
                <a:rPr lang="zh-CN" sz="15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系统可靠度</a:t>
              </a:r>
            </a:p>
          </p:txBody>
        </p:sp>
      </p:grpSp>
      <p:grpSp>
        <p:nvGrpSpPr>
          <p:cNvPr id="35" name="c1-graph-2"/>
          <p:cNvGrpSpPr/>
          <p:nvPr/>
        </p:nvGrpSpPr>
        <p:grpSpPr>
          <a:xfrm>
            <a:off x="711518" y="4053840"/>
            <a:ext cx="5124449" cy="1295400"/>
            <a:chOff x="711518" y="4053840"/>
            <a:chExt cx="5124449" cy="1295400"/>
          </a:xfrm>
        </p:grpSpPr>
        <p:sp>
          <p:nvSpPr>
            <p:cNvPr id="18" name="Freeform 18"/>
            <p:cNvSpPr/>
            <p:nvPr/>
          </p:nvSpPr>
          <p:spPr>
            <a:xfrm>
              <a:off x="797242" y="4701540"/>
              <a:ext cx="797242" cy="9525"/>
            </a:xfrm>
            <a:custGeom>
              <a:avLst/>
              <a:gdLst/>
              <a:ahLst/>
              <a:cxnLst/>
              <a:rect l="l" t="t" r="r" b="b"/>
              <a:pathLst>
                <a:path w="797242" h="9525">
                  <a:moveTo>
                    <a:pt x="0" y="0"/>
                  </a:moveTo>
                  <a:lnTo>
                    <a:pt x="797242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9" name="Freeform 19"/>
            <p:cNvSpPr/>
            <p:nvPr/>
          </p:nvSpPr>
          <p:spPr>
            <a:xfrm>
              <a:off x="2394585" y="4701540"/>
              <a:ext cx="687705" cy="9525"/>
            </a:xfrm>
            <a:custGeom>
              <a:avLst/>
              <a:gdLst/>
              <a:ahLst/>
              <a:cxnLst/>
              <a:rect l="l" t="t" r="r" b="b"/>
              <a:pathLst>
                <a:path w="687705" h="9525">
                  <a:moveTo>
                    <a:pt x="0" y="0"/>
                  </a:moveTo>
                  <a:lnTo>
                    <a:pt x="687705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0" name="Freeform 20"/>
            <p:cNvSpPr/>
            <p:nvPr/>
          </p:nvSpPr>
          <p:spPr>
            <a:xfrm>
              <a:off x="3129915" y="4244340"/>
              <a:ext cx="790575" cy="409575"/>
            </a:xfrm>
            <a:custGeom>
              <a:avLst/>
              <a:gdLst/>
              <a:ahLst/>
              <a:cxnLst/>
              <a:rect l="l" t="t" r="r" b="b"/>
              <a:pathLst>
                <a:path w="790575" h="409575">
                  <a:moveTo>
                    <a:pt x="0" y="409575"/>
                  </a:moveTo>
                  <a:lnTo>
                    <a:pt x="0" y="0"/>
                  </a:lnTo>
                  <a:lnTo>
                    <a:pt x="790575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1" name="Freeform 21"/>
            <p:cNvSpPr/>
            <p:nvPr/>
          </p:nvSpPr>
          <p:spPr>
            <a:xfrm>
              <a:off x="3129915" y="4749165"/>
              <a:ext cx="790575" cy="409575"/>
            </a:xfrm>
            <a:custGeom>
              <a:avLst/>
              <a:gdLst/>
              <a:ahLst/>
              <a:cxnLst/>
              <a:rect l="l" t="t" r="r" b="b"/>
              <a:pathLst>
                <a:path w="790575" h="409575">
                  <a:moveTo>
                    <a:pt x="0" y="0"/>
                  </a:moveTo>
                  <a:lnTo>
                    <a:pt x="0" y="409575"/>
                  </a:lnTo>
                  <a:lnTo>
                    <a:pt x="790575" y="409575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2" name="Freeform 22"/>
            <p:cNvSpPr/>
            <p:nvPr/>
          </p:nvSpPr>
          <p:spPr>
            <a:xfrm>
              <a:off x="4720590" y="4244340"/>
              <a:ext cx="736282" cy="409575"/>
            </a:xfrm>
            <a:custGeom>
              <a:avLst/>
              <a:gdLst/>
              <a:ahLst/>
              <a:cxnLst/>
              <a:rect l="l" t="t" r="r" b="b"/>
              <a:pathLst>
                <a:path w="736282" h="409575">
                  <a:moveTo>
                    <a:pt x="0" y="0"/>
                  </a:moveTo>
                  <a:lnTo>
                    <a:pt x="736282" y="0"/>
                  </a:lnTo>
                  <a:lnTo>
                    <a:pt x="736282" y="409575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3" name="Freeform 23"/>
            <p:cNvSpPr/>
            <p:nvPr/>
          </p:nvSpPr>
          <p:spPr>
            <a:xfrm>
              <a:off x="4720590" y="4749165"/>
              <a:ext cx="736282" cy="409575"/>
            </a:xfrm>
            <a:custGeom>
              <a:avLst/>
              <a:gdLst/>
              <a:ahLst/>
              <a:cxnLst/>
              <a:rect l="l" t="t" r="r" b="b"/>
              <a:pathLst>
                <a:path w="736282" h="409575">
                  <a:moveTo>
                    <a:pt x="0" y="409575"/>
                  </a:moveTo>
                  <a:lnTo>
                    <a:pt x="736282" y="409575"/>
                  </a:lnTo>
                  <a:lnTo>
                    <a:pt x="736282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4" name="Freeform 24"/>
            <p:cNvSpPr/>
            <p:nvPr/>
          </p:nvSpPr>
          <p:spPr>
            <a:xfrm>
              <a:off x="5504498" y="4701540"/>
              <a:ext cx="320040" cy="9525"/>
            </a:xfrm>
            <a:custGeom>
              <a:avLst/>
              <a:gdLst/>
              <a:ahLst/>
              <a:cxnLst/>
              <a:rect l="l" t="t" r="r" b="b"/>
              <a:pathLst>
                <a:path w="320040" h="9525">
                  <a:moveTo>
                    <a:pt x="0" y="0"/>
                  </a:moveTo>
                  <a:lnTo>
                    <a:pt x="32004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5" name="Ellipse 25"/>
            <p:cNvSpPr/>
            <p:nvPr/>
          </p:nvSpPr>
          <p:spPr>
            <a:xfrm>
              <a:off x="711518" y="4663440"/>
              <a:ext cx="76200" cy="7620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1594485" y="4511040"/>
              <a:ext cx="800100" cy="381000"/>
            </a:xfrm>
            <a:prstGeom prst="roundRect">
              <a:avLst>
                <a:gd name="adj" fmla="val 25000"/>
              </a:avLst>
            </a:prstGeom>
            <a:solidFill>
              <a:srgbClr val="E5F2EA"/>
            </a:solidFill>
            <a:ln w="17145">
              <a:solidFill>
                <a:srgbClr val="2E7D4F"/>
              </a:solidFill>
            </a:ln>
          </p:spPr>
        </p:sp>
        <p:sp>
          <p:nvSpPr>
            <p:cNvPr id="27" name="Ellipse 27"/>
            <p:cNvSpPr/>
            <p:nvPr/>
          </p:nvSpPr>
          <p:spPr>
            <a:xfrm>
              <a:off x="3091815" y="4663440"/>
              <a:ext cx="76200" cy="7620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3920490" y="4053840"/>
              <a:ext cx="800100" cy="381000"/>
            </a:xfrm>
            <a:prstGeom prst="roundRect">
              <a:avLst>
                <a:gd name="adj" fmla="val 25000"/>
              </a:avLst>
            </a:prstGeom>
            <a:solidFill>
              <a:srgbClr val="E5F2EA"/>
            </a:solidFill>
            <a:ln w="17145">
              <a:solidFill>
                <a:srgbClr val="2E7D4F"/>
              </a:solidFill>
            </a:ln>
          </p:spPr>
        </p:sp>
        <p:sp>
          <p:nvSpPr>
            <p:cNvPr id="29" name="Rectangle 29"/>
            <p:cNvSpPr/>
            <p:nvPr/>
          </p:nvSpPr>
          <p:spPr>
            <a:xfrm>
              <a:off x="3920490" y="4968240"/>
              <a:ext cx="800100" cy="381000"/>
            </a:xfrm>
            <a:prstGeom prst="roundRect">
              <a:avLst>
                <a:gd name="adj" fmla="val 25000"/>
              </a:avLst>
            </a:prstGeom>
            <a:solidFill>
              <a:srgbClr val="E5F2EA"/>
            </a:solidFill>
            <a:ln w="17145">
              <a:solidFill>
                <a:srgbClr val="2E7D4F"/>
              </a:solidFill>
            </a:ln>
          </p:spPr>
        </p:sp>
        <p:sp>
          <p:nvSpPr>
            <p:cNvPr id="30" name="Ellipse 30"/>
            <p:cNvSpPr/>
            <p:nvPr/>
          </p:nvSpPr>
          <p:spPr>
            <a:xfrm>
              <a:off x="5418772" y="4663440"/>
              <a:ext cx="76200" cy="7620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31" name="Ellipse 31"/>
            <p:cNvSpPr/>
            <p:nvPr/>
          </p:nvSpPr>
          <p:spPr>
            <a:xfrm>
              <a:off x="5834062" y="4700588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1780249" y="4627245"/>
              <a:ext cx="42857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23613D"/>
                  </a:solidFill>
                  <a:latin typeface="+mn-lt"/>
                  <a:ea typeface="+mn-ea"/>
                  <a:cs typeface="+mn-cs"/>
                </a:rPr>
                <a:t>部件1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4106254" y="4170045"/>
              <a:ext cx="42857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23613D"/>
                  </a:solidFill>
                  <a:latin typeface="+mn-lt"/>
                  <a:ea typeface="+mn-ea"/>
                  <a:cs typeface="+mn-cs"/>
                </a:rPr>
                <a:t>部件2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4106254" y="5084445"/>
              <a:ext cx="42857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23613D"/>
                  </a:solidFill>
                  <a:latin typeface="+mn-lt"/>
                  <a:ea typeface="+mn-ea"/>
                  <a:cs typeface="+mn-cs"/>
                </a:rPr>
                <a:t>部件3</a:t>
              </a:r>
            </a:p>
          </p:txBody>
        </p:sp>
      </p:grpSp>
      <p:grpSp>
        <p:nvGrpSpPr>
          <p:cNvPr id="37" name="c1-text-3"/>
          <p:cNvGrpSpPr/>
          <p:nvPr/>
        </p:nvGrpSpPr>
        <p:grpSpPr>
          <a:xfrm>
            <a:off x="526923" y="5627846"/>
            <a:ext cx="5109210" cy="500824"/>
            <a:chOff x="526923" y="5627846"/>
            <a:chExt cx="5109210" cy="500824"/>
          </a:xfrm>
        </p:grpSpPr>
        <p:sp>
          <p:nvSpPr>
            <p:cNvPr id="36" name="TextBox 36"/>
            <p:cNvSpPr txBox="1"/>
            <p:nvPr/>
          </p:nvSpPr>
          <p:spPr>
            <a:xfrm>
              <a:off x="526923" y="5627846"/>
              <a:ext cx="5109210" cy="5008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80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例：部件1 与（部件2 并联部件3）串联，φ(S) = S₁·[1 − (1 − S₂)(1 −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S₃)]。</a:t>
              </a:r>
            </a:p>
          </p:txBody>
        </p:sp>
      </p:grpSp>
      <p:grpSp>
        <p:nvGrpSpPr>
          <p:cNvPr id="39" name="c2-text-1"/>
          <p:cNvGrpSpPr/>
          <p:nvPr/>
        </p:nvGrpSpPr>
        <p:grpSpPr>
          <a:xfrm>
            <a:off x="6240780" y="1548765"/>
            <a:ext cx="5053965" cy="588645"/>
            <a:chOff x="6240780" y="1548765"/>
            <a:chExt cx="5053965" cy="588645"/>
          </a:xfrm>
        </p:grpSpPr>
        <p:sp>
          <p:nvSpPr>
            <p:cNvPr id="38" name="TextBox 38"/>
            <p:cNvSpPr txBox="1"/>
            <p:nvPr/>
          </p:nvSpPr>
          <p:spPr>
            <a:xfrm>
              <a:off x="6240780" y="1548765"/>
              <a:ext cx="5053965" cy="5886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325"/>
                </a:lnSpc>
              </a:pPr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平均值法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：记 S = (S₁, …, Sₙ)，X = φ(S)，对 S 独立抽取 N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个点 S⁽ʲ⁾，j = 1, …, N：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40" name="formula331"/>
              <p:cNvSpPr txBox="1">
                <a:spLocks noGrp="1"/>
              </p:cNvSpPr>
              <p:nvPr/>
            </p:nvSpPr>
            <p:spPr>
              <a:xfrm>
                <a:off x="6248400" y="2268855"/>
                <a:ext cx="5410200" cy="8667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sSub>
                        <m:e>
                          <m:acc>
                            <m:accPr>
                              <m:chr m:val="ˆ"/>
                              <m:ctrlPr>
                                <a:rPr lang="zh-CN" sz="19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accPr>
                            <m:e>
                              <m:r>
                                <a:rPr lang="zh-CN" sz="19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R</m:t>
                              </m:r>
                            </m:e>
                          </m:acc>
                        </m:e>
                        <m:sub>
                          <m:r>
                            <a:rPr lang="zh-CN" sz="19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zh-CN" sz="19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f>
                        <m:fPr>
                          <m:type m:val="bar"/>
                          <m:ctrlPr>
                            <a:rPr lang="zh-CN" sz="19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zh-CN" sz="19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num>
                        <m:den>
                          <m:r>
                            <a:rPr lang="zh-CN" sz="19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N</m:t>
                          </m:r>
                        </m:den>
                      </m:f>
                      <m:nary>
                        <m:naryPr>
                          <m:chr m:val="∑"/>
                          <m:limLoc m:val="undOvr"/>
                          <m:grow m:val="off"/>
                          <m:subHide m:val="off"/>
                          <m:supHide m:val="off"/>
                          <m:ctrlPr>
                            <a:rPr lang="zh-CN" sz="19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naryPr>
                        <m:sub>
                          <m:r>
                            <a:rPr lang="zh-CN" sz="19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j</m:t>
                          </m:r>
                          <m:r>
                            <m:rPr>
                              <m:sty m:val="p"/>
                            </m:rPr>
                            <a:rPr lang="zh-CN" sz="19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=</m:t>
                          </m:r>
                          <m:r>
                            <a:rPr lang="zh-CN" sz="19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sub>
                        <m:sup>
                          <m:r>
                            <a:rPr lang="zh-CN" sz="19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N</m:t>
                          </m:r>
                        </m:sup>
                        <m:e>
                          <m:r>
                            <a:rPr lang="zh-CN" sz="19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ϕ</m:t>
                          </m:r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9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sSup>
                                <m:e>
                                  <m:r>
                                    <m:rPr>
                                      <m:sty m:val="b"/>
                                    </m:rPr>
                                    <a:rPr lang="zh-CN" sz="19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S</m:t>
                                  </m:r>
                                </m:e>
                                <m:sup>
                                  <m:d>
                                    <m:dPr>
                                      <m:begChr m:val="("/>
                                      <m:sepChr m:val=""/>
                                      <m:endChr m:val=")"/>
                                      <m:grow m:val="on"/>
                                      <m:ctrlPr>
                                        <a:rPr lang="zh-CN" sz="195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zh-CN" sz="195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j</m:t>
                                      </m:r>
                                    </m:e>
                                  </m:d>
                                </m:sup>
                              </m:sSup>
                            </m:e>
                          </m:d>
                        </m:e>
                      </m:nary>
                    </m:oMath>
                  </m:oMathPara>
                </a14:m>
              </a:p>
            </p:txBody>
          </p:sp>
        </mc:Choice>
      </mc:AlternateContent>
      <p:grpSp>
        <p:nvGrpSpPr>
          <p:cNvPr id="42" name="c2-text-3"/>
          <p:cNvGrpSpPr/>
          <p:nvPr/>
        </p:nvGrpSpPr>
        <p:grpSpPr>
          <a:xfrm>
            <a:off x="6240780" y="3350895"/>
            <a:ext cx="5158740" cy="1179195"/>
            <a:chOff x="6240780" y="3350895"/>
            <a:chExt cx="5158740" cy="1179195"/>
          </a:xfrm>
        </p:grpSpPr>
        <p:sp>
          <p:nvSpPr>
            <p:cNvPr id="41" name="TextBox 41"/>
            <p:cNvSpPr txBox="1"/>
            <p:nvPr/>
          </p:nvSpPr>
          <p:spPr>
            <a:xfrm>
              <a:off x="6240780" y="3350895"/>
              <a:ext cx="5158740" cy="11791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325"/>
                </a:lnSpc>
              </a:pPr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控制变量法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：令 Y = Σ(Sᵢ − pᵢ)，则 EY = 0，且 Y 与 X 正相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关（正常的部件越多，系统越可能正常）。用一个小的抽样先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近似估计 Cov(X, Y)、Var(Y)，得到 b 的近似值，则方差缩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减的估计量为</a:t>
              </a:r>
            </a:p>
          </p:txBody>
        </p:sp>
      </p:grpSp>
      <p:grpSp>
        <p:nvGrpSpPr>
          <p:cNvPr id="47" name="c2-card-4"/>
          <p:cNvGrpSpPr/>
          <p:nvPr/>
        </p:nvGrpSpPr>
        <p:grpSpPr>
          <a:xfrm>
            <a:off x="6248400" y="4661535"/>
            <a:ext cx="5410200" cy="1657350"/>
            <a:chOff x="6248400" y="4661535"/>
            <a:chExt cx="5410200" cy="1657350"/>
          </a:xfrm>
        </p:grpSpPr>
        <p:sp>
          <p:nvSpPr>
            <p:cNvPr id="43" name="Rectangle 43"/>
            <p:cNvSpPr/>
            <p:nvPr/>
          </p:nvSpPr>
          <p:spPr>
            <a:xfrm>
              <a:off x="6248400" y="4661535"/>
              <a:ext cx="5410200" cy="1657350"/>
            </a:xfrm>
            <a:prstGeom prst="roundRect">
              <a:avLst>
                <a:gd name="adj" fmla="val 8046"/>
              </a:avLst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44" name="Rectangle 44"/>
            <p:cNvSpPr/>
            <p:nvPr/>
          </p:nvSpPr>
          <p:spPr>
            <a:xfrm>
              <a:off x="6457950" y="4871085"/>
              <a:ext cx="1062990" cy="257175"/>
            </a:xfrm>
            <a:prstGeom prst="roundRect">
              <a:avLst>
                <a:gd name="adj" fmla="val 50000"/>
              </a:avLst>
            </a:prstGeom>
            <a:solidFill>
              <a:srgbClr val="23613D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6531407" y="4906804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控制变量估计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6" name="formula332"/>
                <p:cNvSpPr txBox="1">
                  <a:spLocks noGrp="1"/>
                </p:cNvSpPr>
                <p:nvPr/>
              </p:nvSpPr>
              <p:spPr>
                <a:xfrm>
                  <a:off x="6457950" y="5223510"/>
                  <a:ext cx="4991100" cy="86677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sSub>
                          <m:e>
                            <m:acc>
                              <m:accPr>
                                <m:chr m:val="ˆ"/>
                                <m:ctrlPr>
                                  <a:rPr lang="zh-CN" sz="195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accPr>
                              <m:e>
                                <m:r>
                                  <a:rPr lang="zh-CN" sz="195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R</m:t>
                                </m:r>
                              </m:e>
                            </m:acc>
                          </m:e>
                          <m:sub>
                            <m:r>
                              <a:rPr lang="zh-CN" sz="19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2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zh-CN" sz="195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f>
                          <m:fPr>
                            <m:type m:val="bar"/>
                            <m:ctrlPr>
                              <a:rPr lang="zh-CN" sz="19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r>
                              <a:rPr lang="zh-CN" sz="19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num>
                          <m:den>
                            <m:r>
                              <a:rPr lang="zh-CN" sz="19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N</m:t>
                            </m:r>
                          </m:den>
                        </m:f>
                        <m:nary>
                          <m:naryPr>
                            <m:chr m:val="∑"/>
                            <m:limLoc m:val="undOvr"/>
                            <m:grow m:val="off"/>
                            <m:subHide m:val="off"/>
                            <m:supHide m:val="off"/>
                            <m:ctrlPr>
                              <a:rPr lang="zh-CN" sz="19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naryPr>
                          <m:sub>
                            <m:r>
                              <a:rPr lang="zh-CN" sz="19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j</m:t>
                            </m:r>
                            <m:r>
                              <m:rPr>
                                <m:sty m:val="p"/>
                              </m:rPr>
                              <a:rPr lang="zh-CN" sz="19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=</m:t>
                            </m:r>
                            <m:r>
                              <a:rPr lang="zh-CN" sz="19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sub>
                          <m:sup>
                            <m:r>
                              <a:rPr lang="zh-CN" sz="19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N</m:t>
                            </m:r>
                          </m:sup>
                          <m:e>
                            <m:d>
                              <m:dPr>
                                <m:begChr m:val="["/>
                                <m:sepChr m:val=""/>
                                <m:endChr m:val="]"/>
                                <m:grow m:val="on"/>
                                <m:ctrlPr>
                                  <a:rPr lang="zh-CN" sz="195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95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ϕ</m:t>
                                </m:r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 m:val="on"/>
                                    <m:ctrlPr>
                                      <a:rPr lang="zh-CN" sz="195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dPr>
                                  <m:e>
                                    <m:sSup>
                                      <m:e>
                                        <m:r>
                                          <m:rPr>
                                            <m:sty m:val="b"/>
                                          </m:rPr>
                                          <a:rPr lang="zh-CN" sz="1950" dirty="0">
                                            <a:solidFill>
                                              <a:srgbClr val="FFFFFF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S</m:t>
                                        </m:r>
                                      </m:e>
                                      <m:sup>
                                        <m:d>
                                          <m:dPr>
                                            <m:begChr m:val="("/>
                                            <m:sepChr m:val=""/>
                                            <m:endChr m:val=")"/>
                                            <m:grow m:val="on"/>
                                            <m:ctrlPr>
                                              <a:rPr lang="zh-CN" sz="1950" dirty="0">
                                                <a:solidFill>
                                                  <a:srgbClr val="FFFFFF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a:rPr lang="zh-CN" sz="1950" dirty="0">
                                                <a:solidFill>
                                                  <a:srgbClr val="FFFFFF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  <m:t>j</m:t>
                                            </m:r>
                                          </m:e>
                                        </m:d>
                                      </m:sup>
                                    </m:sSup>
                                  </m:e>
                                </m:d>
                                <m:r>
                                  <m:rPr>
                                    <m:sty m:val="p"/>
                                  </m:rPr>
                                  <a:rPr lang="zh-CN" sz="195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+</m:t>
                                </m:r>
                                <m:r>
                                  <a:rPr lang="zh-CN" sz="195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b</m:t>
                                </m:r>
                                <m:nary>
                                  <m:naryPr>
                                    <m:chr m:val="∑"/>
                                    <m:limLoc m:val="undOvr"/>
                                    <m:grow m:val="off"/>
                                    <m:subHide m:val="off"/>
                                    <m:supHide m:val="off"/>
                                    <m:ctrlPr>
                                      <a:rPr lang="zh-CN" sz="195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naryPr>
                                  <m:sub>
                                    <m:r>
                                      <a:rPr lang="zh-CN" sz="195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i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zh-CN" sz="195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=</m:t>
                                    </m:r>
                                    <m:r>
                                      <a:rPr lang="zh-CN" sz="195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1</m:t>
                                    </m:r>
                                  </m:sub>
                                  <m:sup>
                                    <m:r>
                                      <a:rPr lang="zh-CN" sz="195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n</m:t>
                                    </m:r>
                                  </m:sup>
                                  <m:e>
                                    <m:d>
                                      <m:dPr>
                                        <m:begChr m:val="("/>
                                        <m:sepChr m:val=""/>
                                        <m:endChr m:val=")"/>
                                        <m:grow m:val="on"/>
                                        <m:ctrlPr>
                                          <a:rPr lang="zh-CN" sz="1950" dirty="0">
                                            <a:solidFill>
                                              <a:srgbClr val="FFFFFF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</m:ctrlPr>
                                      </m:dPr>
                                      <m:e>
                                        <m:sSubSup>
                                          <m:e>
                                            <m:r>
                                              <a:rPr lang="zh-CN" sz="1950" dirty="0">
                                                <a:solidFill>
                                                  <a:srgbClr val="FFFFFF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  <m:t>S</m:t>
                                            </m:r>
                                          </m:e>
                                          <m:sub>
                                            <m:r>
                                              <a:rPr lang="zh-CN" sz="1950" dirty="0">
                                                <a:solidFill>
                                                  <a:srgbClr val="FFFFFF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  <m:t>i</m:t>
                                            </m:r>
                                          </m:sub>
                                          <m:sup>
                                            <m:d>
                                              <m:dPr>
                                                <m:begChr m:val="("/>
                                                <m:sepChr m:val=""/>
                                                <m:endChr m:val=")"/>
                                                <m:grow m:val="on"/>
                                                <m:ctrlPr>
                                                  <a:rPr lang="zh-CN" sz="1950" dirty="0">
                                                    <a:solidFill>
                                                      <a:srgbClr val="FFFFFF"/>
                                                    </a:solidFill>
                                                    <a:latin typeface="Cambria Math"/>
                                                    <a:ea typeface="Cambria Math"/>
                                                    <a:cs typeface="Cambria Math"/>
                                                  </a:rPr>
                                                </m:ctrlPr>
                                              </m:dPr>
                                              <m:e>
                                                <m:r>
                                                  <a:rPr lang="zh-CN" sz="1950" dirty="0">
                                                    <a:solidFill>
                                                      <a:srgbClr val="FFFFFF"/>
                                                    </a:solidFill>
                                                    <a:latin typeface="Cambria Math"/>
                                                    <a:ea typeface="Cambria Math"/>
                                                    <a:cs typeface="Cambria Math"/>
                                                  </a:rPr>
                                                  <m:t>j</m:t>
                                                </m:r>
                                              </m:e>
                                            </m:d>
                                          </m:sup>
                                        </m:sSubSup>
                                        <m:r>
                                          <m:rPr>
                                            <m:sty m:val="p"/>
                                          </m:rPr>
                                          <a:rPr lang="zh-CN" sz="1950" dirty="0">
                                            <a:solidFill>
                                              <a:srgbClr val="FFFFFF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−</m:t>
                                        </m:r>
                                        <m:sSub>
                                          <m:e>
                                            <m:r>
                                              <a:rPr lang="zh-CN" sz="1950" dirty="0">
                                                <a:solidFill>
                                                  <a:srgbClr val="FFFFFF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  <m:t>p</m:t>
                                            </m:r>
                                          </m:e>
                                          <m:sub>
                                            <m:r>
                                              <a:rPr lang="zh-CN" sz="1950" dirty="0">
                                                <a:solidFill>
                                                  <a:srgbClr val="FFFFFF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  <m:t>i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</m:e>
                                </m:nary>
                              </m:e>
                            </m:d>
                          </m:e>
                        </m:nary>
                      </m:oMath>
                    </m:oMathPara>
                  </a14:m>
                </a:p>
              </p:txBody>
            </p:sp>
          </mc:Choice>
        </mc:AlternateContent>
      </p:grpSp>
      <p:grpSp>
        <p:nvGrpSpPr>
          <p:cNvPr id="5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8" name="TextBox 48"/>
            <p:cNvSpPr txBox="1"/>
            <p:nvPr/>
          </p:nvSpPr>
          <p:spPr>
            <a:xfrm>
              <a:off x="528447" y="6581299"/>
              <a:ext cx="198882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统计计算 · 第3章 随机模拟（上）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757811" cy="909257"/>
            <a:chOff x="520446" y="342900"/>
            <a:chExt cx="875781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989898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9634" y="407194"/>
              <a:ext cx="289838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第3章 随机模拟（上） · 3.5 方差缩减技术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75781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3.5.2 对立变量法：单调函数下 g(U) 与 g(1−U) 负相关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3" name="c1-card-1"/>
          <p:cNvGrpSpPr/>
          <p:nvPr/>
        </p:nvGrpSpPr>
        <p:grpSpPr>
          <a:xfrm>
            <a:off x="533400" y="1524000"/>
            <a:ext cx="4760595" cy="1621155"/>
            <a:chOff x="533400" y="1524000"/>
            <a:chExt cx="4760595" cy="162115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4760595" cy="1621155"/>
            </a:xfrm>
            <a:prstGeom prst="roundRect">
              <a:avLst>
                <a:gd name="adj" fmla="val 822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35445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81050" y="1733550"/>
              <a:ext cx="822960" cy="257175"/>
            </a:xfrm>
            <a:prstGeom prst="roundRect">
              <a:avLst>
                <a:gd name="adj" fmla="val 50000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61896" y="1769269"/>
              <a:ext cx="66126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定理14.1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73430" y="2110740"/>
              <a:ext cx="31316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设 g 为单调函数，U ~ U(0,1)，则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2" name="formula335"/>
                <p:cNvSpPr txBox="1">
                  <a:spLocks noGrp="1"/>
                </p:cNvSpPr>
                <p:nvPr/>
              </p:nvSpPr>
              <p:spPr>
                <a:xfrm>
                  <a:off x="781050" y="2421255"/>
                  <a:ext cx="4303395" cy="4953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m:rPr>
                            <m:sty m:val="p"/>
                          </m:rPr>
                          <a:rPr lang="zh-CN" sz="19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Cov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9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9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g</m:t>
                            </m:r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9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9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U</m:t>
                                </m:r>
                              </m:e>
                            </m:d>
                            <m:r>
                              <m:rPr>
                                <m:sty m:val="p"/>
                              </m:rPr>
                              <a:rPr lang="zh-CN" sz="19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,</m:t>
                            </m:r>
                            <m:r>
                              <a:rPr lang="zh-CN" sz="19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 xml:space="preserve"> </m:t>
                            </m:r>
                            <m:r>
                              <a:rPr lang="zh-CN" sz="19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g</m:t>
                            </m:r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9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9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9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</m:t>
                                </m:r>
                                <m:r>
                                  <a:rPr lang="zh-CN" sz="19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U</m:t>
                                </m:r>
                              </m:e>
                            </m:d>
                          </m:e>
                        </m:d>
                        <m:r>
                          <m:rPr>
                            <m:sty m:val="p"/>
                          </m:rPr>
                          <a:rPr lang="zh-CN" sz="19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≤</m:t>
                        </m:r>
                        <m:r>
                          <a:rPr lang="zh-CN" sz="19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0</m:t>
                        </m:r>
                      </m:oMath>
                    </m:oMathPara>
                  </a14:m>
                </a:p>
              </p:txBody>
            </p:sp>
          </mc:Choice>
        </mc:AlternateContent>
      </p:grpSp>
      <p:grpSp>
        <p:nvGrpSpPr>
          <p:cNvPr id="20" name="c1-card-2"/>
          <p:cNvGrpSpPr/>
          <p:nvPr/>
        </p:nvGrpSpPr>
        <p:grpSpPr>
          <a:xfrm>
            <a:off x="533400" y="3335655"/>
            <a:ext cx="4760595" cy="1811655"/>
            <a:chOff x="533400" y="3335655"/>
            <a:chExt cx="4760595" cy="1811655"/>
          </a:xfrm>
        </p:grpSpPr>
        <p:sp>
          <p:nvSpPr>
            <p:cNvPr id="14" name="Rectangle 14"/>
            <p:cNvSpPr/>
            <p:nvPr/>
          </p:nvSpPr>
          <p:spPr>
            <a:xfrm>
              <a:off x="533400" y="3335655"/>
              <a:ext cx="4760595" cy="1811655"/>
            </a:xfrm>
            <a:prstGeom prst="roundRect">
              <a:avLst>
                <a:gd name="adj" fmla="val 736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5" name="Rectangle 15"/>
            <p:cNvSpPr/>
            <p:nvPr/>
          </p:nvSpPr>
          <p:spPr>
            <a:xfrm>
              <a:off x="542925" y="3469005"/>
              <a:ext cx="47625" cy="154495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6" name="Rectangle 16"/>
            <p:cNvSpPr/>
            <p:nvPr/>
          </p:nvSpPr>
          <p:spPr>
            <a:xfrm>
              <a:off x="781050" y="3545205"/>
              <a:ext cx="822960" cy="257175"/>
            </a:xfrm>
            <a:prstGeom prst="roundRect">
              <a:avLst>
                <a:gd name="adj" fmla="val 50000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861896" y="3580924"/>
              <a:ext cx="66126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定理14.2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73430" y="3922395"/>
              <a:ext cx="414909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设 h(x₁, …, xₙ) 是关于每个自变量单调的函数，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U₁, …, Uₙ 相互独立，均服从 U(0,1)，则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9" name="formula336"/>
                <p:cNvSpPr txBox="1">
                  <a:spLocks noGrp="1"/>
                </p:cNvSpPr>
                <p:nvPr/>
              </p:nvSpPr>
              <p:spPr>
                <a:xfrm>
                  <a:off x="781050" y="4518660"/>
                  <a:ext cx="4303395" cy="4000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m:rPr>
                            <m:sty m:val="p"/>
                          </m:rPr>
                          <a:rPr lang="zh-CN" sz="15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Cov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h</m:t>
                            </m:r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sSub>
                                  <m:e>
                                    <m:r>
                                      <a:rPr lang="zh-CN" sz="15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U</m:t>
                                    </m:r>
                                  </m:e>
                                  <m:sub>
                                    <m:r>
                                      <a:rPr lang="zh-CN" sz="15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m:rPr>
                                    <m:sty m:val="p"/>
                                  </m:rP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,…,</m:t>
                                </m:r>
                                <m:sSub>
                                  <m:e>
                                    <m:r>
                                      <a:rPr lang="zh-CN" sz="15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U</m:t>
                                    </m:r>
                                  </m:e>
                                  <m:sub>
                                    <m:r>
                                      <a:rPr lang="zh-CN" sz="15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n</m:t>
                                    </m:r>
                                  </m:sub>
                                </m:sSub>
                              </m:e>
                            </m:d>
                            <m:r>
                              <m:rPr>
                                <m:sty m:val="p"/>
                              </m:rP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,</m:t>
                            </m:r>
                            <m: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 xml:space="preserve"> </m:t>
                            </m:r>
                            <m: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h</m:t>
                            </m:r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</m:t>
                                </m:r>
                                <m:sSub>
                                  <m:e>
                                    <m:r>
                                      <a:rPr lang="zh-CN" sz="15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U</m:t>
                                    </m:r>
                                  </m:e>
                                  <m:sub>
                                    <m:r>
                                      <a:rPr lang="zh-CN" sz="15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m:rPr>
                                    <m:sty m:val="p"/>
                                  </m:rP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,…,</m:t>
                                </m:r>
                                <m: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</m:t>
                                </m:r>
                                <m:sSub>
                                  <m:e>
                                    <m:r>
                                      <a:rPr lang="zh-CN" sz="15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U</m:t>
                                    </m:r>
                                  </m:e>
                                  <m:sub>
                                    <m:r>
                                      <a:rPr lang="zh-CN" sz="15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n</m:t>
                                    </m:r>
                                  </m:sub>
                                </m:sSub>
                              </m:e>
                            </m:d>
                          </m:e>
                        </m:d>
                        <m:r>
                          <m:rPr>
                            <m:sty m:val="p"/>
                          </m:rPr>
                          <a:rPr lang="zh-CN" sz="15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≤</m:t>
                        </m:r>
                        <m:r>
                          <a:rPr lang="zh-CN" sz="15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0</m:t>
                        </m:r>
                      </m:oMath>
                    </m:oMathPara>
                  </a14:m>
                </a:p>
              </p:txBody>
            </p:sp>
          </mc:Choice>
        </mc:AlternateContent>
      </p:grpSp>
      <p:grpSp>
        <p:nvGrpSpPr>
          <p:cNvPr id="27" name="c1-callout-3"/>
          <p:cNvGrpSpPr/>
          <p:nvPr/>
        </p:nvGrpSpPr>
        <p:grpSpPr>
          <a:xfrm>
            <a:off x="533400" y="5337810"/>
            <a:ext cx="4760595" cy="782955"/>
            <a:chOff x="533400" y="5337810"/>
            <a:chExt cx="4760595" cy="782955"/>
          </a:xfrm>
        </p:grpSpPr>
        <p:sp>
          <p:nvSpPr>
            <p:cNvPr id="21" name="Rectangle 21"/>
            <p:cNvSpPr/>
            <p:nvPr/>
          </p:nvSpPr>
          <p:spPr>
            <a:xfrm>
              <a:off x="533400" y="5337810"/>
              <a:ext cx="4760595" cy="782955"/>
            </a:xfrm>
            <a:prstGeom prst="roundRect">
              <a:avLst>
                <a:gd name="adj" fmla="val 14599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25" name="Group 25"/>
            <p:cNvGrpSpPr/>
            <p:nvPr/>
          </p:nvGrpSpPr>
          <p:grpSpPr>
            <a:xfrm>
              <a:off x="738188" y="5629275"/>
              <a:ext cx="200026" cy="200025"/>
              <a:chOff x="738188" y="5629275"/>
              <a:chExt cx="200026" cy="200025"/>
            </a:xfrm>
          </p:grpSpPr>
          <p:sp>
            <p:nvSpPr>
              <p:cNvPr id="22" name="Freeform 22"/>
              <p:cNvSpPr/>
              <p:nvPr/>
            </p:nvSpPr>
            <p:spPr>
              <a:xfrm>
                <a:off x="738188" y="5629275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23" name="Freeform 23"/>
              <p:cNvSpPr/>
              <p:nvPr/>
            </p:nvSpPr>
            <p:spPr>
              <a:xfrm>
                <a:off x="777926" y="5673725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24" name="Freeform 24"/>
              <p:cNvSpPr/>
              <p:nvPr/>
            </p:nvSpPr>
            <p:spPr>
              <a:xfrm>
                <a:off x="812642" y="5784851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26" name="TextBox 26"/>
            <p:cNvSpPr txBox="1"/>
            <p:nvPr/>
          </p:nvSpPr>
          <p:spPr>
            <a:xfrm>
              <a:off x="1040130" y="5486400"/>
              <a:ext cx="382524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直观理解：U 大时 1 − U 小，单调函数的两个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值一个偏大一个偏小，平均后波动互相抵消。</a:t>
              </a:r>
            </a:p>
          </p:txBody>
        </p:sp>
      </p:grpSp>
      <p:grpSp>
        <p:nvGrpSpPr>
          <p:cNvPr id="48" name="c2-card-1"/>
          <p:cNvGrpSpPr/>
          <p:nvPr/>
        </p:nvGrpSpPr>
        <p:grpSpPr>
          <a:xfrm>
            <a:off x="5598795" y="1524000"/>
            <a:ext cx="6059805" cy="4596765"/>
            <a:chOff x="5598795" y="1524000"/>
            <a:chExt cx="6059805" cy="4596765"/>
          </a:xfrm>
        </p:grpSpPr>
        <p:sp>
          <p:nvSpPr>
            <p:cNvPr id="28" name="Rectangle 28"/>
            <p:cNvSpPr/>
            <p:nvPr/>
          </p:nvSpPr>
          <p:spPr>
            <a:xfrm>
              <a:off x="5598795" y="1524000"/>
              <a:ext cx="6059805" cy="4596765"/>
            </a:xfrm>
            <a:prstGeom prst="roundRect">
              <a:avLst>
                <a:gd name="adj" fmla="val 2901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5808345" y="1733550"/>
              <a:ext cx="1294448" cy="257175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5875503" y="1769269"/>
              <a:ext cx="116108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定理14.1 的证明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5941695" y="2238375"/>
              <a:ext cx="19050" cy="265652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2" name="Ellipse 32"/>
            <p:cNvSpPr/>
            <p:nvPr/>
          </p:nvSpPr>
          <p:spPr>
            <a:xfrm>
              <a:off x="5808345" y="2095500"/>
              <a:ext cx="285750" cy="28575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5901969" y="216931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4" name="Ellipse 34"/>
            <p:cNvSpPr/>
            <p:nvPr/>
          </p:nvSpPr>
          <p:spPr>
            <a:xfrm>
              <a:off x="5808345" y="2981325"/>
              <a:ext cx="285750" cy="28575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5901969" y="30551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6" name="Ellipse 36"/>
            <p:cNvSpPr/>
            <p:nvPr/>
          </p:nvSpPr>
          <p:spPr>
            <a:xfrm>
              <a:off x="5808345" y="3866198"/>
              <a:ext cx="285750" cy="28575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5901969" y="394001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8" name="Ellipse 38"/>
            <p:cNvSpPr/>
            <p:nvPr/>
          </p:nvSpPr>
          <p:spPr>
            <a:xfrm>
              <a:off x="5808345" y="4752022"/>
              <a:ext cx="285750" cy="28575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5901969" y="482584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219825" y="2129790"/>
              <a:ext cx="6210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单调性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220968" y="2423636"/>
              <a:ext cx="4889754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对任意 u₁, u₂ ∈ [0, 1]，由 g 单调知 (g(u₁) − g(u₂))(g(1−u₁) −</a:t>
              </a:r>
              <a:br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g(1−u₂)) ≤ 0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6219825" y="3015615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引入独立副本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6220968" y="3308509"/>
              <a:ext cx="4654042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设 U₂ ~ U(0,1) 且与 U 独立，令 X₁ = g(U)，Y₁ = g(1−U)，X₂ =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g(U₂)，Y₂ = g(1−U₂)，四者分布相同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6219825" y="3900488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展开协方差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6220968" y="4194334"/>
              <a:ext cx="4735322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E(X₁−X₂)(Y₁−Y₂) = Cov(X₁,Y₁) + Cov(X₂,Y₂) − Cov(X₁,Y₂) −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Cov(X₂,Y₁) = 2Cov(X₁,Y₁)，独立的两项协方差为 0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6219825" y="4786312"/>
              <a:ext cx="6210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得结论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6220968" y="5080159"/>
              <a:ext cx="4320794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由第一步 (X₁−X₂)(Y₁−Y₂) ≤ 0，所以 Cov(X₁, Y₁) ≤ 0，即</a:t>
              </a:r>
              <a:br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Cov(g(U), g(1−U)) ≤ 0</a:t>
              </a:r>
            </a:p>
          </p:txBody>
        </p:sp>
      </p:grpSp>
      <p:grpSp>
        <p:nvGrpSpPr>
          <p:cNvPr id="5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9" name="TextBox 49"/>
            <p:cNvSpPr txBox="1"/>
            <p:nvPr/>
          </p:nvSpPr>
          <p:spPr>
            <a:xfrm>
              <a:off x="528447" y="6581299"/>
              <a:ext cx="198882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统计计算 · 第3章 随机模拟（上）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9509046" cy="909257"/>
            <a:chOff x="520446" y="342900"/>
            <a:chExt cx="950904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989898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9634" y="407194"/>
              <a:ext cx="289838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第3章 随机模拟（上） · 3.5 方差缩减技术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950904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定理14.3 对立变量法：成对平均的方差不超过单个样本的一半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3" name="c1-card-1"/>
          <p:cNvGrpSpPr/>
          <p:nvPr/>
        </p:nvGrpSpPr>
        <p:grpSpPr>
          <a:xfrm>
            <a:off x="533400" y="1524000"/>
            <a:ext cx="5626418" cy="1957388"/>
            <a:chOff x="533400" y="1524000"/>
            <a:chExt cx="5626418" cy="1957388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626418" cy="1957388"/>
            </a:xfrm>
            <a:prstGeom prst="roundRect">
              <a:avLst>
                <a:gd name="adj" fmla="val 681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690688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69620" y="1722120"/>
              <a:ext cx="1717358" cy="247650"/>
            </a:xfrm>
            <a:prstGeom prst="roundRect">
              <a:avLst>
                <a:gd name="adj" fmla="val 50000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24101" y="1756410"/>
              <a:ext cx="160934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定理14.3（对立变量法）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62381" y="2082641"/>
              <a:ext cx="4559046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设 F(x) 为连续分布函数，U ~ U(0,1)，X = F⁻¹(U)，Y =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F⁻¹(1 − U)，Z = (X + Y)/2，则 X 与 Y 同分布 F(x)，且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2" name="formula345"/>
                <p:cNvSpPr txBox="1">
                  <a:spLocks noGrp="1"/>
                </p:cNvSpPr>
                <p:nvPr/>
              </p:nvSpPr>
              <p:spPr>
                <a:xfrm>
                  <a:off x="769620" y="2648902"/>
                  <a:ext cx="5192078" cy="61722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m:rPr>
                            <m:sty m:val="p"/>
                          </m:rPr>
                          <a:rPr lang="zh-CN" sz="18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Cov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8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8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  <m:r>
                              <m:rPr>
                                <m:sty m:val="p"/>
                              </m:rPr>
                              <a:rPr lang="zh-CN" sz="18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,</m:t>
                            </m:r>
                            <m:r>
                              <a:rPr lang="zh-CN" sz="18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Y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8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≤</m:t>
                        </m:r>
                        <m:r>
                          <a:rPr lang="zh-CN" sz="18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zh-CN" sz="18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,</m:t>
                        </m:r>
                        <m:r>
                          <a:rPr lang="zh-CN" sz="18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  </m:t>
                        </m:r>
                        <m:r>
                          <m:rPr>
                            <m:sty m:val="p"/>
                          </m:rPr>
                          <a:rPr lang="zh-CN" sz="18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Var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8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8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Z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8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≤</m:t>
                        </m:r>
                        <m:f>
                          <m:fPr>
                            <m:type m:val="bar"/>
                            <m:ctrlPr>
                              <a:rPr lang="zh-CN" sz="18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r>
                              <a:rPr lang="zh-CN" sz="18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num>
                          <m:den>
                            <m:r>
                              <a:rPr lang="zh-CN" sz="18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zh-CN" sz="18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Var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8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8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</m:e>
                        </m:d>
                      </m:oMath>
                    </m:oMathPara>
                  </a14:m>
                </a:p>
              </p:txBody>
            </p:sp>
          </mc:Choice>
        </mc:AlternateContent>
      </p:grpSp>
      <p:grpSp>
        <p:nvGrpSpPr>
          <p:cNvPr id="20" name="c1-card-2"/>
          <p:cNvGrpSpPr/>
          <p:nvPr/>
        </p:nvGrpSpPr>
        <p:grpSpPr>
          <a:xfrm>
            <a:off x="533400" y="3662362"/>
            <a:ext cx="5626418" cy="2664142"/>
            <a:chOff x="533400" y="3662362"/>
            <a:chExt cx="5626418" cy="2664142"/>
          </a:xfrm>
        </p:grpSpPr>
        <p:sp>
          <p:nvSpPr>
            <p:cNvPr id="14" name="Rectangle 14"/>
            <p:cNvSpPr/>
            <p:nvPr/>
          </p:nvSpPr>
          <p:spPr>
            <a:xfrm>
              <a:off x="533400" y="3662362"/>
              <a:ext cx="5626418" cy="2664142"/>
            </a:xfrm>
            <a:prstGeom prst="roundRect">
              <a:avLst>
                <a:gd name="adj" fmla="val 5005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731520" y="3860482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22960" y="3894773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证明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24281" y="4221004"/>
              <a:ext cx="5000879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U 与 1 − U 同分布，所以 X 与 Y 同分布。取 g = F⁻¹（单调），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由定理14.1 得 Cov(X, Y) = Cov(g(U), g(1−U)) ≤ 0，从而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8" name="formula346"/>
                <p:cNvSpPr txBox="1">
                  <a:spLocks noGrp="1"/>
                </p:cNvSpPr>
                <p:nvPr/>
              </p:nvSpPr>
              <p:spPr>
                <a:xfrm>
                  <a:off x="731520" y="4786312"/>
                  <a:ext cx="5230178" cy="61722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l"/>
                  <a14:m>
                    <m:oMathPara xmlns:a="http://schemas.openxmlformats.org/drawingml/2006/main" xmlns:m="http://schemas.openxmlformats.org/officeDocument/2006/math">
                      <m:oMathParaPr>
                        <m:jc m:val="left"/>
                      </m:oMathParaPr>
                      <m:oMath>
                        <m:r>
                          <m:rPr>
                            <m:sty m:val="p"/>
                          </m:rPr>
                          <a:rPr lang="zh-CN" sz="18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Var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8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8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Z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8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f>
                          <m:fPr>
                            <m:type m:val="bar"/>
                            <m:ctrlPr>
                              <a:rPr lang="zh-CN" sz="18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lang="zh-CN" sz="18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Var</m:t>
                            </m:r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8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8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</m:d>
                            <m:r>
                              <m:rPr>
                                <m:sty m:val="p"/>
                              </m:rPr>
                              <a:rPr lang="zh-CN" sz="18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+</m:t>
                            </m:r>
                            <m:r>
                              <m:rPr>
                                <m:sty m:val="p"/>
                              </m:rPr>
                              <a:rPr lang="zh-CN" sz="18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Var</m:t>
                            </m:r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8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8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Y</m:t>
                                </m:r>
                              </m:e>
                            </m:d>
                            <m:r>
                              <m:rPr>
                                <m:sty m:val="p"/>
                              </m:rPr>
                              <a:rPr lang="zh-CN" sz="18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+</m:t>
                            </m:r>
                            <m:r>
                              <a:rPr lang="zh-CN" sz="18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2</m:t>
                            </m:r>
                            <m:r>
                              <m:rPr>
                                <m:sty m:val="p"/>
                              </m:rPr>
                              <a:rPr lang="zh-CN" sz="18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Cov</m:t>
                            </m:r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8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8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8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,</m:t>
                                </m:r>
                                <m:r>
                                  <a:rPr lang="zh-CN" sz="18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Y</m:t>
                                </m:r>
                              </m:e>
                            </m:d>
                          </m:num>
                          <m:den>
                            <m:r>
                              <a:rPr lang="zh-CN" sz="18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4</m:t>
                            </m:r>
                          </m:den>
                        </m:f>
                      </m:oMath>
                    </m:oMathPara>
                  </a14:m>
                </a:p>
              </p:txBody>
            </p:sp>
          </mc:Choice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9" name="formula347"/>
                <p:cNvSpPr txBox="1">
                  <a:spLocks noGrp="1"/>
                </p:cNvSpPr>
                <p:nvPr/>
              </p:nvSpPr>
              <p:spPr>
                <a:xfrm>
                  <a:off x="731520" y="5493068"/>
                  <a:ext cx="5230178" cy="61722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l"/>
                  <a14:m>
                    <m:oMathPara xmlns:a="http://schemas.openxmlformats.org/drawingml/2006/main" xmlns:m="http://schemas.openxmlformats.org/officeDocument/2006/math">
                      <m:oMathParaPr>
                        <m:jc m:val="left"/>
                      </m:oMathParaPr>
                      <m:oMath>
                        <m:r>
                          <m:rPr>
                            <m:sty m:val="p"/>
                          </m:rPr>
                          <a:rPr lang="zh-CN" sz="18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f>
                          <m:fPr>
                            <m:type m:val="bar"/>
                            <m:ctrlPr>
                              <a:rPr lang="zh-CN" sz="18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lang="zh-CN" sz="18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Var</m:t>
                            </m:r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8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8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</m:d>
                            <m:r>
                              <m:rPr>
                                <m:sty m:val="p"/>
                              </m:rPr>
                              <a:rPr lang="zh-CN" sz="18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+</m:t>
                            </m:r>
                            <m:r>
                              <m:rPr>
                                <m:sty m:val="p"/>
                              </m:rPr>
                              <a:rPr lang="zh-CN" sz="18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Cov</m:t>
                            </m:r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8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8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8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,</m:t>
                                </m:r>
                                <m:r>
                                  <a:rPr lang="zh-CN" sz="18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Y</m:t>
                                </m:r>
                              </m:e>
                            </m:d>
                          </m:num>
                          <m:den>
                            <m:r>
                              <a:rPr lang="zh-CN" sz="18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zh-CN" sz="18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≤</m:t>
                        </m:r>
                        <m:f>
                          <m:fPr>
                            <m:type m:val="bar"/>
                            <m:ctrlPr>
                              <a:rPr lang="zh-CN" sz="18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r>
                              <a:rPr lang="zh-CN" sz="18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num>
                          <m:den>
                            <m:r>
                              <a:rPr lang="zh-CN" sz="18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zh-CN" sz="18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Var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8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8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</m:e>
                        </m:d>
                      </m:oMath>
                    </m:oMathPara>
                  </a14:m>
                </a:p>
              </p:txBody>
            </p:sp>
          </mc:Choice>
        </mc:AlternateContent>
      </p:grpSp>
      <p:grpSp>
        <p:nvGrpSpPr>
          <p:cNvPr id="27" name="c2-card-1"/>
          <p:cNvGrpSpPr/>
          <p:nvPr/>
        </p:nvGrpSpPr>
        <p:grpSpPr>
          <a:xfrm>
            <a:off x="6464618" y="1524000"/>
            <a:ext cx="5193982" cy="1978342"/>
            <a:chOff x="6464618" y="1524000"/>
            <a:chExt cx="5193982" cy="1978342"/>
          </a:xfrm>
        </p:grpSpPr>
        <p:sp>
          <p:nvSpPr>
            <p:cNvPr id="21" name="Rectangle 21"/>
            <p:cNvSpPr/>
            <p:nvPr/>
          </p:nvSpPr>
          <p:spPr>
            <a:xfrm>
              <a:off x="6464618" y="1524000"/>
              <a:ext cx="5193982" cy="1978342"/>
            </a:xfrm>
            <a:prstGeom prst="roundRect">
              <a:avLst>
                <a:gd name="adj" fmla="val 6740"/>
              </a:avLst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6662738" y="1722120"/>
              <a:ext cx="876300" cy="247650"/>
            </a:xfrm>
            <a:prstGeom prst="roundRect">
              <a:avLst>
                <a:gd name="adj" fmla="val 50000"/>
              </a:avLst>
            </a:prstGeom>
            <a:solidFill>
              <a:srgbClr val="23613D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742176" y="1756410"/>
              <a:ext cx="7174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对立变量法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655498" y="2082641"/>
              <a:ext cx="451865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为了估计 I = EX，产生 N 个随机数 U₁, U₂, … 后，用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5" name="formula348"/>
                <p:cNvSpPr txBox="1">
                  <a:spLocks noGrp="1"/>
                </p:cNvSpPr>
                <p:nvPr/>
              </p:nvSpPr>
              <p:spPr>
                <a:xfrm>
                  <a:off x="6662738" y="2377440"/>
                  <a:ext cx="4797742" cy="59150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sSub>
                          <m:e>
                            <m:r>
                              <a:rPr lang="zh-CN" sz="17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Z</m:t>
                            </m:r>
                          </m:e>
                          <m:sub>
                            <m:r>
                              <a:rPr lang="zh-CN" sz="17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i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zh-CN" sz="172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f>
                          <m:fPr>
                            <m:type m:val="bar"/>
                            <m:ctrlPr>
                              <a:rPr lang="zh-CN" sz="17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r>
                              <a:rPr lang="zh-CN" sz="17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num>
                          <m:den>
                            <m:r>
                              <a:rPr lang="zh-CN" sz="17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2</m:t>
                            </m:r>
                          </m:den>
                        </m:f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7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a:rPr lang="zh-CN" sz="172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F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zh-CN" sz="172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</m:t>
                                </m:r>
                                <m:r>
                                  <a:rPr lang="zh-CN" sz="172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sup>
                            </m:sSup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72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sSub>
                                  <m:e>
                                    <m:r>
                                      <a:rPr lang="zh-CN" sz="172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U</m:t>
                                    </m:r>
                                  </m:e>
                                  <m:sub>
                                    <m:r>
                                      <a:rPr lang="zh-CN" sz="172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i</m:t>
                                    </m:r>
                                  </m:sub>
                                </m:sSub>
                              </m:e>
                            </m:d>
                            <m:r>
                              <m:rPr>
                                <m:sty m:val="p"/>
                              </m:rPr>
                              <a:rPr lang="zh-CN" sz="17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+</m:t>
                            </m:r>
                            <m:sSup>
                              <m:e>
                                <m:r>
                                  <a:rPr lang="zh-CN" sz="172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F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zh-CN" sz="172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</m:t>
                                </m:r>
                                <m:r>
                                  <a:rPr lang="zh-CN" sz="172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sup>
                            </m:sSup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72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72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72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</m:t>
                                </m:r>
                                <m:sSub>
                                  <m:e>
                                    <m:r>
                                      <a:rPr lang="zh-CN" sz="172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U</m:t>
                                    </m:r>
                                  </m:e>
                                  <m:sub>
                                    <m:r>
                                      <a:rPr lang="zh-CN" sz="172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i</m:t>
                                    </m:r>
                                  </m:sub>
                                </m:sSub>
                              </m:e>
                            </m:d>
                          </m:e>
                        </m:d>
                        <m:r>
                          <m:rPr>
                            <m:sty m:val="p"/>
                          </m:rPr>
                          <a:rPr lang="zh-CN" sz="172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,</m:t>
                        </m:r>
                        <m:r>
                          <a:rPr lang="zh-CN" sz="172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 </m:t>
                        </m:r>
                        <m:r>
                          <a:rPr lang="zh-CN" sz="172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i</m:t>
                        </m:r>
                        <m:r>
                          <m:rPr>
                            <m:sty m:val="p"/>
                          </m:rPr>
                          <a:rPr lang="zh-CN" sz="172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r>
                          <a:rPr lang="zh-CN" sz="172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zh-CN" sz="172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,…,</m:t>
                        </m:r>
                        <m:r>
                          <a:rPr lang="zh-CN" sz="172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N</m:t>
                        </m:r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26" name="TextBox 26"/>
            <p:cNvSpPr txBox="1"/>
            <p:nvPr/>
          </p:nvSpPr>
          <p:spPr>
            <a:xfrm>
              <a:off x="6655498" y="3081814"/>
              <a:ext cx="319423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的样本平均值估计 I，可以提高精度。</a:t>
              </a:r>
            </a:p>
          </p:txBody>
        </p:sp>
      </p:grpSp>
      <p:grpSp>
        <p:nvGrpSpPr>
          <p:cNvPr id="34" name="c2-callout-2"/>
          <p:cNvGrpSpPr/>
          <p:nvPr/>
        </p:nvGrpSpPr>
        <p:grpSpPr>
          <a:xfrm>
            <a:off x="6464618" y="3682365"/>
            <a:ext cx="5193982" cy="1018222"/>
            <a:chOff x="6464618" y="3682365"/>
            <a:chExt cx="5193982" cy="1018222"/>
          </a:xfrm>
        </p:grpSpPr>
        <p:sp>
          <p:nvSpPr>
            <p:cNvPr id="28" name="Rectangle 28"/>
            <p:cNvSpPr/>
            <p:nvPr/>
          </p:nvSpPr>
          <p:spPr>
            <a:xfrm>
              <a:off x="6464618" y="3682365"/>
              <a:ext cx="5193982" cy="1018222"/>
            </a:xfrm>
            <a:prstGeom prst="roundRect">
              <a:avLst>
                <a:gd name="adj" fmla="val 11225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32" name="Group 32"/>
            <p:cNvGrpSpPr/>
            <p:nvPr/>
          </p:nvGrpSpPr>
          <p:grpSpPr>
            <a:xfrm>
              <a:off x="6657347" y="4088248"/>
              <a:ext cx="224134" cy="192560"/>
              <a:chOff x="6657347" y="4088248"/>
              <a:chExt cx="224134" cy="192560"/>
            </a:xfrm>
          </p:grpSpPr>
          <p:sp>
            <p:nvSpPr>
              <p:cNvPr id="29" name="Freeform 29"/>
              <p:cNvSpPr/>
              <p:nvPr/>
            </p:nvSpPr>
            <p:spPr>
              <a:xfrm>
                <a:off x="6769418" y="4158615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30" name="Freeform 30"/>
              <p:cNvSpPr/>
              <p:nvPr/>
            </p:nvSpPr>
            <p:spPr>
              <a:xfrm>
                <a:off x="6657347" y="4088248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31" name="Freeform 31"/>
              <p:cNvSpPr/>
              <p:nvPr/>
            </p:nvSpPr>
            <p:spPr>
              <a:xfrm>
                <a:off x="6769418" y="423640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33" name="TextBox 33"/>
            <p:cNvSpPr txBox="1"/>
            <p:nvPr/>
          </p:nvSpPr>
          <p:spPr>
            <a:xfrm>
              <a:off x="6971729" y="3829526"/>
              <a:ext cx="4225417" cy="8044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公平比较：每个 Zᵢ 要算两次函数值。Var(Z) ≤</a:t>
              </a:r>
              <a:br/>
              <a:r>
                <a:rPr lang="zh-CN" sz="142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Var(X)/2 说明它不比 2N 个独立样本差；Cov 越负，</a:t>
              </a:r>
              <a:br/>
              <a:r>
                <a:rPr lang="zh-CN" sz="142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收益越大。</a:t>
              </a:r>
            </a:p>
          </p:txBody>
        </p:sp>
      </p:grpSp>
      <p:grpSp>
        <p:nvGrpSpPr>
          <p:cNvPr id="41" name="c2-callout-3"/>
          <p:cNvGrpSpPr/>
          <p:nvPr/>
        </p:nvGrpSpPr>
        <p:grpSpPr>
          <a:xfrm>
            <a:off x="6464618" y="4881562"/>
            <a:ext cx="5193982" cy="1018222"/>
            <a:chOff x="6464618" y="4881562"/>
            <a:chExt cx="5193982" cy="1018222"/>
          </a:xfrm>
        </p:grpSpPr>
        <p:sp>
          <p:nvSpPr>
            <p:cNvPr id="35" name="Rectangle 35"/>
            <p:cNvSpPr/>
            <p:nvPr/>
          </p:nvSpPr>
          <p:spPr>
            <a:xfrm>
              <a:off x="6464618" y="4881562"/>
              <a:ext cx="5193982" cy="1018222"/>
            </a:xfrm>
            <a:prstGeom prst="roundRect">
              <a:avLst>
                <a:gd name="adj" fmla="val 11225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39" name="Group 39"/>
            <p:cNvGrpSpPr/>
            <p:nvPr/>
          </p:nvGrpSpPr>
          <p:grpSpPr>
            <a:xfrm>
              <a:off x="6669405" y="5291138"/>
              <a:ext cx="200026" cy="200026"/>
              <a:chOff x="6669405" y="5291138"/>
              <a:chExt cx="200026" cy="200026"/>
            </a:xfrm>
          </p:grpSpPr>
          <p:sp>
            <p:nvSpPr>
              <p:cNvPr id="36" name="Freeform 36"/>
              <p:cNvSpPr/>
              <p:nvPr/>
            </p:nvSpPr>
            <p:spPr>
              <a:xfrm>
                <a:off x="6669405" y="529113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37" name="Freeform 37"/>
              <p:cNvSpPr/>
              <p:nvPr/>
            </p:nvSpPr>
            <p:spPr>
              <a:xfrm>
                <a:off x="6769418" y="535781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38" name="Freeform 38"/>
              <p:cNvSpPr/>
              <p:nvPr/>
            </p:nvSpPr>
            <p:spPr>
              <a:xfrm>
                <a:off x="6758305" y="5391150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40" name="TextBox 40"/>
            <p:cNvSpPr txBox="1"/>
            <p:nvPr/>
          </p:nvSpPr>
          <p:spPr>
            <a:xfrm>
              <a:off x="6971729" y="5028724"/>
              <a:ext cx="4288536" cy="8044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定理14.2 把结论推广到多元：只要 h 对每个自变量单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调，就可以用 (U₁, …, Uₙ) 与 (1 − U₁, …, 1 − Uₙ) 成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对抽样。</a:t>
              </a:r>
            </a:p>
          </p:txBody>
        </p:sp>
      </p:grpSp>
      <p:grpSp>
        <p:nvGrpSpPr>
          <p:cNvPr id="4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2" name="TextBox 42"/>
            <p:cNvSpPr txBox="1"/>
            <p:nvPr/>
          </p:nvSpPr>
          <p:spPr>
            <a:xfrm>
              <a:off x="528447" y="6581299"/>
              <a:ext cx="198882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统计计算 · 第3章 随机模拟（上）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728664" cy="909257"/>
            <a:chOff x="520446" y="342900"/>
            <a:chExt cx="572866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989898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9634" y="407194"/>
              <a:ext cx="289838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第3章 随机模拟（上） · 3.5 方差缩减技术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72866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例14.3 用对立变量法再算 ∫₀¹ eᵗ dt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c1-text-1"/>
          <p:cNvGrpSpPr/>
          <p:nvPr/>
        </p:nvGrpSpPr>
        <p:grpSpPr>
          <a:xfrm>
            <a:off x="525780" y="1548765"/>
            <a:ext cx="5215890" cy="588645"/>
            <a:chOff x="525780" y="1548765"/>
            <a:chExt cx="5215890" cy="588645"/>
          </a:xfrm>
        </p:grpSpPr>
        <p:sp>
          <p:nvSpPr>
            <p:cNvPr id="7" name="TextBox 7"/>
            <p:cNvSpPr txBox="1"/>
            <p:nvPr/>
          </p:nvSpPr>
          <p:spPr>
            <a:xfrm>
              <a:off x="525780" y="1548765"/>
              <a:ext cx="5215890" cy="5886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325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设 U ~ U(0,1)，X = exp(U)，令 Y = exp(1 − U)。指数函数单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调，所以 X 与 Y 负相关。</a:t>
              </a:r>
            </a:p>
          </p:txBody>
        </p:sp>
      </p:grpSp>
      <p:grpSp>
        <p:nvGrpSpPr>
          <p:cNvPr id="13" name="c1-card-2"/>
          <p:cNvGrpSpPr/>
          <p:nvPr/>
        </p:nvGrpSpPr>
        <p:grpSpPr>
          <a:xfrm>
            <a:off x="533400" y="2268855"/>
            <a:ext cx="5410200" cy="1607820"/>
            <a:chOff x="533400" y="2268855"/>
            <a:chExt cx="5410200" cy="1607820"/>
          </a:xfrm>
        </p:grpSpPr>
        <p:sp>
          <p:nvSpPr>
            <p:cNvPr id="9" name="Rectangle 9"/>
            <p:cNvSpPr/>
            <p:nvPr/>
          </p:nvSpPr>
          <p:spPr>
            <a:xfrm>
              <a:off x="533400" y="2268855"/>
              <a:ext cx="5410200" cy="1607820"/>
            </a:xfrm>
            <a:prstGeom prst="roundRect">
              <a:avLst>
                <a:gd name="adj" fmla="val 8294"/>
              </a:avLst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0" name="Rectangle 10"/>
            <p:cNvSpPr/>
            <p:nvPr/>
          </p:nvSpPr>
          <p:spPr>
            <a:xfrm>
              <a:off x="742950" y="2478405"/>
              <a:ext cx="1062990" cy="257175"/>
            </a:xfrm>
            <a:prstGeom prst="roundRect">
              <a:avLst>
                <a:gd name="adj" fmla="val 50000"/>
              </a:avLst>
            </a:prstGeom>
            <a:solidFill>
              <a:srgbClr val="23613D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816407" y="2514124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对立变量估计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2" name="formula351"/>
                <p:cNvSpPr txBox="1">
                  <a:spLocks noGrp="1"/>
                </p:cNvSpPr>
                <p:nvPr/>
              </p:nvSpPr>
              <p:spPr>
                <a:xfrm>
                  <a:off x="742950" y="2830830"/>
                  <a:ext cx="4991100" cy="81724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sSub>
                          <m:e>
                            <m:acc>
                              <m:accPr>
                                <m:chr m:val="ˆ"/>
                                <m:ctrlPr>
                                  <a:rPr lang="zh-CN" sz="195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accPr>
                              <m:e>
                                <m:r>
                                  <a:rPr lang="zh-CN" sz="195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I</m:t>
                                </m:r>
                              </m:e>
                            </m:acc>
                          </m:e>
                          <m:sub>
                            <m:r>
                              <a:rPr lang="zh-CN" sz="19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3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zh-CN" sz="195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f>
                          <m:fPr>
                            <m:type m:val="bar"/>
                            <m:ctrlPr>
                              <a:rPr lang="zh-CN" sz="19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r>
                              <a:rPr lang="zh-CN" sz="19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num>
                          <m:den>
                            <m:r>
                              <a:rPr lang="zh-CN" sz="19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N</m:t>
                            </m:r>
                          </m:den>
                        </m:f>
                        <m:nary>
                          <m:naryPr>
                            <m:chr m:val="∑"/>
                            <m:limLoc m:val="undOvr"/>
                            <m:grow m:val="off"/>
                            <m:subHide m:val="off"/>
                            <m:supHide m:val="off"/>
                            <m:ctrlPr>
                              <a:rPr lang="zh-CN" sz="19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naryPr>
                          <m:sub>
                            <m:r>
                              <a:rPr lang="zh-CN" sz="19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i</m:t>
                            </m:r>
                            <m:r>
                              <m:rPr>
                                <m:sty m:val="p"/>
                              </m:rPr>
                              <a:rPr lang="zh-CN" sz="19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=</m:t>
                            </m:r>
                            <m:r>
                              <a:rPr lang="zh-CN" sz="19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sub>
                          <m:sup>
                            <m:r>
                              <a:rPr lang="zh-CN" sz="19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N</m:t>
                            </m:r>
                          </m:sup>
                          <m:e>
                            <m:f>
                              <m:fPr>
                                <m:type m:val="bar"/>
                                <m:ctrlPr>
                                  <a:rPr lang="zh-CN" sz="195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fPr>
                              <m:num>
                                <m:sSup>
                                  <m:e>
                                    <m:r>
                                      <a:rPr lang="zh-CN" sz="195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e</m:t>
                                    </m:r>
                                  </m:e>
                                  <m:sup>
                                    <m:sSub>
                                      <m:e>
                                        <m:r>
                                          <a:rPr lang="zh-CN" sz="1950" dirty="0">
                                            <a:solidFill>
                                              <a:srgbClr val="FFFFFF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U</m:t>
                                        </m:r>
                                      </m:e>
                                      <m:sub>
                                        <m:r>
                                          <a:rPr lang="zh-CN" sz="1950" dirty="0">
                                            <a:solidFill>
                                              <a:srgbClr val="FFFFFF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i</m:t>
                                        </m:r>
                                      </m:sub>
                                    </m:sSub>
                                  </m:sup>
                                </m:sSup>
                                <m:r>
                                  <m:rPr>
                                    <m:sty m:val="p"/>
                                  </m:rPr>
                                  <a:rPr lang="zh-CN" sz="195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+</m:t>
                                </m:r>
                                <m:sSup>
                                  <m:e>
                                    <m:r>
                                      <a:rPr lang="zh-CN" sz="195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e</m:t>
                                    </m:r>
                                  </m:e>
                                  <m:sup>
                                    <m:r>
                                      <a:rPr lang="zh-CN" sz="195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1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zh-CN" sz="195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−</m:t>
                                    </m:r>
                                    <m:sSub>
                                      <m:e>
                                        <m:r>
                                          <a:rPr lang="zh-CN" sz="1950" dirty="0">
                                            <a:solidFill>
                                              <a:srgbClr val="FFFFFF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U</m:t>
                                        </m:r>
                                      </m:e>
                                      <m:sub>
                                        <m:r>
                                          <a:rPr lang="zh-CN" sz="1950" dirty="0">
                                            <a:solidFill>
                                              <a:srgbClr val="FFFFFF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i</m:t>
                                        </m:r>
                                      </m:sub>
                                    </m:sSub>
                                  </m:sup>
                                </m:sSup>
                              </m:num>
                              <m:den>
                                <m:r>
                                  <a:rPr lang="zh-CN" sz="195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den>
                            </m:f>
                          </m:e>
                        </m:nary>
                      </m:oMath>
                    </m:oMathPara>
                  </a14:m>
                </a:p>
              </p:txBody>
            </p:sp>
          </mc:Choice>
        </mc:AlternateContent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formula352"/>
              <p:cNvSpPr txBox="1">
                <a:spLocks noGrp="1"/>
              </p:cNvSpPr>
              <p:nvPr/>
            </p:nvSpPr>
            <p:spPr>
              <a:xfrm>
                <a:off x="533400" y="4067175"/>
                <a:ext cx="5410200" cy="126301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eqArr>
                        <m:eqArrPr>
                          <m:baseJc m:val="center"/>
                        </m:eqArrPr>
                        <m:e>
                          <m:r>
                            <m:rPr>
                              <m:sty m:val="p"/>
                            </m:rPr>
                            <a:rPr lang="zh-CN" sz="19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Var</m:t>
                          </m:r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9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sSub>
                                <m:e>
                                  <m:acc>
                                    <m:accPr>
                                      <m:chr m:val="ˆ"/>
                                      <m:ctrlPr>
                                        <a:rPr lang="zh-CN" sz="195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zh-CN" sz="195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I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zh-CN" sz="19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3</m:t>
                                  </m:r>
                                </m:sub>
                              </m:sSub>
                            </m:e>
                          </m:d>
                          <m:r>
                            <a:rPr lang="zh-CN" sz="19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&amp;</m:t>
                          </m:r>
                          <m:r>
                            <m:rPr>
                              <m:sty m:val="p"/>
                            </m:rPr>
                            <a:rPr lang="zh-CN" sz="19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=</m:t>
                          </m:r>
                          <m:f>
                            <m:fPr>
                              <m:type m:val="bar"/>
                              <m:ctrlPr>
                                <a:rPr lang="zh-CN" sz="19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fPr>
                            <m:num>
                              <m:r>
                                <a:rPr lang="zh-CN" sz="19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zh-CN" sz="19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N</m:t>
                              </m:r>
                            </m:den>
                          </m:f>
                          <m:r>
                            <m:rPr>
                              <m:sty m:val="p"/>
                            </m:rPr>
                            <a:rPr lang="zh-CN" sz="19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⋅</m:t>
                          </m:r>
                          <m:f>
                            <m:fPr>
                              <m:type m:val="bar"/>
                              <m:ctrlPr>
                                <a:rPr lang="zh-CN" sz="19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fPr>
                            <m:num>
                              <m:r>
                                <m:rPr>
                                  <m:sty m:val="p"/>
                                </m:rPr>
                                <a:rPr lang="zh-CN" sz="19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Var</m:t>
                              </m:r>
                              <m:d>
                                <m:dPr>
                                  <m:begChr m:val="("/>
                                  <m:sepChr m:val=""/>
                                  <m:endChr m:val=")"/>
                                  <m:grow m:val="on"/>
                                  <m:ctrlPr>
                                    <a:rPr lang="zh-CN" sz="19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dPr>
                                <m:e>
                                  <m:sSup>
                                    <m:e>
                                      <m:r>
                                        <a:rPr lang="zh-CN" sz="195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e</m:t>
                                      </m:r>
                                    </m:e>
                                    <m:sup>
                                      <m:r>
                                        <a:rPr lang="zh-CN" sz="195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U</m:t>
                                      </m:r>
                                    </m:sup>
                                  </m:sSup>
                                </m:e>
                              </m:d>
                              <m:r>
                                <m:rPr>
                                  <m:sty m:val="p"/>
                                </m:rPr>
                                <a:rPr lang="zh-CN" sz="19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+</m:t>
                              </m:r>
                              <m:r>
                                <m:rPr>
                                  <m:sty m:val="p"/>
                                </m:rPr>
                                <a:rPr lang="zh-CN" sz="19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Cov</m:t>
                              </m:r>
                              <m:d>
                                <m:dPr>
                                  <m:begChr m:val="("/>
                                  <m:sepChr m:val=""/>
                                  <m:endChr m:val=")"/>
                                  <m:grow m:val="on"/>
                                  <m:ctrlPr>
                                    <a:rPr lang="zh-CN" sz="19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dPr>
                                <m:e>
                                  <m:sSup>
                                    <m:e>
                                      <m:r>
                                        <a:rPr lang="zh-CN" sz="195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e</m:t>
                                      </m:r>
                                    </m:e>
                                    <m:sup>
                                      <m:r>
                                        <a:rPr lang="zh-CN" sz="195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U</m:t>
                                      </m:r>
                                    </m:sup>
                                  </m:sSup>
                                  <m:r>
                                    <m:rPr>
                                      <m:sty m:val="p"/>
                                    </m:rPr>
                                    <a:rPr lang="zh-CN" sz="19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,</m:t>
                                  </m:r>
                                  <m:sSup>
                                    <m:e>
                                      <m:r>
                                        <a:rPr lang="zh-CN" sz="195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e</m:t>
                                      </m:r>
                                    </m:e>
                                    <m:sup>
                                      <m:r>
                                        <a:rPr lang="zh-CN" sz="195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1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a:rPr lang="zh-CN" sz="195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−</m:t>
                                      </m:r>
                                      <m:r>
                                        <a:rPr lang="zh-CN" sz="195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U</m:t>
                                      </m:r>
                                    </m:sup>
                                  </m:sSup>
                                </m:e>
                              </m:d>
                            </m:num>
                            <m:den>
                              <m:r>
                                <a:rPr lang="zh-CN" sz="19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2</m:t>
                              </m:r>
                            </m:den>
                          </m:f>
                        </m:e>
                        <m:e>
                          <m:r>
                            <a:rPr lang="zh-CN" sz="19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&amp;</m:t>
                          </m:r>
                          <m:r>
                            <m:rPr>
                              <m:sty m:val="p"/>
                            </m:rPr>
                            <a:rPr lang="zh-CN" sz="19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=</m:t>
                          </m:r>
                          <m:f>
                            <m:fPr>
                              <m:type m:val="bar"/>
                              <m:ctrlPr>
                                <a:rPr lang="zh-CN" sz="19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fPr>
                            <m:num>
                              <m:r>
                                <a:rPr lang="zh-CN" sz="19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zh-CN" sz="19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N</m:t>
                              </m:r>
                            </m:den>
                          </m:f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9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zh-CN" sz="19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−</m:t>
                              </m:r>
                              <m:f>
                                <m:fPr>
                                  <m:type m:val="bar"/>
                                  <m:ctrlPr>
                                    <a:rPr lang="zh-CN" sz="19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fPr>
                                <m:num>
                                  <m:r>
                                    <a:rPr lang="zh-CN" sz="19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3</m:t>
                                  </m:r>
                                </m:num>
                                <m:den>
                                  <m:r>
                                    <a:rPr lang="zh-CN" sz="19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4</m:t>
                                  </m:r>
                                </m:den>
                              </m:f>
                              <m:sSup>
                                <m:e>
                                  <m:r>
                                    <a:rPr lang="zh-CN" sz="19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e</m:t>
                                  </m:r>
                                </m:e>
                                <m:sup>
                                  <m:r>
                                    <a:rPr lang="zh-CN" sz="19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m:rPr>
                                  <m:sty m:val="p"/>
                                </m:rPr>
                                <a:rPr lang="zh-CN" sz="19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+</m:t>
                              </m:r>
                              <m:f>
                                <m:fPr>
                                  <m:type m:val="bar"/>
                                  <m:ctrlPr>
                                    <a:rPr lang="zh-CN" sz="19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fPr>
                                <m:num>
                                  <m:r>
                                    <a:rPr lang="zh-CN" sz="19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5</m:t>
                                  </m:r>
                                </m:num>
                                <m:den>
                                  <m:r>
                                    <a:rPr lang="zh-CN" sz="19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2</m:t>
                                  </m:r>
                                </m:den>
                              </m:f>
                              <m:r>
                                <a:rPr lang="zh-CN" sz="19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e</m:t>
                              </m:r>
                              <m:r>
                                <m:rPr>
                                  <m:sty m:val="p"/>
                                </m:rPr>
                                <a:rPr lang="zh-CN" sz="19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−</m:t>
                              </m:r>
                              <m:f>
                                <m:fPr>
                                  <m:type m:val="bar"/>
                                  <m:ctrlPr>
                                    <a:rPr lang="zh-CN" sz="19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fPr>
                                <m:num>
                                  <m:r>
                                    <a:rPr lang="zh-CN" sz="19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5</m:t>
                                  </m:r>
                                </m:num>
                                <m:den>
                                  <m:r>
                                    <a:rPr lang="zh-CN" sz="19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4</m:t>
                                  </m:r>
                                </m:den>
                              </m:f>
                            </m:e>
                          </m:d>
                          <m:r>
                            <m:rPr>
                              <m:sty m:val="p"/>
                            </m:rPr>
                            <a:rPr lang="zh-CN" sz="19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≈</m:t>
                          </m:r>
                          <m:f>
                            <m:fPr>
                              <m:type m:val="bar"/>
                              <m:ctrlPr>
                                <a:rPr lang="zh-CN" sz="19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fPr>
                            <m:num>
                              <m:r>
                                <a:rPr lang="zh-CN" sz="19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0.00391</m:t>
                              </m:r>
                            </m:num>
                            <m:den>
                              <m:r>
                                <a:rPr lang="zh-CN" sz="19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N</m:t>
                              </m:r>
                            </m:den>
                          </m:f>
                        </m:e>
                      </m:eqArr>
                    </m:oMath>
                  </m:oMathPara>
                </a14:m>
              </a:p>
            </p:txBody>
          </p:sp>
        </mc:Choice>
      </mc:AlternateContent>
      <p:grpSp>
        <p:nvGrpSpPr>
          <p:cNvPr id="16" name="c1-text-4"/>
          <p:cNvGrpSpPr/>
          <p:nvPr/>
        </p:nvGrpSpPr>
        <p:grpSpPr>
          <a:xfrm>
            <a:off x="526923" y="5542121"/>
            <a:ext cx="4922266" cy="500824"/>
            <a:chOff x="526923" y="5542121"/>
            <a:chExt cx="4922266" cy="500824"/>
          </a:xfrm>
        </p:grpSpPr>
        <p:sp>
          <p:nvSpPr>
            <p:cNvPr id="15" name="TextBox 15"/>
            <p:cNvSpPr txBox="1"/>
            <p:nvPr/>
          </p:nvSpPr>
          <p:spPr>
            <a:xfrm>
              <a:off x="526923" y="5542121"/>
              <a:ext cx="4922266" cy="5008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80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其中 Cov(exp(U), exp(1 − U)) = E(e) − (e − 1)² = e − (e − 1)² ≈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−0.2342。</a:t>
              </a:r>
            </a:p>
          </p:txBody>
        </p:sp>
      </p:grpSp>
      <p:grpSp>
        <p:nvGrpSpPr>
          <p:cNvPr id="43" name="c2-table-1"/>
          <p:cNvGrpSpPr/>
          <p:nvPr/>
        </p:nvGrpSpPr>
        <p:grpSpPr>
          <a:xfrm>
            <a:off x="6248400" y="1524000"/>
            <a:ext cx="5410200" cy="2244090"/>
            <a:chOff x="6248400" y="1524000"/>
            <a:chExt cx="5410200" cy="2244090"/>
          </a:xfrm>
        </p:grpSpPr>
        <p:sp>
          <p:nvSpPr>
            <p:cNvPr id="17" name="Rectangle 17"/>
            <p:cNvSpPr/>
            <p:nvPr/>
          </p:nvSpPr>
          <p:spPr>
            <a:xfrm>
              <a:off x="6248400" y="1524000"/>
              <a:ext cx="5410200" cy="448628"/>
            </a:xfrm>
            <a:prstGeom prst="rect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726742" y="1659731"/>
              <a:ext cx="133503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∫₀¹ eˣdx 的方法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8805399" y="1659731"/>
              <a:ext cx="130013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每样本算几次 eˣ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0673424" y="1659731"/>
              <a:ext cx="68257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方差 × N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356223" y="2108359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平均值法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401604" y="2108359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0723916" y="2108359"/>
              <a:ext cx="58158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0.2420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6248400" y="241649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6248400" y="2421255"/>
              <a:ext cx="5410200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356223" y="2556986"/>
              <a:ext cx="161719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重要抽样（例12.1）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9401604" y="2556986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0676529" y="2556986"/>
              <a:ext cx="67636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0.02691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6248400" y="286607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356223" y="3005614"/>
              <a:ext cx="178950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控制变量法（例14.1）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9401604" y="3005614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10380345" y="2880360"/>
              <a:ext cx="1268730" cy="429578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10676529" y="3005614"/>
              <a:ext cx="67636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0.00394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6248400" y="3314700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5" name="Rectangle 35"/>
            <p:cNvSpPr/>
            <p:nvPr/>
          </p:nvSpPr>
          <p:spPr>
            <a:xfrm>
              <a:off x="6248400" y="3319462"/>
              <a:ext cx="5410200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356223" y="3454241"/>
              <a:ext cx="178950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对立变量法（例14.3）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9401604" y="3454241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10380345" y="3328988"/>
              <a:ext cx="1268730" cy="429578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10676529" y="3454241"/>
              <a:ext cx="67636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0.00391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6248400" y="1524000"/>
              <a:ext cx="5410200" cy="224409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1" name="Rectangle 41"/>
            <p:cNvSpPr/>
            <p:nvPr/>
          </p:nvSpPr>
          <p:spPr>
            <a:xfrm>
              <a:off x="8535352" y="1524000"/>
              <a:ext cx="9525" cy="224409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2" name="Rectangle 42"/>
            <p:cNvSpPr/>
            <p:nvPr/>
          </p:nvSpPr>
          <p:spPr>
            <a:xfrm>
              <a:off x="10366058" y="1524000"/>
              <a:ext cx="9525" cy="224409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49" name="c2-callout-2"/>
          <p:cNvGrpSpPr/>
          <p:nvPr/>
        </p:nvGrpSpPr>
        <p:grpSpPr>
          <a:xfrm>
            <a:off x="6248400" y="3958590"/>
            <a:ext cx="5410200" cy="782955"/>
            <a:chOff x="6248400" y="3958590"/>
            <a:chExt cx="5410200" cy="782955"/>
          </a:xfrm>
        </p:grpSpPr>
        <p:sp>
          <p:nvSpPr>
            <p:cNvPr id="44" name="Rectangle 44"/>
            <p:cNvSpPr/>
            <p:nvPr/>
          </p:nvSpPr>
          <p:spPr>
            <a:xfrm>
              <a:off x="6248400" y="3958590"/>
              <a:ext cx="5410200" cy="782955"/>
            </a:xfrm>
            <a:prstGeom prst="roundRect">
              <a:avLst>
                <a:gd name="adj" fmla="val 14599"/>
              </a:avLst>
            </a:prstGeom>
            <a:solidFill>
              <a:srgbClr val="2E7D4F"/>
            </a:solidFill>
            <a:ln>
              <a:noFill/>
            </a:ln>
          </p:spPr>
        </p:sp>
        <p:grpSp>
          <p:nvGrpSpPr>
            <p:cNvPr id="47" name="Group 47"/>
            <p:cNvGrpSpPr/>
            <p:nvPr/>
          </p:nvGrpSpPr>
          <p:grpSpPr>
            <a:xfrm>
              <a:off x="6453188" y="4250057"/>
              <a:ext cx="200023" cy="200023"/>
              <a:chOff x="6453188" y="4250057"/>
              <a:chExt cx="200023" cy="200023"/>
            </a:xfrm>
          </p:grpSpPr>
          <p:sp>
            <p:nvSpPr>
              <p:cNvPr id="45" name="Freeform 45"/>
              <p:cNvSpPr/>
              <p:nvPr/>
            </p:nvSpPr>
            <p:spPr>
              <a:xfrm>
                <a:off x="6453188" y="4250057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46" name="Freeform 46"/>
              <p:cNvSpPr/>
              <p:nvPr/>
            </p:nvSpPr>
            <p:spPr>
              <a:xfrm>
                <a:off x="6586538" y="431673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48" name="TextBox 48"/>
            <p:cNvSpPr txBox="1"/>
            <p:nvPr/>
          </p:nvSpPr>
          <p:spPr>
            <a:xfrm>
              <a:off x="6755130" y="4107180"/>
              <a:ext cx="433959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按函数计算次数折算，平均值法用 2N 个点时方差为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0.1210/N，对立变量法把它降到约 1/31。</a:t>
              </a:r>
            </a:p>
          </p:txBody>
        </p:sp>
      </p:grpSp>
      <p:grpSp>
        <p:nvGrpSpPr>
          <p:cNvPr id="56" name="c2-callout-3"/>
          <p:cNvGrpSpPr/>
          <p:nvPr/>
        </p:nvGrpSpPr>
        <p:grpSpPr>
          <a:xfrm>
            <a:off x="6248400" y="4932045"/>
            <a:ext cx="5410200" cy="782955"/>
            <a:chOff x="6248400" y="4932045"/>
            <a:chExt cx="5410200" cy="782955"/>
          </a:xfrm>
        </p:grpSpPr>
        <p:sp>
          <p:nvSpPr>
            <p:cNvPr id="50" name="Rectangle 50"/>
            <p:cNvSpPr/>
            <p:nvPr/>
          </p:nvSpPr>
          <p:spPr>
            <a:xfrm>
              <a:off x="6248400" y="4932045"/>
              <a:ext cx="5410200" cy="782955"/>
            </a:xfrm>
            <a:prstGeom prst="roundRect">
              <a:avLst>
                <a:gd name="adj" fmla="val 14599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54" name="Group 54"/>
            <p:cNvGrpSpPr/>
            <p:nvPr/>
          </p:nvGrpSpPr>
          <p:grpSpPr>
            <a:xfrm>
              <a:off x="6453188" y="5223510"/>
              <a:ext cx="200026" cy="200026"/>
              <a:chOff x="6453188" y="5223510"/>
              <a:chExt cx="200026" cy="200026"/>
            </a:xfrm>
          </p:grpSpPr>
          <p:sp>
            <p:nvSpPr>
              <p:cNvPr id="51" name="Freeform 51"/>
              <p:cNvSpPr/>
              <p:nvPr/>
            </p:nvSpPr>
            <p:spPr>
              <a:xfrm>
                <a:off x="6453188" y="5223510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52" name="Freeform 52"/>
              <p:cNvSpPr/>
              <p:nvPr/>
            </p:nvSpPr>
            <p:spPr>
              <a:xfrm>
                <a:off x="6553200" y="529018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53" name="Freeform 53"/>
              <p:cNvSpPr/>
              <p:nvPr/>
            </p:nvSpPr>
            <p:spPr>
              <a:xfrm>
                <a:off x="6542088" y="5323523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55" name="TextBox 55"/>
            <p:cNvSpPr txBox="1"/>
            <p:nvPr/>
          </p:nvSpPr>
          <p:spPr>
            <a:xfrm>
              <a:off x="6755130" y="5080635"/>
              <a:ext cx="447294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eˣ 在 [0, 1] 上接近线性，exp(U) 与 exp(1 − U) 的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相关系数接近 −1，所以对立变量法在这里特别有效。</a:t>
              </a:r>
            </a:p>
          </p:txBody>
        </p:sp>
      </p:grpSp>
      <p:grpSp>
        <p:nvGrpSpPr>
          <p:cNvPr id="5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7" name="TextBox 57"/>
            <p:cNvSpPr txBox="1"/>
            <p:nvPr/>
          </p:nvSpPr>
          <p:spPr>
            <a:xfrm>
              <a:off x="528447" y="6581299"/>
              <a:ext cx="198882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统计计算 · 第3章 随机模拟（上）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732955" cy="909257"/>
            <a:chOff x="520446" y="342900"/>
            <a:chExt cx="5732955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989898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9634" y="407194"/>
              <a:ext cx="289838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第3章 随机模拟（上） · 3.5 方差缩减技术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73295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例14.4 用对立变量法估计系统可靠度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c1-text-1"/>
          <p:cNvGrpSpPr/>
          <p:nvPr/>
        </p:nvGrpSpPr>
        <p:grpSpPr>
          <a:xfrm>
            <a:off x="526161" y="1547336"/>
            <a:ext cx="3256270" cy="278702"/>
            <a:chOff x="526161" y="1547336"/>
            <a:chExt cx="3256270" cy="278702"/>
          </a:xfrm>
        </p:grpSpPr>
        <p:sp>
          <p:nvSpPr>
            <p:cNvPr id="7" name="TextBox 7"/>
            <p:cNvSpPr txBox="1"/>
            <p:nvPr/>
          </p:nvSpPr>
          <p:spPr>
            <a:xfrm>
              <a:off x="526161" y="1547336"/>
              <a:ext cx="325627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设 {Uₖ} 为标准均匀分布随机数列，取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formula359"/>
              <p:cNvSpPr txBox="1">
                <a:spLocks noGrp="1"/>
              </p:cNvSpPr>
              <p:nvPr/>
            </p:nvSpPr>
            <p:spPr>
              <a:xfrm>
                <a:off x="533400" y="1950720"/>
                <a:ext cx="5626418" cy="8686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sSubSup>
                        <m:e>
                          <m: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S</m:t>
                          </m:r>
                        </m:e>
                        <m:sub>
                          <m: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i</m:t>
                          </m:r>
                        </m:sub>
                        <m:sup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j</m:t>
                              </m:r>
                            </m:e>
                          </m:d>
                        </m:sup>
                      </m:sSubSup>
                      <m:r>
                        <m:rPr>
                          <m:sty m:val="p"/>
                        </m:rPr>
                        <a:rPr lang="zh-CN" sz="18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d>
                        <m:dPr>
                          <m:begChr m:val="{"/>
                          <m:sepChr m:val=""/>
                          <m:endChr m:val=""/>
                          <m:grow m:val="on"/>
                          <m:ctrlP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eqArr>
                            <m:eqArrPr>
                              <m:baseJc m:val="center"/>
                            </m:eqArrPr>
                            <m:e>
                              <m: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&amp;</m:t>
                              </m:r>
                              <m: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1</m:t>
                              </m:r>
                              <m:r>
                                <m:rPr>
                                  <m:sty m:val="p"/>
                                </m:rP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,</m:t>
                              </m:r>
                              <m: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 xml:space="preserve"> </m:t>
                              </m:r>
                              <m:sSub>
                                <m:e>
                                  <m:r>
                                    <a:rPr lang="zh-CN" sz="18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U</m:t>
                                  </m:r>
                                </m:e>
                                <m:sub>
                                  <m:r>
                                    <a:rPr lang="zh-CN" sz="18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n</m:t>
                                  </m:r>
                                  <m:d>
                                    <m:dPr>
                                      <m:begChr m:val="("/>
                                      <m:sepChr m:val=""/>
                                      <m:endChr m:val=")"/>
                                      <m:grow m:val="on"/>
                                      <m:ctrlPr>
                                        <a:rPr lang="zh-CN" sz="180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zh-CN" sz="180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j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a:rPr lang="zh-CN" sz="180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−</m:t>
                                      </m:r>
                                      <m:r>
                                        <a:rPr lang="zh-CN" sz="180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1</m:t>
                                      </m:r>
                                    </m:e>
                                  </m:d>
                                  <m:r>
                                    <m:rPr>
                                      <m:sty m:val="p"/>
                                    </m:rPr>
                                    <a:rPr lang="zh-CN" sz="18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+</m:t>
                                  </m:r>
                                  <m:r>
                                    <a:rPr lang="zh-CN" sz="18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i</m:t>
                                  </m:r>
                                </m:sub>
                              </m:sSub>
                              <m:r>
                                <m:rPr>
                                  <m:sty m:val="p"/>
                                </m:rP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≤</m:t>
                              </m:r>
                              <m:sSub>
                                <m:e>
                                  <m:r>
                                    <a:rPr lang="zh-CN" sz="18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p</m:t>
                                  </m:r>
                                </m:e>
                                <m:sub>
                                  <m:r>
                                    <a:rPr lang="zh-CN" sz="18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i</m:t>
                                  </m:r>
                                </m:sub>
                              </m:sSub>
                            </m:e>
                            <m:e>
                              <m: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&amp;</m:t>
                              </m:r>
                              <m: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0</m:t>
                              </m:r>
                              <m:r>
                                <m:rPr>
                                  <m:sty m:val="p"/>
                                </m:rP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,</m:t>
                              </m:r>
                              <m: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 xml:space="preserve"> </m:t>
                              </m:r>
                              <m:r>
                                <m:rPr>
                                  <m:nor m:val="on"/>
                                </m:rP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其他</m:t>
                              </m:r>
                            </m:e>
                          </m:eqArr>
                        </m:e>
                      </m:d>
                    </m:oMath>
                  </m:oMathPara>
                </a14:m>
              </a:p>
            </p:txBody>
          </p:sp>
        </mc:Choice>
      </mc:AlternateContent>
      <p:grpSp>
        <p:nvGrpSpPr>
          <p:cNvPr id="11" name="c1-text-3"/>
          <p:cNvGrpSpPr/>
          <p:nvPr/>
        </p:nvGrpSpPr>
        <p:grpSpPr>
          <a:xfrm>
            <a:off x="526161" y="3022759"/>
            <a:ext cx="5334508" cy="838772"/>
            <a:chOff x="526161" y="3022759"/>
            <a:chExt cx="5334508" cy="838772"/>
          </a:xfrm>
        </p:grpSpPr>
        <p:sp>
          <p:nvSpPr>
            <p:cNvPr id="10" name="TextBox 10"/>
            <p:cNvSpPr txBox="1"/>
            <p:nvPr/>
          </p:nvSpPr>
          <p:spPr>
            <a:xfrm>
              <a:off x="526161" y="3022759"/>
              <a:ext cx="5334508" cy="8387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05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则 Sᵢ⁽ʲ⁾ 是第 n(j − 1) + i 个随机数的单调非增函数。令 h(U₁, …,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Uₙ) = φ(S₁, …, Sₙ)，φ 单调不减，所以 h 关于每个自变量单调非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增。由定理14.2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formula360"/>
              <p:cNvSpPr txBox="1">
                <a:spLocks noGrp="1"/>
              </p:cNvSpPr>
              <p:nvPr/>
            </p:nvSpPr>
            <p:spPr>
              <a:xfrm>
                <a:off x="533400" y="3986212"/>
                <a:ext cx="5626418" cy="457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r>
                        <m:rPr>
                          <m:sty m:val="p"/>
                        </m:rPr>
                        <a:rPr lang="zh-CN" sz="18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Cov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h</m:t>
                          </m:r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sSub>
                                <m:e>
                                  <m:r>
                                    <a:rPr lang="zh-CN" sz="18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U</m:t>
                                  </m:r>
                                </m:e>
                                <m:sub>
                                  <m:r>
                                    <a:rPr lang="zh-CN" sz="18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m:rPr>
                                  <m:sty m:val="p"/>
                                </m:rP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,…,</m:t>
                              </m:r>
                              <m:sSub>
                                <m:e>
                                  <m:r>
                                    <a:rPr lang="zh-CN" sz="18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U</m:t>
                                  </m:r>
                                </m:e>
                                <m:sub>
                                  <m:r>
                                    <a:rPr lang="zh-CN" sz="18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n</m:t>
                                  </m:r>
                                </m:sub>
                              </m:sSub>
                            </m:e>
                          </m:d>
                          <m:r>
                            <m:rPr>
                              <m:sty m:val="p"/>
                            </m:rP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,</m:t>
                          </m:r>
                          <m: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 xml:space="preserve"> </m:t>
                          </m:r>
                          <m: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h</m:t>
                          </m:r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1</m:t>
                              </m:r>
                              <m:r>
                                <m:rPr>
                                  <m:sty m:val="p"/>
                                </m:rP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−</m:t>
                              </m:r>
                              <m:sSub>
                                <m:e>
                                  <m:r>
                                    <a:rPr lang="zh-CN" sz="18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U</m:t>
                                  </m:r>
                                </m:e>
                                <m:sub>
                                  <m:r>
                                    <a:rPr lang="zh-CN" sz="18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m:rPr>
                                  <m:sty m:val="p"/>
                                </m:rP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,…,</m:t>
                              </m:r>
                              <m: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1</m:t>
                              </m:r>
                              <m:r>
                                <m:rPr>
                                  <m:sty m:val="p"/>
                                </m:rP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−</m:t>
                              </m:r>
                              <m:sSub>
                                <m:e>
                                  <m:r>
                                    <a:rPr lang="zh-CN" sz="18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U</m:t>
                                  </m:r>
                                </m:e>
                                <m:sub>
                                  <m:r>
                                    <a:rPr lang="zh-CN" sz="18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n</m:t>
                                  </m:r>
                                </m:sub>
                              </m:sSub>
                            </m:e>
                          </m:d>
                        </m:e>
                      </m:d>
                      <m:r>
                        <m:rPr>
                          <m:sty m:val="p"/>
                        </m:rPr>
                        <a:rPr lang="zh-CN" sz="18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≤</m:t>
                      </m:r>
                      <m:r>
                        <a:rPr lang="zh-CN" sz="18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0</m:t>
                      </m:r>
                    </m:oMath>
                  </m:oMathPara>
                </a14:m>
              </a:p>
            </p:txBody>
          </p:sp>
        </mc:Choice>
      </mc:AlternateContent>
      <p:grpSp>
        <p:nvGrpSpPr>
          <p:cNvPr id="17" name="c1-card-5"/>
          <p:cNvGrpSpPr/>
          <p:nvPr/>
        </p:nvGrpSpPr>
        <p:grpSpPr>
          <a:xfrm>
            <a:off x="533400" y="4624388"/>
            <a:ext cx="5626418" cy="1518285"/>
            <a:chOff x="533400" y="4624388"/>
            <a:chExt cx="5626418" cy="1518285"/>
          </a:xfrm>
        </p:grpSpPr>
        <p:sp>
          <p:nvSpPr>
            <p:cNvPr id="13" name="Rectangle 13"/>
            <p:cNvSpPr/>
            <p:nvPr/>
          </p:nvSpPr>
          <p:spPr>
            <a:xfrm>
              <a:off x="533400" y="4624388"/>
              <a:ext cx="5626418" cy="1518285"/>
            </a:xfrm>
            <a:prstGeom prst="roundRect">
              <a:avLst>
                <a:gd name="adj" fmla="val 8783"/>
              </a:avLst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731520" y="4822508"/>
              <a:ext cx="1009650" cy="247650"/>
            </a:xfrm>
            <a:prstGeom prst="roundRect">
              <a:avLst>
                <a:gd name="adj" fmla="val 50000"/>
              </a:avLst>
            </a:prstGeom>
            <a:solidFill>
              <a:srgbClr val="23613D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806958" y="4856798"/>
              <a:ext cx="858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对立变量估计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6" name="formula361"/>
                <p:cNvSpPr txBox="1">
                  <a:spLocks noGrp="1"/>
                </p:cNvSpPr>
                <p:nvPr/>
              </p:nvSpPr>
              <p:spPr>
                <a:xfrm>
                  <a:off x="731520" y="5159692"/>
                  <a:ext cx="5230178" cy="76676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sSub>
                          <m:e>
                            <m:acc>
                              <m:accPr>
                                <m:chr m:val="ˆ"/>
                                <m:ctrlPr>
                                  <a:rPr lang="zh-CN" sz="172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accPr>
                              <m:e>
                                <m:r>
                                  <a:rPr lang="zh-CN" sz="172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R</m:t>
                                </m:r>
                              </m:e>
                            </m:acc>
                          </m:e>
                          <m:sub>
                            <m:r>
                              <a:rPr lang="zh-CN" sz="17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3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zh-CN" sz="172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f>
                          <m:fPr>
                            <m:type m:val="bar"/>
                            <m:ctrlPr>
                              <a:rPr lang="zh-CN" sz="17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r>
                              <a:rPr lang="zh-CN" sz="17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num>
                          <m:den>
                            <m:r>
                              <a:rPr lang="zh-CN" sz="17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N</m:t>
                            </m:r>
                          </m:den>
                        </m:f>
                        <m:nary>
                          <m:naryPr>
                            <m:chr m:val="∑"/>
                            <m:limLoc m:val="undOvr"/>
                            <m:grow m:val="off"/>
                            <m:subHide m:val="off"/>
                            <m:supHide m:val="off"/>
                            <m:ctrlPr>
                              <a:rPr lang="zh-CN" sz="17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naryPr>
                          <m:sub>
                            <m:r>
                              <a:rPr lang="zh-CN" sz="17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j</m:t>
                            </m:r>
                            <m:r>
                              <m:rPr>
                                <m:sty m:val="p"/>
                              </m:rPr>
                              <a:rPr lang="zh-CN" sz="17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=</m:t>
                            </m:r>
                            <m:r>
                              <a:rPr lang="zh-CN" sz="17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sub>
                          <m:sup>
                            <m:r>
                              <a:rPr lang="zh-CN" sz="17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N</m:t>
                            </m:r>
                          </m:sup>
                          <m:e>
                            <m:f>
                              <m:fPr>
                                <m:type m:val="bar"/>
                                <m:ctrlPr>
                                  <a:rPr lang="zh-CN" sz="172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fPr>
                              <m:num>
                                <m:r>
                                  <a:rPr lang="zh-CN" sz="172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h</m:t>
                                </m:r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 m:val="on"/>
                                    <m:ctrlPr>
                                      <a:rPr lang="zh-CN" sz="172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dPr>
                                  <m:e>
                                    <m:sSubSup>
                                      <m:e>
                                        <m:r>
                                          <a:rPr lang="zh-CN" sz="1720" dirty="0">
                                            <a:solidFill>
                                              <a:srgbClr val="FFFFFF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U</m:t>
                                        </m:r>
                                      </m:e>
                                      <m:sub>
                                        <m:r>
                                          <a:rPr lang="zh-CN" sz="1720" dirty="0">
                                            <a:solidFill>
                                              <a:srgbClr val="FFFFFF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1</m:t>
                                        </m:r>
                                      </m:sub>
                                      <m:sup>
                                        <m:d>
                                          <m:dPr>
                                            <m:begChr m:val="("/>
                                            <m:sepChr m:val=""/>
                                            <m:endChr m:val=")"/>
                                            <m:grow m:val="on"/>
                                            <m:ctrlPr>
                                              <a:rPr lang="zh-CN" sz="1720" dirty="0">
                                                <a:solidFill>
                                                  <a:srgbClr val="FFFFFF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a:rPr lang="zh-CN" sz="1720" dirty="0">
                                                <a:solidFill>
                                                  <a:srgbClr val="FFFFFF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  <m:t>j</m:t>
                                            </m:r>
                                          </m:e>
                                        </m:d>
                                      </m:sup>
                                    </m:sSubSup>
                                    <m:r>
                                      <m:rPr>
                                        <m:sty m:val="p"/>
                                      </m:rPr>
                                      <a:rPr lang="zh-CN" sz="172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,…,</m:t>
                                    </m:r>
                                    <m:sSubSup>
                                      <m:e>
                                        <m:r>
                                          <a:rPr lang="zh-CN" sz="1720" dirty="0">
                                            <a:solidFill>
                                              <a:srgbClr val="FFFFFF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U</m:t>
                                        </m:r>
                                      </m:e>
                                      <m:sub>
                                        <m:r>
                                          <a:rPr lang="zh-CN" sz="1720" dirty="0">
                                            <a:solidFill>
                                              <a:srgbClr val="FFFFFF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n</m:t>
                                        </m:r>
                                      </m:sub>
                                      <m:sup>
                                        <m:d>
                                          <m:dPr>
                                            <m:begChr m:val="("/>
                                            <m:sepChr m:val=""/>
                                            <m:endChr m:val=")"/>
                                            <m:grow m:val="on"/>
                                            <m:ctrlPr>
                                              <a:rPr lang="zh-CN" sz="1720" dirty="0">
                                                <a:solidFill>
                                                  <a:srgbClr val="FFFFFF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a:rPr lang="zh-CN" sz="1720" dirty="0">
                                                <a:solidFill>
                                                  <a:srgbClr val="FFFFFF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  <m:t>j</m:t>
                                            </m:r>
                                          </m:e>
                                        </m:d>
                                      </m:sup>
                                    </m:sSubSup>
                                  </m:e>
                                </m:d>
                                <m:r>
                                  <m:rPr>
                                    <m:sty m:val="p"/>
                                  </m:rPr>
                                  <a:rPr lang="zh-CN" sz="172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+</m:t>
                                </m:r>
                                <m:r>
                                  <a:rPr lang="zh-CN" sz="172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h</m:t>
                                </m:r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 m:val="on"/>
                                    <m:ctrlPr>
                                      <a:rPr lang="zh-CN" sz="172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dPr>
                                  <m:e>
                                    <m:r>
                                      <a:rPr lang="zh-CN" sz="172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1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zh-CN" sz="172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−</m:t>
                                    </m:r>
                                    <m:sSubSup>
                                      <m:e>
                                        <m:r>
                                          <a:rPr lang="zh-CN" sz="1720" dirty="0">
                                            <a:solidFill>
                                              <a:srgbClr val="FFFFFF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U</m:t>
                                        </m:r>
                                      </m:e>
                                      <m:sub>
                                        <m:r>
                                          <a:rPr lang="zh-CN" sz="1720" dirty="0">
                                            <a:solidFill>
                                              <a:srgbClr val="FFFFFF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1</m:t>
                                        </m:r>
                                      </m:sub>
                                      <m:sup>
                                        <m:d>
                                          <m:dPr>
                                            <m:begChr m:val="("/>
                                            <m:sepChr m:val=""/>
                                            <m:endChr m:val=")"/>
                                            <m:grow m:val="on"/>
                                            <m:ctrlPr>
                                              <a:rPr lang="zh-CN" sz="1720" dirty="0">
                                                <a:solidFill>
                                                  <a:srgbClr val="FFFFFF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a:rPr lang="zh-CN" sz="1720" dirty="0">
                                                <a:solidFill>
                                                  <a:srgbClr val="FFFFFF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  <m:t>j</m:t>
                                            </m:r>
                                          </m:e>
                                        </m:d>
                                      </m:sup>
                                    </m:sSubSup>
                                    <m:r>
                                      <m:rPr>
                                        <m:sty m:val="p"/>
                                      </m:rPr>
                                      <a:rPr lang="zh-CN" sz="172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,…,</m:t>
                                    </m:r>
                                    <m:r>
                                      <a:rPr lang="zh-CN" sz="172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1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zh-CN" sz="172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−</m:t>
                                    </m:r>
                                    <m:sSubSup>
                                      <m:e>
                                        <m:r>
                                          <a:rPr lang="zh-CN" sz="1720" dirty="0">
                                            <a:solidFill>
                                              <a:srgbClr val="FFFFFF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U</m:t>
                                        </m:r>
                                      </m:e>
                                      <m:sub>
                                        <m:r>
                                          <a:rPr lang="zh-CN" sz="1720" dirty="0">
                                            <a:solidFill>
                                              <a:srgbClr val="FFFFFF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n</m:t>
                                        </m:r>
                                      </m:sub>
                                      <m:sup>
                                        <m:d>
                                          <m:dPr>
                                            <m:begChr m:val="("/>
                                            <m:sepChr m:val=""/>
                                            <m:endChr m:val=")"/>
                                            <m:grow m:val="on"/>
                                            <m:ctrlPr>
                                              <a:rPr lang="zh-CN" sz="1720" dirty="0">
                                                <a:solidFill>
                                                  <a:srgbClr val="FFFFFF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a:rPr lang="zh-CN" sz="1720" dirty="0">
                                                <a:solidFill>
                                                  <a:srgbClr val="FFFFFF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  <m:t>j</m:t>
                                            </m:r>
                                          </m:e>
                                        </m:d>
                                      </m:sup>
                                    </m:sSubSup>
                                  </m:e>
                                </m:d>
                              </m:num>
                              <m:den>
                                <m:r>
                                  <a:rPr lang="zh-CN" sz="172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den>
                            </m:f>
                          </m:e>
                        </m:nary>
                      </m:oMath>
                    </m:oMathPara>
                  </a14:m>
                </a:p>
              </p:txBody>
            </p:sp>
          </mc:Choice>
        </mc:AlternateContent>
      </p:grpSp>
      <p:grpSp>
        <p:nvGrpSpPr>
          <p:cNvPr id="39" name="c2-card-1"/>
          <p:cNvGrpSpPr/>
          <p:nvPr/>
        </p:nvGrpSpPr>
        <p:grpSpPr>
          <a:xfrm>
            <a:off x="6464618" y="1524000"/>
            <a:ext cx="5193982" cy="3334702"/>
            <a:chOff x="6464618" y="1524000"/>
            <a:chExt cx="5193982" cy="3334702"/>
          </a:xfrm>
        </p:grpSpPr>
        <p:sp>
          <p:nvSpPr>
            <p:cNvPr id="18" name="Rectangle 18"/>
            <p:cNvSpPr/>
            <p:nvPr/>
          </p:nvSpPr>
          <p:spPr>
            <a:xfrm>
              <a:off x="6464618" y="1524000"/>
              <a:ext cx="5193982" cy="3334702"/>
            </a:xfrm>
            <a:prstGeom prst="roundRect">
              <a:avLst>
                <a:gd name="adj" fmla="val 399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6474142" y="1657350"/>
              <a:ext cx="47625" cy="3068002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6700838" y="1722120"/>
              <a:ext cx="1276350" cy="247650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768274" y="1756410"/>
              <a:ext cx="114147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数值对比（补充）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084248" y="1756886"/>
              <a:ext cx="273947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部件1 与（部件2 ∥ 部件3）串联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693598" y="2100739"/>
              <a:ext cx="4171315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 = (0.9, 0.8, 0.7)，R = 0.9 × [1 − 0.2 × 0.3] =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0.846。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6700838" y="2666048"/>
              <a:ext cx="4759642" cy="424815"/>
            </a:xfrm>
            <a:prstGeom prst="rect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807833" y="2794635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估计量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9864090" y="2794635"/>
              <a:ext cx="11430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每个样本的方差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803326" y="321945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平均值法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9513189" y="3219450"/>
              <a:ext cx="143743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0.1303 = R(1 − R)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6700838" y="3510915"/>
              <a:ext cx="475964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0" name="Rectangle 30"/>
            <p:cNvSpPr/>
            <p:nvPr/>
          </p:nvSpPr>
          <p:spPr>
            <a:xfrm>
              <a:off x="6700838" y="3515678"/>
              <a:ext cx="4759642" cy="42481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803326" y="3643312"/>
              <a:ext cx="199110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控制变量法（b ≈ −0.360）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9513189" y="3643312"/>
              <a:ext cx="54528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0.0707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6700838" y="3934778"/>
              <a:ext cx="475964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803326" y="4068127"/>
              <a:ext cx="212841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对立变量法（每对算 2 次 φ）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9513189" y="4068127"/>
              <a:ext cx="54528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0.0593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6700838" y="2666048"/>
              <a:ext cx="4759642" cy="169735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7" name="Rectangle 37"/>
            <p:cNvSpPr/>
            <p:nvPr/>
          </p:nvSpPr>
          <p:spPr>
            <a:xfrm>
              <a:off x="9405938" y="2666048"/>
              <a:ext cx="9525" cy="169735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694742" y="4473892"/>
              <a:ext cx="425866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控制变量和对立变量的方差由 2×10⁶ 次 Python 模拟估计。</a:t>
              </a:r>
            </a:p>
          </p:txBody>
        </p:sp>
      </p:grpSp>
      <p:grpSp>
        <p:nvGrpSpPr>
          <p:cNvPr id="46" name="c2-callout-2"/>
          <p:cNvGrpSpPr/>
          <p:nvPr/>
        </p:nvGrpSpPr>
        <p:grpSpPr>
          <a:xfrm>
            <a:off x="6464618" y="5039678"/>
            <a:ext cx="5193982" cy="1018222"/>
            <a:chOff x="6464618" y="5039678"/>
            <a:chExt cx="5193982" cy="1018222"/>
          </a:xfrm>
        </p:grpSpPr>
        <p:sp>
          <p:nvSpPr>
            <p:cNvPr id="40" name="Rectangle 40"/>
            <p:cNvSpPr/>
            <p:nvPr/>
          </p:nvSpPr>
          <p:spPr>
            <a:xfrm>
              <a:off x="6464618" y="5039678"/>
              <a:ext cx="5193982" cy="1018222"/>
            </a:xfrm>
            <a:prstGeom prst="roundRect">
              <a:avLst>
                <a:gd name="adj" fmla="val 11225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44" name="Group 44"/>
            <p:cNvGrpSpPr/>
            <p:nvPr/>
          </p:nvGrpSpPr>
          <p:grpSpPr>
            <a:xfrm>
              <a:off x="6669405" y="5448300"/>
              <a:ext cx="200026" cy="200026"/>
              <a:chOff x="6669405" y="5448300"/>
              <a:chExt cx="200026" cy="200026"/>
            </a:xfrm>
          </p:grpSpPr>
          <p:sp>
            <p:nvSpPr>
              <p:cNvPr id="41" name="Freeform 41"/>
              <p:cNvSpPr/>
              <p:nvPr/>
            </p:nvSpPr>
            <p:spPr>
              <a:xfrm>
                <a:off x="6669405" y="5448300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42" name="Freeform 42"/>
              <p:cNvSpPr/>
              <p:nvPr/>
            </p:nvSpPr>
            <p:spPr>
              <a:xfrm>
                <a:off x="6769418" y="551497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43" name="Freeform 43"/>
              <p:cNvSpPr/>
              <p:nvPr/>
            </p:nvSpPr>
            <p:spPr>
              <a:xfrm>
                <a:off x="6758305" y="5548313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45" name="TextBox 45"/>
            <p:cNvSpPr txBox="1"/>
            <p:nvPr/>
          </p:nvSpPr>
          <p:spPr>
            <a:xfrm>
              <a:off x="6971729" y="5186839"/>
              <a:ext cx="4297553" cy="8044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与 2 个独立样本的平均（方差 0.0651）相比，对立变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量法只小一些：φ 只取 0、1，单调带来的负相关有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限。</a:t>
              </a:r>
            </a:p>
          </p:txBody>
        </p:sp>
      </p:grpSp>
      <p:grpSp>
        <p:nvGrpSpPr>
          <p:cNvPr id="4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7" name="TextBox 47"/>
            <p:cNvSpPr txBox="1"/>
            <p:nvPr/>
          </p:nvSpPr>
          <p:spPr>
            <a:xfrm>
              <a:off x="528447" y="6581299"/>
              <a:ext cx="198882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统计计算 · 第3章 随机模拟（上）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072706" cy="909257"/>
            <a:chOff x="520446" y="342900"/>
            <a:chExt cx="707270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989898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9634" y="407194"/>
              <a:ext cx="289838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第3章 随机模拟（上） · 3.5 方差缩减技术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07270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3.5.3 条件期望法：用 E(Y|X) 代替 Y 求平均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c1-text-1"/>
          <p:cNvGrpSpPr/>
          <p:nvPr/>
        </p:nvGrpSpPr>
        <p:grpSpPr>
          <a:xfrm>
            <a:off x="525780" y="1548765"/>
            <a:ext cx="4598670" cy="293370"/>
            <a:chOff x="525780" y="1548765"/>
            <a:chExt cx="4598670" cy="293370"/>
          </a:xfrm>
        </p:grpSpPr>
        <p:sp>
          <p:nvSpPr>
            <p:cNvPr id="7" name="TextBox 7"/>
            <p:cNvSpPr txBox="1"/>
            <p:nvPr/>
          </p:nvSpPr>
          <p:spPr>
            <a:xfrm>
              <a:off x="525780" y="1548765"/>
              <a:ext cx="45986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设变量 X 与 Y 不独立。根据 Rao-Blackwell 不等式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formula365"/>
              <p:cNvSpPr txBox="1">
                <a:spLocks noGrp="1"/>
              </p:cNvSpPr>
              <p:nvPr/>
            </p:nvSpPr>
            <p:spPr>
              <a:xfrm>
                <a:off x="533400" y="1973580"/>
                <a:ext cx="4977765" cy="495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r>
                        <m:rPr>
                          <m:sty m:val="p"/>
                        </m:rPr>
                        <a:rPr lang="zh-CN" sz="19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Var</m:t>
                      </m:r>
                      <m:d>
                        <m:dPr>
                          <m:begChr m:val="{"/>
                          <m:sepChr m:val=""/>
                          <m:endChr m:val="}"/>
                          <m:grow m:val="on"/>
                          <m:ctrlPr>
                            <a:rPr lang="zh-CN" sz="19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9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E</m:t>
                          </m:r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9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a:rPr lang="zh-CN" sz="19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Y</m:t>
                              </m:r>
                              <m:r>
                                <m:rPr>
                                  <m:sty m:val="p"/>
                                </m:rPr>
                                <a:rPr lang="zh-CN" sz="19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∣</m:t>
                              </m:r>
                              <m:r>
                                <a:rPr lang="zh-CN" sz="19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X</m:t>
                              </m:r>
                            </m:e>
                          </m:d>
                        </m:e>
                      </m:d>
                      <m:r>
                        <m:rPr>
                          <m:sty m:val="p"/>
                        </m:rPr>
                        <a:rPr lang="zh-CN" sz="19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≤</m:t>
                      </m:r>
                      <m:r>
                        <m:rPr>
                          <m:sty m:val="p"/>
                        </m:rPr>
                        <a:rPr lang="zh-CN" sz="19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Var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9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9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Y</m:t>
                          </m:r>
                        </m:e>
                      </m:d>
                    </m:oMath>
                  </m:oMathPara>
                </a14:m>
              </a:p>
            </p:txBody>
          </p:sp>
        </mc:Choice>
      </mc:AlternateContent>
      <p:grpSp>
        <p:nvGrpSpPr>
          <p:cNvPr id="11" name="c1-text-3"/>
          <p:cNvGrpSpPr/>
          <p:nvPr/>
        </p:nvGrpSpPr>
        <p:grpSpPr>
          <a:xfrm>
            <a:off x="525780" y="2684145"/>
            <a:ext cx="217170" cy="293370"/>
            <a:chOff x="525780" y="2684145"/>
            <a:chExt cx="217170" cy="293370"/>
          </a:xfrm>
        </p:grpSpPr>
        <p:sp>
          <p:nvSpPr>
            <p:cNvPr id="10" name="TextBox 10"/>
            <p:cNvSpPr txBox="1"/>
            <p:nvPr/>
          </p:nvSpPr>
          <p:spPr>
            <a:xfrm>
              <a:off x="525780" y="2684145"/>
              <a:ext cx="2171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又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formula366"/>
              <p:cNvSpPr txBox="1">
                <a:spLocks noGrp="1"/>
              </p:cNvSpPr>
              <p:nvPr/>
            </p:nvSpPr>
            <p:spPr>
              <a:xfrm>
                <a:off x="533400" y="3108960"/>
                <a:ext cx="4977765" cy="495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zh-CN" sz="19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E</m:t>
                      </m:r>
                      <m:d>
                        <m:dPr>
                          <m:begChr m:val="{"/>
                          <m:sepChr m:val=""/>
                          <m:endChr m:val="}"/>
                          <m:grow m:val="on"/>
                          <m:ctrlPr>
                            <a:rPr lang="zh-CN" sz="19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9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E</m:t>
                          </m:r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9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a:rPr lang="zh-CN" sz="19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Y</m:t>
                              </m:r>
                              <m:r>
                                <m:rPr>
                                  <m:sty m:val="p"/>
                                </m:rPr>
                                <a:rPr lang="zh-CN" sz="19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∣</m:t>
                              </m:r>
                              <m:r>
                                <a:rPr lang="zh-CN" sz="19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X</m:t>
                              </m:r>
                            </m:e>
                          </m:d>
                        </m:e>
                      </m:d>
                      <m:r>
                        <m:rPr>
                          <m:sty m:val="p"/>
                        </m:rPr>
                        <a:rPr lang="zh-CN" sz="19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r>
                        <a:rPr lang="zh-CN" sz="19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EY</m:t>
                      </m:r>
                      <m:r>
                        <m:rPr>
                          <m:sty m:val="p"/>
                        </m:rPr>
                        <a:rPr lang="zh-CN" sz="19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r>
                        <a:rPr lang="zh-CN" sz="19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I</m:t>
                      </m:r>
                    </m:oMath>
                  </m:oMathPara>
                </a14:m>
              </a:p>
            </p:txBody>
          </p:sp>
        </mc:Choice>
      </mc:AlternateContent>
      <p:grpSp>
        <p:nvGrpSpPr>
          <p:cNvPr id="18" name="c1-card-5"/>
          <p:cNvGrpSpPr/>
          <p:nvPr/>
        </p:nvGrpSpPr>
        <p:grpSpPr>
          <a:xfrm>
            <a:off x="533400" y="3794760"/>
            <a:ext cx="4977765" cy="2528888"/>
            <a:chOff x="533400" y="3794760"/>
            <a:chExt cx="4977765" cy="2528888"/>
          </a:xfrm>
        </p:grpSpPr>
        <p:sp>
          <p:nvSpPr>
            <p:cNvPr id="13" name="Rectangle 13"/>
            <p:cNvSpPr/>
            <p:nvPr/>
          </p:nvSpPr>
          <p:spPr>
            <a:xfrm>
              <a:off x="533400" y="3794760"/>
              <a:ext cx="4977765" cy="2528888"/>
            </a:xfrm>
            <a:prstGeom prst="roundRect">
              <a:avLst>
                <a:gd name="adj" fmla="val 5273"/>
              </a:avLst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742950" y="4004310"/>
              <a:ext cx="2520315" cy="257175"/>
            </a:xfrm>
            <a:prstGeom prst="roundRect">
              <a:avLst>
                <a:gd name="adj" fmla="val 50000"/>
              </a:avLst>
            </a:prstGeom>
            <a:solidFill>
              <a:srgbClr val="23613D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67575" y="4040029"/>
              <a:ext cx="247106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条件期望法（Rao-Blackwell 方法）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35330" y="4381500"/>
              <a:ext cx="400621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对 Z = E(Y|X) 抽样，用 Z 的样本平均值估计 I =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EY，比直接用 Y 的样本平均值精度更高。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36473" y="4999196"/>
              <a:ext cx="3369818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前提是 E(Y|X) 能写出解析式；缩小的方差正是</a:t>
              </a:r>
              <a:br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E[Var(Y|X)]。</a:t>
              </a:r>
            </a:p>
          </p:txBody>
        </p:sp>
      </p:grpSp>
      <p:grpSp>
        <p:nvGrpSpPr>
          <p:cNvPr id="24" name="c2-card-1"/>
          <p:cNvGrpSpPr/>
          <p:nvPr/>
        </p:nvGrpSpPr>
        <p:grpSpPr>
          <a:xfrm>
            <a:off x="5815965" y="1524000"/>
            <a:ext cx="5842635" cy="1316355"/>
            <a:chOff x="5815965" y="1524000"/>
            <a:chExt cx="5842635" cy="1316355"/>
          </a:xfrm>
        </p:grpSpPr>
        <p:sp>
          <p:nvSpPr>
            <p:cNvPr id="19" name="Rectangle 19"/>
            <p:cNvSpPr/>
            <p:nvPr/>
          </p:nvSpPr>
          <p:spPr>
            <a:xfrm>
              <a:off x="5815965" y="1524000"/>
              <a:ext cx="5842635" cy="1316355"/>
            </a:xfrm>
            <a:prstGeom prst="roundRect">
              <a:avLst>
                <a:gd name="adj" fmla="val 1013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0" name="Rectangle 20"/>
            <p:cNvSpPr/>
            <p:nvPr/>
          </p:nvSpPr>
          <p:spPr>
            <a:xfrm>
              <a:off x="5825490" y="1657350"/>
              <a:ext cx="47625" cy="1049655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6063615" y="1733550"/>
              <a:ext cx="680085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148411" y="1769269"/>
              <a:ext cx="51049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例14.5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055995" y="2110740"/>
              <a:ext cx="517779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设 X ~ p(x)，ε ~ N(0, σ²) 且与 X 独立，Y = ψ(X) + ε，估计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 = EY。</a:t>
              </a:r>
            </a:p>
          </p:txBody>
        </p:sp>
      </p:grpSp>
      <p:grpSp>
        <p:nvGrpSpPr>
          <p:cNvPr id="34" name="c2-steps-2"/>
          <p:cNvGrpSpPr/>
          <p:nvPr/>
        </p:nvGrpSpPr>
        <p:grpSpPr>
          <a:xfrm>
            <a:off x="5815965" y="3040380"/>
            <a:ext cx="5619548" cy="1462373"/>
            <a:chOff x="5815965" y="3040380"/>
            <a:chExt cx="5619548" cy="1462373"/>
          </a:xfrm>
        </p:grpSpPr>
        <p:sp>
          <p:nvSpPr>
            <p:cNvPr id="25" name="Rectangle 25"/>
            <p:cNvSpPr/>
            <p:nvPr/>
          </p:nvSpPr>
          <p:spPr>
            <a:xfrm>
              <a:off x="5949315" y="3183255"/>
              <a:ext cx="19050" cy="8858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6" name="Ellipse 26"/>
            <p:cNvSpPr/>
            <p:nvPr/>
          </p:nvSpPr>
          <p:spPr>
            <a:xfrm>
              <a:off x="5815965" y="3040380"/>
              <a:ext cx="285750" cy="28575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5909589" y="311419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8" name="Ellipse 28"/>
            <p:cNvSpPr/>
            <p:nvPr/>
          </p:nvSpPr>
          <p:spPr>
            <a:xfrm>
              <a:off x="5815965" y="3926205"/>
              <a:ext cx="285750" cy="28575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5909589" y="400002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227445" y="3074670"/>
              <a:ext cx="120511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法1 平均值法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228588" y="3368516"/>
              <a:ext cx="4865370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用条件分布抽样法对 (X, Y) 抽样：从 p 抽 N 个 Xᵢ，独立地从 N(0,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σ²) 抽 N 个 εᵢ，令 Yᵢ = ψ(Xᵢ) + εᵢ，用 Yᵢ 的样本平均值估计 EY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227445" y="3960495"/>
              <a:ext cx="140704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法2 条件期望法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228588" y="4253389"/>
              <a:ext cx="520692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注意 E(Y|X) = ψ(X)，只对 X 抽样，用 ψ(Xᵢ) 的样本平均值估计 EY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35" name="formula367"/>
              <p:cNvSpPr txBox="1">
                <a:spLocks noGrp="1"/>
              </p:cNvSpPr>
              <p:nvPr/>
            </p:nvSpPr>
            <p:spPr>
              <a:xfrm>
                <a:off x="5815965" y="4681538"/>
                <a:ext cx="5842635" cy="66865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r>
                        <m:rPr>
                          <m:sty m:val="p"/>
                        </m:rPr>
                        <a:rPr lang="zh-CN" sz="19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Var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9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sSub>
                            <m:e>
                              <m:acc>
                                <m:accPr>
                                  <m:chr m:val="ˆ"/>
                                  <m:ctrlPr>
                                    <a:rPr lang="zh-CN" sz="19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accPr>
                                <m:e>
                                  <m:r>
                                    <a:rPr lang="zh-CN" sz="19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I</m:t>
                                  </m:r>
                                </m:e>
                              </m:acc>
                            </m:e>
                            <m:sub>
                              <m:r>
                                <a:rPr lang="zh-CN" sz="19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m:rPr>
                          <m:sty m:val="p"/>
                        </m:rPr>
                        <a:rPr lang="zh-CN" sz="19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f>
                        <m:fPr>
                          <m:type m:val="bar"/>
                          <m:ctrlPr>
                            <a:rPr lang="zh-CN" sz="19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zh-CN" sz="19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Var</m:t>
                          </m:r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9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a:rPr lang="zh-CN" sz="19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ψ</m:t>
                              </m:r>
                              <m:d>
                                <m:dPr>
                                  <m:begChr m:val="("/>
                                  <m:sepChr m:val=""/>
                                  <m:endChr m:val=")"/>
                                  <m:grow m:val="on"/>
                                  <m:ctrlPr>
                                    <a:rPr lang="zh-CN" sz="19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dPr>
                                <m:e>
                                  <m:sSub>
                                    <m:e>
                                      <m:r>
                                        <a:rPr lang="zh-CN" sz="195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X</m:t>
                                      </m:r>
                                    </m:e>
                                    <m:sub>
                                      <m:r>
                                        <a:rPr lang="zh-CN" sz="195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1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d>
                        </m:num>
                        <m:den>
                          <m:r>
                            <a:rPr lang="zh-CN" sz="19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N</m:t>
                          </m:r>
                        </m:den>
                      </m:f>
                      <m:r>
                        <m:rPr>
                          <m:sty m:val="p"/>
                        </m:rPr>
                        <a:rPr lang="zh-CN" sz="19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+</m:t>
                      </m:r>
                      <m:f>
                        <m:fPr>
                          <m:type m:val="bar"/>
                          <m:ctrlPr>
                            <a:rPr lang="zh-CN" sz="19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sSup>
                            <m:e>
                              <m:r>
                                <a:rPr lang="zh-CN" sz="19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σ</m:t>
                              </m:r>
                            </m:e>
                            <m:sup>
                              <m:r>
                                <a:rPr lang="zh-CN" sz="19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zh-CN" sz="19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N</m:t>
                          </m:r>
                        </m:den>
                      </m:f>
                    </m:oMath>
                  </m:oMathPara>
                </a14:m>
              </a:p>
            </p:txBody>
          </p:sp>
        </mc:Choice>
      </mc:AlternateContent>
      <p:grpSp>
        <p:nvGrpSpPr>
          <p:cNvPr id="42" name="c2-callout-4"/>
          <p:cNvGrpSpPr/>
          <p:nvPr/>
        </p:nvGrpSpPr>
        <p:grpSpPr>
          <a:xfrm>
            <a:off x="5815965" y="5540692"/>
            <a:ext cx="5842635" cy="782955"/>
            <a:chOff x="5815965" y="5540692"/>
            <a:chExt cx="5842635" cy="782955"/>
          </a:xfrm>
        </p:grpSpPr>
        <p:sp>
          <p:nvSpPr>
            <p:cNvPr id="36" name="Rectangle 36"/>
            <p:cNvSpPr/>
            <p:nvPr/>
          </p:nvSpPr>
          <p:spPr>
            <a:xfrm>
              <a:off x="5815965" y="5540692"/>
              <a:ext cx="5842635" cy="782955"/>
            </a:xfrm>
            <a:prstGeom prst="roundRect">
              <a:avLst>
                <a:gd name="adj" fmla="val 14599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40" name="Group 40"/>
            <p:cNvGrpSpPr/>
            <p:nvPr/>
          </p:nvGrpSpPr>
          <p:grpSpPr>
            <a:xfrm>
              <a:off x="6020753" y="5832158"/>
              <a:ext cx="200026" cy="200025"/>
              <a:chOff x="6020753" y="5832158"/>
              <a:chExt cx="200026" cy="200025"/>
            </a:xfrm>
          </p:grpSpPr>
          <p:sp>
            <p:nvSpPr>
              <p:cNvPr id="37" name="Freeform 37"/>
              <p:cNvSpPr/>
              <p:nvPr/>
            </p:nvSpPr>
            <p:spPr>
              <a:xfrm>
                <a:off x="6020753" y="583215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38" name="Freeform 38"/>
              <p:cNvSpPr/>
              <p:nvPr/>
            </p:nvSpPr>
            <p:spPr>
              <a:xfrm>
                <a:off x="6060491" y="587660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39" name="Freeform 39"/>
              <p:cNvSpPr/>
              <p:nvPr/>
            </p:nvSpPr>
            <p:spPr>
              <a:xfrm>
                <a:off x="6095207" y="598773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41" name="TextBox 41"/>
            <p:cNvSpPr txBox="1"/>
            <p:nvPr/>
          </p:nvSpPr>
          <p:spPr>
            <a:xfrm>
              <a:off x="6322695" y="5689282"/>
              <a:ext cx="4882515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法2 的方差只剩 Var(ψ(X₁))/N，把噪声的方差 σ²/N 整个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去掉，而且少产生一组随机数。</a:t>
              </a:r>
            </a:p>
          </p:txBody>
        </p:sp>
      </p:grpSp>
      <p:grpSp>
        <p:nvGrpSpPr>
          <p:cNvPr id="4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3" name="TextBox 43"/>
            <p:cNvSpPr txBox="1"/>
            <p:nvPr/>
          </p:nvSpPr>
          <p:spPr>
            <a:xfrm>
              <a:off x="528447" y="6581299"/>
              <a:ext cx="198882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统计计算 · 第3章 随机模拟（上）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177309" cy="909257"/>
            <a:chOff x="520446" y="342900"/>
            <a:chExt cx="717730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989898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9634" y="407194"/>
              <a:ext cx="289838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第3章 随机模拟（上） · 3.5 方差缩减技术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17730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例14.6 改进 π 的估计：从随机投点到条件期望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2" name="c1-card-1"/>
          <p:cNvGrpSpPr/>
          <p:nvPr/>
        </p:nvGrpSpPr>
        <p:grpSpPr>
          <a:xfrm>
            <a:off x="533400" y="1524000"/>
            <a:ext cx="5410200" cy="2388870"/>
            <a:chOff x="533400" y="1524000"/>
            <a:chExt cx="5410200" cy="238887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2388870"/>
            </a:xfrm>
            <a:prstGeom prst="roundRect">
              <a:avLst>
                <a:gd name="adj" fmla="val 5582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742950" y="1733550"/>
              <a:ext cx="1945005" cy="257175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789825" y="1769269"/>
              <a:ext cx="185125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法1 随机投点法（例10.1）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35330" y="2110740"/>
              <a:ext cx="4596765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(X, Y) 服从正方形 D = [−1, 1]² 上的均匀分布；η = 1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表示 (X, Y) 落入单位圆 C，η = 0 表示未落入，则 η ~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B(1, π/4)。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1" name="formula372"/>
                <p:cNvSpPr txBox="1">
                  <a:spLocks noGrp="1"/>
                </p:cNvSpPr>
                <p:nvPr/>
              </p:nvSpPr>
              <p:spPr>
                <a:xfrm>
                  <a:off x="742950" y="2992755"/>
                  <a:ext cx="4991100" cy="69151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sSub>
                          <m:e>
                            <m:acc>
                              <m:accPr>
                                <m:chr m:val="ˆ"/>
                                <m:ctrlP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accPr>
                              <m:e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π</m:t>
                                </m:r>
                              </m:e>
                            </m:acc>
                          </m:e>
                          <m:sub>
                            <m: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zh-CN" sz="16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f>
                          <m:fPr>
                            <m:type m:val="bar"/>
                            <m:ctrlP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4</m:t>
                            </m:r>
                          </m:num>
                          <m:den>
                            <m: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N</m:t>
                            </m:r>
                          </m:den>
                        </m:f>
                        <m:nary>
                          <m:naryPr>
                            <m:chr m:val="∑"/>
                            <m:limLoc m:val="undOvr"/>
                            <m:grow m:val="off"/>
                            <m:subHide m:val="off"/>
                            <m:supHide m:val="off"/>
                            <m:ctrlP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naryPr>
                          <m:sub>
                            <m: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i</m:t>
                            </m:r>
                            <m:r>
                              <m:rPr>
                                <m:sty m:val="p"/>
                              </m:rP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=</m:t>
                            </m:r>
                            <m: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sub>
                          <m:sup>
                            <m: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N</m:t>
                            </m:r>
                          </m:sup>
                          <m:e>
                            <m:sSub>
                              <m:e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η</m:t>
                                </m:r>
                              </m:e>
                              <m:sub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i</m:t>
                                </m:r>
                              </m:sub>
                            </m:sSub>
                          </m:e>
                        </m:nary>
                        <m:r>
                          <m:rPr>
                            <m:sty m:val="p"/>
                          </m:rPr>
                          <a:rPr lang="zh-CN" sz="16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,</m:t>
                        </m:r>
                        <m:r>
                          <a:rPr lang="zh-CN" sz="16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  </m:t>
                        </m:r>
                        <m:r>
                          <m:rPr>
                            <m:sty m:val="p"/>
                          </m:rPr>
                          <a:rPr lang="zh-CN" sz="16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Var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sSub>
                              <m:e>
                                <m:acc>
                                  <m:accPr>
                                    <m:chr m:val="ˆ"/>
                                    <m:ctrlPr>
                                      <a:rPr lang="zh-CN" sz="16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accPr>
                                  <m:e>
                                    <m:r>
                                      <a:rPr lang="zh-CN" sz="16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π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sub>
                            </m:sSub>
                          </m:e>
                        </m:d>
                        <m:r>
                          <m:rPr>
                            <m:sty m:val="p"/>
                          </m:rPr>
                          <a:rPr lang="zh-CN" sz="16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f>
                          <m:fPr>
                            <m:type m:val="bar"/>
                            <m:ctrlP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π</m:t>
                            </m:r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4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</m:t>
                                </m:r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π</m:t>
                                </m:r>
                              </m:e>
                            </m:d>
                          </m:num>
                          <m:den>
                            <m: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N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zh-CN" sz="16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≈</m:t>
                        </m:r>
                        <m:f>
                          <m:fPr>
                            <m:type m:val="bar"/>
                            <m:ctrlP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2.6968</m:t>
                            </m:r>
                          </m:num>
                          <m:den>
                            <m: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N</m:t>
                            </m:r>
                          </m:den>
                        </m:f>
                      </m:oMath>
                    </m:oMathPara>
                  </a14:m>
                </a:p>
              </p:txBody>
            </p:sp>
          </mc:Choice>
        </mc:AlternateContent>
      </p:grpSp>
      <p:grpSp>
        <p:nvGrpSpPr>
          <p:cNvPr id="14" name="c1-text-2"/>
          <p:cNvGrpSpPr/>
          <p:nvPr/>
        </p:nvGrpSpPr>
        <p:grpSpPr>
          <a:xfrm>
            <a:off x="525780" y="4128135"/>
            <a:ext cx="4900136" cy="588645"/>
            <a:chOff x="525780" y="4128135"/>
            <a:chExt cx="4900136" cy="588645"/>
          </a:xfrm>
        </p:grpSpPr>
        <p:sp>
          <p:nvSpPr>
            <p:cNvPr id="13" name="TextBox 13"/>
            <p:cNvSpPr txBox="1"/>
            <p:nvPr/>
          </p:nvSpPr>
          <p:spPr>
            <a:xfrm>
              <a:off x="525780" y="4128135"/>
              <a:ext cx="4900136" cy="5886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325"/>
                </a:lnSpc>
              </a:pPr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法2 条件期望法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：用 ζ = E(η|X) 的样本代替 η 来估计 Eη =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π/4。由于 Y ~ U(−1, 1)，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formula373"/>
              <p:cNvSpPr txBox="1">
                <a:spLocks noGrp="1"/>
              </p:cNvSpPr>
              <p:nvPr/>
            </p:nvSpPr>
            <p:spPr>
              <a:xfrm>
                <a:off x="533400" y="4848225"/>
                <a:ext cx="5410200" cy="7696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eqArr>
                        <m:eqArrPr>
                          <m:baseJc m:val="center"/>
                        </m:eqArrPr>
                        <m:e>
                          <m: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E</m:t>
                          </m:r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η</m:t>
                              </m:r>
                              <m:r>
                                <m:rPr>
                                  <m:sty m:val="p"/>
                                </m:rP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∣</m:t>
                              </m:r>
                              <m: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X</m:t>
                              </m:r>
                              <m:r>
                                <m:rPr>
                                  <m:sty m:val="p"/>
                                </m:rP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=</m:t>
                              </m:r>
                              <m: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x</m:t>
                              </m:r>
                            </m:e>
                          </m:d>
                          <m: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&amp;</m:t>
                          </m:r>
                          <m:r>
                            <m:rPr>
                              <m:sty m:val="p"/>
                            </m:rP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=</m:t>
                          </m:r>
                          <m: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P</m:t>
                          </m:r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sSup>
                                <m:e>
                                  <m:r>
                                    <a:rPr lang="zh-CN" sz="15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X</m:t>
                                  </m:r>
                                </m:e>
                                <m:sup>
                                  <m:r>
                                    <a:rPr lang="zh-CN" sz="15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m:rPr>
                                  <m:sty m:val="p"/>
                                </m:rP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+</m:t>
                              </m:r>
                              <m:sSup>
                                <m:e>
                                  <m:r>
                                    <a:rPr lang="zh-CN" sz="15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Y</m:t>
                                  </m:r>
                                </m:e>
                                <m:sup>
                                  <m:r>
                                    <a:rPr lang="zh-CN" sz="15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m:rPr>
                                  <m:sty m:val="p"/>
                                </m:rP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≤</m:t>
                              </m:r>
                              <m: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1</m:t>
                              </m:r>
                              <m:r>
                                <m:rPr>
                                  <m:sty m:val="p"/>
                                </m:rP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∣</m:t>
                              </m:r>
                              <m: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X</m:t>
                              </m:r>
                              <m:r>
                                <m:rPr>
                                  <m:sty m:val="p"/>
                                </m:rP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=</m:t>
                              </m:r>
                              <m: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x</m:t>
                              </m:r>
                            </m:e>
                          </m:d>
                          <m:r>
                            <m:rPr>
                              <m:sty m:val="p"/>
                            </m:rP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=</m:t>
                          </m:r>
                          <m: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P</m:t>
                          </m:r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sSup>
                                <m:e>
                                  <m:r>
                                    <a:rPr lang="zh-CN" sz="15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Y</m:t>
                                  </m:r>
                                </m:e>
                                <m:sup>
                                  <m:r>
                                    <a:rPr lang="zh-CN" sz="15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m:rPr>
                                  <m:sty m:val="p"/>
                                </m:rP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≤</m:t>
                              </m:r>
                              <m: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1</m:t>
                              </m:r>
                              <m:r>
                                <m:rPr>
                                  <m:sty m:val="p"/>
                                </m:rP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−</m:t>
                              </m:r>
                              <m:sSup>
                                <m:e>
                                  <m:r>
                                    <a:rPr lang="zh-CN" sz="15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x</m:t>
                                  </m:r>
                                </m:e>
                                <m:sup>
                                  <m:r>
                                    <a:rPr lang="zh-CN" sz="15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d>
                        </m:e>
                        <m:e>
                          <m: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&amp;</m:t>
                          </m:r>
                          <m:r>
                            <m:rPr>
                              <m:sty m:val="p"/>
                            </m:rP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=</m:t>
                          </m:r>
                          <m: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P</m:t>
                          </m:r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−</m:t>
                              </m:r>
                              <m:rad>
                                <m:radPr>
                                  <m:degHide m:val="on"/>
                                  <m:ctrlPr>
                                    <a:rPr lang="zh-CN" sz="15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zh-CN" sz="15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1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zh-CN" sz="15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−</m:t>
                                  </m:r>
                                  <m:sSup>
                                    <m:e>
                                      <m:r>
                                        <a:rPr lang="zh-CN" sz="158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x</m:t>
                                      </m:r>
                                    </m:e>
                                    <m:sup>
                                      <m:r>
                                        <a:rPr lang="zh-CN" sz="158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rad>
                              <m:r>
                                <m:rPr>
                                  <m:sty m:val="p"/>
                                </m:rP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≤</m:t>
                              </m:r>
                              <m: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Y</m:t>
                              </m:r>
                              <m:r>
                                <m:rPr>
                                  <m:sty m:val="p"/>
                                </m:rP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≤</m:t>
                              </m:r>
                              <m:rad>
                                <m:radPr>
                                  <m:degHide m:val="on"/>
                                  <m:ctrlPr>
                                    <a:rPr lang="zh-CN" sz="15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zh-CN" sz="15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1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zh-CN" sz="15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−</m:t>
                                  </m:r>
                                  <m:sSup>
                                    <m:e>
                                      <m:r>
                                        <a:rPr lang="zh-CN" sz="158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x</m:t>
                                      </m:r>
                                    </m:e>
                                    <m:sup>
                                      <m:r>
                                        <a:rPr lang="zh-CN" sz="158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rad>
                            </m:e>
                          </m:d>
                          <m:r>
                            <m:rPr>
                              <m:sty m:val="p"/>
                            </m:rP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=</m:t>
                          </m:r>
                          <m:rad>
                            <m:radPr>
                              <m:degHide m:val="on"/>
                              <m:ctrlP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radPr>
                            <m:deg/>
                            <m:e>
                              <m: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1</m:t>
                              </m:r>
                              <m:r>
                                <m:rPr>
                                  <m:sty m:val="p"/>
                                </m:rP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−</m:t>
                              </m:r>
                              <m:sSup>
                                <m:e>
                                  <m:r>
                                    <a:rPr lang="zh-CN" sz="15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x</m:t>
                                  </m:r>
                                </m:e>
                                <m:sup>
                                  <m:r>
                                    <a:rPr lang="zh-CN" sz="15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rad>
                        </m:e>
                      </m:eqArr>
                    </m:oMath>
                  </m:oMathPara>
                </a14:m>
              </a:p>
            </p:txBody>
          </p:sp>
        </mc:Choice>
      </mc:AlternateContent>
      <p:grpSp>
        <p:nvGrpSpPr>
          <p:cNvPr id="17" name="c2-text-1"/>
          <p:cNvGrpSpPr/>
          <p:nvPr/>
        </p:nvGrpSpPr>
        <p:grpSpPr>
          <a:xfrm>
            <a:off x="6240780" y="1548765"/>
            <a:ext cx="2768060" cy="293370"/>
            <a:chOff x="6240780" y="1548765"/>
            <a:chExt cx="2768060" cy="293370"/>
          </a:xfrm>
        </p:grpSpPr>
        <p:sp>
          <p:nvSpPr>
            <p:cNvPr id="16" name="TextBox 16"/>
            <p:cNvSpPr txBox="1"/>
            <p:nvPr/>
          </p:nvSpPr>
          <p:spPr>
            <a:xfrm>
              <a:off x="6240780" y="1548765"/>
              <a:ext cx="27680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可知 ζ = √(1 − X²)，其方差为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8" name="formula374"/>
              <p:cNvSpPr txBox="1">
                <a:spLocks noGrp="1"/>
              </p:cNvSpPr>
              <p:nvPr/>
            </p:nvSpPr>
            <p:spPr>
              <a:xfrm>
                <a:off x="6248400" y="1973580"/>
                <a:ext cx="5410200" cy="66865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r>
                        <m:rPr>
                          <m:sty m:val="p"/>
                        </m:rPr>
                        <a:rPr lang="zh-CN" sz="19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Var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9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9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ζ</m:t>
                          </m:r>
                        </m:e>
                      </m:d>
                      <m:r>
                        <m:rPr>
                          <m:sty m:val="p"/>
                        </m:rPr>
                        <a:rPr lang="zh-CN" sz="19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r>
                        <a:rPr lang="zh-CN" sz="19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E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9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9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  <m:r>
                            <m:rPr>
                              <m:sty m:val="p"/>
                            </m:rPr>
                            <a:rPr lang="zh-CN" sz="19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−</m:t>
                          </m:r>
                          <m:sSup>
                            <m:e>
                              <m:r>
                                <a:rPr lang="zh-CN" sz="19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X</m:t>
                              </m:r>
                            </m:e>
                            <m:sup>
                              <m:r>
                                <a:rPr lang="zh-CN" sz="19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r>
                        <m:rPr>
                          <m:sty m:val="p"/>
                        </m:rPr>
                        <a:rPr lang="zh-CN" sz="19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−</m:t>
                      </m:r>
                      <m:sSup>
                        <m:e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9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a:rPr lang="zh-CN" sz="19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Eζ</m:t>
                              </m:r>
                            </m:e>
                          </m:d>
                        </m:e>
                        <m:sup>
                          <m:r>
                            <a:rPr lang="zh-CN" sz="19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</m:t>
                          </m:r>
                        </m:sup>
                      </m:sSup>
                      <m:r>
                        <m:rPr>
                          <m:sty m:val="p"/>
                        </m:rPr>
                        <a:rPr lang="zh-CN" sz="19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f>
                        <m:fPr>
                          <m:type m:val="bar"/>
                          <m:ctrlPr>
                            <a:rPr lang="zh-CN" sz="19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zh-CN" sz="19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</m:t>
                          </m:r>
                        </m:num>
                        <m:den>
                          <m:r>
                            <a:rPr lang="zh-CN" sz="19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3</m:t>
                          </m:r>
                        </m:den>
                      </m:f>
                      <m:r>
                        <m:rPr>
                          <m:sty m:val="p"/>
                        </m:rPr>
                        <a:rPr lang="zh-CN" sz="19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−</m:t>
                      </m:r>
                      <m:f>
                        <m:fPr>
                          <m:type m:val="bar"/>
                          <m:ctrlPr>
                            <a:rPr lang="zh-CN" sz="19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sSup>
                            <m:e>
                              <m:r>
                                <a:rPr lang="zh-CN" sz="19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π</m:t>
                              </m:r>
                            </m:e>
                            <m:sup>
                              <m:r>
                                <a:rPr lang="zh-CN" sz="19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zh-CN" sz="19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16</m:t>
                          </m:r>
                        </m:den>
                      </m:f>
                    </m:oMath>
                  </m:oMathPara>
                </a14:m>
              </a:p>
            </p:txBody>
          </p:sp>
        </mc:Choice>
      </mc:AlternateContent>
      <p:grpSp>
        <p:nvGrpSpPr>
          <p:cNvPr id="24" name="c2-card-3"/>
          <p:cNvGrpSpPr/>
          <p:nvPr/>
        </p:nvGrpSpPr>
        <p:grpSpPr>
          <a:xfrm>
            <a:off x="6248400" y="2832735"/>
            <a:ext cx="5410200" cy="1880235"/>
            <a:chOff x="6248400" y="2832735"/>
            <a:chExt cx="5410200" cy="1880235"/>
          </a:xfrm>
        </p:grpSpPr>
        <p:sp>
          <p:nvSpPr>
            <p:cNvPr id="19" name="Rectangle 19"/>
            <p:cNvSpPr/>
            <p:nvPr/>
          </p:nvSpPr>
          <p:spPr>
            <a:xfrm>
              <a:off x="6248400" y="2832735"/>
              <a:ext cx="5410200" cy="1880235"/>
            </a:xfrm>
            <a:prstGeom prst="roundRect">
              <a:avLst>
                <a:gd name="adj" fmla="val 7092"/>
              </a:avLst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6457950" y="3042285"/>
              <a:ext cx="1062990" cy="257175"/>
            </a:xfrm>
            <a:prstGeom prst="roundRect">
              <a:avLst>
                <a:gd name="adj" fmla="val 50000"/>
              </a:avLst>
            </a:prstGeom>
            <a:solidFill>
              <a:srgbClr val="23613D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531407" y="3078004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条件期望估计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2" name="formula375"/>
                <p:cNvSpPr txBox="1">
                  <a:spLocks noGrp="1"/>
                </p:cNvSpPr>
                <p:nvPr/>
              </p:nvSpPr>
              <p:spPr>
                <a:xfrm>
                  <a:off x="6457950" y="3394710"/>
                  <a:ext cx="4991100" cy="75438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sSub>
                          <m:e>
                            <m:acc>
                              <m:accPr>
                                <m:chr m:val="ˆ"/>
                                <m:ctrlPr>
                                  <a:rPr lang="zh-CN" sz="18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accPr>
                              <m:e>
                                <m:r>
                                  <a:rPr lang="zh-CN" sz="18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π</m:t>
                                </m:r>
                              </m:e>
                            </m:acc>
                          </m:e>
                          <m:sub>
                            <m:r>
                              <a:rPr lang="zh-CN" sz="18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2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zh-CN" sz="180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f>
                          <m:fPr>
                            <m:type m:val="bar"/>
                            <m:ctrlPr>
                              <a:rPr lang="zh-CN" sz="18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r>
                              <a:rPr lang="zh-CN" sz="18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4</m:t>
                            </m:r>
                          </m:num>
                          <m:den>
                            <m:r>
                              <a:rPr lang="zh-CN" sz="18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N</m:t>
                            </m:r>
                          </m:den>
                        </m:f>
                        <m:nary>
                          <m:naryPr>
                            <m:chr m:val="∑"/>
                            <m:limLoc m:val="undOvr"/>
                            <m:grow m:val="off"/>
                            <m:subHide m:val="off"/>
                            <m:supHide m:val="off"/>
                            <m:ctrlPr>
                              <a:rPr lang="zh-CN" sz="18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naryPr>
                          <m:sub>
                            <m:r>
                              <a:rPr lang="zh-CN" sz="18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i</m:t>
                            </m:r>
                            <m:r>
                              <m:rPr>
                                <m:sty m:val="p"/>
                              </m:rPr>
                              <a:rPr lang="zh-CN" sz="18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=</m:t>
                            </m:r>
                            <m:r>
                              <a:rPr lang="zh-CN" sz="18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sub>
                          <m:sup>
                            <m:r>
                              <a:rPr lang="zh-CN" sz="18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N</m:t>
                            </m:r>
                          </m:sup>
                          <m:e>
                            <m:rad>
                              <m:radPr>
                                <m:degHide m:val="on"/>
                                <m:ctrlPr>
                                  <a:rPr lang="zh-CN" sz="18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zh-CN" sz="18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8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</m:t>
                                </m:r>
                                <m:sSubSup>
                                  <m:e>
                                    <m:r>
                                      <a:rPr lang="zh-CN" sz="180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X</m:t>
                                    </m:r>
                                  </m:e>
                                  <m:sub>
                                    <m:r>
                                      <a:rPr lang="zh-CN" sz="180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i</m:t>
                                    </m:r>
                                  </m:sub>
                                  <m:sup>
                                    <m:r>
                                      <a:rPr lang="zh-CN" sz="180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2</m:t>
                                    </m:r>
                                  </m:sup>
                                </m:sSubSup>
                              </m:e>
                            </m:rad>
                          </m:e>
                        </m:nary>
                        <m:r>
                          <m:rPr>
                            <m:sty m:val="p"/>
                          </m:rPr>
                          <a:rPr lang="zh-CN" sz="180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,</m:t>
                        </m:r>
                        <m:r>
                          <a:rPr lang="zh-CN" sz="180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  </m:t>
                        </m:r>
                        <m:r>
                          <m:rPr>
                            <m:sty m:val="p"/>
                          </m:rPr>
                          <a:rPr lang="zh-CN" sz="180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Var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8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sSub>
                              <m:e>
                                <m:acc>
                                  <m:accPr>
                                    <m:chr m:val="ˆ"/>
                                    <m:ctrlPr>
                                      <a:rPr lang="zh-CN" sz="180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accPr>
                                  <m:e>
                                    <m:r>
                                      <a:rPr lang="zh-CN" sz="180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π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zh-CN" sz="18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sub>
                            </m:sSub>
                          </m:e>
                        </m:d>
                        <m:r>
                          <m:rPr>
                            <m:sty m:val="p"/>
                          </m:rPr>
                          <a:rPr lang="zh-CN" sz="180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≈</m:t>
                        </m:r>
                        <m:f>
                          <m:fPr>
                            <m:type m:val="bar"/>
                            <m:ctrlPr>
                              <a:rPr lang="zh-CN" sz="18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r>
                              <a:rPr lang="zh-CN" sz="18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0.7971</m:t>
                            </m:r>
                          </m:num>
                          <m:den>
                            <m:r>
                              <a:rPr lang="zh-CN" sz="18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N</m:t>
                            </m:r>
                          </m:den>
                        </m:f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23" name="TextBox 23"/>
            <p:cNvSpPr txBox="1"/>
            <p:nvPr/>
          </p:nvSpPr>
          <p:spPr>
            <a:xfrm>
              <a:off x="6450330" y="4269105"/>
              <a:ext cx="289274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方差比 2.6968/0.7971 ≈ 3.4。</a:t>
              </a:r>
            </a:p>
          </p:txBody>
        </p:sp>
      </p:grpSp>
      <p:grpSp>
        <p:nvGrpSpPr>
          <p:cNvPr id="31" name="c2-callout-4"/>
          <p:cNvGrpSpPr/>
          <p:nvPr/>
        </p:nvGrpSpPr>
        <p:grpSpPr>
          <a:xfrm>
            <a:off x="6248400" y="4903470"/>
            <a:ext cx="5410200" cy="782955"/>
            <a:chOff x="6248400" y="4903470"/>
            <a:chExt cx="5410200" cy="782955"/>
          </a:xfrm>
        </p:grpSpPr>
        <p:sp>
          <p:nvSpPr>
            <p:cNvPr id="25" name="Rectangle 25"/>
            <p:cNvSpPr/>
            <p:nvPr/>
          </p:nvSpPr>
          <p:spPr>
            <a:xfrm>
              <a:off x="6248400" y="4903470"/>
              <a:ext cx="5410200" cy="782955"/>
            </a:xfrm>
            <a:prstGeom prst="roundRect">
              <a:avLst>
                <a:gd name="adj" fmla="val 14599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29" name="Group 29"/>
            <p:cNvGrpSpPr/>
            <p:nvPr/>
          </p:nvGrpSpPr>
          <p:grpSpPr>
            <a:xfrm>
              <a:off x="6453188" y="5194935"/>
              <a:ext cx="200026" cy="200025"/>
              <a:chOff x="6453188" y="5194935"/>
              <a:chExt cx="200026" cy="200025"/>
            </a:xfrm>
          </p:grpSpPr>
          <p:sp>
            <p:nvSpPr>
              <p:cNvPr id="26" name="Freeform 26"/>
              <p:cNvSpPr/>
              <p:nvPr/>
            </p:nvSpPr>
            <p:spPr>
              <a:xfrm>
                <a:off x="6453188" y="5194935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27" name="Freeform 27"/>
              <p:cNvSpPr/>
              <p:nvPr/>
            </p:nvSpPr>
            <p:spPr>
              <a:xfrm>
                <a:off x="6492926" y="5239385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28" name="Freeform 28"/>
              <p:cNvSpPr/>
              <p:nvPr/>
            </p:nvSpPr>
            <p:spPr>
              <a:xfrm>
                <a:off x="6527642" y="5350511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30" name="TextBox 30"/>
            <p:cNvSpPr txBox="1"/>
            <p:nvPr/>
          </p:nvSpPr>
          <p:spPr>
            <a:xfrm>
              <a:off x="6755130" y="5052060"/>
              <a:ext cx="4444365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ζ 只依赖 X²，而 U ~ U(0,1) 时 U² 与 X² 同分布，所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以可以改取 ζ = √(1 − U²)，只需一个随机数。</a:t>
              </a:r>
            </a:p>
          </p:txBody>
        </p:sp>
      </p:grpSp>
      <p:grpSp>
        <p:nvGrpSpPr>
          <p:cNvPr id="3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32" name="TextBox 32"/>
            <p:cNvSpPr txBox="1"/>
            <p:nvPr/>
          </p:nvSpPr>
          <p:spPr>
            <a:xfrm>
              <a:off x="528447" y="6581299"/>
              <a:ext cx="198882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统计计算 · 第3章 随机模拟（上）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076236" cy="909257"/>
            <a:chOff x="520446" y="342900"/>
            <a:chExt cx="607623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989898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9634" y="407194"/>
              <a:ext cx="289838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第3章 随机模拟（上） · 3.5 方差缩减技术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07623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例14.6 续：再叠加对立变量或控制变量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3" name="c1-card-1"/>
          <p:cNvGrpSpPr/>
          <p:nvPr/>
        </p:nvGrpSpPr>
        <p:grpSpPr>
          <a:xfrm>
            <a:off x="533400" y="1524000"/>
            <a:ext cx="5626418" cy="2412682"/>
            <a:chOff x="533400" y="1524000"/>
            <a:chExt cx="5626418" cy="241268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626418" cy="2412682"/>
            </a:xfrm>
            <a:prstGeom prst="roundRect">
              <a:avLst>
                <a:gd name="adj" fmla="val 5527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731520" y="1722120"/>
              <a:ext cx="1128712" cy="24765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02935" y="1756410"/>
              <a:ext cx="98493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法3 对立变量法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24281" y="2082641"/>
              <a:ext cx="449718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h(u) = √(1 − u²) 是 u ∈ (0, 1) 上的单调函数，构造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1" name="formula378"/>
                <p:cNvSpPr txBox="1">
                  <a:spLocks noGrp="1"/>
                </p:cNvSpPr>
                <p:nvPr/>
              </p:nvSpPr>
              <p:spPr>
                <a:xfrm>
                  <a:off x="731520" y="2377440"/>
                  <a:ext cx="5230178" cy="75438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sSub>
                          <m:e>
                            <m:acc>
                              <m:accPr>
                                <m:chr m:val="ˆ"/>
                                <m:ctrlPr>
                                  <a:rPr lang="zh-CN" sz="18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accPr>
                              <m:e>
                                <m:r>
                                  <a:rPr lang="zh-CN" sz="18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π</m:t>
                                </m:r>
                              </m:e>
                            </m:acc>
                          </m:e>
                          <m:sub>
                            <m:r>
                              <a:rPr lang="zh-CN" sz="18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3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zh-CN" sz="18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f>
                          <m:fPr>
                            <m:type m:val="bar"/>
                            <m:ctrlPr>
                              <a:rPr lang="zh-CN" sz="18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r>
                              <a:rPr lang="zh-CN" sz="18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4</m:t>
                            </m:r>
                          </m:num>
                          <m:den>
                            <m:r>
                              <a:rPr lang="zh-CN" sz="18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N</m:t>
                            </m:r>
                          </m:den>
                        </m:f>
                        <m:nary>
                          <m:naryPr>
                            <m:chr m:val="∑"/>
                            <m:limLoc m:val="undOvr"/>
                            <m:grow m:val="off"/>
                            <m:subHide m:val="off"/>
                            <m:supHide m:val="off"/>
                            <m:ctrlPr>
                              <a:rPr lang="zh-CN" sz="18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naryPr>
                          <m:sub>
                            <m:r>
                              <a:rPr lang="zh-CN" sz="18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i</m:t>
                            </m:r>
                            <m:r>
                              <m:rPr>
                                <m:sty m:val="p"/>
                              </m:rPr>
                              <a:rPr lang="zh-CN" sz="18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=</m:t>
                            </m:r>
                            <m:r>
                              <a:rPr lang="zh-CN" sz="18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sub>
                          <m:sup>
                            <m:r>
                              <a:rPr lang="zh-CN" sz="18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N</m:t>
                            </m:r>
                          </m:sup>
                          <m:e>
                            <m:f>
                              <m:fPr>
                                <m:type m:val="bar"/>
                                <m:ctrlPr>
                                  <a:rPr lang="zh-CN" sz="18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fPr>
                              <m:num>
                                <m:rad>
                                  <m:radPr>
                                    <m:degHide m:val="on"/>
                                    <m:ctrlPr>
                                      <a:rPr lang="zh-CN" sz="18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zh-CN" sz="18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1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zh-CN" sz="18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−</m:t>
                                    </m:r>
                                    <m:sSubSup>
                                      <m:e>
                                        <m:r>
                                          <a:rPr lang="zh-CN" sz="180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U</m:t>
                                        </m:r>
                                      </m:e>
                                      <m:sub>
                                        <m:r>
                                          <a:rPr lang="zh-CN" sz="180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i</m:t>
                                        </m:r>
                                      </m:sub>
                                      <m:sup>
                                        <m:r>
                                          <a:rPr lang="zh-CN" sz="180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2</m:t>
                                        </m:r>
                                      </m:sup>
                                    </m:sSubSup>
                                  </m:e>
                                </m:rad>
                                <m:r>
                                  <m:rPr>
                                    <m:sty m:val="p"/>
                                  </m:rPr>
                                  <a:rPr lang="zh-CN" sz="18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+</m:t>
                                </m:r>
                                <m:rad>
                                  <m:radPr>
                                    <m:degHide m:val="on"/>
                                    <m:ctrlPr>
                                      <a:rPr lang="zh-CN" sz="18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zh-CN" sz="18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1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zh-CN" sz="18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−</m:t>
                                    </m:r>
                                    <m:sSup>
                                      <m:e>
                                        <m:d>
                                          <m:dPr>
                                            <m:begChr m:val="("/>
                                            <m:sepChr m:val=""/>
                                            <m:endChr m:val=")"/>
                                            <m:grow m:val="on"/>
                                            <m:ctrlPr>
                                              <a:rPr lang="zh-CN" sz="1800" dirty="0">
                                                <a:solidFill>
                                                  <a:srgbClr val="1F2937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a:rPr lang="zh-CN" sz="1800" dirty="0">
                                                <a:solidFill>
                                                  <a:srgbClr val="1F2937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  <m:t>1</m:t>
                                            </m:r>
                                            <m:r>
                                              <m:rPr>
                                                <m:sty m:val="p"/>
                                              </m:rPr>
                                              <a:rPr lang="zh-CN" sz="1800" dirty="0">
                                                <a:solidFill>
                                                  <a:srgbClr val="1F2937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  <m:t>−</m:t>
                                            </m:r>
                                            <m:sSub>
                                              <m:e>
                                                <m:r>
                                                  <a:rPr lang="zh-CN" sz="1800" dirty="0">
                                                    <a:solidFill>
                                                      <a:srgbClr val="1F2937"/>
                                                    </a:solidFill>
                                                    <a:latin typeface="Cambria Math"/>
                                                    <a:ea typeface="Cambria Math"/>
                                                    <a:cs typeface="Cambria Math"/>
                                                  </a:rPr>
                                                  <m:t>U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zh-CN" sz="1800" dirty="0">
                                                    <a:solidFill>
                                                      <a:srgbClr val="1F2937"/>
                                                    </a:solidFill>
                                                    <a:latin typeface="Cambria Math"/>
                                                    <a:ea typeface="Cambria Math"/>
                                                    <a:cs typeface="Cambria Math"/>
                                                  </a:rPr>
                                                  <m:t>i</m:t>
                                                </m:r>
                                              </m:sub>
                                            </m:sSub>
                                          </m:e>
                                        </m:d>
                                      </m:e>
                                      <m:sup>
                                        <m:r>
                                          <a:rPr lang="zh-CN" sz="180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e>
                                </m:rad>
                              </m:num>
                              <m:den>
                                <m:r>
                                  <a:rPr lang="zh-CN" sz="18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den>
                            </m:f>
                          </m:e>
                        </m:nary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12" name="TextBox 12"/>
            <p:cNvSpPr txBox="1"/>
            <p:nvPr/>
          </p:nvSpPr>
          <p:spPr>
            <a:xfrm>
              <a:off x="724281" y="3244691"/>
              <a:ext cx="4802505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其中 Uᵢ 为 U(0,1) 随机数，Var ≈ 0.11/N，与法1 的方差比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约 25。</a:t>
              </a:r>
            </a:p>
          </p:txBody>
        </p:sp>
      </p:grpSp>
      <p:grpSp>
        <p:nvGrpSpPr>
          <p:cNvPr id="19" name="c1-card-2"/>
          <p:cNvGrpSpPr/>
          <p:nvPr/>
        </p:nvGrpSpPr>
        <p:grpSpPr>
          <a:xfrm>
            <a:off x="533400" y="4116705"/>
            <a:ext cx="5626418" cy="2153602"/>
            <a:chOff x="533400" y="4116705"/>
            <a:chExt cx="5626418" cy="2153602"/>
          </a:xfrm>
        </p:grpSpPr>
        <p:sp>
          <p:nvSpPr>
            <p:cNvPr id="14" name="Rectangle 14"/>
            <p:cNvSpPr/>
            <p:nvPr/>
          </p:nvSpPr>
          <p:spPr>
            <a:xfrm>
              <a:off x="533400" y="4116705"/>
              <a:ext cx="5626418" cy="2153602"/>
            </a:xfrm>
            <a:prstGeom prst="roundRect">
              <a:avLst>
                <a:gd name="adj" fmla="val 6192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731520" y="4314825"/>
              <a:ext cx="1128712" cy="24765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02935" y="4349115"/>
              <a:ext cx="98493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法4 控制变量法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24281" y="4675346"/>
              <a:ext cx="4973828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令 W = U² − 1/3，则 EW = 0，且 W 与 ξ = √(1 − U²) 负相关。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先做小规模模拟估计 Cov(ξ, W) 和 Var(W)，得 b = −Cov(ξ,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W)/Var(W) 的近似值，再用 ξ(b) = ξ + bW 代替 ξ 抽样。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25424" y="5533072"/>
              <a:ext cx="4789932" cy="4556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40"/>
                </a:lnSpc>
              </a:pPr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本例可精确算出 Cov(ξ, W) = −π/48，Var(W) = 4/45，b = 45π/192 ≈</a:t>
              </a:r>
              <a:br/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0.736。</a:t>
              </a:r>
            </a:p>
          </p:txBody>
        </p:sp>
      </p:grpSp>
      <p:grpSp>
        <p:nvGrpSpPr>
          <p:cNvPr id="45" name="c2-table-1"/>
          <p:cNvGrpSpPr/>
          <p:nvPr/>
        </p:nvGrpSpPr>
        <p:grpSpPr>
          <a:xfrm>
            <a:off x="6459284" y="1524000"/>
            <a:ext cx="5199316" cy="2588514"/>
            <a:chOff x="6459284" y="1524000"/>
            <a:chExt cx="5199316" cy="2588514"/>
          </a:xfrm>
        </p:grpSpPr>
        <p:sp>
          <p:nvSpPr>
            <p:cNvPr id="20" name="Rectangle 20"/>
            <p:cNvSpPr/>
            <p:nvPr/>
          </p:nvSpPr>
          <p:spPr>
            <a:xfrm>
              <a:off x="6464618" y="1524000"/>
              <a:ext cx="5193982" cy="424815"/>
            </a:xfrm>
            <a:prstGeom prst="rect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233285" y="1652588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方法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818306" y="1652588"/>
              <a:ext cx="63995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方差 × N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0398172" y="1652588"/>
              <a:ext cx="80254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与法1 相比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567106" y="2076450"/>
              <a:ext cx="9640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法1 随机投点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8865641" y="2076450"/>
              <a:ext cx="54528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2.6968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0748924" y="2076450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6464618" y="2367915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6464618" y="2372678"/>
              <a:ext cx="5193982" cy="42481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567106" y="2501265"/>
              <a:ext cx="9640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法2 条件期望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8865641" y="2501265"/>
              <a:ext cx="54528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0.7971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0466222" y="2501265"/>
              <a:ext cx="66644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约 1/3.4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6464618" y="2792730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567106" y="2926080"/>
              <a:ext cx="9640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法3 对立变量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8865641" y="2926080"/>
              <a:ext cx="54528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0.1097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0510647" y="2926080"/>
              <a:ext cx="57759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约 1/25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6464618" y="3216592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6464618" y="3221355"/>
              <a:ext cx="5193982" cy="42481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567106" y="3349942"/>
              <a:ext cx="9640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法4 控制变量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8865641" y="3349942"/>
              <a:ext cx="54528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0.0260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0466222" y="3349942"/>
              <a:ext cx="66644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约 1/104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6464618" y="1524000"/>
              <a:ext cx="5193982" cy="212217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2" name="Rectangle 42"/>
            <p:cNvSpPr/>
            <p:nvPr/>
          </p:nvSpPr>
          <p:spPr>
            <a:xfrm>
              <a:off x="8331518" y="1524000"/>
              <a:ext cx="9525" cy="212217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3" name="Rectangle 43"/>
            <p:cNvSpPr/>
            <p:nvPr/>
          </p:nvSpPr>
          <p:spPr>
            <a:xfrm>
              <a:off x="9934575" y="1524000"/>
              <a:ext cx="9525" cy="212217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6459284" y="3720465"/>
              <a:ext cx="4904613" cy="3920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70"/>
                </a:lnSpc>
              </a:pPr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法4 的数值原课件未给出，由精确积分算出并用模拟复核；法3 每个样本算两次平方</a:t>
              </a:r>
              <a:br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根</a:t>
              </a:r>
            </a:p>
          </p:txBody>
        </p:sp>
      </p:grpSp>
      <p:grpSp>
        <p:nvGrpSpPr>
          <p:cNvPr id="49" name="c2-code-2"/>
          <p:cNvGrpSpPr/>
          <p:nvPr/>
        </p:nvGrpSpPr>
        <p:grpSpPr>
          <a:xfrm>
            <a:off x="6464618" y="4251960"/>
            <a:ext cx="5193982" cy="2019300"/>
            <a:chOff x="6464618" y="4251960"/>
            <a:chExt cx="5193982" cy="2019300"/>
          </a:xfrm>
        </p:grpSpPr>
        <p:sp>
          <p:nvSpPr>
            <p:cNvPr id="46" name="Rectangle 46"/>
            <p:cNvSpPr/>
            <p:nvPr/>
          </p:nvSpPr>
          <p:spPr>
            <a:xfrm>
              <a:off x="6464618" y="4251960"/>
              <a:ext cx="5193982" cy="2019300"/>
            </a:xfrm>
            <a:prstGeom prst="roundRect">
              <a:avLst>
                <a:gd name="adj" fmla="val 4717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6593015" y="4403884"/>
              <a:ext cx="81205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R：法2 到法4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6592634" y="4665345"/>
              <a:ext cx="3384423" cy="15321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92"/>
                </a:lnSpc>
              </a:pP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N &lt;- 1e4; U &lt;- runif(N)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xi &lt;- sqrt(1 - U^2)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p2 &lt;- 4 * mean(xi)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p3 &lt;- 4 * mean((xi + sqrt(1 - (1 - U)^2)) / 2)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W  &lt;- U^2 - 1/3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b  &lt;- -cov(xi, W) / var(W)   </a:t>
              </a:r>
              <a:r>
                <a:rPr lang="zh-CN" sz="105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# 约 0.736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p4 &lt;- 4 * mean(xi + b * W)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c(p2, p3, p4)</a:t>
              </a:r>
            </a:p>
          </p:txBody>
        </p:sp>
      </p:grpSp>
      <p:grpSp>
        <p:nvGrpSpPr>
          <p:cNvPr id="5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0" name="TextBox 50"/>
            <p:cNvSpPr txBox="1"/>
            <p:nvPr/>
          </p:nvSpPr>
          <p:spPr>
            <a:xfrm>
              <a:off x="528447" y="6581299"/>
              <a:ext cx="198882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统计计算 · 第3章 随机模拟（上）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990885" cy="909257"/>
            <a:chOff x="520446" y="342900"/>
            <a:chExt cx="7990885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989898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9634" y="407194"/>
              <a:ext cx="289838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第3章 随机模拟（上） · 3.5 方差缩减技术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99088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3.5.4 随机数复用：比较两个系统时用同一组随机数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3" name="c1-card-1"/>
          <p:cNvGrpSpPr/>
          <p:nvPr/>
        </p:nvGrpSpPr>
        <p:grpSpPr>
          <a:xfrm>
            <a:off x="533400" y="1524000"/>
            <a:ext cx="5193982" cy="1654492"/>
            <a:chOff x="533400" y="1524000"/>
            <a:chExt cx="5193982" cy="165449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193982" cy="1654492"/>
            </a:xfrm>
            <a:prstGeom prst="roundRect">
              <a:avLst>
                <a:gd name="adj" fmla="val 806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387792"/>
            </a:xfrm>
            <a:prstGeom prst="roundRect">
              <a:avLst>
                <a:gd name="adj" fmla="val 50000"/>
              </a:avLst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58190" y="1710690"/>
              <a:ext cx="2682240" cy="238125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776603" y="1743551"/>
              <a:ext cx="264541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公共随机数法（Common Random Number）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51332" y="2054542"/>
              <a:ext cx="450570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亦称"相关采样""匹配流"，是方差缩减技术之一。在模拟过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程中针对不同的系统或配置采用 </a:t>
              </a:r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完全相同的随机数序列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。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52475" y="2608421"/>
              <a:ext cx="4563110" cy="4276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35"/>
                </a:lnSpc>
              </a:pPr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随机数序列相同，不同系统的运行结果之间存在正相关，从而缩小对两个</a:t>
              </a:r>
              <a:br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系统差异的估计方差。</a:t>
              </a:r>
            </a:p>
          </p:txBody>
        </p:sp>
      </p:grpSp>
      <p:grpSp>
        <p:nvGrpSpPr>
          <p:cNvPr id="27" name="c1-card-2"/>
          <p:cNvGrpSpPr/>
          <p:nvPr/>
        </p:nvGrpSpPr>
        <p:grpSpPr>
          <a:xfrm>
            <a:off x="533400" y="3348038"/>
            <a:ext cx="5193982" cy="2617470"/>
            <a:chOff x="533400" y="3348038"/>
            <a:chExt cx="5193982" cy="2617470"/>
          </a:xfrm>
        </p:grpSpPr>
        <p:sp>
          <p:nvSpPr>
            <p:cNvPr id="14" name="Rectangle 14"/>
            <p:cNvSpPr/>
            <p:nvPr/>
          </p:nvSpPr>
          <p:spPr>
            <a:xfrm>
              <a:off x="533400" y="3348038"/>
              <a:ext cx="5193982" cy="2617470"/>
            </a:xfrm>
            <a:prstGeom prst="roundRect">
              <a:avLst>
                <a:gd name="adj" fmla="val 509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5" name="Rectangle 15"/>
            <p:cNvSpPr/>
            <p:nvPr/>
          </p:nvSpPr>
          <p:spPr>
            <a:xfrm>
              <a:off x="542925" y="3481388"/>
              <a:ext cx="47625" cy="2350770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16" name="Rectangle 16"/>
            <p:cNvSpPr/>
            <p:nvPr/>
          </p:nvSpPr>
          <p:spPr>
            <a:xfrm>
              <a:off x="758190" y="3534728"/>
              <a:ext cx="334328" cy="23812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853961" y="3567589"/>
              <a:ext cx="14183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199960" y="3569970"/>
              <a:ext cx="23567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 件工作由两台相同机器处理</a:t>
              </a:r>
            </a:p>
          </p:txBody>
        </p:sp>
        <p:sp>
          <p:nvSpPr>
            <p:cNvPr id="19" name="Ellipse 19"/>
            <p:cNvSpPr/>
            <p:nvPr/>
          </p:nvSpPr>
          <p:spPr>
            <a:xfrm>
              <a:off x="766762" y="3951922"/>
              <a:ext cx="59055" cy="5905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922782" y="3895725"/>
              <a:ext cx="401193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两种排序策略：长工期工作优先、短工期工作优先</a:t>
              </a:r>
            </a:p>
          </p:txBody>
        </p:sp>
        <p:sp>
          <p:nvSpPr>
            <p:cNvPr id="21" name="Ellipse 21"/>
            <p:cNvSpPr/>
            <p:nvPr/>
          </p:nvSpPr>
          <p:spPr>
            <a:xfrm>
              <a:off x="766762" y="4251960"/>
              <a:ext cx="59055" cy="5905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922782" y="4195762"/>
              <a:ext cx="433425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Tⱼ 为处理第 j 件工作所用时间，T₁, …, Tₙ 是分布为 F 的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随机变量</a:t>
              </a:r>
            </a:p>
          </p:txBody>
        </p:sp>
        <p:sp>
          <p:nvSpPr>
            <p:cNvPr id="23" name="Ellipse 23"/>
            <p:cNvSpPr/>
            <p:nvPr/>
          </p:nvSpPr>
          <p:spPr>
            <a:xfrm>
              <a:off x="766762" y="4810125"/>
              <a:ext cx="59055" cy="5905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922782" y="4753928"/>
              <a:ext cx="4385691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g(t₁, …, tₙ)、h(t₁, …, tₙ) 分别为两种策略下处理完全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部工作的时间</a:t>
              </a:r>
            </a:p>
          </p:txBody>
        </p:sp>
        <p:sp>
          <p:nvSpPr>
            <p:cNvPr id="25" name="Ellipse 25"/>
            <p:cNvSpPr/>
            <p:nvPr/>
          </p:nvSpPr>
          <p:spPr>
            <a:xfrm>
              <a:off x="766762" y="5367338"/>
              <a:ext cx="59055" cy="5905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922782" y="5311140"/>
              <a:ext cx="4222814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θ₁ = E g(T)，θ₂ = E h(T)，要用随机模拟估计 θ = θ₁ −</a:t>
              </a:r>
              <a:br/>
              <a:r>
                <a:rPr lang="el-GR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θ₂</a:t>
              </a:r>
            </a:p>
          </p:txBody>
        </p:sp>
      </p:grpSp>
      <p:grpSp>
        <p:nvGrpSpPr>
          <p:cNvPr id="29" name="c2-text-1"/>
          <p:cNvGrpSpPr/>
          <p:nvPr/>
        </p:nvGrpSpPr>
        <p:grpSpPr>
          <a:xfrm>
            <a:off x="6025324" y="1545907"/>
            <a:ext cx="5148644" cy="529780"/>
            <a:chOff x="6025324" y="1545907"/>
            <a:chExt cx="5148644" cy="529780"/>
          </a:xfrm>
        </p:grpSpPr>
        <p:sp>
          <p:nvSpPr>
            <p:cNvPr id="28" name="TextBox 28"/>
            <p:cNvSpPr txBox="1"/>
            <p:nvPr/>
          </p:nvSpPr>
          <p:spPr>
            <a:xfrm>
              <a:off x="6025324" y="1545907"/>
              <a:ext cx="5148644" cy="5297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92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用随机向量 T 计算 g(T) 之后，计算 h 时用同样的 T，还是重新产生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T*？估计量 g(T) − h(T*) 的方差是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30" name="formula382"/>
              <p:cNvSpPr txBox="1">
                <a:spLocks noGrp="1"/>
              </p:cNvSpPr>
              <p:nvPr/>
            </p:nvSpPr>
            <p:spPr>
              <a:xfrm>
                <a:off x="6032182" y="2192655"/>
                <a:ext cx="5626418" cy="56959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eqArr>
                        <m:eqArrPr>
                          <m:baseJc m:val="center"/>
                        </m:eqArrPr>
                        <m:e>
                          <m:r>
                            <m:rPr>
                              <m:sty m:val="p"/>
                            </m:rP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Var</m:t>
                          </m:r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7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a:rPr lang="zh-CN" sz="17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g</m:t>
                              </m:r>
                              <m:d>
                                <m:dPr>
                                  <m:begChr m:val="("/>
                                  <m:sepChr m:val=""/>
                                  <m:endChr m:val=")"/>
                                  <m:grow m:val="on"/>
                                  <m:ctrlPr>
                                    <a:rPr lang="zh-CN" sz="17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sty m:val="b"/>
                                    </m:rPr>
                                    <a:rPr lang="zh-CN" sz="17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T</m:t>
                                  </m:r>
                                </m:e>
                              </m:d>
                              <m:r>
                                <m:rPr>
                                  <m:sty m:val="p"/>
                                </m:rPr>
                                <a:rPr lang="zh-CN" sz="17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−</m:t>
                              </m:r>
                              <m:r>
                                <a:rPr lang="zh-CN" sz="17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h</m:t>
                              </m:r>
                              <m:d>
                                <m:dPr>
                                  <m:begChr m:val="("/>
                                  <m:sepChr m:val=""/>
                                  <m:endChr m:val=")"/>
                                  <m:grow m:val="on"/>
                                  <m:ctrlPr>
                                    <a:rPr lang="zh-CN" sz="17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dPr>
                                <m:e>
                                  <m:sSup>
                                    <m:e>
                                      <m:r>
                                        <m:rPr>
                                          <m:sty m:val="b"/>
                                        </m:rPr>
                                        <a:rPr lang="zh-CN" sz="172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T</m:t>
                                      </m:r>
                                    </m:e>
                                    <m:sup>
                                      <m:r>
                                        <m:rPr>
                                          <m:sty m:val="p"/>
                                        </m:rPr>
                                        <a:rPr lang="zh-CN" sz="172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*</m:t>
                                      </m:r>
                                    </m:sup>
                                  </m:sSup>
                                </m:e>
                              </m:d>
                            </m:e>
                          </m:d>
                          <m:r>
                            <m:rPr>
                              <m:sty m:val="p"/>
                            </m:rP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=</m:t>
                          </m:r>
                          <m: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 xml:space="preserve"> </m:t>
                          </m:r>
                          <m: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&amp;</m:t>
                          </m:r>
                          <m:r>
                            <m:rPr>
                              <m:sty m:val="p"/>
                            </m:rP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Var</m:t>
                          </m:r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7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a:rPr lang="zh-CN" sz="17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g</m:t>
                              </m:r>
                              <m:d>
                                <m:dPr>
                                  <m:begChr m:val="("/>
                                  <m:sepChr m:val=""/>
                                  <m:endChr m:val=")"/>
                                  <m:grow m:val="on"/>
                                  <m:ctrlPr>
                                    <a:rPr lang="zh-CN" sz="17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sty m:val="b"/>
                                    </m:rPr>
                                    <a:rPr lang="zh-CN" sz="17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T</m:t>
                                  </m:r>
                                </m:e>
                              </m:d>
                            </m:e>
                          </m:d>
                          <m:r>
                            <m:rPr>
                              <m:sty m:val="p"/>
                            </m:rP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+</m:t>
                          </m:r>
                          <m:r>
                            <m:rPr>
                              <m:sty m:val="p"/>
                            </m:rP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Var</m:t>
                          </m:r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7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a:rPr lang="zh-CN" sz="17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h</m:t>
                              </m:r>
                              <m:d>
                                <m:dPr>
                                  <m:begChr m:val="("/>
                                  <m:sepChr m:val=""/>
                                  <m:endChr m:val=")"/>
                                  <m:grow m:val="on"/>
                                  <m:ctrlPr>
                                    <a:rPr lang="zh-CN" sz="17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sty m:val="b"/>
                                    </m:rPr>
                                    <a:rPr lang="zh-CN" sz="17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T</m:t>
                                  </m:r>
                                </m:e>
                              </m:d>
                            </m:e>
                          </m:d>
                        </m:e>
                        <m:e>
                          <m: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&amp;</m:t>
                          </m:r>
                          <m:r>
                            <m:rPr>
                              <m:sty m:val="p"/>
                            </m:rP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−</m:t>
                          </m:r>
                          <m: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</m:t>
                          </m:r>
                          <m: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 xml:space="preserve"> </m:t>
                          </m:r>
                          <m:r>
                            <m:rPr>
                              <m:sty m:val="p"/>
                            </m:rP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Cov</m:t>
                          </m:r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7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a:rPr lang="zh-CN" sz="17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g</m:t>
                              </m:r>
                              <m:d>
                                <m:dPr>
                                  <m:begChr m:val="("/>
                                  <m:sepChr m:val=""/>
                                  <m:endChr m:val=")"/>
                                  <m:grow m:val="on"/>
                                  <m:ctrlPr>
                                    <a:rPr lang="zh-CN" sz="17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sty m:val="b"/>
                                    </m:rPr>
                                    <a:rPr lang="zh-CN" sz="17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T</m:t>
                                  </m:r>
                                </m:e>
                              </m:d>
                              <m:r>
                                <m:rPr>
                                  <m:sty m:val="p"/>
                                </m:rPr>
                                <a:rPr lang="zh-CN" sz="17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,</m:t>
                              </m:r>
                              <m:r>
                                <a:rPr lang="zh-CN" sz="17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h</m:t>
                              </m:r>
                              <m:d>
                                <m:dPr>
                                  <m:begChr m:val="("/>
                                  <m:sepChr m:val=""/>
                                  <m:endChr m:val=")"/>
                                  <m:grow m:val="on"/>
                                  <m:ctrlPr>
                                    <a:rPr lang="zh-CN" sz="17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dPr>
                                <m:e>
                                  <m:sSup>
                                    <m:e>
                                      <m:r>
                                        <m:rPr>
                                          <m:sty m:val="b"/>
                                        </m:rPr>
                                        <a:rPr lang="zh-CN" sz="172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T</m:t>
                                      </m:r>
                                    </m:e>
                                    <m:sup>
                                      <m:r>
                                        <m:rPr>
                                          <m:sty m:val="p"/>
                                        </m:rPr>
                                        <a:rPr lang="zh-CN" sz="172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*</m:t>
                                      </m:r>
                                    </m:sup>
                                  </m:sSup>
                                </m:e>
                              </m:d>
                            </m:e>
                          </m:d>
                        </m:e>
                      </m:eqArr>
                    </m:oMath>
                  </m:oMathPara>
                </a14:m>
              </a:p>
            </p:txBody>
          </p:sp>
        </mc:Choice>
      </mc:AlternateContent>
      <p:grpSp>
        <p:nvGrpSpPr>
          <p:cNvPr id="32" name="c2-text-3"/>
          <p:cNvGrpSpPr/>
          <p:nvPr/>
        </p:nvGrpSpPr>
        <p:grpSpPr>
          <a:xfrm>
            <a:off x="6025324" y="2954655"/>
            <a:ext cx="5414391" cy="529780"/>
            <a:chOff x="6025324" y="2954655"/>
            <a:chExt cx="5414391" cy="529780"/>
          </a:xfrm>
        </p:grpSpPr>
        <p:sp>
          <p:nvSpPr>
            <p:cNvPr id="31" name="TextBox 31"/>
            <p:cNvSpPr txBox="1"/>
            <p:nvPr/>
          </p:nvSpPr>
          <p:spPr>
            <a:xfrm>
              <a:off x="6025324" y="2954655"/>
              <a:ext cx="5414391" cy="5297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92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T* 与 T 独立时协方差为 0；T* = T 时，处理时间长则两种策略的完工时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间都长，协方差为正，方差更小。所以 </a:t>
              </a:r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重复使用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同一个 T 效果较好。</a:t>
              </a:r>
            </a:p>
          </p:txBody>
        </p:sp>
      </p:grpSp>
      <p:grpSp>
        <p:nvGrpSpPr>
          <p:cNvPr id="50" name="c2-table-4"/>
          <p:cNvGrpSpPr/>
          <p:nvPr/>
        </p:nvGrpSpPr>
        <p:grpSpPr>
          <a:xfrm>
            <a:off x="6027230" y="3601402"/>
            <a:ext cx="5631370" cy="1463707"/>
            <a:chOff x="6027230" y="3601402"/>
            <a:chExt cx="5631370" cy="1463707"/>
          </a:xfrm>
        </p:grpSpPr>
        <p:sp>
          <p:nvSpPr>
            <p:cNvPr id="33" name="Rectangle 33"/>
            <p:cNvSpPr/>
            <p:nvPr/>
          </p:nvSpPr>
          <p:spPr>
            <a:xfrm>
              <a:off x="6032182" y="3601402"/>
              <a:ext cx="5626418" cy="400050"/>
            </a:xfrm>
            <a:prstGeom prst="rect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301881" y="3722846"/>
              <a:ext cx="226285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补充模拟：n = 10，Tⱼ ~ Exp(1)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9157589" y="3722846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差值的均值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0570147" y="3722846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差值的方差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129338" y="4122896"/>
              <a:ext cx="12090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同一个 T（复用）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8930640" y="4122896"/>
              <a:ext cx="50898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−0.844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10255568" y="4010978"/>
              <a:ext cx="1393508" cy="381000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10343198" y="4122896"/>
              <a:ext cx="4260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0.273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6032182" y="4396740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2" name="Rectangle 42"/>
            <p:cNvSpPr/>
            <p:nvPr/>
          </p:nvSpPr>
          <p:spPr>
            <a:xfrm>
              <a:off x="6032182" y="4401502"/>
              <a:ext cx="5626418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6129338" y="4522946"/>
              <a:ext cx="69793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独立的 T*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8930640" y="4522946"/>
              <a:ext cx="50898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−0.831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10343198" y="4522946"/>
              <a:ext cx="3431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6.22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6032182" y="3601402"/>
              <a:ext cx="5626418" cy="120015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7" name="Rectangle 47"/>
            <p:cNvSpPr/>
            <p:nvPr/>
          </p:nvSpPr>
          <p:spPr>
            <a:xfrm>
              <a:off x="8828722" y="3601402"/>
              <a:ext cx="9525" cy="12001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8" name="Rectangle 48"/>
            <p:cNvSpPr/>
            <p:nvPr/>
          </p:nvSpPr>
          <p:spPr>
            <a:xfrm>
              <a:off x="10241280" y="3601402"/>
              <a:ext cx="9525" cy="12001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6027230" y="4874419"/>
              <a:ext cx="414583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每次把工作按策略排序，依次交给当前负载较小的机器；重复 20000 次</a:t>
              </a:r>
            </a:p>
          </p:txBody>
        </p:sp>
      </p:grpSp>
      <p:grpSp>
        <p:nvGrpSpPr>
          <p:cNvPr id="56" name="c2-callout-5"/>
          <p:cNvGrpSpPr/>
          <p:nvPr/>
        </p:nvGrpSpPr>
        <p:grpSpPr>
          <a:xfrm>
            <a:off x="6032182" y="5196840"/>
            <a:ext cx="5626418" cy="729615"/>
            <a:chOff x="6032182" y="5196840"/>
            <a:chExt cx="5626418" cy="729615"/>
          </a:xfrm>
        </p:grpSpPr>
        <p:sp>
          <p:nvSpPr>
            <p:cNvPr id="51" name="Rectangle 51"/>
            <p:cNvSpPr/>
            <p:nvPr/>
          </p:nvSpPr>
          <p:spPr>
            <a:xfrm>
              <a:off x="6032182" y="5196840"/>
              <a:ext cx="5626418" cy="729615"/>
            </a:xfrm>
            <a:prstGeom prst="roundRect">
              <a:avLst>
                <a:gd name="adj" fmla="val 15666"/>
              </a:avLst>
            </a:prstGeom>
            <a:solidFill>
              <a:srgbClr val="2E7D4F"/>
            </a:solidFill>
            <a:ln>
              <a:noFill/>
            </a:ln>
          </p:spPr>
        </p:sp>
        <p:grpSp>
          <p:nvGrpSpPr>
            <p:cNvPr id="54" name="Group 54"/>
            <p:cNvGrpSpPr/>
            <p:nvPr/>
          </p:nvGrpSpPr>
          <p:grpSpPr>
            <a:xfrm>
              <a:off x="6236970" y="5461637"/>
              <a:ext cx="200023" cy="200023"/>
              <a:chOff x="6236970" y="5461637"/>
              <a:chExt cx="200023" cy="200023"/>
            </a:xfrm>
          </p:grpSpPr>
          <p:sp>
            <p:nvSpPr>
              <p:cNvPr id="52" name="Freeform 52"/>
              <p:cNvSpPr/>
              <p:nvPr/>
            </p:nvSpPr>
            <p:spPr>
              <a:xfrm>
                <a:off x="6236970" y="5461637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53" name="Freeform 53"/>
              <p:cNvSpPr/>
              <p:nvPr/>
            </p:nvSpPr>
            <p:spPr>
              <a:xfrm>
                <a:off x="6370320" y="552831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55" name="TextBox 55"/>
            <p:cNvSpPr txBox="1"/>
            <p:nvPr/>
          </p:nvSpPr>
          <p:spPr>
            <a:xfrm>
              <a:off x="6539674" y="5342573"/>
              <a:ext cx="4591431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复用随机数后差值方差缩小约 23 倍，估计出的差异几乎只反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映策略本身。</a:t>
              </a:r>
            </a:p>
          </p:txBody>
        </p:sp>
      </p:grpSp>
      <p:grpSp>
        <p:nvGrpSpPr>
          <p:cNvPr id="5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7" name="TextBox 57"/>
            <p:cNvSpPr txBox="1"/>
            <p:nvPr/>
          </p:nvSpPr>
          <p:spPr>
            <a:xfrm>
              <a:off x="528447" y="6581299"/>
              <a:ext cx="198882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统计计算 · 第3章 随机模拟（上）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449360" cy="909257"/>
            <a:chOff x="520446" y="342900"/>
            <a:chExt cx="7449360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989898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9634" y="407194"/>
              <a:ext cx="289838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第3章 随机模拟（上） · 3.5 方差缩减技术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44936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例14.8 比较两个方差估计量：同一批样本算两次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c1-text-1"/>
          <p:cNvGrpSpPr/>
          <p:nvPr/>
        </p:nvGrpSpPr>
        <p:grpSpPr>
          <a:xfrm>
            <a:off x="526542" y="1545907"/>
            <a:ext cx="5220738" cy="264033"/>
            <a:chOff x="526542" y="1545907"/>
            <a:chExt cx="5220738" cy="264033"/>
          </a:xfrm>
        </p:grpSpPr>
        <p:sp>
          <p:nvSpPr>
            <p:cNvPr id="7" name="TextBox 7"/>
            <p:cNvSpPr txBox="1"/>
            <p:nvPr/>
          </p:nvSpPr>
          <p:spPr>
            <a:xfrm>
              <a:off x="526542" y="1545907"/>
              <a:ext cx="52207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对正态总体 X ~ N(μ, σ²) 的样本 X₁, …, Xₙ，方差有两种估计：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formula398"/>
              <p:cNvSpPr txBox="1">
                <a:spLocks noGrp="1"/>
              </p:cNvSpPr>
              <p:nvPr/>
            </p:nvSpPr>
            <p:spPr>
              <a:xfrm>
                <a:off x="533400" y="1926908"/>
                <a:ext cx="5410200" cy="72294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sSubSup>
                        <m:e>
                          <m:acc>
                            <m:accPr>
                              <m:chr m:val="ˆ"/>
                              <m:ctrlPr>
                                <a:rPr lang="zh-CN" sz="17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accPr>
                            <m:e>
                              <m:r>
                                <a:rPr lang="zh-CN" sz="17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σ</m:t>
                              </m:r>
                            </m:e>
                          </m:acc>
                        </m:e>
                        <m:sub>
                          <m: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sub>
                        <m:sup>
                          <m: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</m:t>
                          </m:r>
                        </m:sup>
                      </m:sSubSup>
                      <m:r>
                        <m:rPr>
                          <m:sty m:val="p"/>
                        </m:rPr>
                        <a:rPr lang="zh-CN" sz="17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f>
                        <m:fPr>
                          <m:type m:val="bar"/>
                          <m:ctrlP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num>
                        <m:den>
                          <m: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n</m:t>
                          </m:r>
                          <m:r>
                            <m:rPr>
                              <m:sty m:val="p"/>
                            </m:rP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−</m:t>
                          </m:r>
                          <m: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den>
                      </m:f>
                      <m:nary>
                        <m:naryPr>
                          <m:chr m:val="∑"/>
                          <m:limLoc m:val="undOvr"/>
                          <m:grow m:val="off"/>
                          <m:subHide m:val="off"/>
                          <m:supHide m:val="off"/>
                          <m:ctrlP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naryPr>
                        <m:sub>
                          <m: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i</m:t>
                          </m:r>
                          <m:r>
                            <m:rPr>
                              <m:sty m:val="p"/>
                            </m:rP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=</m:t>
                          </m:r>
                          <m: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sub>
                        <m:sup>
                          <m: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n</m:t>
                          </m:r>
                        </m:sup>
                        <m:e>
                          <m:sSup>
                            <m:e>
                              <m:d>
                                <m:dPr>
                                  <m:begChr m:val="("/>
                                  <m:sepChr m:val=""/>
                                  <m:endChr m:val=")"/>
                                  <m:grow m:val="on"/>
                                  <m:ctrlPr>
                                    <a:rPr lang="zh-CN" sz="17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dPr>
                                <m:e>
                                  <m:sSub>
                                    <m:e>
                                      <m:r>
                                        <a:rPr lang="zh-CN" sz="172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X</m:t>
                                      </m:r>
                                    </m:e>
                                    <m:sub>
                                      <m:r>
                                        <a:rPr lang="zh-CN" sz="172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i</m:t>
                                      </m:r>
                                    </m:sub>
                                  </m:sSub>
                                  <m:r>
                                    <m:rPr>
                                      <m:sty m:val="p"/>
                                    </m:rPr>
                                    <a:rPr lang="zh-CN" sz="17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−</m:t>
                                  </m:r>
                                  <m:acc>
                                    <m:accPr>
                                      <m:chr m:val="̅"/>
                                      <m:ctrlPr>
                                        <a:rPr lang="zh-CN" sz="172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zh-CN" sz="172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X</m:t>
                                      </m:r>
                                    </m:e>
                                  </m:acc>
                                </m:e>
                              </m:d>
                            </m:e>
                            <m:sup>
                              <m:r>
                                <a:rPr lang="zh-CN" sz="17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  <m:r>
                        <m:rPr>
                          <m:sty m:val="p"/>
                        </m:rPr>
                        <a:rPr lang="zh-CN" sz="17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,</m:t>
                      </m:r>
                      <m:r>
                        <a:rPr lang="zh-CN" sz="17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 xml:space="preserve">  </m:t>
                      </m:r>
                      <m:sSubSup>
                        <m:e>
                          <m:acc>
                            <m:accPr>
                              <m:chr m:val="ˆ"/>
                              <m:ctrlPr>
                                <a:rPr lang="zh-CN" sz="17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accPr>
                            <m:e>
                              <m:r>
                                <a:rPr lang="zh-CN" sz="17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σ</m:t>
                              </m:r>
                            </m:e>
                          </m:acc>
                        </m:e>
                        <m:sub>
                          <m: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</m:t>
                          </m:r>
                        </m:sub>
                        <m:sup>
                          <m: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</m:t>
                          </m:r>
                        </m:sup>
                      </m:sSubSup>
                      <m:r>
                        <m:rPr>
                          <m:sty m:val="p"/>
                        </m:rPr>
                        <a:rPr lang="zh-CN" sz="17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f>
                        <m:fPr>
                          <m:type m:val="bar"/>
                          <m:ctrlP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num>
                        <m:den>
                          <m: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n</m:t>
                          </m:r>
                        </m:den>
                      </m:f>
                      <m:nary>
                        <m:naryPr>
                          <m:chr m:val="∑"/>
                          <m:limLoc m:val="undOvr"/>
                          <m:grow m:val="off"/>
                          <m:subHide m:val="off"/>
                          <m:supHide m:val="off"/>
                          <m:ctrlP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naryPr>
                        <m:sub>
                          <m: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i</m:t>
                          </m:r>
                          <m:r>
                            <m:rPr>
                              <m:sty m:val="p"/>
                            </m:rP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=</m:t>
                          </m:r>
                          <m: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sub>
                        <m:sup>
                          <m: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n</m:t>
                          </m:r>
                        </m:sup>
                        <m:e>
                          <m:sSup>
                            <m:e>
                              <m:d>
                                <m:dPr>
                                  <m:begChr m:val="("/>
                                  <m:sepChr m:val=""/>
                                  <m:endChr m:val=")"/>
                                  <m:grow m:val="on"/>
                                  <m:ctrlPr>
                                    <a:rPr lang="zh-CN" sz="17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dPr>
                                <m:e>
                                  <m:sSub>
                                    <m:e>
                                      <m:r>
                                        <a:rPr lang="zh-CN" sz="172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X</m:t>
                                      </m:r>
                                    </m:e>
                                    <m:sub>
                                      <m:r>
                                        <a:rPr lang="zh-CN" sz="172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i</m:t>
                                      </m:r>
                                    </m:sub>
                                  </m:sSub>
                                  <m:r>
                                    <m:rPr>
                                      <m:sty m:val="p"/>
                                    </m:rPr>
                                    <a:rPr lang="zh-CN" sz="17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−</m:t>
                                  </m:r>
                                  <m:acc>
                                    <m:accPr>
                                      <m:chr m:val="̅"/>
                                      <m:ctrlPr>
                                        <a:rPr lang="zh-CN" sz="172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zh-CN" sz="172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X</m:t>
                                      </m:r>
                                    </m:e>
                                  </m:acc>
                                </m:e>
                              </m:d>
                            </m:e>
                            <m:sup>
                              <m:r>
                                <a:rPr lang="zh-CN" sz="17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</a:p>
            </p:txBody>
          </p:sp>
        </mc:Choice>
      </mc:AlternateContent>
      <p:grpSp>
        <p:nvGrpSpPr>
          <p:cNvPr id="11" name="c1-text-3"/>
          <p:cNvGrpSpPr/>
          <p:nvPr/>
        </p:nvGrpSpPr>
        <p:grpSpPr>
          <a:xfrm>
            <a:off x="526542" y="2842260"/>
            <a:ext cx="3421285" cy="264033"/>
            <a:chOff x="526542" y="2842260"/>
            <a:chExt cx="3421285" cy="264033"/>
          </a:xfrm>
        </p:grpSpPr>
        <p:sp>
          <p:nvSpPr>
            <p:cNvPr id="10" name="TextBox 10"/>
            <p:cNvSpPr txBox="1"/>
            <p:nvPr/>
          </p:nvSpPr>
          <p:spPr>
            <a:xfrm>
              <a:off x="526542" y="2842260"/>
              <a:ext cx="342128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比较偏差 bₖ 与均方误差 sₖ（k = 1, 2）：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formula399"/>
              <p:cNvSpPr txBox="1">
                <a:spLocks noGrp="1"/>
              </p:cNvSpPr>
              <p:nvPr/>
            </p:nvSpPr>
            <p:spPr>
              <a:xfrm>
                <a:off x="533400" y="3223260"/>
                <a:ext cx="5410200" cy="4381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sSub>
                        <m:e>
                          <m: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b</m:t>
                          </m:r>
                        </m:e>
                        <m:sub>
                          <m: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k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zh-CN" sz="17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r>
                        <a:rPr lang="zh-CN" sz="17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E</m:t>
                      </m:r>
                      <m:sSubSup>
                        <m:e>
                          <m:acc>
                            <m:accPr>
                              <m:chr m:val="ˆ"/>
                              <m:ctrlPr>
                                <a:rPr lang="zh-CN" sz="17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accPr>
                            <m:e>
                              <m:r>
                                <a:rPr lang="zh-CN" sz="17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σ</m:t>
                              </m:r>
                            </m:e>
                          </m:acc>
                        </m:e>
                        <m:sub>
                          <m: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k</m:t>
                          </m:r>
                        </m:sub>
                        <m:sup>
                          <m: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</m:t>
                          </m:r>
                        </m:sup>
                      </m:sSubSup>
                      <m:r>
                        <m:rPr>
                          <m:sty m:val="p"/>
                        </m:rPr>
                        <a:rPr lang="zh-CN" sz="17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−</m:t>
                      </m:r>
                      <m:sSup>
                        <m:e>
                          <m: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σ</m:t>
                          </m:r>
                        </m:e>
                        <m:sup>
                          <m: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</m:t>
                          </m:r>
                        </m:sup>
                      </m:sSup>
                      <m:r>
                        <m:rPr>
                          <m:sty m:val="p"/>
                        </m:rPr>
                        <a:rPr lang="zh-CN" sz="17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,</m:t>
                      </m:r>
                      <m:r>
                        <a:rPr lang="zh-CN" sz="17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 xml:space="preserve">  </m:t>
                      </m:r>
                      <m:sSub>
                        <m:e>
                          <m: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s</m:t>
                          </m:r>
                        </m:e>
                        <m:sub>
                          <m: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k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zh-CN" sz="17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r>
                        <a:rPr lang="zh-CN" sz="17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E</m:t>
                      </m:r>
                      <m:sSup>
                        <m:e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7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sSubSup>
                                <m:e>
                                  <m:acc>
                                    <m:accPr>
                                      <m:chr m:val="ˆ"/>
                                      <m:ctrlPr>
                                        <a:rPr lang="zh-CN" sz="172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zh-CN" sz="172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σ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zh-CN" sz="17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k</m:t>
                                  </m:r>
                                </m:sub>
                                <m:sup>
                                  <m:r>
                                    <a:rPr lang="zh-CN" sz="17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2</m:t>
                                  </m:r>
                                </m:sup>
                              </m:sSubSup>
                              <m:r>
                                <m:rPr>
                                  <m:sty m:val="p"/>
                                </m:rPr>
                                <a:rPr lang="zh-CN" sz="17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−</m:t>
                              </m:r>
                              <m:sSup>
                                <m:e>
                                  <m:r>
                                    <a:rPr lang="zh-CN" sz="17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σ</m:t>
                                  </m:r>
                                </m:e>
                                <m:sup>
                                  <m:r>
                                    <a:rPr lang="zh-CN" sz="17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d>
                        </m:e>
                        <m:sup>
                          <m: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</a:p>
            </p:txBody>
          </p:sp>
        </mc:Choice>
      </mc:AlternateContent>
      <p:grpSp>
        <p:nvGrpSpPr>
          <p:cNvPr id="16" name="c1-card-5"/>
          <p:cNvGrpSpPr/>
          <p:nvPr/>
        </p:nvGrpSpPr>
        <p:grpSpPr>
          <a:xfrm>
            <a:off x="533400" y="3830955"/>
            <a:ext cx="5410200" cy="1121092"/>
            <a:chOff x="533400" y="3830955"/>
            <a:chExt cx="5410200" cy="1121092"/>
          </a:xfrm>
        </p:grpSpPr>
        <p:sp>
          <p:nvSpPr>
            <p:cNvPr id="13" name="Rectangle 13"/>
            <p:cNvSpPr/>
            <p:nvPr/>
          </p:nvSpPr>
          <p:spPr>
            <a:xfrm>
              <a:off x="533400" y="3830955"/>
              <a:ext cx="5410200" cy="1121092"/>
            </a:xfrm>
            <a:prstGeom prst="roundRect">
              <a:avLst>
                <a:gd name="adj" fmla="val 1189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4" name="Rectangle 14"/>
            <p:cNvSpPr/>
            <p:nvPr/>
          </p:nvSpPr>
          <p:spPr>
            <a:xfrm>
              <a:off x="542925" y="3964305"/>
              <a:ext cx="47625" cy="854392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51332" y="4040505"/>
              <a:ext cx="4762881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理论值（补充）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：b₁ = 0，b₂ = −σ²/n；s₁ = 2σ⁴/(n − 1)，s₂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= (2n − 1)σ⁴/n²。n = 10、σ = 1 时 s₁ = 0.2222，s₂ =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0.19，差 0.0322。</a:t>
              </a:r>
            </a:p>
          </p:txBody>
        </p:sp>
      </p:grpSp>
      <p:grpSp>
        <p:nvGrpSpPr>
          <p:cNvPr id="18" name="c1-text-6"/>
          <p:cNvGrpSpPr/>
          <p:nvPr/>
        </p:nvGrpSpPr>
        <p:grpSpPr>
          <a:xfrm>
            <a:off x="526542" y="5144452"/>
            <a:ext cx="5123269" cy="264033"/>
            <a:chOff x="526542" y="5144452"/>
            <a:chExt cx="5123269" cy="264033"/>
          </a:xfrm>
        </p:grpSpPr>
        <p:sp>
          <p:nvSpPr>
            <p:cNvPr id="17" name="TextBox 17"/>
            <p:cNvSpPr txBox="1"/>
            <p:nvPr/>
          </p:nvSpPr>
          <p:spPr>
            <a:xfrm>
              <a:off x="526542" y="5144452"/>
              <a:ext cx="512326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模拟：重复生成 N 组样本，第 j 组算出两个估计值，再求平均：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9" name="formula400"/>
              <p:cNvSpPr txBox="1">
                <a:spLocks noGrp="1"/>
              </p:cNvSpPr>
              <p:nvPr/>
            </p:nvSpPr>
            <p:spPr>
              <a:xfrm>
                <a:off x="533400" y="5525452"/>
                <a:ext cx="5410200" cy="76676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sSub>
                        <m:e>
                          <m:acc>
                            <m:accPr>
                              <m:chr m:val="ˆ"/>
                              <m:ctrlPr>
                                <a:rPr lang="zh-CN" sz="17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accPr>
                            <m:e>
                              <m:r>
                                <a:rPr lang="zh-CN" sz="17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b</m:t>
                              </m:r>
                            </m:e>
                          </m:acc>
                        </m:e>
                        <m:sub>
                          <m: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k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zh-CN" sz="17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f>
                        <m:fPr>
                          <m:type m:val="bar"/>
                          <m:ctrlP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num>
                        <m:den>
                          <m: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N</m:t>
                          </m:r>
                        </m:den>
                      </m:f>
                      <m:nary>
                        <m:naryPr>
                          <m:chr m:val="∑"/>
                          <m:limLoc m:val="undOvr"/>
                          <m:grow m:val="off"/>
                          <m:subHide m:val="off"/>
                          <m:supHide m:val="off"/>
                          <m:ctrlP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naryPr>
                        <m:sub>
                          <m: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j</m:t>
                          </m:r>
                          <m:r>
                            <m:rPr>
                              <m:sty m:val="p"/>
                            </m:rP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=</m:t>
                          </m:r>
                          <m: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sub>
                        <m:sup>
                          <m: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N</m:t>
                          </m:r>
                        </m:sup>
                        <m:e>
                          <m:sSubSup>
                            <m:e>
                              <m:acc>
                                <m:accPr>
                                  <m:chr m:val="ˆ"/>
                                  <m:ctrlPr>
                                    <a:rPr lang="zh-CN" sz="17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accPr>
                                <m:e>
                                  <m:r>
                                    <a:rPr lang="zh-CN" sz="17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σ</m:t>
                                  </m:r>
                                </m:e>
                              </m:acc>
                            </m:e>
                            <m:sub>
                              <m:r>
                                <a:rPr lang="zh-CN" sz="17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kj</m:t>
                              </m:r>
                            </m:sub>
                            <m:sup>
                              <m:r>
                                <a:rPr lang="zh-CN" sz="17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2</m:t>
                              </m:r>
                            </m:sup>
                          </m:sSubSup>
                        </m:e>
                      </m:nary>
                      <m:r>
                        <m:rPr>
                          <m:sty m:val="p"/>
                        </m:rPr>
                        <a:rPr lang="zh-CN" sz="17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−</m:t>
                      </m:r>
                      <m:sSup>
                        <m:e>
                          <m: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σ</m:t>
                          </m:r>
                        </m:e>
                        <m:sup>
                          <m: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</m:t>
                          </m:r>
                        </m:sup>
                      </m:sSup>
                      <m:r>
                        <m:rPr>
                          <m:sty m:val="p"/>
                        </m:rPr>
                        <a:rPr lang="zh-CN" sz="17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,</m:t>
                      </m:r>
                      <m:r>
                        <a:rPr lang="zh-CN" sz="17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 xml:space="preserve">  </m:t>
                      </m:r>
                      <m:sSub>
                        <m:e>
                          <m:acc>
                            <m:accPr>
                              <m:chr m:val="ˆ"/>
                              <m:ctrlPr>
                                <a:rPr lang="zh-CN" sz="17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accPr>
                            <m:e>
                              <m:r>
                                <a:rPr lang="zh-CN" sz="17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s</m:t>
                              </m:r>
                            </m:e>
                          </m:acc>
                        </m:e>
                        <m:sub>
                          <m: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k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zh-CN" sz="17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f>
                        <m:fPr>
                          <m:type m:val="bar"/>
                          <m:ctrlP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num>
                        <m:den>
                          <m: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N</m:t>
                          </m:r>
                        </m:den>
                      </m:f>
                      <m:nary>
                        <m:naryPr>
                          <m:chr m:val="∑"/>
                          <m:limLoc m:val="undOvr"/>
                          <m:grow m:val="off"/>
                          <m:subHide m:val="off"/>
                          <m:supHide m:val="off"/>
                          <m:ctrlP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naryPr>
                        <m:sub>
                          <m: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j</m:t>
                          </m:r>
                          <m:r>
                            <m:rPr>
                              <m:sty m:val="p"/>
                            </m:rP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=</m:t>
                          </m:r>
                          <m: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sub>
                        <m:sup>
                          <m: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N</m:t>
                          </m:r>
                        </m:sup>
                        <m:e>
                          <m:sSup>
                            <m:e>
                              <m:d>
                                <m:dPr>
                                  <m:begChr m:val="("/>
                                  <m:sepChr m:val=""/>
                                  <m:endChr m:val=")"/>
                                  <m:grow m:val="on"/>
                                  <m:ctrlPr>
                                    <a:rPr lang="zh-CN" sz="17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dPr>
                                <m:e>
                                  <m:sSubSup>
                                    <m:e>
                                      <m:acc>
                                        <m:accPr>
                                          <m:chr m:val="ˆ"/>
                                          <m:ctrlPr>
                                            <a:rPr lang="zh-CN" sz="172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zh-CN" sz="172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σ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zh-CN" sz="172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kj</m:t>
                                      </m:r>
                                    </m:sub>
                                    <m:sup>
                                      <m:r>
                                        <a:rPr lang="zh-CN" sz="172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2</m:t>
                                      </m:r>
                                    </m:sup>
                                  </m:sSubSup>
                                  <m:r>
                                    <m:rPr>
                                      <m:sty m:val="p"/>
                                    </m:rPr>
                                    <a:rPr lang="zh-CN" sz="17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−</m:t>
                                  </m:r>
                                  <m:sSup>
                                    <m:e>
                                      <m:r>
                                        <a:rPr lang="zh-CN" sz="172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σ</m:t>
                                      </m:r>
                                    </m:e>
                                    <m:sup>
                                      <m:r>
                                        <a:rPr lang="zh-CN" sz="172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d>
                            </m:e>
                            <m:sup>
                              <m:r>
                                <a:rPr lang="zh-CN" sz="17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</a:p>
            </p:txBody>
          </p:sp>
        </mc:Choice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0" name="formula401"/>
              <p:cNvSpPr txBox="1">
                <a:spLocks noGrp="1"/>
              </p:cNvSpPr>
              <p:nvPr/>
            </p:nvSpPr>
            <p:spPr>
              <a:xfrm>
                <a:off x="6248400" y="1524000"/>
                <a:ext cx="5410200" cy="56959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eqArr>
                        <m:eqArrPr>
                          <m:baseJc m:val="center"/>
                        </m:eqArrPr>
                        <m:e>
                          <m:r>
                            <m:rPr>
                              <m:sty m:val="p"/>
                            </m:rP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Var</m:t>
                          </m:r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7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sSub>
                                <m:e>
                                  <m:acc>
                                    <m:accPr>
                                      <m:chr m:val="ˆ"/>
                                      <m:ctrlPr>
                                        <a:rPr lang="zh-CN" sz="172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zh-CN" sz="172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s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zh-CN" sz="17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m:rPr>
                                  <m:sty m:val="p"/>
                                </m:rPr>
                                <a:rPr lang="zh-CN" sz="17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−</m:t>
                              </m:r>
                              <m:sSub>
                                <m:e>
                                  <m:acc>
                                    <m:accPr>
                                      <m:chr m:val="ˆ"/>
                                      <m:ctrlPr>
                                        <a:rPr lang="zh-CN" sz="172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zh-CN" sz="172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s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zh-CN" sz="17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  <m:r>
                            <m:rPr>
                              <m:sty m:val="p"/>
                            </m:rP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=</m:t>
                          </m:r>
                          <m: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 xml:space="preserve"> </m:t>
                          </m:r>
                          <m: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&amp;</m:t>
                          </m:r>
                          <m:r>
                            <m:rPr>
                              <m:sty m:val="p"/>
                            </m:rP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Var</m:t>
                          </m:r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7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sSub>
                                <m:e>
                                  <m:acc>
                                    <m:accPr>
                                      <m:chr m:val="ˆ"/>
                                      <m:ctrlPr>
                                        <a:rPr lang="zh-CN" sz="172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zh-CN" sz="172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s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zh-CN" sz="17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  <m:r>
                            <m:rPr>
                              <m:sty m:val="p"/>
                            </m:rP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+</m:t>
                          </m:r>
                          <m:r>
                            <m:rPr>
                              <m:sty m:val="p"/>
                            </m:rP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Var</m:t>
                          </m:r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7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sSub>
                                <m:e>
                                  <m:acc>
                                    <m:accPr>
                                      <m:chr m:val="ˆ"/>
                                      <m:ctrlPr>
                                        <a:rPr lang="zh-CN" sz="172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zh-CN" sz="172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s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zh-CN" sz="17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</m:e>
                        <m:e>
                          <m: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&amp;</m:t>
                          </m:r>
                          <m:r>
                            <m:rPr>
                              <m:sty m:val="p"/>
                            </m:rP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−</m:t>
                          </m:r>
                          <m: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</m:t>
                          </m:r>
                          <m: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 xml:space="preserve"> </m:t>
                          </m:r>
                          <m:r>
                            <m:rPr>
                              <m:sty m:val="p"/>
                            </m:rP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Cov</m:t>
                          </m:r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7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sSub>
                                <m:e>
                                  <m:acc>
                                    <m:accPr>
                                      <m:chr m:val="ˆ"/>
                                      <m:ctrlPr>
                                        <a:rPr lang="zh-CN" sz="172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zh-CN" sz="172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s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zh-CN" sz="17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m:rPr>
                                  <m:sty m:val="p"/>
                                </m:rPr>
                                <a:rPr lang="zh-CN" sz="17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,</m:t>
                              </m:r>
                              <m:sSub>
                                <m:e>
                                  <m:acc>
                                    <m:accPr>
                                      <m:chr m:val="ˆ"/>
                                      <m:ctrlPr>
                                        <a:rPr lang="zh-CN" sz="172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zh-CN" sz="172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s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zh-CN" sz="17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  <m: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 xml:space="preserve">  </m:t>
                          </m:r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7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a:rPr lang="zh-CN" sz="17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14.1</m:t>
                              </m:r>
                            </m:e>
                          </m:d>
                        </m:e>
                      </m:eqArr>
                    </m:oMath>
                  </m:oMathPara>
                </a14:m>
              </a:p>
            </p:txBody>
          </p:sp>
        </mc:Choice>
      </mc:AlternateContent>
      <p:grpSp>
        <p:nvGrpSpPr>
          <p:cNvPr id="22" name="c2-text-2"/>
          <p:cNvGrpSpPr/>
          <p:nvPr/>
        </p:nvGrpSpPr>
        <p:grpSpPr>
          <a:xfrm>
            <a:off x="6241542" y="2286000"/>
            <a:ext cx="5439766" cy="264033"/>
            <a:chOff x="6241542" y="2286000"/>
            <a:chExt cx="5439766" cy="264033"/>
          </a:xfrm>
        </p:grpSpPr>
        <p:sp>
          <p:nvSpPr>
            <p:cNvPr id="21" name="TextBox 21"/>
            <p:cNvSpPr txBox="1"/>
            <p:nvPr/>
          </p:nvSpPr>
          <p:spPr>
            <a:xfrm>
              <a:off x="6241542" y="2286000"/>
              <a:ext cx="543976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记 V₁、V₂ 为两个估计量的平方误差的方差，C 为两者的协方差，则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23" name="formula402"/>
              <p:cNvSpPr txBox="1">
                <a:spLocks noGrp="1"/>
              </p:cNvSpPr>
              <p:nvPr/>
            </p:nvSpPr>
            <p:spPr>
              <a:xfrm>
                <a:off x="6248400" y="2667000"/>
                <a:ext cx="5410200" cy="111728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eqArr>
                        <m:eqArrPr>
                          <m:baseJc m:val="center"/>
                        </m:eqArrPr>
                        <m:e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7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a:rPr lang="zh-CN" sz="17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14.2</m:t>
                              </m:r>
                            </m:e>
                          </m:d>
                          <m: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 xml:space="preserve"> </m:t>
                          </m:r>
                          <m:r>
                            <m:rPr>
                              <m:nor m:val="on"/>
                            </m:rP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不同样本</m:t>
                          </m:r>
                          <m:r>
                            <m:rPr>
                              <m:sty m:val="p"/>
                            </m:rP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:</m:t>
                          </m:r>
                          <m: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 xml:space="preserve"> </m:t>
                          </m:r>
                          <m: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&amp;</m:t>
                          </m:r>
                          <m:f>
                            <m:fPr>
                              <m:type m:val="bar"/>
                              <m:ctrlPr>
                                <a:rPr lang="zh-CN" sz="17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fPr>
                            <m:num>
                              <m:sSub>
                                <m:e>
                                  <m:r>
                                    <a:rPr lang="zh-CN" sz="17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V</m:t>
                                  </m:r>
                                </m:e>
                                <m:sub>
                                  <m:r>
                                    <a:rPr lang="zh-CN" sz="17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m:rPr>
                                  <m:sty m:val="p"/>
                                </m:rPr>
                                <a:rPr lang="zh-CN" sz="17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+</m:t>
                              </m:r>
                              <m:sSub>
                                <m:e>
                                  <m:r>
                                    <a:rPr lang="zh-CN" sz="17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V</m:t>
                                  </m:r>
                                </m:e>
                                <m:sub>
                                  <m:r>
                                    <a:rPr lang="zh-CN" sz="17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2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zh-CN" sz="17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N</m:t>
                              </m:r>
                            </m:den>
                          </m:f>
                        </m:e>
                        <m:e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7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a:rPr lang="zh-CN" sz="17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14.3</m:t>
                              </m:r>
                            </m:e>
                          </m:d>
                          <m: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 xml:space="preserve"> </m:t>
                          </m:r>
                          <m:r>
                            <m:rPr>
                              <m:nor m:val="on"/>
                            </m:rP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相同样本</m:t>
                          </m:r>
                          <m:r>
                            <m:rPr>
                              <m:sty m:val="p"/>
                            </m:rP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:</m:t>
                          </m:r>
                          <m: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 xml:space="preserve"> </m:t>
                          </m:r>
                          <m: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&amp;</m:t>
                          </m:r>
                          <m:f>
                            <m:fPr>
                              <m:type m:val="bar"/>
                              <m:ctrlPr>
                                <a:rPr lang="zh-CN" sz="17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fPr>
                            <m:num>
                              <m:sSub>
                                <m:e>
                                  <m:r>
                                    <a:rPr lang="zh-CN" sz="17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V</m:t>
                                  </m:r>
                                </m:e>
                                <m:sub>
                                  <m:r>
                                    <a:rPr lang="zh-CN" sz="17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m:rPr>
                                  <m:sty m:val="p"/>
                                </m:rPr>
                                <a:rPr lang="zh-CN" sz="17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+</m:t>
                              </m:r>
                              <m:sSub>
                                <m:e>
                                  <m:r>
                                    <a:rPr lang="zh-CN" sz="17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V</m:t>
                                  </m:r>
                                </m:e>
                                <m:sub>
                                  <m:r>
                                    <a:rPr lang="zh-CN" sz="17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m:rPr>
                                  <m:sty m:val="p"/>
                                </m:rPr>
                                <a:rPr lang="zh-CN" sz="17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−</m:t>
                              </m:r>
                              <m:r>
                                <a:rPr lang="zh-CN" sz="17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2C</m:t>
                              </m:r>
                            </m:num>
                            <m:den>
                              <m:r>
                                <a:rPr lang="zh-CN" sz="17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N</m:t>
                              </m:r>
                            </m:den>
                          </m:f>
                        </m:e>
                      </m:eqArr>
                    </m:oMath>
                  </m:oMathPara>
                </a14:m>
              </a:p>
            </p:txBody>
          </p:sp>
        </mc:Choice>
      </mc:AlternateContent>
      <p:grpSp>
        <p:nvGrpSpPr>
          <p:cNvPr id="40" name="c2-table-4"/>
          <p:cNvGrpSpPr/>
          <p:nvPr/>
        </p:nvGrpSpPr>
        <p:grpSpPr>
          <a:xfrm>
            <a:off x="6248400" y="3953828"/>
            <a:ext cx="5410200" cy="1200150"/>
            <a:chOff x="6248400" y="3953828"/>
            <a:chExt cx="5410200" cy="1200150"/>
          </a:xfrm>
        </p:grpSpPr>
        <p:sp>
          <p:nvSpPr>
            <p:cNvPr id="24" name="Rectangle 24"/>
            <p:cNvSpPr/>
            <p:nvPr/>
          </p:nvSpPr>
          <p:spPr>
            <a:xfrm>
              <a:off x="6248400" y="3953828"/>
              <a:ext cx="5410200" cy="400050"/>
            </a:xfrm>
            <a:prstGeom prst="rect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549369" y="4075271"/>
              <a:ext cx="16231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N = 1000，重复 500 次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787756" y="4075271"/>
              <a:ext cx="132589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两 MSE 之差的均值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0811408" y="4075271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标准差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345555" y="4475321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相同样本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8569642" y="4475321"/>
              <a:ext cx="50898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0.0322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10438448" y="4363402"/>
              <a:ext cx="1210628" cy="381000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10526078" y="4475321"/>
              <a:ext cx="50898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0.0047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6248400" y="4749165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6248400" y="4753928"/>
              <a:ext cx="5410200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345555" y="4875371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不同样本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8569642" y="4875371"/>
              <a:ext cx="50898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0.0324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0526078" y="4875371"/>
              <a:ext cx="50898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0.0169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6248400" y="3953828"/>
              <a:ext cx="5410200" cy="120015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8" name="Rectangle 38"/>
            <p:cNvSpPr/>
            <p:nvPr/>
          </p:nvSpPr>
          <p:spPr>
            <a:xfrm>
              <a:off x="8467725" y="3953828"/>
              <a:ext cx="9525" cy="12001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9" name="Rectangle 39"/>
            <p:cNvSpPr/>
            <p:nvPr/>
          </p:nvSpPr>
          <p:spPr>
            <a:xfrm>
              <a:off x="10424160" y="3953828"/>
              <a:ext cx="9525" cy="12001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46" name="c2-callout-5"/>
          <p:cNvGrpSpPr/>
          <p:nvPr/>
        </p:nvGrpSpPr>
        <p:grpSpPr>
          <a:xfrm>
            <a:off x="6248400" y="5323522"/>
            <a:ext cx="5410200" cy="729615"/>
            <a:chOff x="6248400" y="5323522"/>
            <a:chExt cx="5410200" cy="729615"/>
          </a:xfrm>
        </p:grpSpPr>
        <p:sp>
          <p:nvSpPr>
            <p:cNvPr id="41" name="Rectangle 41"/>
            <p:cNvSpPr/>
            <p:nvPr/>
          </p:nvSpPr>
          <p:spPr>
            <a:xfrm>
              <a:off x="6248400" y="5323522"/>
              <a:ext cx="5410200" cy="729615"/>
            </a:xfrm>
            <a:prstGeom prst="roundRect">
              <a:avLst>
                <a:gd name="adj" fmla="val 15666"/>
              </a:avLst>
            </a:prstGeom>
            <a:solidFill>
              <a:srgbClr val="2E7D4F"/>
            </a:solidFill>
            <a:ln>
              <a:noFill/>
            </a:ln>
          </p:spPr>
        </p:sp>
        <p:grpSp>
          <p:nvGrpSpPr>
            <p:cNvPr id="44" name="Group 44"/>
            <p:cNvGrpSpPr/>
            <p:nvPr/>
          </p:nvGrpSpPr>
          <p:grpSpPr>
            <a:xfrm>
              <a:off x="6453188" y="5588320"/>
              <a:ext cx="200023" cy="200023"/>
              <a:chOff x="6453188" y="5588320"/>
              <a:chExt cx="200023" cy="200023"/>
            </a:xfrm>
          </p:grpSpPr>
          <p:sp>
            <p:nvSpPr>
              <p:cNvPr id="42" name="Freeform 42"/>
              <p:cNvSpPr/>
              <p:nvPr/>
            </p:nvSpPr>
            <p:spPr>
              <a:xfrm>
                <a:off x="6453188" y="558832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43" name="Freeform 43"/>
              <p:cNvSpPr/>
              <p:nvPr/>
            </p:nvSpPr>
            <p:spPr>
              <a:xfrm>
                <a:off x="6586538" y="565499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45" name="TextBox 45"/>
            <p:cNvSpPr txBox="1"/>
            <p:nvPr/>
          </p:nvSpPr>
          <p:spPr>
            <a:xfrm>
              <a:off x="6755892" y="5470208"/>
              <a:ext cx="4368546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单独估计某个 bₖ 或 sₖ 时两种做法精度相同；估计两者之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差时，用相同样本方差小约 13 倍。</a:t>
              </a:r>
            </a:p>
          </p:txBody>
        </p:sp>
      </p:grpSp>
      <p:grpSp>
        <p:nvGrpSpPr>
          <p:cNvPr id="4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7" name="TextBox 47"/>
            <p:cNvSpPr txBox="1"/>
            <p:nvPr/>
          </p:nvSpPr>
          <p:spPr>
            <a:xfrm>
              <a:off x="528447" y="6581299"/>
              <a:ext cx="198882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统计计算 · 第3章 随机模拟（上）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555452" cy="909257"/>
            <a:chOff x="520446" y="342900"/>
            <a:chExt cx="555545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989898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9634" y="407194"/>
              <a:ext cx="289838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第3章 随机模拟（上） · 3.5 方差缩减技术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55545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自测题（一）：模拟误差与 MC 积分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542" y="1545907"/>
            <a:ext cx="2558034" cy="264033"/>
            <a:chOff x="526542" y="1545907"/>
            <a:chExt cx="2558034" cy="264033"/>
          </a:xfrm>
        </p:grpSpPr>
        <p:sp>
          <p:nvSpPr>
            <p:cNvPr id="7" name="TextBox 7"/>
            <p:cNvSpPr txBox="1"/>
            <p:nvPr/>
          </p:nvSpPr>
          <p:spPr>
            <a:xfrm>
              <a:off x="526542" y="1545907"/>
              <a:ext cx="255803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先自己动笔算一遍，再看答案。</a:t>
              </a:r>
            </a:p>
          </p:txBody>
        </p:sp>
      </p:grpSp>
      <p:grpSp>
        <p:nvGrpSpPr>
          <p:cNvPr id="14" name="c1-card-1"/>
          <p:cNvGrpSpPr/>
          <p:nvPr/>
        </p:nvGrpSpPr>
        <p:grpSpPr>
          <a:xfrm>
            <a:off x="533400" y="1928812"/>
            <a:ext cx="5410200" cy="1743075"/>
            <a:chOff x="533400" y="1928812"/>
            <a:chExt cx="5410200" cy="1743075"/>
          </a:xfrm>
        </p:grpSpPr>
        <p:sp>
          <p:nvSpPr>
            <p:cNvPr id="9" name="Rectangle 9"/>
            <p:cNvSpPr/>
            <p:nvPr/>
          </p:nvSpPr>
          <p:spPr>
            <a:xfrm>
              <a:off x="533400" y="1928812"/>
              <a:ext cx="5410200" cy="1743075"/>
            </a:xfrm>
            <a:prstGeom prst="roundRect">
              <a:avLst>
                <a:gd name="adj" fmla="val 765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0" name="Rectangle 10"/>
            <p:cNvSpPr/>
            <p:nvPr/>
          </p:nvSpPr>
          <p:spPr>
            <a:xfrm>
              <a:off x="720090" y="2115502"/>
              <a:ext cx="379095" cy="238125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809547" y="2148364"/>
              <a:ext cx="2001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Q1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13232" y="2459355"/>
              <a:ext cx="4496705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同一个积分（0 ≤ h ≤ 1），随机投点法和平均值法哪个方差</a:t>
              </a:r>
              <a:br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大？为什么？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13232" y="3016568"/>
              <a:ext cx="4634294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投点法大。两者方差之差为 (V(C)/N)∫(h − h²)dx ≥ 0；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投点法多了"点是否落在曲线下"的 0/1 随机性。</a:t>
              </a:r>
            </a:p>
          </p:txBody>
        </p:sp>
      </p:grpSp>
      <p:grpSp>
        <p:nvGrpSpPr>
          <p:cNvPr id="20" name="c1-card-2"/>
          <p:cNvGrpSpPr/>
          <p:nvPr/>
        </p:nvGrpSpPr>
        <p:grpSpPr>
          <a:xfrm>
            <a:off x="533400" y="3841432"/>
            <a:ext cx="5410200" cy="1743075"/>
            <a:chOff x="533400" y="3841432"/>
            <a:chExt cx="5410200" cy="1743075"/>
          </a:xfrm>
        </p:grpSpPr>
        <p:sp>
          <p:nvSpPr>
            <p:cNvPr id="15" name="Rectangle 15"/>
            <p:cNvSpPr/>
            <p:nvPr/>
          </p:nvSpPr>
          <p:spPr>
            <a:xfrm>
              <a:off x="533400" y="3841432"/>
              <a:ext cx="5410200" cy="1743075"/>
            </a:xfrm>
            <a:prstGeom prst="roundRect">
              <a:avLst>
                <a:gd name="adj" fmla="val 765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6" name="Rectangle 16"/>
            <p:cNvSpPr/>
            <p:nvPr/>
          </p:nvSpPr>
          <p:spPr>
            <a:xfrm>
              <a:off x="720090" y="4028122"/>
              <a:ext cx="379095" cy="238125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809547" y="4060984"/>
              <a:ext cx="2001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Q3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13232" y="4372928"/>
              <a:ext cx="377786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上题要使 RMSE ≤ 0.01，大约需要多少样本？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13232" y="4672965"/>
              <a:ext cx="4582858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 ≥ (1.5/0.01)² = 22500，是原来的 9 倍（误差缩小 3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倍）。</a:t>
              </a:r>
            </a:p>
          </p:txBody>
        </p:sp>
      </p:grpSp>
      <p:grpSp>
        <p:nvGrpSpPr>
          <p:cNvPr id="26" name="c2-card-1"/>
          <p:cNvGrpSpPr/>
          <p:nvPr/>
        </p:nvGrpSpPr>
        <p:grpSpPr>
          <a:xfrm>
            <a:off x="6248400" y="1928812"/>
            <a:ext cx="5410200" cy="1743075"/>
            <a:chOff x="6248400" y="1928812"/>
            <a:chExt cx="5410200" cy="1743075"/>
          </a:xfrm>
        </p:grpSpPr>
        <p:sp>
          <p:nvSpPr>
            <p:cNvPr id="21" name="Rectangle 21"/>
            <p:cNvSpPr/>
            <p:nvPr/>
          </p:nvSpPr>
          <p:spPr>
            <a:xfrm>
              <a:off x="6248400" y="1928812"/>
              <a:ext cx="5410200" cy="1743075"/>
            </a:xfrm>
            <a:prstGeom prst="roundRect">
              <a:avLst>
                <a:gd name="adj" fmla="val 765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6435090" y="2115502"/>
              <a:ext cx="379095" cy="238125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524547" y="2148364"/>
              <a:ext cx="2001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Q2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428232" y="2459355"/>
              <a:ext cx="4430268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一次模拟得 Î = 2.0，样本标准差 S = 1.5，N = 2500，求</a:t>
              </a:r>
              <a:br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RMSE、MAE、MRE 的估计。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428232" y="3016568"/>
              <a:ext cx="4582858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RMSE = 1.5/50 = 0.03；MAE ≈ 0.80 × 0.03 = 0.024；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MRE ≈ 0.024/2.0 = 0.012。</a:t>
              </a:r>
            </a:p>
          </p:txBody>
        </p:sp>
      </p:grpSp>
      <p:grpSp>
        <p:nvGrpSpPr>
          <p:cNvPr id="32" name="c2-card-2"/>
          <p:cNvGrpSpPr/>
          <p:nvPr/>
        </p:nvGrpSpPr>
        <p:grpSpPr>
          <a:xfrm>
            <a:off x="6248400" y="3841432"/>
            <a:ext cx="5410200" cy="1743075"/>
            <a:chOff x="6248400" y="3841432"/>
            <a:chExt cx="5410200" cy="1743075"/>
          </a:xfrm>
        </p:grpSpPr>
        <p:sp>
          <p:nvSpPr>
            <p:cNvPr id="27" name="Rectangle 27"/>
            <p:cNvSpPr/>
            <p:nvPr/>
          </p:nvSpPr>
          <p:spPr>
            <a:xfrm>
              <a:off x="6248400" y="3841432"/>
              <a:ext cx="5410200" cy="1743075"/>
            </a:xfrm>
            <a:prstGeom prst="roundRect">
              <a:avLst>
                <a:gd name="adj" fmla="val 765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6435090" y="4028122"/>
              <a:ext cx="379095" cy="238125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524547" y="4060984"/>
              <a:ext cx="2001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Q4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428232" y="4372928"/>
              <a:ext cx="4657868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用投点法估计 π（向 [−1, 1]² 投 N 点），估计量的方差是多</a:t>
              </a:r>
              <a:br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少？N = 10⁴ 时误差幅度约多大？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428232" y="4930140"/>
              <a:ext cx="3828478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方差 π(4 − π)/N ≈ 2.697/N；误差幅度约 ±2√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(2.697/10⁴) ≈ ±0.033。</a:t>
              </a:r>
            </a:p>
          </p:txBody>
        </p:sp>
      </p:grpSp>
      <p:grpSp>
        <p:nvGrpSpPr>
          <p:cNvPr id="39" name="takeaway"/>
          <p:cNvGrpSpPr/>
          <p:nvPr/>
        </p:nvGrpSpPr>
        <p:grpSpPr>
          <a:xfrm>
            <a:off x="533400" y="5881688"/>
            <a:ext cx="11125200" cy="481012"/>
            <a:chOff x="533400" y="5881688"/>
            <a:chExt cx="11125200" cy="481012"/>
          </a:xfrm>
        </p:grpSpPr>
        <p:sp>
          <p:nvSpPr>
            <p:cNvPr id="33" name="Rectangle 33"/>
            <p:cNvSpPr/>
            <p:nvPr/>
          </p:nvSpPr>
          <p:spPr>
            <a:xfrm>
              <a:off x="533400" y="5881688"/>
              <a:ext cx="11125200" cy="481012"/>
            </a:xfrm>
            <a:prstGeom prst="roundRect">
              <a:avLst>
                <a:gd name="adj" fmla="val 23762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37" name="Group 37"/>
            <p:cNvGrpSpPr/>
            <p:nvPr/>
          </p:nvGrpSpPr>
          <p:grpSpPr>
            <a:xfrm>
              <a:off x="738188" y="6022658"/>
              <a:ext cx="200026" cy="200025"/>
              <a:chOff x="738188" y="6022658"/>
              <a:chExt cx="200026" cy="200025"/>
            </a:xfrm>
          </p:grpSpPr>
          <p:sp>
            <p:nvSpPr>
              <p:cNvPr id="34" name="Freeform 34"/>
              <p:cNvSpPr/>
              <p:nvPr/>
            </p:nvSpPr>
            <p:spPr>
              <a:xfrm>
                <a:off x="738188" y="602265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35" name="Freeform 35"/>
              <p:cNvSpPr/>
              <p:nvPr/>
            </p:nvSpPr>
            <p:spPr>
              <a:xfrm>
                <a:off x="777926" y="606710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36" name="Freeform 36"/>
              <p:cNvSpPr/>
              <p:nvPr/>
            </p:nvSpPr>
            <p:spPr>
              <a:xfrm>
                <a:off x="812642" y="617823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38" name="TextBox 38"/>
            <p:cNvSpPr txBox="1"/>
            <p:nvPr/>
          </p:nvSpPr>
          <p:spPr>
            <a:xfrm>
              <a:off x="1040892" y="6028373"/>
              <a:ext cx="852157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MAE ≈ 0.80 RMSE 只在估计量近似正态时成立；样本量公式里的 σ 通常用预模拟得到的样本标准差代替。</a:t>
              </a:r>
            </a:p>
          </p:txBody>
        </p:sp>
      </p:grpSp>
      <p:grpSp>
        <p:nvGrpSpPr>
          <p:cNvPr id="4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0" name="TextBox 40"/>
            <p:cNvSpPr txBox="1"/>
            <p:nvPr/>
          </p:nvSpPr>
          <p:spPr>
            <a:xfrm>
              <a:off x="528447" y="6581299"/>
              <a:ext cx="198882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统计计算 · 第3章 随机模拟（上）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518404" cy="909257"/>
            <a:chOff x="520446" y="342900"/>
            <a:chExt cx="551840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989898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9634" y="407194"/>
              <a:ext cx="289838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第3章 随机模拟（上） · 3.5 方差缩减技术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51840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自测题（二）：抽样方法与方差缩减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2" name="c1-card-1"/>
          <p:cNvGrpSpPr/>
          <p:nvPr/>
        </p:nvGrpSpPr>
        <p:grpSpPr>
          <a:xfrm>
            <a:off x="533400" y="1524000"/>
            <a:ext cx="5410200" cy="1743075"/>
            <a:chOff x="533400" y="1524000"/>
            <a:chExt cx="5410200" cy="174307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1743075"/>
            </a:xfrm>
            <a:prstGeom prst="roundRect">
              <a:avLst>
                <a:gd name="adj" fmla="val 765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720090" y="1710690"/>
              <a:ext cx="379095" cy="238125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09547" y="1743551"/>
              <a:ext cx="2001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Q1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13232" y="2054542"/>
              <a:ext cx="4805744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g(x) = (2/3)(1 + x)（0 &lt; x &lt; 1），怎样由 U ~ U(0,1) 产生</a:t>
              </a:r>
              <a:br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X？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13232" y="2612708"/>
              <a:ext cx="4651438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逆变换法：解 (2/3)(x + x²/2) = U，得 X = √(1 + 3U) −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1。</a:t>
              </a:r>
            </a:p>
          </p:txBody>
        </p:sp>
      </p:grpSp>
      <p:grpSp>
        <p:nvGrpSpPr>
          <p:cNvPr id="18" name="c1-card-2"/>
          <p:cNvGrpSpPr/>
          <p:nvPr/>
        </p:nvGrpSpPr>
        <p:grpSpPr>
          <a:xfrm>
            <a:off x="533400" y="3436620"/>
            <a:ext cx="5410200" cy="1228725"/>
            <a:chOff x="533400" y="3436620"/>
            <a:chExt cx="5410200" cy="1228725"/>
          </a:xfrm>
        </p:grpSpPr>
        <p:sp>
          <p:nvSpPr>
            <p:cNvPr id="13" name="Rectangle 13"/>
            <p:cNvSpPr/>
            <p:nvPr/>
          </p:nvSpPr>
          <p:spPr>
            <a:xfrm>
              <a:off x="533400" y="3436620"/>
              <a:ext cx="5410200" cy="1228725"/>
            </a:xfrm>
            <a:prstGeom prst="roundRect">
              <a:avLst>
                <a:gd name="adj" fmla="val 10853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720090" y="3623310"/>
              <a:ext cx="379095" cy="238125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809547" y="3656171"/>
              <a:ext cx="2001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Q3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13232" y="3968115"/>
              <a:ext cx="40544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按 nⱼ ∝ V(Cⱼ)σⱼ 分配样本，哪种层分到的点多？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13232" y="4268152"/>
              <a:ext cx="276703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体积大、层内 h 波动大的层。</a:t>
              </a:r>
            </a:p>
          </p:txBody>
        </p:sp>
      </p:grpSp>
      <p:grpSp>
        <p:nvGrpSpPr>
          <p:cNvPr id="24" name="c1-card-3"/>
          <p:cNvGrpSpPr/>
          <p:nvPr/>
        </p:nvGrpSpPr>
        <p:grpSpPr>
          <a:xfrm>
            <a:off x="533400" y="4835842"/>
            <a:ext cx="5410200" cy="1485900"/>
            <a:chOff x="533400" y="4835842"/>
            <a:chExt cx="5410200" cy="1485900"/>
          </a:xfrm>
        </p:grpSpPr>
        <p:sp>
          <p:nvSpPr>
            <p:cNvPr id="19" name="Rectangle 19"/>
            <p:cNvSpPr/>
            <p:nvPr/>
          </p:nvSpPr>
          <p:spPr>
            <a:xfrm>
              <a:off x="533400" y="4835842"/>
              <a:ext cx="5410200" cy="1485900"/>
            </a:xfrm>
            <a:prstGeom prst="roundRect">
              <a:avLst>
                <a:gd name="adj" fmla="val 8974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720090" y="5022532"/>
              <a:ext cx="379095" cy="238125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809547" y="5055394"/>
              <a:ext cx="2001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Q5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13232" y="5366385"/>
              <a:ext cx="477025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估计 π 时用 √(1 − U²) 代替 0/1 指示变量，依据是什么？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13232" y="5666423"/>
              <a:ext cx="447141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条件期望法：E(η|X = x) = √(1 − x²)，Var[E(η|X)] ≤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Var(η)，方差由 2.697/N 降到 0.797/N。</a:t>
              </a:r>
            </a:p>
          </p:txBody>
        </p:sp>
      </p:grpSp>
      <p:grpSp>
        <p:nvGrpSpPr>
          <p:cNvPr id="30" name="c2-card-1"/>
          <p:cNvGrpSpPr/>
          <p:nvPr/>
        </p:nvGrpSpPr>
        <p:grpSpPr>
          <a:xfrm>
            <a:off x="6248400" y="1524000"/>
            <a:ext cx="5410200" cy="1228725"/>
            <a:chOff x="6248400" y="1524000"/>
            <a:chExt cx="5410200" cy="1228725"/>
          </a:xfrm>
        </p:grpSpPr>
        <p:sp>
          <p:nvSpPr>
            <p:cNvPr id="25" name="Rectangle 25"/>
            <p:cNvSpPr/>
            <p:nvPr/>
          </p:nvSpPr>
          <p:spPr>
            <a:xfrm>
              <a:off x="6248400" y="1524000"/>
              <a:ext cx="5410200" cy="1228725"/>
            </a:xfrm>
            <a:prstGeom prst="roundRect">
              <a:avLst>
                <a:gd name="adj" fmla="val 10853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6435090" y="1710690"/>
              <a:ext cx="379095" cy="238125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524547" y="1743551"/>
              <a:ext cx="2001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Q2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428232" y="2054542"/>
              <a:ext cx="31205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标准化重要抽样估计 (12.7) 无偏吗？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428232" y="2355532"/>
              <a:ext cx="455988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不无偏。它是比值估计，强相合，偏差为 O(1/N)。</a:t>
              </a:r>
            </a:p>
          </p:txBody>
        </p:sp>
      </p:grpSp>
      <p:grpSp>
        <p:nvGrpSpPr>
          <p:cNvPr id="36" name="c2-card-2"/>
          <p:cNvGrpSpPr/>
          <p:nvPr/>
        </p:nvGrpSpPr>
        <p:grpSpPr>
          <a:xfrm>
            <a:off x="6248400" y="2922270"/>
            <a:ext cx="5410200" cy="1228725"/>
            <a:chOff x="6248400" y="2922270"/>
            <a:chExt cx="5410200" cy="1228725"/>
          </a:xfrm>
        </p:grpSpPr>
        <p:sp>
          <p:nvSpPr>
            <p:cNvPr id="31" name="Rectangle 31"/>
            <p:cNvSpPr/>
            <p:nvPr/>
          </p:nvSpPr>
          <p:spPr>
            <a:xfrm>
              <a:off x="6248400" y="2922270"/>
              <a:ext cx="5410200" cy="1228725"/>
            </a:xfrm>
            <a:prstGeom prst="roundRect">
              <a:avLst>
                <a:gd name="adj" fmla="val 10853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6435090" y="3108960"/>
              <a:ext cx="379095" cy="238125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524547" y="3141821"/>
              <a:ext cx="2001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Q4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428232" y="3453765"/>
              <a:ext cx="506722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控制变量 Y 与 X 的相关系数为 0.9，最优 b 下方差变为多少？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428232" y="3753802"/>
              <a:ext cx="325935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(1 − 0.9²)·Var X = 0.19·Var X。</a:t>
              </a:r>
            </a:p>
          </p:txBody>
        </p:sp>
      </p:grpSp>
      <p:grpSp>
        <p:nvGrpSpPr>
          <p:cNvPr id="42" name="c2-card-3"/>
          <p:cNvGrpSpPr/>
          <p:nvPr/>
        </p:nvGrpSpPr>
        <p:grpSpPr>
          <a:xfrm>
            <a:off x="6248400" y="4321492"/>
            <a:ext cx="5410200" cy="2000250"/>
            <a:chOff x="6248400" y="4321492"/>
            <a:chExt cx="5410200" cy="2000250"/>
          </a:xfrm>
        </p:grpSpPr>
        <p:sp>
          <p:nvSpPr>
            <p:cNvPr id="37" name="Rectangle 37"/>
            <p:cNvSpPr/>
            <p:nvPr/>
          </p:nvSpPr>
          <p:spPr>
            <a:xfrm>
              <a:off x="6248400" y="4321492"/>
              <a:ext cx="5410200" cy="2000250"/>
            </a:xfrm>
            <a:prstGeom prst="roundRect">
              <a:avLst>
                <a:gd name="adj" fmla="val 6667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6435090" y="4508182"/>
              <a:ext cx="379095" cy="238125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524547" y="4541044"/>
              <a:ext cx="2001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Q6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428232" y="4852035"/>
              <a:ext cx="510235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比较两种排队策略的平均等待时间，为什么要用同一组随机数？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428232" y="5152073"/>
              <a:ext cx="4694301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两个输出正相关，Var(g − h) = Var g + Var h − 2Cov(g,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h) 变小，差值估计更准。</a:t>
              </a:r>
            </a:p>
          </p:txBody>
        </p:sp>
      </p:grpSp>
      <p:grpSp>
        <p:nvGrpSpPr>
          <p:cNvPr id="4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3" name="TextBox 43"/>
            <p:cNvSpPr txBox="1"/>
            <p:nvPr/>
          </p:nvSpPr>
          <p:spPr>
            <a:xfrm>
              <a:off x="528447" y="6581299"/>
              <a:ext cx="198882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统计计算 · 第3章 随机模拟（上）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1686496" cy="909257"/>
            <a:chOff x="520446" y="342900"/>
            <a:chExt cx="168649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673542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19165" y="407194"/>
              <a:ext cx="150296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第3章 随机模拟（上）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139903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本讲小结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1" name="c1-table-1"/>
          <p:cNvGrpSpPr/>
          <p:nvPr/>
        </p:nvGrpSpPr>
        <p:grpSpPr>
          <a:xfrm>
            <a:off x="533400" y="1524000"/>
            <a:ext cx="5951220" cy="2200275"/>
            <a:chOff x="533400" y="1524000"/>
            <a:chExt cx="5951220" cy="220027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951220" cy="400050"/>
            </a:xfrm>
            <a:prstGeom prst="rect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031278" y="164544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方法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2741828" y="1645444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估计量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4986731" y="1645444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方差要点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30555" y="2045494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随机投点法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940243" y="2045494"/>
              <a:ext cx="202412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落在曲线下的比例 × M(b − a)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4201478" y="2045494"/>
              <a:ext cx="215996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含 0/1 判定的随机性，方差最大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533400" y="2319338"/>
              <a:ext cx="595122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533400" y="2324100"/>
              <a:ext cx="5951220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30555" y="2445544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平均值法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940243" y="2445544"/>
              <a:ext cx="161820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(b − a) × h(Uᵢ) 的平均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201478" y="2445544"/>
              <a:ext cx="218236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Var h(U)/N，误差阶与维数无关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33400" y="2719388"/>
              <a:ext cx="595122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30555" y="2845594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重要抽样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940243" y="2845594"/>
              <a:ext cx="203315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h(Xᵢ)/g(Xᵢ) 的平均，Xᵢ ~ g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201478" y="2845594"/>
              <a:ext cx="191118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g 的形状越接近 |h| 方差越小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33400" y="3119438"/>
              <a:ext cx="595122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533400" y="3124200"/>
              <a:ext cx="5951220" cy="60007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30555" y="3345656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分层抽样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940243" y="3345656"/>
              <a:ext cx="199411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各层体积 × 层内平均，再求和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4201478" y="3245644"/>
              <a:ext cx="2059686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去掉层间方差；nⱼ ∝ V(Cⱼ)σⱼ 最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优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533400" y="1524000"/>
              <a:ext cx="5951220" cy="220027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29" name="Rectangle 29"/>
            <p:cNvSpPr/>
            <p:nvPr/>
          </p:nvSpPr>
          <p:spPr>
            <a:xfrm>
              <a:off x="1838325" y="1524000"/>
              <a:ext cx="9525" cy="220027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0" name="Rectangle 30"/>
            <p:cNvSpPr/>
            <p:nvPr/>
          </p:nvSpPr>
          <p:spPr>
            <a:xfrm>
              <a:off x="4099560" y="1524000"/>
              <a:ext cx="9525" cy="220027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38" name="c1-callout-2"/>
          <p:cNvGrpSpPr/>
          <p:nvPr/>
        </p:nvGrpSpPr>
        <p:grpSpPr>
          <a:xfrm>
            <a:off x="533400" y="3893820"/>
            <a:ext cx="5951220" cy="729615"/>
            <a:chOff x="533400" y="3893820"/>
            <a:chExt cx="5951220" cy="729615"/>
          </a:xfrm>
        </p:grpSpPr>
        <p:sp>
          <p:nvSpPr>
            <p:cNvPr id="32" name="Rectangle 32"/>
            <p:cNvSpPr/>
            <p:nvPr/>
          </p:nvSpPr>
          <p:spPr>
            <a:xfrm>
              <a:off x="533400" y="3893820"/>
              <a:ext cx="5951220" cy="729615"/>
            </a:xfrm>
            <a:prstGeom prst="roundRect">
              <a:avLst>
                <a:gd name="adj" fmla="val 15666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36" name="Group 36"/>
            <p:cNvGrpSpPr/>
            <p:nvPr/>
          </p:nvGrpSpPr>
          <p:grpSpPr>
            <a:xfrm>
              <a:off x="738188" y="4158615"/>
              <a:ext cx="200026" cy="200026"/>
              <a:chOff x="738188" y="4158615"/>
              <a:chExt cx="200026" cy="200026"/>
            </a:xfrm>
          </p:grpSpPr>
          <p:sp>
            <p:nvSpPr>
              <p:cNvPr id="33" name="Freeform 33"/>
              <p:cNvSpPr/>
              <p:nvPr/>
            </p:nvSpPr>
            <p:spPr>
              <a:xfrm>
                <a:off x="738188" y="4158615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34" name="Freeform 34"/>
              <p:cNvSpPr/>
              <p:nvPr/>
            </p:nvSpPr>
            <p:spPr>
              <a:xfrm>
                <a:off x="838200" y="422529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35" name="Freeform 35"/>
              <p:cNvSpPr/>
              <p:nvPr/>
            </p:nvSpPr>
            <p:spPr>
              <a:xfrm>
                <a:off x="827088" y="4258628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37" name="TextBox 37"/>
            <p:cNvSpPr txBox="1"/>
            <p:nvPr/>
          </p:nvSpPr>
          <p:spPr>
            <a:xfrm>
              <a:off x="1040892" y="4040505"/>
              <a:ext cx="4848606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误差报告写成 估计值 ± S/√N；精度提高 k 倍，样本量约增加 k²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倍。</a:t>
              </a:r>
            </a:p>
          </p:txBody>
        </p:sp>
      </p:grpSp>
      <p:grpSp>
        <p:nvGrpSpPr>
          <p:cNvPr id="47" name="c2-bullets-1"/>
          <p:cNvGrpSpPr/>
          <p:nvPr/>
        </p:nvGrpSpPr>
        <p:grpSpPr>
          <a:xfrm>
            <a:off x="6789420" y="1545907"/>
            <a:ext cx="4430649" cy="1189864"/>
            <a:chOff x="6789420" y="1545907"/>
            <a:chExt cx="4430649" cy="1189864"/>
          </a:xfrm>
        </p:grpSpPr>
        <p:sp>
          <p:nvSpPr>
            <p:cNvPr id="39" name="Freeform 39"/>
            <p:cNvSpPr/>
            <p:nvPr/>
          </p:nvSpPr>
          <p:spPr>
            <a:xfrm>
              <a:off x="6789420" y="1574482"/>
              <a:ext cx="129540" cy="104775"/>
            </a:xfrm>
            <a:custGeom>
              <a:avLst/>
              <a:gdLst/>
              <a:ahLst/>
              <a:cxnLst/>
              <a:rect l="l" t="t" r="r" b="b"/>
              <a:pathLst>
                <a:path w="129540" h="104775">
                  <a:moveTo>
                    <a:pt x="0" y="56197"/>
                  </a:moveTo>
                  <a:lnTo>
                    <a:pt x="49530" y="104775"/>
                  </a:lnTo>
                  <a:lnTo>
                    <a:pt x="129540" y="0"/>
                  </a:lnTo>
                </a:path>
              </a:pathLst>
            </a:custGeom>
            <a:noFill/>
            <a:ln w="24765" cap="rnd">
              <a:solidFill>
                <a:srgbClr val="14A38B"/>
              </a:solidFill>
              <a:round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7026402" y="1545907"/>
              <a:ext cx="327400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控制变量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：加 bY，方差降为 (1 − ρ²) 倍</a:t>
              </a:r>
            </a:p>
          </p:txBody>
        </p:sp>
        <p:sp>
          <p:nvSpPr>
            <p:cNvPr id="41" name="Freeform 41"/>
            <p:cNvSpPr/>
            <p:nvPr/>
          </p:nvSpPr>
          <p:spPr>
            <a:xfrm>
              <a:off x="6789420" y="1883092"/>
              <a:ext cx="129540" cy="104775"/>
            </a:xfrm>
            <a:custGeom>
              <a:avLst/>
              <a:gdLst/>
              <a:ahLst/>
              <a:cxnLst/>
              <a:rect l="l" t="t" r="r" b="b"/>
              <a:pathLst>
                <a:path w="129540" h="104775">
                  <a:moveTo>
                    <a:pt x="0" y="56198"/>
                  </a:moveTo>
                  <a:lnTo>
                    <a:pt x="49530" y="104775"/>
                  </a:lnTo>
                  <a:lnTo>
                    <a:pt x="129540" y="0"/>
                  </a:lnTo>
                </a:path>
              </a:pathLst>
            </a:custGeom>
            <a:noFill/>
            <a:ln w="24765" cap="rnd">
              <a:solidFill>
                <a:srgbClr val="14A38B"/>
              </a:solidFill>
              <a:round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7026402" y="1854518"/>
              <a:ext cx="381373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对立变量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：U 与 1 − U 成对，单调函数时负相关</a:t>
              </a:r>
            </a:p>
          </p:txBody>
        </p:sp>
        <p:sp>
          <p:nvSpPr>
            <p:cNvPr id="43" name="Freeform 43"/>
            <p:cNvSpPr/>
            <p:nvPr/>
          </p:nvSpPr>
          <p:spPr>
            <a:xfrm>
              <a:off x="6789420" y="2191702"/>
              <a:ext cx="129540" cy="104775"/>
            </a:xfrm>
            <a:custGeom>
              <a:avLst/>
              <a:gdLst/>
              <a:ahLst/>
              <a:cxnLst/>
              <a:rect l="l" t="t" r="r" b="b"/>
              <a:pathLst>
                <a:path w="129540" h="104775">
                  <a:moveTo>
                    <a:pt x="0" y="56198"/>
                  </a:moveTo>
                  <a:lnTo>
                    <a:pt x="49530" y="104775"/>
                  </a:lnTo>
                  <a:lnTo>
                    <a:pt x="129540" y="0"/>
                  </a:lnTo>
                </a:path>
              </a:pathLst>
            </a:custGeom>
            <a:noFill/>
            <a:ln w="24765" cap="rnd">
              <a:solidFill>
                <a:srgbClr val="14A38B"/>
              </a:solidFill>
              <a:round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7026402" y="2163128"/>
              <a:ext cx="40273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条件期望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：用 E(Y|X) 代替 Y，去掉 E[Var(Y|X)]</a:t>
              </a:r>
            </a:p>
          </p:txBody>
        </p:sp>
        <p:sp>
          <p:nvSpPr>
            <p:cNvPr id="45" name="Freeform 45"/>
            <p:cNvSpPr/>
            <p:nvPr/>
          </p:nvSpPr>
          <p:spPr>
            <a:xfrm>
              <a:off x="6789420" y="2500312"/>
              <a:ext cx="129540" cy="104775"/>
            </a:xfrm>
            <a:custGeom>
              <a:avLst/>
              <a:gdLst/>
              <a:ahLst/>
              <a:cxnLst/>
              <a:rect l="l" t="t" r="r" b="b"/>
              <a:pathLst>
                <a:path w="129540" h="104775">
                  <a:moveTo>
                    <a:pt x="0" y="56197"/>
                  </a:moveTo>
                  <a:lnTo>
                    <a:pt x="49530" y="104775"/>
                  </a:lnTo>
                  <a:lnTo>
                    <a:pt x="129540" y="0"/>
                  </a:lnTo>
                </a:path>
              </a:pathLst>
            </a:custGeom>
            <a:noFill/>
            <a:ln w="24765" cap="rnd">
              <a:solidFill>
                <a:srgbClr val="14A38B"/>
              </a:solidFill>
              <a:round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7026402" y="2471738"/>
              <a:ext cx="419366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随机数复用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：比较系统时共用随机数，差值方差变小</a:t>
              </a:r>
            </a:p>
          </p:txBody>
        </p:sp>
      </p:grpSp>
      <p:grpSp>
        <p:nvGrpSpPr>
          <p:cNvPr id="55" name="c2-card-2"/>
          <p:cNvGrpSpPr/>
          <p:nvPr/>
        </p:nvGrpSpPr>
        <p:grpSpPr>
          <a:xfrm>
            <a:off x="6789420" y="2852738"/>
            <a:ext cx="4869180" cy="1743075"/>
            <a:chOff x="6789420" y="2852738"/>
            <a:chExt cx="4869180" cy="1743075"/>
          </a:xfrm>
        </p:grpSpPr>
        <p:sp>
          <p:nvSpPr>
            <p:cNvPr id="48" name="Rectangle 48"/>
            <p:cNvSpPr/>
            <p:nvPr/>
          </p:nvSpPr>
          <p:spPr>
            <a:xfrm>
              <a:off x="6789420" y="2852738"/>
              <a:ext cx="4869180" cy="1743075"/>
            </a:xfrm>
            <a:prstGeom prst="roundRect">
              <a:avLst>
                <a:gd name="adj" fmla="val 765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9" name="Rectangle 49"/>
            <p:cNvSpPr/>
            <p:nvPr/>
          </p:nvSpPr>
          <p:spPr>
            <a:xfrm>
              <a:off x="6976110" y="3039428"/>
              <a:ext cx="1578292" cy="238125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7035178" y="3072289"/>
              <a:ext cx="146111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本讲用到的两个概率工具</a:t>
              </a:r>
            </a:p>
          </p:txBody>
        </p:sp>
        <p:sp>
          <p:nvSpPr>
            <p:cNvPr id="51" name="Ellipse 51"/>
            <p:cNvSpPr/>
            <p:nvPr/>
          </p:nvSpPr>
          <p:spPr>
            <a:xfrm>
              <a:off x="6984682" y="3440430"/>
              <a:ext cx="59055" cy="5905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7140702" y="3384232"/>
              <a:ext cx="3999928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双期望定理 E[E(X|Y)] = EX：保证分层、条件期望估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计无偏</a:t>
              </a:r>
            </a:p>
          </p:txBody>
        </p:sp>
        <p:sp>
          <p:nvSpPr>
            <p:cNvPr id="53" name="Ellipse 53"/>
            <p:cNvSpPr/>
            <p:nvPr/>
          </p:nvSpPr>
          <p:spPr>
            <a:xfrm>
              <a:off x="6984682" y="3997642"/>
              <a:ext cx="59055" cy="5905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7140702" y="3941445"/>
              <a:ext cx="4077081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方差分解 Var X = E[Var(X|Y)] + Var[E(X|Y)]：解释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这些方法为什么降方差</a:t>
              </a:r>
            </a:p>
          </p:txBody>
        </p:sp>
      </p:grpSp>
      <p:grpSp>
        <p:nvGrpSpPr>
          <p:cNvPr id="62" name="c2-callout-3"/>
          <p:cNvGrpSpPr/>
          <p:nvPr/>
        </p:nvGrpSpPr>
        <p:grpSpPr>
          <a:xfrm>
            <a:off x="6789420" y="4766310"/>
            <a:ext cx="4869180" cy="729615"/>
            <a:chOff x="6789420" y="4766310"/>
            <a:chExt cx="4869180" cy="729615"/>
          </a:xfrm>
        </p:grpSpPr>
        <p:sp>
          <p:nvSpPr>
            <p:cNvPr id="56" name="Rectangle 56"/>
            <p:cNvSpPr/>
            <p:nvPr/>
          </p:nvSpPr>
          <p:spPr>
            <a:xfrm>
              <a:off x="6789420" y="4766310"/>
              <a:ext cx="4869180" cy="729615"/>
            </a:xfrm>
            <a:prstGeom prst="roundRect">
              <a:avLst>
                <a:gd name="adj" fmla="val 15666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60" name="Group 60"/>
            <p:cNvGrpSpPr/>
            <p:nvPr/>
          </p:nvGrpSpPr>
          <p:grpSpPr>
            <a:xfrm>
              <a:off x="6994208" y="5030153"/>
              <a:ext cx="200026" cy="200025"/>
              <a:chOff x="6994208" y="5030153"/>
              <a:chExt cx="200026" cy="200025"/>
            </a:xfrm>
          </p:grpSpPr>
          <p:sp>
            <p:nvSpPr>
              <p:cNvPr id="57" name="Freeform 57"/>
              <p:cNvSpPr/>
              <p:nvPr/>
            </p:nvSpPr>
            <p:spPr>
              <a:xfrm>
                <a:off x="6994208" y="5030153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8" name="Freeform 58"/>
              <p:cNvSpPr/>
              <p:nvPr/>
            </p:nvSpPr>
            <p:spPr>
              <a:xfrm>
                <a:off x="7033946" y="5074603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9" name="Freeform 59"/>
              <p:cNvSpPr/>
              <p:nvPr/>
            </p:nvSpPr>
            <p:spPr>
              <a:xfrm>
                <a:off x="7068662" y="5185728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61" name="TextBox 61"/>
            <p:cNvSpPr txBox="1"/>
            <p:nvPr/>
          </p:nvSpPr>
          <p:spPr>
            <a:xfrm>
              <a:off x="7296912" y="4912042"/>
              <a:ext cx="3922776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3.6 随机服务系统模拟、3.7 Bootstrap 方法、3.8</a:t>
              </a:r>
              <a:br/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MCMC 见第3章（下）。</a:t>
              </a:r>
            </a:p>
          </p:txBody>
        </p:sp>
      </p:grpSp>
      <p:grpSp>
        <p:nvGrpSpPr>
          <p:cNvPr id="69" name="takeaway"/>
          <p:cNvGrpSpPr/>
          <p:nvPr/>
        </p:nvGrpSpPr>
        <p:grpSpPr>
          <a:xfrm>
            <a:off x="533400" y="5881688"/>
            <a:ext cx="11125200" cy="481012"/>
            <a:chOff x="533400" y="5881688"/>
            <a:chExt cx="11125200" cy="481012"/>
          </a:xfrm>
        </p:grpSpPr>
        <p:sp>
          <p:nvSpPr>
            <p:cNvPr id="63" name="Rectangle 63"/>
            <p:cNvSpPr/>
            <p:nvPr/>
          </p:nvSpPr>
          <p:spPr>
            <a:xfrm>
              <a:off x="533400" y="5881688"/>
              <a:ext cx="11125200" cy="481012"/>
            </a:xfrm>
            <a:prstGeom prst="roundRect">
              <a:avLst>
                <a:gd name="adj" fmla="val 23762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67" name="Group 67"/>
            <p:cNvGrpSpPr/>
            <p:nvPr/>
          </p:nvGrpSpPr>
          <p:grpSpPr>
            <a:xfrm>
              <a:off x="726129" y="6018966"/>
              <a:ext cx="224134" cy="192560"/>
              <a:chOff x="726129" y="6018966"/>
              <a:chExt cx="224134" cy="192560"/>
            </a:xfrm>
          </p:grpSpPr>
          <p:sp>
            <p:nvSpPr>
              <p:cNvPr id="64" name="Freeform 64"/>
              <p:cNvSpPr/>
              <p:nvPr/>
            </p:nvSpPr>
            <p:spPr>
              <a:xfrm>
                <a:off x="838200" y="6089333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65" name="Freeform 65"/>
              <p:cNvSpPr/>
              <p:nvPr/>
            </p:nvSpPr>
            <p:spPr>
              <a:xfrm>
                <a:off x="726129" y="6018966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66" name="Freeform 66"/>
              <p:cNvSpPr/>
              <p:nvPr/>
            </p:nvSpPr>
            <p:spPr>
              <a:xfrm>
                <a:off x="838200" y="6167121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68" name="TextBox 68"/>
            <p:cNvSpPr txBox="1"/>
            <p:nvPr/>
          </p:nvSpPr>
          <p:spPr>
            <a:xfrm>
              <a:off x="1040892" y="6028373"/>
              <a:ext cx="870983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比较不同方法时按相同的计算量算方差：对立变量法一对样本算两次函数值，重要抽样还要额外计算密度 g。</a:t>
              </a:r>
            </a:p>
          </p:txBody>
        </p:sp>
      </p:grpSp>
      <p:grpSp>
        <p:nvGrpSpPr>
          <p:cNvPr id="7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0" name="TextBox 70"/>
            <p:cNvSpPr txBox="1"/>
            <p:nvPr/>
          </p:nvSpPr>
          <p:spPr>
            <a:xfrm>
              <a:off x="528447" y="6581299"/>
              <a:ext cx="198882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统计计算 · 第3章 随机模拟（上）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statc_ch3a">
  <a:themeElements>
    <a:clrScheme name="statc_ch3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atc_ch3a">
      <a:majorFont>
        <a:latin typeface="Microsoft YaHei"/>
        <a:ea typeface="Microsoft YaHei"/>
        <a:cs typeface="Microsoft YaHe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icrosoft YaHei"/>
        <a:ea typeface="Microsoft YaHei"/>
        <a:cs typeface="Microsoft YaHe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tc_ch3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59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>zh-CN</dc:language>
  <cp:lastModifiedBy/>
  <cp:revision>1</cp:revision>
  <dcterms:created xsi:type="dcterms:W3CDTF">2026-09-19T02:43:19Z</dcterms:created>
  <dcterms:modified xsi:type="dcterms:W3CDTF">2026-09-19T02:43:19Z</dcterms:modified>
  <cp:category/>
  <cp:contentStatus/>
</cp:coreProperties>
</file>