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tatc_ch3a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tatc_ch3a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d9961aa68b829b1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672388f666bbd65a.png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34570552ef27372.png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632198" cy="3437763"/>
            <a:chOff x="666750" y="1619250"/>
            <a:chExt cx="463219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986915" cy="3429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2035" y="1718310"/>
              <a:ext cx="1754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统计计算 · 第3章（上）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995928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随机模拟（上）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用随机数算积分，再设法把估计方差压下来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随机模拟的思路与误差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随机投点法与平均值法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重要抽样与分层抽样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四种方差缩减技术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894345" cy="205359"/>
            <a:chOff x="680466" y="6192202"/>
            <a:chExt cx="4894345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8943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自学复习版｜据吉林大学《统计计算》第3章课件（3.1–3.5）整理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7354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9165" y="407194"/>
              <a:ext cx="15029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80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 随机模拟介绍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8118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数学建模的局限、蒙提霍尔问题、投针与投点估计 π、模拟误差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80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 随机模拟积分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双期望与方差分解、随机投点法、平均值法、误差度量、高维积分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5821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 重要抽样法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试投密度与权重、标准化重要抽样、带舍选控制的重要抽样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5821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 分层抽样法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分层估计、样本量的最优分配、按离散变量分层求期望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80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 方差缩减技术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控制变量、对立变量、条件期望、随机数复用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800475"/>
            <a:chOff x="7114222" y="1524000"/>
            <a:chExt cx="4544378" cy="380047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写出随机投点法和平均值法的估计量与渐近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方差，说明后者方差更小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由一次模拟的结果算出 RMSE、MAE、MRE，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并估计需要的样本量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为给定积分选试投密度，写出重要抽样估计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及其方差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用分层抽样、控制变量、对立变量、条件期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望改写估计量并比较方差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解释公共随机数为什么能提高两系统之差的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估计精度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691253" cy="3351847"/>
            <a:chOff x="667512" y="1835468"/>
            <a:chExt cx="469125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3665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 随机模拟介绍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把问题改写成概率模型，用大量随机数求近似解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数学建模的局限与随机模拟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蒙提霍尔问题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003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投针与投点估计 π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随机模拟误差、特点与应用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3.1 随机模拟介绍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数学模型求得出解，却未必贴近实际；随机模拟换一条路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compare-1"/>
          <p:cNvGrpSpPr/>
          <p:nvPr/>
        </p:nvGrpSpPr>
        <p:grpSpPr>
          <a:xfrm>
            <a:off x="533400" y="1524000"/>
            <a:ext cx="5410200" cy="2224088"/>
            <a:chOff x="533400" y="1524000"/>
            <a:chExt cx="5410200" cy="22240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495550" cy="2224088"/>
            </a:xfrm>
            <a:prstGeom prst="roundRect">
              <a:avLst>
                <a:gd name="adj" fmla="val 59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29996" y="175117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数学建模的常见做法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44855" y="214979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1446" y="209026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忽略许多细节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44855" y="246983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1446" y="2410301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增加一些很难验证的理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论假设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44855" y="306133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01446" y="300180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让模型足够简单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44855" y="338137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1446" y="332184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再用数学理论分析求解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48050" y="1524000"/>
              <a:ext cx="2495550" cy="2224088"/>
            </a:xfrm>
            <a:prstGeom prst="roundRect">
              <a:avLst>
                <a:gd name="adj" fmla="val 59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57575" y="1657350"/>
              <a:ext cx="47625" cy="195738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82746" y="175117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带来的问题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3697605" y="214979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854196" y="209026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与实际情况差距较大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3697605" y="246983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854196" y="2410301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即使理论分析完美，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结论也未必可信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3076575" y="247364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146915" y="257079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9" name="c1-card-2"/>
          <p:cNvGrpSpPr/>
          <p:nvPr/>
        </p:nvGrpSpPr>
        <p:grpSpPr>
          <a:xfrm>
            <a:off x="533400" y="3932872"/>
            <a:ext cx="5410200" cy="2253615"/>
            <a:chOff x="533400" y="3932872"/>
            <a:chExt cx="5410200" cy="2253615"/>
          </a:xfrm>
        </p:grpSpPr>
        <p:sp>
          <p:nvSpPr>
            <p:cNvPr id="27" name="Rectangle 27"/>
            <p:cNvSpPr/>
            <p:nvPr/>
          </p:nvSpPr>
          <p:spPr>
            <a:xfrm>
              <a:off x="533400" y="3932872"/>
              <a:ext cx="5410200" cy="2253615"/>
            </a:xfrm>
            <a:prstGeom prst="roundRect">
              <a:avLst>
                <a:gd name="adj" fmla="val 59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066222"/>
              <a:ext cx="47625" cy="19869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75335" y="4136708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70445" y="41724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33869" y="4177189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红绿灯信号的最优控制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8096" y="452866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目标：汽车通过路口的平均耽搁时间最短，同时行人等候时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间不超过某个心理极限值。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82955" y="518064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39546" y="5120164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按随机规律模拟汽车和行人到来的过程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82955" y="550068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39546" y="5440204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对每种控制方案统计耽搁时间与等候时间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82955" y="5820727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39546" y="5760244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比较统计结果，选出最优方案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248400" y="1524000"/>
            <a:ext cx="5410200" cy="1293495"/>
            <a:chOff x="6248400" y="1524000"/>
            <a:chExt cx="5410200" cy="1293495"/>
          </a:xfrm>
        </p:grpSpPr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57925" y="165735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90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80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91744" y="176736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83096" y="211978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把某一现实的或抽象的系统的某种特征或部分状态，用另一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个系统（称为模拟模型）来代替或模拟。</a:t>
              </a:r>
            </a:p>
          </p:txBody>
        </p:sp>
      </p:grpSp>
      <p:grpSp>
        <p:nvGrpSpPr>
          <p:cNvPr id="54" name="c2-card-2"/>
          <p:cNvGrpSpPr/>
          <p:nvPr/>
        </p:nvGrpSpPr>
        <p:grpSpPr>
          <a:xfrm>
            <a:off x="6248400" y="3002280"/>
            <a:ext cx="5410200" cy="3184208"/>
            <a:chOff x="6248400" y="3002280"/>
            <a:chExt cx="5410200" cy="3184208"/>
          </a:xfrm>
        </p:grpSpPr>
        <p:sp>
          <p:nvSpPr>
            <p:cNvPr id="47" name="Rectangle 47"/>
            <p:cNvSpPr/>
            <p:nvPr/>
          </p:nvSpPr>
          <p:spPr>
            <a:xfrm>
              <a:off x="6248400" y="3002280"/>
              <a:ext cx="5410200" cy="3184208"/>
            </a:xfrm>
            <a:prstGeom prst="roundRect">
              <a:avLst>
                <a:gd name="adj" fmla="val 41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57925" y="3135630"/>
              <a:ext cx="47625" cy="291750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90335" y="32061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80543" y="32418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91744" y="3246596"/>
              <a:ext cx="27718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随机模拟法（Monte Carlo 法）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83096" y="3598069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为了解决某个问题，先把它变成一个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概率模型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的求解问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题，然后产生符合模型的大量随机数，对这些随机数做统计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分析，从而求解问题。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84239" y="4457700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车流、人流的到达都是随机的，解析求最优方案很难；模拟只需按规则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把过程演一遍再统计。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3.1 随机模拟介绍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蒙提霍尔问题：主持人开门之后，换门划不划算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1917382"/>
            <a:chOff x="533400" y="1524000"/>
            <a:chExt cx="5842635" cy="19173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917382"/>
            </a:xfrm>
            <a:prstGeom prst="roundRect">
              <a:avLst>
                <a:gd name="adj" fmla="val 69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506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三门问题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1947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Monty Hall problem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158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三扇关闭的门中，一扇后面是汽车，另两扇后面各是一只山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羊。参赛者先选定一扇但不打开；主持人从剩下两扇中打开一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扇藏山羊的门，再问参赛者是否换成另一扇仍关着的门。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3033236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问题：采用换门策略是否有利？赢得汽车的机会有多大？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27685" y="3631882"/>
            <a:ext cx="5848350" cy="2091215"/>
            <a:chOff x="527685" y="3631882"/>
            <a:chExt cx="5848350" cy="2091215"/>
          </a:xfrm>
        </p:grpSpPr>
        <p:sp>
          <p:nvSpPr>
            <p:cNvPr id="15" name="Rectangle 15"/>
            <p:cNvSpPr/>
            <p:nvPr/>
          </p:nvSpPr>
          <p:spPr>
            <a:xfrm>
              <a:off x="533400" y="3631882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2863" y="3767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骰子点数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73046" y="3767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对应号码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34181" y="3767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最初选中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95316" y="3767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换门结果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17544" y="4216241"/>
              <a:ext cx="492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或 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70287" y="4216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33261" y="4216241"/>
              <a:ext cx="504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山羊 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53786" y="421624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赢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5253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530090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17544" y="4664869"/>
              <a:ext cx="492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或 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670287" y="466486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33261" y="4664869"/>
              <a:ext cx="504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山羊 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53786" y="466486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赢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97395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17544" y="5113496"/>
              <a:ext cx="492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或 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670287" y="511349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006494" y="51134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汽车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553786" y="511349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输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631882"/>
              <a:ext cx="584263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989772" y="363188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449955" y="363188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911090" y="363188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7685" y="5503069"/>
              <a:ext cx="5514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两只山羊编号 1、2，汽车编号 3；掷一次骰子代表参赛者从 1、2、3 中随机选一个</a:t>
              </a:r>
            </a:p>
          </p:txBody>
        </p:sp>
      </p:grpSp>
      <p:grpSp>
        <p:nvGrpSpPr>
          <p:cNvPr id="58" name="c2-steps-1"/>
          <p:cNvGrpSpPr/>
          <p:nvPr/>
        </p:nvGrpSpPr>
        <p:grpSpPr>
          <a:xfrm>
            <a:off x="6680835" y="1533525"/>
            <a:ext cx="4652137" cy="2998756"/>
            <a:chOff x="6680835" y="1533525"/>
            <a:chExt cx="4652137" cy="2998756"/>
          </a:xfrm>
        </p:grpSpPr>
        <p:sp>
          <p:nvSpPr>
            <p:cNvPr id="41" name="Rectangle 41"/>
            <p:cNvSpPr/>
            <p:nvPr/>
          </p:nvSpPr>
          <p:spPr>
            <a:xfrm>
              <a:off x="6814185" y="1676400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668083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7445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680835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7445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680835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74459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680835" y="37204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74459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92315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一次试验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93458" y="186166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掷一次骰子，确定参赛者最初选中的号码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92315" y="2218372"/>
              <a:ext cx="832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点数 1–4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093458" y="2512219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最初选中山羊，主持人只能打开另一只山羊的门，换门必得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汽车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92315" y="3104198"/>
              <a:ext cx="832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点数 5–6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93458" y="339709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最初选中汽车，换门必然失去汽车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092315" y="3754755"/>
              <a:ext cx="864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 n 次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093458" y="4048601"/>
              <a:ext cx="41257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记点数为 1–4 的次数 m，它就是换门赢得汽车的次数，用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m/n 估计换门获胜的概率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77991" cy="909257"/>
            <a:chOff x="520446" y="342900"/>
            <a:chExt cx="58779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3.1 随机模拟介绍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779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模拟频率稳定在 2/3，与概率计算一致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able-1"/>
          <p:cNvGrpSpPr/>
          <p:nvPr/>
        </p:nvGrpSpPr>
        <p:grpSpPr>
          <a:xfrm>
            <a:off x="527685" y="1524000"/>
            <a:ext cx="4766310" cy="3437097"/>
            <a:chOff x="527685" y="1524000"/>
            <a:chExt cx="4766310" cy="343709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58866" y="1659731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试验次数 n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49246" y="1659731"/>
              <a:ext cx="14358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换门获胜频率 m/n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80877" y="210835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76368" y="210835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0.7000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41649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421255"/>
              <a:ext cx="476059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31121" y="255698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76368" y="2556986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0.6600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607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381366" y="3005614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6368" y="3005614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0.6650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470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319462"/>
              <a:ext cx="476059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331610" y="3454241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6368" y="345424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0.6600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332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81855" y="3903821"/>
              <a:ext cx="6100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676368" y="390382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0.6663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21195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216718"/>
              <a:ext cx="476059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32099" y="4352449"/>
              <a:ext cx="709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676368" y="435244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0.6666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524000"/>
              <a:ext cx="4760595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635568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7685" y="474106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原课件给出的一次模拟结果</a:t>
              </a:r>
            </a:p>
          </p:txBody>
        </p:sp>
      </p:grpSp>
      <p:grpSp>
        <p:nvGrpSpPr>
          <p:cNvPr id="37" name="c1-card-2"/>
          <p:cNvGrpSpPr/>
          <p:nvPr/>
        </p:nvGrpSpPr>
        <p:grpSpPr>
          <a:xfrm>
            <a:off x="533400" y="5107305"/>
            <a:ext cx="4760595" cy="1249680"/>
            <a:chOff x="533400" y="5107305"/>
            <a:chExt cx="4760595" cy="1249680"/>
          </a:xfrm>
        </p:grpSpPr>
        <p:sp>
          <p:nvSpPr>
            <p:cNvPr id="34" name="Rectangle 34"/>
            <p:cNvSpPr/>
            <p:nvPr/>
          </p:nvSpPr>
          <p:spPr>
            <a:xfrm>
              <a:off x="533400" y="5107305"/>
              <a:ext cx="4760595" cy="1249680"/>
            </a:xfrm>
            <a:prstGeom prst="roundRect">
              <a:avLst>
                <a:gd name="adj" fmla="val 106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5240655"/>
              <a:ext cx="47625" cy="9829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73430" y="5341620"/>
              <a:ext cx="4015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精确计算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：换门获胜当且仅当最初选中山羊，概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 2/3；坚持不换获胜当且仅当最初选中汽车，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 1/3。</a:t>
              </a:r>
            </a:p>
          </p:txBody>
        </p:sp>
      </p:grpSp>
      <p:grpSp>
        <p:nvGrpSpPr>
          <p:cNvPr id="41" name="c2-code-1"/>
          <p:cNvGrpSpPr/>
          <p:nvPr/>
        </p:nvGrpSpPr>
        <p:grpSpPr>
          <a:xfrm>
            <a:off x="5598795" y="1524000"/>
            <a:ext cx="6059805" cy="1922145"/>
            <a:chOff x="5598795" y="1524000"/>
            <a:chExt cx="6059805" cy="1922145"/>
          </a:xfrm>
        </p:grpSpPr>
        <p:sp>
          <p:nvSpPr>
            <p:cNvPr id="38" name="Rectangle 38"/>
            <p:cNvSpPr/>
            <p:nvPr/>
          </p:nvSpPr>
          <p:spPr>
            <a:xfrm>
              <a:off x="5598795" y="1524000"/>
              <a:ext cx="6059805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727192" y="1675924"/>
              <a:ext cx="15416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R：两种写法模拟换门策略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726430" y="1937861"/>
              <a:ext cx="3688334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&lt;- 1e5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die &lt;- sample(1:6, n, replace =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sum(die &lt;= 4) / n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点数 1~4：换门赢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car  &lt;- sample(1:3, n, replace =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pick &lt;- sample(1:3, n, replace =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mean(pick != car)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最初没选中车，换门就赢</a:t>
              </a:r>
            </a:p>
          </p:txBody>
        </p:sp>
      </p:grpSp>
      <p:grpSp>
        <p:nvGrpSpPr>
          <p:cNvPr id="48" name="c2-callout-2"/>
          <p:cNvGrpSpPr/>
          <p:nvPr/>
        </p:nvGrpSpPr>
        <p:grpSpPr>
          <a:xfrm>
            <a:off x="5598795" y="3636645"/>
            <a:ext cx="6059805" cy="782955"/>
            <a:chOff x="5598795" y="3636645"/>
            <a:chExt cx="6059805" cy="782955"/>
          </a:xfrm>
        </p:grpSpPr>
        <p:sp>
          <p:nvSpPr>
            <p:cNvPr id="42" name="Rectangle 42"/>
            <p:cNvSpPr/>
            <p:nvPr/>
          </p:nvSpPr>
          <p:spPr>
            <a:xfrm>
              <a:off x="5598795" y="363664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5803583" y="3928110"/>
              <a:ext cx="200026" cy="200025"/>
              <a:chOff x="5803583" y="3928110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803583" y="39281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5843321" y="39725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5878037" y="40836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105525" y="3785235"/>
              <a:ext cx="4939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模拟只要求写清一次试验怎么做，不必推导条件概率；n 越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大，频率在 2/3 附近摆动的幅度越小。</a:t>
              </a:r>
            </a:p>
          </p:txBody>
        </p:sp>
      </p:grpSp>
      <p:grpSp>
        <p:nvGrpSpPr>
          <p:cNvPr id="72" name="c2-graph-3"/>
          <p:cNvGrpSpPr/>
          <p:nvPr/>
        </p:nvGrpSpPr>
        <p:grpSpPr>
          <a:xfrm>
            <a:off x="5630649" y="4654868"/>
            <a:ext cx="5846976" cy="1688496"/>
            <a:chOff x="5630649" y="4654868"/>
            <a:chExt cx="5846976" cy="1688496"/>
          </a:xfrm>
        </p:grpSpPr>
        <p:sp>
          <p:nvSpPr>
            <p:cNvPr id="49" name="Freeform 49"/>
            <p:cNvSpPr/>
            <p:nvPr/>
          </p:nvSpPr>
          <p:spPr>
            <a:xfrm>
              <a:off x="6216015" y="6099810"/>
              <a:ext cx="5154930" cy="9525"/>
            </a:xfrm>
            <a:custGeom>
              <a:avLst/>
              <a:gdLst/>
              <a:ahLst/>
              <a:cxnLst/>
              <a:rect l="l" t="t" r="r" b="b"/>
              <a:pathLst>
                <a:path w="5154930" h="9525">
                  <a:moveTo>
                    <a:pt x="0" y="0"/>
                  </a:moveTo>
                  <a:lnTo>
                    <a:pt x="515493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1370945" y="60521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6205538" y="4855845"/>
              <a:ext cx="9525" cy="1321118"/>
            </a:xfrm>
            <a:custGeom>
              <a:avLst/>
              <a:gdLst/>
              <a:ahLst/>
              <a:cxnLst/>
              <a:rect l="l" t="t" r="r" b="b"/>
              <a:pathLst>
                <a:path w="9525" h="1321118">
                  <a:moveTo>
                    <a:pt x="0" y="132111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6157912" y="47605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6216015" y="5722620"/>
              <a:ext cx="5129212" cy="9525"/>
            </a:xfrm>
            <a:custGeom>
              <a:avLst/>
              <a:gdLst/>
              <a:ahLst/>
              <a:cxnLst/>
              <a:rect l="l" t="t" r="r" b="b"/>
              <a:pathLst>
                <a:path w="5129212" h="9525">
                  <a:moveTo>
                    <a:pt x="0" y="0"/>
                  </a:moveTo>
                  <a:lnTo>
                    <a:pt x="5129212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  <a:custDash>
                <a:ds d="333333" sp="222222"/>
              </a:custDash>
            </a:ln>
          </p:spPr>
        </p:sp>
        <p:sp>
          <p:nvSpPr>
            <p:cNvPr id="54" name="Freeform 54"/>
            <p:cNvSpPr/>
            <p:nvPr/>
          </p:nvSpPr>
          <p:spPr>
            <a:xfrm>
              <a:off x="6844665" y="5033010"/>
              <a:ext cx="4160520" cy="835343"/>
            </a:xfrm>
            <a:custGeom>
              <a:avLst/>
              <a:gdLst/>
              <a:ahLst/>
              <a:cxnLst/>
              <a:rect l="l" t="t" r="r" b="b"/>
              <a:pathLst>
                <a:path w="4160520" h="835343">
                  <a:moveTo>
                    <a:pt x="0" y="0"/>
                  </a:moveTo>
                  <a:lnTo>
                    <a:pt x="814388" y="835343"/>
                  </a:lnTo>
                  <a:lnTo>
                    <a:pt x="1663065" y="726758"/>
                  </a:lnTo>
                  <a:lnTo>
                    <a:pt x="2511742" y="835343"/>
                  </a:lnTo>
                  <a:lnTo>
                    <a:pt x="3359467" y="699135"/>
                  </a:lnTo>
                  <a:lnTo>
                    <a:pt x="4160520" y="692468"/>
                  </a:lnTo>
                </a:path>
              </a:pathLst>
            </a:custGeom>
            <a:noFill/>
            <a:ln w="22860">
              <a:solidFill>
                <a:srgbClr val="2E7D4F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6204585" y="609885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Ellipse 56"/>
            <p:cNvSpPr/>
            <p:nvPr/>
          </p:nvSpPr>
          <p:spPr>
            <a:xfrm>
              <a:off x="11475720" y="609885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6204585" y="618648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6204585" y="47491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9" name="Ellipse 59"/>
            <p:cNvSpPr/>
            <p:nvPr/>
          </p:nvSpPr>
          <p:spPr>
            <a:xfrm>
              <a:off x="6204585" y="572166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0" name="Ellipse 60"/>
            <p:cNvSpPr/>
            <p:nvPr/>
          </p:nvSpPr>
          <p:spPr>
            <a:xfrm>
              <a:off x="11354753" y="572166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1" name="Ellipse 61"/>
            <p:cNvSpPr/>
            <p:nvPr/>
          </p:nvSpPr>
          <p:spPr>
            <a:xfrm>
              <a:off x="6773228" y="4960620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Ellipse 62"/>
            <p:cNvSpPr/>
            <p:nvPr/>
          </p:nvSpPr>
          <p:spPr>
            <a:xfrm>
              <a:off x="11014710" y="56864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727889" y="5617369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2/3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630649" y="4893469"/>
              <a:ext cx="3001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0.70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733814" y="615267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545259" y="615267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10²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393937" y="615267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10³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242614" y="615267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10⁴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090339" y="615267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10⁵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939017" y="615267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10⁶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926961" y="4654868"/>
              <a:ext cx="11778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换门获胜频率 m/n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3.1 随机模拟介绍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随机模拟的一般思路：先把模拟系统搭起来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406390" cy="588645"/>
            <a:chOff x="525780" y="1548765"/>
            <a:chExt cx="5406390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40639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应用随机模拟方法的关键步骤，是构造该问题的 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模拟系统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。搭系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统时要回答四个问题：</a:t>
              </a:r>
            </a:p>
          </p:txBody>
        </p:sp>
      </p:grpSp>
      <p:grpSp>
        <p:nvGrpSpPr>
          <p:cNvPr id="27" name="c1-table-2"/>
          <p:cNvGrpSpPr/>
          <p:nvPr/>
        </p:nvGrpSpPr>
        <p:grpSpPr>
          <a:xfrm>
            <a:off x="533400" y="2268855"/>
            <a:ext cx="5626418" cy="2244091"/>
            <a:chOff x="533400" y="2268855"/>
            <a:chExt cx="5626418" cy="2244091"/>
          </a:xfrm>
        </p:grpSpPr>
        <p:sp>
          <p:nvSpPr>
            <p:cNvPr id="9" name="Rectangle 9"/>
            <p:cNvSpPr/>
            <p:nvPr/>
          </p:nvSpPr>
          <p:spPr>
            <a:xfrm>
              <a:off x="533400" y="2268855"/>
              <a:ext cx="5626418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92035" y="240458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要回答的问题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32454" y="240458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在蒙提霍尔问题中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8532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系统的状态是什么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04376" y="285321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汽车在哪扇门后、参赛者最初选哪扇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16134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16611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30184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存在什么随机因素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04376" y="330184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参赛者的最初选择（掷骰子）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61092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75046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系统会出现哪些结果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004376" y="375046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换门后赢得汽车或失去汽车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05955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4064318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419909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要计算的性能指标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04376" y="419909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换门策略下赢得汽车的概率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268855"/>
              <a:ext cx="5626418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891790" y="226885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1-flow-3"/>
          <p:cNvGrpSpPr/>
          <p:nvPr/>
        </p:nvGrpSpPr>
        <p:grpSpPr>
          <a:xfrm>
            <a:off x="666750" y="5313998"/>
            <a:ext cx="5359717" cy="438150"/>
            <a:chOff x="666750" y="5313998"/>
            <a:chExt cx="5359717" cy="438150"/>
          </a:xfrm>
        </p:grpSpPr>
        <p:sp>
          <p:nvSpPr>
            <p:cNvPr id="28" name="Freeform 28"/>
            <p:cNvSpPr/>
            <p:nvPr/>
          </p:nvSpPr>
          <p:spPr>
            <a:xfrm>
              <a:off x="1806892" y="553307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968818" y="54806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3213735" y="553307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3375660" y="54806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4619625" y="553307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4781550" y="54806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66750" y="5313998"/>
              <a:ext cx="1140142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2073592" y="5313998"/>
              <a:ext cx="114014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3480435" y="5313998"/>
              <a:ext cx="114014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4886325" y="5313998"/>
              <a:ext cx="1140142" cy="438150"/>
            </a:xfrm>
            <a:prstGeom prst="roundRect">
              <a:avLst>
                <a:gd name="adj" fmla="val 21739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85241" y="54440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建立系统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292083" y="54440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抽随机数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680394" y="5444014"/>
              <a:ext cx="7392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 N 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105768" y="54440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统计误差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6464618" y="1524000"/>
            <a:ext cx="5193982" cy="2371725"/>
            <a:chOff x="6464618" y="1524000"/>
            <a:chExt cx="5193982" cy="2371725"/>
          </a:xfrm>
        </p:grpSpPr>
        <p:sp>
          <p:nvSpPr>
            <p:cNvPr id="43" name="Rectangle 43"/>
            <p:cNvSpPr/>
            <p:nvPr/>
          </p:nvSpPr>
          <p:spPr>
            <a:xfrm>
              <a:off x="6464618" y="1524000"/>
              <a:ext cx="5193982" cy="2371725"/>
            </a:xfrm>
            <a:prstGeom prst="roundRect">
              <a:avLst>
                <a:gd name="adj" fmla="val 56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741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653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679883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37998" y="211074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应用面广，适应性强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679883" y="250888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37998" y="244602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算法简单，容易改变条件，但计算量大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679883" y="28441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37998" y="278130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结果具有随机性，精度较低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679883" y="317944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837998" y="3116580"/>
              <a:ext cx="44493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结果的收敛服从概率论规律，误差约按 1/√N 下降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679883" y="35147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37998" y="345186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对维数增加不敏感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6464618" y="4086225"/>
            <a:ext cx="5193982" cy="1760220"/>
            <a:chOff x="6464618" y="4086225"/>
            <a:chExt cx="5193982" cy="1760220"/>
          </a:xfrm>
        </p:grpSpPr>
        <p:sp>
          <p:nvSpPr>
            <p:cNvPr id="57" name="Rectangle 57"/>
            <p:cNvSpPr/>
            <p:nvPr/>
          </p:nvSpPr>
          <p:spPr>
            <a:xfrm>
              <a:off x="6464618" y="4086225"/>
              <a:ext cx="5193982" cy="1760220"/>
            </a:xfrm>
            <a:prstGeom prst="roundRect">
              <a:avLst>
                <a:gd name="adj" fmla="val 75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474142" y="4219575"/>
              <a:ext cx="47625" cy="14935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712268" y="429577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803428" y="43314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应用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717983" y="473583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876098" y="467296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探索性试验；说明新模型或新技术的有效性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6717983" y="507111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876098" y="5008245"/>
              <a:ext cx="4253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蒙特卡洛检验；bootstrap 置信区间与偏差修正；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MCMC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63910" cy="909257"/>
            <a:chOff x="520446" y="342900"/>
            <a:chExt cx="76639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3.1 随机模拟介绍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639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例10.1(1) 蒲丰投针：由针与线相交的频率反推 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graph-1"/>
          <p:cNvGrpSpPr/>
          <p:nvPr/>
        </p:nvGrpSpPr>
        <p:grpSpPr>
          <a:xfrm>
            <a:off x="722948" y="1778318"/>
            <a:ext cx="4381499" cy="1176337"/>
            <a:chOff x="722948" y="1778318"/>
            <a:chExt cx="4381499" cy="1176337"/>
          </a:xfrm>
        </p:grpSpPr>
        <p:sp>
          <p:nvSpPr>
            <p:cNvPr id="7" name="Freeform 7"/>
            <p:cNvSpPr/>
            <p:nvPr/>
          </p:nvSpPr>
          <p:spPr>
            <a:xfrm>
              <a:off x="734378" y="1779270"/>
              <a:ext cx="4358640" cy="9525"/>
            </a:xfrm>
            <a:custGeom>
              <a:avLst/>
              <a:gdLst/>
              <a:ahLst/>
              <a:cxnLst/>
              <a:rect l="l" t="t" r="r" b="b"/>
              <a:pathLst>
                <a:path w="4358640" h="9525">
                  <a:moveTo>
                    <a:pt x="0" y="0"/>
                  </a:moveTo>
                  <a:lnTo>
                    <a:pt x="435864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734378" y="2861310"/>
              <a:ext cx="4358640" cy="9525"/>
            </a:xfrm>
            <a:custGeom>
              <a:avLst/>
              <a:gdLst/>
              <a:ahLst/>
              <a:cxnLst/>
              <a:rect l="l" t="t" r="r" b="b"/>
              <a:pathLst>
                <a:path w="4358640" h="9525">
                  <a:moveTo>
                    <a:pt x="0" y="0"/>
                  </a:moveTo>
                  <a:lnTo>
                    <a:pt x="4358640" y="0"/>
                  </a:lnTo>
                </a:path>
              </a:pathLst>
            </a:custGeom>
            <a:noFill/>
            <a:ln w="1905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004060" y="2009775"/>
              <a:ext cx="2009775" cy="940117"/>
            </a:xfrm>
            <a:custGeom>
              <a:avLst/>
              <a:gdLst/>
              <a:ahLst/>
              <a:cxnLst/>
              <a:rect l="l" t="t" r="r" b="b"/>
              <a:pathLst>
                <a:path w="2009775" h="940117">
                  <a:moveTo>
                    <a:pt x="0" y="940117"/>
                  </a:moveTo>
                  <a:lnTo>
                    <a:pt x="2009775" y="0"/>
                  </a:lnTo>
                </a:path>
              </a:pathLst>
            </a:custGeom>
            <a:noFill/>
            <a:ln w="33338">
              <a:solidFill>
                <a:srgbClr val="F26B3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008948" y="2631758"/>
              <a:ext cx="9525" cy="123825"/>
            </a:xfrm>
            <a:custGeom>
              <a:avLst/>
              <a:gdLst/>
              <a:ahLst/>
              <a:cxnLst/>
              <a:rect l="l" t="t" r="r" b="b"/>
              <a:pathLst>
                <a:path w="9525" h="123825">
                  <a:moveTo>
                    <a:pt x="0" y="0"/>
                  </a:moveTo>
                  <a:lnTo>
                    <a:pt x="0" y="123825"/>
                  </a:lnTo>
                </a:path>
              </a:pathLst>
            </a:custGeom>
            <a:noFill/>
            <a:ln w="17145">
              <a:solidFill>
                <a:srgbClr val="2E7D4F"/>
              </a:solidFill>
              <a:custDash>
                <a:ds d="333333" sp="222222"/>
              </a:custDash>
            </a:ln>
          </p:spPr>
        </p:sp>
        <p:sp>
          <p:nvSpPr>
            <p:cNvPr id="11" name="Freeform 11"/>
            <p:cNvSpPr/>
            <p:nvPr/>
          </p:nvSpPr>
          <p:spPr>
            <a:xfrm>
              <a:off x="2961322" y="275558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2E7D4F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2961322" y="253650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2E7D4F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104900" y="1884998"/>
              <a:ext cx="9525" cy="870585"/>
            </a:xfrm>
            <a:custGeom>
              <a:avLst/>
              <a:gdLst/>
              <a:ahLst/>
              <a:cxnLst/>
              <a:rect l="l" t="t" r="r" b="b"/>
              <a:pathLst>
                <a:path w="9525" h="870585">
                  <a:moveTo>
                    <a:pt x="0" y="0"/>
                  </a:moveTo>
                  <a:lnTo>
                    <a:pt x="0" y="87058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057275" y="275558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057275" y="178974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3066098" y="2479358"/>
              <a:ext cx="980123" cy="9525"/>
            </a:xfrm>
            <a:custGeom>
              <a:avLst/>
              <a:gdLst/>
              <a:ahLst/>
              <a:cxnLst/>
              <a:rect l="l" t="t" r="r" b="b"/>
              <a:pathLst>
                <a:path w="980123" h="9525">
                  <a:moveTo>
                    <a:pt x="0" y="0"/>
                  </a:moveTo>
                  <a:lnTo>
                    <a:pt x="980123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4023360" y="2110740"/>
              <a:ext cx="9525" cy="262890"/>
            </a:xfrm>
            <a:custGeom>
              <a:avLst/>
              <a:gdLst/>
              <a:ahLst/>
              <a:cxnLst/>
              <a:rect l="l" t="t" r="r" b="b"/>
              <a:pathLst>
                <a:path w="9525" h="262890">
                  <a:moveTo>
                    <a:pt x="0" y="0"/>
                  </a:moveTo>
                  <a:lnTo>
                    <a:pt x="0" y="262890"/>
                  </a:lnTo>
                </a:path>
              </a:pathLst>
            </a:custGeom>
            <a:noFill/>
            <a:ln w="17145">
              <a:solidFill>
                <a:srgbClr val="B42318"/>
              </a:solidFill>
              <a:custDash>
                <a:ds d="333333" sp="222222"/>
              </a:custDash>
            </a:ln>
          </p:spPr>
        </p:sp>
        <p:sp>
          <p:nvSpPr>
            <p:cNvPr id="18" name="Freeform 18"/>
            <p:cNvSpPr/>
            <p:nvPr/>
          </p:nvSpPr>
          <p:spPr>
            <a:xfrm>
              <a:off x="3975735" y="23736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975735" y="20154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722948" y="17783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102542" y="17783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722948" y="286035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5102542" y="286035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994535" y="295275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4022407" y="200406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2961322" y="2431732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3007995" y="286035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1103948" y="17783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1103948" y="286035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4055745" y="24784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4022407" y="200406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4022407" y="24784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65149" y="22302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769196" y="26131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578821" y="23102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23182" y="2151221"/>
              <a:ext cx="742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(h/2)·sin x</a:t>
              </a:r>
            </a:p>
          </p:txBody>
        </p:sp>
      </p:grpSp>
      <p:grpSp>
        <p:nvGrpSpPr>
          <p:cNvPr id="114" name="c1-graph-2"/>
          <p:cNvGrpSpPr/>
          <p:nvPr/>
        </p:nvGrpSpPr>
        <p:grpSpPr>
          <a:xfrm>
            <a:off x="619182" y="3398520"/>
            <a:ext cx="4570019" cy="2123789"/>
            <a:chOff x="619182" y="3398520"/>
            <a:chExt cx="4570019" cy="2123789"/>
          </a:xfrm>
        </p:grpSpPr>
        <p:sp>
          <p:nvSpPr>
            <p:cNvPr id="38" name="Freeform 38"/>
            <p:cNvSpPr/>
            <p:nvPr/>
          </p:nvSpPr>
          <p:spPr>
            <a:xfrm>
              <a:off x="1020128" y="5233035"/>
              <a:ext cx="4025265" cy="9525"/>
            </a:xfrm>
            <a:custGeom>
              <a:avLst/>
              <a:gdLst/>
              <a:ahLst/>
              <a:cxnLst/>
              <a:rect l="l" t="t" r="r" b="b"/>
              <a:pathLst>
                <a:path w="4025265" h="9525">
                  <a:moveTo>
                    <a:pt x="0" y="0"/>
                  </a:moveTo>
                  <a:lnTo>
                    <a:pt x="4025265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5045392" y="51854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1009650" y="3505200"/>
              <a:ext cx="9525" cy="1717357"/>
            </a:xfrm>
            <a:custGeom>
              <a:avLst/>
              <a:gdLst/>
              <a:ahLst/>
              <a:cxnLst/>
              <a:rect l="l" t="t" r="r" b="b"/>
              <a:pathLst>
                <a:path w="9525" h="1717357">
                  <a:moveTo>
                    <a:pt x="0" y="1717357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62025" y="34099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1009650" y="3603308"/>
              <a:ext cx="3904298" cy="1619250"/>
            </a:xfrm>
            <a:custGeom>
              <a:avLst/>
              <a:gdLst/>
              <a:ahLst/>
              <a:cxnLst/>
              <a:rect l="l" t="t" r="r" b="b"/>
              <a:pathLst>
                <a:path w="3904298" h="1619250">
                  <a:moveTo>
                    <a:pt x="0" y="1619250"/>
                  </a:moveTo>
                  <a:lnTo>
                    <a:pt x="0" y="0"/>
                  </a:lnTo>
                  <a:lnTo>
                    <a:pt x="3904298" y="0"/>
                  </a:lnTo>
                  <a:lnTo>
                    <a:pt x="3904298" y="1619250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17270" y="4091940"/>
              <a:ext cx="3889058" cy="1133475"/>
            </a:xfrm>
            <a:custGeom>
              <a:avLst/>
              <a:gdLst/>
              <a:ahLst/>
              <a:cxnLst/>
              <a:rect l="l" t="t" r="r" b="b"/>
              <a:pathLst>
                <a:path w="3889058" h="1133475">
                  <a:moveTo>
                    <a:pt x="0" y="1133475"/>
                  </a:moveTo>
                  <a:lnTo>
                    <a:pt x="92393" y="1050607"/>
                  </a:lnTo>
                  <a:lnTo>
                    <a:pt x="187643" y="962025"/>
                  </a:lnTo>
                  <a:lnTo>
                    <a:pt x="282892" y="873442"/>
                  </a:lnTo>
                  <a:lnTo>
                    <a:pt x="382905" y="787717"/>
                  </a:lnTo>
                  <a:lnTo>
                    <a:pt x="478155" y="703897"/>
                  </a:lnTo>
                  <a:lnTo>
                    <a:pt x="578168" y="622935"/>
                  </a:lnTo>
                  <a:lnTo>
                    <a:pt x="678180" y="545782"/>
                  </a:lnTo>
                  <a:lnTo>
                    <a:pt x="773430" y="470535"/>
                  </a:lnTo>
                  <a:lnTo>
                    <a:pt x="868680" y="401002"/>
                  </a:lnTo>
                  <a:lnTo>
                    <a:pt x="968692" y="335280"/>
                  </a:lnTo>
                  <a:lnTo>
                    <a:pt x="1062990" y="274320"/>
                  </a:lnTo>
                  <a:lnTo>
                    <a:pt x="1163002" y="217170"/>
                  </a:lnTo>
                  <a:lnTo>
                    <a:pt x="1263015" y="167640"/>
                  </a:lnTo>
                  <a:lnTo>
                    <a:pt x="1358265" y="124777"/>
                  </a:lnTo>
                  <a:lnTo>
                    <a:pt x="1458277" y="86677"/>
                  </a:lnTo>
                  <a:lnTo>
                    <a:pt x="1553527" y="57150"/>
                  </a:lnTo>
                  <a:lnTo>
                    <a:pt x="1653540" y="32385"/>
                  </a:lnTo>
                  <a:lnTo>
                    <a:pt x="1748790" y="14288"/>
                  </a:lnTo>
                  <a:lnTo>
                    <a:pt x="1844040" y="4762"/>
                  </a:lnTo>
                  <a:lnTo>
                    <a:pt x="1944052" y="0"/>
                  </a:lnTo>
                  <a:lnTo>
                    <a:pt x="2044065" y="4762"/>
                  </a:lnTo>
                  <a:lnTo>
                    <a:pt x="2139315" y="14288"/>
                  </a:lnTo>
                  <a:lnTo>
                    <a:pt x="2234565" y="32385"/>
                  </a:lnTo>
                  <a:lnTo>
                    <a:pt x="2334577" y="57150"/>
                  </a:lnTo>
                  <a:lnTo>
                    <a:pt x="2429827" y="86677"/>
                  </a:lnTo>
                  <a:lnTo>
                    <a:pt x="2529840" y="124777"/>
                  </a:lnTo>
                  <a:lnTo>
                    <a:pt x="2625090" y="167640"/>
                  </a:lnTo>
                  <a:lnTo>
                    <a:pt x="2725102" y="217170"/>
                  </a:lnTo>
                  <a:lnTo>
                    <a:pt x="2820352" y="274320"/>
                  </a:lnTo>
                  <a:lnTo>
                    <a:pt x="2920365" y="335280"/>
                  </a:lnTo>
                  <a:lnTo>
                    <a:pt x="3020377" y="401002"/>
                  </a:lnTo>
                  <a:lnTo>
                    <a:pt x="3115627" y="470535"/>
                  </a:lnTo>
                  <a:lnTo>
                    <a:pt x="3210877" y="545782"/>
                  </a:lnTo>
                  <a:lnTo>
                    <a:pt x="3310890" y="622935"/>
                  </a:lnTo>
                  <a:lnTo>
                    <a:pt x="3410902" y="703897"/>
                  </a:lnTo>
                  <a:lnTo>
                    <a:pt x="3506152" y="787717"/>
                  </a:lnTo>
                  <a:lnTo>
                    <a:pt x="3606165" y="873442"/>
                  </a:lnTo>
                  <a:lnTo>
                    <a:pt x="3701415" y="962025"/>
                  </a:lnTo>
                  <a:lnTo>
                    <a:pt x="3801427" y="1050607"/>
                  </a:lnTo>
                  <a:lnTo>
                    <a:pt x="3889058" y="1133475"/>
                  </a:lnTo>
                </a:path>
              </a:pathLst>
            </a:custGeom>
            <a:noFill/>
            <a:ln w="22860">
              <a:solidFill>
                <a:srgbClr val="F26B3A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204912" y="5064442"/>
              <a:ext cx="9525" cy="158115"/>
            </a:xfrm>
            <a:custGeom>
              <a:avLst/>
              <a:gdLst/>
              <a:ahLst/>
              <a:cxnLst/>
              <a:rect l="l" t="t" r="r" b="b"/>
              <a:pathLst>
                <a:path w="9525" h="158115">
                  <a:moveTo>
                    <a:pt x="0" y="158115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400175" y="4890135"/>
              <a:ext cx="9525" cy="332422"/>
            </a:xfrm>
            <a:custGeom>
              <a:avLst/>
              <a:gdLst/>
              <a:ahLst/>
              <a:cxnLst/>
              <a:rect l="l" t="t" r="r" b="b"/>
              <a:pathLst>
                <a:path w="9525" h="332422">
                  <a:moveTo>
                    <a:pt x="0" y="332422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595438" y="4725352"/>
              <a:ext cx="9525" cy="497205"/>
            </a:xfrm>
            <a:custGeom>
              <a:avLst/>
              <a:gdLst/>
              <a:ahLst/>
              <a:cxnLst/>
              <a:rect l="l" t="t" r="r" b="b"/>
              <a:pathLst>
                <a:path w="9525" h="497205">
                  <a:moveTo>
                    <a:pt x="0" y="497205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790700" y="4572952"/>
              <a:ext cx="9525" cy="649605"/>
            </a:xfrm>
            <a:custGeom>
              <a:avLst/>
              <a:gdLst/>
              <a:ahLst/>
              <a:cxnLst/>
              <a:rect l="l" t="t" r="r" b="b"/>
              <a:pathLst>
                <a:path w="9525" h="649605">
                  <a:moveTo>
                    <a:pt x="0" y="649605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985962" y="4437698"/>
              <a:ext cx="9525" cy="784860"/>
            </a:xfrm>
            <a:custGeom>
              <a:avLst/>
              <a:gdLst/>
              <a:ahLst/>
              <a:cxnLst/>
              <a:rect l="l" t="t" r="r" b="b"/>
              <a:pathLst>
                <a:path w="9525" h="784860">
                  <a:moveTo>
                    <a:pt x="0" y="78486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2180272" y="4319588"/>
              <a:ext cx="9525" cy="902970"/>
            </a:xfrm>
            <a:custGeom>
              <a:avLst/>
              <a:gdLst/>
              <a:ahLst/>
              <a:cxnLst/>
              <a:rect l="l" t="t" r="r" b="b"/>
              <a:pathLst>
                <a:path w="9525" h="902970">
                  <a:moveTo>
                    <a:pt x="0" y="90297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2375535" y="4227195"/>
              <a:ext cx="9525" cy="995362"/>
            </a:xfrm>
            <a:custGeom>
              <a:avLst/>
              <a:gdLst/>
              <a:ahLst/>
              <a:cxnLst/>
              <a:rect l="l" t="t" r="r" b="b"/>
              <a:pathLst>
                <a:path w="9525" h="995362">
                  <a:moveTo>
                    <a:pt x="0" y="995362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2570798" y="4159568"/>
              <a:ext cx="9525" cy="1062990"/>
            </a:xfrm>
            <a:custGeom>
              <a:avLst/>
              <a:gdLst/>
              <a:ahLst/>
              <a:cxnLst/>
              <a:rect l="l" t="t" r="r" b="b"/>
              <a:pathLst>
                <a:path w="9525" h="1062990">
                  <a:moveTo>
                    <a:pt x="0" y="106299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2766060" y="4116705"/>
              <a:ext cx="9525" cy="1105852"/>
            </a:xfrm>
            <a:custGeom>
              <a:avLst/>
              <a:gdLst/>
              <a:ahLst/>
              <a:cxnLst/>
              <a:rect l="l" t="t" r="r" b="b"/>
              <a:pathLst>
                <a:path w="9525" h="1105852">
                  <a:moveTo>
                    <a:pt x="0" y="1105852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2961322" y="4102418"/>
              <a:ext cx="9525" cy="1120140"/>
            </a:xfrm>
            <a:custGeom>
              <a:avLst/>
              <a:gdLst/>
              <a:ahLst/>
              <a:cxnLst/>
              <a:rect l="l" t="t" r="r" b="b"/>
              <a:pathLst>
                <a:path w="9525" h="1120140">
                  <a:moveTo>
                    <a:pt x="0" y="112014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3156585" y="4116705"/>
              <a:ext cx="9525" cy="1105852"/>
            </a:xfrm>
            <a:custGeom>
              <a:avLst/>
              <a:gdLst/>
              <a:ahLst/>
              <a:cxnLst/>
              <a:rect l="l" t="t" r="r" b="b"/>
              <a:pathLst>
                <a:path w="9525" h="1105852">
                  <a:moveTo>
                    <a:pt x="0" y="1105852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3351848" y="4159568"/>
              <a:ext cx="9525" cy="1062990"/>
            </a:xfrm>
            <a:custGeom>
              <a:avLst/>
              <a:gdLst/>
              <a:ahLst/>
              <a:cxnLst/>
              <a:rect l="l" t="t" r="r" b="b"/>
              <a:pathLst>
                <a:path w="9525" h="1062990">
                  <a:moveTo>
                    <a:pt x="0" y="106299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3547110" y="4227195"/>
              <a:ext cx="9525" cy="995362"/>
            </a:xfrm>
            <a:custGeom>
              <a:avLst/>
              <a:gdLst/>
              <a:ahLst/>
              <a:cxnLst/>
              <a:rect l="l" t="t" r="r" b="b"/>
              <a:pathLst>
                <a:path w="9525" h="995362">
                  <a:moveTo>
                    <a:pt x="0" y="995362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3742372" y="4319588"/>
              <a:ext cx="9525" cy="902970"/>
            </a:xfrm>
            <a:custGeom>
              <a:avLst/>
              <a:gdLst/>
              <a:ahLst/>
              <a:cxnLst/>
              <a:rect l="l" t="t" r="r" b="b"/>
              <a:pathLst>
                <a:path w="9525" h="902970">
                  <a:moveTo>
                    <a:pt x="0" y="90297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3937635" y="4437698"/>
              <a:ext cx="9525" cy="784860"/>
            </a:xfrm>
            <a:custGeom>
              <a:avLst/>
              <a:gdLst/>
              <a:ahLst/>
              <a:cxnLst/>
              <a:rect l="l" t="t" r="r" b="b"/>
              <a:pathLst>
                <a:path w="9525" h="784860">
                  <a:moveTo>
                    <a:pt x="0" y="78486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4132898" y="4572952"/>
              <a:ext cx="9525" cy="649605"/>
            </a:xfrm>
            <a:custGeom>
              <a:avLst/>
              <a:gdLst/>
              <a:ahLst/>
              <a:cxnLst/>
              <a:rect l="l" t="t" r="r" b="b"/>
              <a:pathLst>
                <a:path w="9525" h="649605">
                  <a:moveTo>
                    <a:pt x="0" y="649605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4328160" y="4725352"/>
              <a:ext cx="9525" cy="497205"/>
            </a:xfrm>
            <a:custGeom>
              <a:avLst/>
              <a:gdLst/>
              <a:ahLst/>
              <a:cxnLst/>
              <a:rect l="l" t="t" r="r" b="b"/>
              <a:pathLst>
                <a:path w="9525" h="497205">
                  <a:moveTo>
                    <a:pt x="0" y="497205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4523422" y="4890135"/>
              <a:ext cx="9525" cy="332422"/>
            </a:xfrm>
            <a:custGeom>
              <a:avLst/>
              <a:gdLst/>
              <a:ahLst/>
              <a:cxnLst/>
              <a:rect l="l" t="t" r="r" b="b"/>
              <a:pathLst>
                <a:path w="9525" h="332422">
                  <a:moveTo>
                    <a:pt x="0" y="332422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4718685" y="5064442"/>
              <a:ext cx="9525" cy="158115"/>
            </a:xfrm>
            <a:custGeom>
              <a:avLst/>
              <a:gdLst/>
              <a:ahLst/>
              <a:cxnLst/>
              <a:rect l="l" t="t" r="r" b="b"/>
              <a:pathLst>
                <a:path w="9525" h="158115">
                  <a:moveTo>
                    <a:pt x="0" y="158115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F26B3A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1008698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Ellipse 64"/>
            <p:cNvSpPr/>
            <p:nvPr/>
          </p:nvSpPr>
          <p:spPr>
            <a:xfrm>
              <a:off x="5150167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5" name="Ellipse 65"/>
            <p:cNvSpPr/>
            <p:nvPr/>
          </p:nvSpPr>
          <p:spPr>
            <a:xfrm>
              <a:off x="1008698" y="339852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6" name="Ellipse 66"/>
            <p:cNvSpPr/>
            <p:nvPr/>
          </p:nvSpPr>
          <p:spPr>
            <a:xfrm>
              <a:off x="4912995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7" name="Ellipse 67"/>
            <p:cNvSpPr/>
            <p:nvPr/>
          </p:nvSpPr>
          <p:spPr>
            <a:xfrm>
              <a:off x="1008698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8" name="Ellipse 68"/>
            <p:cNvSpPr/>
            <p:nvPr/>
          </p:nvSpPr>
          <p:spPr>
            <a:xfrm>
              <a:off x="4912995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9" name="Ellipse 69"/>
            <p:cNvSpPr/>
            <p:nvPr/>
          </p:nvSpPr>
          <p:spPr>
            <a:xfrm>
              <a:off x="1203960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0" name="Ellipse 70"/>
            <p:cNvSpPr/>
            <p:nvPr/>
          </p:nvSpPr>
          <p:spPr>
            <a:xfrm>
              <a:off x="1203960" y="505301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1" name="Ellipse 71"/>
            <p:cNvSpPr/>
            <p:nvPr/>
          </p:nvSpPr>
          <p:spPr>
            <a:xfrm>
              <a:off x="1399222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2" name="Ellipse 72"/>
            <p:cNvSpPr/>
            <p:nvPr/>
          </p:nvSpPr>
          <p:spPr>
            <a:xfrm>
              <a:off x="1399222" y="48787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3" name="Ellipse 73"/>
            <p:cNvSpPr/>
            <p:nvPr/>
          </p:nvSpPr>
          <p:spPr>
            <a:xfrm>
              <a:off x="1594485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4" name="Ellipse 74"/>
            <p:cNvSpPr/>
            <p:nvPr/>
          </p:nvSpPr>
          <p:spPr>
            <a:xfrm>
              <a:off x="1594485" y="471392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5" name="Ellipse 75"/>
            <p:cNvSpPr/>
            <p:nvPr/>
          </p:nvSpPr>
          <p:spPr>
            <a:xfrm>
              <a:off x="1789748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6" name="Ellipse 76"/>
            <p:cNvSpPr/>
            <p:nvPr/>
          </p:nvSpPr>
          <p:spPr>
            <a:xfrm>
              <a:off x="1789748" y="456152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7" name="Ellipse 77"/>
            <p:cNvSpPr/>
            <p:nvPr/>
          </p:nvSpPr>
          <p:spPr>
            <a:xfrm>
              <a:off x="1985010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8" name="Ellipse 78"/>
            <p:cNvSpPr/>
            <p:nvPr/>
          </p:nvSpPr>
          <p:spPr>
            <a:xfrm>
              <a:off x="1985010" y="442626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9" name="Ellipse 79"/>
            <p:cNvSpPr/>
            <p:nvPr/>
          </p:nvSpPr>
          <p:spPr>
            <a:xfrm>
              <a:off x="2179320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0" name="Ellipse 80"/>
            <p:cNvSpPr/>
            <p:nvPr/>
          </p:nvSpPr>
          <p:spPr>
            <a:xfrm>
              <a:off x="2179320" y="430815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1" name="Ellipse 81"/>
            <p:cNvSpPr/>
            <p:nvPr/>
          </p:nvSpPr>
          <p:spPr>
            <a:xfrm>
              <a:off x="2374582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2" name="Ellipse 82"/>
            <p:cNvSpPr/>
            <p:nvPr/>
          </p:nvSpPr>
          <p:spPr>
            <a:xfrm>
              <a:off x="2374582" y="42157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3" name="Ellipse 83"/>
            <p:cNvSpPr/>
            <p:nvPr/>
          </p:nvSpPr>
          <p:spPr>
            <a:xfrm>
              <a:off x="2569845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4" name="Ellipse 84"/>
            <p:cNvSpPr/>
            <p:nvPr/>
          </p:nvSpPr>
          <p:spPr>
            <a:xfrm>
              <a:off x="2569845" y="414813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5" name="Ellipse 85"/>
            <p:cNvSpPr/>
            <p:nvPr/>
          </p:nvSpPr>
          <p:spPr>
            <a:xfrm>
              <a:off x="2765107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6" name="Ellipse 86"/>
            <p:cNvSpPr/>
            <p:nvPr/>
          </p:nvSpPr>
          <p:spPr>
            <a:xfrm>
              <a:off x="2765107" y="410527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7" name="Ellipse 87"/>
            <p:cNvSpPr/>
            <p:nvPr/>
          </p:nvSpPr>
          <p:spPr>
            <a:xfrm>
              <a:off x="2960370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8" name="Ellipse 88"/>
            <p:cNvSpPr/>
            <p:nvPr/>
          </p:nvSpPr>
          <p:spPr>
            <a:xfrm>
              <a:off x="2960370" y="409098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9" name="Ellipse 89"/>
            <p:cNvSpPr/>
            <p:nvPr/>
          </p:nvSpPr>
          <p:spPr>
            <a:xfrm>
              <a:off x="3155632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0" name="Ellipse 90"/>
            <p:cNvSpPr/>
            <p:nvPr/>
          </p:nvSpPr>
          <p:spPr>
            <a:xfrm>
              <a:off x="3155632" y="410527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1" name="Ellipse 91"/>
            <p:cNvSpPr/>
            <p:nvPr/>
          </p:nvSpPr>
          <p:spPr>
            <a:xfrm>
              <a:off x="3350895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2" name="Ellipse 92"/>
            <p:cNvSpPr/>
            <p:nvPr/>
          </p:nvSpPr>
          <p:spPr>
            <a:xfrm>
              <a:off x="3350895" y="414813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3" name="Ellipse 93"/>
            <p:cNvSpPr/>
            <p:nvPr/>
          </p:nvSpPr>
          <p:spPr>
            <a:xfrm>
              <a:off x="3546157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4" name="Ellipse 94"/>
            <p:cNvSpPr/>
            <p:nvPr/>
          </p:nvSpPr>
          <p:spPr>
            <a:xfrm>
              <a:off x="3546157" y="42157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5" name="Ellipse 95"/>
            <p:cNvSpPr/>
            <p:nvPr/>
          </p:nvSpPr>
          <p:spPr>
            <a:xfrm>
              <a:off x="3741420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6" name="Ellipse 96"/>
            <p:cNvSpPr/>
            <p:nvPr/>
          </p:nvSpPr>
          <p:spPr>
            <a:xfrm>
              <a:off x="3741420" y="430815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7" name="Ellipse 97"/>
            <p:cNvSpPr/>
            <p:nvPr/>
          </p:nvSpPr>
          <p:spPr>
            <a:xfrm>
              <a:off x="3936682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8" name="Ellipse 98"/>
            <p:cNvSpPr/>
            <p:nvPr/>
          </p:nvSpPr>
          <p:spPr>
            <a:xfrm>
              <a:off x="3936682" y="442626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9" name="Ellipse 99"/>
            <p:cNvSpPr/>
            <p:nvPr/>
          </p:nvSpPr>
          <p:spPr>
            <a:xfrm>
              <a:off x="4131945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0" name="Ellipse 100"/>
            <p:cNvSpPr/>
            <p:nvPr/>
          </p:nvSpPr>
          <p:spPr>
            <a:xfrm>
              <a:off x="4131945" y="456152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1" name="Ellipse 101"/>
            <p:cNvSpPr/>
            <p:nvPr/>
          </p:nvSpPr>
          <p:spPr>
            <a:xfrm>
              <a:off x="4327208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2" name="Ellipse 102"/>
            <p:cNvSpPr/>
            <p:nvPr/>
          </p:nvSpPr>
          <p:spPr>
            <a:xfrm>
              <a:off x="4327208" y="471392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3" name="Ellipse 103"/>
            <p:cNvSpPr/>
            <p:nvPr/>
          </p:nvSpPr>
          <p:spPr>
            <a:xfrm>
              <a:off x="4522470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4" name="Ellipse 104"/>
            <p:cNvSpPr/>
            <p:nvPr/>
          </p:nvSpPr>
          <p:spPr>
            <a:xfrm>
              <a:off x="4522470" y="48787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5" name="Ellipse 105"/>
            <p:cNvSpPr/>
            <p:nvPr/>
          </p:nvSpPr>
          <p:spPr>
            <a:xfrm>
              <a:off x="4717732" y="52320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6" name="Ellipse 106"/>
            <p:cNvSpPr/>
            <p:nvPr/>
          </p:nvSpPr>
          <p:spPr>
            <a:xfrm>
              <a:off x="4717732" y="505301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828694" y="531685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4872714" y="533161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5113039" y="533971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619182" y="3551873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d/2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619182" y="404050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h/2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582684" y="4584859"/>
              <a:ext cx="6620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相交区域 B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4038242" y="3732848"/>
              <a:ext cx="6084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样本空间 A</a:t>
              </a:r>
            </a:p>
          </p:txBody>
        </p:sp>
      </p:grpSp>
      <p:grpSp>
        <p:nvGrpSpPr>
          <p:cNvPr id="126" name="c2-card-1"/>
          <p:cNvGrpSpPr/>
          <p:nvPr/>
        </p:nvGrpSpPr>
        <p:grpSpPr>
          <a:xfrm>
            <a:off x="5598795" y="1524000"/>
            <a:ext cx="6059805" cy="2343150"/>
            <a:chOff x="5598795" y="1524000"/>
            <a:chExt cx="6059805" cy="2343150"/>
          </a:xfrm>
        </p:grpSpPr>
        <p:sp>
          <p:nvSpPr>
            <p:cNvPr id="115" name="Rectangle 115"/>
            <p:cNvSpPr/>
            <p:nvPr/>
          </p:nvSpPr>
          <p:spPr>
            <a:xfrm>
              <a:off x="5598795" y="1524000"/>
              <a:ext cx="6059805" cy="2343150"/>
            </a:xfrm>
            <a:prstGeom prst="roundRect">
              <a:avLst>
                <a:gd name="adj" fmla="val 56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5608320" y="1657350"/>
              <a:ext cx="47625" cy="20764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7" name="Rectangle 117"/>
            <p:cNvSpPr/>
            <p:nvPr/>
          </p:nvSpPr>
          <p:spPr>
            <a:xfrm>
              <a:off x="5823585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18" name="TextBox 118"/>
            <p:cNvSpPr txBox="1"/>
            <p:nvPr/>
          </p:nvSpPr>
          <p:spPr>
            <a:xfrm>
              <a:off x="5916257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模型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5816727" y="2054542"/>
              <a:ext cx="53458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平面上有间隔为 d 的平行线，任意投掷长为 h（h &lt; d）的针；y 为针中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点到最近一条线的距离，x 为针与线的夹角。</a:t>
              </a:r>
            </a:p>
          </p:txBody>
        </p:sp>
        <p:sp>
          <p:nvSpPr>
            <p:cNvPr id="120" name="Ellipse 120"/>
            <p:cNvSpPr/>
            <p:nvPr/>
          </p:nvSpPr>
          <p:spPr>
            <a:xfrm>
              <a:off x="5832158" y="266890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5988177" y="2612708"/>
              <a:ext cx="51915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~ U(0, d/2)，x ~ U(0, π)，二者独立，(x, y) 在矩形 A 上均匀分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</a:t>
              </a:r>
            </a:p>
          </p:txBody>
        </p:sp>
        <p:sp>
          <p:nvSpPr>
            <p:cNvPr id="122" name="Ellipse 122"/>
            <p:cNvSpPr/>
            <p:nvPr/>
          </p:nvSpPr>
          <p:spPr>
            <a:xfrm>
              <a:off x="5832158" y="322611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5988177" y="3169920"/>
              <a:ext cx="38843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针与线相交 ⇔ y ≤ (h/2)·sin x，即点落入区域 B</a:t>
              </a:r>
            </a:p>
          </p:txBody>
        </p:sp>
        <p:sp>
          <p:nvSpPr>
            <p:cNvPr id="124" name="Ellipse 124"/>
            <p:cNvSpPr/>
            <p:nvPr/>
          </p:nvSpPr>
          <p:spPr>
            <a:xfrm>
              <a:off x="5832158" y="352615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5" name="TextBox 125"/>
            <p:cNvSpPr txBox="1"/>
            <p:nvPr/>
          </p:nvSpPr>
          <p:spPr>
            <a:xfrm>
              <a:off x="5988177" y="3469958"/>
              <a:ext cx="41904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 N 次、相交 m 次，用频率 m/N 近似相交概率 R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formula11"/>
              <p:cNvSpPr txBox="1">
                <a:spLocks noGrp="1"/>
              </p:cNvSpPr>
              <p:nvPr/>
            </p:nvSpPr>
            <p:spPr>
              <a:xfrm>
                <a:off x="5598795" y="4037648"/>
                <a:ext cx="6059805" cy="6134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ff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sup>
                            <m:e>
                              <m:f>
                                <m:fPr>
                                  <m:type m:val="bar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num>
                                <m:den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/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func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dx</m:t>
                              </m:r>
                            </m:e>
                          </m:nary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dπ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2h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dπ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formula12"/>
              <p:cNvSpPr txBox="1">
                <a:spLocks noGrp="1"/>
              </p:cNvSpPr>
              <p:nvPr/>
            </p:nvSpPr>
            <p:spPr>
              <a:xfrm>
                <a:off x="5598795" y="4820602"/>
                <a:ext cx="6059805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2hN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35" name="c2-callout-4"/>
          <p:cNvGrpSpPr/>
          <p:nvPr/>
        </p:nvGrpSpPr>
        <p:grpSpPr>
          <a:xfrm>
            <a:off x="5598795" y="5582602"/>
            <a:ext cx="6059805" cy="729615"/>
            <a:chOff x="5598795" y="5582602"/>
            <a:chExt cx="6059805" cy="729615"/>
          </a:xfrm>
        </p:grpSpPr>
        <p:sp>
          <p:nvSpPr>
            <p:cNvPr id="129" name="Rectangle 129"/>
            <p:cNvSpPr/>
            <p:nvPr/>
          </p:nvSpPr>
          <p:spPr>
            <a:xfrm>
              <a:off x="5598795" y="5582602"/>
              <a:ext cx="605980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33" name="Group 133"/>
            <p:cNvGrpSpPr/>
            <p:nvPr/>
          </p:nvGrpSpPr>
          <p:grpSpPr>
            <a:xfrm>
              <a:off x="5803583" y="5846445"/>
              <a:ext cx="200026" cy="200026"/>
              <a:chOff x="5803583" y="5846445"/>
              <a:chExt cx="200026" cy="200026"/>
            </a:xfrm>
          </p:grpSpPr>
          <p:sp>
            <p:nvSpPr>
              <p:cNvPr id="130" name="Freeform 130"/>
              <p:cNvSpPr/>
              <p:nvPr/>
            </p:nvSpPr>
            <p:spPr>
              <a:xfrm>
                <a:off x="5803583" y="58464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1" name="Freeform 131"/>
              <p:cNvSpPr/>
              <p:nvPr/>
            </p:nvSpPr>
            <p:spPr>
              <a:xfrm>
                <a:off x="5903595" y="59131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2" name="Freeform 132"/>
              <p:cNvSpPr/>
              <p:nvPr/>
            </p:nvSpPr>
            <p:spPr>
              <a:xfrm>
                <a:off x="5892483" y="59464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34" name="TextBox 134"/>
            <p:cNvSpPr txBox="1"/>
            <p:nvPr/>
          </p:nvSpPr>
          <p:spPr>
            <a:xfrm>
              <a:off x="6106287" y="5728335"/>
              <a:ext cx="50800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左上图中针的下端越过了下方的线，此时 y ≤ (h/2)·sin x，对应左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下图正弦拱下方的点。</a:t>
              </a:r>
            </a:p>
          </p:txBody>
        </p:sp>
      </p:grpSp>
      <p:grpSp>
        <p:nvGrpSpPr>
          <p:cNvPr id="1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36" name="TextBox 13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3.1 随机模拟介绍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投针实验：历史数据与计算机模拟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27685" y="1524000"/>
            <a:ext cx="5415915" cy="2539842"/>
            <a:chOff x="527685" y="1524000"/>
            <a:chExt cx="5415915" cy="25398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59053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实验者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825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年份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4272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投针次数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33611" y="1659731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π 的实验值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108359"/>
              <a:ext cx="9794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沃尔夫 Wolf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765301" y="210835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1850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97811" y="210835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70816" y="210835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3.1596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2556986"/>
              <a:ext cx="10788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斯密思 Smith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65301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1855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97811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3204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70816" y="2556986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3.1553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005614"/>
              <a:ext cx="889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福克斯 Fox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65301" y="300561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1894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97811" y="300561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1120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970816" y="3005614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3.1419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3147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31946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454241"/>
              <a:ext cx="15670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拉查里尼 Lazzarini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765301" y="345424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1901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97811" y="345424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3408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28657" y="3454241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3.1415929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50888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40423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57390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7685" y="3843814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拉查里尼的结果恰为 355/113，一般认为他的投针次数是事后挑选的</a:t>
              </a:r>
            </a:p>
          </p:txBody>
        </p:sp>
      </p:grpSp>
      <p:grpSp>
        <p:nvGrpSpPr>
          <p:cNvPr id="44" name="c1-card-2"/>
          <p:cNvGrpSpPr/>
          <p:nvPr/>
        </p:nvGrpSpPr>
        <p:grpSpPr>
          <a:xfrm>
            <a:off x="533400" y="4210050"/>
            <a:ext cx="5410200" cy="1887855"/>
            <a:chOff x="533400" y="4210050"/>
            <a:chExt cx="5410200" cy="1887855"/>
          </a:xfrm>
        </p:grpSpPr>
        <p:sp>
          <p:nvSpPr>
            <p:cNvPr id="39" name="Rectangle 39"/>
            <p:cNvSpPr/>
            <p:nvPr/>
          </p:nvSpPr>
          <p:spPr>
            <a:xfrm>
              <a:off x="533400" y="4210050"/>
              <a:ext cx="5410200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434340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81050" y="441960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50557" y="445531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怎样看这些数据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3430" y="4796790"/>
              <a:ext cx="461581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投针三千多次时，π 估计值的标准差约为 0.04 到 0.08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（随针长与线距之比变化），第二位小数都未必可靠。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精确到 7 位的概率极小，所以一般认为这组数据经过挑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选。</a:t>
              </a:r>
            </a:p>
          </p:txBody>
        </p:sp>
      </p:grpSp>
      <p:grpSp>
        <p:nvGrpSpPr>
          <p:cNvPr id="48" name="c2-code-1"/>
          <p:cNvGrpSpPr/>
          <p:nvPr/>
        </p:nvGrpSpPr>
        <p:grpSpPr>
          <a:xfrm>
            <a:off x="6248400" y="1524000"/>
            <a:ext cx="5410200" cy="1922145"/>
            <a:chOff x="6248400" y="1524000"/>
            <a:chExt cx="5410200" cy="1922145"/>
          </a:xfrm>
        </p:grpSpPr>
        <p:sp>
          <p:nvSpPr>
            <p:cNvPr id="45" name="Rectangle 45"/>
            <p:cNvSpPr/>
            <p:nvPr/>
          </p:nvSpPr>
          <p:spPr>
            <a:xfrm>
              <a:off x="6248400" y="1524000"/>
              <a:ext cx="5410200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76797" y="1675924"/>
              <a:ext cx="17691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R：模拟投针（h = 1，d = 2）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76035" y="1937861"/>
              <a:ext cx="3638550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buffon &lt;-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(N, h = 1, d = 2)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y &lt;- runif(N, 0, d / 2)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中点到最近线的距离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 &lt;- runif(N, 0, pi)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针与线的夹角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m &lt;- sum(y &lt;= h / 2 * sin(x))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2 * h * N / (d * m)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pi 的估计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buffon(1e5)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248400" y="3636645"/>
            <a:ext cx="5410200" cy="782955"/>
            <a:chOff x="6248400" y="3636645"/>
            <a:chExt cx="5410200" cy="782955"/>
          </a:xfrm>
        </p:grpSpPr>
        <p:sp>
          <p:nvSpPr>
            <p:cNvPr id="49" name="Rectangle 49"/>
            <p:cNvSpPr/>
            <p:nvPr/>
          </p:nvSpPr>
          <p:spPr>
            <a:xfrm>
              <a:off x="6248400" y="36366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41129" y="3924418"/>
              <a:ext cx="224134" cy="192560"/>
              <a:chOff x="6441129" y="3924418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553200" y="39947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441129" y="39244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53200" y="40725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130" y="3785235"/>
              <a:ext cx="4425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代码里产生夹角时用到了 pi，这段模拟只用来演示频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率的收敛；真实投针不需要事先知道 π。</a:t>
              </a:r>
            </a:p>
          </p:txBody>
        </p:sp>
      </p:grpSp>
      <p:grpSp>
        <p:nvGrpSpPr>
          <p:cNvPr id="61" name="c2-callout-3"/>
          <p:cNvGrpSpPr/>
          <p:nvPr/>
        </p:nvGrpSpPr>
        <p:grpSpPr>
          <a:xfrm>
            <a:off x="6248400" y="4610100"/>
            <a:ext cx="5410200" cy="1487805"/>
            <a:chOff x="6248400" y="4610100"/>
            <a:chExt cx="5410200" cy="1487805"/>
          </a:xfrm>
        </p:grpSpPr>
        <p:sp>
          <p:nvSpPr>
            <p:cNvPr id="56" name="Rectangle 56"/>
            <p:cNvSpPr/>
            <p:nvPr/>
          </p:nvSpPr>
          <p:spPr>
            <a:xfrm>
              <a:off x="6248400" y="4610100"/>
              <a:ext cx="5410200" cy="1487805"/>
            </a:xfrm>
            <a:prstGeom prst="roundRect">
              <a:avLst>
                <a:gd name="adj" fmla="val 7682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453188" y="5253992"/>
              <a:ext cx="200023" cy="200023"/>
              <a:chOff x="6453188" y="5253992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453188" y="525399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586538" y="53206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755130" y="5111115"/>
              <a:ext cx="44824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投针的本质是用一个概率等于 2h/(dπ) 的事件的频率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去反推 π，下一页的投点法用的是同一思路。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50472" cy="909257"/>
            <a:chOff x="520446" y="342900"/>
            <a:chExt cx="83504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3.1 随机模拟介绍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504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例10.1(2) 向正方形随机投点估计 π，并算出模拟误差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768792"/>
            <a:chOff x="533400" y="1524000"/>
            <a:chExt cx="5410200" cy="1768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投点模型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2478" y="212883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8497" y="2072640"/>
              <a:ext cx="44285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正方形 D = {(x, y): x ∈ [−1, 1], y ∈ [−1, 1]} 内随机等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可能投点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688907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632710"/>
              <a:ext cx="45057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落入单位圆 C = {(x, y): x² + y² ≤ 1} 的概率为面积之比 p</a:t>
              </a:r>
              <a:br/>
              <a:r>
                <a:rPr lang="el-GR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π/4</a:t>
              </a:r>
            </a:p>
          </p:txBody>
        </p:sp>
      </p:grpSp>
      <p:grpSp>
        <p:nvGrpSpPr>
          <p:cNvPr id="17" name="c1-text-2"/>
          <p:cNvGrpSpPr/>
          <p:nvPr/>
        </p:nvGrpSpPr>
        <p:grpSpPr>
          <a:xfrm>
            <a:off x="526542" y="3490912"/>
            <a:ext cx="4789799" cy="264033"/>
            <a:chOff x="526542" y="3490912"/>
            <a:chExt cx="4789799" cy="264033"/>
          </a:xfrm>
        </p:grpSpPr>
        <p:sp>
          <p:nvSpPr>
            <p:cNvPr id="16" name="TextBox 16"/>
            <p:cNvSpPr txBox="1"/>
            <p:nvPr/>
          </p:nvSpPr>
          <p:spPr>
            <a:xfrm>
              <a:off x="526542" y="3490912"/>
              <a:ext cx="4789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独立重复投 N 个点，落入 C 的点数为 ξ。由频率近似概率：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formula25"/>
              <p:cNvSpPr txBox="1">
                <a:spLocks noGrp="1"/>
              </p:cNvSpPr>
              <p:nvPr/>
            </p:nvSpPr>
            <p:spPr>
              <a:xfrm>
                <a:off x="533400" y="3876675"/>
                <a:ext cx="5410200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⇒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4ξ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2" name="c1-code-4"/>
          <p:cNvGrpSpPr/>
          <p:nvPr/>
        </p:nvGrpSpPr>
        <p:grpSpPr>
          <a:xfrm>
            <a:off x="533400" y="4669155"/>
            <a:ext cx="5410200" cy="1450658"/>
            <a:chOff x="533400" y="4669155"/>
            <a:chExt cx="5410200" cy="1450658"/>
          </a:xfrm>
        </p:grpSpPr>
        <p:sp>
          <p:nvSpPr>
            <p:cNvPr id="19" name="Rectangle 19"/>
            <p:cNvSpPr/>
            <p:nvPr/>
          </p:nvSpPr>
          <p:spPr>
            <a:xfrm>
              <a:off x="533400" y="4669155"/>
              <a:ext cx="5410200" cy="1450658"/>
            </a:xfrm>
            <a:prstGeom prst="roundRect">
              <a:avLst>
                <a:gd name="adj" fmla="val 656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1797" y="4821079"/>
              <a:ext cx="8677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R：投点估计 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416" y="5082540"/>
              <a:ext cx="1844231" cy="9635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&lt;- 1e4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&lt;- runif(N, -1, 1)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y &lt;- runif(N, -1, 1)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xi &lt;- sum(x^2 + y^2 &lt;= 1)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4 * xi / N</a:t>
              </a:r>
            </a:p>
          </p:txBody>
        </p:sp>
      </p:grpSp>
      <p:grpSp>
        <p:nvGrpSpPr>
          <p:cNvPr id="24" name="c2-text-1"/>
          <p:cNvGrpSpPr/>
          <p:nvPr/>
        </p:nvGrpSpPr>
        <p:grpSpPr>
          <a:xfrm>
            <a:off x="6241542" y="1545907"/>
            <a:ext cx="4557141" cy="264033"/>
            <a:chOff x="6241542" y="1545907"/>
            <a:chExt cx="4557141" cy="264033"/>
          </a:xfrm>
        </p:grpSpPr>
        <p:sp>
          <p:nvSpPr>
            <p:cNvPr id="23" name="TextBox 23"/>
            <p:cNvSpPr txBox="1"/>
            <p:nvPr/>
          </p:nvSpPr>
          <p:spPr>
            <a:xfrm>
              <a:off x="6241542" y="1545907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随机模拟误差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：由模拟结果的随机性导致的误差。本例中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26"/>
              <p:cNvSpPr txBox="1">
                <a:spLocks noGrp="1"/>
              </p:cNvSpPr>
              <p:nvPr/>
            </p:nvSpPr>
            <p:spPr>
              <a:xfrm>
                <a:off x="6248400" y="1932622"/>
                <a:ext cx="5410200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ξ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>
                            <m:fPr>
                              <m:type m:val="bar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num>
                            <m:den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bar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4ξ</m:t>
                              </m:r>
                            </m:num>
                            <m:den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16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type m:val="bar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num>
                            <m:den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d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7" name="c2-text-3"/>
          <p:cNvGrpSpPr/>
          <p:nvPr/>
        </p:nvGrpSpPr>
        <p:grpSpPr>
          <a:xfrm>
            <a:off x="6241542" y="2695575"/>
            <a:ext cx="5131498" cy="529780"/>
            <a:chOff x="6241542" y="2695575"/>
            <a:chExt cx="5131498" cy="529780"/>
          </a:xfrm>
        </p:grpSpPr>
        <p:sp>
          <p:nvSpPr>
            <p:cNvPr id="26" name="TextBox 26"/>
            <p:cNvSpPr txBox="1"/>
            <p:nvPr/>
          </p:nvSpPr>
          <p:spPr>
            <a:xfrm>
              <a:off x="6241542" y="2695575"/>
              <a:ext cx="5131498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由中心极限定理，4ξ/N 近似服从 N(π, π(4 − π)/N)，所以随机模拟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误差的幅度大约在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formula27"/>
              <p:cNvSpPr txBox="1">
                <a:spLocks noGrp="1"/>
              </p:cNvSpPr>
              <p:nvPr/>
            </p:nvSpPr>
            <p:spPr>
              <a:xfrm>
                <a:off x="6248400" y="3347085"/>
                <a:ext cx="5410200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±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ad>
                        <m:radPr>
                          <m:deg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f>
                            <m:fPr>
                              <m:type m:val="bar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π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grpSp>
        <p:nvGrpSpPr>
          <p:cNvPr id="44" name="c2-table-5"/>
          <p:cNvGrpSpPr/>
          <p:nvPr/>
        </p:nvGrpSpPr>
        <p:grpSpPr>
          <a:xfrm>
            <a:off x="6248400" y="4139565"/>
            <a:ext cx="5410200" cy="1217295"/>
            <a:chOff x="6248400" y="4139565"/>
            <a:chExt cx="5410200" cy="1217295"/>
          </a:xfrm>
        </p:grpSpPr>
        <p:sp>
          <p:nvSpPr>
            <p:cNvPr id="29" name="Rectangle 29"/>
            <p:cNvSpPr/>
            <p:nvPr/>
          </p:nvSpPr>
          <p:spPr>
            <a:xfrm>
              <a:off x="6248400" y="4139565"/>
              <a:ext cx="5410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27422" y="4263866"/>
              <a:ext cx="605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投点数 N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982988" y="4263866"/>
              <a:ext cx="15847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标准差 √(π(4 − π)/N)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36873" y="4263866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误差幅度 ±2σ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94067" y="466963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10⁴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20890" y="466963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0.0164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44000" y="466963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±0.033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48400" y="49463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48400" y="495109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94067" y="50753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479427" y="507539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0.00164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502537" y="507539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±0.0033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4139565"/>
              <a:ext cx="5410200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607618" y="413956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932670" y="4139565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2-callout-6"/>
          <p:cNvGrpSpPr/>
          <p:nvPr/>
        </p:nvGrpSpPr>
        <p:grpSpPr>
          <a:xfrm>
            <a:off x="6248400" y="5532120"/>
            <a:ext cx="5410200" cy="729615"/>
            <a:chOff x="6248400" y="5532120"/>
            <a:chExt cx="5410200" cy="729615"/>
          </a:xfrm>
        </p:grpSpPr>
        <p:sp>
          <p:nvSpPr>
            <p:cNvPr id="45" name="Rectangle 45"/>
            <p:cNvSpPr/>
            <p:nvPr/>
          </p:nvSpPr>
          <p:spPr>
            <a:xfrm>
              <a:off x="6248400" y="553212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441129" y="5792271"/>
              <a:ext cx="224134" cy="192560"/>
              <a:chOff x="6441129" y="5792271"/>
              <a:chExt cx="224134" cy="19256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553200" y="586263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441129" y="579227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553200" y="594042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755892" y="5677852"/>
              <a:ext cx="426567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 = 10⁴ 时误差幅度约 ±0.033；想多得一位有效数字，N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要增大 100 倍。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5440604" cy="3706177"/>
            <a:chOff x="667512" y="1835468"/>
            <a:chExt cx="5440604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3665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 随机模拟积分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4306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用随机模拟解决非随机问题，也称蒙特卡洛（MC）积分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双期望定理与方差分解公式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3.2.1 随机投点法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388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3.2.2 平均值法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465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3.2.3 误差评估与样本量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3.2.4 高维定积分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24196" cy="909257"/>
            <a:chOff x="520446" y="342900"/>
            <a:chExt cx="74241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241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双期望定理：先按 Y 求条件期望，再对 Y 求期望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760595" cy="1862138"/>
            <a:chOff x="533400" y="1524000"/>
            <a:chExt cx="4760595" cy="18621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862138"/>
            </a:xfrm>
            <a:prstGeom prst="roundRect">
              <a:avLst>
                <a:gd name="adj" fmla="val 71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9543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双期望定理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42"/>
                <p:cNvSpPr txBox="1">
                  <a:spLocks noGrp="1"/>
                </p:cNvSpPr>
                <p:nvPr/>
              </p:nvSpPr>
              <p:spPr>
                <a:xfrm>
                  <a:off x="775335" y="2095500"/>
                  <a:ext cx="4314825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EX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68096" y="2688431"/>
              <a:ext cx="403606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X 按 Y 的取值分组，各组的平均值再按组的概率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加权，得到总平均值。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570922"/>
            <a:ext cx="4760595" cy="2712720"/>
            <a:chOff x="533400" y="3570922"/>
            <a:chExt cx="4760595" cy="2712720"/>
          </a:xfrm>
        </p:grpSpPr>
        <p:sp>
          <p:nvSpPr>
            <p:cNvPr id="15" name="Rectangle 15"/>
            <p:cNvSpPr/>
            <p:nvPr/>
          </p:nvSpPr>
          <p:spPr>
            <a:xfrm>
              <a:off x="533400" y="3570922"/>
              <a:ext cx="4760595" cy="2712720"/>
            </a:xfrm>
            <a:prstGeom prst="roundRect">
              <a:avLst>
                <a:gd name="adj" fmla="val 49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704272"/>
              <a:ext cx="47625" cy="24460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75335" y="377475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7644" y="381047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直观例子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8096" y="4148614"/>
              <a:ext cx="399097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甲班 40 人平均分 80，乙班 60 人平均分 70。Y 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示班级，X 表示分数：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43"/>
                <p:cNvSpPr txBox="1">
                  <a:spLocks noGrp="1"/>
                </p:cNvSpPr>
                <p:nvPr/>
              </p:nvSpPr>
              <p:spPr>
                <a:xfrm>
                  <a:off x="775335" y="4715828"/>
                  <a:ext cx="4314825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0.4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80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0.6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70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74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69239" y="5266372"/>
              <a:ext cx="29603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结果正好是两个班全体 100 人的平均分。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5598795" y="1524000"/>
            <a:ext cx="6059805" cy="4760595"/>
            <a:chOff x="5598795" y="1524000"/>
            <a:chExt cx="6059805" cy="4760595"/>
          </a:xfrm>
        </p:grpSpPr>
        <p:sp>
          <p:nvSpPr>
            <p:cNvPr id="23" name="Rectangle 23"/>
            <p:cNvSpPr/>
            <p:nvPr/>
          </p:nvSpPr>
          <p:spPr>
            <a:xfrm>
              <a:off x="5598795" y="1524000"/>
              <a:ext cx="6059805" cy="4760595"/>
            </a:xfrm>
            <a:prstGeom prst="roundRect">
              <a:avLst>
                <a:gd name="adj" fmla="val 280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802630" y="172783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72137" y="176355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证明（连续型）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44"/>
                <p:cNvSpPr txBox="1">
                  <a:spLocks noGrp="1"/>
                </p:cNvSpPr>
                <p:nvPr/>
              </p:nvSpPr>
              <p:spPr>
                <a:xfrm>
                  <a:off x="5802630" y="2077402"/>
                  <a:ext cx="5652135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−∞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</m: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</m: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du</m:t>
                            </m:r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45"/>
                <p:cNvSpPr txBox="1">
                  <a:spLocks noGrp="1"/>
                </p:cNvSpPr>
                <p:nvPr/>
              </p:nvSpPr>
              <p:spPr>
                <a:xfrm>
                  <a:off x="5802630" y="2836545"/>
                  <a:ext cx="5652135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−∞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p>
                          <m:e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grow m:val="off"/>
                                    <m:subHide m:val="on"/>
                                    <m:supHide m:val="on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 xml:space="preserve"> </m:t>
                                    </m:r>
                                    <m:sSub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p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sub>
                                    </m:sSub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t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</m:d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 xml:space="preserve"> </m:t>
                                    </m:r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dt</m:t>
                                    </m:r>
                                  </m:e>
                                </m:nary>
                              </m:e>
                            </m:d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</m: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du</m:t>
                            </m:r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46"/>
                <p:cNvSpPr txBox="1">
                  <a:spLocks noGrp="1"/>
                </p:cNvSpPr>
                <p:nvPr/>
              </p:nvSpPr>
              <p:spPr>
                <a:xfrm>
                  <a:off x="5802630" y="3595688"/>
                  <a:ext cx="5652135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−∞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grow m:val="off"/>
                                    <m:subHide m:val="on"/>
                                    <m:supHide m:val="on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p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sub>
                                    </m:sSub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t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</m:d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 xml:space="preserve"> </m:t>
                                    </m:r>
                                    <m:sSub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p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sub>
                                    </m:sSub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</m:d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 xml:space="preserve"> </m:t>
                                    </m:r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du</m:t>
                                    </m:r>
                                  </m:e>
                                </m:nary>
                              </m:e>
                            </m: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dt</m:t>
                            </m:r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formula47"/>
                <p:cNvSpPr txBox="1">
                  <a:spLocks noGrp="1"/>
                </p:cNvSpPr>
                <p:nvPr/>
              </p:nvSpPr>
              <p:spPr>
                <a:xfrm>
                  <a:off x="5802630" y="4354830"/>
                  <a:ext cx="5652135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−∞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grow m:val="off"/>
                                    <m:subHide m:val="on"/>
                                    <m:supHide m:val="on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p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XY</m:t>
                                        </m:r>
                                      </m:sub>
                                    </m:sSub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t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,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</m:d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 xml:space="preserve"> </m:t>
                                    </m:r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du</m:t>
                                    </m:r>
                                  </m:e>
                                </m:nary>
                              </m:e>
                            </m: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dt</m:t>
                            </m:r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48"/>
                <p:cNvSpPr txBox="1">
                  <a:spLocks noGrp="1"/>
                </p:cNvSpPr>
                <p:nvPr/>
              </p:nvSpPr>
              <p:spPr>
                <a:xfrm>
                  <a:off x="5802630" y="5113972"/>
                  <a:ext cx="5652135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−∞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p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</m: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dt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EX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1" name="TextBox 31"/>
            <p:cNvSpPr txBox="1"/>
            <p:nvPr/>
          </p:nvSpPr>
          <p:spPr>
            <a:xfrm>
              <a:off x="5796534" y="5893117"/>
              <a:ext cx="5020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第三步交换积分次序，第四步用了条件密度乘边缘密度等于联合密度。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93676" cy="909257"/>
            <a:chOff x="520446" y="342900"/>
            <a:chExt cx="90936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936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方差分解公式：总方差 = 条件方差的均值 + 条件均值的方差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687002"/>
            <a:chOff x="533400" y="1524000"/>
            <a:chExt cx="5410200" cy="26870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687002"/>
            </a:xfrm>
            <a:prstGeom prst="roundRect">
              <a:avLst>
                <a:gd name="adj" fmla="val 49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2030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4507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条件方差公式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57"/>
                <p:cNvSpPr txBox="1">
                  <a:spLocks noGrp="1"/>
                </p:cNvSpPr>
                <p:nvPr/>
              </p:nvSpPr>
              <p:spPr>
                <a:xfrm>
                  <a:off x="781050" y="2085975"/>
                  <a:ext cx="49530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∣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∣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58"/>
                <p:cNvSpPr txBox="1">
                  <a:spLocks noGrp="1"/>
                </p:cNvSpPr>
                <p:nvPr/>
              </p:nvSpPr>
              <p:spPr>
                <a:xfrm>
                  <a:off x="781050" y="2676525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∣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∣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∣</m:t>
                                    </m:r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59"/>
                <p:cNvSpPr txBox="1">
                  <a:spLocks noGrp="1"/>
                </p:cNvSpPr>
                <p:nvPr/>
              </p:nvSpPr>
              <p:spPr>
                <a:xfrm>
                  <a:off x="781050" y="3190875"/>
                  <a:ext cx="49530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∣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∣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4573" y="3802856"/>
              <a:ext cx="45054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 Y 给定时 E(X|Y) 相当于常数，可以提到条件期望外面。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401502"/>
            <a:ext cx="5410200" cy="1449705"/>
            <a:chOff x="533400" y="4401502"/>
            <a:chExt cx="5410200" cy="1449705"/>
          </a:xfrm>
        </p:grpSpPr>
        <p:sp>
          <p:nvSpPr>
            <p:cNvPr id="16" name="Rectangle 16"/>
            <p:cNvSpPr/>
            <p:nvPr/>
          </p:nvSpPr>
          <p:spPr>
            <a:xfrm>
              <a:off x="533400" y="4401502"/>
              <a:ext cx="5410200" cy="1449705"/>
            </a:xfrm>
            <a:prstGeom prst="roundRect">
              <a:avLst>
                <a:gd name="adj" fmla="val 91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534852"/>
              <a:ext cx="47625" cy="118300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611052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4507" y="464677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方差分解公式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60"/>
                <p:cNvSpPr txBox="1">
                  <a:spLocks noGrp="1"/>
                </p:cNvSpPr>
                <p:nvPr/>
              </p:nvSpPr>
              <p:spPr>
                <a:xfrm>
                  <a:off x="781050" y="4963478"/>
                  <a:ext cx="4953000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3353752"/>
            <a:chOff x="6248400" y="1524000"/>
            <a:chExt cx="5410200" cy="3353752"/>
          </a:xfrm>
        </p:grpSpPr>
        <p:sp>
          <p:nvSpPr>
            <p:cNvPr id="22" name="Rectangle 22"/>
            <p:cNvSpPr/>
            <p:nvPr/>
          </p:nvSpPr>
          <p:spPr>
            <a:xfrm>
              <a:off x="6248400" y="1524000"/>
              <a:ext cx="5410200" cy="3353752"/>
            </a:xfrm>
            <a:prstGeom prst="roundRect">
              <a:avLst>
                <a:gd name="adj" fmla="val 397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579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481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证明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61"/>
                <p:cNvSpPr txBox="1">
                  <a:spLocks noGrp="1"/>
                </p:cNvSpPr>
                <p:nvPr/>
              </p:nvSpPr>
              <p:spPr>
                <a:xfrm>
                  <a:off x="6457950" y="2085975"/>
                  <a:ext cx="49911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62"/>
                <p:cNvSpPr txBox="1">
                  <a:spLocks noGrp="1"/>
                </p:cNvSpPr>
                <p:nvPr/>
              </p:nvSpPr>
              <p:spPr>
                <a:xfrm>
                  <a:off x="6457950" y="2676525"/>
                  <a:ext cx="49911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63"/>
                <p:cNvSpPr txBox="1">
                  <a:spLocks noGrp="1"/>
                </p:cNvSpPr>
                <p:nvPr/>
              </p:nvSpPr>
              <p:spPr>
                <a:xfrm>
                  <a:off x="6457950" y="3267075"/>
                  <a:ext cx="49911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p>
                          <m:e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∣</m:t>
                                        </m:r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64"/>
                <p:cNvSpPr txBox="1">
                  <a:spLocks noGrp="1"/>
                </p:cNvSpPr>
                <p:nvPr/>
              </p:nvSpPr>
              <p:spPr>
                <a:xfrm>
                  <a:off x="6457950" y="3857625"/>
                  <a:ext cx="49911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EX</m:t>
                                </m:r>
                              </m:e>
                            </m:d>
                          </m:e>
                          <m:sup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451473" y="4469606"/>
              <a:ext cx="48117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两次用到双期望定理：E[E(X²|Y)] = EX²，E[E(X|Y)] = EX。</a:t>
              </a:r>
            </a:p>
          </p:txBody>
        </p:sp>
      </p:grpSp>
      <p:grpSp>
        <p:nvGrpSpPr>
          <p:cNvPr id="36" name="c2-callout-2"/>
          <p:cNvGrpSpPr/>
          <p:nvPr/>
        </p:nvGrpSpPr>
        <p:grpSpPr>
          <a:xfrm>
            <a:off x="6248400" y="5068252"/>
            <a:ext cx="5410200" cy="782955"/>
            <a:chOff x="6248400" y="5068252"/>
            <a:chExt cx="5410200" cy="782955"/>
          </a:xfrm>
        </p:grpSpPr>
        <p:sp>
          <p:nvSpPr>
            <p:cNvPr id="31" name="Rectangle 31"/>
            <p:cNvSpPr/>
            <p:nvPr/>
          </p:nvSpPr>
          <p:spPr>
            <a:xfrm>
              <a:off x="6248400" y="506825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453188" y="5359720"/>
              <a:ext cx="200023" cy="200023"/>
              <a:chOff x="6453188" y="5359720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453188" y="535972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586538" y="54263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755130" y="5216842"/>
              <a:ext cx="40538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推论：Var[E(X|Y)] ≤ Var(X)。3.4 分层抽样和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3.5.3 条件期望法都靠这个不等式降低方差。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20728" cy="909257"/>
            <a:chOff x="520446" y="342900"/>
            <a:chExt cx="90207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207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3.2.1 随机投点法：把积分看成面积，数落在曲线下方的点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81"/>
              <p:cNvSpPr txBox="1">
                <a:spLocks noGrp="1"/>
              </p:cNvSpPr>
              <p:nvPr/>
            </p:nvSpPr>
            <p:spPr>
              <a:xfrm>
                <a:off x="533400" y="1524000"/>
                <a:ext cx="4977765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96" name="c1-graph-2"/>
          <p:cNvGrpSpPr/>
          <p:nvPr/>
        </p:nvGrpSpPr>
        <p:grpSpPr>
          <a:xfrm>
            <a:off x="684848" y="2475548"/>
            <a:ext cx="4727257" cy="3285744"/>
            <a:chOff x="684848" y="2475548"/>
            <a:chExt cx="4727257" cy="3285744"/>
          </a:xfrm>
        </p:grpSpPr>
        <p:sp>
          <p:nvSpPr>
            <p:cNvPr id="8" name="Freeform 8"/>
            <p:cNvSpPr/>
            <p:nvPr/>
          </p:nvSpPr>
          <p:spPr>
            <a:xfrm>
              <a:off x="742950" y="5565458"/>
              <a:ext cx="4562475" cy="9525"/>
            </a:xfrm>
            <a:custGeom>
              <a:avLst/>
              <a:gdLst/>
              <a:ahLst/>
              <a:cxnLst/>
              <a:rect l="l" t="t" r="r" b="b"/>
              <a:pathLst>
                <a:path w="4562475" h="9525">
                  <a:moveTo>
                    <a:pt x="0" y="0"/>
                  </a:moveTo>
                  <a:lnTo>
                    <a:pt x="4562475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5305425" y="55178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732472" y="2582228"/>
              <a:ext cx="9525" cy="2972752"/>
            </a:xfrm>
            <a:custGeom>
              <a:avLst/>
              <a:gdLst/>
              <a:ahLst/>
              <a:cxnLst/>
              <a:rect l="l" t="t" r="r" b="b"/>
              <a:pathLst>
                <a:path w="9525" h="2972752">
                  <a:moveTo>
                    <a:pt x="0" y="297275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684848" y="248697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1031558" y="2541270"/>
              <a:ext cx="4081462" cy="2807970"/>
            </a:xfrm>
            <a:custGeom>
              <a:avLst/>
              <a:gdLst/>
              <a:ahLst/>
              <a:cxnLst/>
              <a:rect l="l" t="t" r="r" b="b"/>
              <a:pathLst>
                <a:path w="4081462" h="2807970">
                  <a:moveTo>
                    <a:pt x="0" y="2807970"/>
                  </a:moveTo>
                  <a:lnTo>
                    <a:pt x="0" y="0"/>
                  </a:lnTo>
                  <a:lnTo>
                    <a:pt x="4081462" y="0"/>
                  </a:lnTo>
                  <a:lnTo>
                    <a:pt x="4081462" y="2807970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033462" y="2750820"/>
              <a:ext cx="4069080" cy="2607945"/>
            </a:xfrm>
            <a:custGeom>
              <a:avLst/>
              <a:gdLst/>
              <a:ahLst/>
              <a:cxnLst/>
              <a:rect l="l" t="t" r="r" b="b"/>
              <a:pathLst>
                <a:path w="4069080" h="2607945">
                  <a:moveTo>
                    <a:pt x="0" y="2599373"/>
                  </a:moveTo>
                  <a:lnTo>
                    <a:pt x="101918" y="2190750"/>
                  </a:lnTo>
                  <a:lnTo>
                    <a:pt x="201930" y="1816418"/>
                  </a:lnTo>
                  <a:lnTo>
                    <a:pt x="300990" y="1480185"/>
                  </a:lnTo>
                  <a:lnTo>
                    <a:pt x="405765" y="1181100"/>
                  </a:lnTo>
                  <a:lnTo>
                    <a:pt x="505777" y="923925"/>
                  </a:lnTo>
                  <a:lnTo>
                    <a:pt x="609600" y="700088"/>
                  </a:lnTo>
                  <a:lnTo>
                    <a:pt x="714375" y="511492"/>
                  </a:lnTo>
                  <a:lnTo>
                    <a:pt x="814388" y="353377"/>
                  </a:lnTo>
                  <a:lnTo>
                    <a:pt x="913448" y="230505"/>
                  </a:lnTo>
                  <a:lnTo>
                    <a:pt x="1018222" y="134302"/>
                  </a:lnTo>
                  <a:lnTo>
                    <a:pt x="1117282" y="61912"/>
                  </a:lnTo>
                  <a:lnTo>
                    <a:pt x="1222058" y="20955"/>
                  </a:lnTo>
                  <a:lnTo>
                    <a:pt x="1326832" y="0"/>
                  </a:lnTo>
                  <a:lnTo>
                    <a:pt x="1425892" y="3810"/>
                  </a:lnTo>
                  <a:lnTo>
                    <a:pt x="1530668" y="31433"/>
                  </a:lnTo>
                  <a:lnTo>
                    <a:pt x="1630680" y="72390"/>
                  </a:lnTo>
                  <a:lnTo>
                    <a:pt x="1734503" y="134302"/>
                  </a:lnTo>
                  <a:lnTo>
                    <a:pt x="1834515" y="213360"/>
                  </a:lnTo>
                  <a:lnTo>
                    <a:pt x="1933575" y="301942"/>
                  </a:lnTo>
                  <a:lnTo>
                    <a:pt x="2038350" y="408622"/>
                  </a:lnTo>
                  <a:lnTo>
                    <a:pt x="2143125" y="521970"/>
                  </a:lnTo>
                  <a:lnTo>
                    <a:pt x="2242185" y="648652"/>
                  </a:lnTo>
                  <a:lnTo>
                    <a:pt x="2342198" y="779145"/>
                  </a:lnTo>
                  <a:lnTo>
                    <a:pt x="2446972" y="920115"/>
                  </a:lnTo>
                  <a:lnTo>
                    <a:pt x="2546032" y="1061085"/>
                  </a:lnTo>
                  <a:lnTo>
                    <a:pt x="2650808" y="1208722"/>
                  </a:lnTo>
                  <a:lnTo>
                    <a:pt x="2749868" y="1352550"/>
                  </a:lnTo>
                  <a:lnTo>
                    <a:pt x="2854642" y="1500188"/>
                  </a:lnTo>
                  <a:lnTo>
                    <a:pt x="2954655" y="1644968"/>
                  </a:lnTo>
                  <a:lnTo>
                    <a:pt x="3058478" y="1784985"/>
                  </a:lnTo>
                  <a:lnTo>
                    <a:pt x="3163252" y="1919288"/>
                  </a:lnTo>
                  <a:lnTo>
                    <a:pt x="3263265" y="2045970"/>
                  </a:lnTo>
                  <a:lnTo>
                    <a:pt x="3362325" y="2163127"/>
                  </a:lnTo>
                  <a:lnTo>
                    <a:pt x="3467100" y="2272665"/>
                  </a:lnTo>
                  <a:lnTo>
                    <a:pt x="3571875" y="2368868"/>
                  </a:lnTo>
                  <a:lnTo>
                    <a:pt x="3670935" y="2450782"/>
                  </a:lnTo>
                  <a:lnTo>
                    <a:pt x="3775710" y="2516505"/>
                  </a:lnTo>
                  <a:lnTo>
                    <a:pt x="3874770" y="2567940"/>
                  </a:lnTo>
                  <a:lnTo>
                    <a:pt x="3979545" y="2598420"/>
                  </a:lnTo>
                  <a:lnTo>
                    <a:pt x="4069080" y="2607945"/>
                  </a:lnTo>
                </a:path>
              </a:pathLst>
            </a:custGeom>
            <a:noFill/>
            <a:ln w="22860">
              <a:solidFill>
                <a:srgbClr val="F26B3A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731520" y="55645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410200" y="55645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31520" y="247554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030605" y="53587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5112067" y="53587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030605" y="53587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112067" y="53587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2325052" y="490347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3658552" y="512730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3186112" y="429958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243012" y="390144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159192" y="411099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283970" y="507587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2732723" y="299847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1508760" y="470154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3563302" y="2662238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3354705" y="421005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4991100" y="5202555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4508182" y="4516755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1587818" y="499681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2260282" y="302990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737360" y="369189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3609023" y="427863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3235642" y="515112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1244918" y="474916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3777615" y="412432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2285048" y="367855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2851785" y="44853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4244340" y="3363277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996440" y="371284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3149918" y="286893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3976688" y="451961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5006340" y="5000625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2707958" y="31975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1623060" y="395287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1163955" y="345186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4125277" y="3719512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4578668" y="4447222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3841432" y="3658552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3369945" y="404526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4433888" y="2672715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Ellipse 55"/>
            <p:cNvSpPr/>
            <p:nvPr/>
          </p:nvSpPr>
          <p:spPr>
            <a:xfrm>
              <a:off x="2936558" y="345852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Ellipse 56"/>
            <p:cNvSpPr/>
            <p:nvPr/>
          </p:nvSpPr>
          <p:spPr>
            <a:xfrm>
              <a:off x="1253490" y="3355658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3647122" y="2535555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4359592" y="453009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Ellipse 59"/>
            <p:cNvSpPr/>
            <p:nvPr/>
          </p:nvSpPr>
          <p:spPr>
            <a:xfrm>
              <a:off x="2573655" y="344519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0" name="Ellipse 60"/>
            <p:cNvSpPr/>
            <p:nvPr/>
          </p:nvSpPr>
          <p:spPr>
            <a:xfrm>
              <a:off x="1099185" y="4031932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Ellipse 61"/>
            <p:cNvSpPr/>
            <p:nvPr/>
          </p:nvSpPr>
          <p:spPr>
            <a:xfrm>
              <a:off x="1687830" y="499967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Ellipse 62"/>
            <p:cNvSpPr/>
            <p:nvPr/>
          </p:nvSpPr>
          <p:spPr>
            <a:xfrm>
              <a:off x="1243012" y="3167062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Ellipse 63"/>
            <p:cNvSpPr/>
            <p:nvPr/>
          </p:nvSpPr>
          <p:spPr>
            <a:xfrm>
              <a:off x="1527810" y="463296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Ellipse 64"/>
            <p:cNvSpPr/>
            <p:nvPr/>
          </p:nvSpPr>
          <p:spPr>
            <a:xfrm>
              <a:off x="2598420" y="287464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5" name="Ellipse 65"/>
            <p:cNvSpPr/>
            <p:nvPr/>
          </p:nvSpPr>
          <p:spPr>
            <a:xfrm>
              <a:off x="1332547" y="4066222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Ellipse 66"/>
            <p:cNvSpPr/>
            <p:nvPr/>
          </p:nvSpPr>
          <p:spPr>
            <a:xfrm>
              <a:off x="3248977" y="2844165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Ellipse 67"/>
            <p:cNvSpPr/>
            <p:nvPr/>
          </p:nvSpPr>
          <p:spPr>
            <a:xfrm>
              <a:off x="4349115" y="289941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Ellipse 68"/>
            <p:cNvSpPr/>
            <p:nvPr/>
          </p:nvSpPr>
          <p:spPr>
            <a:xfrm>
              <a:off x="2135505" y="415861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9" name="Ellipse 69"/>
            <p:cNvSpPr/>
            <p:nvPr/>
          </p:nvSpPr>
          <p:spPr>
            <a:xfrm>
              <a:off x="2464118" y="283749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0" name="Ellipse 70"/>
            <p:cNvSpPr/>
            <p:nvPr/>
          </p:nvSpPr>
          <p:spPr>
            <a:xfrm>
              <a:off x="4912042" y="490728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Ellipse 71"/>
            <p:cNvSpPr/>
            <p:nvPr/>
          </p:nvSpPr>
          <p:spPr>
            <a:xfrm>
              <a:off x="1717358" y="467677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2" name="Ellipse 72"/>
            <p:cNvSpPr/>
            <p:nvPr/>
          </p:nvSpPr>
          <p:spPr>
            <a:xfrm>
              <a:off x="1951672" y="396335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3" name="Ellipse 73"/>
            <p:cNvSpPr/>
            <p:nvPr/>
          </p:nvSpPr>
          <p:spPr>
            <a:xfrm>
              <a:off x="3405188" y="458819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4" name="Ellipse 74"/>
            <p:cNvSpPr/>
            <p:nvPr/>
          </p:nvSpPr>
          <p:spPr>
            <a:xfrm>
              <a:off x="1019175" y="4151948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Ellipse 75"/>
            <p:cNvSpPr/>
            <p:nvPr/>
          </p:nvSpPr>
          <p:spPr>
            <a:xfrm>
              <a:off x="2508885" y="373284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6" name="Ellipse 76"/>
            <p:cNvSpPr/>
            <p:nvPr/>
          </p:nvSpPr>
          <p:spPr>
            <a:xfrm>
              <a:off x="4896802" y="338709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Ellipse 77"/>
            <p:cNvSpPr/>
            <p:nvPr/>
          </p:nvSpPr>
          <p:spPr>
            <a:xfrm>
              <a:off x="3106102" y="358902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8" name="Ellipse 78"/>
            <p:cNvSpPr/>
            <p:nvPr/>
          </p:nvSpPr>
          <p:spPr>
            <a:xfrm>
              <a:off x="3758565" y="51787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9" name="Ellipse 79"/>
            <p:cNvSpPr/>
            <p:nvPr/>
          </p:nvSpPr>
          <p:spPr>
            <a:xfrm>
              <a:off x="4677728" y="3136582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Ellipse 80"/>
            <p:cNvSpPr/>
            <p:nvPr/>
          </p:nvSpPr>
          <p:spPr>
            <a:xfrm>
              <a:off x="4572952" y="3085148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Ellipse 81"/>
            <p:cNvSpPr/>
            <p:nvPr/>
          </p:nvSpPr>
          <p:spPr>
            <a:xfrm>
              <a:off x="2603182" y="420719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2" name="Ellipse 82"/>
            <p:cNvSpPr/>
            <p:nvPr/>
          </p:nvSpPr>
          <p:spPr>
            <a:xfrm>
              <a:off x="1427797" y="3545205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Ellipse 83"/>
            <p:cNvSpPr/>
            <p:nvPr/>
          </p:nvSpPr>
          <p:spPr>
            <a:xfrm>
              <a:off x="1254443" y="51406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4" name="Ellipse 84"/>
            <p:cNvSpPr/>
            <p:nvPr/>
          </p:nvSpPr>
          <p:spPr>
            <a:xfrm>
              <a:off x="1851660" y="487299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5" name="Ellipse 85"/>
            <p:cNvSpPr/>
            <p:nvPr/>
          </p:nvSpPr>
          <p:spPr>
            <a:xfrm>
              <a:off x="2389822" y="518160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6" name="Ellipse 86"/>
            <p:cNvSpPr/>
            <p:nvPr/>
          </p:nvSpPr>
          <p:spPr>
            <a:xfrm>
              <a:off x="1004888" y="490728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Ellipse 87"/>
            <p:cNvSpPr/>
            <p:nvPr/>
          </p:nvSpPr>
          <p:spPr>
            <a:xfrm>
              <a:off x="1413510" y="430625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8" name="Ellipse 88"/>
            <p:cNvSpPr/>
            <p:nvPr/>
          </p:nvSpPr>
          <p:spPr>
            <a:xfrm>
              <a:off x="1108710" y="2868930"/>
              <a:ext cx="53340" cy="5334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Ellipse 89"/>
            <p:cNvSpPr/>
            <p:nvPr/>
          </p:nvSpPr>
          <p:spPr>
            <a:xfrm>
              <a:off x="3509010" y="491109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0" name="Ellipse 90"/>
            <p:cNvSpPr/>
            <p:nvPr/>
          </p:nvSpPr>
          <p:spPr>
            <a:xfrm>
              <a:off x="2030730" y="435102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987352" y="555593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5068814" y="555593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20674" y="2497455"/>
              <a:ext cx="1226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3538701" y="393430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h(x)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821995" y="440626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</p:grpSp>
      <p:grpSp>
        <p:nvGrpSpPr>
          <p:cNvPr id="98" name="c1-text-3"/>
          <p:cNvGrpSpPr/>
          <p:nvPr/>
        </p:nvGrpSpPr>
        <p:grpSpPr>
          <a:xfrm>
            <a:off x="527685" y="5965031"/>
            <a:ext cx="4456430" cy="441008"/>
            <a:chOff x="527685" y="5965031"/>
            <a:chExt cx="4456430" cy="441008"/>
          </a:xfrm>
        </p:grpSpPr>
        <p:sp>
          <p:nvSpPr>
            <p:cNvPr id="97" name="TextBox 97"/>
            <p:cNvSpPr txBox="1"/>
            <p:nvPr/>
          </p:nvSpPr>
          <p:spPr>
            <a:xfrm>
              <a:off x="527685" y="5965031"/>
              <a:ext cx="4456430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= {(x, y): 0 ≤ y ≤ h(x), a ≤ x ≤ b} 是曲线下方区域。绿色点落在 D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内（ξᵢ = 1），灰色点落在 D 外。</a:t>
              </a:r>
            </a:p>
          </p:txBody>
        </p:sp>
      </p:grpSp>
      <p:grpSp>
        <p:nvGrpSpPr>
          <p:cNvPr id="100" name="c2-text-1"/>
          <p:cNvGrpSpPr/>
          <p:nvPr/>
        </p:nvGrpSpPr>
        <p:grpSpPr>
          <a:xfrm>
            <a:off x="5809107" y="1545907"/>
            <a:ext cx="5354384" cy="529780"/>
            <a:chOff x="5809107" y="1545907"/>
            <a:chExt cx="5354384" cy="529780"/>
          </a:xfrm>
        </p:grpSpPr>
        <p:sp>
          <p:nvSpPr>
            <p:cNvPr id="99" name="TextBox 99"/>
            <p:cNvSpPr txBox="1"/>
            <p:nvPr/>
          </p:nvSpPr>
          <p:spPr>
            <a:xfrm>
              <a:off x="5809107" y="1545907"/>
              <a:ext cx="5354384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G = [a, b]×(0, M) 上均匀抽样 N 次，得随机点 Zᵢ = (Xᵢ, Yᵢ)，i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 …, N。令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formula82"/>
              <p:cNvSpPr txBox="1">
                <a:spLocks noGrp="1"/>
              </p:cNvSpPr>
              <p:nvPr/>
            </p:nvSpPr>
            <p:spPr>
              <a:xfrm>
                <a:off x="5815965" y="2198370"/>
                <a:ext cx="5842635" cy="868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∈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m:rPr>
                                  <m:nor m:val="on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iid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03" name="c2-text-3"/>
          <p:cNvGrpSpPr/>
          <p:nvPr/>
        </p:nvGrpSpPr>
        <p:grpSpPr>
          <a:xfrm>
            <a:off x="5809107" y="3264218"/>
            <a:ext cx="1584198" cy="264033"/>
            <a:chOff x="5809107" y="3264218"/>
            <a:chExt cx="1584198" cy="264033"/>
          </a:xfrm>
        </p:grpSpPr>
        <p:sp>
          <p:nvSpPr>
            <p:cNvPr id="102" name="TextBox 102"/>
            <p:cNvSpPr txBox="1"/>
            <p:nvPr/>
          </p:nvSpPr>
          <p:spPr>
            <a:xfrm>
              <a:off x="5809107" y="3264218"/>
              <a:ext cx="1584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V(·) 表示面积，则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formula83"/>
              <p:cNvSpPr txBox="1">
                <a:spLocks noGrp="1"/>
              </p:cNvSpPr>
              <p:nvPr/>
            </p:nvSpPr>
            <p:spPr>
              <a:xfrm>
                <a:off x="5815965" y="3649980"/>
                <a:ext cx="5842635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d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</m:d>
                        </m:den>
                      </m:f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11.1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06" name="c2-text-5"/>
          <p:cNvGrpSpPr/>
          <p:nvPr/>
        </p:nvGrpSpPr>
        <p:grpSpPr>
          <a:xfrm>
            <a:off x="5809107" y="4464368"/>
            <a:ext cx="4581110" cy="264033"/>
            <a:chOff x="5809107" y="4464368"/>
            <a:chExt cx="4581110" cy="264033"/>
          </a:xfrm>
        </p:grpSpPr>
        <p:sp>
          <p:nvSpPr>
            <p:cNvPr id="105" name="TextBox 105"/>
            <p:cNvSpPr txBox="1"/>
            <p:nvPr/>
          </p:nvSpPr>
          <p:spPr>
            <a:xfrm>
              <a:off x="5809107" y="4464368"/>
              <a:ext cx="458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N 个点中落入 D 的比例估计 p，再由 I = pM(b − a) 得</a:t>
              </a:r>
            </a:p>
          </p:txBody>
        </p:sp>
      </p:grpSp>
      <p:grpSp>
        <p:nvGrpSpPr>
          <p:cNvPr id="111" name="c2-card-6"/>
          <p:cNvGrpSpPr/>
          <p:nvPr/>
        </p:nvGrpSpPr>
        <p:grpSpPr>
          <a:xfrm>
            <a:off x="5815965" y="4850130"/>
            <a:ext cx="5842635" cy="1490662"/>
            <a:chOff x="5815965" y="4850130"/>
            <a:chExt cx="5842635" cy="1490662"/>
          </a:xfrm>
        </p:grpSpPr>
        <p:sp>
          <p:nvSpPr>
            <p:cNvPr id="107" name="Rectangle 107"/>
            <p:cNvSpPr/>
            <p:nvPr/>
          </p:nvSpPr>
          <p:spPr>
            <a:xfrm>
              <a:off x="5815965" y="4850130"/>
              <a:ext cx="5842635" cy="1490662"/>
            </a:xfrm>
            <a:prstGeom prst="roundRect">
              <a:avLst>
                <a:gd name="adj" fmla="val 8946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6008370" y="5042535"/>
              <a:ext cx="1717358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6061899" y="5076825"/>
              <a:ext cx="16093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随机投点法估计（11.2）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formula84"/>
                <p:cNvSpPr txBox="1">
                  <a:spLocks noGrp="1"/>
                </p:cNvSpPr>
                <p:nvPr/>
              </p:nvSpPr>
              <p:spPr>
                <a:xfrm>
                  <a:off x="6008370" y="5376862"/>
                  <a:ext cx="5457825" cy="7543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ˆ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nary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acc>
                          <m:accPr>
                            <m:chr m:val="ˆ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acc>
                          <m:accPr>
                            <m:chr m:val="ˆ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acc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1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2" name="TextBox 11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随机投点法的步骤与精度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4135069" cy="2411159"/>
            <a:chOff x="533400" y="1533525"/>
            <a:chExt cx="4135069" cy="241115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9566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产生随机数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34703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独立产生 U(0,1) 随机数 uᵢ, vᵢ（i = 1, …, N）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187416"/>
              <a:ext cx="11505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变换到矩形 G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467927"/>
              <a:ext cx="36449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xᵢ = a + uᵢ(b − a)，yᵢ = M·vᵢ，以及 h(xᵢ)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8084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088957"/>
              <a:ext cx="3722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统计满足 h(xᵢ) ≥ yᵢ 的点数，除以 N 得到 p 的估计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4294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估计积分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709988"/>
              <a:ext cx="12719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(11.2) 计算 Î</a:t>
              </a:r>
            </a:p>
          </p:txBody>
        </p:sp>
      </p:grpSp>
      <p:grpSp>
        <p:nvGrpSpPr>
          <p:cNvPr id="28" name="c1-code-2"/>
          <p:cNvGrpSpPr/>
          <p:nvPr/>
        </p:nvGrpSpPr>
        <p:grpSpPr>
          <a:xfrm>
            <a:off x="533400" y="4120515"/>
            <a:ext cx="5410200" cy="1719262"/>
            <a:chOff x="533400" y="4120515"/>
            <a:chExt cx="5410200" cy="1719262"/>
          </a:xfrm>
        </p:grpSpPr>
        <p:sp>
          <p:nvSpPr>
            <p:cNvPr id="25" name="Rectangle 25"/>
            <p:cNvSpPr/>
            <p:nvPr/>
          </p:nvSpPr>
          <p:spPr>
            <a:xfrm>
              <a:off x="533400" y="4120515"/>
              <a:ext cx="5410200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1797" y="4272439"/>
              <a:ext cx="8819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R：随机投点法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1035" y="4535329"/>
              <a:ext cx="3361182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hitmiss &lt;-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(h, a, b, M, N)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u &lt;- runif(N); v &lt;- runif(N)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 &lt;- a + u * (b - a); y &lt;- M * v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mean(h(x) &gt;= y) * M * (b - a)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hitmiss(exp, 0, 1, exp(1), 1e4)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1.718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248400" y="1524000"/>
            <a:ext cx="5410200" cy="1495425"/>
            <a:chOff x="6248400" y="1524000"/>
            <a:chExt cx="5410200" cy="1495425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1495425"/>
            </a:xfrm>
            <a:prstGeom prst="roundRect">
              <a:avLst>
                <a:gd name="adj" fmla="val 89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57925" y="1657350"/>
              <a:ext cx="47625" cy="12287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90335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7264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强相合性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83096" y="2100739"/>
              <a:ext cx="35880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由强大数律，N → ∞ 时精度可以无限提高：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formula89"/>
                <p:cNvSpPr txBox="1">
                  <a:spLocks noGrp="1"/>
                </p:cNvSpPr>
                <p:nvPr/>
              </p:nvSpPr>
              <p:spPr>
                <a:xfrm>
                  <a:off x="6490335" y="2397442"/>
                  <a:ext cx="496443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ˆ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→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acc>
                          <m:accPr>
                            <m:chr m:val="ˆ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acc>
                          <m:accPr>
                            <m:chr m:val="ˆ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acc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→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pM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m:rPr>
                            <m:nor m:val="on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a.s.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2" name="c2-card-2"/>
          <p:cNvGrpSpPr/>
          <p:nvPr/>
        </p:nvGrpSpPr>
        <p:grpSpPr>
          <a:xfrm>
            <a:off x="6248400" y="3205162"/>
            <a:ext cx="5410200" cy="1938338"/>
            <a:chOff x="6248400" y="3205162"/>
            <a:chExt cx="5410200" cy="1938338"/>
          </a:xfrm>
        </p:grpSpPr>
        <p:sp>
          <p:nvSpPr>
            <p:cNvPr id="36" name="Rectangle 36"/>
            <p:cNvSpPr/>
            <p:nvPr/>
          </p:nvSpPr>
          <p:spPr>
            <a:xfrm>
              <a:off x="6248400" y="3205162"/>
              <a:ext cx="5410200" cy="1938338"/>
            </a:xfrm>
            <a:prstGeom prst="roundRect">
              <a:avLst>
                <a:gd name="adj" fmla="val 68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57925" y="3338512"/>
              <a:ext cx="47625" cy="167163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90335" y="3408998"/>
              <a:ext cx="139160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53477" y="3444716"/>
              <a:ext cx="12643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渐近正态（11.3）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formula90"/>
                <p:cNvSpPr txBox="1">
                  <a:spLocks noGrp="1"/>
                </p:cNvSpPr>
                <p:nvPr/>
              </p:nvSpPr>
              <p:spPr>
                <a:xfrm>
                  <a:off x="6490335" y="3758565"/>
                  <a:ext cx="4964430" cy="571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ad>
                          <m:radPr>
                            <m:degHide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ra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</m:d>
                        <m:groupChr>
                          <m:groupChrPr>
                            <m:chr m:val="→"/>
                            <m:pos m:val="bot"/>
                            <m:vertJc m:val="top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groupChr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</m:groupCh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 </m:t>
                            </m:r>
                            <m:sSup>
                              <m:e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 m:val="on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b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1" name="TextBox 41"/>
            <p:cNvSpPr txBox="1"/>
            <p:nvPr/>
          </p:nvSpPr>
          <p:spPr>
            <a:xfrm>
              <a:off x="6483096" y="4445794"/>
              <a:ext cx="46762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很大时 Î 近似服从 N(I, [M(b − a)]²p(1 − p)/N)，这个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近似分布的方差称为 Î 的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渐近方差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9" name="c2-callout-3"/>
          <p:cNvGrpSpPr/>
          <p:nvPr/>
        </p:nvGrpSpPr>
        <p:grpSpPr>
          <a:xfrm>
            <a:off x="6248400" y="5329238"/>
            <a:ext cx="5410200" cy="756285"/>
            <a:chOff x="6248400" y="5329238"/>
            <a:chExt cx="5410200" cy="756285"/>
          </a:xfrm>
        </p:grpSpPr>
        <p:sp>
          <p:nvSpPr>
            <p:cNvPr id="43" name="Rectangle 43"/>
            <p:cNvSpPr/>
            <p:nvPr/>
          </p:nvSpPr>
          <p:spPr>
            <a:xfrm>
              <a:off x="6248400" y="5329238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41129" y="5603676"/>
              <a:ext cx="224134" cy="192560"/>
              <a:chOff x="6441129" y="5603676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553200" y="56740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441129" y="56036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53200" y="57518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511" y="5476399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这样算出的积分带有随机性，误差中包含随机模拟误差，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只能说 Î 以约 95% 的概率落在 I 两侧 2 倍标准差之内。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46785" cy="909257"/>
            <a:chOff x="520446" y="342900"/>
            <a:chExt cx="74467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467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3.2.2 平均值法：积分 = 区间长度 × 函数平均值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1688755" cy="278702"/>
            <a:chOff x="526161" y="1547336"/>
            <a:chExt cx="1688755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6887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U ~ U(a, b)，则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97"/>
              <p:cNvSpPr txBox="1">
                <a:spLocks noGrp="1"/>
              </p:cNvSpPr>
              <p:nvPr/>
            </p:nvSpPr>
            <p:spPr>
              <a:xfrm>
                <a:off x="533400" y="1955482"/>
                <a:ext cx="5410200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  <m:sup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f>
                            <m:fPr>
                              <m:type m:val="bar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den>
                          </m:f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du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161" y="2697956"/>
            <a:ext cx="5073015" cy="558736"/>
            <a:chOff x="526161" y="2697956"/>
            <a:chExt cx="5073015" cy="558736"/>
          </a:xfrm>
        </p:grpSpPr>
        <p:sp>
          <p:nvSpPr>
            <p:cNvPr id="10" name="TextBox 10"/>
            <p:cNvSpPr txBox="1"/>
            <p:nvPr/>
          </p:nvSpPr>
          <p:spPr>
            <a:xfrm>
              <a:off x="526161" y="2697956"/>
              <a:ext cx="5073015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{Uᵢ} iid ~ U(a, b)，则 Yᵢ = h(Uᵢ) 是 iid 随机变量列。由强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大数律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98"/>
              <p:cNvSpPr txBox="1">
                <a:spLocks noGrp="1"/>
              </p:cNvSpPr>
              <p:nvPr/>
            </p:nvSpPr>
            <p:spPr>
              <a:xfrm>
                <a:off x="533400" y="3386138"/>
                <a:ext cx="5410200" cy="7858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̅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m:rPr>
                          <m:nor m:val="on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a.s.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8" name="c1-card-5"/>
          <p:cNvGrpSpPr/>
          <p:nvPr/>
        </p:nvGrpSpPr>
        <p:grpSpPr>
          <a:xfrm>
            <a:off x="533400" y="4357688"/>
            <a:ext cx="5410200" cy="1881188"/>
            <a:chOff x="533400" y="4357688"/>
            <a:chExt cx="5410200" cy="1881188"/>
          </a:xfrm>
        </p:grpSpPr>
        <p:sp>
          <p:nvSpPr>
            <p:cNvPr id="13" name="Rectangle 13"/>
            <p:cNvSpPr/>
            <p:nvPr/>
          </p:nvSpPr>
          <p:spPr>
            <a:xfrm>
              <a:off x="533400" y="4357688"/>
              <a:ext cx="5410200" cy="1881188"/>
            </a:xfrm>
            <a:prstGeom prst="roundRect">
              <a:avLst>
                <a:gd name="adj" fmla="val 708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4561522"/>
              <a:ext cx="167640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92478" y="4597241"/>
              <a:ext cx="1565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平均值法估计（11.4）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99"/>
                <p:cNvSpPr txBox="1">
                  <a:spLocks noGrp="1"/>
                </p:cNvSpPr>
                <p:nvPr/>
              </p:nvSpPr>
              <p:spPr>
                <a:xfrm>
                  <a:off x="737235" y="4911090"/>
                  <a:ext cx="5002530" cy="7858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ˆ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7" name="TextBox 17"/>
            <p:cNvSpPr txBox="1"/>
            <p:nvPr/>
          </p:nvSpPr>
          <p:spPr>
            <a:xfrm>
              <a:off x="729996" y="5812631"/>
              <a:ext cx="17255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 I 的强相合估计。</a:t>
              </a:r>
            </a:p>
          </p:txBody>
        </p:sp>
      </p:grpSp>
      <p:grpSp>
        <p:nvGrpSpPr>
          <p:cNvPr id="32" name="c2-steps-1"/>
          <p:cNvGrpSpPr/>
          <p:nvPr/>
        </p:nvGrpSpPr>
        <p:grpSpPr>
          <a:xfrm>
            <a:off x="6248400" y="1533525"/>
            <a:ext cx="2856433" cy="1790128"/>
            <a:chOff x="6248400" y="1533525"/>
            <a:chExt cx="2856433" cy="1790128"/>
          </a:xfrm>
        </p:grpSpPr>
        <p:sp>
          <p:nvSpPr>
            <p:cNvPr id="19" name="Rectangle 19"/>
            <p:cNvSpPr/>
            <p:nvPr/>
          </p:nvSpPr>
          <p:spPr>
            <a:xfrm>
              <a:off x="6381750" y="1676400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6248400" y="21545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42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248400" y="27755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2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0261" y="15663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产生随机数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1404" y="1846898"/>
              <a:ext cx="23926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独立产生 N 个 U(0,1) 随机数 uᵢ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60261" y="218741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变换并求值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61404" y="2467927"/>
              <a:ext cx="2443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xᵢ = a + uᵢ(b − a) 和 h(xᵢ)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60261" y="28084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估计积分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404" y="3088957"/>
              <a:ext cx="12719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(11.4) 计算 Î</a:t>
              </a:r>
            </a:p>
          </p:txBody>
        </p:sp>
      </p:grpSp>
      <p:grpSp>
        <p:nvGrpSpPr>
          <p:cNvPr id="36" name="c2-code-2"/>
          <p:cNvGrpSpPr/>
          <p:nvPr/>
        </p:nvGrpSpPr>
        <p:grpSpPr>
          <a:xfrm>
            <a:off x="6248400" y="3499485"/>
            <a:ext cx="5410200" cy="1516380"/>
            <a:chOff x="6248400" y="3499485"/>
            <a:chExt cx="5410200" cy="1516380"/>
          </a:xfrm>
        </p:grpSpPr>
        <p:sp>
          <p:nvSpPr>
            <p:cNvPr id="33" name="Rectangle 33"/>
            <p:cNvSpPr/>
            <p:nvPr/>
          </p:nvSpPr>
          <p:spPr>
            <a:xfrm>
              <a:off x="6248400" y="3499485"/>
              <a:ext cx="5410200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76797" y="3651409"/>
              <a:ext cx="7500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R：平均值法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76035" y="3914299"/>
              <a:ext cx="2813558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meanval &lt;-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(h, a, b, N)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 &lt;- runif(N, a, b)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(b - a) * mean(h(x))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meanval(exp, 0, 1, 1e4)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1.718</a:t>
              </a:r>
            </a:p>
          </p:txBody>
        </p:sp>
      </p:grpSp>
      <p:grpSp>
        <p:nvGrpSpPr>
          <p:cNvPr id="43" name="c2-callout-3"/>
          <p:cNvGrpSpPr/>
          <p:nvPr/>
        </p:nvGrpSpPr>
        <p:grpSpPr>
          <a:xfrm>
            <a:off x="6248400" y="5201602"/>
            <a:ext cx="5410200" cy="1037272"/>
            <a:chOff x="6248400" y="5201602"/>
            <a:chExt cx="5410200" cy="1037272"/>
          </a:xfrm>
        </p:grpSpPr>
        <p:sp>
          <p:nvSpPr>
            <p:cNvPr id="37" name="Rectangle 37"/>
            <p:cNvSpPr/>
            <p:nvPr/>
          </p:nvSpPr>
          <p:spPr>
            <a:xfrm>
              <a:off x="6248400" y="5201602"/>
              <a:ext cx="5410200" cy="1037272"/>
            </a:xfrm>
            <a:prstGeom prst="roundRect">
              <a:avLst>
                <a:gd name="adj" fmla="val 1101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453188" y="5619750"/>
              <a:ext cx="200026" cy="200025"/>
              <a:chOff x="6453188" y="5619750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453188" y="56197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492926" y="56642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27642" y="57753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755511" y="5489734"/>
              <a:ext cx="445084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平均值法不需要上界 M，也不要求 h ≥ 0，适用范围比随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机投点法宽。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10142" cy="909257"/>
            <a:chOff x="520446" y="342900"/>
            <a:chExt cx="84101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101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平均值法的误差阶是 1/√N，同样的思路可以求 E h(X)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1428750" cy="293370"/>
            <a:chOff x="525780" y="1548765"/>
            <a:chExt cx="142875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由中心极限定理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04"/>
              <p:cNvSpPr txBox="1">
                <a:spLocks noGrp="1"/>
              </p:cNvSpPr>
              <p:nvPr/>
            </p:nvSpPr>
            <p:spPr>
              <a:xfrm>
                <a:off x="533400" y="1973580"/>
                <a:ext cx="5626418" cy="594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</m:d>
                      <m:groupChr>
                        <m:groupChrPr>
                          <m:chr m:val="→"/>
                          <m:pos m:val="bot"/>
                          <m:vertJc m:val="top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groupChr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groupCh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</m:d>
                            </m:e>
                            <m:sup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05"/>
              <p:cNvSpPr txBox="1">
                <a:spLocks noGrp="1"/>
              </p:cNvSpPr>
              <p:nvPr/>
            </p:nvSpPr>
            <p:spPr>
              <a:xfrm>
                <a:off x="533400" y="2758440"/>
                <a:ext cx="5626418" cy="6934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 xml:space="preserve"> </m:t>
                                  </m:r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den>
                          </m:f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du</m:t>
                          </m:r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2" name="c1-text-4"/>
          <p:cNvGrpSpPr/>
          <p:nvPr/>
        </p:nvGrpSpPr>
        <p:grpSpPr>
          <a:xfrm>
            <a:off x="525780" y="3667125"/>
            <a:ext cx="3798189" cy="293370"/>
            <a:chOff x="525780" y="3667125"/>
            <a:chExt cx="3798189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525780" y="3667125"/>
              <a:ext cx="37981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Var[h(U)] 只与 h 有关，与 N 无关，所以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ormula106"/>
              <p:cNvSpPr txBox="1">
                <a:spLocks noGrp="1"/>
              </p:cNvSpPr>
              <p:nvPr/>
            </p:nvSpPr>
            <p:spPr>
              <a:xfrm>
                <a:off x="533400" y="4091940"/>
                <a:ext cx="5626418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</m:t>
                          </m:r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0" name="c1-callout-6"/>
          <p:cNvGrpSpPr/>
          <p:nvPr/>
        </p:nvGrpSpPr>
        <p:grpSpPr>
          <a:xfrm>
            <a:off x="533400" y="4951095"/>
            <a:ext cx="5626418" cy="929640"/>
            <a:chOff x="533400" y="4951095"/>
            <a:chExt cx="5626418" cy="929640"/>
          </a:xfrm>
        </p:grpSpPr>
        <p:sp>
          <p:nvSpPr>
            <p:cNvPr id="14" name="Rectangle 14"/>
            <p:cNvSpPr/>
            <p:nvPr/>
          </p:nvSpPr>
          <p:spPr>
            <a:xfrm>
              <a:off x="533400" y="4951095"/>
              <a:ext cx="5626418" cy="929640"/>
            </a:xfrm>
            <a:prstGeom prst="roundRect">
              <a:avLst>
                <a:gd name="adj" fmla="val 1229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5315903"/>
              <a:ext cx="200026" cy="200026"/>
              <a:chOff x="738188" y="5315903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53159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3825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27088" y="54159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5173028"/>
              <a:ext cx="4558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想减小误差只有两条路：加大 N，或者减小被平均的量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的方差；3.3–3.5 的方法都走第二条路。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6464618" y="1524000"/>
            <a:ext cx="5193982" cy="2849880"/>
            <a:chOff x="6464618" y="1524000"/>
            <a:chExt cx="5193982" cy="2849880"/>
          </a:xfrm>
        </p:grpSpPr>
        <p:sp>
          <p:nvSpPr>
            <p:cNvPr id="21" name="Rectangle 21"/>
            <p:cNvSpPr/>
            <p:nvPr/>
          </p:nvSpPr>
          <p:spPr>
            <a:xfrm>
              <a:off x="6464618" y="1524000"/>
              <a:ext cx="5193982" cy="2849880"/>
            </a:xfrm>
            <a:prstGeom prst="roundRect">
              <a:avLst>
                <a:gd name="adj" fmla="val 467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74168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30873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求随机变量函数的期望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66548" y="2110740"/>
              <a:ext cx="44919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求一般随机变量 X 的函数的期望 I = E h(X)：对 X 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随机数 Xᵢ（i = 1, …, N）令 Yᵢ = h(Xᵢ)，同样用平均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值法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107"/>
                <p:cNvSpPr txBox="1">
                  <a:spLocks noGrp="1"/>
                </p:cNvSpPr>
                <p:nvPr/>
              </p:nvSpPr>
              <p:spPr>
                <a:xfrm>
                  <a:off x="6674168" y="2992755"/>
                  <a:ext cx="4774882" cy="8172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ˆ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6" name="TextBox 26"/>
            <p:cNvSpPr txBox="1"/>
            <p:nvPr/>
          </p:nvSpPr>
          <p:spPr>
            <a:xfrm>
              <a:off x="6666548" y="3930015"/>
              <a:ext cx="30137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Î 是 I 的无偏估计和强相合估计。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6464618" y="4564380"/>
            <a:ext cx="5193982" cy="1316355"/>
            <a:chOff x="6464618" y="4564380"/>
            <a:chExt cx="5193982" cy="1316355"/>
          </a:xfrm>
        </p:grpSpPr>
        <p:sp>
          <p:nvSpPr>
            <p:cNvPr id="28" name="Rectangle 28"/>
            <p:cNvSpPr/>
            <p:nvPr/>
          </p:nvSpPr>
          <p:spPr>
            <a:xfrm>
              <a:off x="6464618" y="4564380"/>
              <a:ext cx="5193982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469773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12268" y="4773930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72923" y="480964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两个问题其实是一个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04648" y="5151120"/>
              <a:ext cx="4339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积分 ∫ₐᵇ h(x)dx 就是 X ~ U(a, b) 时的 (b − a)·E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h(X)；反过来，E h(X) 是以 X 的密度为权的积分。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0361" cy="909257"/>
            <a:chOff x="520446" y="342900"/>
            <a:chExt cx="82603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03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例11.1 用平均值法估计标准正态分布的 3/2 阶绝对矩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14"/>
              <p:cNvSpPr txBox="1">
                <a:spLocks noGrp="1"/>
              </p:cNvSpPr>
              <p:nvPr/>
            </p:nvSpPr>
            <p:spPr>
              <a:xfrm>
                <a:off x="533400" y="1524000"/>
                <a:ext cx="5626418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sSup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</m:e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6161" y="2184559"/>
            <a:ext cx="5136134" cy="558736"/>
            <a:chOff x="526161" y="2184559"/>
            <a:chExt cx="5136134" cy="558736"/>
          </a:xfrm>
        </p:grpSpPr>
        <p:sp>
          <p:nvSpPr>
            <p:cNvPr id="8" name="TextBox 8"/>
            <p:cNvSpPr txBox="1"/>
            <p:nvPr/>
          </p:nvSpPr>
          <p:spPr>
            <a:xfrm>
              <a:off x="526161" y="2184559"/>
              <a:ext cx="5136134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N = 10000，产生标准正态随机数 Xᵢ，令 Yᵢ 为 |Xᵢ| 的 3/2 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方，则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15"/>
              <p:cNvSpPr txBox="1">
                <a:spLocks noGrp="1"/>
              </p:cNvSpPr>
              <p:nvPr/>
            </p:nvSpPr>
            <p:spPr>
              <a:xfrm>
                <a:off x="533400" y="2867978"/>
                <a:ext cx="5626418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d>
                                        <m:dPr>
                                          <m:begChr m:val="|"/>
                                          <m:sepChr m:val=""/>
                                          <m:endChr m:val="|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a:rPr lang="zh-CN" sz="18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8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3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/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ˆ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27" name="c1-table-4"/>
          <p:cNvGrpSpPr/>
          <p:nvPr/>
        </p:nvGrpSpPr>
        <p:grpSpPr>
          <a:xfrm>
            <a:off x="528066" y="3849052"/>
            <a:ext cx="5631752" cy="1553147"/>
            <a:chOff x="528066" y="3849052"/>
            <a:chExt cx="5631752" cy="1553147"/>
          </a:xfrm>
        </p:grpSpPr>
        <p:sp>
          <p:nvSpPr>
            <p:cNvPr id="11" name="Rectangle 11"/>
            <p:cNvSpPr/>
            <p:nvPr/>
          </p:nvSpPr>
          <p:spPr>
            <a:xfrm>
              <a:off x="533400" y="3849052"/>
              <a:ext cx="5626418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35202" y="397668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01634" y="3976688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一次模拟（原课件）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911280" y="39766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理论值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66688" y="440150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62034" y="440150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0.8754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48213" y="4401502"/>
              <a:ext cx="8229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0.8600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6929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4697730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5944" y="4825365"/>
              <a:ext cx="9722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样本标准差 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862034" y="482536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0.9409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67187" y="4825365"/>
              <a:ext cx="13850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的标准差 0.9253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849052"/>
              <a:ext cx="5626418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05025" y="3849052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154805" y="3849052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8066" y="5196840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理论值用伽马函数公式精确算出，见右侧代码最后一行</a:t>
              </a:r>
            </a:p>
          </p:txBody>
        </p:sp>
      </p:grpSp>
      <p:grpSp>
        <p:nvGrpSpPr>
          <p:cNvPr id="34" name="c1-callout-5"/>
          <p:cNvGrpSpPr/>
          <p:nvPr/>
        </p:nvGrpSpPr>
        <p:grpSpPr>
          <a:xfrm>
            <a:off x="533400" y="5540692"/>
            <a:ext cx="5626418" cy="756285"/>
            <a:chOff x="533400" y="5540692"/>
            <a:chExt cx="5626418" cy="756285"/>
          </a:xfrm>
        </p:grpSpPr>
        <p:sp>
          <p:nvSpPr>
            <p:cNvPr id="28" name="Rectangle 28"/>
            <p:cNvSpPr/>
            <p:nvPr/>
          </p:nvSpPr>
          <p:spPr>
            <a:xfrm>
              <a:off x="533400" y="5540692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818823"/>
              <a:ext cx="200026" cy="200026"/>
              <a:chOff x="738188" y="5818823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8188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58854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27088" y="59188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511" y="5687854"/>
              <a:ext cx="463118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Î 比真值大 0.0154，约为标准误 0.0093 的 1.7 倍，属于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正常的随机波动。</a:t>
              </a:r>
            </a:p>
          </p:txBody>
        </p:sp>
      </p:grpSp>
      <p:grpSp>
        <p:nvGrpSpPr>
          <p:cNvPr id="38" name="c2-code-1"/>
          <p:cNvGrpSpPr/>
          <p:nvPr/>
        </p:nvGrpSpPr>
        <p:grpSpPr>
          <a:xfrm>
            <a:off x="6464618" y="1524000"/>
            <a:ext cx="5193982" cy="1829752"/>
            <a:chOff x="6464618" y="1524000"/>
            <a:chExt cx="5193982" cy="1829752"/>
          </a:xfrm>
        </p:grpSpPr>
        <p:sp>
          <p:nvSpPr>
            <p:cNvPr id="35" name="Rectangle 35"/>
            <p:cNvSpPr/>
            <p:nvPr/>
          </p:nvSpPr>
          <p:spPr>
            <a:xfrm>
              <a:off x="6464618" y="1524000"/>
              <a:ext cx="5193982" cy="1829752"/>
            </a:xfrm>
            <a:prstGeom prst="roundRect">
              <a:avLst>
                <a:gd name="adj" fmla="val 520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93015" y="1675924"/>
              <a:ext cx="6590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R：例11.1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92634" y="1937385"/>
              <a:ext cx="3091053" cy="1342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&lt;- 10000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y &lt;- abs(rnorm(N))^1.5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I.hat &lt;- mean(y)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S.N &lt;- sqrt(mean((y - I.hat)^2))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c(I.hat, S.N)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理论值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2^0.75 * gamma(1.25) / sqrt(pi)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# 0.8600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464618" y="3533775"/>
            <a:ext cx="5193982" cy="2763202"/>
            <a:chOff x="6464618" y="3533775"/>
            <a:chExt cx="5193982" cy="2763202"/>
          </a:xfrm>
        </p:grpSpPr>
        <p:sp>
          <p:nvSpPr>
            <p:cNvPr id="39" name="Rectangle 39"/>
            <p:cNvSpPr/>
            <p:nvPr/>
          </p:nvSpPr>
          <p:spPr>
            <a:xfrm>
              <a:off x="6464618" y="3533775"/>
              <a:ext cx="5193982" cy="2763202"/>
            </a:xfrm>
            <a:prstGeom prst="roundRect">
              <a:avLst>
                <a:gd name="adj" fmla="val 48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74142" y="3667125"/>
              <a:ext cx="47625" cy="249650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700838" y="373189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92278" y="376618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93598" y="4092416"/>
              <a:ext cx="455002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原课件本页把样本标准差写作 0.09409，与例11.2 使用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0.9409 不一致。Y（|X| 的 3/2 次方）的标准差理论值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为 0.9253，应为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0.9409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20728" cy="909257"/>
            <a:chOff x="520446" y="342900"/>
            <a:chExt cx="90207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207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3.2.3 误差评估：样本均值近似正态，方差用样本方差估计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5063998" cy="558736"/>
            <a:chOff x="526161" y="1547336"/>
            <a:chExt cx="5063998" cy="558736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063998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θ = EY，Var(Y) = σ²，来自 Y 的 N 个样本 Y₁, Y₂, … 独立同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26"/>
              <p:cNvSpPr txBox="1">
                <a:spLocks noGrp="1"/>
              </p:cNvSpPr>
              <p:nvPr/>
            </p:nvSpPr>
            <p:spPr>
              <a:xfrm>
                <a:off x="533400" y="2236470"/>
                <a:ext cx="5410200" cy="6915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acc>
                            <m:accPr>
                              <m:chr m:val="̅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acc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zh-CN" sz="16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sz="16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  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11.7</m:t>
                              </m:r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27"/>
              <p:cNvSpPr txBox="1">
                <a:spLocks noGrp="1"/>
              </p:cNvSpPr>
              <p:nvPr/>
            </p:nvSpPr>
            <p:spPr>
              <a:xfrm>
                <a:off x="533400" y="3112770"/>
                <a:ext cx="5410200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→∞: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acc>
                        <m:accPr>
                          <m:chr m:val="ˆ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sSubSup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p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m:rPr>
                          <m:nor m:val="on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a.s.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128"/>
              <p:cNvSpPr txBox="1">
                <a:spLocks noGrp="1"/>
              </p:cNvSpPr>
              <p:nvPr/>
            </p:nvSpPr>
            <p:spPr>
              <a:xfrm>
                <a:off x="533400" y="3774758"/>
                <a:ext cx="5410200" cy="642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acc>
                            <m:accPr>
                              <m:chr m:val="ˆ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num>
                        <m:den>
                          <m:sSub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rad>
                        </m:den>
                      </m:f>
                      <m:groupChr>
                        <m:groupChrPr>
                          <m:chr m:val="→"/>
                          <m:pos m:val="bot"/>
                          <m:vertJc m:val="top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groupChr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groupCh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3" name="c1-text-5"/>
          <p:cNvGrpSpPr/>
          <p:nvPr/>
        </p:nvGrpSpPr>
        <p:grpSpPr>
          <a:xfrm>
            <a:off x="526161" y="4626769"/>
            <a:ext cx="4681677" cy="278702"/>
            <a:chOff x="526161" y="4626769"/>
            <a:chExt cx="4681677" cy="278702"/>
          </a:xfrm>
        </p:grpSpPr>
        <p:sp>
          <p:nvSpPr>
            <p:cNvPr id="12" name="TextBox 12"/>
            <p:cNvSpPr txBox="1"/>
            <p:nvPr/>
          </p:nvSpPr>
          <p:spPr>
            <a:xfrm>
              <a:off x="526161" y="4626769"/>
              <a:ext cx="46816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 N 充分大时，估计量近似服从正态分布（11.8）：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129"/>
              <p:cNvSpPr txBox="1">
                <a:spLocks noGrp="1"/>
              </p:cNvSpPr>
              <p:nvPr/>
            </p:nvSpPr>
            <p:spPr>
              <a:xfrm>
                <a:off x="533400" y="5033962"/>
                <a:ext cx="5410200" cy="642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acc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nor m:val="on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近似服从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f>
                            <m:fPr>
                              <m:type m:val="bar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  <m:sup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0" name="c2-card-1"/>
          <p:cNvGrpSpPr/>
          <p:nvPr/>
        </p:nvGrpSpPr>
        <p:grpSpPr>
          <a:xfrm>
            <a:off x="6248400" y="1524000"/>
            <a:ext cx="5410200" cy="1545908"/>
            <a:chOff x="6248400" y="1524000"/>
            <a:chExt cx="5410200" cy="1545908"/>
          </a:xfrm>
        </p:grpSpPr>
        <p:sp>
          <p:nvSpPr>
            <p:cNvPr id="15" name="Rectangle 15"/>
            <p:cNvSpPr/>
            <p:nvPr/>
          </p:nvSpPr>
          <p:spPr>
            <a:xfrm>
              <a:off x="6248400" y="1524000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57925" y="1657350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90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80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83096" y="2100739"/>
              <a:ext cx="471233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(11.8) 写成"服从 N(θ, σ²/N) a.s."。中心极限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定理给出的是依分布收敛，估计量只是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近似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服从正态分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布，不能加 a.s.。</a:t>
              </a:r>
            </a:p>
          </p:txBody>
        </p:sp>
      </p:grpSp>
      <p:grpSp>
        <p:nvGrpSpPr>
          <p:cNvPr id="27" name="c2-card-2"/>
          <p:cNvGrpSpPr/>
          <p:nvPr/>
        </p:nvGrpSpPr>
        <p:grpSpPr>
          <a:xfrm>
            <a:off x="6248400" y="3255645"/>
            <a:ext cx="5410200" cy="2241232"/>
            <a:chOff x="6248400" y="3255645"/>
            <a:chExt cx="5410200" cy="2241232"/>
          </a:xfrm>
        </p:grpSpPr>
        <p:sp>
          <p:nvSpPr>
            <p:cNvPr id="21" name="Rectangle 21"/>
            <p:cNvSpPr/>
            <p:nvPr/>
          </p:nvSpPr>
          <p:spPr>
            <a:xfrm>
              <a:off x="6248400" y="3255645"/>
              <a:ext cx="5410200" cy="2241232"/>
            </a:xfrm>
            <a:prstGeom prst="roundRect">
              <a:avLst>
                <a:gd name="adj" fmla="val 595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52235" y="345948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5692" y="349519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样本量怎么定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44996" y="3832384"/>
              <a:ext cx="42447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要让估计量的标准差不超过 ε，需要 σ/√N ≤ ε，即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130"/>
                <p:cNvSpPr txBox="1">
                  <a:spLocks noGrp="1"/>
                </p:cNvSpPr>
                <p:nvPr/>
              </p:nvSpPr>
              <p:spPr>
                <a:xfrm>
                  <a:off x="6452235" y="4129088"/>
                  <a:ext cx="5002530" cy="6429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e>
                              <m:sup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e>
                              <m:sup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6" name="TextBox 26"/>
            <p:cNvSpPr txBox="1"/>
            <p:nvPr/>
          </p:nvSpPr>
          <p:spPr>
            <a:xfrm>
              <a:off x="6446139" y="4884420"/>
              <a:ext cx="46908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σ 未知时，先用较小的 N₀ 做预模拟得到 S 的值，再算正式模拟需要的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N。</a:t>
              </a:r>
            </a:p>
          </p:txBody>
        </p:sp>
      </p:grpSp>
      <p:grpSp>
        <p:nvGrpSpPr>
          <p:cNvPr id="34" name="c2-callout-3"/>
          <p:cNvGrpSpPr/>
          <p:nvPr/>
        </p:nvGrpSpPr>
        <p:grpSpPr>
          <a:xfrm>
            <a:off x="6248400" y="5681662"/>
            <a:ext cx="5410200" cy="518160"/>
            <a:chOff x="6248400" y="5681662"/>
            <a:chExt cx="5410200" cy="518160"/>
          </a:xfrm>
        </p:grpSpPr>
        <p:sp>
          <p:nvSpPr>
            <p:cNvPr id="28" name="Rectangle 28"/>
            <p:cNvSpPr/>
            <p:nvPr/>
          </p:nvSpPr>
          <p:spPr>
            <a:xfrm>
              <a:off x="6248400" y="5681662"/>
              <a:ext cx="5410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441129" y="5837038"/>
              <a:ext cx="224134" cy="192560"/>
              <a:chOff x="6441129" y="5837038"/>
              <a:chExt cx="224134" cy="19256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6553200" y="590740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441129" y="583703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553200" y="59851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755511" y="5841206"/>
              <a:ext cx="32355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精度提高 k 倍，样本量要增加 k² 倍。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三种误差度量：根均方误差、平均绝对误差、平均相对误差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3505200" cy="3836670"/>
            <a:chOff x="533400" y="1524000"/>
            <a:chExt cx="3505200" cy="38366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383667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56997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18110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0237" y="1769269"/>
              <a:ext cx="10627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RMSE（11.9）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68830" y="1768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根均方误差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39"/>
                <p:cNvSpPr txBox="1">
                  <a:spLocks noGrp="1"/>
                </p:cNvSpPr>
                <p:nvPr/>
              </p:nvSpPr>
              <p:spPr>
                <a:xfrm>
                  <a:off x="781050" y="2105025"/>
                  <a:ext cx="3048000" cy="5943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RMSE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</m:acc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3430" y="2819400"/>
              <a:ext cx="2901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iid 样本均值估计 θ = EY 时估计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无偏，所以（11.10）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40"/>
                <p:cNvSpPr txBox="1">
                  <a:spLocks noGrp="1"/>
                </p:cNvSpPr>
                <p:nvPr/>
              </p:nvSpPr>
              <p:spPr>
                <a:xfrm>
                  <a:off x="781050" y="3415665"/>
                  <a:ext cx="3048000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RMSE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zh-CN" sz="18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CN" sz="18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</m:d>
                          </m:e>
                        </m:ra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σ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3430" y="415290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141"/>
                <p:cNvSpPr txBox="1">
                  <a:spLocks noGrp="1"/>
                </p:cNvSpPr>
                <p:nvPr/>
              </p:nvSpPr>
              <p:spPr>
                <a:xfrm>
                  <a:off x="781050" y="4463415"/>
                  <a:ext cx="3048000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8" name="c2-card-1"/>
          <p:cNvGrpSpPr/>
          <p:nvPr/>
        </p:nvGrpSpPr>
        <p:grpSpPr>
          <a:xfrm>
            <a:off x="4343400" y="1524000"/>
            <a:ext cx="3505200" cy="3836670"/>
            <a:chOff x="4343400" y="1524000"/>
            <a:chExt cx="3505200" cy="3836670"/>
          </a:xfrm>
        </p:grpSpPr>
        <p:sp>
          <p:nvSpPr>
            <p:cNvPr id="18" name="Rectangle 18"/>
            <p:cNvSpPr/>
            <p:nvPr/>
          </p:nvSpPr>
          <p:spPr>
            <a:xfrm>
              <a:off x="4343400" y="1524000"/>
              <a:ext cx="3505200" cy="383667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352925" y="1657350"/>
              <a:ext cx="47625" cy="356997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91050" y="1733550"/>
              <a:ext cx="118110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52701" y="1769269"/>
              <a:ext cx="105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MAE（11.11）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78830" y="176879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平均绝对误差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formula142"/>
                <p:cNvSpPr txBox="1">
                  <a:spLocks noGrp="1"/>
                </p:cNvSpPr>
                <p:nvPr/>
              </p:nvSpPr>
              <p:spPr>
                <a:xfrm>
                  <a:off x="4591050" y="2105025"/>
                  <a:ext cx="3048000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MAE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</m:e>
                            </m:acc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TextBox 24"/>
            <p:cNvSpPr txBox="1"/>
            <p:nvPr/>
          </p:nvSpPr>
          <p:spPr>
            <a:xfrm>
              <a:off x="4583430" y="2720340"/>
              <a:ext cx="23879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由近似正态分布（11.12）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143"/>
                <p:cNvSpPr txBox="1">
                  <a:spLocks noGrp="1"/>
                </p:cNvSpPr>
                <p:nvPr/>
              </p:nvSpPr>
              <p:spPr>
                <a:xfrm>
                  <a:off x="4591050" y="3030855"/>
                  <a:ext cx="3048000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MAE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ad>
                          <m:radPr>
                            <m:degHide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type m:val="bar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</m:den>
                            </m:f>
                          </m:e>
                        </m:rad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σ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</m:den>
                        </m:f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0.7979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σ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6" name="TextBox 26"/>
            <p:cNvSpPr txBox="1"/>
            <p:nvPr/>
          </p:nvSpPr>
          <p:spPr>
            <a:xfrm>
              <a:off x="4583430" y="366522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144"/>
                <p:cNvSpPr txBox="1">
                  <a:spLocks noGrp="1"/>
                </p:cNvSpPr>
                <p:nvPr/>
              </p:nvSpPr>
              <p:spPr>
                <a:xfrm>
                  <a:off x="4591050" y="3975735"/>
                  <a:ext cx="3048000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0.80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</m:den>
                        </m:f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0.80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RMSE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8" name="c3-card-1"/>
          <p:cNvGrpSpPr/>
          <p:nvPr/>
        </p:nvGrpSpPr>
        <p:grpSpPr>
          <a:xfrm>
            <a:off x="8153400" y="1524000"/>
            <a:ext cx="3505200" cy="3836670"/>
            <a:chOff x="8153400" y="1524000"/>
            <a:chExt cx="3505200" cy="3836670"/>
          </a:xfrm>
        </p:grpSpPr>
        <p:sp>
          <p:nvSpPr>
            <p:cNvPr id="29" name="Rectangle 29"/>
            <p:cNvSpPr/>
            <p:nvPr/>
          </p:nvSpPr>
          <p:spPr>
            <a:xfrm>
              <a:off x="8153400" y="1524000"/>
              <a:ext cx="3505200" cy="3836670"/>
            </a:xfrm>
            <a:prstGeom prst="roundRect">
              <a:avLst>
                <a:gd name="adj" fmla="val 38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162925" y="1657350"/>
              <a:ext cx="47625" cy="356997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401050" y="1733550"/>
              <a:ext cx="485775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483494" y="1769269"/>
              <a:ext cx="320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MRE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993505" y="176879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平均相对误差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formula145"/>
                <p:cNvSpPr txBox="1">
                  <a:spLocks noGrp="1"/>
                </p:cNvSpPr>
                <p:nvPr/>
              </p:nvSpPr>
              <p:spPr>
                <a:xfrm>
                  <a:off x="8401050" y="2105025"/>
                  <a:ext cx="3048000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MRE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>
                              <m:fPr>
                                <m:type m:val="bar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ˆ"/>
                                    <m:ctrlP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9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acc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</m:num>
                              <m:den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MAE</m:t>
                            </m:r>
                          </m:num>
                          <m:den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5" name="TextBox 35"/>
            <p:cNvSpPr txBox="1"/>
            <p:nvPr/>
          </p:nvSpPr>
          <p:spPr>
            <a:xfrm>
              <a:off x="8393430" y="289369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formula146"/>
                <p:cNvSpPr txBox="1">
                  <a:spLocks noGrp="1"/>
                </p:cNvSpPr>
                <p:nvPr/>
              </p:nvSpPr>
              <p:spPr>
                <a:xfrm>
                  <a:off x="8401050" y="3204210"/>
                  <a:ext cx="3048000" cy="6429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0.80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acc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0.80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RMSE</m:t>
                            </m:r>
                          </m:num>
                          <m:den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acc>
                              </m:e>
                            </m: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7" name="TextBox 37"/>
            <p:cNvSpPr txBox="1"/>
            <p:nvPr/>
          </p:nvSpPr>
          <p:spPr>
            <a:xfrm>
              <a:off x="8394573" y="3963829"/>
              <a:ext cx="28740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 MRE 的编号也写作 (11.11)，与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MAE 重复。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9" name="Rectangle 3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991225"/>
              <a:ext cx="10314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0.7979 的来历：估计误差除以 σ/√N 后近似服从标准正态分布，而标准正态变量 Z 满足 E|Z| = √(2/π) ≈ 0.7979。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77348" cy="909257"/>
            <a:chOff x="520446" y="342900"/>
            <a:chExt cx="69773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773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例11.2 对例11.1 的平均值法估计做误差分析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5020056" cy="529780"/>
            <a:chOff x="526542" y="1545907"/>
            <a:chExt cx="5020056" cy="529780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020056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N = 10000 个样本点，一次模拟得到 Î = 0.8754，样本标准差 S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0.9409。</a:t>
              </a:r>
            </a:p>
          </p:txBody>
        </p:sp>
      </p:grpSp>
      <p:grpSp>
        <p:nvGrpSpPr>
          <p:cNvPr id="28" name="c1-table-2"/>
          <p:cNvGrpSpPr/>
          <p:nvPr/>
        </p:nvGrpSpPr>
        <p:grpSpPr>
          <a:xfrm>
            <a:off x="533400" y="2198370"/>
            <a:ext cx="5410200" cy="1623060"/>
            <a:chOff x="533400" y="2198370"/>
            <a:chExt cx="5410200" cy="1623060"/>
          </a:xfrm>
        </p:grpSpPr>
        <p:sp>
          <p:nvSpPr>
            <p:cNvPr id="9" name="Rectangle 9"/>
            <p:cNvSpPr/>
            <p:nvPr/>
          </p:nvSpPr>
          <p:spPr>
            <a:xfrm>
              <a:off x="533400" y="2198370"/>
              <a:ext cx="5410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72223" y="232267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度量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36303" y="232267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46091" y="232267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2268" y="2728436"/>
              <a:ext cx="412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RMSE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24038" y="2728436"/>
              <a:ext cx="14213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S/√N = 0.9409/100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148087" y="272843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0.0094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051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00990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8269" y="3134201"/>
              <a:ext cx="320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24038" y="3134201"/>
              <a:ext cx="21700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0.80 × RMSE = 0.80 × 0.0094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48087" y="313420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0.0075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4109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8269" y="3539966"/>
              <a:ext cx="320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MRE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24038" y="3539966"/>
              <a:ext cx="1803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MAE/Î = 0.0075/0.8754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135648" y="3539966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0.0086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198370"/>
              <a:ext cx="5410200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719262" y="219837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56798" y="219837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card-3"/>
          <p:cNvGrpSpPr/>
          <p:nvPr/>
        </p:nvGrpSpPr>
        <p:grpSpPr>
          <a:xfrm>
            <a:off x="533400" y="3995738"/>
            <a:ext cx="5410200" cy="2356485"/>
            <a:chOff x="533400" y="3995738"/>
            <a:chExt cx="5410200" cy="2356485"/>
          </a:xfrm>
        </p:grpSpPr>
        <p:sp>
          <p:nvSpPr>
            <p:cNvPr id="29" name="Rectangle 29"/>
            <p:cNvSpPr/>
            <p:nvPr/>
          </p:nvSpPr>
          <p:spPr>
            <a:xfrm>
              <a:off x="533400" y="3995738"/>
              <a:ext cx="5410200" cy="2356485"/>
            </a:xfrm>
            <a:prstGeom prst="roundRect">
              <a:avLst>
                <a:gd name="adj" fmla="val 56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129088"/>
              <a:ext cx="47625" cy="20897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63905" y="418814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5345" y="422243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7047" y="4545330"/>
              <a:ext cx="4311110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MRE 算作 0.0087。按 0.0075/0.8754 计算为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0.00857，四舍五入应为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0.0086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；用未舍入的 0.7979 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0.009409/0.8754 结果相同。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248400" y="1524000"/>
            <a:ext cx="5410200" cy="1920240"/>
            <a:chOff x="6248400" y="1524000"/>
            <a:chExt cx="5410200" cy="1920240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1920240"/>
            </a:xfrm>
            <a:prstGeom prst="roundRect">
              <a:avLst>
                <a:gd name="adj" fmla="val 694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40805" y="1716405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12242" y="175069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需要多大样本量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33947" y="2072640"/>
              <a:ext cx="38253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若要求 RMSE ≤ 0.001，由上一页的样本量公式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formula151"/>
                <p:cNvSpPr txBox="1">
                  <a:spLocks noGrp="1"/>
                </p:cNvSpPr>
                <p:nvPr/>
              </p:nvSpPr>
              <p:spPr>
                <a:xfrm>
                  <a:off x="6440805" y="2353628"/>
                  <a:ext cx="5025390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bar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0.9409</m:t>
                                    </m:r>
                                  </m:num>
                                  <m:den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0.001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8.85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0" name="TextBox 40"/>
            <p:cNvSpPr txBox="1"/>
            <p:nvPr/>
          </p:nvSpPr>
          <p:spPr>
            <a:xfrm>
              <a:off x="6435090" y="3076099"/>
              <a:ext cx="46703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误差要从 0.0094 降到 0.001（约 9.4 倍），样本量要增加约 88 倍。</a:t>
              </a:r>
            </a:p>
          </p:txBody>
        </p:sp>
      </p:grpSp>
      <p:grpSp>
        <p:nvGrpSpPr>
          <p:cNvPr id="45" name="c2-code-2"/>
          <p:cNvGrpSpPr/>
          <p:nvPr/>
        </p:nvGrpSpPr>
        <p:grpSpPr>
          <a:xfrm>
            <a:off x="6248400" y="3618548"/>
            <a:ext cx="5410200" cy="1829752"/>
            <a:chOff x="6248400" y="3618548"/>
            <a:chExt cx="5410200" cy="1829752"/>
          </a:xfrm>
        </p:grpSpPr>
        <p:sp>
          <p:nvSpPr>
            <p:cNvPr id="42" name="Rectangle 42"/>
            <p:cNvSpPr/>
            <p:nvPr/>
          </p:nvSpPr>
          <p:spPr>
            <a:xfrm>
              <a:off x="6248400" y="3618548"/>
              <a:ext cx="5410200" cy="1829752"/>
            </a:xfrm>
            <a:prstGeom prst="roundRect">
              <a:avLst>
                <a:gd name="adj" fmla="val 520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76797" y="3770471"/>
              <a:ext cx="15416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R：三种误差度量与样本量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76416" y="4031932"/>
              <a:ext cx="3431096" cy="1342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&lt;- 1e4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y &lt;- abs(rnorm(N))^1.5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I.hat &lt;- mean(y)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 &lt;- sqrt(mean((y - I.hat)^2))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rmse &lt;- S / sqrt(N)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c(rmse, 0.80 * rmse, 0.80 * rmse / I.hat)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ceiling((S / 0.001)^2)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RMSE &lt;= 0.001 所需 N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248400" y="5623560"/>
            <a:ext cx="5410200" cy="729615"/>
            <a:chOff x="6248400" y="5623560"/>
            <a:chExt cx="5410200" cy="729615"/>
          </a:xfrm>
        </p:grpSpPr>
        <p:sp>
          <p:nvSpPr>
            <p:cNvPr id="46" name="Rectangle 46"/>
            <p:cNvSpPr/>
            <p:nvPr/>
          </p:nvSpPr>
          <p:spPr>
            <a:xfrm>
              <a:off x="6248400" y="562356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453188" y="5888355"/>
              <a:ext cx="200026" cy="200025"/>
              <a:chOff x="6453188" y="5888355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453188" y="58883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492926" y="59328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527642" y="60439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755892" y="5769292"/>
              <a:ext cx="371703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报告模拟结果时连同误差一起写，例如 0.8754 ±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0.0094；真值 0.8600 落在 ±2 RMSE 的范围内。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85482" cy="909257"/>
            <a:chOff x="520446" y="342900"/>
            <a:chExt cx="708548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8548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3.2.4 高维定积分：随机投点法推广到 d+1 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4820539" cy="558736"/>
            <a:chOff x="526161" y="1547336"/>
            <a:chExt cx="4820539" cy="558736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4820539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元函数 h(x) 的自变量 x 有 d 个分量，定义域为超矩形 C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{aᵢ ≤ xᵢ ≤ bᵢ, i = 1, …, d}，且 0 ≤ h ≤ M。计算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64"/>
              <p:cNvSpPr txBox="1">
                <a:spLocks noGrp="1"/>
              </p:cNvSpPr>
              <p:nvPr/>
            </p:nvSpPr>
            <p:spPr>
              <a:xfrm>
                <a:off x="533400" y="2236470"/>
                <a:ext cx="5410200" cy="666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sub>
                          </m:sSub>
                        </m:sub>
                        <m:sup>
                          <m:sSub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sub>
                          </m:sSub>
                        </m:sup>
                        <m:e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⋯</m:t>
                          </m:r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ff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  <m:sup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,…,</m:t>
                                  </m:r>
                                  <m:sSub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⋯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  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11.19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65"/>
              <p:cNvSpPr txBox="1">
                <a:spLocks noGrp="1"/>
              </p:cNvSpPr>
              <p:nvPr/>
            </p:nvSpPr>
            <p:spPr>
              <a:xfrm>
                <a:off x="533400" y="3088005"/>
                <a:ext cx="5410200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</m:t>
                      </m:r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:</m:t>
                          </m:r>
                          <m:r>
                            <m:rPr>
                              <m:sty m:val="b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166"/>
              <p:cNvSpPr txBox="1">
                <a:spLocks noGrp="1"/>
              </p:cNvSpPr>
              <p:nvPr/>
            </p:nvSpPr>
            <p:spPr>
              <a:xfrm>
                <a:off x="533400" y="3749992"/>
                <a:ext cx="5410200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:</m:t>
                          </m:r>
                          <m:r>
                            <m:rPr>
                              <m:sty m:val="b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3" name="c1-text-5"/>
          <p:cNvGrpSpPr/>
          <p:nvPr/>
        </p:nvGrpSpPr>
        <p:grpSpPr>
          <a:xfrm>
            <a:off x="526161" y="4435316"/>
            <a:ext cx="4937760" cy="838772"/>
            <a:chOff x="526161" y="4435316"/>
            <a:chExt cx="4937760" cy="838772"/>
          </a:xfrm>
        </p:grpSpPr>
        <p:sp>
          <p:nvSpPr>
            <p:cNvPr id="12" name="TextBox 12"/>
            <p:cNvSpPr txBox="1"/>
            <p:nvPr/>
          </p:nvSpPr>
          <p:spPr>
            <a:xfrm>
              <a:off x="526161" y="4435316"/>
              <a:ext cx="4937760" cy="8387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Z₁, Z₂, … 是 d+1 维超矩形 G 内均匀分布的 N 个独立抽样，令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ξᵢ = 1（Zᵢ ∈ D），ξᵢ = 0（Zᵢ ∈ G − D），则 ξᵢ iid ~ b(1,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p)。</a:t>
              </a:r>
            </a:p>
          </p:txBody>
        </p:sp>
      </p:grpSp>
      <p:grpSp>
        <p:nvGrpSpPr>
          <p:cNvPr id="20" name="c1-callout-6"/>
          <p:cNvGrpSpPr/>
          <p:nvPr/>
        </p:nvGrpSpPr>
        <p:grpSpPr>
          <a:xfrm>
            <a:off x="533400" y="5403532"/>
            <a:ext cx="5410200" cy="822960"/>
            <a:chOff x="533400" y="5403532"/>
            <a:chExt cx="5410200" cy="822960"/>
          </a:xfrm>
        </p:grpSpPr>
        <p:sp>
          <p:nvSpPr>
            <p:cNvPr id="14" name="Rectangle 14"/>
            <p:cNvSpPr/>
            <p:nvPr/>
          </p:nvSpPr>
          <p:spPr>
            <a:xfrm>
              <a:off x="533400" y="5403532"/>
              <a:ext cx="5410200" cy="822960"/>
            </a:xfrm>
            <a:prstGeom prst="roundRect">
              <a:avLst>
                <a:gd name="adj" fmla="val 1388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5715000"/>
              <a:ext cx="200026" cy="200026"/>
              <a:chOff x="738188" y="5715000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57150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7816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27088" y="58150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511" y="5584984"/>
              <a:ext cx="451396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= 1 就是 3.2.1 的随机投点法：C 是区间 [a, b]，G 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矩形，D 是曲线 y = h(x) 下方的区域。</a:t>
              </a:r>
            </a:p>
          </p:txBody>
        </p:sp>
      </p:grpSp>
      <p:grpSp>
        <p:nvGrpSpPr>
          <p:cNvPr id="22" name="c2-text-1"/>
          <p:cNvGrpSpPr/>
          <p:nvPr/>
        </p:nvGrpSpPr>
        <p:grpSpPr>
          <a:xfrm>
            <a:off x="6241161" y="1547336"/>
            <a:ext cx="1715445" cy="278702"/>
            <a:chOff x="6241161" y="1547336"/>
            <a:chExt cx="1715445" cy="278702"/>
          </a:xfrm>
        </p:grpSpPr>
        <p:sp>
          <p:nvSpPr>
            <p:cNvPr id="21" name="TextBox 21"/>
            <p:cNvSpPr txBox="1"/>
            <p:nvPr/>
          </p:nvSpPr>
          <p:spPr>
            <a:xfrm>
              <a:off x="6241161" y="1547336"/>
              <a:ext cx="171544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表示区域体积，则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formula167"/>
              <p:cNvSpPr txBox="1">
                <a:spLocks noGrp="1"/>
              </p:cNvSpPr>
              <p:nvPr/>
            </p:nvSpPr>
            <p:spPr>
              <a:xfrm>
                <a:off x="6248400" y="1955482"/>
                <a:ext cx="5410200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∈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d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  <m:nary>
                            <m:naryPr>
                              <m:chr m:val="∏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9" name="c2-card-3"/>
          <p:cNvGrpSpPr/>
          <p:nvPr/>
        </p:nvGrpSpPr>
        <p:grpSpPr>
          <a:xfrm>
            <a:off x="6248400" y="2895600"/>
            <a:ext cx="5410200" cy="1881188"/>
            <a:chOff x="6248400" y="2895600"/>
            <a:chExt cx="5410200" cy="1881188"/>
          </a:xfrm>
        </p:grpSpPr>
        <p:sp>
          <p:nvSpPr>
            <p:cNvPr id="24" name="Rectangle 24"/>
            <p:cNvSpPr/>
            <p:nvPr/>
          </p:nvSpPr>
          <p:spPr>
            <a:xfrm>
              <a:off x="6248400" y="2895600"/>
              <a:ext cx="5410200" cy="1881188"/>
            </a:xfrm>
            <a:prstGeom prst="roundRect">
              <a:avLst>
                <a:gd name="adj" fmla="val 7089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52235" y="3099435"/>
              <a:ext cx="190023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00950" y="3135154"/>
              <a:ext cx="18037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随机投点法估计（11.20）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168"/>
                <p:cNvSpPr txBox="1">
                  <a:spLocks noGrp="1"/>
                </p:cNvSpPr>
                <p:nvPr/>
              </p:nvSpPr>
              <p:spPr>
                <a:xfrm>
                  <a:off x="6452235" y="3449002"/>
                  <a:ext cx="5002530" cy="7858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acc>
                          <m:accPr>
                            <m:chr m:val="ˆ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acc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acc>
                          <m:accPr>
                            <m:chr m:val="ˆ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nary>
                          <m:naryPr>
                            <m:chr m:val="∏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8" name="TextBox 28"/>
            <p:cNvSpPr txBox="1"/>
            <p:nvPr/>
          </p:nvSpPr>
          <p:spPr>
            <a:xfrm>
              <a:off x="6444996" y="4350544"/>
              <a:ext cx="26813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 I 的无偏估计和强相合估计。</a:t>
              </a:r>
            </a:p>
          </p:txBody>
        </p:sp>
      </p:grpSp>
      <p:grpSp>
        <p:nvGrpSpPr>
          <p:cNvPr id="31" name="c2-text-4"/>
          <p:cNvGrpSpPr/>
          <p:nvPr/>
        </p:nvGrpSpPr>
        <p:grpSpPr>
          <a:xfrm>
            <a:off x="6241161" y="4985861"/>
            <a:ext cx="3407575" cy="278702"/>
            <a:chOff x="6241161" y="4985861"/>
            <a:chExt cx="3407575" cy="278702"/>
          </a:xfrm>
        </p:grpSpPr>
        <p:sp>
          <p:nvSpPr>
            <p:cNvPr id="30" name="TextBox 30"/>
            <p:cNvSpPr txBox="1"/>
            <p:nvPr/>
          </p:nvSpPr>
          <p:spPr>
            <a:xfrm>
              <a:off x="6241161" y="4985861"/>
              <a:ext cx="34075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由中心极限定理，渐近方差为（11.21）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formula169"/>
              <p:cNvSpPr txBox="1">
                <a:spLocks noGrp="1"/>
              </p:cNvSpPr>
              <p:nvPr/>
            </p:nvSpPr>
            <p:spPr>
              <a:xfrm>
                <a:off x="6248400" y="5394008"/>
                <a:ext cx="5410200" cy="8334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  <m:nary>
                                    <m:naryPr>
                                      <m:chr m:val="∏"/>
                                      <m:limLoc m:val="undOvr"/>
                                      <m:grow m:val="off"/>
                                      <m:subHide m:val="off"/>
                                      <m:supHide m:val="off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=</m:t>
                                      </m:r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a:rPr lang="zh-CN" sz="18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b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8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j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sSub>
                                            <m:e>
                                              <m:r>
                                                <a:rPr lang="zh-CN" sz="18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a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88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j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</m:d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多重积分随机投点法的算法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2327910"/>
            <a:chOff x="533400" y="1524000"/>
            <a:chExt cx="5410200" cy="23279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伪代码：单位立方体上的随机投点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780790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输入：总试验次数 N，函数 f，0 &lt;= f &lt;= 1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m &lt;- 0                      # 成功次数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n in 1..N: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产生 k+1 个独立 U(0,1) 随机数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xi = (xi_1, ..., xi_k), eta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eta &lt;= f(xi_1, ..., xi_k):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m &lt;- m + 1          # 点落入区域，试验成功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theta1 &lt;- m / N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返回 theta1                  # 即 I 的估计</a:t>
              </a:r>
            </a:p>
          </p:txBody>
        </p:sp>
      </p:grpSp>
      <p:grpSp>
        <p:nvGrpSpPr>
          <p:cNvPr id="12" name="c1-text-2"/>
          <p:cNvGrpSpPr/>
          <p:nvPr/>
        </p:nvGrpSpPr>
        <p:grpSpPr>
          <a:xfrm>
            <a:off x="527304" y="4056698"/>
            <a:ext cx="5049012" cy="470916"/>
            <a:chOff x="527304" y="4056698"/>
            <a:chExt cx="5049012" cy="470916"/>
          </a:xfrm>
        </p:grpSpPr>
        <p:sp>
          <p:nvSpPr>
            <p:cNvPr id="11" name="TextBox 11"/>
            <p:cNvSpPr txBox="1"/>
            <p:nvPr/>
          </p:nvSpPr>
          <p:spPr>
            <a:xfrm>
              <a:off x="527304" y="4056698"/>
              <a:ext cx="504901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原课件用 ①–⑤ 带转移的写法（赋初值、投点、判断 n ≤ N、检验、计算 θ₁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m/N），与上面的循环等价。</a:t>
              </a:r>
            </a:p>
          </p:txBody>
        </p:sp>
      </p:grpSp>
      <p:grpSp>
        <p:nvGrpSpPr>
          <p:cNvPr id="21" name="c1-kv-3"/>
          <p:cNvGrpSpPr/>
          <p:nvPr/>
        </p:nvGrpSpPr>
        <p:grpSpPr>
          <a:xfrm>
            <a:off x="526161" y="4689634"/>
            <a:ext cx="5417439" cy="1657922"/>
            <a:chOff x="526161" y="4689634"/>
            <a:chExt cx="5417439" cy="1657922"/>
          </a:xfrm>
        </p:grpSpPr>
        <p:sp>
          <p:nvSpPr>
            <p:cNvPr id="13" name="TextBox 13"/>
            <p:cNvSpPr txBox="1"/>
            <p:nvPr/>
          </p:nvSpPr>
          <p:spPr>
            <a:xfrm>
              <a:off x="526161" y="4689634"/>
              <a:ext cx="16130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产生 k+1 个随机数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44484" y="4689634"/>
              <a:ext cx="3107309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matrix(runif(N * k), N, k) 给出 ξ；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runif(N) 给出 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52635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161" y="5379244"/>
              <a:ext cx="12398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判断 η ≤ f(ξ)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44484" y="5379244"/>
              <a:ext cx="3098292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apply(U, 1, f) 对每行算一次 f，再与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eta 逐个比较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59531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6161" y="6068854"/>
              <a:ext cx="8405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 m/N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44484" y="6068854"/>
              <a:ext cx="32259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mean(eta &lt;= ...) 直接给出成功比例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248400" y="1524000"/>
            <a:ext cx="5410200" cy="1777365"/>
            <a:chOff x="6248400" y="1524000"/>
            <a:chExt cx="5410200" cy="1777365"/>
          </a:xfrm>
        </p:grpSpPr>
        <p:sp>
          <p:nvSpPr>
            <p:cNvPr id="22" name="Rectangle 22"/>
            <p:cNvSpPr/>
            <p:nvPr/>
          </p:nvSpPr>
          <p:spPr>
            <a:xfrm>
              <a:off x="6248400" y="1524000"/>
              <a:ext cx="5410200" cy="1777365"/>
            </a:xfrm>
            <a:prstGeom prst="roundRect">
              <a:avLst>
                <a:gd name="adj" fmla="val 75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57925" y="1657350"/>
              <a:ext cx="47625" cy="151066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90335" y="1727835"/>
              <a:ext cx="166878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40909" y="1763554"/>
              <a:ext cx="1567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为什么结果直接是 m/N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83096" y="2100739"/>
              <a:ext cx="455002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这里积分区域已是单位立方体 [0, 1]ᵏ，且 0 ≤ f ≤ 1，所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V(G) = 1，I = p ≈ m/N。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84239" y="2688907"/>
              <a:ext cx="46680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一般区域先作变换 xⱼ = aⱼ + (bⱼ − aⱼ)uⱼ，并把 h 除以 M；最后结果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乘回 M∏(bⱼ − aⱼ)。</a:t>
              </a:r>
            </a:p>
          </p:txBody>
        </p:sp>
      </p:grpSp>
      <p:grpSp>
        <p:nvGrpSpPr>
          <p:cNvPr id="32" name="c2-code-2"/>
          <p:cNvGrpSpPr/>
          <p:nvPr/>
        </p:nvGrpSpPr>
        <p:grpSpPr>
          <a:xfrm>
            <a:off x="6248400" y="3486150"/>
            <a:ext cx="5410200" cy="1922145"/>
            <a:chOff x="6248400" y="3486150"/>
            <a:chExt cx="5410200" cy="1922145"/>
          </a:xfrm>
        </p:grpSpPr>
        <p:sp>
          <p:nvSpPr>
            <p:cNvPr id="29" name="Rectangle 29"/>
            <p:cNvSpPr/>
            <p:nvPr/>
          </p:nvSpPr>
          <p:spPr>
            <a:xfrm>
              <a:off x="6248400" y="3486150"/>
              <a:ext cx="5410200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76797" y="3638074"/>
              <a:ext cx="11316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R：k 维随机投点法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76035" y="3900964"/>
              <a:ext cx="2593086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hitmiss_d &lt;-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(f, k, N)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U &lt;- matrix(runif(N * k), N, k)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eta &lt;- runif(N)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mean(eta &lt;= apply(U, 1, f))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f &lt;-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(x) prod(x^2)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hitmiss_d(f, 8, 65536)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19478" cy="909257"/>
            <a:chOff x="520446" y="342900"/>
            <a:chExt cx="66194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194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高维平均值法：误差阶同样不受维数 d 影响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4987290" cy="588645"/>
            <a:chOff x="525780" y="1548765"/>
            <a:chExt cx="4987290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98729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Uᵢ iid ~ U(C)（i = 1, …, N），则 h(Uᵢ) 是 iid 随机变量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列，且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73"/>
              <p:cNvSpPr txBox="1">
                <a:spLocks noGrp="1"/>
              </p:cNvSpPr>
              <p:nvPr/>
            </p:nvSpPr>
            <p:spPr>
              <a:xfrm>
                <a:off x="533400" y="2268855"/>
                <a:ext cx="5410200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  <m:sup/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f>
                            <m:fPr>
                              <m:type m:val="bar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nary>
                                <m:naryPr>
                                  <m:chr m:val="∏"/>
                                  <m:limLoc m:val="undOvr"/>
                                  <m:grow m:val="off"/>
                                  <m:subHide m:val="off"/>
                                  <m:supHide m:val="off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=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b</m:t>
                                          </m:r>
                                        </m:e>
                                        <m:sub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a</m:t>
                                          </m:r>
                                        </m:e>
                                        <m:sub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j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den>
                          </m:f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nary>
                            <m:naryPr>
                              <m:chr m:val="∏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4" name="c1-card-3"/>
          <p:cNvGrpSpPr/>
          <p:nvPr/>
        </p:nvGrpSpPr>
        <p:grpSpPr>
          <a:xfrm>
            <a:off x="533400" y="3213735"/>
            <a:ext cx="5410200" cy="1607820"/>
            <a:chOff x="533400" y="3213735"/>
            <a:chExt cx="5410200" cy="1607820"/>
          </a:xfrm>
        </p:grpSpPr>
        <p:sp>
          <p:nvSpPr>
            <p:cNvPr id="10" name="Rectangle 10"/>
            <p:cNvSpPr/>
            <p:nvPr/>
          </p:nvSpPr>
          <p:spPr>
            <a:xfrm>
              <a:off x="533400" y="3213735"/>
              <a:ext cx="5410200" cy="1607820"/>
            </a:xfrm>
            <a:prstGeom prst="roundRect">
              <a:avLst>
                <a:gd name="adj" fmla="val 829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42950" y="3423285"/>
              <a:ext cx="1758315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5614" y="3459004"/>
              <a:ext cx="1652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平均值法估计（11.22）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74"/>
                <p:cNvSpPr txBox="1">
                  <a:spLocks noGrp="1"/>
                </p:cNvSpPr>
                <p:nvPr/>
              </p:nvSpPr>
              <p:spPr>
                <a:xfrm>
                  <a:off x="742950" y="3775710"/>
                  <a:ext cx="4991100" cy="8172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∏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6" name="c1-text-4"/>
          <p:cNvGrpSpPr/>
          <p:nvPr/>
        </p:nvGrpSpPr>
        <p:grpSpPr>
          <a:xfrm>
            <a:off x="525780" y="5036820"/>
            <a:ext cx="4306538" cy="293370"/>
            <a:chOff x="525780" y="5036820"/>
            <a:chExt cx="4306538" cy="293370"/>
          </a:xfrm>
        </p:grpSpPr>
        <p:sp>
          <p:nvSpPr>
            <p:cNvPr id="15" name="TextBox 15"/>
            <p:cNvSpPr txBox="1"/>
            <p:nvPr/>
          </p:nvSpPr>
          <p:spPr>
            <a:xfrm>
              <a:off x="525780" y="5036820"/>
              <a:ext cx="43065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由强大数律 Î₂ → I a.s.；渐近方差为（11.23）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formula175"/>
              <p:cNvSpPr txBox="1">
                <a:spLocks noGrp="1"/>
              </p:cNvSpPr>
              <p:nvPr/>
            </p:nvSpPr>
            <p:spPr>
              <a:xfrm>
                <a:off x="533400" y="5461635"/>
                <a:ext cx="5410200" cy="766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limLoc m:val="undOvr"/>
                                      <m:grow m:val="off"/>
                                      <m:subHide m:val="off"/>
                                      <m:supHide m:val="off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=</m:t>
                                      </m:r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a:rPr lang="zh-CN" sz="172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b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72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j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sSub>
                                            <m:e>
                                              <m:r>
                                                <a:rPr lang="zh-CN" sz="172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a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72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j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1" name="c2-card-1"/>
          <p:cNvGrpSpPr/>
          <p:nvPr/>
        </p:nvGrpSpPr>
        <p:grpSpPr>
          <a:xfrm>
            <a:off x="6248400" y="1524000"/>
            <a:ext cx="5410200" cy="1249680"/>
            <a:chOff x="6248400" y="1524000"/>
            <a:chExt cx="5410200" cy="1249680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1249680"/>
            </a:xfrm>
            <a:prstGeom prst="roundRect">
              <a:avLst>
                <a:gd name="adj" fmla="val 106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57925" y="1657350"/>
              <a:ext cx="47625" cy="9829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8430" y="1758315"/>
              <a:ext cx="4720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维数与误差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：两种随机方法的标准差都是 O(1/√N)，阶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数与 d 无关。网格点法每维取 n 个点共需 N = nᵈ 个点，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较大时点数急剧增长。</a:t>
              </a:r>
            </a:p>
          </p:txBody>
        </p:sp>
      </p:grpSp>
      <p:grpSp>
        <p:nvGrpSpPr>
          <p:cNvPr id="25" name="c2-code-2"/>
          <p:cNvGrpSpPr/>
          <p:nvPr/>
        </p:nvGrpSpPr>
        <p:grpSpPr>
          <a:xfrm>
            <a:off x="6248400" y="2964180"/>
            <a:ext cx="5410200" cy="2327910"/>
            <a:chOff x="6248400" y="2964180"/>
            <a:chExt cx="5410200" cy="2327910"/>
          </a:xfrm>
        </p:grpSpPr>
        <p:sp>
          <p:nvSpPr>
            <p:cNvPr id="22" name="Rectangle 22"/>
            <p:cNvSpPr/>
            <p:nvPr/>
          </p:nvSpPr>
          <p:spPr>
            <a:xfrm>
              <a:off x="6248400" y="2964180"/>
              <a:ext cx="5410200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6797" y="3116104"/>
              <a:ext cx="24209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伪代码：积分区域 D 不规则时的平均值法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3378041"/>
              <a:ext cx="2906014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 &lt;- 0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n in 1..N: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产生 [a,b]^k 上的均匀点 xi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xi 属于 D: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 &lt;- m + 1; eta_m &lt;- xi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计算 f(eta_m)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V_D  ~ (m/N) * (b-a)^k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E[f | D] ~ (1/m) * sum f(eta_i)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 ~ (b-a)^k / N * sum_{i&lt;=m} f(eta_i)</a:t>
              </a:r>
            </a:p>
          </p:txBody>
        </p:sp>
      </p:grpSp>
      <p:grpSp>
        <p:nvGrpSpPr>
          <p:cNvPr id="27" name="c2-text-3"/>
          <p:cNvGrpSpPr/>
          <p:nvPr/>
        </p:nvGrpSpPr>
        <p:grpSpPr>
          <a:xfrm>
            <a:off x="6241923" y="5504021"/>
            <a:ext cx="4204238" cy="249364"/>
            <a:chOff x="6241923" y="5504021"/>
            <a:chExt cx="4204238" cy="249364"/>
          </a:xfrm>
        </p:grpSpPr>
        <p:sp>
          <p:nvSpPr>
            <p:cNvPr id="26" name="TextBox 26"/>
            <p:cNvSpPr txBox="1"/>
            <p:nvPr/>
          </p:nvSpPr>
          <p:spPr>
            <a:xfrm>
              <a:off x="6241923" y="5504021"/>
              <a:ext cx="42042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最后一行等于体积 V(D) 的估计乘以 D 内 f 的平均值。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平均值法的方差不超过随机投点法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968365" cy="588645"/>
            <a:chOff x="525780" y="1548765"/>
            <a:chExt cx="5968365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96836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不妨设上界 M = 1。令 Xᵢ iid ~ U(C)，ηᵢ = h(Xᵢ)；Yᵢ iid ~ U(0,1) 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{Xᵢ} 独立，ξᵢ = 1（Yᵢ ≤ h(Xᵢ)），否则为 0。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80"/>
              <p:cNvSpPr txBox="1">
                <a:spLocks noGrp="1"/>
              </p:cNvSpPr>
              <p:nvPr/>
            </p:nvSpPr>
            <p:spPr>
              <a:xfrm>
                <a:off x="533400" y="2268855"/>
                <a:ext cx="6276022" cy="81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acc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d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acc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d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81"/>
              <p:cNvSpPr txBox="1">
                <a:spLocks noGrp="1"/>
              </p:cNvSpPr>
              <p:nvPr/>
            </p:nvSpPr>
            <p:spPr>
              <a:xfrm>
                <a:off x="533400" y="3276600"/>
                <a:ext cx="6276022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sSup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</m:d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182"/>
              <p:cNvSpPr txBox="1">
                <a:spLocks noGrp="1"/>
              </p:cNvSpPr>
              <p:nvPr/>
            </p:nvSpPr>
            <p:spPr>
              <a:xfrm>
                <a:off x="533400" y="4135755"/>
                <a:ext cx="6276022" cy="6934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sSup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</m:d>
                            </m:den>
                          </m:f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sub>
                            <m:sup/>
                            <m:e>
                              <m:sSup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r>
                                <m:rPr>
                                  <m:sty m:val="b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num>
                                    <m:den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V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183"/>
              <p:cNvSpPr txBox="1">
                <a:spLocks noGrp="1"/>
              </p:cNvSpPr>
              <p:nvPr/>
            </p:nvSpPr>
            <p:spPr>
              <a:xfrm>
                <a:off x="533400" y="5019675"/>
                <a:ext cx="6276022" cy="6934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</m:d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  <m:sup/>
                        <m:e>
                          <m:d>
                            <m:dPr>
                              <m:begChr m:val="{"/>
                              <m:sepChr m:val=""/>
                              <m:endChr m:val="}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p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7" name="c2-card-1"/>
          <p:cNvGrpSpPr/>
          <p:nvPr/>
        </p:nvGrpSpPr>
        <p:grpSpPr>
          <a:xfrm>
            <a:off x="7114222" y="1524000"/>
            <a:ext cx="4544378" cy="1316355"/>
            <a:chOff x="7114222" y="1524000"/>
            <a:chExt cx="4544378" cy="1316355"/>
          </a:xfrm>
        </p:grpSpPr>
        <p:sp>
          <p:nvSpPr>
            <p:cNvPr id="13" name="Rectangle 13"/>
            <p:cNvSpPr/>
            <p:nvPr/>
          </p:nvSpPr>
          <p:spPr>
            <a:xfrm>
              <a:off x="7114222" y="1524000"/>
              <a:ext cx="4544378" cy="1316355"/>
            </a:xfrm>
            <a:prstGeom prst="roundRect">
              <a:avLst>
                <a:gd name="adj" fmla="val 1013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23772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13981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16152" y="2110740"/>
              <a:ext cx="3796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 ≤ h ≤ 1 时 h − h² ≥ 0，所以平均值法精度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更高；只有 h 只取 0、1 两个值时两者相同。</a:t>
              </a:r>
            </a:p>
          </p:txBody>
        </p:sp>
      </p:grpSp>
      <p:grpSp>
        <p:nvGrpSpPr>
          <p:cNvPr id="25" name="c2-card-2"/>
          <p:cNvGrpSpPr/>
          <p:nvPr/>
        </p:nvGrpSpPr>
        <p:grpSpPr>
          <a:xfrm>
            <a:off x="7114222" y="3030855"/>
            <a:ext cx="4544378" cy="2682240"/>
            <a:chOff x="7114222" y="3030855"/>
            <a:chExt cx="4544378" cy="2682240"/>
          </a:xfrm>
        </p:grpSpPr>
        <p:sp>
          <p:nvSpPr>
            <p:cNvPr id="18" name="Rectangle 18"/>
            <p:cNvSpPr/>
            <p:nvPr/>
          </p:nvSpPr>
          <p:spPr>
            <a:xfrm>
              <a:off x="7114222" y="3030855"/>
              <a:ext cx="4544378" cy="2682240"/>
            </a:xfrm>
            <a:prstGeom prst="roundRect">
              <a:avLst>
                <a:gd name="adj" fmla="val 49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123748" y="3164205"/>
              <a:ext cx="47625" cy="241554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61872" y="324040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30427" y="327612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用方差分解来看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54252" y="3617595"/>
              <a:ext cx="3691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E(ξᵢ | Xᵢ) = P(Yᵢ ≤ h(Xᵢ) | Xᵢ) = h(Xᵢ)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ηᵢ。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54252" y="4238625"/>
              <a:ext cx="3796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平均值法相当于把投点法里 Yᵢ 的随机性积分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掉，由 Var[E(ξ|X)] ≤ Var(ξ) 得方差更小。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55396" y="4856321"/>
              <a:ext cx="26579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这正是 3.5.3 条件期望法的思想。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6" name="TextBox 2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68495" cy="909257"/>
            <a:chOff x="520446" y="342900"/>
            <a:chExt cx="8368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3.2 随机模拟积分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68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例11.3 d = 8 时比较网格点法、随机投点法与平均值法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96"/>
              <p:cNvSpPr txBox="1">
                <a:spLocks noGrp="1"/>
              </p:cNvSpPr>
              <p:nvPr/>
            </p:nvSpPr>
            <p:spPr>
              <a:xfrm>
                <a:off x="533400" y="1524000"/>
                <a:ext cx="5626418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⋯</m:t>
                          </m:r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ff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⋯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8</m:t>
                                  </m:r>
                                </m:sub>
                                <m:sup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⋯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8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8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1.524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s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9" name="c1-text-2"/>
          <p:cNvGrpSpPr/>
          <p:nvPr/>
        </p:nvGrpSpPr>
        <p:grpSpPr>
          <a:xfrm>
            <a:off x="526542" y="2361248"/>
            <a:ext cx="3584162" cy="264033"/>
            <a:chOff x="526542" y="2361248"/>
            <a:chExt cx="3584162" cy="264033"/>
          </a:xfrm>
        </p:grpSpPr>
        <p:sp>
          <p:nvSpPr>
            <p:cNvPr id="8" name="TextBox 8"/>
            <p:cNvSpPr txBox="1"/>
            <p:nvPr/>
          </p:nvSpPr>
          <p:spPr>
            <a:xfrm>
              <a:off x="526542" y="2361248"/>
              <a:ext cx="35841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网格点法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：每维取 n 个中点，共 N = nᵈ 个点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197"/>
              <p:cNvSpPr txBox="1">
                <a:spLocks noGrp="1"/>
              </p:cNvSpPr>
              <p:nvPr/>
            </p:nvSpPr>
            <p:spPr>
              <a:xfrm>
                <a:off x="533400" y="2747010"/>
                <a:ext cx="5626418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⋯</m:t>
                          </m:r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  <m:sSub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e>
                                        <m:sub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2n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,…,</m:t>
                                  </m:r>
                                  <m:f>
                                    <m:fPr>
                                      <m:type m:val="bar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  <m:sSub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e>
                                        <m:sub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d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2n</m:t>
                                      </m:r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2" name="c1-text-4"/>
          <p:cNvGrpSpPr/>
          <p:nvPr/>
        </p:nvGrpSpPr>
        <p:grpSpPr>
          <a:xfrm>
            <a:off x="526542" y="3745230"/>
            <a:ext cx="4977194" cy="529780"/>
            <a:chOff x="526542" y="3745230"/>
            <a:chExt cx="4977194" cy="529780"/>
          </a:xfrm>
        </p:grpSpPr>
        <p:sp>
          <p:nvSpPr>
            <p:cNvPr id="11" name="TextBox 11"/>
            <p:cNvSpPr txBox="1"/>
            <p:nvPr/>
          </p:nvSpPr>
          <p:spPr>
            <a:xfrm>
              <a:off x="526542" y="3745230"/>
              <a:ext cx="4977194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 (0,1)ᵈ × (0,1) 上均匀抽样 (ξᵢ⁽¹⁾, …, ξᵢ⁽ᵈ⁾,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yᵢ)，Î₁ 为 yᵢ ≤ f(ξᵢ⁽¹⁾, …, ξᵢ⁽ᵈ⁾) 成立的比例。</a:t>
              </a:r>
            </a:p>
          </p:txBody>
        </p:sp>
      </p:grpSp>
      <p:grpSp>
        <p:nvGrpSpPr>
          <p:cNvPr id="14" name="c1-text-5"/>
          <p:cNvGrpSpPr/>
          <p:nvPr/>
        </p:nvGrpSpPr>
        <p:grpSpPr>
          <a:xfrm>
            <a:off x="526542" y="4418648"/>
            <a:ext cx="922401" cy="264033"/>
            <a:chOff x="526542" y="4418648"/>
            <a:chExt cx="922401" cy="264033"/>
          </a:xfrm>
        </p:grpSpPr>
        <p:sp>
          <p:nvSpPr>
            <p:cNvPr id="13" name="TextBox 13"/>
            <p:cNvSpPr txBox="1"/>
            <p:nvPr/>
          </p:nvSpPr>
          <p:spPr>
            <a:xfrm>
              <a:off x="526542" y="441864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formula198"/>
              <p:cNvSpPr txBox="1">
                <a:spLocks noGrp="1"/>
              </p:cNvSpPr>
              <p:nvPr/>
            </p:nvSpPr>
            <p:spPr>
              <a:xfrm>
                <a:off x="533400" y="4804410"/>
                <a:ext cx="5626418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acc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ξ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ξ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31" name="c2-table-1"/>
          <p:cNvGrpSpPr/>
          <p:nvPr/>
        </p:nvGrpSpPr>
        <p:grpSpPr>
          <a:xfrm>
            <a:off x="6464618" y="1524000"/>
            <a:ext cx="5193982" cy="1623060"/>
            <a:chOff x="6464618" y="1524000"/>
            <a:chExt cx="5193982" cy="1623060"/>
          </a:xfrm>
        </p:grpSpPr>
        <p:sp>
          <p:nvSpPr>
            <p:cNvPr id="16" name="Rectangle 16"/>
            <p:cNvSpPr/>
            <p:nvPr/>
          </p:nvSpPr>
          <p:spPr>
            <a:xfrm>
              <a:off x="6464618" y="1524000"/>
              <a:ext cx="519398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29491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56151" y="1648301"/>
              <a:ext cx="1785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4⁸ = 65536 时的误差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64630" y="2054066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网格点法（每维 4 点）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538210" y="2054066"/>
              <a:ext cx="2212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偏差 −1.80×10⁻⁵，相对 −11.8%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464618" y="233076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64618" y="233553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4630" y="24598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538210" y="2459831"/>
              <a:ext cx="21976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标准差 4.82×10⁻⁵，相对 31.6%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464618" y="27365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74142" y="2750820"/>
              <a:ext cx="1954530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64630" y="28655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38210" y="2865596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标准差 6.22×10⁻⁶，相对 4.1%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64618" y="1524000"/>
              <a:ext cx="5193982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433435" y="152400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2-text-2"/>
          <p:cNvGrpSpPr/>
          <p:nvPr/>
        </p:nvGrpSpPr>
        <p:grpSpPr>
          <a:xfrm>
            <a:off x="6458902" y="3340894"/>
            <a:ext cx="4833366" cy="441008"/>
            <a:chOff x="6458902" y="3340894"/>
            <a:chExt cx="4833366" cy="441008"/>
          </a:xfrm>
        </p:grpSpPr>
        <p:sp>
          <p:nvSpPr>
            <p:cNvPr id="32" name="TextBox 32"/>
            <p:cNvSpPr txBox="1"/>
            <p:nvPr/>
          </p:nvSpPr>
          <p:spPr>
            <a:xfrm>
              <a:off x="6458902" y="3340894"/>
              <a:ext cx="4833366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投点法标准差 √(I(1 − I)/N)；平均值法标准差 √(((1/5)⁸ − I²)/N)；网格值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I₀ = (0.328125)⁸ = 1.344×10⁻⁴。</a:t>
              </a:r>
            </a:p>
          </p:txBody>
        </p:sp>
      </p:grpSp>
      <p:grpSp>
        <p:nvGrpSpPr>
          <p:cNvPr id="39" name="c2-card-3"/>
          <p:cNvGrpSpPr/>
          <p:nvPr/>
        </p:nvGrpSpPr>
        <p:grpSpPr>
          <a:xfrm>
            <a:off x="6464618" y="3912870"/>
            <a:ext cx="5193982" cy="1209675"/>
            <a:chOff x="6464618" y="3912870"/>
            <a:chExt cx="5193982" cy="1209675"/>
          </a:xfrm>
        </p:grpSpPr>
        <p:sp>
          <p:nvSpPr>
            <p:cNvPr id="34" name="Rectangle 34"/>
            <p:cNvSpPr/>
            <p:nvPr/>
          </p:nvSpPr>
          <p:spPr>
            <a:xfrm>
              <a:off x="6464618" y="3912870"/>
              <a:ext cx="5193982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74142" y="404622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95122" y="410527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86562" y="41395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88264" y="446246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原课件只列出三种估计的公式，没有给出数值。表中数值由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上面的方差公式算出，并用 Python 模拟复核。</a:t>
              </a:r>
            </a:p>
          </p:txBody>
        </p:sp>
      </p:grpSp>
      <p:grpSp>
        <p:nvGrpSpPr>
          <p:cNvPr id="45" name="c2-callout-4"/>
          <p:cNvGrpSpPr/>
          <p:nvPr/>
        </p:nvGrpSpPr>
        <p:grpSpPr>
          <a:xfrm>
            <a:off x="6464618" y="5297805"/>
            <a:ext cx="5193982" cy="978218"/>
            <a:chOff x="6464618" y="5297805"/>
            <a:chExt cx="5193982" cy="978218"/>
          </a:xfrm>
        </p:grpSpPr>
        <p:sp>
          <p:nvSpPr>
            <p:cNvPr id="40" name="Rectangle 40"/>
            <p:cNvSpPr/>
            <p:nvPr/>
          </p:nvSpPr>
          <p:spPr>
            <a:xfrm>
              <a:off x="6464618" y="5297805"/>
              <a:ext cx="5193982" cy="978218"/>
            </a:xfrm>
            <a:prstGeom prst="roundRect">
              <a:avLst>
                <a:gd name="adj" fmla="val 11685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669405" y="5686427"/>
              <a:ext cx="200023" cy="200023"/>
              <a:chOff x="6669405" y="5686427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669405" y="568642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802755" y="5753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6972110" y="5443538"/>
              <a:ext cx="417137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平均值法最准；投点法多了 0/1 判定的随机性，相对误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差最大。网格法误差是确定性偏差，加密网格时点数按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n⁸ 增长。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4691253" cy="3706177"/>
            <a:chOff x="667512" y="1835468"/>
            <a:chExt cx="4691253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5202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 重要抽样法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在被积函数取值大的地方多抽点，再用权重纠正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试投密度与重要抽样估计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求随机变量函数的期望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465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3.3.1 标准化重要抽样法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0542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3.3.2 带有舍选控制的重要抽样法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5701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例12.1 与例12.2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06976" cy="909257"/>
            <a:chOff x="520446" y="342900"/>
            <a:chExt cx="69069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069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重要抽样：从形状与 |h| 相近的密度 g 中抽样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730240" cy="883920"/>
            <a:chOff x="525780" y="1548765"/>
            <a:chExt cx="5730240" cy="8839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730240" cy="8839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I = ∫ h(x)dx（积分区域 C）时，C 可能形状任意甚至无界，h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C 内各处取值差异可能很大。均匀抽样会把许多点浪费在 h ≈ 0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地方，于是改用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非均匀抽样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01"/>
              <p:cNvSpPr txBox="1">
                <a:spLocks noGrp="1"/>
              </p:cNvSpPr>
              <p:nvPr/>
            </p:nvSpPr>
            <p:spPr>
              <a:xfrm>
                <a:off x="533400" y="2564130"/>
                <a:ext cx="6059805" cy="6934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b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nor m:val="on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iid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sSub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η</m:t>
                          </m:r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Eη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  <m:sup/>
                        <m:e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den>
                          </m:f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5" name="c1-card-3"/>
          <p:cNvGrpSpPr/>
          <p:nvPr/>
        </p:nvGrpSpPr>
        <p:grpSpPr>
          <a:xfrm>
            <a:off x="533400" y="3448050"/>
            <a:ext cx="6059805" cy="1925955"/>
            <a:chOff x="533400" y="3448050"/>
            <a:chExt cx="6059805" cy="1925955"/>
          </a:xfrm>
        </p:grpSpPr>
        <p:sp>
          <p:nvSpPr>
            <p:cNvPr id="10" name="Rectangle 10"/>
            <p:cNvSpPr/>
            <p:nvPr/>
          </p:nvSpPr>
          <p:spPr>
            <a:xfrm>
              <a:off x="533400" y="3448050"/>
              <a:ext cx="6059805" cy="1925955"/>
            </a:xfrm>
            <a:prstGeom prst="roundRect">
              <a:avLst>
                <a:gd name="adj" fmla="val 692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42950" y="3657600"/>
              <a:ext cx="228885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79979" y="3693319"/>
              <a:ext cx="22157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重要抽样估计（12.1）（12.2）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02"/>
                <p:cNvSpPr txBox="1">
                  <a:spLocks noGrp="1"/>
                </p:cNvSpPr>
                <p:nvPr/>
              </p:nvSpPr>
              <p:spPr>
                <a:xfrm>
                  <a:off x="742950" y="4010025"/>
                  <a:ext cx="5640705" cy="800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η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nary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>
                              <m:fPr>
                                <m:type m:val="bar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35330" y="4930140"/>
              <a:ext cx="47495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Î₃ 是 I 的无偏估计和强相合估计，方差为 O(1/N)。</a:t>
              </a:r>
            </a:p>
          </p:txBody>
        </p:sp>
      </p:grpSp>
      <p:grpSp>
        <p:nvGrpSpPr>
          <p:cNvPr id="22" name="c1-callout-4"/>
          <p:cNvGrpSpPr/>
          <p:nvPr/>
        </p:nvGrpSpPr>
        <p:grpSpPr>
          <a:xfrm>
            <a:off x="533400" y="5564505"/>
            <a:ext cx="6059805" cy="782955"/>
            <a:chOff x="533400" y="5564505"/>
            <a:chExt cx="6059805" cy="782955"/>
          </a:xfrm>
        </p:grpSpPr>
        <p:sp>
          <p:nvSpPr>
            <p:cNvPr id="16" name="Rectangle 16"/>
            <p:cNvSpPr/>
            <p:nvPr/>
          </p:nvSpPr>
          <p:spPr>
            <a:xfrm>
              <a:off x="533400" y="556450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5855970"/>
              <a:ext cx="200026" cy="200025"/>
              <a:chOff x="738188" y="5855970"/>
              <a:chExt cx="200026" cy="2000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58559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77926" y="59004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12642" y="60115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130" y="5713095"/>
              <a:ext cx="4844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 ≥ 0 时若取 g = h/I，则 h/g ≡ I，方差为 0。这个 g 要用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到未知的 I，实际只能找形状尽量接近 h 的 g。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898005" y="1524000"/>
            <a:ext cx="4760595" cy="1986915"/>
            <a:chOff x="6898005" y="1524000"/>
            <a:chExt cx="4760595" cy="1986915"/>
          </a:xfrm>
        </p:grpSpPr>
        <p:sp>
          <p:nvSpPr>
            <p:cNvPr id="23" name="Rectangle 23"/>
            <p:cNvSpPr/>
            <p:nvPr/>
          </p:nvSpPr>
          <p:spPr>
            <a:xfrm>
              <a:off x="6898005" y="1524000"/>
              <a:ext cx="4760595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907530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145655" y="1733550"/>
              <a:ext cx="1804035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196103" y="1769269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试投密度 / 重要抽样密度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151370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309485" y="2110740"/>
              <a:ext cx="3796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g(x)（x ∈ C）是一个密度，形状与 |h(x)| 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151370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309485" y="2731770"/>
              <a:ext cx="21758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g(x) = 0 时 h(x) = 0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151370" y="31299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309485" y="3067050"/>
              <a:ext cx="27311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‖x‖ → ∞ 时 h(x) = o(g(x))</a:t>
              </a:r>
            </a:p>
          </p:txBody>
        </p:sp>
      </p:grpSp>
      <p:grpSp>
        <p:nvGrpSpPr>
          <p:cNvPr id="36" name="c2-image-2"/>
          <p:cNvGrpSpPr/>
          <p:nvPr/>
        </p:nvGrpSpPr>
        <p:grpSpPr>
          <a:xfrm>
            <a:off x="6898005" y="3701415"/>
            <a:ext cx="4760595" cy="2686527"/>
            <a:chOff x="6898005" y="3701415"/>
            <a:chExt cx="4760595" cy="2686527"/>
          </a:xfrm>
        </p:grpSpPr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2"/>
            <a:srcRect l="0" t="16786" r="0" b="16787"/>
            <a:stretch>
              <a:fillRect/>
            </a:stretch>
          </p:blipFill>
          <p:spPr>
            <a:xfrm>
              <a:off x="6898005" y="3701415"/>
              <a:ext cx="4760595" cy="2371725"/>
            </a:xfrm>
            <a:prstGeom prst="roundRect">
              <a:avLst>
                <a:gd name="adj" fmla="val 5622"/>
              </a:avLst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376599" y="6167914"/>
              <a:ext cx="380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勘探时把钻孔集中在矿脉附近，抽样点多落在 h 大的地方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82390" cy="909257"/>
            <a:chOff x="520446" y="342900"/>
            <a:chExt cx="57823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823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E h(Y)：乘上重要性权重 W = f/g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4596765" cy="588645"/>
            <a:chOff x="525780" y="1548765"/>
            <a:chExt cx="4596765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59676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Y ~ f(y)，求 E h(Y) = ∫ h(y)f(y)dy。找试投密度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g，从 g 产生 N 个随机数 X₁, X₂, …，则（12.4）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07"/>
              <p:cNvSpPr txBox="1">
                <a:spLocks noGrp="1"/>
              </p:cNvSpPr>
              <p:nvPr/>
            </p:nvSpPr>
            <p:spPr>
              <a:xfrm>
                <a:off x="533400" y="2268855"/>
                <a:ext cx="5193982" cy="81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acc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3.1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5780" y="3301365"/>
            <a:ext cx="3486798" cy="293370"/>
            <a:chOff x="525780" y="3301365"/>
            <a:chExt cx="3486798" cy="293370"/>
          </a:xfrm>
        </p:grpSpPr>
        <p:sp>
          <p:nvSpPr>
            <p:cNvPr id="10" name="TextBox 10"/>
            <p:cNvSpPr txBox="1"/>
            <p:nvPr/>
          </p:nvSpPr>
          <p:spPr>
            <a:xfrm>
              <a:off x="525780" y="3301365"/>
              <a:ext cx="34867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易见 E Î₃.₁ = E h(Y)。记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重要性权重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208"/>
              <p:cNvSpPr txBox="1">
                <a:spLocks noGrp="1"/>
              </p:cNvSpPr>
              <p:nvPr/>
            </p:nvSpPr>
            <p:spPr>
              <a:xfrm>
                <a:off x="533400" y="3726180"/>
                <a:ext cx="5193982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7" name="c1-card-5"/>
          <p:cNvGrpSpPr/>
          <p:nvPr/>
        </p:nvGrpSpPr>
        <p:grpSpPr>
          <a:xfrm>
            <a:off x="533400" y="4585335"/>
            <a:ext cx="5193982" cy="1607820"/>
            <a:chOff x="533400" y="4585335"/>
            <a:chExt cx="5193982" cy="1607820"/>
          </a:xfrm>
        </p:grpSpPr>
        <p:sp>
          <p:nvSpPr>
            <p:cNvPr id="13" name="Rectangle 13"/>
            <p:cNvSpPr/>
            <p:nvPr/>
          </p:nvSpPr>
          <p:spPr>
            <a:xfrm>
              <a:off x="533400" y="4585335"/>
              <a:ext cx="5193982" cy="1607820"/>
            </a:xfrm>
            <a:prstGeom prst="roundRect">
              <a:avLst>
                <a:gd name="adj" fmla="val 829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794885"/>
              <a:ext cx="167640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98193" y="4830604"/>
              <a:ext cx="1565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带权重的写法（12.5）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209"/>
                <p:cNvSpPr txBox="1">
                  <a:spLocks noGrp="1"/>
                </p:cNvSpPr>
                <p:nvPr/>
              </p:nvSpPr>
              <p:spPr>
                <a:xfrm>
                  <a:off x="742950" y="5147310"/>
                  <a:ext cx="4774882" cy="8172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7" name="c2-card-1"/>
          <p:cNvGrpSpPr/>
          <p:nvPr/>
        </p:nvGrpSpPr>
        <p:grpSpPr>
          <a:xfrm>
            <a:off x="6032182" y="1524000"/>
            <a:ext cx="5626418" cy="2744152"/>
            <a:chOff x="6032182" y="1524000"/>
            <a:chExt cx="5626418" cy="2744152"/>
          </a:xfrm>
        </p:grpSpPr>
        <p:sp>
          <p:nvSpPr>
            <p:cNvPr id="18" name="Rectangle 18"/>
            <p:cNvSpPr/>
            <p:nvPr/>
          </p:nvSpPr>
          <p:spPr>
            <a:xfrm>
              <a:off x="6032182" y="1524000"/>
              <a:ext cx="5626418" cy="2744152"/>
            </a:xfrm>
            <a:prstGeom prst="roundRect">
              <a:avLst>
                <a:gd name="adj" fmla="val 48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041708" y="1657350"/>
              <a:ext cx="47625" cy="24774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7983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6118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补充例子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64705" y="1768792"/>
              <a:ext cx="33550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估计小概率 P(Y &gt; 3)，Y ~ N(0, 1)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272212" y="2129790"/>
              <a:ext cx="4949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真值 0.00135。h(y) = 1（y &gt; 3），取 g = N(3, 1)，权重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 = φ(x)/φ(x − 3) = exp(4.5 − 3x)。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79832" y="2726055"/>
              <a:ext cx="5169218" cy="1313498"/>
            </a:xfrm>
            <a:prstGeom prst="roundRect">
              <a:avLst>
                <a:gd name="adj" fmla="val 725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8230" y="2877979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07467" y="3139916"/>
              <a:ext cx="3517646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&lt;- 10000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x &lt;- rnorm(N, mean = 3)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从 g 抽样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 &lt;- dnorm(x) / dnorm(x, mean = 3)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mean((x &gt; 3) * w)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0.00135</a:t>
              </a:r>
            </a:p>
          </p:txBody>
        </p:sp>
      </p:grpSp>
      <p:grpSp>
        <p:nvGrpSpPr>
          <p:cNvPr id="45" name="c2-table-2"/>
          <p:cNvGrpSpPr/>
          <p:nvPr/>
        </p:nvGrpSpPr>
        <p:grpSpPr>
          <a:xfrm>
            <a:off x="6026467" y="4458652"/>
            <a:ext cx="5632133" cy="1642587"/>
            <a:chOff x="6026467" y="4458652"/>
            <a:chExt cx="5632133" cy="1642587"/>
          </a:xfrm>
        </p:grpSpPr>
        <p:sp>
          <p:nvSpPr>
            <p:cNvPr id="28" name="Rectangle 28"/>
            <p:cNvSpPr/>
            <p:nvPr/>
          </p:nvSpPr>
          <p:spPr>
            <a:xfrm>
              <a:off x="6032182" y="4458652"/>
              <a:ext cx="5626418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91498" y="4594384"/>
              <a:ext cx="13426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方法（N = 10⁴）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59075" y="459438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标准误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55973" y="459438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相对误差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40006" y="5043011"/>
              <a:ext cx="1726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平均值法（直接抽 Y）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601266" y="504301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3.7×10⁻⁴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262425" y="5043011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032182" y="53511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032182" y="5355908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40006" y="5491639"/>
              <a:ext cx="17440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重要抽样 g = N(3, 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02968" y="5365432"/>
              <a:ext cx="164211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601266" y="5491639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2.5×10⁻⁵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262425" y="5491639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32182" y="4458652"/>
              <a:ext cx="5626418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488680" y="445865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149840" y="445865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26467" y="5881211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每个样本的方差之比约 218，均由精确积分算出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47604" cy="909257"/>
            <a:chOff x="520446" y="342900"/>
            <a:chExt cx="76476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476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3.3.1 标准化重要抽样：密度只知道到一个常数倍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187315" cy="883920"/>
            <a:chOff x="525780" y="1548765"/>
            <a:chExt cx="5187315" cy="8839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187315" cy="8839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~ f(·) 很难直接抽样，或者 f 本身未知，只知道 f 的一个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常数倍（非归一化密度），常数 c 未知且计算困难。定义重要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性权重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12"/>
              <p:cNvSpPr txBox="1">
                <a:spLocks noGrp="1"/>
              </p:cNvSpPr>
              <p:nvPr/>
            </p:nvSpPr>
            <p:spPr>
              <a:xfrm>
                <a:off x="533400" y="2564130"/>
                <a:ext cx="5410200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˜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b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acc>
                            <m:accPr>
                              <m:chr m:val="˜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</m:acc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4" name="c1-card-3"/>
          <p:cNvGrpSpPr/>
          <p:nvPr/>
        </p:nvGrpSpPr>
        <p:grpSpPr>
          <a:xfrm>
            <a:off x="533400" y="3423285"/>
            <a:ext cx="5410200" cy="1607820"/>
            <a:chOff x="533400" y="3423285"/>
            <a:chExt cx="5410200" cy="1607820"/>
          </a:xfrm>
        </p:grpSpPr>
        <p:sp>
          <p:nvSpPr>
            <p:cNvPr id="10" name="Rectangle 10"/>
            <p:cNvSpPr/>
            <p:nvPr/>
          </p:nvSpPr>
          <p:spPr>
            <a:xfrm>
              <a:off x="533400" y="3423285"/>
              <a:ext cx="5410200" cy="1607820"/>
            </a:xfrm>
            <a:prstGeom prst="roundRect">
              <a:avLst>
                <a:gd name="adj" fmla="val 829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42950" y="3632835"/>
              <a:ext cx="210312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85391" y="3668554"/>
              <a:ext cx="2018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标准化重要抽样估计（12.7）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13"/>
                <p:cNvSpPr txBox="1">
                  <a:spLocks noGrp="1"/>
                </p:cNvSpPr>
                <p:nvPr/>
              </p:nvSpPr>
              <p:spPr>
                <a:xfrm>
                  <a:off x="742950" y="3985260"/>
                  <a:ext cx="4991100" cy="8172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W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W</m:t>
                                    </m:r>
                                  </m:e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nary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6" name="c1-text-4"/>
          <p:cNvGrpSpPr/>
          <p:nvPr/>
        </p:nvGrpSpPr>
        <p:grpSpPr>
          <a:xfrm>
            <a:off x="525780" y="5246370"/>
            <a:ext cx="5111115" cy="588645"/>
            <a:chOff x="525780" y="5246370"/>
            <a:chExt cx="5111115" cy="588645"/>
          </a:xfrm>
        </p:grpSpPr>
        <p:sp>
          <p:nvSpPr>
            <p:cNvPr id="15" name="TextBox 15"/>
            <p:cNvSpPr txBox="1"/>
            <p:nvPr/>
          </p:nvSpPr>
          <p:spPr>
            <a:xfrm>
              <a:off x="525780" y="5246370"/>
              <a:ext cx="511111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分子、分母同除以 N 后分别收敛到 c·E h(Y) 和 c，未知常数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c 被约掉。Î₄ 是 E h(Y) 的强相合估计，但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不是无偏的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0" name="c2-code-1"/>
          <p:cNvGrpSpPr/>
          <p:nvPr/>
        </p:nvGrpSpPr>
        <p:grpSpPr>
          <a:xfrm>
            <a:off x="6248400" y="1524000"/>
            <a:ext cx="5410200" cy="1516380"/>
            <a:chOff x="6248400" y="1524000"/>
            <a:chExt cx="5410200" cy="1516380"/>
          </a:xfrm>
        </p:grpSpPr>
        <p:sp>
          <p:nvSpPr>
            <p:cNvPr id="17" name="Rectangle 17"/>
            <p:cNvSpPr/>
            <p:nvPr/>
          </p:nvSpPr>
          <p:spPr>
            <a:xfrm>
              <a:off x="6248400" y="1524000"/>
              <a:ext cx="5410200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76797" y="1675924"/>
              <a:ext cx="25424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R：只知道密度的核 exp(−x²/2)，求 E X²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76035" y="1937861"/>
              <a:ext cx="4570222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&lt;- 10000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x &lt;- rnorm(N, 0, 2)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试投密度 N(0, 2^2)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 &lt;- exp(-x^2 / 2) / dnorm(x, 0, 2)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sum(w * x^2) / sum(w)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1，真值 E X^2 =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mean(w)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2.51，估计 c = sqrt(2*pi)</a:t>
              </a:r>
            </a:p>
          </p:txBody>
        </p:sp>
      </p:grpSp>
      <p:grpSp>
        <p:nvGrpSpPr>
          <p:cNvPr id="41" name="c2-table-2"/>
          <p:cNvGrpSpPr/>
          <p:nvPr/>
        </p:nvGrpSpPr>
        <p:grpSpPr>
          <a:xfrm>
            <a:off x="6242685" y="3230880"/>
            <a:ext cx="5415915" cy="2091214"/>
            <a:chOff x="6242685" y="3230880"/>
            <a:chExt cx="5415915" cy="2091214"/>
          </a:xfrm>
        </p:grpSpPr>
        <p:sp>
          <p:nvSpPr>
            <p:cNvPr id="21" name="Rectangle 21"/>
            <p:cNvSpPr/>
            <p:nvPr/>
          </p:nvSpPr>
          <p:spPr>
            <a:xfrm>
              <a:off x="6248400" y="3230880"/>
              <a:ext cx="54102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10629" y="33666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17726" y="3366611"/>
              <a:ext cx="1789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普通重要抽样（12.5）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595650" y="3366611"/>
              <a:ext cx="19618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标准化重要抽样（12.7）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6223" y="38152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需要知道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38263" y="3815239"/>
              <a:ext cx="1020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完整的密度 f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02343" y="3815239"/>
              <a:ext cx="11933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的常数倍即可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48400" y="41233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48400" y="412813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56223" y="426386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无偏性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38263" y="426386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02343" y="4263866"/>
              <a:ext cx="15663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有偏，偏差 O(1/N)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48400" y="45729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56223" y="47124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相合性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38263" y="47124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强相合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602343" y="47124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强相合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3230880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325678" y="323088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489758" y="323088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42685" y="5102066"/>
              <a:ext cx="4254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偏差 O(1/N) 比标准差 O(1/√N) 小一个量级，N 大时可以忽略</a:t>
              </a:r>
            </a:p>
          </p:txBody>
        </p:sp>
      </p:grpSp>
      <p:grpSp>
        <p:nvGrpSpPr>
          <p:cNvPr id="48" name="c2-callout-3"/>
          <p:cNvGrpSpPr/>
          <p:nvPr/>
        </p:nvGrpSpPr>
        <p:grpSpPr>
          <a:xfrm>
            <a:off x="6248400" y="5468302"/>
            <a:ext cx="5410200" cy="782955"/>
            <a:chOff x="6248400" y="5468302"/>
            <a:chExt cx="5410200" cy="782955"/>
          </a:xfrm>
        </p:grpSpPr>
        <p:sp>
          <p:nvSpPr>
            <p:cNvPr id="42" name="Rectangle 42"/>
            <p:cNvSpPr/>
            <p:nvPr/>
          </p:nvSpPr>
          <p:spPr>
            <a:xfrm>
              <a:off x="6248400" y="546830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441129" y="5756076"/>
              <a:ext cx="224134" cy="192560"/>
              <a:chOff x="6441129" y="5756076"/>
              <a:chExt cx="224134" cy="19256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553200" y="58264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441129" y="57560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553200" y="59042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755130" y="5616892"/>
              <a:ext cx="4425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g 的尾部要比 f 厚。若 g 尾部过薄，少数点的权重会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极大，估计值忽高忽低。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适当加权抽样：权重满足什么条件，加权平均才对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469832"/>
            <a:chOff x="533400" y="1524000"/>
            <a:chExt cx="5410200" cy="2469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469832"/>
            </a:xfrm>
            <a:prstGeom prst="roundRect">
              <a:avLst>
                <a:gd name="adj" fmla="val 53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0313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8229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896" y="1769269"/>
              <a:ext cx="661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定义12.1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10690" y="176879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适当加权抽样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随机变量序列 {(Xᵢ, Wᵢ), i = 1, …, N} 称为关于密度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f(·) 的适当加权抽样，如果对任何平方可积函数 h(·)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16"/>
                <p:cNvSpPr txBox="1">
                  <a:spLocks noGrp="1"/>
                </p:cNvSpPr>
                <p:nvPr/>
              </p:nvSpPr>
              <p:spPr>
                <a:xfrm>
                  <a:off x="781050" y="3011805"/>
                  <a:ext cx="4953000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n"/>
                            <m:supHide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  <m:r>
                              <m:rPr>
                                <m:sty m:val="b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4573" y="3585686"/>
              <a:ext cx="30328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其中 c 是归一化常数，i = 1, 2, …, N。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184332"/>
            <a:ext cx="5410200" cy="1602105"/>
            <a:chOff x="533400" y="4184332"/>
            <a:chExt cx="5410200" cy="1602105"/>
          </a:xfrm>
        </p:grpSpPr>
        <p:sp>
          <p:nvSpPr>
            <p:cNvPr id="16" name="Rectangle 16"/>
            <p:cNvSpPr/>
            <p:nvPr/>
          </p:nvSpPr>
          <p:spPr>
            <a:xfrm>
              <a:off x="533400" y="4184332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42950" y="439388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3158" y="44296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推导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330" y="4771072"/>
              <a:ext cx="47015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E[h(X)W] = ∫ h(x)·E(W|x)·g(x)dx。要对所有 h 都等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 c∫h(x)f(x)dx，必须 E(W|x)·g(x) = c·f(x)；取 h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≡ 1 得 c = E(W)。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248400" y="1524000"/>
            <a:ext cx="5410200" cy="2611755"/>
            <a:chOff x="6248400" y="1524000"/>
            <a:chExt cx="5410200" cy="2611755"/>
          </a:xfrm>
        </p:grpSpPr>
        <p:sp>
          <p:nvSpPr>
            <p:cNvPr id="21" name="Rectangle 21"/>
            <p:cNvSpPr/>
            <p:nvPr/>
          </p:nvSpPr>
          <p:spPr>
            <a:xfrm>
              <a:off x="6248400" y="1524000"/>
              <a:ext cx="5410200" cy="2611755"/>
            </a:xfrm>
            <a:prstGeom prst="roundRect">
              <a:avLst>
                <a:gd name="adj" fmla="val 510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57925" y="1657350"/>
              <a:ext cx="47625" cy="23450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96050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69507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充分必要条件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8430" y="2110740"/>
              <a:ext cx="4739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(X, W) 的联合密度为 g(x, w)，则 (X, W) 的样本是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f(·) 的适当加权抽样的充分必要条件是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217"/>
                <p:cNvSpPr txBox="1">
                  <a:spLocks noGrp="1"/>
                </p:cNvSpPr>
                <p:nvPr/>
              </p:nvSpPr>
              <p:spPr>
                <a:xfrm>
                  <a:off x="6496050" y="2707005"/>
                  <a:ext cx="4953000" cy="668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∣</m:t>
                            </m:r>
                            <m:r>
                              <m:rPr>
                                <m:sty m:val="b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W</m:t>
                            </m:r>
                          </m:e>
                        </m:d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num>
                          <m:den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m:rPr>
                            <m:sty m:val="b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7" name="TextBox 27"/>
            <p:cNvSpPr txBox="1"/>
            <p:nvPr/>
          </p:nvSpPr>
          <p:spPr>
            <a:xfrm>
              <a:off x="6489573" y="3492341"/>
              <a:ext cx="47190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下标 g 表示在联合密度 g 下求期望；g(x) 指 X 的边缘密度；条件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期望在 X = x 处取值。</a:t>
              </a:r>
            </a:p>
          </p:txBody>
        </p:sp>
      </p:grpSp>
      <p:grpSp>
        <p:nvGrpSpPr>
          <p:cNvPr id="34" name="c2-callout-2"/>
          <p:cNvGrpSpPr/>
          <p:nvPr/>
        </p:nvGrpSpPr>
        <p:grpSpPr>
          <a:xfrm>
            <a:off x="6248400" y="4326255"/>
            <a:ext cx="5410200" cy="1460182"/>
            <a:chOff x="6248400" y="4326255"/>
            <a:chExt cx="5410200" cy="1460182"/>
          </a:xfrm>
        </p:grpSpPr>
        <p:sp>
          <p:nvSpPr>
            <p:cNvPr id="29" name="Rectangle 29"/>
            <p:cNvSpPr/>
            <p:nvPr/>
          </p:nvSpPr>
          <p:spPr>
            <a:xfrm>
              <a:off x="6248400" y="4326255"/>
              <a:ext cx="5410200" cy="1460182"/>
            </a:xfrm>
            <a:prstGeom prst="roundRect">
              <a:avLst>
                <a:gd name="adj" fmla="val 7828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453188" y="4955860"/>
              <a:ext cx="200023" cy="200023"/>
              <a:chOff x="6453188" y="4955860"/>
              <a:chExt cx="200023" cy="200023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453188" y="49558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586538" y="50225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755130" y="4674870"/>
              <a:ext cx="44348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例：Xᵢ ~ g，权重取非归一化密度 c·f 与 g 之比时，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E(W|x) = c·f(x)/g(x) 且 E(W) = c，满足条件，所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以（12.7）的做法是适当加权抽样。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90885" cy="909257"/>
            <a:chOff x="520446" y="342900"/>
            <a:chExt cx="79908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908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3.3.2 带有舍选控制的重要抽样：去掉权重太小的点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5131498" cy="529780"/>
            <a:chOff x="526542" y="1545907"/>
            <a:chExt cx="5131498" cy="529780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131498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舍弃权重太小的样本点，重新抽样替换。预先选定权重阈值 c，一个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点最终被接受的概率为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28"/>
              <p:cNvSpPr txBox="1">
                <a:spLocks noGrp="1"/>
              </p:cNvSpPr>
              <p:nvPr/>
            </p:nvSpPr>
            <p:spPr>
              <a:xfrm>
                <a:off x="533400" y="2192655"/>
                <a:ext cx="5410200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n"/>
                          <m:supHide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sepChr m:val=""/>
                                  <m:endChr m:val="}"/>
                                  <m:grow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</m:t>
                                  </m:r>
                                  <m:f>
                                    <m:fPr>
                                      <m:type m:val="bar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b"/>
                                            </m:r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</m:t>
                                      </m:r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 xml:space="preserve"> </m:t>
                                      </m:r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g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b"/>
                                            </m:r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n"/>
                          <m:supHide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sepChr m:val=""/>
                                  <m:endChr m:val="}"/>
                                  <m:grow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g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</m:t>
                                  </m:r>
                                  <m:f>
                                    <m:fPr>
                                      <m:type m:val="bar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b"/>
                                            </m:r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27" name="c1-steps-3"/>
          <p:cNvGrpSpPr/>
          <p:nvPr/>
        </p:nvGrpSpPr>
        <p:grpSpPr>
          <a:xfrm>
            <a:off x="533400" y="2912745"/>
            <a:ext cx="4695998" cy="2267427"/>
            <a:chOff x="533400" y="2912745"/>
            <a:chExt cx="4695998" cy="2267427"/>
          </a:xfrm>
        </p:grpSpPr>
        <p:sp>
          <p:nvSpPr>
            <p:cNvPr id="10" name="Rectangle 10"/>
            <p:cNvSpPr/>
            <p:nvPr/>
          </p:nvSpPr>
          <p:spPr>
            <a:xfrm>
              <a:off x="666750" y="3055620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533400" y="291274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27024" y="2986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349567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7024" y="3569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407860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41524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466153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47353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5642" y="294417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抽样算权重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785" y="3211354"/>
              <a:ext cx="2684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g 抽取 Xᵢ，计算 Wᵢ = f(Xᵢ)/g(Xᵢ)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642" y="352710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权重够大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794284"/>
              <a:ext cx="3190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Wᵢ ≥ c 时接受该点，新权重取接受概率乘以 Wᵢ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5642" y="411003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权重太小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785" y="4377214"/>
              <a:ext cx="42826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Wᵢ &lt; c 时仅以概率 Wᵢ/c 接受，接受时新权重取接受概率乘以 c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5642" y="46929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未被接受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785" y="4960144"/>
              <a:ext cx="1089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重新从 g 中抽取</a:t>
              </a:r>
            </a:p>
          </p:txBody>
        </p:sp>
      </p:grpSp>
      <p:grpSp>
        <p:nvGrpSpPr>
          <p:cNvPr id="34" name="c1-callout-4"/>
          <p:cNvGrpSpPr/>
          <p:nvPr/>
        </p:nvGrpSpPr>
        <p:grpSpPr>
          <a:xfrm>
            <a:off x="533400" y="5344478"/>
            <a:ext cx="5410200" cy="900112"/>
            <a:chOff x="533400" y="5344478"/>
            <a:chExt cx="5410200" cy="900112"/>
          </a:xfrm>
        </p:grpSpPr>
        <p:sp>
          <p:nvSpPr>
            <p:cNvPr id="28" name="Rectangle 28"/>
            <p:cNvSpPr/>
            <p:nvPr/>
          </p:nvSpPr>
          <p:spPr>
            <a:xfrm>
              <a:off x="533400" y="5344478"/>
              <a:ext cx="5410200" cy="900112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694045"/>
              <a:ext cx="200026" cy="200026"/>
              <a:chOff x="738188" y="5694045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6940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57607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27088" y="57940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5575935"/>
              <a:ext cx="449713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阈值 c 取得越大，被舍弃的小权重点越多，留下的点权重越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接近，但平均每得到一个点要抽更多次。</a:t>
              </a:r>
            </a:p>
          </p:txBody>
        </p:sp>
      </p:grpSp>
      <p:grpSp>
        <p:nvGrpSpPr>
          <p:cNvPr id="38" name="c2-code-1"/>
          <p:cNvGrpSpPr/>
          <p:nvPr/>
        </p:nvGrpSpPr>
        <p:grpSpPr>
          <a:xfrm>
            <a:off x="6248400" y="1524000"/>
            <a:ext cx="5410200" cy="2791778"/>
            <a:chOff x="6248400" y="1524000"/>
            <a:chExt cx="5410200" cy="2791778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76797" y="1675924"/>
              <a:ext cx="13216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算法（R 风格伪代码）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76797" y="1935956"/>
              <a:ext cx="2748026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</a:t>
              </a: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1:N)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repeat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xi &lt;- 从 g 抽取一个点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  &lt;- f(xi) / g(xi)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(W &gt;= c)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X[i] &lt;- xi; Ws[i] &lt;- pc * W; </a:t>
              </a: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break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(runif(1) &lt; W / c)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X[i] &lt;- xi; Ws[i] &lt;- pc * c; </a:t>
              </a: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break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输出 (X[i], Ws[i]), i = 1..N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248400" y="4486275"/>
            <a:ext cx="5410200" cy="1758315"/>
            <a:chOff x="6248400" y="4486275"/>
            <a:chExt cx="5410200" cy="1758315"/>
          </a:xfrm>
        </p:grpSpPr>
        <p:sp>
          <p:nvSpPr>
            <p:cNvPr id="39" name="Rectangle 39"/>
            <p:cNvSpPr/>
            <p:nvPr/>
          </p:nvSpPr>
          <p:spPr>
            <a:xfrm>
              <a:off x="6248400" y="4486275"/>
              <a:ext cx="5410200" cy="1758315"/>
            </a:xfrm>
            <a:prstGeom prst="roundRect">
              <a:avLst>
                <a:gd name="adj" fmla="val 758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35090" y="4672965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01308" y="4705826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为什么仍是适当加权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28232" y="5016818"/>
              <a:ext cx="42571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被接受点的密度与新权重相乘，恰好还原成 g(x)W(x) =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formula229"/>
                <p:cNvSpPr txBox="1">
                  <a:spLocks noGrp="1"/>
                </p:cNvSpPr>
                <p:nvPr/>
              </p:nvSpPr>
              <p:spPr>
                <a:xfrm>
                  <a:off x="6435090" y="5552122"/>
                  <a:ext cx="5036820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b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min</m:t>
                                </m:r>
                              </m:fName>
                              <m:e>
                                <m:d>
                                  <m:dPr>
                                    <m:begChr m:val="{"/>
                                    <m:sepChr m:val=""/>
                                    <m:endChr m:val="}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,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W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4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/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</m:d>
                              </m:e>
                            </m:func>
                          </m:num>
                          <m:den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sub>
                        </m:sSub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begChr m:val="{"/>
                                <m:sepChr m:val=""/>
                                <m:endChr m:val="}"/>
                                <m:grow m:val="on"/>
                                <m:ctrl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W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4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4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g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b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W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b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85383" cy="909257"/>
            <a:chOff x="520446" y="342900"/>
            <a:chExt cx="53853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853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例12.1 用重要抽样计算 ∫₀¹ eˣ dx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39"/>
              <p:cNvSpPr txBox="1">
                <a:spLocks noGrp="1"/>
              </p:cNvSpPr>
              <p:nvPr/>
            </p:nvSpPr>
            <p:spPr>
              <a:xfrm>
                <a:off x="533400" y="1524000"/>
                <a:ext cx="5626418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p>
                          </m:s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1.718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21" name="c1-steps-2"/>
          <p:cNvGrpSpPr/>
          <p:nvPr/>
        </p:nvGrpSpPr>
        <p:grpSpPr>
          <a:xfrm>
            <a:off x="533400" y="2353628"/>
            <a:ext cx="5594695" cy="2003488"/>
            <a:chOff x="533400" y="2353628"/>
            <a:chExt cx="5594695" cy="2003488"/>
          </a:xfrm>
        </p:grpSpPr>
        <p:sp>
          <p:nvSpPr>
            <p:cNvPr id="8" name="Rectangle 8"/>
            <p:cNvSpPr/>
            <p:nvPr/>
          </p:nvSpPr>
          <p:spPr>
            <a:xfrm>
              <a:off x="666750" y="2496502"/>
              <a:ext cx="19050" cy="14544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533400" y="235362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27024" y="24274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319182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27024" y="32656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380809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7024" y="38819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5261" y="2386489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选试投密度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404" y="2667000"/>
              <a:ext cx="4812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泰勒展开 eˣ = 1 + x + x²/2! + ⋯，取前两项 g(x) = c(1 + x)，由 ∫₀¹ g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 得 c = 2/3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5261" y="322468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逆变换法抽样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404" y="3505200"/>
              <a:ext cx="5181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G(x) = (2/3)(x + x²/2) = y，解得 G⁻¹(y) = √(1 + 3y) − 1，0 &lt; y &lt; 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5261" y="3841909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产生随机数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404" y="4122420"/>
              <a:ext cx="4029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Uᵢ iid ~ U(0,1)，令 Xᵢ = √(1 + 3Uᵢ) − 1，i = 1, …, N</a:t>
              </a:r>
            </a:p>
          </p:txBody>
        </p:sp>
      </p:grpSp>
      <p:grpSp>
        <p:nvGrpSpPr>
          <p:cNvPr id="26" name="c1-card-3"/>
          <p:cNvGrpSpPr/>
          <p:nvPr/>
        </p:nvGrpSpPr>
        <p:grpSpPr>
          <a:xfrm>
            <a:off x="533400" y="4528185"/>
            <a:ext cx="5626418" cy="1809750"/>
            <a:chOff x="533400" y="4528185"/>
            <a:chExt cx="5626418" cy="1809750"/>
          </a:xfrm>
        </p:grpSpPr>
        <p:sp>
          <p:nvSpPr>
            <p:cNvPr id="22" name="Rectangle 22"/>
            <p:cNvSpPr/>
            <p:nvPr/>
          </p:nvSpPr>
          <p:spPr>
            <a:xfrm>
              <a:off x="533400" y="4528185"/>
              <a:ext cx="5626418" cy="1809750"/>
            </a:xfrm>
            <a:prstGeom prst="roundRect">
              <a:avLst>
                <a:gd name="adj" fmla="val 7368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31520" y="47263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958" y="47605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重要抽样估计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240"/>
                <p:cNvSpPr txBox="1">
                  <a:spLocks noGrp="1"/>
                </p:cNvSpPr>
                <p:nvPr/>
              </p:nvSpPr>
              <p:spPr>
                <a:xfrm>
                  <a:off x="731520" y="5063490"/>
                  <a:ext cx="5230178" cy="7543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p>
                                  <m:e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sSub>
                                      <m:e>
                                        <m: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sup>
                                </m:sSup>
                              </m:num>
                              <m:den>
                                <m:f>
                                  <m:fPr>
                                    <m:type m:val="bar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den>
                                </m:f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sSub>
                                      <m:e>
                                        <m: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8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8" name="c2-text-1"/>
          <p:cNvGrpSpPr/>
          <p:nvPr/>
        </p:nvGrpSpPr>
        <p:grpSpPr>
          <a:xfrm>
            <a:off x="6457379" y="1547336"/>
            <a:ext cx="779120" cy="278702"/>
            <a:chOff x="6457379" y="1547336"/>
            <a:chExt cx="779120" cy="278702"/>
          </a:xfrm>
        </p:grpSpPr>
        <p:sp>
          <p:nvSpPr>
            <p:cNvPr id="27" name="TextBox 27"/>
            <p:cNvSpPr txBox="1"/>
            <p:nvPr/>
          </p:nvSpPr>
          <p:spPr>
            <a:xfrm>
              <a:off x="6457379" y="154733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渐近方差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formula241"/>
              <p:cNvSpPr txBox="1">
                <a:spLocks noGrp="1"/>
              </p:cNvSpPr>
              <p:nvPr/>
            </p:nvSpPr>
            <p:spPr>
              <a:xfrm>
                <a:off x="6464618" y="1950720"/>
                <a:ext cx="5193982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bar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ff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type m:val="bar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p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2x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den>
                              </m:f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dx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0.02691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3" name="c2-code-3"/>
          <p:cNvGrpSpPr/>
          <p:nvPr/>
        </p:nvGrpSpPr>
        <p:grpSpPr>
          <a:xfrm>
            <a:off x="6464618" y="2770822"/>
            <a:ext cx="5193982" cy="1450658"/>
            <a:chOff x="6464618" y="2770822"/>
            <a:chExt cx="5193982" cy="1450658"/>
          </a:xfrm>
        </p:grpSpPr>
        <p:sp>
          <p:nvSpPr>
            <p:cNvPr id="30" name="Rectangle 30"/>
            <p:cNvSpPr/>
            <p:nvPr/>
          </p:nvSpPr>
          <p:spPr>
            <a:xfrm>
              <a:off x="6464618" y="2770822"/>
              <a:ext cx="5193982" cy="1450658"/>
            </a:xfrm>
            <a:prstGeom prst="roundRect">
              <a:avLst>
                <a:gd name="adj" fmla="val 656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93015" y="2922746"/>
              <a:ext cx="1228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R：例12.1 重要抽样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92634" y="3184208"/>
              <a:ext cx="2284286" cy="9635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&lt;- 10000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&lt;- sqrt(1 + 3 * runif(N)) - 1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eta &lt;- exp(x) / (2/3 * (1 + x))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mean(eta)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1.718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var(eta)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0.027</a:t>
              </a:r>
            </a:p>
          </p:txBody>
        </p:sp>
      </p:grpSp>
      <p:grpSp>
        <p:nvGrpSpPr>
          <p:cNvPr id="59" name="c2-table-4"/>
          <p:cNvGrpSpPr/>
          <p:nvPr/>
        </p:nvGrpSpPr>
        <p:grpSpPr>
          <a:xfrm>
            <a:off x="6459284" y="4401502"/>
            <a:ext cx="5199316" cy="1977962"/>
            <a:chOff x="6459284" y="4401502"/>
            <a:chExt cx="5199316" cy="1977962"/>
          </a:xfrm>
        </p:grpSpPr>
        <p:sp>
          <p:nvSpPr>
            <p:cNvPr id="34" name="Rectangle 34"/>
            <p:cNvSpPr/>
            <p:nvPr/>
          </p:nvSpPr>
          <p:spPr>
            <a:xfrm>
              <a:off x="6464618" y="4401502"/>
              <a:ext cx="5193982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72898" y="453009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36880" y="453009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eˣ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41846" y="453009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g(x)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588748" y="4530090"/>
              <a:ext cx="6652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eˣ/g(x)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72898" y="49549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08048" y="495490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1.000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306306" y="495490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0.667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693146" y="495490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1.500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64618" y="524541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64618" y="5250180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79607" y="5378767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08048" y="5378767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1.649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306306" y="5378767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1.000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693146" y="5378767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1.649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56702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972898" y="58035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008048" y="5803582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2.718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306306" y="5803582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1.333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693146" y="5803582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2.039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4401502"/>
              <a:ext cx="5193982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582852" y="44015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881110" y="44015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179368" y="44015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59284" y="6174105"/>
              <a:ext cx="49084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比值只从 1.50 变到 2.04，比 eˣ 本身（从 1 到 2.72）平坦得多，方差自然小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62798" cy="909257"/>
            <a:chOff x="520446" y="342900"/>
            <a:chExt cx="67627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627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例12.1 续：三种方法的方差相差两个数量级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2993051" cy="278702"/>
            <a:chOff x="526161" y="1547336"/>
            <a:chExt cx="299305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29930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：Î₂ = (1/N)·Σ exp(Uᵢ)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46"/>
              <p:cNvSpPr txBox="1">
                <a:spLocks noGrp="1"/>
              </p:cNvSpPr>
              <p:nvPr/>
            </p:nvSpPr>
            <p:spPr>
              <a:xfrm>
                <a:off x="533400" y="1955482"/>
                <a:ext cx="5626418" cy="666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ff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  <m:e>
                              <m:s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2x</m:t>
                                  </m:r>
                                </m:sup>
                              </m:s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dx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0.2420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161" y="2831306"/>
            <a:ext cx="5208270" cy="838772"/>
            <a:chOff x="526161" y="2831306"/>
            <a:chExt cx="5208270" cy="838772"/>
          </a:xfrm>
        </p:grpSpPr>
        <p:sp>
          <p:nvSpPr>
            <p:cNvPr id="10" name="TextBox 10"/>
            <p:cNvSpPr txBox="1"/>
            <p:nvPr/>
          </p:nvSpPr>
          <p:spPr>
            <a:xfrm>
              <a:off x="526161" y="2831306"/>
              <a:ext cx="5208270" cy="8387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：h(x) = eˣ ≤ e（0 &lt; x &lt; 1），取上界 M = e，向 [0,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1]×[0, M] 投点，落到曲线下方的概率 p = I/(M(b − a)) = (e 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1)/e。设频率为 p 的估计，则 Î₁ = e × 频率。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247"/>
              <p:cNvSpPr txBox="1">
                <a:spLocks noGrp="1"/>
              </p:cNvSpPr>
              <p:nvPr/>
            </p:nvSpPr>
            <p:spPr>
              <a:xfrm>
                <a:off x="533400" y="3800475"/>
                <a:ext cx="5626418" cy="642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</m:d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1.718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6" name="c1-code-5"/>
          <p:cNvGrpSpPr/>
          <p:nvPr/>
        </p:nvGrpSpPr>
        <p:grpSpPr>
          <a:xfrm>
            <a:off x="533400" y="4628198"/>
            <a:ext cx="5626418" cy="1719262"/>
            <a:chOff x="533400" y="4628198"/>
            <a:chExt cx="5626418" cy="1719262"/>
          </a:xfrm>
        </p:grpSpPr>
        <p:sp>
          <p:nvSpPr>
            <p:cNvPr id="13" name="Rectangle 13"/>
            <p:cNvSpPr/>
            <p:nvPr/>
          </p:nvSpPr>
          <p:spPr>
            <a:xfrm>
              <a:off x="533400" y="4628198"/>
              <a:ext cx="562641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4780121"/>
              <a:ext cx="12777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R：三种方法各估一次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1035" y="5043011"/>
              <a:ext cx="3218942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&lt;- 1e4; U &lt;- runif(N); V &lt;- runif(N)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I1 &lt;- exp(1) * mean(exp(1) * V &lt;= exp(U))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I2 &lt;- mean(exp(U))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 &lt;- sqrt(1 + 3 * U) - 1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I3 &lt;- mean(exp(X) / (2/3 * (1 + X)))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c(I1, I2, I3)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都在 1.718 附近</a:t>
              </a:r>
            </a:p>
          </p:txBody>
        </p:sp>
      </p:grpSp>
      <p:grpSp>
        <p:nvGrpSpPr>
          <p:cNvPr id="37" name="c2-table-1"/>
          <p:cNvGrpSpPr/>
          <p:nvPr/>
        </p:nvGrpSpPr>
        <p:grpSpPr>
          <a:xfrm>
            <a:off x="6464618" y="1524000"/>
            <a:ext cx="5193982" cy="1720215"/>
            <a:chOff x="6464618" y="1524000"/>
            <a:chExt cx="5193982" cy="1720215"/>
          </a:xfrm>
        </p:grpSpPr>
        <p:sp>
          <p:nvSpPr>
            <p:cNvPr id="17" name="Rectangle 17"/>
            <p:cNvSpPr/>
            <p:nvPr/>
          </p:nvSpPr>
          <p:spPr>
            <a:xfrm>
              <a:off x="6464618" y="1524000"/>
              <a:ext cx="5193982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234238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77348" y="1655445"/>
              <a:ext cx="6399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 × 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266807" y="165544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是重要抽样的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69964" y="2085022"/>
              <a:ext cx="10708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 Î₁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69108" y="2085022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1.718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68737" y="2085022"/>
              <a:ext cx="577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63.9 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64618" y="23793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64618" y="2384108"/>
              <a:ext cx="519398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69964" y="2515552"/>
              <a:ext cx="9092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 Î₂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24684" y="251555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0.2420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513162" y="2515552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9.0 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64618" y="28098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9964" y="2946082"/>
              <a:ext cx="9092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重要抽样 Î₃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347710" y="2824162"/>
              <a:ext cx="149923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780259" y="294608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0.02691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707014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333422" y="152400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851708" y="152400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2-card-2"/>
          <p:cNvGrpSpPr/>
          <p:nvPr/>
        </p:nvGrpSpPr>
        <p:grpSpPr>
          <a:xfrm>
            <a:off x="6464618" y="3429952"/>
            <a:ext cx="5193982" cy="1545908"/>
            <a:chOff x="6464618" y="3429952"/>
            <a:chExt cx="5193982" cy="1545908"/>
          </a:xfrm>
        </p:grpSpPr>
        <p:sp>
          <p:nvSpPr>
            <p:cNvPr id="38" name="Rectangle 38"/>
            <p:cNvSpPr/>
            <p:nvPr/>
          </p:nvSpPr>
          <p:spPr>
            <a:xfrm>
              <a:off x="6464618" y="3429952"/>
              <a:ext cx="5193982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4142" y="356330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706552" y="363378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97713" y="36695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99314" y="4006691"/>
              <a:ext cx="454101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 Var(Î₁) ≈ 64.8 × Var(Î₃)，结论为"只需随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机投点法 1/65 的样本量"。按 1.718/0.02691 计算应为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63.9 倍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，即约需 1/64 的样本量。</a:t>
              </a:r>
            </a:p>
          </p:txBody>
        </p:sp>
      </p:grpSp>
      <p:grpSp>
        <p:nvGrpSpPr>
          <p:cNvPr id="49" name="c2-callout-3"/>
          <p:cNvGrpSpPr/>
          <p:nvPr/>
        </p:nvGrpSpPr>
        <p:grpSpPr>
          <a:xfrm>
            <a:off x="6464618" y="5161598"/>
            <a:ext cx="5193982" cy="1185862"/>
            <a:chOff x="6464618" y="5161598"/>
            <a:chExt cx="5193982" cy="1185862"/>
          </a:xfrm>
        </p:grpSpPr>
        <p:sp>
          <p:nvSpPr>
            <p:cNvPr id="44" name="Rectangle 44"/>
            <p:cNvSpPr/>
            <p:nvPr/>
          </p:nvSpPr>
          <p:spPr>
            <a:xfrm>
              <a:off x="6464618" y="5161598"/>
              <a:ext cx="5193982" cy="1185862"/>
            </a:xfrm>
            <a:prstGeom prst="roundRect">
              <a:avLst>
                <a:gd name="adj" fmla="val 963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69405" y="5654995"/>
              <a:ext cx="200023" cy="200023"/>
              <a:chOff x="6669405" y="5654995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669405" y="56549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802755" y="57216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971729" y="5524024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达到同样精度所需的样本量之比等于方差之比：平均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值法约需重要抽样的 9 倍样本。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76236" cy="909257"/>
            <a:chOff x="520446" y="342900"/>
            <a:chExt cx="607623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762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例12.2 二重积分：被积函数有两个尖峰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68"/>
              <p:cNvSpPr txBox="1">
                <a:spLocks noGrp="1"/>
              </p:cNvSpPr>
              <p:nvPr/>
            </p:nvSpPr>
            <p:spPr>
              <a:xfrm>
                <a:off x="533400" y="1524000"/>
                <a:ext cx="5410200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ff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</m:d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dx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dy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269"/>
              <p:cNvSpPr txBox="1">
                <a:spLocks noGrp="1"/>
              </p:cNvSpPr>
              <p:nvPr/>
            </p:nvSpPr>
            <p:spPr>
              <a:xfrm>
                <a:off x="533400" y="2339340"/>
                <a:ext cx="5410200" cy="594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sepChr m:val=""/>
                                  <m:endChr m:val="}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45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0.4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60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y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0.5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sepChr m:val=""/>
                                  <m:endChr m:val="}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90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0.5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45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y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0.1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4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10" name="c1-text-3"/>
          <p:cNvGrpSpPr/>
          <p:nvPr/>
        </p:nvGrpSpPr>
        <p:grpSpPr>
          <a:xfrm>
            <a:off x="526542" y="3130868"/>
            <a:ext cx="5071491" cy="529780"/>
            <a:chOff x="526542" y="3130868"/>
            <a:chExt cx="5071491" cy="529780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3130868"/>
              <a:ext cx="5071491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只在 (−0.4, 0.5) 和 (0.5, −0.1) 附近明显大于 0，均匀抽样时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大部分点落在 f ≈ 0 的地方。</a:t>
              </a:r>
            </a:p>
          </p:txBody>
        </p:sp>
      </p:grpSp>
      <p:grpSp>
        <p:nvGrpSpPr>
          <p:cNvPr id="12" name="c1-text-4"/>
          <p:cNvGrpSpPr/>
          <p:nvPr/>
        </p:nvGrpSpPr>
        <p:grpSpPr>
          <a:xfrm>
            <a:off x="526542" y="3805238"/>
            <a:ext cx="5088636" cy="529780"/>
            <a:chOff x="526542" y="3805238"/>
            <a:chExt cx="5088636" cy="529780"/>
          </a:xfrm>
        </p:grpSpPr>
        <p:sp>
          <p:nvSpPr>
            <p:cNvPr id="11" name="TextBox 11"/>
            <p:cNvSpPr txBox="1"/>
            <p:nvPr/>
          </p:nvSpPr>
          <p:spPr>
            <a:xfrm>
              <a:off x="526542" y="3805238"/>
              <a:ext cx="5088636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解：把第二项里的 (y + 0.1)⁴ 换成可以直接抽样的二次项，取试投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密度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ormula270"/>
              <p:cNvSpPr txBox="1">
                <a:spLocks noGrp="1"/>
              </p:cNvSpPr>
              <p:nvPr/>
            </p:nvSpPr>
            <p:spPr>
              <a:xfrm>
                <a:off x="533400" y="4456748"/>
                <a:ext cx="5410200" cy="594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acc>
                            <m:accPr>
                              <m:chr m:val="˜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</m:acc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sepChr m:val=""/>
                                  <m:endChr m:val="}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45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0.4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60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y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0.5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{"/>
                                  <m:sepChr m:val=""/>
                                  <m:endChr m:val="}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90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0.5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10</m:t>
                                  </m:r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y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r>
                                            <a:rPr lang="zh-CN" sz="18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0.1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15" name="c1-text-6"/>
          <p:cNvGrpSpPr/>
          <p:nvPr/>
        </p:nvGrpSpPr>
        <p:grpSpPr>
          <a:xfrm>
            <a:off x="527685" y="5244941"/>
            <a:ext cx="2016730" cy="220028"/>
            <a:chOff x="527685" y="5244941"/>
            <a:chExt cx="2016730" cy="220028"/>
          </a:xfrm>
        </p:grpSpPr>
        <p:sp>
          <p:nvSpPr>
            <p:cNvPr id="14" name="TextBox 14"/>
            <p:cNvSpPr txBox="1"/>
            <p:nvPr/>
          </p:nvSpPr>
          <p:spPr>
            <a:xfrm>
              <a:off x="527685" y="5244941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 −∞ &lt; x &lt; ∞，−∞ &lt; y &lt; ∞。</a:t>
              </a:r>
            </a:p>
          </p:txBody>
        </p:sp>
      </p:grpSp>
      <p:grpSp>
        <p:nvGrpSpPr>
          <p:cNvPr id="17" name="c2-text-1"/>
          <p:cNvGrpSpPr/>
          <p:nvPr/>
        </p:nvGrpSpPr>
        <p:grpSpPr>
          <a:xfrm>
            <a:off x="6241542" y="1545907"/>
            <a:ext cx="4702874" cy="529780"/>
            <a:chOff x="6241542" y="1545907"/>
            <a:chExt cx="4702874" cy="529780"/>
          </a:xfrm>
        </p:grpSpPr>
        <p:sp>
          <p:nvSpPr>
            <p:cNvPr id="16" name="TextBox 16"/>
            <p:cNvSpPr txBox="1"/>
            <p:nvPr/>
          </p:nvSpPr>
          <p:spPr>
            <a:xfrm>
              <a:off x="6241542" y="1545907"/>
              <a:ext cx="4702874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 N(μ, σ²) 的密度为 f(x; μ, σ²)。由 exp{−a(x − μ)²} = 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(π/a)·f(x; μ, 1/(2a))，对 g 的非归一化形式积分得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formula271"/>
              <p:cNvSpPr txBox="1">
                <a:spLocks noGrp="1"/>
              </p:cNvSpPr>
              <p:nvPr/>
            </p:nvSpPr>
            <p:spPr>
              <a:xfrm>
                <a:off x="6248400" y="2198370"/>
                <a:ext cx="5410200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nary>
                            <m:naryPr>
                              <m:chr m:val="∬"/>
                              <m:limLoc m:val="subSup"/>
                              <m:grow m:val="off"/>
                              <m:subHide m:val="on"/>
                              <m:supHide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acc>
                                <m:accPr>
                                  <m:chr m:val="˜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g</m:t>
                                  </m:r>
                                </m:e>
                              </m:acc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dx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dy</m:t>
                              </m:r>
                            </m:e>
                          </m:nary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2π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90</m:t>
                              </m:r>
                            </m:e>
                          </m:ra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ad>
                            <m:radPr>
                              <m:degHide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2π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120</m:t>
                              </m:r>
                            </m:e>
                          </m:ra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</m:t>
                          </m:r>
                          <m:rad>
                            <m:radPr>
                              <m:degHide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2π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180</m:t>
                              </m:r>
                            </m:e>
                          </m:rad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ad>
                            <m:radPr>
                              <m:degHide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2π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20</m:t>
                              </m:r>
                            </m:e>
                          </m:rad>
                        </m:e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≈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0.1128199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20" name="c2-text-3"/>
          <p:cNvGrpSpPr/>
          <p:nvPr/>
        </p:nvGrpSpPr>
        <p:grpSpPr>
          <a:xfrm>
            <a:off x="6241542" y="3128962"/>
            <a:ext cx="5356784" cy="264033"/>
            <a:chOff x="6241542" y="3128962"/>
            <a:chExt cx="5356784" cy="264033"/>
          </a:xfrm>
        </p:grpSpPr>
        <p:sp>
          <p:nvSpPr>
            <p:cNvPr id="19" name="TextBox 19"/>
            <p:cNvSpPr txBox="1"/>
            <p:nvPr/>
          </p:nvSpPr>
          <p:spPr>
            <a:xfrm>
              <a:off x="6241542" y="3128962"/>
              <a:ext cx="53567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除以 0.1128199 得到试投密度 g，它是两个二元正态乘积的混合：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formula272"/>
              <p:cNvSpPr txBox="1">
                <a:spLocks noGrp="1"/>
              </p:cNvSpPr>
              <p:nvPr/>
            </p:nvSpPr>
            <p:spPr>
              <a:xfrm>
                <a:off x="6248400" y="3514725"/>
                <a:ext cx="5410200" cy="4705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0.5358984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;−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0.4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9</m:t>
                              </m:r>
                              <m:s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;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  <m:s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0.4641016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;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0.5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18</m:t>
                              </m:r>
                              <m:s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;−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0.1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  <m:sSup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28" name="c2-card-5"/>
          <p:cNvGrpSpPr/>
          <p:nvPr/>
        </p:nvGrpSpPr>
        <p:grpSpPr>
          <a:xfrm>
            <a:off x="6248400" y="4160520"/>
            <a:ext cx="5410200" cy="1768792"/>
            <a:chOff x="6248400" y="4160520"/>
            <a:chExt cx="5410200" cy="1768792"/>
          </a:xfrm>
        </p:grpSpPr>
        <p:sp>
          <p:nvSpPr>
            <p:cNvPr id="22" name="Rectangle 22"/>
            <p:cNvSpPr/>
            <p:nvPr/>
          </p:nvSpPr>
          <p:spPr>
            <a:xfrm>
              <a:off x="6248400" y="4160520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57925" y="4293870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8905" y="4352925"/>
              <a:ext cx="19431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26340" y="4387215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换成二次项之后权重仍然有界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72047" y="470916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两式第一项完全相同；第二项之比为 exp{10t² − 45t⁴}（t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+ 0.1），在 t² = 1/9 处最大，值为 exp(5/9) ≈ 1.74。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72047" y="5269230"/>
              <a:ext cx="45657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所以权重 f/g 不超过 1.74 × 0.1128 ≈ 0.20，不会出现少数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点权重极大的情况。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25895" cy="909257"/>
            <a:chOff x="520446" y="342900"/>
            <a:chExt cx="67258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3.3 重要抽样法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258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例12.2 续：复合抽样法抽 g，再做重要抽样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059805" cy="2966085"/>
            <a:chOff x="533400" y="1524000"/>
            <a:chExt cx="6059805" cy="29660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966085"/>
            </a:xfrm>
            <a:prstGeom prst="roundRect">
              <a:avLst>
                <a:gd name="adj" fmla="val 32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4370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R：复合抽样 + 重要抽样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5144643" cy="24799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f &lt;- </a:t>
              </a:r>
              <a:r>
                <a:rPr lang="en-US" sz="105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(x, y) exp(-45*(x+0.4)^2 - 60*(y-0.5)^2) +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0.5 * exp(-90*(x-0.5)^2 - 45*(y+0.1)^4)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w1 &lt;- 0.5358984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g &lt;- </a:t>
              </a:r>
              <a:r>
                <a:rPr lang="en-US" sz="105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(x, y)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w1 * dnorm(x, -0.4, sqrt(1/90)) * dnorm(y, 0.5, sqrt(1/120)) +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(1 - w1) * dnorm(x, 0.5, sqrt(1/180)) * dnorm(y, -0.1, sqrt(1/20))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&lt;- 10000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k &lt;- runif(N) &lt; w1      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选混合分量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&lt;- ifelse(k, rnorm(N, -0.4, sqrt(1/90)), rnorm(N, 0.5, sqrt(1/180)))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y &lt;- ifelse(k, rnorm(N, 0.5, sqrt(1/120)), rnorm(N, -0.1, sqrt(1/20)))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inside &lt;- abs(x) &lt;= 1 &amp; abs(y) &lt;= 1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eta &lt;- ifelse(inside, f(x, y) / g(x, y), 0)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c(mean(eta), sd(eta) / sqrt(N))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4670108"/>
            <a:ext cx="6059805" cy="1672590"/>
            <a:chOff x="533400" y="4670108"/>
            <a:chExt cx="6059805" cy="1672590"/>
          </a:xfrm>
        </p:grpSpPr>
        <p:sp>
          <p:nvSpPr>
            <p:cNvPr id="11" name="Rectangle 11"/>
            <p:cNvSpPr/>
            <p:nvPr/>
          </p:nvSpPr>
          <p:spPr>
            <a:xfrm>
              <a:off x="533400" y="4670108"/>
              <a:ext cx="6059805" cy="1672590"/>
            </a:xfrm>
            <a:prstGeom prst="roundRect">
              <a:avLst>
                <a:gd name="adj" fmla="val 683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26129" y="5402698"/>
              <a:ext cx="224134" cy="192560"/>
              <a:chOff x="726129" y="5402698"/>
              <a:chExt cx="224134" cy="19256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38200" y="547306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26129" y="540269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00" y="55508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511" y="5275421"/>
              <a:ext cx="500989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g 定义在整个平面上，落在 [−1, 1]² 之外的点令 ηᵢ = 0，但仍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要计入分母 N。</a:t>
              </a:r>
            </a:p>
          </p:txBody>
        </p:sp>
      </p:grpSp>
      <p:grpSp>
        <p:nvGrpSpPr>
          <p:cNvPr id="31" name="c2-steps-1"/>
          <p:cNvGrpSpPr/>
          <p:nvPr/>
        </p:nvGrpSpPr>
        <p:grpSpPr>
          <a:xfrm>
            <a:off x="6898005" y="1533525"/>
            <a:ext cx="4524756" cy="2002536"/>
            <a:chOff x="6898005" y="1533525"/>
            <a:chExt cx="4524756" cy="2002536"/>
          </a:xfrm>
        </p:grpSpPr>
        <p:sp>
          <p:nvSpPr>
            <p:cNvPr id="18" name="Rectangle 18"/>
            <p:cNvSpPr/>
            <p:nvPr/>
          </p:nvSpPr>
          <p:spPr>
            <a:xfrm>
              <a:off x="7031355" y="1676400"/>
              <a:ext cx="19050" cy="14544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689800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9162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898005" y="215074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91629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898005" y="298799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91629" y="30618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09866" y="15663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选分量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11009" y="1846898"/>
              <a:ext cx="32753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以概率 0.5359 取第 1 个分量，否则取第 2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09866" y="218360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分量内抽样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11009" y="2464118"/>
              <a:ext cx="41117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分量 1：x ~ N(−0.4, 1/90)，y ~ N(0.5, 1/120)；分量 2：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~ N(0.5, 1/180)，y ~ N(−0.1, 1/20)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09866" y="302085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求平均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311009" y="3301365"/>
              <a:ext cx="37161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ηᵢ = f(Xᵢ, Yᵢ)/g(Xᵢ, Yᵢ)，I 的估计取 ηᵢ 的平均</a:t>
              </a:r>
            </a:p>
          </p:txBody>
        </p:sp>
      </p:grpSp>
      <p:grpSp>
        <p:nvGrpSpPr>
          <p:cNvPr id="49" name="c2-table-2"/>
          <p:cNvGrpSpPr/>
          <p:nvPr/>
        </p:nvGrpSpPr>
        <p:grpSpPr>
          <a:xfrm>
            <a:off x="6892671" y="3707130"/>
            <a:ext cx="4765929" cy="1739837"/>
            <a:chOff x="6892671" y="3707130"/>
            <a:chExt cx="4765929" cy="1739837"/>
          </a:xfrm>
        </p:grpSpPr>
        <p:sp>
          <p:nvSpPr>
            <p:cNvPr id="32" name="Rectangle 32"/>
            <p:cNvSpPr/>
            <p:nvPr/>
          </p:nvSpPr>
          <p:spPr>
            <a:xfrm>
              <a:off x="6898005" y="3707130"/>
              <a:ext cx="4760595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00409" y="3835718"/>
              <a:ext cx="6125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10⁴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330880" y="38357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估计值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02480" y="383571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标准误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00494" y="426053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重要抽样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18842" y="426053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0.1257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0252710" y="4141470"/>
              <a:ext cx="1396365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345674" y="4260532"/>
              <a:ext cx="6341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0.00026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898005" y="455199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898005" y="4556760"/>
              <a:ext cx="476059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00494" y="468439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均匀抽样平均值法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18842" y="468439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0.1239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345674" y="468439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0.0042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898005" y="3707130"/>
              <a:ext cx="4760595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911590" y="370713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238422" y="370713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92671" y="5054918"/>
              <a:ext cx="422452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数值积分得真值 I ≈ 0.12584；原课件未给数值，这是按本页做法的一次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Python 模拟</a:t>
              </a:r>
            </a:p>
          </p:txBody>
        </p:sp>
      </p:grpSp>
      <p:grpSp>
        <p:nvGrpSpPr>
          <p:cNvPr id="55" name="c2-callout-3"/>
          <p:cNvGrpSpPr/>
          <p:nvPr/>
        </p:nvGrpSpPr>
        <p:grpSpPr>
          <a:xfrm>
            <a:off x="6898005" y="5586412"/>
            <a:ext cx="4760595" cy="756285"/>
            <a:chOff x="6898005" y="5586412"/>
            <a:chExt cx="4760595" cy="756285"/>
          </a:xfrm>
        </p:grpSpPr>
        <p:sp>
          <p:nvSpPr>
            <p:cNvPr id="50" name="Rectangle 50"/>
            <p:cNvSpPr/>
            <p:nvPr/>
          </p:nvSpPr>
          <p:spPr>
            <a:xfrm>
              <a:off x="6898005" y="5586412"/>
              <a:ext cx="4760595" cy="756285"/>
            </a:xfrm>
            <a:prstGeom prst="roundRect">
              <a:avLst>
                <a:gd name="adj" fmla="val 15113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102793" y="5864545"/>
              <a:ext cx="200023" cy="200023"/>
              <a:chOff x="7102793" y="5864545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102793" y="586454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7236143" y="59312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7405116" y="5733574"/>
              <a:ext cx="381965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每个样本的方差之比约 266：重要抽样 1 万个点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的精度，均匀抽样要约 266 万个点。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057309" cy="3351847"/>
            <a:chOff x="667512" y="1835468"/>
            <a:chExt cx="605730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5202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 分层抽样法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474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把积分区域切成几块，让每块里 h 变化不大，分块估计再相加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787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例13.1：带跳变的被积函数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分层估计与样本量的最优分配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按离散随机变量分层求期望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943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例13.2：等分成 m 层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3.4 分层抽样法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分层抽样：在每个子集上分别估计，再求和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842635" cy="2173605"/>
            <a:chOff x="533400" y="1524000"/>
            <a:chExt cx="5842635" cy="21736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173605"/>
            </a:xfrm>
            <a:prstGeom prst="roundRect">
              <a:avLst>
                <a:gd name="adj" fmla="val 61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069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8008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846" y="1769269"/>
              <a:ext cx="5104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例13.1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274"/>
                <p:cNvSpPr txBox="1">
                  <a:spLocks noGrp="1"/>
                </p:cNvSpPr>
                <p:nvPr/>
              </p:nvSpPr>
              <p:spPr>
                <a:xfrm>
                  <a:off x="781050" y="2085975"/>
                  <a:ext cx="5385435" cy="1047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dx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num>
                                  <m:den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10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 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num>
                                  <m:den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10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 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0.5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&lt;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TextBox 12"/>
            <p:cNvSpPr txBox="1"/>
            <p:nvPr/>
          </p:nvSpPr>
          <p:spPr>
            <a:xfrm>
              <a:off x="773430" y="3253740"/>
              <a:ext cx="47594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精确值 I = 0.5 + 0.0125 − 0.5 + 0.0375 = 0.05。</a:t>
              </a:r>
            </a:p>
          </p:txBody>
        </p:sp>
      </p:grpSp>
      <p:grpSp>
        <p:nvGrpSpPr>
          <p:cNvPr id="38" name="c1-graph-2"/>
          <p:cNvGrpSpPr/>
          <p:nvPr/>
        </p:nvGrpSpPr>
        <p:grpSpPr>
          <a:xfrm>
            <a:off x="765810" y="3970020"/>
            <a:ext cx="5435917" cy="1503045"/>
            <a:chOff x="765810" y="3970020"/>
            <a:chExt cx="5435917" cy="1503045"/>
          </a:xfrm>
        </p:grpSpPr>
        <p:sp>
          <p:nvSpPr>
            <p:cNvPr id="14" name="Freeform 14"/>
            <p:cNvSpPr/>
            <p:nvPr/>
          </p:nvSpPr>
          <p:spPr>
            <a:xfrm>
              <a:off x="777240" y="4721542"/>
              <a:ext cx="5317808" cy="9525"/>
            </a:xfrm>
            <a:custGeom>
              <a:avLst/>
              <a:gdLst/>
              <a:ahLst/>
              <a:cxnLst/>
              <a:rect l="l" t="t" r="r" b="b"/>
              <a:pathLst>
                <a:path w="5317808" h="9525">
                  <a:moveTo>
                    <a:pt x="0" y="0"/>
                  </a:moveTo>
                  <a:lnTo>
                    <a:pt x="5317808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6095048" y="46739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234440" y="4077652"/>
              <a:ext cx="9525" cy="1383982"/>
            </a:xfrm>
            <a:custGeom>
              <a:avLst/>
              <a:gdLst/>
              <a:ahLst/>
              <a:cxnLst/>
              <a:rect l="l" t="t" r="r" b="b"/>
              <a:pathLst>
                <a:path w="9525" h="1383982">
                  <a:moveTo>
                    <a:pt x="0" y="138398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186815" y="398240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1282065" y="4091940"/>
              <a:ext cx="2279332" cy="28575"/>
            </a:xfrm>
            <a:custGeom>
              <a:avLst/>
              <a:gdLst/>
              <a:ahLst/>
              <a:cxnLst/>
              <a:rect l="l" t="t" r="r" b="b"/>
              <a:pathLst>
                <a:path w="2279332" h="28575">
                  <a:moveTo>
                    <a:pt x="0" y="28575"/>
                  </a:moveTo>
                  <a:lnTo>
                    <a:pt x="2279332" y="0"/>
                  </a:lnTo>
                </a:path>
              </a:pathLst>
            </a:custGeom>
            <a:noFill/>
            <a:ln w="28575">
              <a:solidFill>
                <a:srgbClr val="2E7D4F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582352" y="5262562"/>
              <a:ext cx="2279332" cy="28575"/>
            </a:xfrm>
            <a:custGeom>
              <a:avLst/>
              <a:gdLst/>
              <a:ahLst/>
              <a:cxnLst/>
              <a:rect l="l" t="t" r="r" b="b"/>
              <a:pathLst>
                <a:path w="2279332" h="28575">
                  <a:moveTo>
                    <a:pt x="0" y="28575"/>
                  </a:moveTo>
                  <a:lnTo>
                    <a:pt x="2279332" y="0"/>
                  </a:lnTo>
                </a:path>
              </a:pathLst>
            </a:custGeom>
            <a:noFill/>
            <a:ln w="28575">
              <a:solidFill>
                <a:srgbClr val="2E7D4F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571875" y="4031932"/>
              <a:ext cx="9525" cy="1379220"/>
            </a:xfrm>
            <a:custGeom>
              <a:avLst/>
              <a:gdLst/>
              <a:ahLst/>
              <a:cxnLst/>
              <a:rect l="l" t="t" r="r" b="b"/>
              <a:pathLst>
                <a:path w="9525" h="1379220">
                  <a:moveTo>
                    <a:pt x="0" y="0"/>
                  </a:moveTo>
                  <a:lnTo>
                    <a:pt x="0" y="1379220"/>
                  </a:lnTo>
                </a:path>
              </a:pathLst>
            </a:custGeom>
            <a:noFill/>
            <a:ln w="15240">
              <a:solidFill>
                <a:srgbClr val="F26B3A"/>
              </a:solidFill>
              <a:custDash>
                <a:ds d="375000" sp="250000"/>
              </a:custDash>
            </a:ln>
          </p:spPr>
        </p:sp>
        <p:sp>
          <p:nvSpPr>
            <p:cNvPr id="21" name="Ellipse 21"/>
            <p:cNvSpPr/>
            <p:nvPr/>
          </p:nvSpPr>
          <p:spPr>
            <a:xfrm>
              <a:off x="765810" y="472059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199822" y="472059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1233488" y="547116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233488" y="397002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196340" y="4083368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3570922" y="409098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3570922" y="529018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5871210" y="5223510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3570922" y="402050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3570922" y="542067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683289" y="4741545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865104" y="474154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56872" y="474154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88732" y="4200049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1 + x/10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82631" y="4966811"/>
              <a:ext cx="715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−1 + x/10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17601" y="4441508"/>
              <a:ext cx="3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第1层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55036" y="4741545"/>
              <a:ext cx="3711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第2层</a:t>
              </a:r>
            </a:p>
          </p:txBody>
        </p:sp>
      </p:grpSp>
      <p:grpSp>
        <p:nvGrpSpPr>
          <p:cNvPr id="48" name="c2-bullets-1"/>
          <p:cNvGrpSpPr/>
          <p:nvPr/>
        </p:nvGrpSpPr>
        <p:grpSpPr>
          <a:xfrm>
            <a:off x="6680835" y="1535430"/>
            <a:ext cx="4556760" cy="996315"/>
            <a:chOff x="6680835" y="1535430"/>
            <a:chExt cx="4556760" cy="996315"/>
          </a:xfrm>
        </p:grpSpPr>
        <p:sp>
          <p:nvSpPr>
            <p:cNvPr id="39" name="Ellipse 39"/>
            <p:cNvSpPr/>
            <p:nvPr/>
          </p:nvSpPr>
          <p:spPr>
            <a:xfrm>
              <a:off x="6680835" y="153543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42684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81825" y="1548765"/>
              <a:ext cx="36934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C 上的积分分解为若干个子集上的积分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680835" y="188023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42684" y="19225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81825" y="1893570"/>
              <a:ext cx="34076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划分时使 h(x) 在每个子集上变化不大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680835" y="222504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42684" y="22673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81825" y="223837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分别计算各子集上的积分再求和，提高估计精度</a:t>
              </a:r>
            </a:p>
          </p:txBody>
        </p:sp>
      </p:grpSp>
      <p:grpSp>
        <p:nvGrpSpPr>
          <p:cNvPr id="51" name="c2-image-2"/>
          <p:cNvGrpSpPr/>
          <p:nvPr/>
        </p:nvGrpSpPr>
        <p:grpSpPr>
          <a:xfrm>
            <a:off x="6680835" y="2663190"/>
            <a:ext cx="4977765" cy="3724752"/>
            <a:chOff x="6680835" y="2663190"/>
            <a:chExt cx="4977765" cy="3724752"/>
          </a:xfrm>
        </p:grpSpPr>
        <p:pic>
          <p:nvPicPr>
            <p:cNvPr id="49" name="Image 49"/>
            <p:cNvPicPr>
              <a:picLocks noChangeAspect="1"/>
            </p:cNvPicPr>
            <p:nvPr/>
          </p:nvPicPr>
          <p:blipFill>
            <a:blip r:embed="rId2"/>
            <a:srcRect l="0" t="4331" r="0" b="4331"/>
            <a:stretch>
              <a:fillRect/>
            </a:stretch>
          </p:blipFill>
          <p:spPr>
            <a:xfrm>
              <a:off x="6680835" y="2663190"/>
              <a:ext cx="4977765" cy="3409950"/>
            </a:xfrm>
            <a:prstGeom prst="roundRect">
              <a:avLst>
                <a:gd name="adj" fmla="val 3910"/>
              </a:avLst>
            </a:prstGeom>
          </p:spPr>
        </p:pic>
        <p:sp>
          <p:nvSpPr>
            <p:cNvPr id="50" name="TextBox 50"/>
            <p:cNvSpPr txBox="1"/>
            <p:nvPr/>
          </p:nvSpPr>
          <p:spPr>
            <a:xfrm>
              <a:off x="7203935" y="616791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按层取样：每层都取到，层内差异小，合起来的估计更稳定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55639" cy="909257"/>
            <a:chOff x="520446" y="342900"/>
            <a:chExt cx="605563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3.4 分层抽样法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5563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例13.1 续：分层后方差缩小约 4564 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133023" cy="293370"/>
            <a:chOff x="525780" y="1548765"/>
            <a:chExt cx="513302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1330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不分层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 (0, 1) 随机抽 N 个点用平均值法得 Î₂，其中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81"/>
              <p:cNvSpPr txBox="1">
                <a:spLocks noGrp="1"/>
              </p:cNvSpPr>
              <p:nvPr/>
            </p:nvSpPr>
            <p:spPr>
              <a:xfrm>
                <a:off x="533400" y="1973580"/>
                <a:ext cx="5626418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p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143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150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0.9533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282"/>
              <p:cNvSpPr txBox="1">
                <a:spLocks noGrp="1"/>
              </p:cNvSpPr>
              <p:nvPr/>
            </p:nvSpPr>
            <p:spPr>
              <a:xfrm>
                <a:off x="533400" y="2832735"/>
                <a:ext cx="5626418" cy="642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s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1141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1200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0.9508</m:t>
                          </m:r>
                        </m:num>
                        <m:den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12" name="c1-text-4"/>
          <p:cNvGrpSpPr/>
          <p:nvPr/>
        </p:nvGrpSpPr>
        <p:grpSpPr>
          <a:xfrm>
            <a:off x="525780" y="3690938"/>
            <a:ext cx="5330190" cy="588645"/>
            <a:chOff x="525780" y="3690938"/>
            <a:chExt cx="5330190" cy="588645"/>
          </a:xfrm>
        </p:grpSpPr>
        <p:sp>
          <p:nvSpPr>
            <p:cNvPr id="11" name="TextBox 11"/>
            <p:cNvSpPr txBox="1"/>
            <p:nvPr/>
          </p:nvSpPr>
          <p:spPr>
            <a:xfrm>
              <a:off x="525780" y="3690938"/>
              <a:ext cx="533019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：I = a + b，a 为 [0, 0.5] 上的积分，b 为 [0.5, 1] 上的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积分，各用 N/2 个点做平均值法：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ormula283"/>
              <p:cNvSpPr txBox="1">
                <a:spLocks noGrp="1"/>
              </p:cNvSpPr>
              <p:nvPr/>
            </p:nvSpPr>
            <p:spPr>
              <a:xfrm>
                <a:off x="533400" y="4411028"/>
                <a:ext cx="5626418" cy="81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0.05</m:t>
                              </m:r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284"/>
              <p:cNvSpPr txBox="1">
                <a:spLocks noGrp="1"/>
              </p:cNvSpPr>
              <p:nvPr/>
            </p:nvSpPr>
            <p:spPr>
              <a:xfrm>
                <a:off x="533400" y="5418772"/>
                <a:ext cx="5626418" cy="81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0.5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0.95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0.05</m:t>
                              </m:r>
                              <m:sSub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6" name="c2-text-1"/>
          <p:cNvGrpSpPr/>
          <p:nvPr/>
        </p:nvGrpSpPr>
        <p:grpSpPr>
          <a:xfrm>
            <a:off x="6456998" y="1548765"/>
            <a:ext cx="5172456" cy="293370"/>
            <a:chOff x="6456998" y="1548765"/>
            <a:chExt cx="5172456" cy="293370"/>
          </a:xfrm>
        </p:grpSpPr>
        <p:sp>
          <p:nvSpPr>
            <p:cNvPr id="15" name="TextBox 15"/>
            <p:cNvSpPr txBox="1"/>
            <p:nvPr/>
          </p:nvSpPr>
          <p:spPr>
            <a:xfrm>
              <a:off x="6456998" y="1548765"/>
              <a:ext cx="5172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两层内的被积函数都只剩 0.05U 的变化，方差相同，于是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formula285"/>
              <p:cNvSpPr txBox="1">
                <a:spLocks noGrp="1"/>
              </p:cNvSpPr>
              <p:nvPr/>
            </p:nvSpPr>
            <p:spPr>
              <a:xfrm>
                <a:off x="6464618" y="1973580"/>
                <a:ext cx="5193982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0.25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0.05U</m:t>
                              </m:r>
                            </m:e>
                          </m:d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4800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4" name="c2-card-3"/>
          <p:cNvGrpSpPr/>
          <p:nvPr/>
        </p:nvGrpSpPr>
        <p:grpSpPr>
          <a:xfrm>
            <a:off x="6464618" y="2832735"/>
            <a:ext cx="5193982" cy="2223135"/>
            <a:chOff x="6464618" y="2832735"/>
            <a:chExt cx="5193982" cy="2223135"/>
          </a:xfrm>
        </p:grpSpPr>
        <p:sp>
          <p:nvSpPr>
            <p:cNvPr id="18" name="Rectangle 18"/>
            <p:cNvSpPr/>
            <p:nvPr/>
          </p:nvSpPr>
          <p:spPr>
            <a:xfrm>
              <a:off x="6464618" y="2832735"/>
              <a:ext cx="5193982" cy="2223135"/>
            </a:xfrm>
            <a:prstGeom prst="roundRect">
              <a:avLst>
                <a:gd name="adj" fmla="val 5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474142" y="2966085"/>
              <a:ext cx="47625" cy="19564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12268" y="30422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03428" y="30780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04648" y="3419475"/>
              <a:ext cx="44634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 Var(Î₂) = 143/(150N) ≈ 0.9533/N，这是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h²(U)，漏减了 I² = 0.0025。正确值为</a:t>
              </a:r>
              <a:br/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0.9508/N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04648" y="4326255"/>
              <a:ext cx="4368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方差之比为 0.9508 × 4800 ≈ 4564，原课件"节省样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本量约 4500 倍"的结论仍然成立。</a:t>
              </a:r>
            </a:p>
          </p:txBody>
        </p:sp>
      </p:grpSp>
      <p:grpSp>
        <p:nvGrpSpPr>
          <p:cNvPr id="30" name="c2-callout-4"/>
          <p:cNvGrpSpPr/>
          <p:nvPr/>
        </p:nvGrpSpPr>
        <p:grpSpPr>
          <a:xfrm>
            <a:off x="6464618" y="5246370"/>
            <a:ext cx="5193982" cy="1059180"/>
            <a:chOff x="6464618" y="5246370"/>
            <a:chExt cx="5193982" cy="1059180"/>
          </a:xfrm>
        </p:grpSpPr>
        <p:sp>
          <p:nvSpPr>
            <p:cNvPr id="25" name="Rectangle 25"/>
            <p:cNvSpPr/>
            <p:nvPr/>
          </p:nvSpPr>
          <p:spPr>
            <a:xfrm>
              <a:off x="6464618" y="5246370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6669405" y="5675950"/>
              <a:ext cx="200023" cy="200023"/>
              <a:chOff x="6669405" y="5675950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6669405" y="56759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802755" y="57426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6971348" y="5394960"/>
              <a:ext cx="42252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不分层时方差几乎全部来自 h 在 0.5 处从 +1 跳到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−1；分层后每层内只剩 0.05U 的微小变化，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Var(0.05U) = 0.0025/12。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3.4 分层抽样法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一般的分层估计，以及样本量怎样分配最好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3674478" cy="278702"/>
            <a:chOff x="526161" y="1547336"/>
            <a:chExt cx="367447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36744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积分可分解为 m 个不交子集 Cⱼ 上的积分：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94"/>
              <p:cNvSpPr txBox="1">
                <a:spLocks noGrp="1"/>
              </p:cNvSpPr>
              <p:nvPr/>
            </p:nvSpPr>
            <p:spPr>
              <a:xfrm>
                <a:off x="533400" y="1955482"/>
                <a:ext cx="5410200" cy="666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  <m:sup/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+⋯+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b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b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161" y="2831306"/>
            <a:ext cx="5496453" cy="278702"/>
            <a:chOff x="526161" y="2831306"/>
            <a:chExt cx="5496453" cy="278702"/>
          </a:xfrm>
        </p:grpSpPr>
        <p:sp>
          <p:nvSpPr>
            <p:cNvPr id="10" name="TextBox 10"/>
            <p:cNvSpPr txBox="1"/>
            <p:nvPr/>
          </p:nvSpPr>
          <p:spPr>
            <a:xfrm>
              <a:off x="526161" y="2831306"/>
              <a:ext cx="54964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Cⱼ 中投 nⱼ 个随机点 Xⱼᵢ ~ U(Cⱼ)，各部分分别用平均值法：</a:t>
              </a:r>
            </a:p>
          </p:txBody>
        </p:sp>
      </p:grpSp>
      <p:grpSp>
        <p:nvGrpSpPr>
          <p:cNvPr id="16" name="c1-card-4"/>
          <p:cNvGrpSpPr/>
          <p:nvPr/>
        </p:nvGrpSpPr>
        <p:grpSpPr>
          <a:xfrm>
            <a:off x="533400" y="3239452"/>
            <a:ext cx="5410200" cy="1561148"/>
            <a:chOff x="533400" y="3239452"/>
            <a:chExt cx="5410200" cy="1561148"/>
          </a:xfrm>
        </p:grpSpPr>
        <p:sp>
          <p:nvSpPr>
            <p:cNvPr id="12" name="Rectangle 12"/>
            <p:cNvSpPr/>
            <p:nvPr/>
          </p:nvSpPr>
          <p:spPr>
            <a:xfrm>
              <a:off x="533400" y="3239452"/>
              <a:ext cx="5410200" cy="1561148"/>
            </a:xfrm>
            <a:prstGeom prst="roundRect">
              <a:avLst>
                <a:gd name="adj" fmla="val 8542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37235" y="344328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9544" y="34790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分层估计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295"/>
                <p:cNvSpPr txBox="1">
                  <a:spLocks noGrp="1"/>
                </p:cNvSpPr>
                <p:nvPr/>
              </p:nvSpPr>
              <p:spPr>
                <a:xfrm>
                  <a:off x="737235" y="3792855"/>
                  <a:ext cx="5002530" cy="7858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C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8" name="c1-text-5"/>
          <p:cNvGrpSpPr/>
          <p:nvPr/>
        </p:nvGrpSpPr>
        <p:grpSpPr>
          <a:xfrm>
            <a:off x="526161" y="5009674"/>
            <a:ext cx="2370079" cy="278702"/>
            <a:chOff x="526161" y="5009674"/>
            <a:chExt cx="2370079" cy="278702"/>
          </a:xfrm>
        </p:grpSpPr>
        <p:sp>
          <p:nvSpPr>
            <p:cNvPr id="17" name="TextBox 17"/>
            <p:cNvSpPr txBox="1"/>
            <p:nvPr/>
          </p:nvSpPr>
          <p:spPr>
            <a:xfrm>
              <a:off x="526161" y="5009674"/>
              <a:ext cx="23700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 σⱼ² = Var(h(Xⱼ₁))，则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formula296"/>
              <p:cNvSpPr txBox="1">
                <a:spLocks noGrp="1"/>
              </p:cNvSpPr>
              <p:nvPr/>
            </p:nvSpPr>
            <p:spPr>
              <a:xfrm>
                <a:off x="533400" y="5417820"/>
                <a:ext cx="5410200" cy="7858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p>
                        <m:e>
                          <m:f>
                            <m:fPr>
                              <m:type m:val="bar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p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</m:t>
                                      </m:r>
                                    </m:e>
                                    <m:sub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sSub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  <m:sup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26" name="c2-card-1"/>
          <p:cNvGrpSpPr/>
          <p:nvPr/>
        </p:nvGrpSpPr>
        <p:grpSpPr>
          <a:xfrm>
            <a:off x="6248400" y="1524000"/>
            <a:ext cx="5410200" cy="2152650"/>
            <a:chOff x="6248400" y="1524000"/>
            <a:chExt cx="5410200" cy="2152650"/>
          </a:xfrm>
        </p:grpSpPr>
        <p:sp>
          <p:nvSpPr>
            <p:cNvPr id="20" name="Rectangle 20"/>
            <p:cNvSpPr/>
            <p:nvPr/>
          </p:nvSpPr>
          <p:spPr>
            <a:xfrm>
              <a:off x="6248400" y="1524000"/>
              <a:ext cx="5410200" cy="2152650"/>
            </a:xfrm>
            <a:prstGeom prst="roundRect">
              <a:avLst>
                <a:gd name="adj" fmla="val 61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57925" y="1657350"/>
              <a:ext cx="47625" cy="18859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90335" y="1727835"/>
              <a:ext cx="139160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53477" y="1763554"/>
              <a:ext cx="12643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最优分配（13.1）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3096" y="2100739"/>
              <a:ext cx="449592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σⱼ² 可估计，在所有满足 n₁ + n₂ + ⋯ + nₘ = N 的取法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中，使渐近方差最小的是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297"/>
                <p:cNvSpPr txBox="1">
                  <a:spLocks noGrp="1"/>
                </p:cNvSpPr>
                <p:nvPr/>
              </p:nvSpPr>
              <p:spPr>
                <a:xfrm>
                  <a:off x="6490335" y="2668905"/>
                  <a:ext cx="4964430" cy="7858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∝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</m:e>
                        </m:d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σ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sup>
                              <m:e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C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nary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1" name="c2-card-2"/>
          <p:cNvGrpSpPr/>
          <p:nvPr/>
        </p:nvGrpSpPr>
        <p:grpSpPr>
          <a:xfrm>
            <a:off x="6248400" y="3862388"/>
            <a:ext cx="5410200" cy="1545908"/>
            <a:chOff x="6248400" y="3862388"/>
            <a:chExt cx="5410200" cy="1545908"/>
          </a:xfrm>
        </p:grpSpPr>
        <p:sp>
          <p:nvSpPr>
            <p:cNvPr id="27" name="Rectangle 27"/>
            <p:cNvSpPr/>
            <p:nvPr/>
          </p:nvSpPr>
          <p:spPr>
            <a:xfrm>
              <a:off x="6248400" y="3862388"/>
              <a:ext cx="5410200" cy="1545908"/>
            </a:xfrm>
            <a:prstGeom prst="roundRect">
              <a:avLst>
                <a:gd name="adj" fmla="val 862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52235" y="4066222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34544" y="41019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推导思路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44996" y="4439126"/>
              <a:ext cx="464921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在约束 Σnⱼ = N 下最小化 Σ V²(Cⱼ)σⱼ²/nⱼ。用拉格朗日乘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子法对 nⱼ 求导得 V²(Cⱼ)σⱼ²/nⱼ² = λ，所以 nⱼ ∝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V(Cⱼ)σⱼ。</a:t>
              </a:r>
            </a:p>
          </p:txBody>
        </p:sp>
      </p:grpSp>
      <p:grpSp>
        <p:nvGrpSpPr>
          <p:cNvPr id="38" name="c2-callout-3"/>
          <p:cNvGrpSpPr/>
          <p:nvPr/>
        </p:nvGrpSpPr>
        <p:grpSpPr>
          <a:xfrm>
            <a:off x="6248400" y="5594032"/>
            <a:ext cx="5410200" cy="756285"/>
            <a:chOff x="6248400" y="5594032"/>
            <a:chExt cx="5410200" cy="756285"/>
          </a:xfrm>
        </p:grpSpPr>
        <p:sp>
          <p:nvSpPr>
            <p:cNvPr id="32" name="Rectangle 32"/>
            <p:cNvSpPr/>
            <p:nvPr/>
          </p:nvSpPr>
          <p:spPr>
            <a:xfrm>
              <a:off x="6248400" y="559403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453188" y="5872163"/>
              <a:ext cx="200026" cy="200025"/>
              <a:chOff x="6453188" y="5872163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6453188" y="58721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492926" y="59166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527642" y="60277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755511" y="5741194"/>
              <a:ext cx="441477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层的体积越大、层内波动越大，分到的点越多；σⱼ 未知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时先做小规模预模拟估计。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14742" cy="909257"/>
            <a:chOff x="520446" y="342900"/>
            <a:chExt cx="71147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3.4 分层抽样法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147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按离散随机变量分层求 E h(X)：去掉层间方差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5244338" cy="558736"/>
            <a:chOff x="526161" y="1547336"/>
            <a:chExt cx="5244338" cy="558736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244338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设离散型随机变量 Y 满足 pⱼ = P(Y = yⱼ)，j = 1, …, m，并且在 Y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yⱼ 条件下可以从 X 的条件分布抽样。由双期望定理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304"/>
              <p:cNvSpPr txBox="1">
                <a:spLocks noGrp="1"/>
              </p:cNvSpPr>
              <p:nvPr/>
            </p:nvSpPr>
            <p:spPr>
              <a:xfrm>
                <a:off x="533400" y="2236470"/>
                <a:ext cx="5626418" cy="766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p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d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161" y="3211354"/>
            <a:ext cx="5262372" cy="558736"/>
            <a:chOff x="526161" y="3211354"/>
            <a:chExt cx="5262372" cy="558736"/>
          </a:xfrm>
        </p:grpSpPr>
        <p:sp>
          <p:nvSpPr>
            <p:cNvPr id="10" name="TextBox 10"/>
            <p:cNvSpPr txBox="1"/>
            <p:nvPr/>
          </p:nvSpPr>
          <p:spPr>
            <a:xfrm>
              <a:off x="526161" y="3211354"/>
              <a:ext cx="5262372" cy="5587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Y = yⱼ 条件下生成 X 的 Nⱼ = Npⱼ 个抽样值 Xᵢ⁽ʲ⁾，用它们的平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均估计 E[h(X)|Y = yⱼ]：</a:t>
              </a:r>
            </a:p>
          </p:txBody>
        </p:sp>
      </p:grpSp>
      <p:grpSp>
        <p:nvGrpSpPr>
          <p:cNvPr id="16" name="c1-card-4"/>
          <p:cNvGrpSpPr/>
          <p:nvPr/>
        </p:nvGrpSpPr>
        <p:grpSpPr>
          <a:xfrm>
            <a:off x="533400" y="3900488"/>
            <a:ext cx="5626418" cy="2316480"/>
            <a:chOff x="533400" y="3900488"/>
            <a:chExt cx="5626418" cy="2316480"/>
          </a:xfrm>
        </p:grpSpPr>
        <p:sp>
          <p:nvSpPr>
            <p:cNvPr id="12" name="Rectangle 12"/>
            <p:cNvSpPr/>
            <p:nvPr/>
          </p:nvSpPr>
          <p:spPr>
            <a:xfrm>
              <a:off x="533400" y="3900488"/>
              <a:ext cx="5626418" cy="2316480"/>
            </a:xfrm>
            <a:prstGeom prst="roundRect">
              <a:avLst>
                <a:gd name="adj" fmla="val 575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37235" y="4104322"/>
              <a:ext cx="139160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0377" y="4140041"/>
              <a:ext cx="12643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分层估计（13.2）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305"/>
                <p:cNvSpPr txBox="1">
                  <a:spLocks noGrp="1"/>
                </p:cNvSpPr>
                <p:nvPr/>
              </p:nvSpPr>
              <p:spPr>
                <a:xfrm>
                  <a:off x="737235" y="4453890"/>
                  <a:ext cx="5218748" cy="8334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ˆ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Sup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88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88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</m:e>
                                </m:d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sup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Sup>
                                      <m:e>
                                        <m: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88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88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88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</m:e>
                                </m:d>
                              </m:e>
                            </m:nary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8" name="c2-text-1"/>
          <p:cNvGrpSpPr/>
          <p:nvPr/>
        </p:nvGrpSpPr>
        <p:grpSpPr>
          <a:xfrm>
            <a:off x="6457379" y="1547336"/>
            <a:ext cx="4286913" cy="278702"/>
            <a:chOff x="6457379" y="1547336"/>
            <a:chExt cx="4286913" cy="278702"/>
          </a:xfrm>
        </p:grpSpPr>
        <p:sp>
          <p:nvSpPr>
            <p:cNvPr id="17" name="TextBox 17"/>
            <p:cNvSpPr txBox="1"/>
            <p:nvPr/>
          </p:nvSpPr>
          <p:spPr>
            <a:xfrm>
              <a:off x="6457379" y="1547336"/>
              <a:ext cx="42869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 θ 的无偏和强相合估计，估计方差为（13.3）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formula306"/>
              <p:cNvSpPr txBox="1">
                <a:spLocks noGrp="1"/>
              </p:cNvSpPr>
              <p:nvPr/>
            </p:nvSpPr>
            <p:spPr>
              <a:xfrm>
                <a:off x="6464618" y="1955482"/>
                <a:ext cx="5193982" cy="12858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ˆ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f>
                            <m:fPr>
                              <m:type m:val="bar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s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  <m:sup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p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Var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∣</m:t>
                                  </m:r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=</m:t>
                                  </m:r>
                                  <m:sSub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f>
                            <m:fPr>
                              <m:type m:val="bar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{"/>
                              <m:sepChr m:val=""/>
                              <m:endChr m:val="}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Var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∣</m:t>
                                  </m:r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f>
                            <m:fPr>
                              <m:type m:val="bar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25" name="c2-callout-3"/>
          <p:cNvGrpSpPr/>
          <p:nvPr/>
        </p:nvGrpSpPr>
        <p:grpSpPr>
          <a:xfrm>
            <a:off x="6464618" y="3427095"/>
            <a:ext cx="5193982" cy="1281112"/>
            <a:chOff x="6464618" y="3427095"/>
            <a:chExt cx="5193982" cy="1281112"/>
          </a:xfrm>
        </p:grpSpPr>
        <p:sp>
          <p:nvSpPr>
            <p:cNvPr id="20" name="Rectangle 20"/>
            <p:cNvSpPr/>
            <p:nvPr/>
          </p:nvSpPr>
          <p:spPr>
            <a:xfrm>
              <a:off x="6464618" y="3427095"/>
              <a:ext cx="5193982" cy="1281112"/>
            </a:xfrm>
            <a:prstGeom prst="roundRect">
              <a:avLst>
                <a:gd name="adj" fmla="val 8922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6669405" y="3967165"/>
              <a:ext cx="200023" cy="200023"/>
              <a:chOff x="6669405" y="3967165"/>
              <a:chExt cx="200023" cy="20002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69405" y="396716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802755" y="40338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6971729" y="3574256"/>
              <a:ext cx="4297553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不等号来自方差分解：Var h(X) = E[Var(h(X)|Y)] +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Var[E(h(X)|Y)]。按比例分层把层间方差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Var[E(h(X)|Y)] 整个去掉了，所以方差比直接用平均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值法小。</a:t>
              </a:r>
            </a:p>
          </p:txBody>
        </p:sp>
      </p:grpSp>
      <p:grpSp>
        <p:nvGrpSpPr>
          <p:cNvPr id="34" name="c2-card-4"/>
          <p:cNvGrpSpPr/>
          <p:nvPr/>
        </p:nvGrpSpPr>
        <p:grpSpPr>
          <a:xfrm>
            <a:off x="6464618" y="4892992"/>
            <a:ext cx="5193982" cy="1323022"/>
            <a:chOff x="6464618" y="4892992"/>
            <a:chExt cx="5193982" cy="1323022"/>
          </a:xfrm>
        </p:grpSpPr>
        <p:sp>
          <p:nvSpPr>
            <p:cNvPr id="26" name="Rectangle 26"/>
            <p:cNvSpPr/>
            <p:nvPr/>
          </p:nvSpPr>
          <p:spPr>
            <a:xfrm>
              <a:off x="6464618" y="4892992"/>
              <a:ext cx="5193982" cy="1323022"/>
            </a:xfrm>
            <a:prstGeom prst="roundRect">
              <a:avLst>
                <a:gd name="adj" fmla="val 100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74142" y="5026342"/>
              <a:ext cx="47625" cy="105632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706552" y="5096828"/>
              <a:ext cx="177450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59308" y="513254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样本量还能再分得好一些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714172" y="553021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70764" y="5469731"/>
              <a:ext cx="45568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按比例分配 Nⱼ = Npⱼ：方差 (1/N)·Σ pⱼσⱼ²，即上式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714172" y="585025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70764" y="5789771"/>
              <a:ext cx="43505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最优分配 Nⱼ ∝ pⱼσⱼ：方差 (1/N)·(Σ pⱼσⱼ)² 更小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63130" cy="909257"/>
            <a:chOff x="520446" y="342900"/>
            <a:chExt cx="72631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797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583" y="407194"/>
              <a:ext cx="274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3.4 分层抽样法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631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例13.2 把 (0, 1) 等分成 m 层，每层抽 1 个点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5407501" cy="278702"/>
            <a:chOff x="526161" y="1547336"/>
            <a:chExt cx="540750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4075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U ~ U(0,1)，用分层抽样法估计 θ = E h(U) = ∫₀¹ h(x)dx。</a:t>
              </a:r>
            </a:p>
          </p:txBody>
        </p:sp>
      </p:grpSp>
      <p:grpSp>
        <p:nvGrpSpPr>
          <p:cNvPr id="26" name="c1-steps-2"/>
          <p:cNvGrpSpPr/>
          <p:nvPr/>
        </p:nvGrpSpPr>
        <p:grpSpPr>
          <a:xfrm>
            <a:off x="533400" y="1960245"/>
            <a:ext cx="5324856" cy="2840736"/>
            <a:chOff x="533400" y="1960245"/>
            <a:chExt cx="5324856" cy="2840736"/>
          </a:xfrm>
        </p:grpSpPr>
        <p:sp>
          <p:nvSpPr>
            <p:cNvPr id="9" name="Rectangle 9"/>
            <p:cNvSpPr/>
            <p:nvPr/>
          </p:nvSpPr>
          <p:spPr>
            <a:xfrm>
              <a:off x="666750" y="2103120"/>
              <a:ext cx="19050" cy="22926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024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40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9749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713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1471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885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25196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3257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199310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定义分层变量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273618"/>
              <a:ext cx="49118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Y = ceiling(mU)，即当且仅当 (j−1)/m &lt; U ≤ j/m 时 Y = j，P(Y = j) =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830354"/>
              <a:ext cx="8318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Y 分解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110865"/>
              <a:ext cx="41101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 = Σ E[h(U)|Y = j]·P(Y = j) = (1/m)·Σ E[h(U)|Y = j]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44757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条件分布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728085"/>
              <a:ext cx="45994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= j 条件下 U 服从 ((j−1)/m, j/m) 上的均匀分布，可写成 (j − 1 +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Uⱼ)/m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4285774"/>
              <a:ext cx="12454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每层取 Nⱼ = 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4566285"/>
              <a:ext cx="41810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m 个独立的 U(0,1) 随机数 U₁, …, Uₘ 得到下面的估计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formula310"/>
              <p:cNvSpPr txBox="1">
                <a:spLocks noGrp="1"/>
              </p:cNvSpPr>
              <p:nvPr/>
            </p:nvSpPr>
            <p:spPr>
              <a:xfrm>
                <a:off x="533400" y="4972050"/>
                <a:ext cx="5626418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46" name="c2-card-1"/>
          <p:cNvGrpSpPr/>
          <p:nvPr/>
        </p:nvGrpSpPr>
        <p:grpSpPr>
          <a:xfrm>
            <a:off x="6464618" y="1524000"/>
            <a:ext cx="5193982" cy="2321242"/>
            <a:chOff x="6464618" y="1524000"/>
            <a:chExt cx="5193982" cy="2321242"/>
          </a:xfrm>
        </p:grpSpPr>
        <p:sp>
          <p:nvSpPr>
            <p:cNvPr id="28" name="Rectangle 28"/>
            <p:cNvSpPr/>
            <p:nvPr/>
          </p:nvSpPr>
          <p:spPr>
            <a:xfrm>
              <a:off x="6464618" y="1524000"/>
              <a:ext cx="5193982" cy="2321242"/>
            </a:xfrm>
            <a:prstGeom prst="roundRect">
              <a:avLst>
                <a:gd name="adj" fmla="val 57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1657350"/>
              <a:ext cx="47625" cy="20545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00838" y="1722120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68274" y="175641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数值对比（补充）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84248" y="1756886"/>
              <a:ext cx="33803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h(x) = eˣ，m = 10，共用 10 个随机数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700838" y="2077402"/>
              <a:ext cx="4759642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792402" y="22059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929431" y="220599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估计量方差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03326" y="2629852"/>
              <a:ext cx="15420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平均值法（10 个点）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20784" y="2629852"/>
              <a:ext cx="15307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0.2420/10 = 0.0242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700838" y="2921318"/>
              <a:ext cx="47596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700838" y="2926080"/>
              <a:ext cx="475964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03326" y="3054668"/>
              <a:ext cx="18986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分层抽样（10 层各 1 点）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227820" y="2935605"/>
              <a:ext cx="2223135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320784" y="3054668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0.000266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700838" y="2077402"/>
              <a:ext cx="4759642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213532" y="2077402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94742" y="3459480"/>
              <a:ext cx="36792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方差缩小约 91 倍（按每层的条件方差精确计算）。</a:t>
              </a:r>
            </a:p>
          </p:txBody>
        </p:sp>
      </p:grpSp>
      <p:grpSp>
        <p:nvGrpSpPr>
          <p:cNvPr id="50" name="c2-code-2"/>
          <p:cNvGrpSpPr/>
          <p:nvPr/>
        </p:nvGrpSpPr>
        <p:grpSpPr>
          <a:xfrm>
            <a:off x="6464618" y="4025265"/>
            <a:ext cx="5193982" cy="1072515"/>
            <a:chOff x="6464618" y="4025265"/>
            <a:chExt cx="5193982" cy="1072515"/>
          </a:xfrm>
        </p:grpSpPr>
        <p:sp>
          <p:nvSpPr>
            <p:cNvPr id="47" name="Rectangle 47"/>
            <p:cNvSpPr/>
            <p:nvPr/>
          </p:nvSpPr>
          <p:spPr>
            <a:xfrm>
              <a:off x="6464618" y="4025265"/>
              <a:ext cx="5193982" cy="1072515"/>
            </a:xfrm>
            <a:prstGeom prst="roundRect">
              <a:avLst>
                <a:gd name="adj" fmla="val 88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93015" y="4177189"/>
              <a:ext cx="6590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R：例13.2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92634" y="4438650"/>
              <a:ext cx="3151061" cy="5844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 &lt;- 10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 &lt;- runif(m)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mean(exp(((1:m) - 1 + U) / m))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1.718</a:t>
              </a:r>
            </a:p>
          </p:txBody>
        </p:sp>
      </p:grpSp>
      <p:grpSp>
        <p:nvGrpSpPr>
          <p:cNvPr id="57" name="c2-callout-3"/>
          <p:cNvGrpSpPr/>
          <p:nvPr/>
        </p:nvGrpSpPr>
        <p:grpSpPr>
          <a:xfrm>
            <a:off x="6464618" y="5277802"/>
            <a:ext cx="5193982" cy="1018222"/>
            <a:chOff x="6464618" y="5277802"/>
            <a:chExt cx="5193982" cy="1018222"/>
          </a:xfrm>
        </p:grpSpPr>
        <p:sp>
          <p:nvSpPr>
            <p:cNvPr id="51" name="Rectangle 51"/>
            <p:cNvSpPr/>
            <p:nvPr/>
          </p:nvSpPr>
          <p:spPr>
            <a:xfrm>
              <a:off x="6464618" y="5277802"/>
              <a:ext cx="5193982" cy="1018222"/>
            </a:xfrm>
            <a:prstGeom prst="roundRect">
              <a:avLst>
                <a:gd name="adj" fmla="val 1122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657347" y="5683686"/>
              <a:ext cx="224134" cy="192560"/>
              <a:chOff x="6657347" y="5683686"/>
              <a:chExt cx="224134" cy="19256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6769418" y="575405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657347" y="568368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769418" y="583184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971729" y="5424964"/>
              <a:ext cx="4189349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每层只有 1 个点时无法在层内估计方差。需要误差估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计时，每层至少取 2 个点，或把整个分层估计独立重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复多次。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936652" cy="3351847"/>
            <a:chOff x="667512" y="1835468"/>
            <a:chExt cx="393665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3665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 方差缩减技术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计算量不变，让估计量的方差更小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3.5.1 控制变量法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3.5.2 对立变量法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3.5.3 条件期望法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3.5.4 随机数复用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46882" cy="909257"/>
            <a:chOff x="520446" y="342900"/>
            <a:chExt cx="644688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4688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方差缩减：降低 θ = EX 估计量的渐近方差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ompare-1"/>
          <p:cNvGrpSpPr/>
          <p:nvPr/>
        </p:nvGrpSpPr>
        <p:grpSpPr>
          <a:xfrm>
            <a:off x="533400" y="1524000"/>
            <a:ext cx="4760596" cy="1367790"/>
            <a:chOff x="533400" y="1524000"/>
            <a:chExt cx="4760596" cy="13677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170748" cy="1367790"/>
            </a:xfrm>
            <a:prstGeom prst="roundRect">
              <a:avLst>
                <a:gd name="adj" fmla="val 97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1010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随机模拟的优点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适用性广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51079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447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方法简单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123248" y="1524000"/>
              <a:ext cx="2170748" cy="1367790"/>
            </a:xfrm>
            <a:prstGeom prst="roundRect">
              <a:avLst>
                <a:gd name="adj" fmla="val 97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132772" y="1657350"/>
              <a:ext cx="47625" cy="110109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363277" y="17583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随机模拟的缺点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3376612" y="217551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534727" y="211264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精度低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376612" y="251079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34727" y="2447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计算量大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2751772" y="204597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822113" y="214217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25" name="c1-text-2"/>
          <p:cNvGrpSpPr/>
          <p:nvPr/>
        </p:nvGrpSpPr>
        <p:grpSpPr>
          <a:xfrm>
            <a:off x="525780" y="3107055"/>
            <a:ext cx="4406265" cy="588645"/>
            <a:chOff x="525780" y="3107055"/>
            <a:chExt cx="4406265" cy="588645"/>
          </a:xfrm>
        </p:grpSpPr>
        <p:sp>
          <p:nvSpPr>
            <p:cNvPr id="24" name="TextBox 24"/>
            <p:cNvSpPr txBox="1"/>
            <p:nvPr/>
          </p:nvSpPr>
          <p:spPr>
            <a:xfrm>
              <a:off x="525780" y="3107055"/>
              <a:ext cx="440626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基本做法：从 X 中抽取 N 个独立样本 X₁, X₂, …，用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样本平均值估计 θ = EX，方差为 Var(X)/N。</a:t>
              </a:r>
            </a:p>
          </p:txBody>
        </p:sp>
      </p:grpSp>
      <p:grpSp>
        <p:nvGrpSpPr>
          <p:cNvPr id="31" name="c1-callout-3"/>
          <p:cNvGrpSpPr/>
          <p:nvPr/>
        </p:nvGrpSpPr>
        <p:grpSpPr>
          <a:xfrm>
            <a:off x="533400" y="3827145"/>
            <a:ext cx="4760595" cy="1821180"/>
            <a:chOff x="533400" y="3827145"/>
            <a:chExt cx="4760595" cy="1821180"/>
          </a:xfrm>
        </p:grpSpPr>
        <p:sp>
          <p:nvSpPr>
            <p:cNvPr id="26" name="Rectangle 26"/>
            <p:cNvSpPr/>
            <p:nvPr/>
          </p:nvSpPr>
          <p:spPr>
            <a:xfrm>
              <a:off x="533400" y="3827145"/>
              <a:ext cx="4760595" cy="1821180"/>
            </a:xfrm>
            <a:prstGeom prst="roundRect">
              <a:avLst>
                <a:gd name="adj" fmla="val 6276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4637725"/>
              <a:ext cx="200023" cy="200023"/>
              <a:chOff x="738188" y="4637725"/>
              <a:chExt cx="200023" cy="200023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46377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71538" y="47043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4494848"/>
              <a:ext cx="38157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方差降为原来的 1/k，达到同样精度所需的样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本量也约降为 1/k，模拟时间随之节省。</a:t>
              </a:r>
            </a:p>
          </p:txBody>
        </p:sp>
      </p:grpSp>
      <p:grpSp>
        <p:nvGrpSpPr>
          <p:cNvPr id="56" name="c2-table-1"/>
          <p:cNvGrpSpPr/>
          <p:nvPr/>
        </p:nvGrpSpPr>
        <p:grpSpPr>
          <a:xfrm>
            <a:off x="5598795" y="1524000"/>
            <a:ext cx="6059805" cy="3150870"/>
            <a:chOff x="5598795" y="1524000"/>
            <a:chExt cx="6059805" cy="3150870"/>
          </a:xfrm>
        </p:grpSpPr>
        <p:sp>
          <p:nvSpPr>
            <p:cNvPr id="32" name="Rectangle 32"/>
            <p:cNvSpPr/>
            <p:nvPr/>
          </p:nvSpPr>
          <p:spPr>
            <a:xfrm>
              <a:off x="5598795" y="1524000"/>
              <a:ext cx="605980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867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870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501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06618" y="2108359"/>
              <a:ext cx="102123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3.5.1 控制变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40118" y="2108359"/>
              <a:ext cx="228066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加上 b·Y，Y 期望已知且与 X 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06166" y="2221706"/>
              <a:ext cx="1201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能找到这样的 Y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598795" y="26431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598795" y="2647950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706618" y="2783681"/>
              <a:ext cx="102123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3.5.2 对立变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40118" y="2897029"/>
              <a:ext cx="22920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U 和 1 − U 成对抽样取平均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06166" y="2897029"/>
              <a:ext cx="14109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是 U 的单调函数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598795" y="33194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06618" y="3459004"/>
              <a:ext cx="102123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3.5.3 条件期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望法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40118" y="3572351"/>
              <a:ext cx="19207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E(X|Z) 代替 X 求平均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706166" y="35723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条件期望有解析式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598795" y="39947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598795" y="3999548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706618" y="4134326"/>
              <a:ext cx="102123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3.5.4 随机数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40118" y="424767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比较两个系统时用同一组随机数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706166" y="424767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两系统输出正相关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598795" y="1524000"/>
              <a:ext cx="6059805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927532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593580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2-callout-2"/>
          <p:cNvGrpSpPr/>
          <p:nvPr/>
        </p:nvGrpSpPr>
        <p:grpSpPr>
          <a:xfrm>
            <a:off x="5598795" y="4865370"/>
            <a:ext cx="6059805" cy="782955"/>
            <a:chOff x="5598795" y="4865370"/>
            <a:chExt cx="6059805" cy="782955"/>
          </a:xfrm>
        </p:grpSpPr>
        <p:sp>
          <p:nvSpPr>
            <p:cNvPr id="57" name="Rectangle 57"/>
            <p:cNvSpPr/>
            <p:nvPr/>
          </p:nvSpPr>
          <p:spPr>
            <a:xfrm>
              <a:off x="5598795" y="486537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5791524" y="5153143"/>
              <a:ext cx="224134" cy="192560"/>
              <a:chOff x="5791524" y="5153143"/>
              <a:chExt cx="224134" cy="19256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5903595" y="522351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5791524" y="515314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5903595" y="53012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6105525" y="5013960"/>
              <a:ext cx="5158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比较方法时要按相同计算量算：对立变量法一对样本要算两次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函数值，重要抽样还要额外计算密度 g。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34166" cy="909257"/>
            <a:chOff x="520446" y="342900"/>
            <a:chExt cx="83341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341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3.5.1 控制变量法：借助期望已知的相关变量抵消波动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4625721" cy="529780"/>
            <a:chOff x="526542" y="1545907"/>
            <a:chExt cx="4625721" cy="529780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625721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设随机变量 Y 满足 EY = 0，Cov(X, Y) &lt; 0。令 Z = X + Y，则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E(Z) = θ，且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336"/>
              <p:cNvSpPr txBox="1">
                <a:spLocks noGrp="1"/>
              </p:cNvSpPr>
              <p:nvPr/>
            </p:nvSpPr>
            <p:spPr>
              <a:xfrm>
                <a:off x="533400" y="2192655"/>
                <a:ext cx="4977765" cy="438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Cov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542" y="2823210"/>
            <a:ext cx="4801714" cy="264033"/>
            <a:chOff x="526542" y="2823210"/>
            <a:chExt cx="4801714" cy="264033"/>
          </a:xfrm>
        </p:grpSpPr>
        <p:sp>
          <p:nvSpPr>
            <p:cNvPr id="10" name="TextBox 10"/>
            <p:cNvSpPr txBox="1"/>
            <p:nvPr/>
          </p:nvSpPr>
          <p:spPr>
            <a:xfrm>
              <a:off x="526542" y="2823210"/>
              <a:ext cx="48017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 Var(Y) + 2Cov(X, Y) &lt; 0，就有 Var(Z) &lt; Var(X)。</a:t>
              </a:r>
            </a:p>
          </p:txBody>
        </p:sp>
      </p:grpSp>
      <p:grpSp>
        <p:nvGrpSpPr>
          <p:cNvPr id="18" name="c1-callout-4"/>
          <p:cNvGrpSpPr/>
          <p:nvPr/>
        </p:nvGrpSpPr>
        <p:grpSpPr>
          <a:xfrm>
            <a:off x="533400" y="3204210"/>
            <a:ext cx="4977765" cy="729615"/>
            <a:chOff x="533400" y="3204210"/>
            <a:chExt cx="4977765" cy="729615"/>
          </a:xfrm>
        </p:grpSpPr>
        <p:sp>
          <p:nvSpPr>
            <p:cNvPr id="12" name="Rectangle 12"/>
            <p:cNvSpPr/>
            <p:nvPr/>
          </p:nvSpPr>
          <p:spPr>
            <a:xfrm>
              <a:off x="533400" y="3204210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38188" y="3469005"/>
              <a:ext cx="200026" cy="200025"/>
              <a:chOff x="738188" y="3469005"/>
              <a:chExt cx="200026" cy="20002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738188" y="34690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77926" y="35134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12642" y="36245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40892" y="3349942"/>
              <a:ext cx="39570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加上的 Y 期望为 0，不改变均值；X 偏大时 Y 倾向偏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小，二者相加后波动变小。</a:t>
              </a:r>
            </a:p>
          </p:txBody>
        </p:sp>
      </p:grpSp>
      <p:grpSp>
        <p:nvGrpSpPr>
          <p:cNvPr id="39" name="c1-table-5"/>
          <p:cNvGrpSpPr/>
          <p:nvPr/>
        </p:nvGrpSpPr>
        <p:grpSpPr>
          <a:xfrm>
            <a:off x="528447" y="4103370"/>
            <a:ext cx="4982718" cy="1863756"/>
            <a:chOff x="528447" y="4103370"/>
            <a:chExt cx="4982718" cy="1863756"/>
          </a:xfrm>
        </p:grpSpPr>
        <p:sp>
          <p:nvSpPr>
            <p:cNvPr id="19" name="Rectangle 19"/>
            <p:cNvSpPr/>
            <p:nvPr/>
          </p:nvSpPr>
          <p:spPr>
            <a:xfrm>
              <a:off x="533400" y="4103370"/>
              <a:ext cx="4977765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54215" y="422481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相关系数的绝对值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17420" y="422481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方差变为原来的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25900" y="422481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相当于样本量的倍数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26704" y="4624864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79278" y="462486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0.75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9996" y="462486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89870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903470"/>
              <a:ext cx="497776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26704" y="5024914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79278" y="502491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0.19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479996" y="502491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529875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6096" y="5424964"/>
              <a:ext cx="533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0.9918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696352" y="542496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0.0163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21459" y="542496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103370"/>
              <a:ext cx="497776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187892" y="410337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704272" y="410337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8447" y="5776436"/>
              <a:ext cx="33340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最后一行是例14.1 里 X = exp(U) 与 Y = U − 1/2 的情形</a:t>
              </a:r>
            </a:p>
          </p:txBody>
        </p:sp>
      </p:grpSp>
      <p:grpSp>
        <p:nvGrpSpPr>
          <p:cNvPr id="41" name="c2-text-1"/>
          <p:cNvGrpSpPr/>
          <p:nvPr/>
        </p:nvGrpSpPr>
        <p:grpSpPr>
          <a:xfrm>
            <a:off x="5809107" y="1545907"/>
            <a:ext cx="4211704" cy="264033"/>
            <a:chOff x="5809107" y="1545907"/>
            <a:chExt cx="4211704" cy="264033"/>
          </a:xfrm>
        </p:grpSpPr>
        <p:sp>
          <p:nvSpPr>
            <p:cNvPr id="40" name="TextBox 40"/>
            <p:cNvSpPr txBox="1"/>
            <p:nvPr/>
          </p:nvSpPr>
          <p:spPr>
            <a:xfrm>
              <a:off x="5809107" y="1545907"/>
              <a:ext cx="42117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为充分利用 Y 与 X 的相关性，令 Z(b) = X + bY，则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formula337"/>
              <p:cNvSpPr txBox="1">
                <a:spLocks noGrp="1"/>
              </p:cNvSpPr>
              <p:nvPr/>
            </p:nvSpPr>
            <p:spPr>
              <a:xfrm>
                <a:off x="5815965" y="1926908"/>
                <a:ext cx="5842635" cy="438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EZ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formula338"/>
              <p:cNvSpPr txBox="1">
                <a:spLocks noGrp="1"/>
              </p:cNvSpPr>
              <p:nvPr/>
            </p:nvSpPr>
            <p:spPr>
              <a:xfrm>
                <a:off x="5815965" y="2535555"/>
                <a:ext cx="5842635" cy="438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2b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Cov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5" name="c2-text-4"/>
          <p:cNvGrpSpPr/>
          <p:nvPr/>
        </p:nvGrpSpPr>
        <p:grpSpPr>
          <a:xfrm>
            <a:off x="5809107" y="3165158"/>
            <a:ext cx="3071561" cy="264033"/>
            <a:chOff x="5809107" y="3165158"/>
            <a:chExt cx="3071561" cy="264033"/>
          </a:xfrm>
        </p:grpSpPr>
        <p:sp>
          <p:nvSpPr>
            <p:cNvPr id="44" name="TextBox 44"/>
            <p:cNvSpPr txBox="1"/>
            <p:nvPr/>
          </p:nvSpPr>
          <p:spPr>
            <a:xfrm>
              <a:off x="5809107" y="3165158"/>
              <a:ext cx="30715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Var(Z(b)) 关于 b 的最小值点，得</a:t>
              </a:r>
            </a:p>
          </p:txBody>
        </p:sp>
      </p:grpSp>
      <p:grpSp>
        <p:nvGrpSpPr>
          <p:cNvPr id="51" name="c2-card-5"/>
          <p:cNvGrpSpPr/>
          <p:nvPr/>
        </p:nvGrpSpPr>
        <p:grpSpPr>
          <a:xfrm>
            <a:off x="5815965" y="3546158"/>
            <a:ext cx="5842635" cy="1825942"/>
            <a:chOff x="5815965" y="3546158"/>
            <a:chExt cx="5842635" cy="1825942"/>
          </a:xfrm>
        </p:grpSpPr>
        <p:sp>
          <p:nvSpPr>
            <p:cNvPr id="46" name="Rectangle 46"/>
            <p:cNvSpPr/>
            <p:nvPr/>
          </p:nvSpPr>
          <p:spPr>
            <a:xfrm>
              <a:off x="5815965" y="3546158"/>
              <a:ext cx="5842635" cy="1825942"/>
            </a:xfrm>
            <a:prstGeom prst="roundRect">
              <a:avLst>
                <a:gd name="adj" fmla="val 730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02655" y="373284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087224" y="376570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最优系数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formula339"/>
                <p:cNvSpPr txBox="1">
                  <a:spLocks noGrp="1"/>
                </p:cNvSpPr>
                <p:nvPr/>
              </p:nvSpPr>
              <p:spPr>
                <a:xfrm>
                  <a:off x="6002655" y="4054792"/>
                  <a:ext cx="5469255" cy="59150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Cov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sSub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ρ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sub>
                        </m:sSub>
                        <m:rad>
                          <m:radPr>
                            <m:degHide m:val="on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type m:val="bar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Var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Var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</m:d>
                              </m:den>
                            </m:f>
                          </m:e>
                        </m:ra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formula340"/>
                <p:cNvSpPr txBox="1">
                  <a:spLocks noGrp="1"/>
                </p:cNvSpPr>
                <p:nvPr/>
              </p:nvSpPr>
              <p:spPr>
                <a:xfrm>
                  <a:off x="6002655" y="4730115"/>
                  <a:ext cx="5469255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Z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Sup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ρ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sub>
                              <m:sup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58" name="c2-callout-6"/>
          <p:cNvGrpSpPr/>
          <p:nvPr/>
        </p:nvGrpSpPr>
        <p:grpSpPr>
          <a:xfrm>
            <a:off x="5815965" y="5541645"/>
            <a:ext cx="5842635" cy="729615"/>
            <a:chOff x="5815965" y="5541645"/>
            <a:chExt cx="5842635" cy="729615"/>
          </a:xfrm>
        </p:grpSpPr>
        <p:sp>
          <p:nvSpPr>
            <p:cNvPr id="52" name="Rectangle 52"/>
            <p:cNvSpPr/>
            <p:nvPr/>
          </p:nvSpPr>
          <p:spPr>
            <a:xfrm>
              <a:off x="5815965" y="5541645"/>
              <a:ext cx="584263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020753" y="5806440"/>
              <a:ext cx="200026" cy="200026"/>
              <a:chOff x="6020753" y="5806440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020753" y="58064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120765" y="58731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109653" y="590645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323457" y="5688330"/>
              <a:ext cx="4925759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用最优 b 时不再要求 Cov &lt; 0，b 的符号会自动与相关方向相反；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|ρ| 越接近 1 效果越好。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89462" cy="909257"/>
            <a:chOff x="520446" y="342900"/>
            <a:chExt cx="86894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894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例14.1 用控制变量法估计 ∫₀¹ eᵗ dt，方差降为约 1/61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4402943" cy="264033"/>
            <a:chOff x="526542" y="1545907"/>
            <a:chExt cx="440294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4029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U ~ U(0,1)，X = exp(U)，则 I = E exp(U) = EX。</a:t>
              </a:r>
            </a:p>
          </p:txBody>
        </p:sp>
      </p:grpSp>
      <p:grpSp>
        <p:nvGrpSpPr>
          <p:cNvPr id="14" name="c1-card-2"/>
          <p:cNvGrpSpPr/>
          <p:nvPr/>
        </p:nvGrpSpPr>
        <p:grpSpPr>
          <a:xfrm>
            <a:off x="533400" y="1932622"/>
            <a:ext cx="5410200" cy="1656398"/>
            <a:chOff x="533400" y="1932622"/>
            <a:chExt cx="5410200" cy="1656398"/>
          </a:xfrm>
        </p:grpSpPr>
        <p:sp>
          <p:nvSpPr>
            <p:cNvPr id="9" name="Rectangle 9"/>
            <p:cNvSpPr/>
            <p:nvPr/>
          </p:nvSpPr>
          <p:spPr>
            <a:xfrm>
              <a:off x="533400" y="1932622"/>
              <a:ext cx="5410200" cy="1656398"/>
            </a:xfrm>
            <a:prstGeom prst="roundRect">
              <a:avLst>
                <a:gd name="adj" fmla="val 805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25028"/>
              <a:ext cx="995362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1221" y="2159318"/>
              <a:ext cx="8435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法1 平均值法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81262"/>
              <a:ext cx="34367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直接用 Î₁ = (1/N)·Σ exp(Uᵢ) 估计 I，则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369"/>
                <p:cNvSpPr txBox="1">
                  <a:spLocks noGrp="1"/>
                </p:cNvSpPr>
                <p:nvPr/>
              </p:nvSpPr>
              <p:spPr>
                <a:xfrm>
                  <a:off x="725805" y="2761298"/>
                  <a:ext cx="5025390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f>
                              <m:fPr>
                                <m:type m:val="bar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2e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f>
                              <m:fPr>
                                <m:type m:val="bar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0.2420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card-3"/>
          <p:cNvGrpSpPr/>
          <p:nvPr/>
        </p:nvGrpSpPr>
        <p:grpSpPr>
          <a:xfrm>
            <a:off x="533400" y="3763328"/>
            <a:ext cx="5410200" cy="2514600"/>
            <a:chOff x="533400" y="3763328"/>
            <a:chExt cx="5410200" cy="2514600"/>
          </a:xfrm>
        </p:grpSpPr>
        <p:sp>
          <p:nvSpPr>
            <p:cNvPr id="15" name="Rectangle 15"/>
            <p:cNvSpPr/>
            <p:nvPr/>
          </p:nvSpPr>
          <p:spPr>
            <a:xfrm>
              <a:off x="533400" y="3763328"/>
              <a:ext cx="5410200" cy="2514600"/>
            </a:xfrm>
            <a:prstGeom prst="roundRect">
              <a:avLst>
                <a:gd name="adj" fmla="val 53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896678"/>
              <a:ext cx="47625" cy="22479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63905" y="3955732"/>
              <a:ext cx="112871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5320" y="3990023"/>
              <a:ext cx="9849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法2 控制变量法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4312920"/>
              <a:ext cx="47543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Y = U − 1/2，则 EY = 0，X 与 Y 正相关，且 E[U·exp(U)]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370"/>
                <p:cNvSpPr txBox="1">
                  <a:spLocks noGrp="1"/>
                </p:cNvSpPr>
                <p:nvPr/>
              </p:nvSpPr>
              <p:spPr>
                <a:xfrm>
                  <a:off x="763905" y="4850130"/>
                  <a:ext cx="4987290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Cov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e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0.14086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12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371"/>
                <p:cNvSpPr txBox="1">
                  <a:spLocks noGrp="1"/>
                </p:cNvSpPr>
                <p:nvPr/>
              </p:nvSpPr>
              <p:spPr>
                <a:xfrm>
                  <a:off x="763905" y="5451158"/>
                  <a:ext cx="4987290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Cov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0.14086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/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≈−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1.690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formula372"/>
              <p:cNvSpPr txBox="1">
                <a:spLocks noGrp="1"/>
              </p:cNvSpPr>
              <p:nvPr/>
            </p:nvSpPr>
            <p:spPr>
              <a:xfrm>
                <a:off x="6248400" y="1524000"/>
                <a:ext cx="5410200" cy="80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acc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p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1.690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f>
                                    <m:fPr>
                                      <m:type m:val="bar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formula373"/>
              <p:cNvSpPr txBox="1">
                <a:spLocks noGrp="1"/>
              </p:cNvSpPr>
              <p:nvPr/>
            </p:nvSpPr>
            <p:spPr>
              <a:xfrm>
                <a:off x="6248400" y="2499360"/>
                <a:ext cx="5410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ρ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374"/>
              <p:cNvSpPr txBox="1">
                <a:spLocks noGrp="1"/>
              </p:cNvSpPr>
              <p:nvPr/>
            </p:nvSpPr>
            <p:spPr>
              <a:xfrm>
                <a:off x="6248400" y="3131820"/>
                <a:ext cx="5410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0.991</m:t>
                          </m:r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8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0.2420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0.0039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formula375"/>
              <p:cNvSpPr txBox="1">
                <a:spLocks noGrp="1"/>
              </p:cNvSpPr>
              <p:nvPr/>
            </p:nvSpPr>
            <p:spPr>
              <a:xfrm>
                <a:off x="6248400" y="3763328"/>
                <a:ext cx="5410200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0.0039</m:t>
                          </m:r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0" name="c2-code-5"/>
          <p:cNvGrpSpPr/>
          <p:nvPr/>
        </p:nvGrpSpPr>
        <p:grpSpPr>
          <a:xfrm>
            <a:off x="6248400" y="4555808"/>
            <a:ext cx="5410200" cy="1450658"/>
            <a:chOff x="6248400" y="4555808"/>
            <a:chExt cx="5410200" cy="1450658"/>
          </a:xfrm>
        </p:grpSpPr>
        <p:sp>
          <p:nvSpPr>
            <p:cNvPr id="27" name="Rectangle 27"/>
            <p:cNvSpPr/>
            <p:nvPr/>
          </p:nvSpPr>
          <p:spPr>
            <a:xfrm>
              <a:off x="6248400" y="4555808"/>
              <a:ext cx="5410200" cy="1450658"/>
            </a:xfrm>
            <a:prstGeom prst="roundRect">
              <a:avLst>
                <a:gd name="adj" fmla="val 656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76797" y="4707731"/>
              <a:ext cx="6590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R：例14.1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76416" y="4969192"/>
              <a:ext cx="3284411" cy="9635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&lt;- 10000; U &lt;- runif(N)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&lt;- exp(U); Y &lt;- U - 1/2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 &lt;- -cov(X, Y) / var(Y)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-1.690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Z &lt;- X + b * Y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c(mean(Z), var(X) / var(Z))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1.718 与 61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19517" cy="909257"/>
            <a:chOff x="520446" y="342900"/>
            <a:chExt cx="64195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195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例14.2 系统可靠性：结构函数与两种估计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272665"/>
            <a:chOff x="533400" y="1524000"/>
            <a:chExt cx="5410200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模型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个部件组成一个系统，Sᵢ = 1 表示第 i 个部件正常工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作，0 表示失效；Sᵢ ~ B(1, pᵢ) 且相互独立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4358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系统状态 Y = φ(S₁, …, Sₙ)，1 表示正常、0 表示失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效；φ 关于每个 Sᵢ 单调不减，称为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结构函数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52800"/>
              <a:ext cx="43899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R = P(Y = 1) = Eφ(S₁, …, Sₙ) 称为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系统可靠度</a:t>
              </a:r>
            </a:p>
          </p:txBody>
        </p:sp>
      </p:grpSp>
      <p:grpSp>
        <p:nvGrpSpPr>
          <p:cNvPr id="35" name="c1-graph-2"/>
          <p:cNvGrpSpPr/>
          <p:nvPr/>
        </p:nvGrpSpPr>
        <p:grpSpPr>
          <a:xfrm>
            <a:off x="711518" y="4053840"/>
            <a:ext cx="5124449" cy="1295400"/>
            <a:chOff x="711518" y="4053840"/>
            <a:chExt cx="5124449" cy="1295400"/>
          </a:xfrm>
        </p:grpSpPr>
        <p:sp>
          <p:nvSpPr>
            <p:cNvPr id="18" name="Freeform 18"/>
            <p:cNvSpPr/>
            <p:nvPr/>
          </p:nvSpPr>
          <p:spPr>
            <a:xfrm>
              <a:off x="797242" y="4701540"/>
              <a:ext cx="797242" cy="9525"/>
            </a:xfrm>
            <a:custGeom>
              <a:avLst/>
              <a:gdLst/>
              <a:ahLst/>
              <a:cxnLst/>
              <a:rect l="l" t="t" r="r" b="b"/>
              <a:pathLst>
                <a:path w="797242" h="9525">
                  <a:moveTo>
                    <a:pt x="0" y="0"/>
                  </a:moveTo>
                  <a:lnTo>
                    <a:pt x="79724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394585" y="4701540"/>
              <a:ext cx="687705" cy="9525"/>
            </a:xfrm>
            <a:custGeom>
              <a:avLst/>
              <a:gdLst/>
              <a:ahLst/>
              <a:cxnLst/>
              <a:rect l="l" t="t" r="r" b="b"/>
              <a:pathLst>
                <a:path w="687705" h="9525">
                  <a:moveTo>
                    <a:pt x="0" y="0"/>
                  </a:moveTo>
                  <a:lnTo>
                    <a:pt x="68770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129915" y="4244340"/>
              <a:ext cx="790575" cy="409575"/>
            </a:xfrm>
            <a:custGeom>
              <a:avLst/>
              <a:gdLst/>
              <a:ahLst/>
              <a:cxnLst/>
              <a:rect l="l" t="t" r="r" b="b"/>
              <a:pathLst>
                <a:path w="790575" h="409575">
                  <a:moveTo>
                    <a:pt x="0" y="409575"/>
                  </a:moveTo>
                  <a:lnTo>
                    <a:pt x="0" y="0"/>
                  </a:lnTo>
                  <a:lnTo>
                    <a:pt x="7905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129915" y="4749165"/>
              <a:ext cx="790575" cy="409575"/>
            </a:xfrm>
            <a:custGeom>
              <a:avLst/>
              <a:gdLst/>
              <a:ahLst/>
              <a:cxnLst/>
              <a:rect l="l" t="t" r="r" b="b"/>
              <a:pathLst>
                <a:path w="790575" h="409575">
                  <a:moveTo>
                    <a:pt x="0" y="0"/>
                  </a:moveTo>
                  <a:lnTo>
                    <a:pt x="0" y="409575"/>
                  </a:lnTo>
                  <a:lnTo>
                    <a:pt x="790575" y="4095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720590" y="4244340"/>
              <a:ext cx="736282" cy="409575"/>
            </a:xfrm>
            <a:custGeom>
              <a:avLst/>
              <a:gdLst/>
              <a:ahLst/>
              <a:cxnLst/>
              <a:rect l="l" t="t" r="r" b="b"/>
              <a:pathLst>
                <a:path w="736282" h="409575">
                  <a:moveTo>
                    <a:pt x="0" y="0"/>
                  </a:moveTo>
                  <a:lnTo>
                    <a:pt x="736282" y="0"/>
                  </a:lnTo>
                  <a:lnTo>
                    <a:pt x="736282" y="4095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720590" y="4749165"/>
              <a:ext cx="736282" cy="409575"/>
            </a:xfrm>
            <a:custGeom>
              <a:avLst/>
              <a:gdLst/>
              <a:ahLst/>
              <a:cxnLst/>
              <a:rect l="l" t="t" r="r" b="b"/>
              <a:pathLst>
                <a:path w="736282" h="409575">
                  <a:moveTo>
                    <a:pt x="0" y="409575"/>
                  </a:moveTo>
                  <a:lnTo>
                    <a:pt x="736282" y="409575"/>
                  </a:lnTo>
                  <a:lnTo>
                    <a:pt x="73628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5504498" y="4701540"/>
              <a:ext cx="320040" cy="9525"/>
            </a:xfrm>
            <a:custGeom>
              <a:avLst/>
              <a:gdLst/>
              <a:ahLst/>
              <a:cxnLst/>
              <a:rect l="l" t="t" r="r" b="b"/>
              <a:pathLst>
                <a:path w="320040" h="9525">
                  <a:moveTo>
                    <a:pt x="0" y="0"/>
                  </a:moveTo>
                  <a:lnTo>
                    <a:pt x="32004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711518" y="4663440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1594485" y="4511040"/>
              <a:ext cx="800100" cy="381000"/>
            </a:xfrm>
            <a:prstGeom prst="roundRect">
              <a:avLst>
                <a:gd name="adj" fmla="val 25000"/>
              </a:avLst>
            </a:prstGeom>
            <a:solidFill>
              <a:srgbClr val="E5F2EA"/>
            </a:solidFill>
            <a:ln w="17145">
              <a:solidFill>
                <a:srgbClr val="2E7D4F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3091815" y="4663440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920490" y="4053840"/>
              <a:ext cx="800100" cy="381000"/>
            </a:xfrm>
            <a:prstGeom prst="roundRect">
              <a:avLst>
                <a:gd name="adj" fmla="val 25000"/>
              </a:avLst>
            </a:prstGeom>
            <a:solidFill>
              <a:srgbClr val="E5F2EA"/>
            </a:solidFill>
            <a:ln w="17145">
              <a:solidFill>
                <a:srgbClr val="2E7D4F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920490" y="4968240"/>
              <a:ext cx="800100" cy="381000"/>
            </a:xfrm>
            <a:prstGeom prst="roundRect">
              <a:avLst>
                <a:gd name="adj" fmla="val 25000"/>
              </a:avLst>
            </a:prstGeom>
            <a:solidFill>
              <a:srgbClr val="E5F2EA"/>
            </a:solidFill>
            <a:ln w="17145">
              <a:solidFill>
                <a:srgbClr val="2E7D4F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5418772" y="4663440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5834062" y="470058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780249" y="4627245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部件1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06254" y="4170045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部件2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106254" y="5084445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部件3</a:t>
              </a:r>
            </a:p>
          </p:txBody>
        </p:sp>
      </p:grpSp>
      <p:grpSp>
        <p:nvGrpSpPr>
          <p:cNvPr id="37" name="c1-text-3"/>
          <p:cNvGrpSpPr/>
          <p:nvPr/>
        </p:nvGrpSpPr>
        <p:grpSpPr>
          <a:xfrm>
            <a:off x="526923" y="5627846"/>
            <a:ext cx="5109210" cy="500824"/>
            <a:chOff x="526923" y="5627846"/>
            <a:chExt cx="5109210" cy="500824"/>
          </a:xfrm>
        </p:grpSpPr>
        <p:sp>
          <p:nvSpPr>
            <p:cNvPr id="36" name="TextBox 36"/>
            <p:cNvSpPr txBox="1"/>
            <p:nvPr/>
          </p:nvSpPr>
          <p:spPr>
            <a:xfrm>
              <a:off x="526923" y="5627846"/>
              <a:ext cx="510921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例：部件1 与（部件2 并联部件3）串联，φ(S) = S₁·[1 − (1 − S₂)(1 −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S₃)]。</a:t>
              </a:r>
            </a:p>
          </p:txBody>
        </p:sp>
      </p:grpSp>
      <p:grpSp>
        <p:nvGrpSpPr>
          <p:cNvPr id="39" name="c2-text-1"/>
          <p:cNvGrpSpPr/>
          <p:nvPr/>
        </p:nvGrpSpPr>
        <p:grpSpPr>
          <a:xfrm>
            <a:off x="6240780" y="1548765"/>
            <a:ext cx="5053965" cy="588645"/>
            <a:chOff x="6240780" y="1548765"/>
            <a:chExt cx="5053965" cy="588645"/>
          </a:xfrm>
        </p:grpSpPr>
        <p:sp>
          <p:nvSpPr>
            <p:cNvPr id="38" name="TextBox 38"/>
            <p:cNvSpPr txBox="1"/>
            <p:nvPr/>
          </p:nvSpPr>
          <p:spPr>
            <a:xfrm>
              <a:off x="6240780" y="1548765"/>
              <a:ext cx="505396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：记 S = (S₁, …, Sₙ)，X = φ(S)，对 S 独立抽取 N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个点 S⁽ʲ⁾，j = 1, …, N：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formula378"/>
              <p:cNvSpPr txBox="1">
                <a:spLocks noGrp="1"/>
              </p:cNvSpPr>
              <p:nvPr/>
            </p:nvSpPr>
            <p:spPr>
              <a:xfrm>
                <a:off x="6248400" y="2268855"/>
                <a:ext cx="5410200" cy="8667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</m:acc>
                        </m:e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42" name="c2-text-3"/>
          <p:cNvGrpSpPr/>
          <p:nvPr/>
        </p:nvGrpSpPr>
        <p:grpSpPr>
          <a:xfrm>
            <a:off x="6240780" y="3350895"/>
            <a:ext cx="5158740" cy="1179195"/>
            <a:chOff x="6240780" y="3350895"/>
            <a:chExt cx="5158740" cy="1179195"/>
          </a:xfrm>
        </p:grpSpPr>
        <p:sp>
          <p:nvSpPr>
            <p:cNvPr id="41" name="TextBox 41"/>
            <p:cNvSpPr txBox="1"/>
            <p:nvPr/>
          </p:nvSpPr>
          <p:spPr>
            <a:xfrm>
              <a:off x="6240780" y="3350895"/>
              <a:ext cx="5158740" cy="11791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控制变量法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：令 Y = Σ(Sᵢ − pᵢ)，则 EY = 0，且 Y 与 X 正相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关（正常的部件越多，系统越可能正常）。用一个小的抽样先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近似估计 Cov(X, Y)、Var(Y)，得到 b 的近似值，则方差缩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减的估计量为</a:t>
              </a:r>
            </a:p>
          </p:txBody>
        </p:sp>
      </p:grpSp>
      <p:grpSp>
        <p:nvGrpSpPr>
          <p:cNvPr id="47" name="c2-card-4"/>
          <p:cNvGrpSpPr/>
          <p:nvPr/>
        </p:nvGrpSpPr>
        <p:grpSpPr>
          <a:xfrm>
            <a:off x="6248400" y="4661535"/>
            <a:ext cx="5410200" cy="1657350"/>
            <a:chOff x="6248400" y="4661535"/>
            <a:chExt cx="5410200" cy="1657350"/>
          </a:xfrm>
        </p:grpSpPr>
        <p:sp>
          <p:nvSpPr>
            <p:cNvPr id="43" name="Rectangle 43"/>
            <p:cNvSpPr/>
            <p:nvPr/>
          </p:nvSpPr>
          <p:spPr>
            <a:xfrm>
              <a:off x="6248400" y="4661535"/>
              <a:ext cx="5410200" cy="1657350"/>
            </a:xfrm>
            <a:prstGeom prst="roundRect">
              <a:avLst>
                <a:gd name="adj" fmla="val 8046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57950" y="487108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31407" y="490680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控制变量估计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formula379"/>
                <p:cNvSpPr txBox="1">
                  <a:spLocks noGrp="1"/>
                </p:cNvSpPr>
                <p:nvPr/>
              </p:nvSpPr>
              <p:spPr>
                <a:xfrm>
                  <a:off x="6457950" y="5223510"/>
                  <a:ext cx="4991100" cy="866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</m:acc>
                          </m:e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ϕ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S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9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9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e>
                                            <m:r>
                                              <a:rPr lang="zh-CN" sz="19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S</m:t>
                                            </m:r>
                                          </m:e>
                                          <m:sub>
                                            <m:r>
                                              <a:rPr lang="zh-CN" sz="19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i</m:t>
                                            </m:r>
                                          </m:sub>
                                          <m:sup>
                                            <m:d>
                                              <m:dPr>
                                                <m:begChr m:val="("/>
                                                <m:sepChr m:val=""/>
                                                <m:endChr m:val=")"/>
                                                <m:grow m:val="on"/>
                                                <m:ctrlPr>
                                                  <a:rPr lang="zh-CN" sz="1950" dirty="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zh-CN" sz="1950" dirty="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j</m:t>
                                                </m:r>
                                              </m:e>
                                            </m:d>
                                          </m:sup>
                                        </m:sSubSup>
                                        <m:r>
                                          <m:rPr>
                                            <m:sty m:val="p"/>
                                          </m:rP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sSub>
                                          <m:e>
                                            <m:r>
                                              <a:rPr lang="zh-CN" sz="19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p</m:t>
                                            </m:r>
                                          </m:e>
                                          <m:sub>
                                            <m:r>
                                              <a:rPr lang="zh-CN" sz="19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i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757811" cy="909257"/>
            <a:chOff x="520446" y="342900"/>
            <a:chExt cx="87578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7578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3.5.2 对立变量法：单调函数下 g(U) 与 g(1−U) 负相关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1621155"/>
            <a:chOff x="533400" y="1524000"/>
            <a:chExt cx="4760595" cy="1621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8229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896" y="1769269"/>
              <a:ext cx="661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定理14.1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131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g 为单调函数，U ~ U(0,1)，则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382"/>
                <p:cNvSpPr txBox="1">
                  <a:spLocks noGrp="1"/>
                </p:cNvSpPr>
                <p:nvPr/>
              </p:nvSpPr>
              <p:spPr>
                <a:xfrm>
                  <a:off x="781050" y="2421255"/>
                  <a:ext cx="4303395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Cov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9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9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9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0" name="c1-card-2"/>
          <p:cNvGrpSpPr/>
          <p:nvPr/>
        </p:nvGrpSpPr>
        <p:grpSpPr>
          <a:xfrm>
            <a:off x="533400" y="3335655"/>
            <a:ext cx="4760595" cy="1811655"/>
            <a:chOff x="533400" y="3335655"/>
            <a:chExt cx="4760595" cy="1811655"/>
          </a:xfrm>
        </p:grpSpPr>
        <p:sp>
          <p:nvSpPr>
            <p:cNvPr id="14" name="Rectangle 14"/>
            <p:cNvSpPr/>
            <p:nvPr/>
          </p:nvSpPr>
          <p:spPr>
            <a:xfrm>
              <a:off x="533400" y="3335655"/>
              <a:ext cx="4760595" cy="1811655"/>
            </a:xfrm>
            <a:prstGeom prst="roundRect">
              <a:avLst>
                <a:gd name="adj" fmla="val 73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69005"/>
              <a:ext cx="47625" cy="15449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545205"/>
              <a:ext cx="8229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1896" y="3580924"/>
              <a:ext cx="661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定理14.2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3922395"/>
              <a:ext cx="4149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h(x₁, …, xₙ) 是关于每个自变量单调的函数，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U₁, …, Uₙ 相互独立，均服从 U(0,1)，则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383"/>
                <p:cNvSpPr txBox="1">
                  <a:spLocks noGrp="1"/>
                </p:cNvSpPr>
                <p:nvPr/>
              </p:nvSpPr>
              <p:spPr>
                <a:xfrm>
                  <a:off x="781050" y="4518660"/>
                  <a:ext cx="430339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Cov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,…,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,…,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7" name="c1-callout-3"/>
          <p:cNvGrpSpPr/>
          <p:nvPr/>
        </p:nvGrpSpPr>
        <p:grpSpPr>
          <a:xfrm>
            <a:off x="533400" y="5337810"/>
            <a:ext cx="4760595" cy="782955"/>
            <a:chOff x="533400" y="5337810"/>
            <a:chExt cx="4760595" cy="782955"/>
          </a:xfrm>
        </p:grpSpPr>
        <p:sp>
          <p:nvSpPr>
            <p:cNvPr id="21" name="Rectangle 21"/>
            <p:cNvSpPr/>
            <p:nvPr/>
          </p:nvSpPr>
          <p:spPr>
            <a:xfrm>
              <a:off x="533400" y="5337810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629275"/>
              <a:ext cx="200026" cy="200025"/>
              <a:chOff x="738188" y="5629275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6292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56737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57848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5486400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直观理解：U 大时 1 − U 小，单调函数的两个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值一个偏大一个偏小，平均后波动互相抵消。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5598795" y="1524000"/>
            <a:ext cx="6059805" cy="4596765"/>
            <a:chOff x="5598795" y="1524000"/>
            <a:chExt cx="6059805" cy="4596765"/>
          </a:xfrm>
        </p:grpSpPr>
        <p:sp>
          <p:nvSpPr>
            <p:cNvPr id="28" name="Rectangle 28"/>
            <p:cNvSpPr/>
            <p:nvPr/>
          </p:nvSpPr>
          <p:spPr>
            <a:xfrm>
              <a:off x="5598795" y="1524000"/>
              <a:ext cx="6059805" cy="4596765"/>
            </a:xfrm>
            <a:prstGeom prst="roundRect">
              <a:avLst>
                <a:gd name="adj" fmla="val 290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808345" y="1733550"/>
              <a:ext cx="12944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875503" y="1769269"/>
              <a:ext cx="1161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定理14.1 的证明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941695" y="2238375"/>
              <a:ext cx="19050" cy="26565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5808345" y="209550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01969" y="21693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5808345" y="29813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901969" y="30551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808345" y="386619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01969" y="39400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5808345" y="47520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901969" y="48258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19825" y="212979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单调性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20968" y="2423636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对任意 u₁, u₂ ∈ [0, 1]，由 g 单调知 (g(u₁) − g(u₂))(g(1−u₁) −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g(1−u₂)) ≤ 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19825" y="3015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引入独立副本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20968" y="3308509"/>
              <a:ext cx="465404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U₂ ~ U(0,1) 且与 U 独立，令 X₁ = g(U)，Y₁ = g(1−U)，X₂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g(U₂)，Y₂ = g(1−U₂)，四者分布相同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19825" y="390048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展开协方差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20968" y="4194334"/>
              <a:ext cx="47353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E(X₁−X₂)(Y₁−Y₂) = Cov(X₁,Y₁) + Cov(X₂,Y₂) − Cov(X₁,Y₂) 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Cov(X₂,Y₁) = 2Cov(X₁,Y₁)，独立的两项协方差为 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19825" y="478631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得结论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20968" y="5080159"/>
              <a:ext cx="43207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由第一步 (X₁−X₂)(Y₁−Y₂) ≤ 0，所以 Cov(X₁, Y₁) ≤ 0，即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Cov(g(U), g(1−U)) ≤ 0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509046" cy="909257"/>
            <a:chOff x="520446" y="342900"/>
            <a:chExt cx="95090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5090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定理14.3 对立变量法：成对平均的方差不超过单个样本的一半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957388"/>
            <a:chOff x="533400" y="1524000"/>
            <a:chExt cx="5626418" cy="19573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57388"/>
            </a:xfrm>
            <a:prstGeom prst="roundRect">
              <a:avLst>
                <a:gd name="adj" fmla="val 68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9068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71735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4101" y="1756410"/>
              <a:ext cx="16093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定理14.3（对立变量法）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55904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F(x) 为连续分布函数，U ~ U(0,1)，X = F⁻¹(U)，Y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F⁻¹(1 − U)，Z = (X + Y)/2，则 X 与 Y 同分布 F(x)，且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396"/>
                <p:cNvSpPr txBox="1">
                  <a:spLocks noGrp="1"/>
                </p:cNvSpPr>
                <p:nvPr/>
              </p:nvSpPr>
              <p:spPr>
                <a:xfrm>
                  <a:off x="769620" y="2648902"/>
                  <a:ext cx="5192078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Cov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Z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0" name="c1-card-2"/>
          <p:cNvGrpSpPr/>
          <p:nvPr/>
        </p:nvGrpSpPr>
        <p:grpSpPr>
          <a:xfrm>
            <a:off x="533400" y="3662362"/>
            <a:ext cx="5626418" cy="2664142"/>
            <a:chOff x="533400" y="3662362"/>
            <a:chExt cx="5626418" cy="2664142"/>
          </a:xfrm>
        </p:grpSpPr>
        <p:sp>
          <p:nvSpPr>
            <p:cNvPr id="14" name="Rectangle 14"/>
            <p:cNvSpPr/>
            <p:nvPr/>
          </p:nvSpPr>
          <p:spPr>
            <a:xfrm>
              <a:off x="533400" y="3662362"/>
              <a:ext cx="5626418" cy="2664142"/>
            </a:xfrm>
            <a:prstGeom prst="roundRect">
              <a:avLst>
                <a:gd name="adj" fmla="val 500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31520" y="386048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22960" y="389477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证明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221004"/>
              <a:ext cx="500087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 与 1 − U 同分布，所以 X 与 Y 同分布。取 g = F⁻¹（单调），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由定理14.1 得 Cov(X, Y) = Cov(g(U), g(1−U)) ≤ 0，从而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397"/>
                <p:cNvSpPr txBox="1">
                  <a:spLocks noGrp="1"/>
                </p:cNvSpPr>
                <p:nvPr/>
              </p:nvSpPr>
              <p:spPr>
                <a:xfrm>
                  <a:off x="731520" y="4786312"/>
                  <a:ext cx="5230178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Z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Cov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398"/>
                <p:cNvSpPr txBox="1">
                  <a:spLocks noGrp="1"/>
                </p:cNvSpPr>
                <p:nvPr/>
              </p:nvSpPr>
              <p:spPr>
                <a:xfrm>
                  <a:off x="731520" y="5493068"/>
                  <a:ext cx="5230178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l"/>
                  <a14:m>
                    <m:oMathPara xmlns:a="http://schemas.openxmlformats.org/drawingml/2006/main"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Var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Cov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7" name="c2-card-1"/>
          <p:cNvGrpSpPr/>
          <p:nvPr/>
        </p:nvGrpSpPr>
        <p:grpSpPr>
          <a:xfrm>
            <a:off x="6464618" y="1524000"/>
            <a:ext cx="5193982" cy="1978342"/>
            <a:chOff x="6464618" y="1524000"/>
            <a:chExt cx="5193982" cy="1978342"/>
          </a:xfrm>
        </p:grpSpPr>
        <p:sp>
          <p:nvSpPr>
            <p:cNvPr id="21" name="Rectangle 21"/>
            <p:cNvSpPr/>
            <p:nvPr/>
          </p:nvSpPr>
          <p:spPr>
            <a:xfrm>
              <a:off x="6464618" y="1524000"/>
              <a:ext cx="5193982" cy="1978342"/>
            </a:xfrm>
            <a:prstGeom prst="roundRect">
              <a:avLst>
                <a:gd name="adj" fmla="val 674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62738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42176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对立变量法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55498" y="2082641"/>
              <a:ext cx="45186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为了估计 I = EX，产生 N 个随机数 U₁, U₂, … 后，用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formula399"/>
                <p:cNvSpPr txBox="1">
                  <a:spLocks noGrp="1"/>
                </p:cNvSpPr>
                <p:nvPr/>
              </p:nvSpPr>
              <p:spPr>
                <a:xfrm>
                  <a:off x="6662738" y="2377440"/>
                  <a:ext cx="4797742" cy="59150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Z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p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sub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,…,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6" name="TextBox 26"/>
            <p:cNvSpPr txBox="1"/>
            <p:nvPr/>
          </p:nvSpPr>
          <p:spPr>
            <a:xfrm>
              <a:off x="6655498" y="3081814"/>
              <a:ext cx="31942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的样本平均值估计 I，可以提高精度。</a:t>
              </a:r>
            </a:p>
          </p:txBody>
        </p:sp>
      </p:grpSp>
      <p:grpSp>
        <p:nvGrpSpPr>
          <p:cNvPr id="34" name="c2-callout-2"/>
          <p:cNvGrpSpPr/>
          <p:nvPr/>
        </p:nvGrpSpPr>
        <p:grpSpPr>
          <a:xfrm>
            <a:off x="6464618" y="3682365"/>
            <a:ext cx="5193982" cy="1018222"/>
            <a:chOff x="6464618" y="3682365"/>
            <a:chExt cx="5193982" cy="1018222"/>
          </a:xfrm>
        </p:grpSpPr>
        <p:sp>
          <p:nvSpPr>
            <p:cNvPr id="28" name="Rectangle 28"/>
            <p:cNvSpPr/>
            <p:nvPr/>
          </p:nvSpPr>
          <p:spPr>
            <a:xfrm>
              <a:off x="6464618" y="3682365"/>
              <a:ext cx="5193982" cy="1018222"/>
            </a:xfrm>
            <a:prstGeom prst="roundRect">
              <a:avLst>
                <a:gd name="adj" fmla="val 1122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657347" y="4088248"/>
              <a:ext cx="224134" cy="192560"/>
              <a:chOff x="6657347" y="4088248"/>
              <a:chExt cx="224134" cy="19256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6769418" y="415861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657347" y="408824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769418" y="42364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971729" y="3829526"/>
              <a:ext cx="4225417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公平比较：每个 Zᵢ 要算两次函数值。Var(Z) ≤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Var(X)/2 说明它不比 2N 个独立样本差；Cov 越负，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收益越大。</a:t>
              </a:r>
            </a:p>
          </p:txBody>
        </p:sp>
      </p:grpSp>
      <p:grpSp>
        <p:nvGrpSpPr>
          <p:cNvPr id="41" name="c2-callout-3"/>
          <p:cNvGrpSpPr/>
          <p:nvPr/>
        </p:nvGrpSpPr>
        <p:grpSpPr>
          <a:xfrm>
            <a:off x="6464618" y="4881562"/>
            <a:ext cx="5193982" cy="1444942"/>
            <a:chOff x="6464618" y="4881562"/>
            <a:chExt cx="5193982" cy="1444942"/>
          </a:xfrm>
        </p:grpSpPr>
        <p:sp>
          <p:nvSpPr>
            <p:cNvPr id="35" name="Rectangle 35"/>
            <p:cNvSpPr/>
            <p:nvPr/>
          </p:nvSpPr>
          <p:spPr>
            <a:xfrm>
              <a:off x="6464618" y="4881562"/>
              <a:ext cx="5193982" cy="1444942"/>
            </a:xfrm>
            <a:prstGeom prst="roundRect">
              <a:avLst>
                <a:gd name="adj" fmla="val 791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6669405" y="5503545"/>
              <a:ext cx="200026" cy="200026"/>
              <a:chOff x="6669405" y="5503545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669405" y="5503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769418" y="5570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758305" y="5603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6971729" y="5242084"/>
              <a:ext cx="4288536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定理14.2 把结论推广到多元：只要 h 对每个自变量单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调，就可以用 (U₁, …, Uₙ) 与 (1 − U₁, …, 1 − Uₙ) 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对抽样。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28664" cy="909257"/>
            <a:chOff x="520446" y="342900"/>
            <a:chExt cx="57286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286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例14.3 用对立变量法再算 ∫₀¹ eᵗ dt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5215890" cy="588645"/>
            <a:chOff x="525780" y="1548765"/>
            <a:chExt cx="5215890" cy="58864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21589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U ~ U(0,1)，X = exp(U)，令 Y = exp(1 − U)。指数函数单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调，所以 X 与 Y 负相关。</a:t>
              </a:r>
            </a:p>
          </p:txBody>
        </p:sp>
      </p:grpSp>
      <p:grpSp>
        <p:nvGrpSpPr>
          <p:cNvPr id="13" name="c1-card-2"/>
          <p:cNvGrpSpPr/>
          <p:nvPr/>
        </p:nvGrpSpPr>
        <p:grpSpPr>
          <a:xfrm>
            <a:off x="533400" y="2268855"/>
            <a:ext cx="5410200" cy="1607820"/>
            <a:chOff x="533400" y="2268855"/>
            <a:chExt cx="5410200" cy="1607820"/>
          </a:xfrm>
        </p:grpSpPr>
        <p:sp>
          <p:nvSpPr>
            <p:cNvPr id="9" name="Rectangle 9"/>
            <p:cNvSpPr/>
            <p:nvPr/>
          </p:nvSpPr>
          <p:spPr>
            <a:xfrm>
              <a:off x="533400" y="2268855"/>
              <a:ext cx="5410200" cy="1607820"/>
            </a:xfrm>
            <a:prstGeom prst="roundRect">
              <a:avLst>
                <a:gd name="adj" fmla="val 8294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42950" y="247840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6407" y="251412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对立变量估计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402"/>
                <p:cNvSpPr txBox="1">
                  <a:spLocks noGrp="1"/>
                </p:cNvSpPr>
                <p:nvPr/>
              </p:nvSpPr>
              <p:spPr>
                <a:xfrm>
                  <a:off x="742950" y="2830830"/>
                  <a:ext cx="4991100" cy="81724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</m:acc>
                          </m:e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sSub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  <m:sub>
                                        <m: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p>
                                  <m:e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9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  <m:sub>
                                        <m:r>
                                          <a:rPr lang="zh-CN" sz="19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sup>
                                </m:sSup>
                              </m:num>
                              <m:den>
                                <m:r>
                                  <a:rPr lang="zh-CN" sz="19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403"/>
              <p:cNvSpPr txBox="1">
                <a:spLocks noGrp="1"/>
              </p:cNvSpPr>
              <p:nvPr/>
            </p:nvSpPr>
            <p:spPr>
              <a:xfrm>
                <a:off x="533400" y="4067175"/>
                <a:ext cx="5410200" cy="12630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⋅</m:t>
                          </m:r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Cov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,</m:t>
                                  </m:r>
                                  <m:sSup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den>
                              </m:f>
                              <m:sSup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≈</m:t>
                          </m:r>
                          <m:f>
                            <m:fPr>
                              <m:type m:val="bar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0.00391</m:t>
                              </m:r>
                            </m:num>
                            <m:den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16" name="c1-text-4"/>
          <p:cNvGrpSpPr/>
          <p:nvPr/>
        </p:nvGrpSpPr>
        <p:grpSpPr>
          <a:xfrm>
            <a:off x="526923" y="5542121"/>
            <a:ext cx="4922266" cy="500824"/>
            <a:chOff x="526923" y="5542121"/>
            <a:chExt cx="4922266" cy="500824"/>
          </a:xfrm>
        </p:grpSpPr>
        <p:sp>
          <p:nvSpPr>
            <p:cNvPr id="15" name="TextBox 15"/>
            <p:cNvSpPr txBox="1"/>
            <p:nvPr/>
          </p:nvSpPr>
          <p:spPr>
            <a:xfrm>
              <a:off x="526923" y="5542121"/>
              <a:ext cx="4922266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 Cov(exp(U), exp(1 − U)) = E(e) − (e − 1)² = e − (e − 1)² 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−0.2342。</a:t>
              </a:r>
            </a:p>
          </p:txBody>
        </p:sp>
      </p:grpSp>
      <p:grpSp>
        <p:nvGrpSpPr>
          <p:cNvPr id="43" name="c2-table-1"/>
          <p:cNvGrpSpPr/>
          <p:nvPr/>
        </p:nvGrpSpPr>
        <p:grpSpPr>
          <a:xfrm>
            <a:off x="6248400" y="1524000"/>
            <a:ext cx="5410200" cy="2244090"/>
            <a:chOff x="6248400" y="1524000"/>
            <a:chExt cx="5410200" cy="2244090"/>
          </a:xfrm>
        </p:grpSpPr>
        <p:sp>
          <p:nvSpPr>
            <p:cNvPr id="17" name="Rectangle 17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26742" y="1659731"/>
              <a:ext cx="13350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∫₀¹ eˣdx 的方法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805399" y="1659731"/>
              <a:ext cx="13001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每样本算几次 eˣ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73424" y="1659731"/>
              <a:ext cx="6825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 × 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56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0160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23916" y="210835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0.2420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56223" y="2556986"/>
              <a:ext cx="16171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重要抽样（例12.1）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0160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6529" y="255698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0.02691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48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56223" y="3005614"/>
              <a:ext cx="1789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控制变量法（例14.1）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0160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380345" y="2880360"/>
              <a:ext cx="126873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676529" y="300561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0.00394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33147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8400" y="331946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6223" y="3454241"/>
              <a:ext cx="1789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对立变量法（例14.3）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401604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0380345" y="3328988"/>
              <a:ext cx="126873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676529" y="345424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0.00391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8535352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66058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llout-2"/>
          <p:cNvGrpSpPr/>
          <p:nvPr/>
        </p:nvGrpSpPr>
        <p:grpSpPr>
          <a:xfrm>
            <a:off x="6248400" y="3958590"/>
            <a:ext cx="5410200" cy="782955"/>
            <a:chOff x="6248400" y="3958590"/>
            <a:chExt cx="5410200" cy="782955"/>
          </a:xfrm>
        </p:grpSpPr>
        <p:sp>
          <p:nvSpPr>
            <p:cNvPr id="44" name="Rectangle 44"/>
            <p:cNvSpPr/>
            <p:nvPr/>
          </p:nvSpPr>
          <p:spPr>
            <a:xfrm>
              <a:off x="6248400" y="395859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53188" y="4250057"/>
              <a:ext cx="200023" cy="200023"/>
              <a:chOff x="6453188" y="4250057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453188" y="425005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86538" y="43167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130" y="4107180"/>
              <a:ext cx="43395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按函数计算次数折算，平均值法用 2N 个点时方差为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0.1210/N，对立变量法把它降到约 1/31。</a:t>
              </a:r>
            </a:p>
          </p:txBody>
        </p:sp>
      </p:grpSp>
      <p:grpSp>
        <p:nvGrpSpPr>
          <p:cNvPr id="56" name="c2-callout-3"/>
          <p:cNvGrpSpPr/>
          <p:nvPr/>
        </p:nvGrpSpPr>
        <p:grpSpPr>
          <a:xfrm>
            <a:off x="6248400" y="4932045"/>
            <a:ext cx="5410200" cy="1060132"/>
            <a:chOff x="6248400" y="4932045"/>
            <a:chExt cx="5410200" cy="1060132"/>
          </a:xfrm>
        </p:grpSpPr>
        <p:sp>
          <p:nvSpPr>
            <p:cNvPr id="50" name="Rectangle 50"/>
            <p:cNvSpPr/>
            <p:nvPr/>
          </p:nvSpPr>
          <p:spPr>
            <a:xfrm>
              <a:off x="6248400" y="4932045"/>
              <a:ext cx="5410200" cy="1060132"/>
            </a:xfrm>
            <a:prstGeom prst="roundRect">
              <a:avLst>
                <a:gd name="adj" fmla="val 1078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453188" y="5361623"/>
              <a:ext cx="200026" cy="200026"/>
              <a:chOff x="6453188" y="5361623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453188" y="53616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53200" y="54282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542088" y="54616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755130" y="5218748"/>
              <a:ext cx="4472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eˣ 在 [0, 1] 上接近线性，exp(U) 与 exp(1 − U)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相关系数接近 −1，所以对立变量法在这里特别有效。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32955" cy="909257"/>
            <a:chOff x="520446" y="342900"/>
            <a:chExt cx="573295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3295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例14.4 用对立变量法估计系统可靠度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161" y="1547336"/>
            <a:ext cx="3256270" cy="278702"/>
            <a:chOff x="526161" y="1547336"/>
            <a:chExt cx="325627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32562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{Uₖ} 为标准均匀分布随机数列，取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410"/>
              <p:cNvSpPr txBox="1">
                <a:spLocks noGrp="1"/>
              </p:cNvSpPr>
              <p:nvPr/>
            </p:nvSpPr>
            <p:spPr>
              <a:xfrm>
                <a:off x="533400" y="1955482"/>
                <a:ext cx="5626418" cy="9048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e>
                          </m:d>
                        </m:sup>
                      </m:sSubSup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j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8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m:rPr>
                                  <m:nor m:val="on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其他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161" y="3069431"/>
            <a:ext cx="5334508" cy="838772"/>
            <a:chOff x="526161" y="3069431"/>
            <a:chExt cx="5334508" cy="838772"/>
          </a:xfrm>
        </p:grpSpPr>
        <p:sp>
          <p:nvSpPr>
            <p:cNvPr id="10" name="TextBox 10"/>
            <p:cNvSpPr txBox="1"/>
            <p:nvPr/>
          </p:nvSpPr>
          <p:spPr>
            <a:xfrm>
              <a:off x="526161" y="3069431"/>
              <a:ext cx="5334508" cy="8387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0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 Sᵢ⁽ʲ⁾ 是第 n(j − 1) + i 个随机数的单调非增函数。令 h(U₁, …,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Uₙ) = φ(S₁, …, Sₙ)，φ 单调不减，所以 h 关于每个自变量单调非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增。由定理14.2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411"/>
              <p:cNvSpPr txBox="1">
                <a:spLocks noGrp="1"/>
              </p:cNvSpPr>
              <p:nvPr/>
            </p:nvSpPr>
            <p:spPr>
              <a:xfrm>
                <a:off x="533400" y="4038600"/>
                <a:ext cx="5626418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Cov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,…,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7" name="c1-card-5"/>
          <p:cNvGrpSpPr/>
          <p:nvPr/>
        </p:nvGrpSpPr>
        <p:grpSpPr>
          <a:xfrm>
            <a:off x="533400" y="4699635"/>
            <a:ext cx="5626418" cy="1542098"/>
            <a:chOff x="533400" y="4699635"/>
            <a:chExt cx="5626418" cy="1542098"/>
          </a:xfrm>
        </p:grpSpPr>
        <p:sp>
          <p:nvSpPr>
            <p:cNvPr id="13" name="Rectangle 13"/>
            <p:cNvSpPr/>
            <p:nvPr/>
          </p:nvSpPr>
          <p:spPr>
            <a:xfrm>
              <a:off x="533400" y="4699635"/>
              <a:ext cx="5626418" cy="1542098"/>
            </a:xfrm>
            <a:prstGeom prst="roundRect">
              <a:avLst>
                <a:gd name="adj" fmla="val 864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490347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0692" y="493918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对立变量估计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412"/>
                <p:cNvSpPr txBox="1">
                  <a:spLocks noGrp="1"/>
                </p:cNvSpPr>
                <p:nvPr/>
              </p:nvSpPr>
              <p:spPr>
                <a:xfrm>
                  <a:off x="737235" y="5253038"/>
                  <a:ext cx="5218748" cy="76676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R</m:t>
                                </m:r>
                              </m:e>
                            </m:acc>
                          </m:e>
                          <m:sub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Sup>
                                      <m:e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  <m:sub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,…,</m:t>
                                    </m:r>
                                    <m:sSubSup>
                                      <m:e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  <m:sub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n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Sup>
                                      <m:e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  <m:sub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,…,</m:t>
                                    </m:r>
                                    <m: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Sup>
                                      <m:e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  <m:sub>
                                        <m:r>
                                          <a:rPr lang="zh-CN" sz="172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n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72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j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</m:e>
                                </m:d>
                              </m:num>
                              <m:den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9" name="c2-card-1"/>
          <p:cNvGrpSpPr/>
          <p:nvPr/>
        </p:nvGrpSpPr>
        <p:grpSpPr>
          <a:xfrm>
            <a:off x="6464618" y="1524000"/>
            <a:ext cx="5193982" cy="3387090"/>
            <a:chOff x="6464618" y="1524000"/>
            <a:chExt cx="5193982" cy="3387090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3387090"/>
            </a:xfrm>
            <a:prstGeom prst="roundRect">
              <a:avLst>
                <a:gd name="adj" fmla="val 39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474142" y="1657350"/>
              <a:ext cx="47625" cy="31203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06552" y="172783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72110" y="176355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数值对比（补充）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61401" y="1767364"/>
              <a:ext cx="27394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部件1 与（部件2 ∥ 部件3）串联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99314" y="2119789"/>
              <a:ext cx="417131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= (0.9, 0.8, 0.7)，R = 0.9 × [1 − 0.2 × 0.3]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0.846。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706552" y="2687002"/>
              <a:ext cx="4748212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810690" y="281844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估计量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61232" y="281844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每个样本的方差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11899" y="3248977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516046" y="3248977"/>
              <a:ext cx="14374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0.1303 = R(1 − R)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706552" y="3543300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06552" y="3548062"/>
              <a:ext cx="474821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11899" y="3678555"/>
              <a:ext cx="19911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控制变量法（b ≈ −0.360）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516046" y="367855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0.0707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706552" y="3972878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11899" y="4109085"/>
              <a:ext cx="21284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对立变量法（每对算 2 次 φ）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16046" y="410908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0.0593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706552" y="2687002"/>
              <a:ext cx="4748212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405938" y="2687002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00456" y="4520565"/>
              <a:ext cx="4258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控制变量和对立变量的方差由 2×10⁶ 次 Python 模拟估计。</a:t>
              </a:r>
            </a:p>
          </p:txBody>
        </p:sp>
      </p:grpSp>
      <p:grpSp>
        <p:nvGrpSpPr>
          <p:cNvPr id="46" name="c2-callout-2"/>
          <p:cNvGrpSpPr/>
          <p:nvPr/>
        </p:nvGrpSpPr>
        <p:grpSpPr>
          <a:xfrm>
            <a:off x="6464618" y="5096828"/>
            <a:ext cx="5193982" cy="1145858"/>
            <a:chOff x="6464618" y="5096828"/>
            <a:chExt cx="5193982" cy="1145858"/>
          </a:xfrm>
        </p:grpSpPr>
        <p:sp>
          <p:nvSpPr>
            <p:cNvPr id="40" name="Rectangle 40"/>
            <p:cNvSpPr/>
            <p:nvPr/>
          </p:nvSpPr>
          <p:spPr>
            <a:xfrm>
              <a:off x="6464618" y="5096828"/>
              <a:ext cx="5193982" cy="1145858"/>
            </a:xfrm>
            <a:prstGeom prst="roundRect">
              <a:avLst>
                <a:gd name="adj" fmla="val 997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669405" y="5569268"/>
              <a:ext cx="200026" cy="200026"/>
              <a:chOff x="6669405" y="5569268"/>
              <a:chExt cx="200026" cy="20002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669405" y="55692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769418" y="56359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758305" y="566928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971729" y="5307806"/>
              <a:ext cx="4297553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2 个独立样本的平均（方差 0.0651）相比，对立变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量法只小一些：φ 只取 0、1，单调带来的负相关有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72706" cy="909257"/>
            <a:chOff x="520446" y="342900"/>
            <a:chExt cx="70727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727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3.5.3 条件期望法：用 E(Y|X) 代替 Y 求平均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4598670" cy="293370"/>
            <a:chOff x="525780" y="1548765"/>
            <a:chExt cx="45986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598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设变量 X 与 Y 不独立。根据 Rao-Blackwell 不等式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416"/>
              <p:cNvSpPr txBox="1">
                <a:spLocks noGrp="1"/>
              </p:cNvSpPr>
              <p:nvPr/>
            </p:nvSpPr>
            <p:spPr>
              <a:xfrm>
                <a:off x="533400" y="1973580"/>
                <a:ext cx="4977765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5780" y="2684145"/>
            <a:ext cx="217170" cy="293370"/>
            <a:chOff x="525780" y="2684145"/>
            <a:chExt cx="217170" cy="293370"/>
          </a:xfrm>
        </p:grpSpPr>
        <p:sp>
          <p:nvSpPr>
            <p:cNvPr id="10" name="TextBox 10"/>
            <p:cNvSpPr txBox="1"/>
            <p:nvPr/>
          </p:nvSpPr>
          <p:spPr>
            <a:xfrm>
              <a:off x="525780" y="268414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又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417"/>
              <p:cNvSpPr txBox="1">
                <a:spLocks noGrp="1"/>
              </p:cNvSpPr>
              <p:nvPr/>
            </p:nvSpPr>
            <p:spPr>
              <a:xfrm>
                <a:off x="533400" y="3108960"/>
                <a:ext cx="4977765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{"/>
                          <m:sepChr m:val=""/>
                          <m:endChr m:val="}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EY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18" name="c1-card-5"/>
          <p:cNvGrpSpPr/>
          <p:nvPr/>
        </p:nvGrpSpPr>
        <p:grpSpPr>
          <a:xfrm>
            <a:off x="533400" y="3794760"/>
            <a:ext cx="4977765" cy="2528888"/>
            <a:chOff x="533400" y="3794760"/>
            <a:chExt cx="4977765" cy="2528888"/>
          </a:xfrm>
        </p:grpSpPr>
        <p:sp>
          <p:nvSpPr>
            <p:cNvPr id="13" name="Rectangle 13"/>
            <p:cNvSpPr/>
            <p:nvPr/>
          </p:nvSpPr>
          <p:spPr>
            <a:xfrm>
              <a:off x="533400" y="3794760"/>
              <a:ext cx="4977765" cy="2528888"/>
            </a:xfrm>
            <a:prstGeom prst="roundRect">
              <a:avLst>
                <a:gd name="adj" fmla="val 527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004310"/>
              <a:ext cx="2520315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7575" y="4040029"/>
              <a:ext cx="2471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条件期望法（Rao-Blackwell 方法）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381500"/>
              <a:ext cx="4006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 Z = E(Y|X) 抽样，用 Z 的样本平均值估计 I =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EY，比直接用 Y 的样本平均值精度更高。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6473" y="4999196"/>
              <a:ext cx="33698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前提是 E(Y|X) 能写出解析式；缩小的方差正是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E[Var(Y|X)]。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5815965" y="1524000"/>
            <a:ext cx="5842635" cy="1316355"/>
            <a:chOff x="5815965" y="1524000"/>
            <a:chExt cx="5842635" cy="1316355"/>
          </a:xfrm>
        </p:grpSpPr>
        <p:sp>
          <p:nvSpPr>
            <p:cNvPr id="19" name="Rectangle 19"/>
            <p:cNvSpPr/>
            <p:nvPr/>
          </p:nvSpPr>
          <p:spPr>
            <a:xfrm>
              <a:off x="5815965" y="1524000"/>
              <a:ext cx="5842635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825490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063615" y="1733550"/>
              <a:ext cx="68008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48411" y="1769269"/>
              <a:ext cx="5104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例14.5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55995" y="2110740"/>
              <a:ext cx="5177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 ~ p(x)，ε ~ N(0, σ²) 且与 X 独立，Y = ψ(X) + ε，估计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EY。</a:t>
              </a:r>
            </a:p>
          </p:txBody>
        </p:sp>
      </p:grpSp>
      <p:grpSp>
        <p:nvGrpSpPr>
          <p:cNvPr id="34" name="c2-steps-2"/>
          <p:cNvGrpSpPr/>
          <p:nvPr/>
        </p:nvGrpSpPr>
        <p:grpSpPr>
          <a:xfrm>
            <a:off x="5815965" y="3040380"/>
            <a:ext cx="5619548" cy="1462373"/>
            <a:chOff x="5815965" y="3040380"/>
            <a:chExt cx="5619548" cy="1462373"/>
          </a:xfrm>
        </p:grpSpPr>
        <p:sp>
          <p:nvSpPr>
            <p:cNvPr id="25" name="Rectangle 25"/>
            <p:cNvSpPr/>
            <p:nvPr/>
          </p:nvSpPr>
          <p:spPr>
            <a:xfrm>
              <a:off x="5949315" y="3183255"/>
              <a:ext cx="19050" cy="885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5815965" y="304038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909589" y="31141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815965" y="392620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09589" y="40000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27445" y="3074670"/>
              <a:ext cx="1205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法1 平均值法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28588" y="3368516"/>
              <a:ext cx="48653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用条件分布抽样法对 (X, Y) 抽样：从 p 抽 N 个 Xᵢ，独立地从 N(0,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σ²) 抽 N 个 εᵢ，令 Yᵢ = ψ(Xᵢ) + εᵢ，用 Yᵢ 的样本平均值估计 EY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227445" y="3960495"/>
              <a:ext cx="14070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法2 条件期望法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28588" y="4253389"/>
              <a:ext cx="52069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注意 E(Y|X) = ψ(X)，只对 X 抽样，用 ψ(Xᵢ) 的样本平均值估计 EY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formula418"/>
              <p:cNvSpPr txBox="1">
                <a:spLocks noGrp="1"/>
              </p:cNvSpPr>
              <p:nvPr/>
            </p:nvSpPr>
            <p:spPr>
              <a:xfrm>
                <a:off x="5815965" y="4681538"/>
                <a:ext cx="5842635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acc>
                                <m:accPr>
                                  <m:chr m:val="ˆ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ψ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42" name="c2-callout-4"/>
          <p:cNvGrpSpPr/>
          <p:nvPr/>
        </p:nvGrpSpPr>
        <p:grpSpPr>
          <a:xfrm>
            <a:off x="5815965" y="5540692"/>
            <a:ext cx="5842635" cy="782955"/>
            <a:chOff x="5815965" y="5540692"/>
            <a:chExt cx="5842635" cy="782955"/>
          </a:xfrm>
        </p:grpSpPr>
        <p:sp>
          <p:nvSpPr>
            <p:cNvPr id="36" name="Rectangle 36"/>
            <p:cNvSpPr/>
            <p:nvPr/>
          </p:nvSpPr>
          <p:spPr>
            <a:xfrm>
              <a:off x="5815965" y="554069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020753" y="5832158"/>
              <a:ext cx="200026" cy="200025"/>
              <a:chOff x="6020753" y="5832158"/>
              <a:chExt cx="200026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020753" y="58321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060491" y="58766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095207" y="59877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322695" y="5689282"/>
              <a:ext cx="4882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法2 的方差只剩 Var(ψ(X₁))/N，把噪声的方差 σ²/N 整个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去掉，而且少产生一组随机数。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77309" cy="909257"/>
            <a:chOff x="520446" y="342900"/>
            <a:chExt cx="71773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773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例14.6 改进 π 的估计：从随机投点到条件期望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388870"/>
            <a:chOff x="533400" y="1524000"/>
            <a:chExt cx="5410200" cy="23888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388870"/>
            </a:xfrm>
            <a:prstGeom prst="roundRect">
              <a:avLst>
                <a:gd name="adj" fmla="val 5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1945005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89825" y="1769269"/>
              <a:ext cx="1851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法1 随机投点法（例10.1）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5967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(X, Y) 服从正方形 D = [−1, 1]² 上的均匀分布；η = 1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 (X, Y) 落入单位圆 C，η = 0 表示未落入，则 η ~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B(1, π/4)。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423"/>
                <p:cNvSpPr txBox="1">
                  <a:spLocks noGrp="1"/>
                </p:cNvSpPr>
                <p:nvPr/>
              </p:nvSpPr>
              <p:spPr>
                <a:xfrm>
                  <a:off x="742950" y="2992755"/>
                  <a:ext cx="4991100" cy="6915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</m:e>
                            </m:acc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nary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π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π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</m:e>
                            </m:d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2.6968</m:t>
                            </m:r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4" name="c1-text-2"/>
          <p:cNvGrpSpPr/>
          <p:nvPr/>
        </p:nvGrpSpPr>
        <p:grpSpPr>
          <a:xfrm>
            <a:off x="525780" y="4128135"/>
            <a:ext cx="4900136" cy="588645"/>
            <a:chOff x="525780" y="4128135"/>
            <a:chExt cx="4900136" cy="588645"/>
          </a:xfrm>
        </p:grpSpPr>
        <p:sp>
          <p:nvSpPr>
            <p:cNvPr id="13" name="TextBox 13"/>
            <p:cNvSpPr txBox="1"/>
            <p:nvPr/>
          </p:nvSpPr>
          <p:spPr>
            <a:xfrm>
              <a:off x="525780" y="4128135"/>
              <a:ext cx="4900136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法2 条件期望法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 ζ = E(η|X) 的样本代替 η 来估计 Eη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π/4。由于 Y ~ U(−1, 1)，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formula424"/>
              <p:cNvSpPr txBox="1">
                <a:spLocks noGrp="1"/>
              </p:cNvSpPr>
              <p:nvPr/>
            </p:nvSpPr>
            <p:spPr>
              <a:xfrm>
                <a:off x="533400" y="4848225"/>
                <a:ext cx="5410200" cy="7696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p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p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ad>
                                <m:radPr>
                                  <m:degHide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p>
                                    <m:e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rad>
                                <m:radPr>
                                  <m:degHide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p>
                                    <m:e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p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17" name="c2-text-1"/>
          <p:cNvGrpSpPr/>
          <p:nvPr/>
        </p:nvGrpSpPr>
        <p:grpSpPr>
          <a:xfrm>
            <a:off x="6240780" y="1548765"/>
            <a:ext cx="2768060" cy="293370"/>
            <a:chOff x="6240780" y="1548765"/>
            <a:chExt cx="2768060" cy="293370"/>
          </a:xfrm>
        </p:grpSpPr>
        <p:sp>
          <p:nvSpPr>
            <p:cNvPr id="16" name="TextBox 16"/>
            <p:cNvSpPr txBox="1"/>
            <p:nvPr/>
          </p:nvSpPr>
          <p:spPr>
            <a:xfrm>
              <a:off x="6240780" y="1548765"/>
              <a:ext cx="27680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可知 ζ = √(1 − X²)，其方差为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formula425"/>
              <p:cNvSpPr txBox="1">
                <a:spLocks noGrp="1"/>
              </p:cNvSpPr>
              <p:nvPr/>
            </p:nvSpPr>
            <p:spPr>
              <a:xfrm>
                <a:off x="6248400" y="1973580"/>
                <a:ext cx="5410200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ζ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p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p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Eζ</m:t>
                              </m:r>
                            </m:e>
                          </m:d>
                        </m:e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4" name="c2-card-3"/>
          <p:cNvGrpSpPr/>
          <p:nvPr/>
        </p:nvGrpSpPr>
        <p:grpSpPr>
          <a:xfrm>
            <a:off x="6248400" y="2832735"/>
            <a:ext cx="5410200" cy="1880235"/>
            <a:chOff x="6248400" y="2832735"/>
            <a:chExt cx="5410200" cy="1880235"/>
          </a:xfrm>
        </p:grpSpPr>
        <p:sp>
          <p:nvSpPr>
            <p:cNvPr id="19" name="Rectangle 19"/>
            <p:cNvSpPr/>
            <p:nvPr/>
          </p:nvSpPr>
          <p:spPr>
            <a:xfrm>
              <a:off x="6248400" y="2832735"/>
              <a:ext cx="5410200" cy="1880235"/>
            </a:xfrm>
            <a:prstGeom prst="roundRect">
              <a:avLst>
                <a:gd name="adj" fmla="val 7092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304228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31407" y="307800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条件期望估计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426"/>
                <p:cNvSpPr txBox="1">
                  <a:spLocks noGrp="1"/>
                </p:cNvSpPr>
                <p:nvPr/>
              </p:nvSpPr>
              <p:spPr>
                <a:xfrm>
                  <a:off x="6457950" y="3394710"/>
                  <a:ext cx="4991100" cy="7543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</m:e>
                            </m:acc>
                          </m:e>
                          <m:sub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rad>
                              <m:radPr>
                                <m:degHide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Sup>
                                  <m:e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  <m:sup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rad>
                          </m:e>
                        </m:nary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Var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8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π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0.7971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3" name="TextBox 23"/>
            <p:cNvSpPr txBox="1"/>
            <p:nvPr/>
          </p:nvSpPr>
          <p:spPr>
            <a:xfrm>
              <a:off x="6450330" y="4269105"/>
              <a:ext cx="28927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方差比 2.6968/0.7971 ≈ 3.4。</a:t>
              </a:r>
            </a:p>
          </p:txBody>
        </p:sp>
      </p:grpSp>
      <p:grpSp>
        <p:nvGrpSpPr>
          <p:cNvPr id="31" name="c2-callout-4"/>
          <p:cNvGrpSpPr/>
          <p:nvPr/>
        </p:nvGrpSpPr>
        <p:grpSpPr>
          <a:xfrm>
            <a:off x="6248400" y="4903470"/>
            <a:ext cx="5410200" cy="782955"/>
            <a:chOff x="6248400" y="4903470"/>
            <a:chExt cx="5410200" cy="782955"/>
          </a:xfrm>
        </p:grpSpPr>
        <p:sp>
          <p:nvSpPr>
            <p:cNvPr id="25" name="Rectangle 25"/>
            <p:cNvSpPr/>
            <p:nvPr/>
          </p:nvSpPr>
          <p:spPr>
            <a:xfrm>
              <a:off x="6248400" y="490347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6453188" y="5194935"/>
              <a:ext cx="200026" cy="200025"/>
              <a:chOff x="6453188" y="5194935"/>
              <a:chExt cx="200026" cy="20002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6453188" y="51949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492926" y="52393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527642" y="53505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6755130" y="5052060"/>
              <a:ext cx="4444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ζ 只依赖 X²，而 U ~ U(0,1) 时 U² 与 X² 同分布，所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以可以改取 ζ = √(1 − U²)，只需一个随机数。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76236" cy="909257"/>
            <a:chOff x="520446" y="342900"/>
            <a:chExt cx="607623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762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例14.6 续：再叠加对立变量或控制变量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2412682"/>
            <a:chOff x="533400" y="1524000"/>
            <a:chExt cx="5626418" cy="24126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412682"/>
            </a:xfrm>
            <a:prstGeom prst="roundRect">
              <a:avLst>
                <a:gd name="adj" fmla="val 552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1128712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2935" y="1756410"/>
              <a:ext cx="9849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法3 对立变量法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4971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h(u) = √(1 − u²) 是 u ∈ (0, 1) 上的单调函数，构造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430"/>
                <p:cNvSpPr txBox="1">
                  <a:spLocks noGrp="1"/>
                </p:cNvSpPr>
                <p:nvPr/>
              </p:nvSpPr>
              <p:spPr>
                <a:xfrm>
                  <a:off x="731520" y="2377440"/>
                  <a:ext cx="5230178" cy="7543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π</m:t>
                                </m:r>
                              </m:e>
                            </m:acc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num>
                          <m:den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den>
                        </m:f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ad>
                                  <m:radPr>
                                    <m:degHide m:val="on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Sup>
                                      <m:e>
                                        <m:r>
                                          <a:rPr lang="zh-CN" sz="18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e>
                                      <m:sub>
                                        <m:r>
                                          <a:rPr lang="zh-CN" sz="18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  <m:sup>
                                        <m:r>
                                          <a:rPr lang="zh-CN" sz="18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p>
                                      <m:e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8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8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1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zh-CN" sz="18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−</m:t>
                                            </m:r>
                                            <m:sSub>
                                              <m:e>
                                                <m:r>
                                                  <a:rPr lang="zh-CN" sz="180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U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zh-CN" sz="180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zh-CN" sz="18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num>
                              <m:den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TextBox 12"/>
            <p:cNvSpPr txBox="1"/>
            <p:nvPr/>
          </p:nvSpPr>
          <p:spPr>
            <a:xfrm>
              <a:off x="724281" y="3244691"/>
              <a:ext cx="480250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 Uᵢ 为 U(0,1) 随机数，Var ≈ 0.11/N，与法1 的方差比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25。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4116705"/>
            <a:ext cx="5626418" cy="2153602"/>
            <a:chOff x="533400" y="4116705"/>
            <a:chExt cx="5626418" cy="2153602"/>
          </a:xfrm>
        </p:grpSpPr>
        <p:sp>
          <p:nvSpPr>
            <p:cNvPr id="14" name="Rectangle 14"/>
            <p:cNvSpPr/>
            <p:nvPr/>
          </p:nvSpPr>
          <p:spPr>
            <a:xfrm>
              <a:off x="533400" y="4116705"/>
              <a:ext cx="5626418" cy="2153602"/>
            </a:xfrm>
            <a:prstGeom prst="roundRect">
              <a:avLst>
                <a:gd name="adj" fmla="val 619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31520" y="4314825"/>
              <a:ext cx="1128712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2935" y="4349115"/>
              <a:ext cx="9849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法4 控制变量法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675346"/>
              <a:ext cx="497382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W = U² − 1/3，则 EW = 0，且 W 与 ξ = √(1 − U²) 负相关。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先做小规模模拟估计 Cov(ξ, W) 和 Var(W)，得 b = −Cov(ξ,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W)/Var(W) 的近似值，再用 ξ(b) = ξ + bW 代替 ξ 抽样。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5424" y="5533072"/>
              <a:ext cx="47899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本例可精确算出 Cov(ξ, W) = −π/48，Var(W) = 4/45，b = 45π/192 ≈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0.736。</a:t>
              </a:r>
            </a:p>
          </p:txBody>
        </p:sp>
      </p:grpSp>
      <p:grpSp>
        <p:nvGrpSpPr>
          <p:cNvPr id="45" name="c2-table-1"/>
          <p:cNvGrpSpPr/>
          <p:nvPr/>
        </p:nvGrpSpPr>
        <p:grpSpPr>
          <a:xfrm>
            <a:off x="6459284" y="1524000"/>
            <a:ext cx="5199316" cy="2588514"/>
            <a:chOff x="6459284" y="1524000"/>
            <a:chExt cx="5199316" cy="2588514"/>
          </a:xfrm>
        </p:grpSpPr>
        <p:sp>
          <p:nvSpPr>
            <p:cNvPr id="20" name="Rectangle 20"/>
            <p:cNvSpPr/>
            <p:nvPr/>
          </p:nvSpPr>
          <p:spPr>
            <a:xfrm>
              <a:off x="6464618" y="1524000"/>
              <a:ext cx="5193982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23328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818306" y="1652588"/>
              <a:ext cx="6399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 × 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398172" y="1652588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与法1 相比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67106" y="2076450"/>
              <a:ext cx="964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法1 随机投点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65641" y="207645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2.6968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748924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64618" y="236791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64618" y="237267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67106" y="2501265"/>
              <a:ext cx="964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法2 条件期望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865641" y="2501265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0.7971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66222" y="2501265"/>
              <a:ext cx="6664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1/3.4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64618" y="279273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7106" y="2926080"/>
              <a:ext cx="964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法3 对立变量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65641" y="2926080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0.1097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10647" y="2926080"/>
              <a:ext cx="577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1/25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464618" y="32165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64618" y="3221355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67106" y="3349942"/>
              <a:ext cx="964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法4 控制变量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65641" y="334994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0.0260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466222" y="3349942"/>
              <a:ext cx="6664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1/104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1524000"/>
              <a:ext cx="5193982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331518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934575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59284" y="3720465"/>
              <a:ext cx="4904613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法4 的数值原课件未给出，由精确积分算出并用模拟复核；法3 每个样本算两次平方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根</a:t>
              </a:r>
            </a:p>
          </p:txBody>
        </p:sp>
      </p:grpSp>
      <p:grpSp>
        <p:nvGrpSpPr>
          <p:cNvPr id="49" name="c2-code-2"/>
          <p:cNvGrpSpPr/>
          <p:nvPr/>
        </p:nvGrpSpPr>
        <p:grpSpPr>
          <a:xfrm>
            <a:off x="6464618" y="4251960"/>
            <a:ext cx="5193982" cy="2019300"/>
            <a:chOff x="6464618" y="4251960"/>
            <a:chExt cx="5193982" cy="2019300"/>
          </a:xfrm>
        </p:grpSpPr>
        <p:sp>
          <p:nvSpPr>
            <p:cNvPr id="46" name="Rectangle 46"/>
            <p:cNvSpPr/>
            <p:nvPr/>
          </p:nvSpPr>
          <p:spPr>
            <a:xfrm>
              <a:off x="6464618" y="4251960"/>
              <a:ext cx="5193982" cy="2019300"/>
            </a:xfrm>
            <a:prstGeom prst="roundRect">
              <a:avLst>
                <a:gd name="adj" fmla="val 47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93015" y="4403884"/>
              <a:ext cx="8120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R：法2 到法4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92634" y="4665345"/>
              <a:ext cx="3384423" cy="15321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&lt;- 1e4; U &lt;- runif(N)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xi &lt;- sqrt(1 - U^2)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p2 &lt;- 4 * mean(xi)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p3 &lt;- 4 * mean((xi + sqrt(1 - (1 - U)^2)) / 2)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  &lt;- U^2 - 1/3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  &lt;- -cov(xi, W) / var(W)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约 0.736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p4 &lt;- 4 * mean(xi + b * W)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c(p2, p3, p4)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90885" cy="909257"/>
            <a:chOff x="520446" y="342900"/>
            <a:chExt cx="79908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908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3.5.4 随机数复用：比较两个系统时用同一组随机数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680210"/>
            <a:chOff x="533400" y="1524000"/>
            <a:chExt cx="5193982" cy="16802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680210"/>
            </a:xfrm>
            <a:prstGeom prst="roundRect">
              <a:avLst>
                <a:gd name="adj" fmla="val 79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1351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2858452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6394" y="1750695"/>
              <a:ext cx="28344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公共随机数法（Common Random Number）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5057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亦称"相关采样""匹配流"，是方差缩减技术之一。在模拟过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程中针对不同的系统或配置采用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完全相同的随机数序列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8190" y="2629376"/>
              <a:ext cx="45631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随机数序列相同，不同系统的运行结果之间存在正相关，从而缩小对两个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系统差异的估计方差。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379470"/>
            <a:ext cx="5193982" cy="2648902"/>
            <a:chOff x="533400" y="3379470"/>
            <a:chExt cx="5193982" cy="2648902"/>
          </a:xfrm>
        </p:grpSpPr>
        <p:sp>
          <p:nvSpPr>
            <p:cNvPr id="14" name="Rectangle 14"/>
            <p:cNvSpPr/>
            <p:nvPr/>
          </p:nvSpPr>
          <p:spPr>
            <a:xfrm>
              <a:off x="533400" y="3379470"/>
              <a:ext cx="5193982" cy="2648902"/>
            </a:xfrm>
            <a:prstGeom prst="roundRect">
              <a:avLst>
                <a:gd name="adj" fmla="val 50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512820"/>
              <a:ext cx="47625" cy="23822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571875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9346" y="360616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14247" y="3611880"/>
              <a:ext cx="23567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件工作由两台相同机器处理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72478" y="400145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8497" y="394620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两种排序策略：长工期工作优先、短工期工作优先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72478" y="430434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8497" y="4248150"/>
              <a:ext cx="43342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Tⱼ 为处理第 j 件工作所用时间，T₁, …, Tₙ 是分布为 F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随机变量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72478" y="4864417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8497" y="4808220"/>
              <a:ext cx="43856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g(t₁, …, tₙ)、h(t₁, …, tₙ) 分别为两种策略下处理完全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部工作的时间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72478" y="542353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8497" y="5367338"/>
              <a:ext cx="42228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θ₁ = E g(T)，θ₂ = E h(T)，要用随机模拟估计 θ = θ₁ −</a:t>
              </a:r>
              <a:br/>
              <a:r>
                <a:rPr lang="el-GR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θ₂</a:t>
              </a:r>
            </a:p>
          </p:txBody>
        </p:sp>
      </p:grpSp>
      <p:grpSp>
        <p:nvGrpSpPr>
          <p:cNvPr id="29" name="c2-text-1"/>
          <p:cNvGrpSpPr/>
          <p:nvPr/>
        </p:nvGrpSpPr>
        <p:grpSpPr>
          <a:xfrm>
            <a:off x="6025324" y="1545907"/>
            <a:ext cx="5148644" cy="529780"/>
            <a:chOff x="6025324" y="1545907"/>
            <a:chExt cx="5148644" cy="529780"/>
          </a:xfrm>
        </p:grpSpPr>
        <p:sp>
          <p:nvSpPr>
            <p:cNvPr id="28" name="TextBox 28"/>
            <p:cNvSpPr txBox="1"/>
            <p:nvPr/>
          </p:nvSpPr>
          <p:spPr>
            <a:xfrm>
              <a:off x="6025324" y="1545907"/>
              <a:ext cx="5148644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用随机向量 T 计算 g(T) 之后，计算 h 时用同样的 T，还是重新产生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T*？估计量 g(T) − h(T*) 的方差是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formula435"/>
              <p:cNvSpPr txBox="1">
                <a:spLocks noGrp="1"/>
              </p:cNvSpPr>
              <p:nvPr/>
            </p:nvSpPr>
            <p:spPr>
              <a:xfrm>
                <a:off x="6032182" y="2198370"/>
                <a:ext cx="5626418" cy="594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*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</m:e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b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*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32" name="c2-text-3"/>
          <p:cNvGrpSpPr/>
          <p:nvPr/>
        </p:nvGrpSpPr>
        <p:grpSpPr>
          <a:xfrm>
            <a:off x="6025324" y="2989898"/>
            <a:ext cx="5414391" cy="529780"/>
            <a:chOff x="6025324" y="2989898"/>
            <a:chExt cx="5414391" cy="529780"/>
          </a:xfrm>
        </p:grpSpPr>
        <p:sp>
          <p:nvSpPr>
            <p:cNvPr id="31" name="TextBox 31"/>
            <p:cNvSpPr txBox="1"/>
            <p:nvPr/>
          </p:nvSpPr>
          <p:spPr>
            <a:xfrm>
              <a:off x="6025324" y="2989898"/>
              <a:ext cx="5414391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T* 与 T 独立时协方差为 0；T* = T 时，处理时间长则两种策略的完工时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间都长，协方差为正，方差更小。所以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重复使用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同一个 T 效果较好。</a:t>
              </a:r>
            </a:p>
          </p:txBody>
        </p:sp>
      </p:grpSp>
      <p:grpSp>
        <p:nvGrpSpPr>
          <p:cNvPr id="50" name="c2-table-4"/>
          <p:cNvGrpSpPr/>
          <p:nvPr/>
        </p:nvGrpSpPr>
        <p:grpSpPr>
          <a:xfrm>
            <a:off x="6026848" y="3641408"/>
            <a:ext cx="5631752" cy="1496949"/>
            <a:chOff x="6026848" y="3641408"/>
            <a:chExt cx="5631752" cy="1496949"/>
          </a:xfrm>
        </p:grpSpPr>
        <p:sp>
          <p:nvSpPr>
            <p:cNvPr id="33" name="Rectangle 33"/>
            <p:cNvSpPr/>
            <p:nvPr/>
          </p:nvSpPr>
          <p:spPr>
            <a:xfrm>
              <a:off x="6032182" y="3641408"/>
              <a:ext cx="562641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1881" y="3765709"/>
              <a:ext cx="2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补充模拟：n = 10，Tⱼ ~ Exp(1)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57589" y="376570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差值的均值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70147" y="376570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差值的方差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32195" y="4171474"/>
              <a:ext cx="12090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 T（复用）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933498" y="4171474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−0.844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0255568" y="4056698"/>
              <a:ext cx="1393508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346055" y="417147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0.273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32182" y="44481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32182" y="4452938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32195" y="4577239"/>
              <a:ext cx="6979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独立的 T*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33498" y="457723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−0.831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346055" y="457723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032182" y="3641408"/>
              <a:ext cx="5626418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828722" y="3641408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241280" y="3641408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26848" y="4932998"/>
              <a:ext cx="44420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每次把工作按策略排序，依次交给当前负载较小的机器；重复 20000 次</a:t>
              </a:r>
            </a:p>
          </p:txBody>
        </p:sp>
      </p:grpSp>
      <p:grpSp>
        <p:nvGrpSpPr>
          <p:cNvPr id="56" name="c2-callout-5"/>
          <p:cNvGrpSpPr/>
          <p:nvPr/>
        </p:nvGrpSpPr>
        <p:grpSpPr>
          <a:xfrm>
            <a:off x="6032182" y="5272088"/>
            <a:ext cx="5626418" cy="755332"/>
            <a:chOff x="6032182" y="5272088"/>
            <a:chExt cx="5626418" cy="755332"/>
          </a:xfrm>
        </p:grpSpPr>
        <p:sp>
          <p:nvSpPr>
            <p:cNvPr id="51" name="Rectangle 51"/>
            <p:cNvSpPr/>
            <p:nvPr/>
          </p:nvSpPr>
          <p:spPr>
            <a:xfrm>
              <a:off x="6032182" y="5272088"/>
              <a:ext cx="5626418" cy="755332"/>
            </a:xfrm>
            <a:prstGeom prst="roundRect">
              <a:avLst>
                <a:gd name="adj" fmla="val 15132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236970" y="5550220"/>
              <a:ext cx="200023" cy="200023"/>
              <a:chOff x="6236970" y="5550220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6236970" y="555022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370320" y="56168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539674" y="5431155"/>
              <a:ext cx="459143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复用随机数后差值方差缩小约 23 倍，估计出的差异几乎只反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映策略本身。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49360" cy="909257"/>
            <a:chOff x="520446" y="342900"/>
            <a:chExt cx="74493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493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例14.8 比较两个方差估计量：同一批样本算两次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5220738" cy="264033"/>
            <a:chOff x="526542" y="1545907"/>
            <a:chExt cx="522073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2207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对正态总体 X ~ N(μ, σ²) 的样本 X₁, …, Xₙ，方差有两种估计：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461"/>
              <p:cNvSpPr txBox="1">
                <a:spLocks noGrp="1"/>
              </p:cNvSpPr>
              <p:nvPr/>
            </p:nvSpPr>
            <p:spPr>
              <a:xfrm>
                <a:off x="533400" y="1926908"/>
                <a:ext cx="5410200" cy="722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acc>
                            <m:accPr>
                              <m:chr m:val="ˆ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Sup>
                        <m:e>
                          <m:acc>
                            <m:accPr>
                              <m:chr m:val="ˆ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1" name="c1-text-3"/>
          <p:cNvGrpSpPr/>
          <p:nvPr/>
        </p:nvGrpSpPr>
        <p:grpSpPr>
          <a:xfrm>
            <a:off x="526542" y="2842260"/>
            <a:ext cx="3421285" cy="264033"/>
            <a:chOff x="526542" y="2842260"/>
            <a:chExt cx="3421285" cy="264033"/>
          </a:xfrm>
        </p:grpSpPr>
        <p:sp>
          <p:nvSpPr>
            <p:cNvPr id="10" name="TextBox 10"/>
            <p:cNvSpPr txBox="1"/>
            <p:nvPr/>
          </p:nvSpPr>
          <p:spPr>
            <a:xfrm>
              <a:off x="526542" y="2842260"/>
              <a:ext cx="34212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比较偏差 bₖ 与均方误差 sₖ（k = 1, 2）：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462"/>
              <p:cNvSpPr txBox="1">
                <a:spLocks noGrp="1"/>
              </p:cNvSpPr>
              <p:nvPr/>
            </p:nvSpPr>
            <p:spPr>
              <a:xfrm>
                <a:off x="533400" y="3223260"/>
                <a:ext cx="5410200" cy="438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sSubSup>
                        <m:e>
                          <m:acc>
                            <m:accPr>
                              <m:chr m:val="ˆ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p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Sup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  <m:sup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p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grpSp>
        <p:nvGrpSpPr>
          <p:cNvPr id="16" name="c1-card-5"/>
          <p:cNvGrpSpPr/>
          <p:nvPr/>
        </p:nvGrpSpPr>
        <p:grpSpPr>
          <a:xfrm>
            <a:off x="533400" y="3830955"/>
            <a:ext cx="5410200" cy="1121092"/>
            <a:chOff x="533400" y="3830955"/>
            <a:chExt cx="5410200" cy="1121092"/>
          </a:xfrm>
        </p:grpSpPr>
        <p:sp>
          <p:nvSpPr>
            <p:cNvPr id="13" name="Rectangle 13"/>
            <p:cNvSpPr/>
            <p:nvPr/>
          </p:nvSpPr>
          <p:spPr>
            <a:xfrm>
              <a:off x="533400" y="3830955"/>
              <a:ext cx="5410200" cy="1121092"/>
            </a:xfrm>
            <a:prstGeom prst="roundRect">
              <a:avLst>
                <a:gd name="adj" fmla="val 118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964305"/>
              <a:ext cx="47625" cy="8543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1332" y="4040505"/>
              <a:ext cx="476288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理论值（补充）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：b₁ = 0，b₂ = −σ²/n；s₁ = 2σ⁴/(n − 1)，s₂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(2n − 1)σ⁴/n²。n = 10、σ = 1 时 s₁ = 0.2222，s₂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0.19，差 0.0322。</a:t>
              </a:r>
            </a:p>
          </p:txBody>
        </p:sp>
      </p:grpSp>
      <p:grpSp>
        <p:nvGrpSpPr>
          <p:cNvPr id="18" name="c1-text-6"/>
          <p:cNvGrpSpPr/>
          <p:nvPr/>
        </p:nvGrpSpPr>
        <p:grpSpPr>
          <a:xfrm>
            <a:off x="526542" y="5144452"/>
            <a:ext cx="5123269" cy="264033"/>
            <a:chOff x="526542" y="5144452"/>
            <a:chExt cx="5123269" cy="264033"/>
          </a:xfrm>
        </p:grpSpPr>
        <p:sp>
          <p:nvSpPr>
            <p:cNvPr id="17" name="TextBox 17"/>
            <p:cNvSpPr txBox="1"/>
            <p:nvPr/>
          </p:nvSpPr>
          <p:spPr>
            <a:xfrm>
              <a:off x="526542" y="5144452"/>
              <a:ext cx="51232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模拟：重复生成 N 组样本，第 j 组算出两个估计值，再求平均：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formula463"/>
              <p:cNvSpPr txBox="1">
                <a:spLocks noGrp="1"/>
              </p:cNvSpPr>
              <p:nvPr/>
            </p:nvSpPr>
            <p:spPr>
              <a:xfrm>
                <a:off x="533400" y="5525452"/>
                <a:ext cx="5410200" cy="766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</m:acc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Sup>
                            <m:e>
                              <m:acc>
                                <m:accPr>
                                  <m:chr m:val="ˆ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kj</m:t>
                              </m:r>
                            </m:sub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p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acc>
                            <m:accPr>
                              <m:chr m:val="ˆ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acc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Sup>
                                    <m:e>
                                      <m:acc>
                                        <m:accPr>
                                          <m:chr m:val="ˆ"/>
                                          <m:ctrlP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kj</m:t>
                                      </m:r>
                                    </m:sub>
                                    <m:sup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p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σ</m:t>
                                      </m:r>
                                    </m:e>
                                    <m:sup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formula464"/>
              <p:cNvSpPr txBox="1">
                <a:spLocks noGrp="1"/>
              </p:cNvSpPr>
              <p:nvPr/>
            </p:nvSpPr>
            <p:spPr>
              <a:xfrm>
                <a:off x="6248400" y="1524000"/>
                <a:ext cx="5410200" cy="56959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  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14.1</m:t>
                              </m:r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22" name="c2-text-2"/>
          <p:cNvGrpSpPr/>
          <p:nvPr/>
        </p:nvGrpSpPr>
        <p:grpSpPr>
          <a:xfrm>
            <a:off x="6241542" y="2286000"/>
            <a:ext cx="5439766" cy="264033"/>
            <a:chOff x="6241542" y="2286000"/>
            <a:chExt cx="5439766" cy="264033"/>
          </a:xfrm>
        </p:grpSpPr>
        <p:sp>
          <p:nvSpPr>
            <p:cNvPr id="21" name="TextBox 21"/>
            <p:cNvSpPr txBox="1"/>
            <p:nvPr/>
          </p:nvSpPr>
          <p:spPr>
            <a:xfrm>
              <a:off x="6241542" y="2286000"/>
              <a:ext cx="54397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 V₁、V₂ 为两个估计量的平方误差的方差，C 为两者的协方差，则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formula465"/>
              <p:cNvSpPr txBox="1">
                <a:spLocks noGrp="1"/>
              </p:cNvSpPr>
              <p:nvPr/>
            </p:nvSpPr>
            <p:spPr>
              <a:xfrm>
                <a:off x="6248400" y="2667000"/>
                <a:ext cx="5410200" cy="11172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14.2</m:t>
                              </m:r>
                            </m:e>
                          </m:d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不同样本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: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f>
                            <m:fPr>
                              <m:type m:val="bar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</m:e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14.3</m:t>
                              </m:r>
                            </m:e>
                          </m:d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m:rPr>
                              <m:nor m:val="on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相同样本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: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f>
                            <m:fPr>
                              <m:type m:val="bar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2C</m:t>
                              </m:r>
                            </m:num>
                            <m:den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40" name="c2-table-4"/>
          <p:cNvGrpSpPr/>
          <p:nvPr/>
        </p:nvGrpSpPr>
        <p:grpSpPr>
          <a:xfrm>
            <a:off x="6248400" y="3953828"/>
            <a:ext cx="5410200" cy="1200150"/>
            <a:chOff x="6248400" y="3953828"/>
            <a:chExt cx="5410200" cy="1200150"/>
          </a:xfrm>
        </p:grpSpPr>
        <p:sp>
          <p:nvSpPr>
            <p:cNvPr id="24" name="Rectangle 24"/>
            <p:cNvSpPr/>
            <p:nvPr/>
          </p:nvSpPr>
          <p:spPr>
            <a:xfrm>
              <a:off x="6248400" y="3953828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49369" y="4075271"/>
              <a:ext cx="16231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1000，重复 500 次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787756" y="4075271"/>
              <a:ext cx="1325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 MSE 之差的均值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811408" y="407527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标准差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45555" y="44753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相同样本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69642" y="447532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0.0322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438448" y="4363402"/>
              <a:ext cx="1210628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526078" y="447532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0.0047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48400" y="47491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48400" y="475392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45555" y="487537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不同样本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569642" y="487537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0.0324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26078" y="487537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0.0169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3953828"/>
              <a:ext cx="5410200" cy="12001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467725" y="3953828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424160" y="3953828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2-callout-5"/>
          <p:cNvGrpSpPr/>
          <p:nvPr/>
        </p:nvGrpSpPr>
        <p:grpSpPr>
          <a:xfrm>
            <a:off x="6248400" y="5323522"/>
            <a:ext cx="5410200" cy="967740"/>
            <a:chOff x="6248400" y="5323522"/>
            <a:chExt cx="5410200" cy="967740"/>
          </a:xfrm>
        </p:grpSpPr>
        <p:sp>
          <p:nvSpPr>
            <p:cNvPr id="41" name="Rectangle 41"/>
            <p:cNvSpPr/>
            <p:nvPr/>
          </p:nvSpPr>
          <p:spPr>
            <a:xfrm>
              <a:off x="6248400" y="5323522"/>
              <a:ext cx="5410200" cy="967740"/>
            </a:xfrm>
            <a:prstGeom prst="roundRect">
              <a:avLst>
                <a:gd name="adj" fmla="val 11811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453188" y="5707382"/>
              <a:ext cx="200023" cy="200023"/>
              <a:chOff x="6453188" y="5707382"/>
              <a:chExt cx="200023" cy="200023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453188" y="57073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586538" y="57740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755892" y="5589270"/>
              <a:ext cx="43685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单独估计某个 bₖ 或 sₖ 时两种做法精度相同；估计两者之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差时，用相同样本方差小约 13 倍。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55452" cy="909257"/>
            <a:chOff x="520446" y="342900"/>
            <a:chExt cx="55554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554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自测题（一）：模拟误差与 MC 积分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2690724" cy="278702"/>
            <a:chOff x="526161" y="1547336"/>
            <a:chExt cx="269072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先自己动笔算一遍，再看答案。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768792"/>
            <a:chOff x="533400" y="1941195"/>
            <a:chExt cx="5410200" cy="176879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4496705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同一个积分（0 ≤ h ≤ 1），随机投点法和平均值法哪个方差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大？为什么？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3049905"/>
              <a:ext cx="46342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投点法大。两者方差之差为 (V(C)/N)∫(h − h²)dx ≥ 0；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投点法多了"点是否落在曲线下"的 0/1 随机性。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886200"/>
            <a:ext cx="5410200" cy="1768792"/>
            <a:chOff x="533400" y="3886200"/>
            <a:chExt cx="5410200" cy="1768792"/>
          </a:xfrm>
        </p:grpSpPr>
        <p:sp>
          <p:nvSpPr>
            <p:cNvPr id="15" name="Rectangle 15"/>
            <p:cNvSpPr/>
            <p:nvPr/>
          </p:nvSpPr>
          <p:spPr>
            <a:xfrm>
              <a:off x="533400" y="3886200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40786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41128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4434840"/>
              <a:ext cx="37778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上题要使 RMSE ≤ 0.01，大约需要多少样本？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737735"/>
              <a:ext cx="45828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(1.5/0.01)² = 22500，是原来的 9 倍（误差缩小 3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倍）。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41195"/>
            <a:ext cx="5410200" cy="1768792"/>
            <a:chOff x="6248400" y="1941195"/>
            <a:chExt cx="5410200" cy="1768792"/>
          </a:xfrm>
        </p:grpSpPr>
        <p:sp>
          <p:nvSpPr>
            <p:cNvPr id="21" name="Rectangle 21"/>
            <p:cNvSpPr/>
            <p:nvPr/>
          </p:nvSpPr>
          <p:spPr>
            <a:xfrm>
              <a:off x="6248400" y="194119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3947" y="2490788"/>
              <a:ext cx="443026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一次模拟得 Î = 2.0，样本标准差 S = 1.5，N = 2500，求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RMSE、MAE、MRE 的估计。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3947" y="3049905"/>
              <a:ext cx="45828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RMSE = 1.5/50 = 0.03；MAE ≈ 0.80 × 0.03 = 0.024；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MRE ≈ 0.024/2.0 = 0.012。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886200"/>
            <a:ext cx="5410200" cy="1768792"/>
            <a:chOff x="6248400" y="3886200"/>
            <a:chExt cx="5410200" cy="1768792"/>
          </a:xfrm>
        </p:grpSpPr>
        <p:sp>
          <p:nvSpPr>
            <p:cNvPr id="27" name="Rectangle 27"/>
            <p:cNvSpPr/>
            <p:nvPr/>
          </p:nvSpPr>
          <p:spPr>
            <a:xfrm>
              <a:off x="6248400" y="3886200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40786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41128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4434840"/>
              <a:ext cx="465786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用投点法估计 π（向 [−1, 1]² 投 N 点），估计量的方差是多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少？N = 10⁴ 时误差幅度约多大？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4994910"/>
              <a:ext cx="38284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 π(4 − π)/N ≈ 2.697/N；误差幅度约 ±2√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(2.697/10⁴) ≈ ±0.033。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3" name="Rectangle 3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3610"/>
              <a:ext cx="85215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MAE ≈ 0.80 RMSE 只在估计量近似正态时成立；样本量公式里的 σ 通常用预模拟得到的样本标准差代替。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989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634" y="407194"/>
              <a:ext cx="289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 · 3.5 方差缩减技术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自测题（二）：抽样方法与方差缩减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743075"/>
            <a:chOff x="533400" y="1524000"/>
            <a:chExt cx="5410200" cy="17430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8057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g(x) = (2/3)(1 + x)（0 &lt; x &lt; 1），怎样由 U ~ U(0,1) 产生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465143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逆变换法：解 (2/3)(x + x²/2) = U，得 X = √(1 + 3U)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436620"/>
            <a:ext cx="5410200" cy="1228725"/>
            <a:chOff x="533400" y="3436620"/>
            <a:chExt cx="5410200" cy="1228725"/>
          </a:xfrm>
        </p:grpSpPr>
        <p:sp>
          <p:nvSpPr>
            <p:cNvPr id="13" name="Rectangle 13"/>
            <p:cNvSpPr/>
            <p:nvPr/>
          </p:nvSpPr>
          <p:spPr>
            <a:xfrm>
              <a:off x="533400" y="3436620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62331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365617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3968115"/>
              <a:ext cx="40544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nⱼ ∝ V(Cⱼ)σⱼ 分配样本，哪种层分到的点多？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4268152"/>
              <a:ext cx="27670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体积大、层内 h 波动大的层。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835842"/>
            <a:ext cx="5410200" cy="1485900"/>
            <a:chOff x="533400" y="4835842"/>
            <a:chExt cx="5410200" cy="1485900"/>
          </a:xfrm>
        </p:grpSpPr>
        <p:sp>
          <p:nvSpPr>
            <p:cNvPr id="19" name="Rectangle 19"/>
            <p:cNvSpPr/>
            <p:nvPr/>
          </p:nvSpPr>
          <p:spPr>
            <a:xfrm>
              <a:off x="533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9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232" y="5366385"/>
              <a:ext cx="47702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 π 时用 √(1 − U²) 代替 0/1 指示变量，依据是什么？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5666423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条件期望法：E(η|X = x) = √(1 − x²)，Var[E(η|X)] 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Var(η)，方差由 2.697/N 降到 0.797/N。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28725"/>
            <a:chOff x="6248400" y="1524000"/>
            <a:chExt cx="5410200" cy="1228725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4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8232" y="2054542"/>
              <a:ext cx="31205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标准化重要抽样估计 (12.7) 无偏吗？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8232" y="2355532"/>
              <a:ext cx="45598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不无偏。它是比值估计，强相合，偏差为 O(1/N)。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22270"/>
            <a:ext cx="5410200" cy="1228725"/>
            <a:chOff x="6248400" y="2922270"/>
            <a:chExt cx="5410200" cy="1228725"/>
          </a:xfrm>
        </p:grpSpPr>
        <p:sp>
          <p:nvSpPr>
            <p:cNvPr id="31" name="Rectangle 31"/>
            <p:cNvSpPr/>
            <p:nvPr/>
          </p:nvSpPr>
          <p:spPr>
            <a:xfrm>
              <a:off x="6248400" y="2922270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310896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547" y="314182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3453765"/>
              <a:ext cx="50672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控制变量 Y 与 X 的相关系数为 0.9，最优 b 下方差变为多少？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3753802"/>
              <a:ext cx="32593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(1 − 0.9²)·Var X = 0.19·Var X。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21492"/>
            <a:ext cx="5410200" cy="2000250"/>
            <a:chOff x="6248400" y="4321492"/>
            <a:chExt cx="5410200" cy="2000250"/>
          </a:xfrm>
        </p:grpSpPr>
        <p:sp>
          <p:nvSpPr>
            <p:cNvPr id="37" name="Rectangle 37"/>
            <p:cNvSpPr/>
            <p:nvPr/>
          </p:nvSpPr>
          <p:spPr>
            <a:xfrm>
              <a:off x="6248400" y="4321492"/>
              <a:ext cx="5410200" cy="2000250"/>
            </a:xfrm>
            <a:prstGeom prst="roundRect">
              <a:avLst>
                <a:gd name="adj" fmla="val 6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35090" y="450818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4547" y="454104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4852035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比较两种排队策略的平均等待时间，为什么要用同一组随机数？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5152073"/>
              <a:ext cx="46943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两个输出正相关，Var(g − h) = Var g + Var h − 2Cov(g,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h) 变小，差值估计更准。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686496" cy="909257"/>
            <a:chOff x="520446" y="342900"/>
            <a:chExt cx="16864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7354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9165" y="407194"/>
              <a:ext cx="15029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随机模拟（上）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5951220" cy="2228850"/>
            <a:chOff x="533400" y="1524000"/>
            <a:chExt cx="5951220" cy="22288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127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41828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估计量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986731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方差要点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43100" y="2054066"/>
              <a:ext cx="2024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落在曲线下的比例 × M(b − a)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04335" y="2054066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 0/1 判定的随机性，方差最大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595122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43100" y="2459831"/>
              <a:ext cx="1618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(b − a) × h(Uᵢ) 的平均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04335" y="2459831"/>
              <a:ext cx="21823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Var h(U)/N，误差阶与维数无关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重要抽样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43100" y="2865596"/>
              <a:ext cx="20331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h(Xᵢ)/g(Xᵢ) 的平均，Xᵢ ~ 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04335" y="2865596"/>
              <a:ext cx="19111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 的形状越接近 |h| 方差越小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4229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47060"/>
              <a:ext cx="595122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3713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分层抽样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43100" y="3371374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各层体积 × 层内平均，再求和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04335" y="3271361"/>
              <a:ext cx="205968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去掉层间方差；nⱼ ∝ V(Cⱼ)σⱼ 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5951220" cy="22288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838325" y="1524000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099560" y="1524000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1-table-2"/>
          <p:cNvGrpSpPr/>
          <p:nvPr/>
        </p:nvGrpSpPr>
        <p:grpSpPr>
          <a:xfrm>
            <a:off x="533400" y="3928110"/>
            <a:ext cx="5951220" cy="811530"/>
            <a:chOff x="533400" y="3928110"/>
            <a:chExt cx="5951220" cy="811530"/>
          </a:xfrm>
        </p:grpSpPr>
        <p:sp>
          <p:nvSpPr>
            <p:cNvPr id="32" name="Rectangle 32"/>
            <p:cNvSpPr/>
            <p:nvPr/>
          </p:nvSpPr>
          <p:spPr>
            <a:xfrm>
              <a:off x="533400" y="3928110"/>
              <a:ext cx="595122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4970" y="4052411"/>
              <a:ext cx="668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∫₀¹ eˣdx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923771" y="40524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投点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41828" y="405241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平均值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648469" y="40524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重要抽样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60024" y="40524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控制变量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671579" y="40524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对立变量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3412" y="4458176"/>
              <a:ext cx="597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 × 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867230" y="445817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1.718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719212" y="445817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0.2420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659777" y="445817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0.02691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471035" y="4343400"/>
              <a:ext cx="99250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671332" y="445817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0.00394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482590" y="4343400"/>
              <a:ext cx="99250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682887" y="445817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0.00391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3928110"/>
              <a:ext cx="5951220" cy="811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659255" y="3928110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2492692" y="3928110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3445192" y="3928110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4456748" y="3928110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468302" y="3928110"/>
              <a:ext cx="9525" cy="811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1-callout-3"/>
          <p:cNvGrpSpPr/>
          <p:nvPr/>
        </p:nvGrpSpPr>
        <p:grpSpPr>
          <a:xfrm>
            <a:off x="533400" y="4914900"/>
            <a:ext cx="5951220" cy="729615"/>
            <a:chOff x="533400" y="4914900"/>
            <a:chExt cx="5951220" cy="729615"/>
          </a:xfrm>
        </p:grpSpPr>
        <p:sp>
          <p:nvSpPr>
            <p:cNvPr id="54" name="Rectangle 54"/>
            <p:cNvSpPr/>
            <p:nvPr/>
          </p:nvSpPr>
          <p:spPr>
            <a:xfrm>
              <a:off x="533400" y="4914900"/>
              <a:ext cx="595122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178743"/>
              <a:ext cx="200026" cy="200026"/>
              <a:chOff x="738188" y="5178743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1787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52454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52787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5060633"/>
              <a:ext cx="484860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误差报告写成 估计值 ± S/√N；精度提高 k 倍，样本量约增加 k²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倍。</a:t>
              </a:r>
            </a:p>
          </p:txBody>
        </p:sp>
      </p:grpSp>
      <p:grpSp>
        <p:nvGrpSpPr>
          <p:cNvPr id="69" name="c2-bullets-1"/>
          <p:cNvGrpSpPr/>
          <p:nvPr/>
        </p:nvGrpSpPr>
        <p:grpSpPr>
          <a:xfrm>
            <a:off x="6789420" y="1545907"/>
            <a:ext cx="4430649" cy="1197484"/>
            <a:chOff x="6789420" y="1545907"/>
            <a:chExt cx="4430649" cy="1197484"/>
          </a:xfrm>
        </p:grpSpPr>
        <p:sp>
          <p:nvSpPr>
            <p:cNvPr id="61" name="Freeform 61"/>
            <p:cNvSpPr/>
            <p:nvPr/>
          </p:nvSpPr>
          <p:spPr>
            <a:xfrm>
              <a:off x="6789420" y="1574482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6197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026402" y="1545907"/>
              <a:ext cx="32740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控制变量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：加 bY，方差降为 (1 − ρ²) 倍</a:t>
              </a:r>
            </a:p>
          </p:txBody>
        </p:sp>
        <p:sp>
          <p:nvSpPr>
            <p:cNvPr id="63" name="Freeform 63"/>
            <p:cNvSpPr/>
            <p:nvPr/>
          </p:nvSpPr>
          <p:spPr>
            <a:xfrm>
              <a:off x="6789420" y="188595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026402" y="1857375"/>
              <a:ext cx="38137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对立变量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：U 与 1 − U 成对，单调函数时负相关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6789420" y="2197418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026402" y="2168842"/>
              <a:ext cx="40273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条件期望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 E(Y|X) 代替 Y，去掉 E[Var(Y|X)]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6789420" y="2507932"/>
              <a:ext cx="129540" cy="105727"/>
            </a:xfrm>
            <a:custGeom>
              <a:avLst/>
              <a:gdLst/>
              <a:ahLst/>
              <a:cxnLst/>
              <a:rect l="l" t="t" r="r" b="b"/>
              <a:pathLst>
                <a:path w="129540" h="105727">
                  <a:moveTo>
                    <a:pt x="0" y="56197"/>
                  </a:moveTo>
                  <a:lnTo>
                    <a:pt x="49530" y="105727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026402" y="247935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随机数复用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：比较系统时共用随机数，差值方差变小</a:t>
              </a:r>
            </a:p>
          </p:txBody>
        </p:sp>
      </p:grpSp>
      <p:grpSp>
        <p:nvGrpSpPr>
          <p:cNvPr id="77" name="c2-card-2"/>
          <p:cNvGrpSpPr/>
          <p:nvPr/>
        </p:nvGrpSpPr>
        <p:grpSpPr>
          <a:xfrm>
            <a:off x="6789420" y="2866072"/>
            <a:ext cx="4869180" cy="1768792"/>
            <a:chOff x="6789420" y="2866072"/>
            <a:chExt cx="4869180" cy="1768792"/>
          </a:xfrm>
        </p:grpSpPr>
        <p:sp>
          <p:nvSpPr>
            <p:cNvPr id="70" name="Rectangle 70"/>
            <p:cNvSpPr/>
            <p:nvPr/>
          </p:nvSpPr>
          <p:spPr>
            <a:xfrm>
              <a:off x="6789420" y="2866072"/>
              <a:ext cx="486918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6981825" y="3058478"/>
              <a:ext cx="167640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037261" y="3092768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本讲用到的两个概率工具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6990398" y="347091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146417" y="3414712"/>
              <a:ext cx="39999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双期望定理 E[E(X|Y)] = EX：保证分层、条件期望估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计无偏</a:t>
              </a:r>
            </a:p>
          </p:txBody>
        </p:sp>
        <p:sp>
          <p:nvSpPr>
            <p:cNvPr id="75" name="Ellipse 75"/>
            <p:cNvSpPr/>
            <p:nvPr/>
          </p:nvSpPr>
          <p:spPr>
            <a:xfrm>
              <a:off x="6990398" y="403098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146417" y="3974782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方差分解 Var X = E[Var(X|Y)] + Var[E(X|Y)]：解释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这些方法为什么降方差</a:t>
              </a:r>
            </a:p>
          </p:txBody>
        </p:sp>
      </p:grpSp>
      <p:grpSp>
        <p:nvGrpSpPr>
          <p:cNvPr id="84" name="c2-callout-3"/>
          <p:cNvGrpSpPr/>
          <p:nvPr/>
        </p:nvGrpSpPr>
        <p:grpSpPr>
          <a:xfrm>
            <a:off x="6789420" y="4810125"/>
            <a:ext cx="4869180" cy="833438"/>
            <a:chOff x="6789420" y="4810125"/>
            <a:chExt cx="4869180" cy="833438"/>
          </a:xfrm>
        </p:grpSpPr>
        <p:sp>
          <p:nvSpPr>
            <p:cNvPr id="78" name="Rectangle 78"/>
            <p:cNvSpPr/>
            <p:nvPr/>
          </p:nvSpPr>
          <p:spPr>
            <a:xfrm>
              <a:off x="6789420" y="4810125"/>
              <a:ext cx="4869180" cy="833438"/>
            </a:xfrm>
            <a:prstGeom prst="roundRect">
              <a:avLst>
                <a:gd name="adj" fmla="val 1371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2" name="Group 82"/>
            <p:cNvGrpSpPr/>
            <p:nvPr/>
          </p:nvGrpSpPr>
          <p:grpSpPr>
            <a:xfrm>
              <a:off x="6994208" y="5127308"/>
              <a:ext cx="200026" cy="200025"/>
              <a:chOff x="6994208" y="5127308"/>
              <a:chExt cx="200026" cy="200025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6994208" y="51273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7033946" y="51717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7068662" y="52828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3" name="TextBox 83"/>
            <p:cNvSpPr txBox="1"/>
            <p:nvPr/>
          </p:nvSpPr>
          <p:spPr>
            <a:xfrm>
              <a:off x="7296912" y="5008245"/>
              <a:ext cx="392277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3.6 随机服务系统模拟、3.7 Bootstrap 方法、3.8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MCMC 见第3章（下）。</a:t>
              </a:r>
            </a:p>
          </p:txBody>
        </p:sp>
      </p:grpSp>
      <p:grpSp>
        <p:nvGrpSpPr>
          <p:cNvPr id="91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85" name="Rectangle 8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1040892" y="6023610"/>
              <a:ext cx="87098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比较不同方法时按相同的计算量算方差：对立变量法一对样本算两次函数值，重要抽样还要额外计算密度 g。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第3章 随机模拟（上）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tatc_ch3a">
  <a:themeElements>
    <a:clrScheme name="statc_ch3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tc_ch3a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tc_ch3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2026-09-23T06:12:37Z</dcterms:created>
  <dcterms:modified xsi:type="dcterms:W3CDTF">2026-09-23T06:12:37Z</dcterms:modified>
  <cp:category/>
  <cp:contentStatus/>
</cp:coreProperties>
</file>